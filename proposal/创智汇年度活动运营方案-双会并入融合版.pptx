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1E4D8C"/>
                </a:solidFill>
                <a:latin typeface="Microsoft YaHei"/>
              </a:rPr>
              <a:t>上海创智汇 × 同浦汇｜呈报园区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45920"/>
            <a:ext cx="1097280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3400" b="1">
                <a:solidFill>
                  <a:srgbClr val="1A1A2E"/>
                </a:solidFill>
                <a:latin typeface="Microsoft YaHei"/>
              </a:rPr>
              <a:t>创智汇年度活动运营方案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86000"/>
            <a:ext cx="109728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600" b="1">
                <a:solidFill>
                  <a:srgbClr val="C49A3C"/>
                </a:solidFill>
                <a:latin typeface="Microsoft YaHei"/>
              </a:rPr>
              <a:t>30场 · 定义核与双会资源导入 · 2026.08—2027.07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743200"/>
            <a:ext cx="109728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4A4A5A"/>
                </a:solidFill>
                <a:latin typeface="Microsoft YaHei"/>
              </a:rPr>
              <a:t>AI+数字内容无界共创港　｜　3F智能体与算力组团 · 5F内容与IP组团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291840"/>
            <a:ext cx="5486400" cy="2788920"/>
          </a:xfrm>
          <a:prstGeom prst="rect">
            <a:avLst/>
          </a:prstGeom>
          <a:solidFill>
            <a:srgbClr val="F7F8FA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3291840"/>
            <a:ext cx="73152" cy="2788920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3401568"/>
            <a:ext cx="516636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Microsoft YaHei"/>
              </a:rPr>
              <a:t>本册并入要点（合并同类项）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3730752"/>
            <a:ext cx="5120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结构：沿用年度运营方案章节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内容：并入WAIC+ChinaJoy招商向资源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口径：每场≤30人 · 负责人约50%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分工：同浦汇带客 / 园区销售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主体：云创基地（国家级孵化器）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3291840"/>
            <a:ext cx="5074920" cy="2788920"/>
          </a:xfrm>
          <a:prstGeom prst="rect">
            <a:avLst/>
          </a:prstGeom>
          <a:solidFill>
            <a:srgbClr val="F7F8FA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0" y="3291840"/>
            <a:ext cx="73152" cy="2788920"/>
          </a:xfrm>
          <a:prstGeom prst="rect">
            <a:avLst/>
          </a:prstGeom>
          <a:solidFill>
            <a:srgbClr val="1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84848" y="3401568"/>
            <a:ext cx="47548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Microsoft YaHei"/>
              </a:rPr>
              <a:t>边界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4848" y="3730752"/>
            <a:ext cx="4709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7A5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只取双会招商贴近切片，不堆全量名单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7A5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出海另议另计价；领事到访/挂牌另计价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7A5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不做租金租赁对赌与必要性要求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7A5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不承诺必带外资企业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7A5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学术支持：复旦住房政策研究中心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3796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8A8A9A"/>
                </a:solidFill>
                <a:latin typeface="Microsoft YaHei"/>
              </a:rPr>
              <a:t>上海创智汇 × 同浦汇 · 年度活动运营方案 · 双会资源并入融合版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0" y="6537960"/>
            <a:ext cx="146304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8A8A9A"/>
                </a:solidFill>
                <a:latin typeface="Microsoft YaHei"/>
              </a:rPr>
              <a:t>1/29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1E4D8C"/>
                </a:solidFill>
                <a:latin typeface="Microsoft YaHei"/>
              </a:rPr>
              <a:t>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  <a:latin typeface="Microsoft YaHei"/>
              </a:rPr>
              <a:t>本方案结构（以年度运营方案PPT为主）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2907609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" y="1271016"/>
            <a:ext cx="2852745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章节</a:t>
            </a:r>
          </a:p>
        </p:txBody>
      </p:sp>
      <p:sp>
        <p:nvSpPr>
          <p:cNvPr id="8" name="Rectangle 7"/>
          <p:cNvSpPr/>
          <p:nvPr/>
        </p:nvSpPr>
        <p:spPr>
          <a:xfrm>
            <a:off x="3410529" y="1234440"/>
            <a:ext cx="5144231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47105" y="1271016"/>
            <a:ext cx="5089367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内容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54760" y="1234440"/>
            <a:ext cx="3131271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1336" y="1271016"/>
            <a:ext cx="3076407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说明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581912"/>
            <a:ext cx="2907609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9496" y="1618488"/>
            <a:ext cx="2852745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01 背景与总体思路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10529" y="1581912"/>
            <a:ext cx="5144231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47105" y="1618488"/>
            <a:ext cx="5089367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为什么做、双会如何导入、做成什么样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54760" y="1581912"/>
            <a:ext cx="3131271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1336" y="1618488"/>
            <a:ext cx="3076407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含层次叠加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020824"/>
            <a:ext cx="2907609" cy="43891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496" y="2057400"/>
            <a:ext cx="2852745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02 年度日历与运营节奏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10529" y="2020824"/>
            <a:ext cx="5144231" cy="43891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47105" y="2057400"/>
            <a:ext cx="5089367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30场排期总表 + 四阶段重心 + 双会摘要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54760" y="2020824"/>
            <a:ext cx="3131271" cy="43891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1336" y="2057400"/>
            <a:ext cx="3076407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合并资源摘要进正文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2459736"/>
            <a:ext cx="2907609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9496" y="2496312"/>
            <a:ext cx="2852745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03 六大主题活动详述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10529" y="2459736"/>
            <a:ext cx="5144231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47105" y="2496312"/>
            <a:ext cx="5089367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A训练·B政策·C产业/CJ·D内容·E启动·F收官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54760" y="2459736"/>
            <a:ext cx="3131271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91336" y="2496312"/>
            <a:ext cx="3076407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潮玩类合并为CJ主题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2898648"/>
            <a:ext cx="2907609" cy="43891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9496" y="2935224"/>
            <a:ext cx="2852745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04 单场执行标准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10529" y="2898648"/>
            <a:ext cx="5144231" cy="43891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47105" y="2935224"/>
            <a:ext cx="5089367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筹备→看场→建群→回访同一套打法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554760" y="2898648"/>
            <a:ext cx="3131271" cy="43891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91336" y="2935224"/>
            <a:ext cx="3076407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带客/销售分工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3337560"/>
            <a:ext cx="2907609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9496" y="3374136"/>
            <a:ext cx="2852745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05 转化·分工·收费·案例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10529" y="3337560"/>
            <a:ext cx="5144231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47105" y="3374136"/>
            <a:ext cx="5089367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转化指标、付款、往期案例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554760" y="3337560"/>
            <a:ext cx="3131271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91336" y="3374136"/>
            <a:ext cx="3076407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取消对赌/核验表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3776472"/>
            <a:ext cx="2907609" cy="43891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9496" y="3813048"/>
            <a:ext cx="2852745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06 结语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410529" y="3776472"/>
            <a:ext cx="5144231" cy="43891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47105" y="3813048"/>
            <a:ext cx="5089367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交付与园区协同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554760" y="3776472"/>
            <a:ext cx="3131271" cy="43891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91336" y="3813048"/>
            <a:ext cx="3076407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—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4215384"/>
            <a:ext cx="2907609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39496" y="4251960"/>
            <a:ext cx="2852745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附录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410529" y="4215384"/>
            <a:ext cx="5144231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447105" y="4251960"/>
            <a:ext cx="5089367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30场定义核与资源导入映射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554760" y="4215384"/>
            <a:ext cx="3131271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591336" y="4251960"/>
            <a:ext cx="3076407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不重复堆名单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2920" y="653796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8A8A9A"/>
                </a:solidFill>
                <a:latin typeface="Microsoft YaHei"/>
              </a:rPr>
              <a:t>上海创智汇 × 同浦汇 · 年度活动运营方案 · 双会资源并入融合版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241280" y="6537960"/>
            <a:ext cx="146304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8A8A9A"/>
                </a:solidFill>
                <a:latin typeface="Microsoft YaHei"/>
              </a:rPr>
              <a:t>2/29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1E4D8C"/>
                </a:solidFill>
                <a:latin typeface="Microsoft YaHei"/>
              </a:rPr>
              <a:t>01 · 背景与判断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  <a:latin typeface="Microsoft YaHei"/>
              </a:rPr>
              <a:t>大会之后，热度需要承接地——双会资源导入园区一年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4A4A5A"/>
                </a:solidFill>
                <a:latin typeface="Microsoft YaHei"/>
              </a:rPr>
              <a:t>主题响应：上海创智汇 · AI+数字内容无界共创港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5394960" cy="4937760"/>
          </a:xfrm>
          <a:prstGeom prst="rect">
            <a:avLst/>
          </a:prstGeom>
          <a:solidFill>
            <a:srgbClr val="F7F8FA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73152" cy="4937760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344168"/>
            <a:ext cx="507492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Microsoft YaHei"/>
              </a:rPr>
              <a:t>判断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673352"/>
            <a:ext cx="50292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WAIC闭幕后：议题/嘉宾/线索需落到看场与洽谈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ChinaJoy「与AI同游」：中小工作室/创作者/潮玩/具身可导入5F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3F缺持续入孵节奏；5F缺持续内容人气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因此：双会是资源库，30场是定义核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每月两到三场，精而准，不断档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0" y="1234440"/>
            <a:ext cx="5074920" cy="4937760"/>
          </a:xfrm>
          <a:prstGeom prst="rect">
            <a:avLst/>
          </a:prstGeom>
          <a:solidFill>
            <a:srgbClr val="F7F8FA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0" y="1234440"/>
            <a:ext cx="73152" cy="4937760"/>
          </a:xfrm>
          <a:prstGeom prst="rect">
            <a:avLst/>
          </a:prstGeom>
          <a:solidFill>
            <a:srgbClr val="C4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84848" y="1344168"/>
            <a:ext cx="47548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Microsoft YaHei"/>
              </a:rPr>
              <a:t>运营目标（可执行可核验）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84848" y="1673352"/>
            <a:ext cx="470916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C49A3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30场：全年活动总量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C49A3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12个月：2026.08—2027.07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C49A3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每场≤30人；全年约600人次+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C49A3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负责人占比适度承兑约50%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C49A3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不承诺必带外资企业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3796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8A8A9A"/>
                </a:solidFill>
                <a:latin typeface="Microsoft YaHei"/>
              </a:rPr>
              <a:t>上海创智汇 × 同浦汇 · 年度活动运营方案 · 双会资源并入融合版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537960"/>
            <a:ext cx="146304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8A8A9A"/>
                </a:solidFill>
                <a:latin typeface="Microsoft YaHei"/>
              </a:rPr>
              <a:t>3/29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1E4D8C"/>
                </a:solidFill>
                <a:latin typeface="Microsoft YaHei"/>
              </a:rPr>
              <a:t>01 · 总体思路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  <a:latin typeface="Microsoft YaHei"/>
              </a:rPr>
              <a:t>一条主线：把双会的热度，变成园区的一年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5394960" cy="4937760"/>
          </a:xfrm>
          <a:prstGeom prst="rect">
            <a:avLst/>
          </a:prstGeom>
          <a:solidFill>
            <a:srgbClr val="F7F8FA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73152" cy="4937760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344168"/>
            <a:ext cx="507492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Microsoft YaHei"/>
              </a:rPr>
              <a:t>园区得到什么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1673352"/>
            <a:ext cx="50292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议题变日常：Agent/算力/治理/内容每月有场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空间有主题：3F吃WAIC能力线，5F吃CJ内容线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具身/AIGC为双会叠加带，跨楼层联动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考核有支撑：签到、建群、回访摘要可归档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云创基地国家级孵化器背书可感知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1234440"/>
            <a:ext cx="5074920" cy="4937760"/>
          </a:xfrm>
          <a:prstGeom prst="rect">
            <a:avLst/>
          </a:prstGeom>
          <a:solidFill>
            <a:srgbClr val="F7F8FA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0" y="1234440"/>
            <a:ext cx="73152" cy="4937760"/>
          </a:xfrm>
          <a:prstGeom prst="rect">
            <a:avLst/>
          </a:prstGeom>
          <a:solidFill>
            <a:srgbClr val="1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84848" y="1344168"/>
            <a:ext cx="47548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Microsoft YaHei"/>
              </a:rPr>
              <a:t>招商得到什么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4848" y="1673352"/>
            <a:ext cx="470916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7A5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客群更准：按赛道抽样邀约，不做全量名单轰炸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7A5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动作标准化：每场固定看场+建群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7A5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我们带客，园区负责销售促成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7A5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政策/券务在活动中打包给出，降低决策门槛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7A5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租金高于周边均价，故不做租赁对赌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3796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8A8A9A"/>
                </a:solidFill>
                <a:latin typeface="Microsoft YaHei"/>
              </a:rPr>
              <a:t>上海创智汇 × 同浦汇 · 年度活动运营方案 · 双会资源并入融合版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537960"/>
            <a:ext cx="146304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8A8A9A"/>
                </a:solidFill>
                <a:latin typeface="Microsoft YaHei"/>
              </a:rPr>
              <a:t>4/29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1E4D8C"/>
                </a:solidFill>
                <a:latin typeface="Microsoft YaHei"/>
              </a:rPr>
              <a:t>01 · 总体框架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  <a:latin typeface="Microsoft YaHei"/>
              </a:rPr>
              <a:t>六大主题 + 四层叠加（合并同类项）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4A4A5A"/>
                </a:solidFill>
                <a:latin typeface="Microsoft YaHei"/>
              </a:rPr>
              <a:t>主题管内容；层次管资源导入顺序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43000"/>
            <a:ext cx="1118311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9496" y="1179576"/>
            <a:ext cx="1063447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主题</a:t>
            </a:r>
          </a:p>
        </p:txBody>
      </p:sp>
      <p:sp>
        <p:nvSpPr>
          <p:cNvPr id="9" name="Rectangle 8"/>
          <p:cNvSpPr/>
          <p:nvPr/>
        </p:nvSpPr>
        <p:spPr>
          <a:xfrm>
            <a:off x="1621231" y="1143000"/>
            <a:ext cx="3354933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57807" y="1179576"/>
            <a:ext cx="330006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名称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76164" y="1143000"/>
            <a:ext cx="1565635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12740" y="1179576"/>
            <a:ext cx="1510771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场次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41799" y="1143000"/>
            <a:ext cx="5144231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78375" y="1179576"/>
            <a:ext cx="5089367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在全年中的角色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1490472"/>
            <a:ext cx="1118311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9496" y="1527048"/>
            <a:ext cx="1063447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21231" y="1490472"/>
            <a:ext cx="3354933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57807" y="1527048"/>
            <a:ext cx="3300069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智能体与算力训练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76164" y="1490472"/>
            <a:ext cx="1565635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12740" y="1527048"/>
            <a:ext cx="1510771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6场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41799" y="1490472"/>
            <a:ext cx="5144231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78375" y="1527048"/>
            <a:ext cx="5089367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3F基本盘：营/坊/联训/体验/黑客松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1856232"/>
            <a:ext cx="1118311" cy="36576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9496" y="1892808"/>
            <a:ext cx="1063447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21231" y="1856232"/>
            <a:ext cx="3354933" cy="36576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57807" y="1892808"/>
            <a:ext cx="3300069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政策与治理沙龙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76164" y="1856232"/>
            <a:ext cx="1565635" cy="36576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12740" y="1892808"/>
            <a:ext cx="1510771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4场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41799" y="1856232"/>
            <a:ext cx="5144231" cy="36576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78375" y="1892808"/>
            <a:ext cx="5089367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政策/券务/资质做成进园理由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2221992"/>
            <a:ext cx="1118311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9496" y="2258568"/>
            <a:ext cx="1063447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C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621231" y="2221992"/>
            <a:ext cx="3354933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57807" y="2258568"/>
            <a:ext cx="3300069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产业与ChinaJoy对接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76164" y="2221992"/>
            <a:ext cx="1565635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12740" y="2258568"/>
            <a:ext cx="1510771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5场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41799" y="2221992"/>
            <a:ext cx="5144231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78375" y="2258568"/>
            <a:ext cx="5089367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高校成果+CJ工作室/供应链/IP（合并潮玩类）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2587752"/>
            <a:ext cx="1118311" cy="36576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9496" y="2624328"/>
            <a:ext cx="1063447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621231" y="2587752"/>
            <a:ext cx="3354933" cy="36576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657807" y="2624328"/>
            <a:ext cx="3300069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AI内容与ChinaJoy人气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76164" y="2587752"/>
            <a:ext cx="1565635" cy="36576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12740" y="2624328"/>
            <a:ext cx="1510771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5场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41799" y="2587752"/>
            <a:ext cx="5144231" cy="36576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78375" y="2624328"/>
            <a:ext cx="5089367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5F人气：特训/首发/市集/联展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" y="2953512"/>
            <a:ext cx="1118311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39496" y="2990088"/>
            <a:ext cx="1063447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621231" y="2953512"/>
            <a:ext cx="3354933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657807" y="2990088"/>
            <a:ext cx="3300069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启动月·推广与双会承接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976164" y="2953512"/>
            <a:ext cx="1565635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12740" y="2990088"/>
            <a:ext cx="1510771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6场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41799" y="2953512"/>
            <a:ext cx="5144231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78375" y="2990088"/>
            <a:ext cx="5089367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8月项目推广日+WAIC承接+CJ主题日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2920" y="3319272"/>
            <a:ext cx="1118311" cy="36576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39496" y="3355848"/>
            <a:ext cx="1063447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F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621231" y="3319272"/>
            <a:ext cx="3354933" cy="36576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657807" y="3355848"/>
            <a:ext cx="3300069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收官·圆桌·另计价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976164" y="3319272"/>
            <a:ext cx="1565635" cy="36576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012740" y="3355848"/>
            <a:ext cx="1510771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2场+另计价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541799" y="3319272"/>
            <a:ext cx="5144231" cy="36576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578375" y="3355848"/>
            <a:ext cx="5089367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Demo Day收口；出海/领事另案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02920" y="4572000"/>
            <a:ext cx="11183112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1E4D8C"/>
                </a:solidFill>
                <a:latin typeface="Microsoft YaHei"/>
              </a:rPr>
              <a:t>资源叠加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02920" y="4800600"/>
            <a:ext cx="1789297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39496" y="4837176"/>
            <a:ext cx="1734433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层次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292217" y="4800600"/>
            <a:ext cx="4025920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328793" y="4837176"/>
            <a:ext cx="3971056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作用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18137" y="4800600"/>
            <a:ext cx="5367893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354713" y="4837176"/>
            <a:ext cx="531302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映射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02920" y="5148072"/>
            <a:ext cx="1789297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39496" y="5184648"/>
            <a:ext cx="173443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L0点火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292217" y="5148072"/>
            <a:ext cx="40259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328793" y="5184648"/>
            <a:ext cx="397105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中介/金融/投研/政府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318137" y="5148072"/>
            <a:ext cx="5367893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354713" y="5184648"/>
            <a:ext cx="5313029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P1–P4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02920" y="5422392"/>
            <a:ext cx="1789297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39496" y="5458968"/>
            <a:ext cx="173443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L1承接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292217" y="5422392"/>
            <a:ext cx="4025920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328793" y="5458968"/>
            <a:ext cx="397105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WAIC余热→看场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318137" y="5422392"/>
            <a:ext cx="5367893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354713" y="5458968"/>
            <a:ext cx="5313029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E1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02920" y="5696712"/>
            <a:ext cx="1789297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39496" y="5733288"/>
            <a:ext cx="173443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L2主线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292217" y="5696712"/>
            <a:ext cx="40259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328793" y="5733288"/>
            <a:ext cx="397105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3F能力 / 5F内容分轨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318137" y="5696712"/>
            <a:ext cx="5367893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354713" y="5733288"/>
            <a:ext cx="5313029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A/B/C/D常规场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02920" y="5971032"/>
            <a:ext cx="1789297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39496" y="6007608"/>
            <a:ext cx="173443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L3叠加 / L4收口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292217" y="5971032"/>
            <a:ext cx="4025920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328793" y="6007608"/>
            <a:ext cx="397105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具身叠加；签约+下届预热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318137" y="5971032"/>
            <a:ext cx="5367893" cy="2743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354713" y="6007608"/>
            <a:ext cx="5313029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A5 · F4/D5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02920" y="653796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8A8A9A"/>
                </a:solidFill>
                <a:latin typeface="Microsoft YaHei"/>
              </a:rPr>
              <a:t>上海创智汇 × 同浦汇 · 年度活动运营方案 · 双会资源并入融合版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241280" y="6537960"/>
            <a:ext cx="146304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8A8A9A"/>
                </a:solidFill>
                <a:latin typeface="Microsoft YaHei"/>
              </a:rPr>
              <a:t>5/29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1E4D8C"/>
                </a:solidFill>
                <a:latin typeface="Microsoft YaHei"/>
              </a:rPr>
              <a:t>02 · 年度日历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  <a:latin typeface="Microsoft YaHei"/>
              </a:rPr>
              <a:t>30场总表（上）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4A4A5A"/>
                </a:solidFill>
                <a:latin typeface="Microsoft YaHei"/>
              </a:rPr>
              <a:t>2026年8月—12月（含另计价占位）　｜　每场≤30人 · 负责人约50%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43000"/>
            <a:ext cx="782817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9496" y="1179576"/>
            <a:ext cx="727953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icrosoft YaHei"/>
              </a:rPr>
              <a:t>编号</a:t>
            </a:r>
          </a:p>
        </p:txBody>
      </p:sp>
      <p:sp>
        <p:nvSpPr>
          <p:cNvPr id="9" name="Rectangle 8"/>
          <p:cNvSpPr/>
          <p:nvPr/>
        </p:nvSpPr>
        <p:spPr>
          <a:xfrm>
            <a:off x="1285737" y="1143000"/>
            <a:ext cx="3131271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2313" y="1179576"/>
            <a:ext cx="3076407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活动名称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17008" y="1143000"/>
            <a:ext cx="1341973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3584" y="1179576"/>
            <a:ext cx="128710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icrosoft YaHei"/>
              </a:rPr>
              <a:t>档期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58981" y="1143000"/>
            <a:ext cx="1341973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95557" y="1179576"/>
            <a:ext cx="128710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icrosoft YaHei"/>
              </a:rPr>
              <a:t>形式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00954" y="1143000"/>
            <a:ext cx="1118311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7530" y="1179576"/>
            <a:ext cx="1063447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icrosoft YaHei"/>
              </a:rPr>
              <a:t>人数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19265" y="1143000"/>
            <a:ext cx="1118311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5841" y="1179576"/>
            <a:ext cx="1063447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icrosoft YaHei"/>
              </a:rPr>
              <a:t>层次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37576" y="1143000"/>
            <a:ext cx="2348453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74152" y="1179576"/>
            <a:ext cx="229358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icrosoft YaHei"/>
              </a:rPr>
              <a:t>招商落点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1490472"/>
            <a:ext cx="782817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9496" y="1527048"/>
            <a:ext cx="727953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P1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85737" y="1490472"/>
            <a:ext cx="3131271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22313" y="1527048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创智汇项目推广日①·中介与渠道专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17008" y="1490472"/>
            <a:ext cx="1341973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53584" y="1527048"/>
            <a:ext cx="1287109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8月上旬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58981" y="1490472"/>
            <a:ext cx="1341973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95557" y="1527048"/>
            <a:ext cx="1287109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项目推广日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00954" y="1490472"/>
            <a:ext cx="1118311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7530" y="1527048"/>
            <a:ext cx="106344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≤30人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19265" y="1490472"/>
            <a:ext cx="1118311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55841" y="1527048"/>
            <a:ext cx="106344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L0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337576" y="1490472"/>
            <a:ext cx="2348453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74152" y="1527048"/>
            <a:ext cx="2293589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中介渠道带看与项目推介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1783080"/>
            <a:ext cx="782817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9496" y="1819656"/>
            <a:ext cx="727953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P2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285737" y="1783080"/>
            <a:ext cx="3131271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322313" y="1819656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创智汇项目推广日②·五大行与金融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417008" y="1783080"/>
            <a:ext cx="1341973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53584" y="1819656"/>
            <a:ext cx="1287109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8月中旬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758981" y="1783080"/>
            <a:ext cx="1341973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95557" y="1819656"/>
            <a:ext cx="1287109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项目推广日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100954" y="1783080"/>
            <a:ext cx="1118311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137530" y="1819656"/>
            <a:ext cx="106344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≤30人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19265" y="1783080"/>
            <a:ext cx="1118311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55841" y="1819656"/>
            <a:ext cx="106344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L0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337576" y="1783080"/>
            <a:ext cx="2348453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374152" y="1819656"/>
            <a:ext cx="2293589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金融资源链接与客户导入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2920" y="2075688"/>
            <a:ext cx="782817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9496" y="2112264"/>
            <a:ext cx="727953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P3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285737" y="2075688"/>
            <a:ext cx="3131271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322313" y="2112264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创智汇项目推广日③·投研机构专场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417008" y="2075688"/>
            <a:ext cx="1341973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453584" y="2112264"/>
            <a:ext cx="1287109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8月中旬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758981" y="2075688"/>
            <a:ext cx="1341973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795557" y="2112264"/>
            <a:ext cx="1287109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项目推广日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100954" y="2075688"/>
            <a:ext cx="1118311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137530" y="2112264"/>
            <a:ext cx="106344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≤30人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219265" y="2075688"/>
            <a:ext cx="1118311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255841" y="2112264"/>
            <a:ext cx="106344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L0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337576" y="2075688"/>
            <a:ext cx="2348453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374152" y="2112264"/>
            <a:ext cx="2293589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投研视角放大项目影响力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02920" y="2368296"/>
            <a:ext cx="782817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39496" y="2404872"/>
            <a:ext cx="727953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P4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285737" y="2368296"/>
            <a:ext cx="3131271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322313" y="2404872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创智汇项目推广日④·政府部门与载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417008" y="2368296"/>
            <a:ext cx="1341973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453584" y="2404872"/>
            <a:ext cx="1287109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8月下旬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758981" y="2368296"/>
            <a:ext cx="1341973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795557" y="2404872"/>
            <a:ext cx="1287109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项目推广日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100954" y="2368296"/>
            <a:ext cx="1118311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137530" y="2404872"/>
            <a:ext cx="106344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≤30人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219265" y="2368296"/>
            <a:ext cx="1118311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255841" y="2404872"/>
            <a:ext cx="106344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L0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337576" y="2368296"/>
            <a:ext cx="2348453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74152" y="2404872"/>
            <a:ext cx="2293589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政策与载体协同落地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02920" y="2660904"/>
            <a:ext cx="782817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39496" y="2697480"/>
            <a:ext cx="727953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E1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285737" y="2660904"/>
            <a:ext cx="3131271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322313" y="2697480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WAIC成果承接·创智汇开放交流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417008" y="2660904"/>
            <a:ext cx="1341973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453584" y="2697480"/>
            <a:ext cx="1287109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8月下旬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758981" y="2660904"/>
            <a:ext cx="1341973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795557" y="2697480"/>
            <a:ext cx="1287109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开放交流日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100954" y="2660904"/>
            <a:ext cx="1118311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137530" y="2697480"/>
            <a:ext cx="106344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≤30人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219265" y="2660904"/>
            <a:ext cx="1118311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255841" y="2697480"/>
            <a:ext cx="106344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L1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337576" y="2660904"/>
            <a:ext cx="2348453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374152" y="2697480"/>
            <a:ext cx="2293589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衔接WAIC议题与园区看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02920" y="2953512"/>
            <a:ext cx="782817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39496" y="2990088"/>
            <a:ext cx="727953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A2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285737" y="2953512"/>
            <a:ext cx="3131271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322313" y="2990088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Agent智能体搭建一日营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417008" y="2953512"/>
            <a:ext cx="1341973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453584" y="2990088"/>
            <a:ext cx="1287109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9月上旬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758981" y="2953512"/>
            <a:ext cx="1341973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795557" y="2990088"/>
            <a:ext cx="1287109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实训营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100954" y="2953512"/>
            <a:ext cx="1118311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137530" y="2990088"/>
            <a:ext cx="106344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≤30人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219265" y="2953512"/>
            <a:ext cx="1118311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255841" y="2990088"/>
            <a:ext cx="106344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L2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9337576" y="2953512"/>
            <a:ext cx="2348453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9374152" y="2990088"/>
            <a:ext cx="2293589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Agent初创落位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502920" y="3246120"/>
            <a:ext cx="782817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539496" y="3282696"/>
            <a:ext cx="727953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C1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285737" y="3246120"/>
            <a:ext cx="3131271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322313" y="3282696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ChinaJoy主题·数字娱乐与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417008" y="3246120"/>
            <a:ext cx="1341973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453584" y="3282696"/>
            <a:ext cx="1287109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9月中旬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758981" y="3246120"/>
            <a:ext cx="1341973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795557" y="3282696"/>
            <a:ext cx="1287109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对接会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100954" y="3246120"/>
            <a:ext cx="1118311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137530" y="3282696"/>
            <a:ext cx="106344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≤30人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219265" y="3246120"/>
            <a:ext cx="1118311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8255841" y="3282696"/>
            <a:ext cx="106344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L2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9337576" y="3246120"/>
            <a:ext cx="2348453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9374152" y="3282696"/>
            <a:ext cx="2293589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CJ赛道企业/IP方入驻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502920" y="3538728"/>
            <a:ext cx="782817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539496" y="3575304"/>
            <a:ext cx="727953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F1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285737" y="3538728"/>
            <a:ext cx="3131271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322313" y="3575304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出海专题活动（另议·另计价）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4417008" y="3538728"/>
            <a:ext cx="1341973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4453584" y="3575304"/>
            <a:ext cx="1287109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档期另议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5758981" y="3538728"/>
            <a:ext cx="1341973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5795557" y="3575304"/>
            <a:ext cx="1287109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专题（另议）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7100954" y="3538728"/>
            <a:ext cx="1118311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7137530" y="3575304"/>
            <a:ext cx="106344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≤30人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8219265" y="3538728"/>
            <a:ext cx="1118311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8255841" y="3575304"/>
            <a:ext cx="106344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另计价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9337576" y="3538728"/>
            <a:ext cx="2348453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9374152" y="3575304"/>
            <a:ext cx="2293589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出海服务（不在年度活动包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502920" y="3831336"/>
            <a:ext cx="782817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539496" y="3867912"/>
            <a:ext cx="727953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A3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1285737" y="3831336"/>
            <a:ext cx="3131271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1322313" y="3867912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多模态智能体工作坊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4417008" y="3831336"/>
            <a:ext cx="1341973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4453584" y="3867912"/>
            <a:ext cx="1287109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10月上旬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5758981" y="3831336"/>
            <a:ext cx="1341973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5795557" y="3867912"/>
            <a:ext cx="1287109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工作坊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7100954" y="3831336"/>
            <a:ext cx="1118311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7137530" y="3867912"/>
            <a:ext cx="106344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≤30人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8219265" y="3831336"/>
            <a:ext cx="1118311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8255841" y="3867912"/>
            <a:ext cx="106344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L2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9337576" y="3831336"/>
            <a:ext cx="2348453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9374152" y="3867912"/>
            <a:ext cx="2293589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多模态团队入驻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502920" y="4123944"/>
            <a:ext cx="782817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539496" y="4160520"/>
            <a:ext cx="727953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E4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1285737" y="4123944"/>
            <a:ext cx="3131271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322313" y="4160520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ChinaJoy主题日·数字娱乐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4417008" y="4123944"/>
            <a:ext cx="1341973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4453584" y="4160520"/>
            <a:ext cx="1287109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10月中旬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5758981" y="4123944"/>
            <a:ext cx="1341973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5795557" y="4160520"/>
            <a:ext cx="1287109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主题日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7100954" y="4123944"/>
            <a:ext cx="1118311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7137530" y="4160520"/>
            <a:ext cx="106344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≤30人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8219265" y="4123944"/>
            <a:ext cx="1118311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8255841" y="4160520"/>
            <a:ext cx="106344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L2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9337576" y="4123944"/>
            <a:ext cx="2348453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9374152" y="4160520"/>
            <a:ext cx="2293589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CJ生态企业集中看场与洽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502920" y="4416552"/>
            <a:ext cx="782817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539496" y="4453128"/>
            <a:ext cx="727953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B2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1285737" y="4416552"/>
            <a:ext cx="3131271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1322313" y="4453128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AI治理与可信智能体沙龙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4417008" y="4416552"/>
            <a:ext cx="1341973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4453584" y="4453128"/>
            <a:ext cx="1287109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10月下旬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5758981" y="4416552"/>
            <a:ext cx="1341973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5795557" y="4453128"/>
            <a:ext cx="1287109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沙龙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7100954" y="4416552"/>
            <a:ext cx="1118311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7137530" y="4453128"/>
            <a:ext cx="106344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≤30人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8219265" y="4416552"/>
            <a:ext cx="1118311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8255841" y="4453128"/>
            <a:ext cx="106344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L2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9337576" y="4416552"/>
            <a:ext cx="2348453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9374152" y="4453128"/>
            <a:ext cx="2293589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合规型企业信任导入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502920" y="4709160"/>
            <a:ext cx="782817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539496" y="4745736"/>
            <a:ext cx="727953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A4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1285737" y="4709160"/>
            <a:ext cx="3131271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1322313" y="4745736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火山引擎×算力Infra实务营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4417008" y="4709160"/>
            <a:ext cx="1341973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4453584" y="4745736"/>
            <a:ext cx="1287109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11月上旬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5758981" y="4709160"/>
            <a:ext cx="1341973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5795557" y="4745736"/>
            <a:ext cx="1287109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厂商联训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7100954" y="4709160"/>
            <a:ext cx="1118311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7137530" y="4745736"/>
            <a:ext cx="106344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≤30人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8219265" y="4709160"/>
            <a:ext cx="1118311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8255841" y="4745736"/>
            <a:ext cx="106344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L2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9337576" y="4709160"/>
            <a:ext cx="2348453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9374152" y="4745736"/>
            <a:ext cx="2293589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高算力企业定向看场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502920" y="5001768"/>
            <a:ext cx="782817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539496" y="5038344"/>
            <a:ext cx="727953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B4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1285737" y="5001768"/>
            <a:ext cx="3131271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1322313" y="5038344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创新券·算力券·模型券实务沙龙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4417008" y="5001768"/>
            <a:ext cx="1341973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4453584" y="5038344"/>
            <a:ext cx="1287109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11月中旬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5758981" y="5001768"/>
            <a:ext cx="1341973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5795557" y="5038344"/>
            <a:ext cx="1287109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实务沙龙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7100954" y="5001768"/>
            <a:ext cx="1118311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7137530" y="5038344"/>
            <a:ext cx="106344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≤30人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8219265" y="5001768"/>
            <a:ext cx="1118311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8255841" y="5038344"/>
            <a:ext cx="106344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L2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9337576" y="5001768"/>
            <a:ext cx="2348453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9374152" y="5038344"/>
            <a:ext cx="2293589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用券企业聚集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502920" y="5294376"/>
            <a:ext cx="782817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539496" y="5330952"/>
            <a:ext cx="727953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L1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1285737" y="5294376"/>
            <a:ext cx="3131271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1322313" y="5330952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领事到访接待（另计价）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4417008" y="5294376"/>
            <a:ext cx="1341973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4453584" y="5330952"/>
            <a:ext cx="1287109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档期另议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5758981" y="5294376"/>
            <a:ext cx="1341973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5795557" y="5330952"/>
            <a:ext cx="1287109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外事接待（另计价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7100954" y="5294376"/>
            <a:ext cx="1118311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7137530" y="5330952"/>
            <a:ext cx="106344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另议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8219265" y="5294376"/>
            <a:ext cx="1118311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8255841" y="5330952"/>
            <a:ext cx="106344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另计价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9337576" y="5294376"/>
            <a:ext cx="2348453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9374152" y="5330952"/>
            <a:ext cx="2293589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领事到访（三部分费用之外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502920" y="5586984"/>
            <a:ext cx="782817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539496" y="5623560"/>
            <a:ext cx="727953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A5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1285737" y="5586984"/>
            <a:ext cx="3131271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1322313" y="5623560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具身智能空间交互体验日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4417008" y="5586984"/>
            <a:ext cx="1341973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4453584" y="5623560"/>
            <a:ext cx="1287109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12月上旬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5758981" y="5586984"/>
            <a:ext cx="1341973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5795557" y="5623560"/>
            <a:ext cx="1287109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体验日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7100954" y="5586984"/>
            <a:ext cx="1118311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7137530" y="5623560"/>
            <a:ext cx="106344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≤30人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8219265" y="5586984"/>
            <a:ext cx="1118311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8255841" y="5623560"/>
            <a:ext cx="106344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L3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9337576" y="5586984"/>
            <a:ext cx="2348453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9374152" y="5623560"/>
            <a:ext cx="2293589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具身/机器人团队看场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502920" y="653796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8A8A9A"/>
                </a:solidFill>
                <a:latin typeface="Microsoft YaHei"/>
              </a:rPr>
              <a:t>上海创智汇 × 同浦汇 · 年度活动运营方案 · 双会资源并入融合版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0241280" y="6537960"/>
            <a:ext cx="146304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8A8A9A"/>
                </a:solidFill>
                <a:latin typeface="Microsoft YaHei"/>
              </a:rPr>
              <a:t>6/29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1E4D8C"/>
                </a:solidFill>
                <a:latin typeface="Microsoft YaHei"/>
              </a:rPr>
              <a:t>02 · 年度日历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  <a:latin typeface="Microsoft YaHei"/>
              </a:rPr>
              <a:t>30场总表（下）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4A4A5A"/>
                </a:solidFill>
                <a:latin typeface="Microsoft YaHei"/>
              </a:rPr>
              <a:t>2027年1月—7月　｜　每场≤30人 · 负责人约50%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43000"/>
            <a:ext cx="782817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9496" y="1179576"/>
            <a:ext cx="727953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icrosoft YaHei"/>
              </a:rPr>
              <a:t>编号</a:t>
            </a:r>
          </a:p>
        </p:txBody>
      </p:sp>
      <p:sp>
        <p:nvSpPr>
          <p:cNvPr id="9" name="Rectangle 8"/>
          <p:cNvSpPr/>
          <p:nvPr/>
        </p:nvSpPr>
        <p:spPr>
          <a:xfrm>
            <a:off x="1285737" y="1143000"/>
            <a:ext cx="3131271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2313" y="1179576"/>
            <a:ext cx="3076407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活动名称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17008" y="1143000"/>
            <a:ext cx="1341973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3584" y="1179576"/>
            <a:ext cx="128710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icrosoft YaHei"/>
              </a:rPr>
              <a:t>档期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58981" y="1143000"/>
            <a:ext cx="1341973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95557" y="1179576"/>
            <a:ext cx="128710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icrosoft YaHei"/>
              </a:rPr>
              <a:t>形式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00954" y="1143000"/>
            <a:ext cx="1118311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7530" y="1179576"/>
            <a:ext cx="1063447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icrosoft YaHei"/>
              </a:rPr>
              <a:t>人数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19265" y="1143000"/>
            <a:ext cx="1118311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5841" y="1179576"/>
            <a:ext cx="1063447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icrosoft YaHei"/>
              </a:rPr>
              <a:t>层次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37576" y="1143000"/>
            <a:ext cx="2348453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74152" y="1179576"/>
            <a:ext cx="229358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icrosoft YaHei"/>
              </a:rPr>
              <a:t>招商落点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1490472"/>
            <a:ext cx="782817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9496" y="1527048"/>
            <a:ext cx="727953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F4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85737" y="1490472"/>
            <a:ext cx="3131271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22313" y="1527048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创智汇AI年度Demo Day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17008" y="1490472"/>
            <a:ext cx="1341973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53584" y="1527048"/>
            <a:ext cx="1287109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12月中旬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58981" y="1490472"/>
            <a:ext cx="1341973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95557" y="1527048"/>
            <a:ext cx="1287109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路演日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00954" y="1490472"/>
            <a:ext cx="1118311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7530" y="1527048"/>
            <a:ext cx="106344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≤30人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19265" y="1490472"/>
            <a:ext cx="1118311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55841" y="1527048"/>
            <a:ext cx="106344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L4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337576" y="1490472"/>
            <a:ext cx="2348453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74152" y="1527048"/>
            <a:ext cx="2293589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集中签约洽谈与媒体背书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1783080"/>
            <a:ext cx="782817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9496" y="1819656"/>
            <a:ext cx="727953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D1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285737" y="1783080"/>
            <a:ext cx="3131271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322313" y="1819656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AIGC微短剧制片特训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417008" y="1783080"/>
            <a:ext cx="1341973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53584" y="1819656"/>
            <a:ext cx="1287109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次1月上旬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758981" y="1783080"/>
            <a:ext cx="1341973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95557" y="1819656"/>
            <a:ext cx="1287109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特训营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100954" y="1783080"/>
            <a:ext cx="1118311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137530" y="1819656"/>
            <a:ext cx="106344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≤30人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19265" y="1783080"/>
            <a:ext cx="1118311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55841" y="1819656"/>
            <a:ext cx="106344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L2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337576" y="1783080"/>
            <a:ext cx="2348453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374152" y="1819656"/>
            <a:ext cx="2293589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厂牌/工作室入驻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2920" y="2075688"/>
            <a:ext cx="782817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9496" y="2112264"/>
            <a:ext cx="727953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A6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285737" y="2075688"/>
            <a:ext cx="3131271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322313" y="2112264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AI营销Agent实战营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417008" y="2075688"/>
            <a:ext cx="1341973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453584" y="2112264"/>
            <a:ext cx="1287109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次1月中旬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758981" y="2075688"/>
            <a:ext cx="1341973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795557" y="2112264"/>
            <a:ext cx="1287109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实战营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100954" y="2075688"/>
            <a:ext cx="1118311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137530" y="2112264"/>
            <a:ext cx="106344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≤30人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219265" y="2075688"/>
            <a:ext cx="1118311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255841" y="2112264"/>
            <a:ext cx="106344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L2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337576" y="2075688"/>
            <a:ext cx="2348453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374152" y="2112264"/>
            <a:ext cx="2293589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营销科技公司看场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02920" y="2368296"/>
            <a:ext cx="782817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39496" y="2404872"/>
            <a:ext cx="727953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B1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285737" y="2368296"/>
            <a:ext cx="3131271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322313" y="2404872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YOUNG立方×智能伙伴政策沙龙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417008" y="2368296"/>
            <a:ext cx="1341973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453584" y="2404872"/>
            <a:ext cx="1287109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次2月中旬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758981" y="2368296"/>
            <a:ext cx="1341973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795557" y="2404872"/>
            <a:ext cx="1287109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政策沙龙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100954" y="2368296"/>
            <a:ext cx="1118311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137530" y="2404872"/>
            <a:ext cx="106344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≤30人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219265" y="2368296"/>
            <a:ext cx="1118311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255841" y="2404872"/>
            <a:ext cx="106344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L2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337576" y="2368296"/>
            <a:ext cx="2348453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74152" y="2404872"/>
            <a:ext cx="2293589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内容/AI企业导入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02920" y="2660904"/>
            <a:ext cx="782817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39496" y="2697480"/>
            <a:ext cx="727953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B3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285737" y="2660904"/>
            <a:ext cx="3131271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322313" y="2697480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高企认定冲刺（AI企业专场）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417008" y="2660904"/>
            <a:ext cx="1341973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453584" y="2697480"/>
            <a:ext cx="1287109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次2月下旬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758981" y="2660904"/>
            <a:ext cx="1341973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795557" y="2697480"/>
            <a:ext cx="1287109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辅导会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100954" y="2660904"/>
            <a:ext cx="1118311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137530" y="2697480"/>
            <a:ext cx="106344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≤30人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219265" y="2660904"/>
            <a:ext cx="1118311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255841" y="2697480"/>
            <a:ext cx="106344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L2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337576" y="2660904"/>
            <a:ext cx="2348453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374152" y="2697480"/>
            <a:ext cx="2293589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待认定企业带政策入驻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02920" y="2953512"/>
            <a:ext cx="782817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39496" y="2990088"/>
            <a:ext cx="727953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A7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285737" y="2953512"/>
            <a:ext cx="3131271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322313" y="2990088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OPC超级个体黑客松（春）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417008" y="2953512"/>
            <a:ext cx="1341973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453584" y="2990088"/>
            <a:ext cx="1287109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次3月上旬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758981" y="2953512"/>
            <a:ext cx="1341973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795557" y="2990088"/>
            <a:ext cx="1287109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黑客松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100954" y="2953512"/>
            <a:ext cx="1118311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137530" y="2990088"/>
            <a:ext cx="106344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≤30人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219265" y="2953512"/>
            <a:ext cx="1118311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255841" y="2990088"/>
            <a:ext cx="106344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L2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9337576" y="2953512"/>
            <a:ext cx="2348453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9374152" y="2990088"/>
            <a:ext cx="2293589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获奖团队优先谈单元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502920" y="3246120"/>
            <a:ext cx="782817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539496" y="3282696"/>
            <a:ext cx="727953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C2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285737" y="3246120"/>
            <a:ext cx="3131271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322313" y="3282696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高校成果转化·AI for Sc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417008" y="3246120"/>
            <a:ext cx="1341973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453584" y="3282696"/>
            <a:ext cx="1287109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次3月下旬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758981" y="3246120"/>
            <a:ext cx="1341973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795557" y="3282696"/>
            <a:ext cx="1287109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对接日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100954" y="3246120"/>
            <a:ext cx="1118311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137530" y="3282696"/>
            <a:ext cx="106344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≤30人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219265" y="3246120"/>
            <a:ext cx="1118311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8255841" y="3282696"/>
            <a:ext cx="106344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L2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9337576" y="3246120"/>
            <a:ext cx="2348453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9374152" y="3282696"/>
            <a:ext cx="2293589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成果公司/实验室落户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502920" y="3538728"/>
            <a:ext cx="782817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539496" y="3575304"/>
            <a:ext cx="727953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F3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285737" y="3538728"/>
            <a:ext cx="3131271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322313" y="3575304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通往AGI季度圆桌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4417008" y="3538728"/>
            <a:ext cx="1341973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4453584" y="3575304"/>
            <a:ext cx="1287109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次3月下旬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5758981" y="3538728"/>
            <a:ext cx="1341973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5795557" y="3575304"/>
            <a:ext cx="1287109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闭门圆桌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7100954" y="3538728"/>
            <a:ext cx="1118311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7137530" y="3575304"/>
            <a:ext cx="106344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≤30人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8219265" y="3538728"/>
            <a:ext cx="1118311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8255841" y="3575304"/>
            <a:ext cx="106344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L2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9337576" y="3538728"/>
            <a:ext cx="2348453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9374152" y="3575304"/>
            <a:ext cx="2293589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研究型/模型团队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502920" y="3831336"/>
            <a:ext cx="782817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539496" y="3867912"/>
            <a:ext cx="727953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D2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1285737" y="3831336"/>
            <a:ext cx="3131271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1322313" y="3867912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ChinaJoy主题·创作者内容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4417008" y="3831336"/>
            <a:ext cx="1341973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4453584" y="3867912"/>
            <a:ext cx="1287109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次4月中旬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5758981" y="3831336"/>
            <a:ext cx="1341973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5795557" y="3867912"/>
            <a:ext cx="1287109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发布会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7100954" y="3831336"/>
            <a:ext cx="1118311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7137530" y="3867912"/>
            <a:ext cx="106344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≤30人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8219265" y="3831336"/>
            <a:ext cx="1118311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8255841" y="3867912"/>
            <a:ext cx="106344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L2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9337576" y="3831336"/>
            <a:ext cx="2348453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9374152" y="3867912"/>
            <a:ext cx="2293589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数字娱乐/内容品牌问询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502920" y="4123944"/>
            <a:ext cx="782817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539496" y="4160520"/>
            <a:ext cx="727953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C3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1285737" y="4123944"/>
            <a:ext cx="3131271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322313" y="4160520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ChinaJoy主题·游戏周边与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4417008" y="4123944"/>
            <a:ext cx="1341973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4453584" y="4160520"/>
            <a:ext cx="1287109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次4月下旬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5758981" y="4123944"/>
            <a:ext cx="1341973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5795557" y="4160520"/>
            <a:ext cx="1287109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对接会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7100954" y="4123944"/>
            <a:ext cx="1118311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7137530" y="4160520"/>
            <a:ext cx="106344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≤30人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8219265" y="4123944"/>
            <a:ext cx="1118311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8255841" y="4160520"/>
            <a:ext cx="106344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L2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9337576" y="4123944"/>
            <a:ext cx="2348453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9374152" y="4160520"/>
            <a:ext cx="2293589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CJ供应链/周边企业展位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502920" y="4416552"/>
            <a:ext cx="782817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539496" y="4453128"/>
            <a:ext cx="727953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C4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1285737" y="4416552"/>
            <a:ext cx="3131271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1322313" y="4453128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专精特新·AI应用培育路演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4417008" y="4416552"/>
            <a:ext cx="1341973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4453584" y="4453128"/>
            <a:ext cx="1287109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次5月中旬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5758981" y="4416552"/>
            <a:ext cx="1341973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5795557" y="4453128"/>
            <a:ext cx="1287109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路演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7100954" y="4416552"/>
            <a:ext cx="1118311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7137530" y="4453128"/>
            <a:ext cx="106344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≤30人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8219265" y="4416552"/>
            <a:ext cx="1118311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8255841" y="4453128"/>
            <a:ext cx="106344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L2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9337576" y="4416552"/>
            <a:ext cx="2348453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9374152" y="4453128"/>
            <a:ext cx="2293589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成长型AI补位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502920" y="4709160"/>
            <a:ext cx="782817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539496" y="4745736"/>
            <a:ext cx="727953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D3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1285737" y="4709160"/>
            <a:ext cx="3131271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1322313" y="4745736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ChinaJoy主题·数字娱乐市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4417008" y="4709160"/>
            <a:ext cx="1341973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4453584" y="4745736"/>
            <a:ext cx="1287109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次5月下旬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5758981" y="4709160"/>
            <a:ext cx="1341973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5795557" y="4745736"/>
            <a:ext cx="1287109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体验日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7100954" y="4709160"/>
            <a:ext cx="1118311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7137530" y="4745736"/>
            <a:ext cx="106344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≤30人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8219265" y="4709160"/>
            <a:ext cx="1118311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8255841" y="4745736"/>
            <a:ext cx="106344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L2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9337576" y="4709160"/>
            <a:ext cx="2348453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9374152" y="4745736"/>
            <a:ext cx="2293589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优质摊主/工作室升级固定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502920" y="5001768"/>
            <a:ext cx="782817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539496" y="5038344"/>
            <a:ext cx="727953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C5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1285737" y="5001768"/>
            <a:ext cx="3131271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1322313" y="5038344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ChinaJoy主题·IP联名与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4417008" y="5001768"/>
            <a:ext cx="1341973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4453584" y="5038344"/>
            <a:ext cx="1287109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次6月中旬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5758981" y="5001768"/>
            <a:ext cx="1341973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5795557" y="5038344"/>
            <a:ext cx="1287109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撮合会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7100954" y="5001768"/>
            <a:ext cx="1118311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7137530" y="5038344"/>
            <a:ext cx="106344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≤30人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8219265" y="5001768"/>
            <a:ext cx="1118311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8255841" y="5038344"/>
            <a:ext cx="106344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L2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9337576" y="5001768"/>
            <a:ext cx="2348453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9374152" y="5038344"/>
            <a:ext cx="2293589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IP联名/衍生品团队入驻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502920" y="5294376"/>
            <a:ext cx="782817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539496" y="5330952"/>
            <a:ext cx="727953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D4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1285737" y="5294376"/>
            <a:ext cx="3131271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1322313" y="5330952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ChinaJoy主题·沉浸式数字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4417008" y="5294376"/>
            <a:ext cx="1341973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4453584" y="5330952"/>
            <a:ext cx="1287109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次6月下旬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5758981" y="5294376"/>
            <a:ext cx="1341973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5795557" y="5330952"/>
            <a:ext cx="1287109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联展（短展期）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7100954" y="5294376"/>
            <a:ext cx="1118311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7137530" y="5330952"/>
            <a:ext cx="106344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≤30人/场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8219265" y="5294376"/>
            <a:ext cx="1118311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8255841" y="5330952"/>
            <a:ext cx="106344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L2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9337576" y="5294376"/>
            <a:ext cx="2348453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9374152" y="5330952"/>
            <a:ext cx="2293589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闭幕洽谈集中转化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502920" y="5586984"/>
            <a:ext cx="782817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539496" y="5623560"/>
            <a:ext cx="727953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D5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1285737" y="5586984"/>
            <a:ext cx="3131271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1322313" y="5623560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创作者首发②·衔接WAIC202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4417008" y="5586984"/>
            <a:ext cx="1341973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4453584" y="5623560"/>
            <a:ext cx="1287109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次7月中旬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5758981" y="5586984"/>
            <a:ext cx="1341973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5795557" y="5623560"/>
            <a:ext cx="1287109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发布会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7100954" y="5586984"/>
            <a:ext cx="1118311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7137530" y="5623560"/>
            <a:ext cx="106344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≤30人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8219265" y="5586984"/>
            <a:ext cx="1118311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8255841" y="5623560"/>
            <a:ext cx="106344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L4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9337576" y="5586984"/>
            <a:ext cx="2348453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9374152" y="5623560"/>
            <a:ext cx="2293589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旺季补位，双大会预热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502920" y="653796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8A8A9A"/>
                </a:solidFill>
                <a:latin typeface="Microsoft YaHei"/>
              </a:rPr>
              <a:t>上海创智汇 × 同浦汇 · 年度活动运营方案 · 双会资源并入融合版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0241280" y="6537960"/>
            <a:ext cx="146304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8A8A9A"/>
                </a:solidFill>
                <a:latin typeface="Microsoft YaHei"/>
              </a:rPr>
              <a:t>7/29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1E4D8C"/>
                </a:solidFill>
                <a:latin typeface="Microsoft YaHei"/>
              </a:rPr>
              <a:t>02 · 运营节奏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  <a:latin typeface="Microsoft YaHei"/>
              </a:rPr>
              <a:t>四个阶段，各有重心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5394960" cy="2286000"/>
          </a:xfrm>
          <a:prstGeom prst="rect">
            <a:avLst/>
          </a:prstGeom>
          <a:solidFill>
            <a:srgbClr val="F7F8FA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73152" cy="2286000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344168"/>
            <a:ext cx="507492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Microsoft YaHei"/>
              </a:rPr>
              <a:t>启动期｜8—10月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1673352"/>
            <a:ext cx="50292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8月四场项目推广日点火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E1承接WAIC余热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Agent营 + CJ IP对接开局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CJ主题日与治理沙龙立住基调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1234440"/>
            <a:ext cx="5074920" cy="2286000"/>
          </a:xfrm>
          <a:prstGeom prst="rect">
            <a:avLst/>
          </a:prstGeom>
          <a:solidFill>
            <a:srgbClr val="F7F8FA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0" y="1234440"/>
            <a:ext cx="73152" cy="2286000"/>
          </a:xfrm>
          <a:prstGeom prst="rect">
            <a:avLst/>
          </a:prstGeom>
          <a:solidFill>
            <a:srgbClr val="C4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84848" y="1344168"/>
            <a:ext cx="47548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Microsoft YaHei"/>
              </a:rPr>
              <a:t>攻坚期｜11—12月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4848" y="1673352"/>
            <a:ext cx="47091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C49A3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算力联训 + 三券沙龙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C49A3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具身双会叠加体验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C49A3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Demo Day精选签约收口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C49A3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领事另计价另案（如需）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749039"/>
            <a:ext cx="5394960" cy="2286000"/>
          </a:xfrm>
          <a:prstGeom prst="rect">
            <a:avLst/>
          </a:prstGeom>
          <a:solidFill>
            <a:srgbClr val="F7F8FA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749039"/>
            <a:ext cx="73152" cy="2286000"/>
          </a:xfrm>
          <a:prstGeom prst="rect">
            <a:avLst/>
          </a:prstGeom>
          <a:solidFill>
            <a:srgbClr val="1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3858767"/>
            <a:ext cx="507492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Microsoft YaHei"/>
              </a:rPr>
              <a:t>深耕期｜1—3月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4187951"/>
            <a:ext cx="50292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7A5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AIGC特训 / 营销Agent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7A5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政策沙龙 + 高企冲刺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7A5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黑客松 + 高校成果日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7A5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AGI圆桌深谈研究型客户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0" y="3749039"/>
            <a:ext cx="5074920" cy="2286000"/>
          </a:xfrm>
          <a:prstGeom prst="rect">
            <a:avLst/>
          </a:prstGeom>
          <a:solidFill>
            <a:srgbClr val="F7F8FA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0" y="3749039"/>
            <a:ext cx="73152" cy="2286000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84848" y="3858767"/>
            <a:ext cx="47548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Microsoft YaHei"/>
              </a:rPr>
              <a:t>收获与预热｜4—7月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84848" y="4187951"/>
            <a:ext cx="47091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CJ创作者首发 / 供应链对接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市集转正 / IP联名 / 联展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专精特新AI路演补位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D5预热WAIC2027与下届CJ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3796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8A8A9A"/>
                </a:solidFill>
                <a:latin typeface="Microsoft YaHei"/>
              </a:rPr>
              <a:t>上海创智汇 × 同浦汇 · 年度活动运营方案 · 双会资源并入融合版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6537960"/>
            <a:ext cx="146304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8A8A9A"/>
                </a:solidFill>
                <a:latin typeface="Microsoft YaHei"/>
              </a:rPr>
              <a:t>8/29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1E4D8C"/>
                </a:solidFill>
                <a:latin typeface="Microsoft YaHei"/>
              </a:rPr>
              <a:t>02 · 双会资源导入（摘要）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  <a:latin typeface="Microsoft YaHei"/>
              </a:rPr>
              <a:t>只取招商贴近可调用规模与优先策略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4A4A5A"/>
                </a:solidFill>
                <a:latin typeface="Microsoft YaHei"/>
              </a:rPr>
              <a:t>来源：WAIC2026全量资源整合总表 · ChinaJoy2026招商引资总表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5394960" cy="4983480"/>
          </a:xfrm>
          <a:prstGeom prst="rect">
            <a:avLst/>
          </a:prstGeom>
          <a:solidFill>
            <a:srgbClr val="F7F8FA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73152" cy="4983480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298448"/>
            <a:ext cx="507492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Microsoft YaHei"/>
              </a:rPr>
              <a:t>WAIC → 喂养 3F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627632"/>
            <a:ext cx="50292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参展商963 · 品牌库4262 · 联系人3463 · A/B线索500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主赛道：算力芯片 / 具身 / Agent / AIGC / 行业AI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ACT缩尺：闭门会·具身体验·算力峰会·行业AI圆桌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用法：线索抽样邀约；论坛议题→≤30人沙龙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不做：全量展商粘贴进PPT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0" y="1188720"/>
            <a:ext cx="5074920" cy="4983480"/>
          </a:xfrm>
          <a:prstGeom prst="rect">
            <a:avLst/>
          </a:prstGeom>
          <a:solidFill>
            <a:srgbClr val="F7F8FA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0" y="1188720"/>
            <a:ext cx="73152" cy="4983480"/>
          </a:xfrm>
          <a:prstGeom prst="rect">
            <a:avLst/>
          </a:prstGeom>
          <a:solidFill>
            <a:srgbClr val="C4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84848" y="1298448"/>
            <a:ext cx="47548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Microsoft YaHei"/>
              </a:rPr>
              <a:t>ChinaJoy → 喂养 5F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84848" y="1627632"/>
            <a:ext cx="4709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C49A3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主题「与AI同游」· 可触达优先263 · 精编422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C49A3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最高：中小游戏工作室（Express/Next Play/AGS）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C49A3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高：Vision Future具身 · 潮玩谷子 · 创作者经济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C49A3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中腰部选址灵活；不硬追大厂总部搬迁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C49A3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原潮玩产业集群场次合并为CJ主题内容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3796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8A8A9A"/>
                </a:solidFill>
                <a:latin typeface="Microsoft YaHei"/>
              </a:rPr>
              <a:t>上海创智汇 × 同浦汇 · 年度活动运营方案 · 双会资源并入融合版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537960"/>
            <a:ext cx="146304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8A8A9A"/>
                </a:solidFill>
                <a:latin typeface="Microsoft YaHei"/>
              </a:rPr>
              <a:t>9/29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1E4D8C"/>
                </a:solidFill>
                <a:latin typeface="Microsoft YaHei"/>
              </a:rPr>
              <a:t>03 · 主题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  <a:latin typeface="Microsoft YaHei"/>
              </a:rPr>
              <a:t>智能体与算力训练（3F基本盘）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88720"/>
            <a:ext cx="11183112" cy="1417320"/>
          </a:xfrm>
          <a:prstGeom prst="rect">
            <a:avLst/>
          </a:prstGeom>
          <a:solidFill>
            <a:srgbClr val="F7F8FA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73152" cy="1417320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298448"/>
            <a:ext cx="1086307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Microsoft YaHei"/>
              </a:rPr>
              <a:t>主题说明（合并后）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1627632"/>
            <a:ext cx="10817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训练营负责聚人，政策/Demo Day负责转化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资源：WAIC Agent/多模态/算力/具身池抽样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重点场：A2 Agent一日营 → OPC看场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788920"/>
            <a:ext cx="782817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9496" y="2825496"/>
            <a:ext cx="727953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icrosoft YaHei"/>
              </a:rPr>
              <a:t>编号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85737" y="2788920"/>
            <a:ext cx="2683946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2313" y="2825496"/>
            <a:ext cx="2629082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活动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69683" y="2788920"/>
            <a:ext cx="1341973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06259" y="2825496"/>
            <a:ext cx="128710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icrosoft YaHei"/>
              </a:rPr>
              <a:t>档期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11656" y="2788920"/>
            <a:ext cx="1341973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48232" y="2825496"/>
            <a:ext cx="128710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icrosoft YaHei"/>
              </a:rPr>
              <a:t>形式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53629" y="2788920"/>
            <a:ext cx="2236622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90205" y="2825496"/>
            <a:ext cx="2181758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icrosoft YaHei"/>
              </a:rPr>
              <a:t>招商落点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90251" y="2788920"/>
            <a:ext cx="2795778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26827" y="2825496"/>
            <a:ext cx="2740914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icrosoft YaHei"/>
              </a:rPr>
              <a:t>资源导入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136392"/>
            <a:ext cx="782817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496" y="3172968"/>
            <a:ext cx="727953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A2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85737" y="3136392"/>
            <a:ext cx="2683946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22313" y="3172968"/>
            <a:ext cx="2629082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Agent智能体搭建一日营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69683" y="3136392"/>
            <a:ext cx="1341973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006259" y="3172968"/>
            <a:ext cx="128710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9月上旬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11656" y="3136392"/>
            <a:ext cx="1341973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48232" y="3172968"/>
            <a:ext cx="128710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实训营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53629" y="3136392"/>
            <a:ext cx="223662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90205" y="3172968"/>
            <a:ext cx="2181758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Agent初创落位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890251" y="3136392"/>
            <a:ext cx="279577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26827" y="3172968"/>
            <a:ext cx="2740914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Agent池抽样；ACT-001缩尺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3483864"/>
            <a:ext cx="782817" cy="34747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9496" y="3520440"/>
            <a:ext cx="727953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A3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285737" y="3483864"/>
            <a:ext cx="2683946" cy="34747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22313" y="3520440"/>
            <a:ext cx="2629082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多模态智能体工作坊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969683" y="3483864"/>
            <a:ext cx="1341973" cy="34747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006259" y="3520440"/>
            <a:ext cx="128710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10月上旬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311656" y="3483864"/>
            <a:ext cx="1341973" cy="34747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48232" y="3520440"/>
            <a:ext cx="128710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工作坊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653629" y="3483864"/>
            <a:ext cx="2236622" cy="34747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90205" y="3520440"/>
            <a:ext cx="2181758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多模态团队入驻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890251" y="3483864"/>
            <a:ext cx="2795778" cy="34747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26827" y="3520440"/>
            <a:ext cx="2740914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AIGC子类抽样；内容创意论坛切片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3831336"/>
            <a:ext cx="782817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9496" y="3867912"/>
            <a:ext cx="727953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A4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285737" y="3831336"/>
            <a:ext cx="2683946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322313" y="3867912"/>
            <a:ext cx="2629082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火山引擎×算力Infra实务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969683" y="3831336"/>
            <a:ext cx="1341973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006259" y="3867912"/>
            <a:ext cx="128710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11月上旬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311656" y="3831336"/>
            <a:ext cx="1341973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348232" y="3867912"/>
            <a:ext cx="128710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厂商联训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653629" y="3831336"/>
            <a:ext cx="223662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690205" y="3867912"/>
            <a:ext cx="2181758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高算力企业定向看场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890251" y="3831336"/>
            <a:ext cx="279577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926827" y="3867912"/>
            <a:ext cx="2740914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ACT-003缩尺；算力展商池抽样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2920" y="4178808"/>
            <a:ext cx="782817" cy="34747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39496" y="4215384"/>
            <a:ext cx="727953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A5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285737" y="4178808"/>
            <a:ext cx="2683946" cy="34747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322313" y="4215384"/>
            <a:ext cx="2629082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具身智能空间交互体验日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969683" y="4178808"/>
            <a:ext cx="1341973" cy="34747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006259" y="4215384"/>
            <a:ext cx="128710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12月上旬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311656" y="4178808"/>
            <a:ext cx="1341973" cy="34747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348232" y="4215384"/>
            <a:ext cx="128710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体验日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653629" y="4178808"/>
            <a:ext cx="2236622" cy="34747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690205" y="4215384"/>
            <a:ext cx="2181758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具身/机器人团队看场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890251" y="4178808"/>
            <a:ext cx="2795778" cy="34747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926827" y="4215384"/>
            <a:ext cx="2740914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ACT-002缩尺；场景观察+CJ前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02920" y="4526280"/>
            <a:ext cx="782817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39496" y="4562856"/>
            <a:ext cx="727953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A6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285737" y="4526280"/>
            <a:ext cx="2683946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322313" y="4562856"/>
            <a:ext cx="2629082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AI营销Agent实战营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969683" y="4526280"/>
            <a:ext cx="1341973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006259" y="4562856"/>
            <a:ext cx="128710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次1月中旬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311656" y="4526280"/>
            <a:ext cx="1341973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348232" y="4562856"/>
            <a:ext cx="128710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实战营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653629" y="4526280"/>
            <a:ext cx="223662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690205" y="4562856"/>
            <a:ext cx="2181758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营销科技公司看场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890251" y="4526280"/>
            <a:ext cx="279577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926827" y="4562856"/>
            <a:ext cx="2740914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企业服务/营销池抽样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02920" y="4873752"/>
            <a:ext cx="782817" cy="34747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39496" y="4910328"/>
            <a:ext cx="727953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A7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285737" y="4873752"/>
            <a:ext cx="2683946" cy="34747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322313" y="4910328"/>
            <a:ext cx="2629082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OPC超级个体黑客松（春）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969683" y="4873752"/>
            <a:ext cx="1341973" cy="34747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006259" y="4910328"/>
            <a:ext cx="128710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次3月上旬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311656" y="4873752"/>
            <a:ext cx="1341973" cy="34747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348232" y="4910328"/>
            <a:ext cx="128710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黑客松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653629" y="4873752"/>
            <a:ext cx="2236622" cy="34747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690205" y="4910328"/>
            <a:ext cx="2181758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获奖团队优先谈单元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890251" y="4873752"/>
            <a:ext cx="2795778" cy="34747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926827" y="4910328"/>
            <a:ext cx="2740914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高校Builder；CJ AGS线索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02920" y="653796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8A8A9A"/>
                </a:solidFill>
                <a:latin typeface="Microsoft YaHei"/>
              </a:rPr>
              <a:t>上海创智汇 × 同浦汇 · 年度活动运营方案 · 双会资源并入融合版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241280" y="6537960"/>
            <a:ext cx="146304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8A8A9A"/>
                </a:solidFill>
                <a:latin typeface="Microsoft YaHei"/>
              </a:rPr>
              <a:t>10/29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1E4D8C"/>
                </a:solidFill>
                <a:latin typeface="Microsoft YaHei"/>
              </a:rPr>
              <a:t>03 · 主题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  <a:latin typeface="Microsoft YaHei"/>
              </a:rPr>
              <a:t>政策与治理沙龙（进园理由）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88720"/>
            <a:ext cx="11183112" cy="1417320"/>
          </a:xfrm>
          <a:prstGeom prst="rect">
            <a:avLst/>
          </a:prstGeom>
          <a:solidFill>
            <a:srgbClr val="F7F8FA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73152" cy="1417320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298448"/>
            <a:ext cx="1086307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Microsoft YaHei"/>
              </a:rPr>
              <a:t>主题说明（合并后）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1627632"/>
            <a:ext cx="10817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把补贴、资质、合规做成面对面小场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紧接算力营做券务，年底决策窗口转化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服中心现场可收件启动申报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788920"/>
            <a:ext cx="782817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9496" y="2825496"/>
            <a:ext cx="727953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icrosoft YaHei"/>
              </a:rPr>
              <a:t>编号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85737" y="2788920"/>
            <a:ext cx="2683946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2313" y="2825496"/>
            <a:ext cx="2629082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活动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69683" y="2788920"/>
            <a:ext cx="1341973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06259" y="2825496"/>
            <a:ext cx="128710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icrosoft YaHei"/>
              </a:rPr>
              <a:t>档期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11656" y="2788920"/>
            <a:ext cx="1341973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48232" y="2825496"/>
            <a:ext cx="128710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icrosoft YaHei"/>
              </a:rPr>
              <a:t>形式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53629" y="2788920"/>
            <a:ext cx="2236622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90205" y="2825496"/>
            <a:ext cx="2181758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icrosoft YaHei"/>
              </a:rPr>
              <a:t>招商落点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90251" y="2788920"/>
            <a:ext cx="2795778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26827" y="2825496"/>
            <a:ext cx="2740914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icrosoft YaHei"/>
              </a:rPr>
              <a:t>资源导入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136392"/>
            <a:ext cx="782817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496" y="3172968"/>
            <a:ext cx="727953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B2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85737" y="3136392"/>
            <a:ext cx="2683946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22313" y="3172968"/>
            <a:ext cx="2629082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AI治理与可信智能体沙龙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69683" y="3136392"/>
            <a:ext cx="1341973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006259" y="3172968"/>
            <a:ext cx="128710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10月下旬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11656" y="3136392"/>
            <a:ext cx="1341973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48232" y="3172968"/>
            <a:ext cx="128710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沙龙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53629" y="3136392"/>
            <a:ext cx="223662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90205" y="3172968"/>
            <a:ext cx="2181758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合规型企业信任导入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890251" y="3136392"/>
            <a:ext cx="279577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26827" y="3172968"/>
            <a:ext cx="2740914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治理议题摘要；合规顾问短名单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3483864"/>
            <a:ext cx="782817" cy="34747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9496" y="3520440"/>
            <a:ext cx="727953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B4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285737" y="3483864"/>
            <a:ext cx="2683946" cy="34747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22313" y="3520440"/>
            <a:ext cx="2629082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创新券·算力券·模型券实务沙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969683" y="3483864"/>
            <a:ext cx="1341973" cy="34747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006259" y="3520440"/>
            <a:ext cx="128710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11月中旬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311656" y="3483864"/>
            <a:ext cx="1341973" cy="34747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48232" y="3520440"/>
            <a:ext cx="128710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实务沙龙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653629" y="3483864"/>
            <a:ext cx="2236622" cy="34747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90205" y="3520440"/>
            <a:ext cx="2181758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用券企业聚集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890251" y="3483864"/>
            <a:ext cx="2795778" cy="34747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26827" y="3520440"/>
            <a:ext cx="2740914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三券核销路径；云厂商联系人抽样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3831336"/>
            <a:ext cx="782817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9496" y="3867912"/>
            <a:ext cx="727953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B1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285737" y="3831336"/>
            <a:ext cx="2683946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322313" y="3867912"/>
            <a:ext cx="2629082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YOUNG立方×智能伙伴政策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969683" y="3831336"/>
            <a:ext cx="1341973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006259" y="3867912"/>
            <a:ext cx="128710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次2月中旬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311656" y="3831336"/>
            <a:ext cx="1341973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348232" y="3867912"/>
            <a:ext cx="128710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政策沙龙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653629" y="3831336"/>
            <a:ext cx="223662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690205" y="3867912"/>
            <a:ext cx="2181758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内容/AI企业导入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890251" y="3831336"/>
            <a:ext cx="279577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926827" y="3867912"/>
            <a:ext cx="2740914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政策礼包+双会意向企业复邀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2920" y="4178808"/>
            <a:ext cx="782817" cy="34747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39496" y="4215384"/>
            <a:ext cx="727953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B3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285737" y="4178808"/>
            <a:ext cx="2683946" cy="34747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322313" y="4215384"/>
            <a:ext cx="2629082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高企认定冲刺（AI企业专场）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969683" y="4178808"/>
            <a:ext cx="1341973" cy="34747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006259" y="4215384"/>
            <a:ext cx="128710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次2月下旬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311656" y="4178808"/>
            <a:ext cx="1341973" cy="34747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348232" y="4215384"/>
            <a:ext cx="128710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辅导会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653629" y="4178808"/>
            <a:ext cx="2236622" cy="34747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690205" y="4215384"/>
            <a:ext cx="2181758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待认定企业带政策入驻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890251" y="4178808"/>
            <a:ext cx="2795778" cy="34747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926827" y="4215384"/>
            <a:ext cx="2740914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双会AI应用类待认定抽样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2920" y="653796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8A8A9A"/>
                </a:solidFill>
                <a:latin typeface="Microsoft YaHei"/>
              </a:rPr>
              <a:t>上海创智汇 × 同浦汇 · 年度活动运营方案 · 双会资源并入融合版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241280" y="6537960"/>
            <a:ext cx="146304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8A8A9A"/>
                </a:solidFill>
                <a:latin typeface="Microsoft YaHei"/>
              </a:rPr>
              <a:t>11/29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1E4D8C"/>
                </a:solidFill>
                <a:latin typeface="Microsoft YaHei"/>
              </a:rPr>
              <a:t>03 · 主题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  <a:latin typeface="Microsoft YaHei"/>
              </a:rPr>
              <a:t>产业与ChinaJoy对接（合并同类项）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88720"/>
            <a:ext cx="11183112" cy="1417320"/>
          </a:xfrm>
          <a:prstGeom prst="rect">
            <a:avLst/>
          </a:prstGeom>
          <a:solidFill>
            <a:srgbClr val="F7F8FA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73152" cy="1417320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298448"/>
            <a:ext cx="1086307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Microsoft YaHei"/>
              </a:rPr>
              <a:t>主题说明（合并后）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1627632"/>
            <a:ext cx="10817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原东莞潮玩/汕头玩具/扬州毛绒 → 统一为CJ主题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一头高校成果，一头CJ中小工作室与供应链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重点：C1 IP授权对接 / C2成果转化日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788920"/>
            <a:ext cx="782817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9496" y="2825496"/>
            <a:ext cx="727953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icrosoft YaHei"/>
              </a:rPr>
              <a:t>编号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85737" y="2788920"/>
            <a:ext cx="2683946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2313" y="2825496"/>
            <a:ext cx="2629082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活动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69683" y="2788920"/>
            <a:ext cx="1341973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06259" y="2825496"/>
            <a:ext cx="128710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icrosoft YaHei"/>
              </a:rPr>
              <a:t>档期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11656" y="2788920"/>
            <a:ext cx="1341973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48232" y="2825496"/>
            <a:ext cx="128710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icrosoft YaHei"/>
              </a:rPr>
              <a:t>形式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53629" y="2788920"/>
            <a:ext cx="2236622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90205" y="2825496"/>
            <a:ext cx="2181758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icrosoft YaHei"/>
              </a:rPr>
              <a:t>招商落点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90251" y="2788920"/>
            <a:ext cx="2795778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26827" y="2825496"/>
            <a:ext cx="2740914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icrosoft YaHei"/>
              </a:rPr>
              <a:t>资源导入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136392"/>
            <a:ext cx="782817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496" y="3172968"/>
            <a:ext cx="727953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C1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85737" y="3136392"/>
            <a:ext cx="2683946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22313" y="3172968"/>
            <a:ext cx="2629082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ChinaJoy主题·数字娱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69683" y="3136392"/>
            <a:ext cx="1341973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006259" y="3172968"/>
            <a:ext cx="128710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9月中旬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11656" y="3136392"/>
            <a:ext cx="1341973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48232" y="3172968"/>
            <a:ext cx="128710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对接会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53629" y="3136392"/>
            <a:ext cx="223662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90205" y="3172968"/>
            <a:ext cx="2181758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CJ赛道企业/IP方入驻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890251" y="3136392"/>
            <a:ext cx="279577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26827" y="3172968"/>
            <a:ext cx="2740914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中小工作室+IP方；可触达263抽样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3483864"/>
            <a:ext cx="782817" cy="34747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9496" y="3520440"/>
            <a:ext cx="727953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C2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285737" y="3483864"/>
            <a:ext cx="2683946" cy="34747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22313" y="3520440"/>
            <a:ext cx="2629082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高校成果转化·AI for 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969683" y="3483864"/>
            <a:ext cx="1341973" cy="34747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006259" y="3520440"/>
            <a:ext cx="128710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次3月下旬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311656" y="3483864"/>
            <a:ext cx="1341973" cy="34747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48232" y="3520440"/>
            <a:ext cx="128710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对接日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653629" y="3483864"/>
            <a:ext cx="2236622" cy="34747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90205" y="3520440"/>
            <a:ext cx="2181758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成果公司/实验室落户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890251" y="3483864"/>
            <a:ext cx="2795778" cy="34747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26827" y="3520440"/>
            <a:ext cx="2740914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复旦住房中心学术支持位；科研论坛切片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3831336"/>
            <a:ext cx="782817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9496" y="3867912"/>
            <a:ext cx="727953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C3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285737" y="3831336"/>
            <a:ext cx="2683946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322313" y="3867912"/>
            <a:ext cx="2629082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ChinaJoy主题·游戏周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969683" y="3831336"/>
            <a:ext cx="1341973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006259" y="3867912"/>
            <a:ext cx="128710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次4月下旬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311656" y="3831336"/>
            <a:ext cx="1341973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348232" y="3867912"/>
            <a:ext cx="128710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对接会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653629" y="3831336"/>
            <a:ext cx="223662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690205" y="3867912"/>
            <a:ext cx="2181758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CJ供应链/周边企业展位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890251" y="3831336"/>
            <a:ext cx="279577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926827" y="3867912"/>
            <a:ext cx="2740914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潮玩谷子高优先级；作品类示例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2920" y="4178808"/>
            <a:ext cx="782817" cy="34747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39496" y="4215384"/>
            <a:ext cx="727953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C4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285737" y="4178808"/>
            <a:ext cx="2683946" cy="34747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322313" y="4215384"/>
            <a:ext cx="2629082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专精特新·AI应用培育路演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969683" y="4178808"/>
            <a:ext cx="1341973" cy="34747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006259" y="4215384"/>
            <a:ext cx="128710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次5月中旬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311656" y="4178808"/>
            <a:ext cx="1341973" cy="34747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348232" y="4215384"/>
            <a:ext cx="128710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路演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653629" y="4178808"/>
            <a:ext cx="2236622" cy="34747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690205" y="4215384"/>
            <a:ext cx="2181758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成长型AI补位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890251" y="4178808"/>
            <a:ext cx="2795778" cy="34747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926827" y="4215384"/>
            <a:ext cx="2740914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ACT-006缩尺；行业AI池抽样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02920" y="4526280"/>
            <a:ext cx="782817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39496" y="4562856"/>
            <a:ext cx="727953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C5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285737" y="4526280"/>
            <a:ext cx="2683946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322313" y="4562856"/>
            <a:ext cx="2629082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ChinaJoy主题·IP联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969683" y="4526280"/>
            <a:ext cx="1341973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006259" y="4562856"/>
            <a:ext cx="128710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次6月中旬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311656" y="4526280"/>
            <a:ext cx="1341973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348232" y="4562856"/>
            <a:ext cx="128710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撮合会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653629" y="4526280"/>
            <a:ext cx="223662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690205" y="4562856"/>
            <a:ext cx="2181758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IP联名/衍生品团队入驻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890251" y="4526280"/>
            <a:ext cx="279577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926827" y="4562856"/>
            <a:ext cx="2740914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老字号×IP联名案例迁移；衍生品抽样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02920" y="653796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8A8A9A"/>
                </a:solidFill>
                <a:latin typeface="Microsoft YaHei"/>
              </a:rPr>
              <a:t>上海创智汇 × 同浦汇 · 年度活动运营方案 · 双会资源并入融合版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241280" y="6537960"/>
            <a:ext cx="146304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8A8A9A"/>
                </a:solidFill>
                <a:latin typeface="Microsoft YaHei"/>
              </a:rPr>
              <a:t>12/29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1E4D8C"/>
                </a:solidFill>
                <a:latin typeface="Microsoft YaHei"/>
              </a:rPr>
              <a:t>03 · 主题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  <a:latin typeface="Microsoft YaHei"/>
              </a:rPr>
              <a:t>AI内容与ChinaJoy人气（5F引擎）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88720"/>
            <a:ext cx="11183112" cy="1417320"/>
          </a:xfrm>
          <a:prstGeom prst="rect">
            <a:avLst/>
          </a:prstGeom>
          <a:solidFill>
            <a:srgbClr val="F7F8FA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73152" cy="1417320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298448"/>
            <a:ext cx="1086307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Microsoft YaHei"/>
              </a:rPr>
              <a:t>主题说明（合并后）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1627632"/>
            <a:ext cx="10817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特训供给 → 首发交易 → 市集/联展客流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与CJ创作者展区、WAIC AIGC错峰协同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重点：D4短展期联展闭幕洽谈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788920"/>
            <a:ext cx="782817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9496" y="2825496"/>
            <a:ext cx="727953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icrosoft YaHei"/>
              </a:rPr>
              <a:t>编号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85737" y="2788920"/>
            <a:ext cx="2683946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2313" y="2825496"/>
            <a:ext cx="2629082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活动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69683" y="2788920"/>
            <a:ext cx="1341973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06259" y="2825496"/>
            <a:ext cx="128710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icrosoft YaHei"/>
              </a:rPr>
              <a:t>档期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11656" y="2788920"/>
            <a:ext cx="1341973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48232" y="2825496"/>
            <a:ext cx="128710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icrosoft YaHei"/>
              </a:rPr>
              <a:t>形式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53629" y="2788920"/>
            <a:ext cx="2236622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90205" y="2825496"/>
            <a:ext cx="2181758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icrosoft YaHei"/>
              </a:rPr>
              <a:t>招商落点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90251" y="2788920"/>
            <a:ext cx="2795778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26827" y="2825496"/>
            <a:ext cx="2740914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icrosoft YaHei"/>
              </a:rPr>
              <a:t>资源导入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136392"/>
            <a:ext cx="782817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496" y="3172968"/>
            <a:ext cx="727953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D1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85737" y="3136392"/>
            <a:ext cx="2683946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22313" y="3172968"/>
            <a:ext cx="2629082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AIGC微短剧制片特训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69683" y="3136392"/>
            <a:ext cx="1341973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006259" y="3172968"/>
            <a:ext cx="128710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次1月上旬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11656" y="3136392"/>
            <a:ext cx="1341973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48232" y="3172968"/>
            <a:ext cx="128710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特训营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53629" y="3136392"/>
            <a:ext cx="223662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90205" y="3172968"/>
            <a:ext cx="2181758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厂牌/工作室入驻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890251" y="3136392"/>
            <a:ext cx="279577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26827" y="3172968"/>
            <a:ext cx="2740914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影视内容论坛切片；AIGC厂牌抽样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3483864"/>
            <a:ext cx="782817" cy="34747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9496" y="3520440"/>
            <a:ext cx="727953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D2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285737" y="3483864"/>
            <a:ext cx="2683946" cy="34747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22313" y="3520440"/>
            <a:ext cx="2629082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ChinaJoy主题·创作者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969683" y="3483864"/>
            <a:ext cx="1341973" cy="34747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006259" y="3520440"/>
            <a:ext cx="128710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次4月中旬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311656" y="3483864"/>
            <a:ext cx="1341973" cy="34747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48232" y="3520440"/>
            <a:ext cx="128710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发布会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653629" y="3483864"/>
            <a:ext cx="2236622" cy="34747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90205" y="3520440"/>
            <a:ext cx="2181758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数字娱乐/内容品牌问询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890251" y="3483864"/>
            <a:ext cx="2795778" cy="34747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26827" y="3520440"/>
            <a:ext cx="2740914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创作者/社团抽样；渠道玩法迁移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3831336"/>
            <a:ext cx="782817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9496" y="3867912"/>
            <a:ext cx="727953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D3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285737" y="3831336"/>
            <a:ext cx="2683946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322313" y="3867912"/>
            <a:ext cx="2629082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ChinaJoy主题·数字娱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969683" y="3831336"/>
            <a:ext cx="1341973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006259" y="3867912"/>
            <a:ext cx="128710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次5月下旬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311656" y="3831336"/>
            <a:ext cx="1341973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348232" y="3867912"/>
            <a:ext cx="128710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体验日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653629" y="3831336"/>
            <a:ext cx="223662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690205" y="3867912"/>
            <a:ext cx="2181758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优质摊主/工作室升级固定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890251" y="3831336"/>
            <a:ext cx="279577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926827" y="3867912"/>
            <a:ext cx="2740914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小微品牌；市集→固定展位路径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2920" y="4178808"/>
            <a:ext cx="782817" cy="34747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39496" y="4215384"/>
            <a:ext cx="727953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D4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285737" y="4178808"/>
            <a:ext cx="2683946" cy="34747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322313" y="4215384"/>
            <a:ext cx="2629082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ChinaJoy主题·沉浸式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969683" y="4178808"/>
            <a:ext cx="1341973" cy="34747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006259" y="4215384"/>
            <a:ext cx="128710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次6月下旬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311656" y="4178808"/>
            <a:ext cx="1341973" cy="34747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348232" y="4215384"/>
            <a:ext cx="128710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联展（短展期）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653629" y="4178808"/>
            <a:ext cx="2236622" cy="34747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690205" y="4215384"/>
            <a:ext cx="2181758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闭幕洽谈集中转化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890251" y="4178808"/>
            <a:ext cx="2795778" cy="34747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926827" y="4215384"/>
            <a:ext cx="2740914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联合内容方短名单；预约制控流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02920" y="4526280"/>
            <a:ext cx="782817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39496" y="4562856"/>
            <a:ext cx="727953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D5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285737" y="4526280"/>
            <a:ext cx="2683946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322313" y="4562856"/>
            <a:ext cx="2629082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创作者首发②·衔接WAIC2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969683" y="4526280"/>
            <a:ext cx="1341973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006259" y="4562856"/>
            <a:ext cx="128710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次7月中旬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311656" y="4526280"/>
            <a:ext cx="1341973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348232" y="4562856"/>
            <a:ext cx="128710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发布会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653629" y="4526280"/>
            <a:ext cx="223662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690205" y="4562856"/>
            <a:ext cx="2181758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旺季补位，双大会预热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890251" y="4526280"/>
            <a:ext cx="279577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926827" y="4562856"/>
            <a:ext cx="2740914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全年双会线索复盘；预热下届双会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02920" y="653796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8A8A9A"/>
                </a:solidFill>
                <a:latin typeface="Microsoft YaHei"/>
              </a:rPr>
              <a:t>上海创智汇 × 同浦汇 · 年度活动运营方案 · 双会资源并入融合版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241280" y="6537960"/>
            <a:ext cx="146304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8A8A9A"/>
                </a:solidFill>
                <a:latin typeface="Microsoft YaHei"/>
              </a:rPr>
              <a:t>13/29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1E4D8C"/>
                </a:solidFill>
                <a:latin typeface="Microsoft YaHei"/>
              </a:rPr>
              <a:t>03 · 主题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  <a:latin typeface="Microsoft YaHei"/>
              </a:rPr>
              <a:t>启动月：项目推广 + 双会承接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88720"/>
            <a:ext cx="11183112" cy="1417320"/>
          </a:xfrm>
          <a:prstGeom prst="rect">
            <a:avLst/>
          </a:prstGeom>
          <a:solidFill>
            <a:srgbClr val="F7F8FA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73152" cy="1417320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298448"/>
            <a:ext cx="1086307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Microsoft YaHei"/>
              </a:rPr>
              <a:t>主题说明（合并后）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1627632"/>
            <a:ext cx="10817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8月四场项目推广日（中介/金融/投研/政府）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E1 WAIC成果开放交流日（≤30人精准）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E4 CJ主题日承接数字娱乐生态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788920"/>
            <a:ext cx="782817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9496" y="2825496"/>
            <a:ext cx="727953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icrosoft YaHei"/>
              </a:rPr>
              <a:t>编号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85737" y="2788920"/>
            <a:ext cx="2683946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2313" y="2825496"/>
            <a:ext cx="2629082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活动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69683" y="2788920"/>
            <a:ext cx="1341973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06259" y="2825496"/>
            <a:ext cx="128710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icrosoft YaHei"/>
              </a:rPr>
              <a:t>档期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11656" y="2788920"/>
            <a:ext cx="1341973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48232" y="2825496"/>
            <a:ext cx="128710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icrosoft YaHei"/>
              </a:rPr>
              <a:t>形式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53629" y="2788920"/>
            <a:ext cx="2236622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90205" y="2825496"/>
            <a:ext cx="2181758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icrosoft YaHei"/>
              </a:rPr>
              <a:t>招商落点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90251" y="2788920"/>
            <a:ext cx="2795778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26827" y="2825496"/>
            <a:ext cx="2740914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icrosoft YaHei"/>
              </a:rPr>
              <a:t>资源导入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136392"/>
            <a:ext cx="782817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496" y="3172968"/>
            <a:ext cx="727953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P1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85737" y="3136392"/>
            <a:ext cx="2683946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22313" y="3172968"/>
            <a:ext cx="2629082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创智汇项目推广日①·中介与渠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69683" y="3136392"/>
            <a:ext cx="1341973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006259" y="3172968"/>
            <a:ext cx="128710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8月上旬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11656" y="3136392"/>
            <a:ext cx="1341973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48232" y="3172968"/>
            <a:ext cx="128710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项目推广日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53629" y="3136392"/>
            <a:ext cx="223662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90205" y="3172968"/>
            <a:ext cx="2181758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中介渠道带看与项目推介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890251" y="3136392"/>
            <a:ext cx="279577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26827" y="3172968"/>
            <a:ext cx="2740914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待租8间看场清单；双会转介话术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3483864"/>
            <a:ext cx="782817" cy="34747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9496" y="3520440"/>
            <a:ext cx="727953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P2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285737" y="3483864"/>
            <a:ext cx="2683946" cy="34747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22313" y="3520440"/>
            <a:ext cx="2629082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创智汇项目推广日②·五大行与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969683" y="3483864"/>
            <a:ext cx="1341973" cy="34747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006259" y="3520440"/>
            <a:ext cx="128710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8月中旬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311656" y="3483864"/>
            <a:ext cx="1341973" cy="34747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48232" y="3520440"/>
            <a:ext cx="128710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项目推广日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653629" y="3483864"/>
            <a:ext cx="2236622" cy="34747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90205" y="3520440"/>
            <a:ext cx="2181758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金融资源链接与客户导入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890251" y="3483864"/>
            <a:ext cx="2795778" cy="34747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26827" y="3520440"/>
            <a:ext cx="2740914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WAIC金融科技议题摘要；CJ专业观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3831336"/>
            <a:ext cx="782817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9496" y="3867912"/>
            <a:ext cx="727953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P3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285737" y="3831336"/>
            <a:ext cx="2683946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322313" y="3867912"/>
            <a:ext cx="2629082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创智汇项目推广日③·投研机构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969683" y="3831336"/>
            <a:ext cx="1341973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006259" y="3867912"/>
            <a:ext cx="128710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8月中旬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311656" y="3831336"/>
            <a:ext cx="1341973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348232" y="3867912"/>
            <a:ext cx="128710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项目推广日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653629" y="3831336"/>
            <a:ext cx="223662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690205" y="3867912"/>
            <a:ext cx="2181758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投研视角放大项目影响力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890251" y="3831336"/>
            <a:ext cx="279577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926827" y="3867912"/>
            <a:ext cx="2740914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WAIC赛道结论；CJ「与AI同游」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2920" y="4178808"/>
            <a:ext cx="782817" cy="34747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39496" y="4215384"/>
            <a:ext cx="727953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P4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285737" y="4178808"/>
            <a:ext cx="2683946" cy="34747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322313" y="4215384"/>
            <a:ext cx="2629082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创智汇项目推广日④·政府部门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969683" y="4178808"/>
            <a:ext cx="1341973" cy="34747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006259" y="4215384"/>
            <a:ext cx="128710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8月下旬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311656" y="4178808"/>
            <a:ext cx="1341973" cy="34747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348232" y="4215384"/>
            <a:ext cx="128710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项目推广日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653629" y="4178808"/>
            <a:ext cx="2236622" cy="34747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690205" y="4215384"/>
            <a:ext cx="2181758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政策与载体协同落地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890251" y="4178808"/>
            <a:ext cx="2795778" cy="34747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926827" y="4215384"/>
            <a:ext cx="2740914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算力券/创新券口径；YOUNG立方政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02920" y="4526280"/>
            <a:ext cx="782817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39496" y="4562856"/>
            <a:ext cx="727953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E1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285737" y="4526280"/>
            <a:ext cx="2683946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322313" y="4562856"/>
            <a:ext cx="2629082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WAIC成果承接·创智汇开放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969683" y="4526280"/>
            <a:ext cx="1341973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006259" y="4562856"/>
            <a:ext cx="128710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8月下旬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311656" y="4526280"/>
            <a:ext cx="1341973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348232" y="4562856"/>
            <a:ext cx="128710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开放交流日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653629" y="4526280"/>
            <a:ext cx="223662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690205" y="4562856"/>
            <a:ext cx="2181758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衔接WAIC议题与园区看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890251" y="4526280"/>
            <a:ext cx="279577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926827" y="4562856"/>
            <a:ext cx="2740914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A/B线索抽样；ACT-001/00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02920" y="4873752"/>
            <a:ext cx="782817" cy="34747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39496" y="4910328"/>
            <a:ext cx="727953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E4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285737" y="4873752"/>
            <a:ext cx="2683946" cy="34747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322313" y="4910328"/>
            <a:ext cx="2629082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ChinaJoy主题日·数字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969683" y="4873752"/>
            <a:ext cx="1341973" cy="34747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006259" y="4910328"/>
            <a:ext cx="128710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10月中旬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311656" y="4873752"/>
            <a:ext cx="1341973" cy="34747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348232" y="4910328"/>
            <a:ext cx="128710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主题日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653629" y="4873752"/>
            <a:ext cx="2236622" cy="34747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690205" y="4910328"/>
            <a:ext cx="2181758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CJ生态企业集中看场与洽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890251" y="4873752"/>
            <a:ext cx="2795778" cy="34747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926827" y="4910328"/>
            <a:ext cx="2740914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Express/独立游戏中小团队池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02920" y="653796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8A8A9A"/>
                </a:solidFill>
                <a:latin typeface="Microsoft YaHei"/>
              </a:rPr>
              <a:t>上海创智汇 × 同浦汇 · 年度活动运营方案 · 双会资源并入融合版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241280" y="6537960"/>
            <a:ext cx="146304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8A8A9A"/>
                </a:solidFill>
                <a:latin typeface="Microsoft YaHei"/>
              </a:rPr>
              <a:t>14/29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1E4D8C"/>
                </a:solidFill>
                <a:latin typeface="Microsoft YaHei"/>
              </a:rPr>
              <a:t>03 · 主题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  <a:latin typeface="Microsoft YaHei"/>
              </a:rPr>
              <a:t>收官 · 圆桌 · 另计价事项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88720"/>
            <a:ext cx="11183112" cy="1417320"/>
          </a:xfrm>
          <a:prstGeom prst="rect">
            <a:avLst/>
          </a:prstGeom>
          <a:solidFill>
            <a:srgbClr val="F7F8FA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73152" cy="1417320"/>
          </a:xfrm>
          <a:prstGeom prst="rect">
            <a:avLst/>
          </a:prstGeom>
          <a:solidFill>
            <a:srgbClr val="C4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298448"/>
            <a:ext cx="1086307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Microsoft YaHei"/>
              </a:rPr>
              <a:t>主题说明（合并后）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1627632"/>
            <a:ext cx="10817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C49A3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F4 Demo Day：精选路演集中签约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C49A3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F3 AGI圆桌：研究型客户深谈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C49A3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F1出海 / L1领事：另议另计价，不进年度包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788920"/>
            <a:ext cx="782817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9496" y="2825496"/>
            <a:ext cx="727953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icrosoft YaHei"/>
              </a:rPr>
              <a:t>编号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85737" y="2788920"/>
            <a:ext cx="2683946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2313" y="2825496"/>
            <a:ext cx="2629082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活动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69683" y="2788920"/>
            <a:ext cx="1341973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06259" y="2825496"/>
            <a:ext cx="128710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icrosoft YaHei"/>
              </a:rPr>
              <a:t>档期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11656" y="2788920"/>
            <a:ext cx="1341973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48232" y="2825496"/>
            <a:ext cx="128710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icrosoft YaHei"/>
              </a:rPr>
              <a:t>形式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53629" y="2788920"/>
            <a:ext cx="2236622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90205" y="2825496"/>
            <a:ext cx="2181758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icrosoft YaHei"/>
              </a:rPr>
              <a:t>招商落点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90251" y="2788920"/>
            <a:ext cx="2795778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26827" y="2825496"/>
            <a:ext cx="2740914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icrosoft YaHei"/>
              </a:rPr>
              <a:t>资源导入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136392"/>
            <a:ext cx="782817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496" y="3172968"/>
            <a:ext cx="727953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F4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85737" y="3136392"/>
            <a:ext cx="2683946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22313" y="3172968"/>
            <a:ext cx="2629082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创智汇AI年度Demo Da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69683" y="3136392"/>
            <a:ext cx="1341973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006259" y="3172968"/>
            <a:ext cx="128710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12月中旬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11656" y="3136392"/>
            <a:ext cx="1341973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48232" y="3172968"/>
            <a:ext cx="128710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路演日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53629" y="3136392"/>
            <a:ext cx="223662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90205" y="3172968"/>
            <a:ext cx="2181758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集中签约洽谈与媒体背书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890251" y="3136392"/>
            <a:ext cx="279577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26827" y="3172968"/>
            <a:ext cx="2740914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年内导入A/B意向精选路演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3483864"/>
            <a:ext cx="782817" cy="34747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9496" y="3520440"/>
            <a:ext cx="727953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F3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285737" y="3483864"/>
            <a:ext cx="2683946" cy="34747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22313" y="3520440"/>
            <a:ext cx="2629082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通往AGI季度圆桌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969683" y="3483864"/>
            <a:ext cx="1341973" cy="34747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006259" y="3520440"/>
            <a:ext cx="128710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次3月下旬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311656" y="3483864"/>
            <a:ext cx="1341973" cy="34747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48232" y="3520440"/>
            <a:ext cx="128710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闭门圆桌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653629" y="3483864"/>
            <a:ext cx="2236622" cy="34747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90205" y="3520440"/>
            <a:ext cx="2181758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研究型/模型团队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890251" y="3483864"/>
            <a:ext cx="2795778" cy="34747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26827" y="3520440"/>
            <a:ext cx="2740914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ACT-001闭门形态；模型公司抽样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3831336"/>
            <a:ext cx="782817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9496" y="3867912"/>
            <a:ext cx="727953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F1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285737" y="3831336"/>
            <a:ext cx="2683946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322313" y="3867912"/>
            <a:ext cx="2629082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出海专题活动（另议·另计价）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969683" y="3831336"/>
            <a:ext cx="1341973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006259" y="3867912"/>
            <a:ext cx="128710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档期另议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311656" y="3831336"/>
            <a:ext cx="1341973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348232" y="3867912"/>
            <a:ext cx="128710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专题（另议）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653629" y="3831336"/>
            <a:ext cx="223662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690205" y="3867912"/>
            <a:ext cx="2181758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出海服务（不在年度活动包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890251" y="3831336"/>
            <a:ext cx="279577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926827" y="3867912"/>
            <a:ext cx="2740914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BTOB外资线索仅作另案素材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2920" y="4178808"/>
            <a:ext cx="782817" cy="34747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39496" y="4215384"/>
            <a:ext cx="727953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L1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285737" y="4178808"/>
            <a:ext cx="2683946" cy="34747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322313" y="4215384"/>
            <a:ext cx="2629082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领事到访接待（另计价）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969683" y="4178808"/>
            <a:ext cx="1341973" cy="34747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006259" y="4215384"/>
            <a:ext cx="128710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档期另议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311656" y="4178808"/>
            <a:ext cx="1341973" cy="34747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348232" y="4215384"/>
            <a:ext cx="128710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外事接待（另计价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653629" y="4178808"/>
            <a:ext cx="2236622" cy="34747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690205" y="4215384"/>
            <a:ext cx="2181758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领事到访（三部分费用之外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890251" y="4178808"/>
            <a:ext cx="2795778" cy="34747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926827" y="4215384"/>
            <a:ext cx="2740914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不占用年度30场资源池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2920" y="653796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8A8A9A"/>
                </a:solidFill>
                <a:latin typeface="Microsoft YaHei"/>
              </a:rPr>
              <a:t>上海创智汇 × 同浦汇 · 年度活动运营方案 · 双会资源并入融合版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241280" y="6537960"/>
            <a:ext cx="146304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8A8A9A"/>
                </a:solidFill>
                <a:latin typeface="Microsoft YaHei"/>
              </a:rPr>
              <a:t>15/29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1E4D8C"/>
                </a:solidFill>
                <a:latin typeface="Microsoft YaHei"/>
              </a:rPr>
              <a:t>04 · 单场执行标准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  <a:latin typeface="Microsoft YaHei"/>
              </a:rPr>
              <a:t>每场活动，同一套打法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1341973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" y="1271016"/>
            <a:ext cx="128710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节点</a:t>
            </a:r>
          </a:p>
        </p:txBody>
      </p:sp>
      <p:sp>
        <p:nvSpPr>
          <p:cNvPr id="8" name="Rectangle 7"/>
          <p:cNvSpPr/>
          <p:nvPr/>
        </p:nvSpPr>
        <p:spPr>
          <a:xfrm>
            <a:off x="1844893" y="1234440"/>
            <a:ext cx="3802258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81469" y="1271016"/>
            <a:ext cx="3747394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关键动作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47151" y="1234440"/>
            <a:ext cx="3354933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83727" y="1271016"/>
            <a:ext cx="330006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责任方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02084" y="1234440"/>
            <a:ext cx="2683946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38660" y="1271016"/>
            <a:ext cx="2629082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交付物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581912"/>
            <a:ext cx="1341973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9496" y="1618488"/>
            <a:ext cx="1287109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T-14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44893" y="1581912"/>
            <a:ext cx="3802258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81469" y="1618488"/>
            <a:ext cx="3747394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锁定嘉宾议程物料 + 本场资源切片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47151" y="1581912"/>
            <a:ext cx="3354933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83727" y="1618488"/>
            <a:ext cx="3300069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同浦汇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02084" y="1581912"/>
            <a:ext cx="2683946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38660" y="1618488"/>
            <a:ext cx="2629082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议程/嘉宾确认/报名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2084832"/>
            <a:ext cx="1341973" cy="5029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496" y="2121408"/>
            <a:ext cx="1287109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T-7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44893" y="2084832"/>
            <a:ext cx="3802258" cy="5029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81469" y="2121408"/>
            <a:ext cx="3747394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邀约确认 + 场地报备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47151" y="2084832"/>
            <a:ext cx="3354933" cy="5029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83727" y="2121408"/>
            <a:ext cx="3300069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同浦汇；园区场地确认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02084" y="2084832"/>
            <a:ext cx="2683946" cy="5029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38660" y="2121408"/>
            <a:ext cx="2629082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名单/场地单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2587752"/>
            <a:ext cx="1341973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9496" y="2624328"/>
            <a:ext cx="1287109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T-1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44893" y="2587752"/>
            <a:ext cx="3802258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881469" y="2624328"/>
            <a:ext cx="3747394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彩排 + 看场动线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47151" y="2587752"/>
            <a:ext cx="3354933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83727" y="2624328"/>
            <a:ext cx="3300069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同浦汇；园区样板间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002084" y="2587752"/>
            <a:ext cx="2683946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38660" y="2624328"/>
            <a:ext cx="2629082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彩排记录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3090672"/>
            <a:ext cx="1341973" cy="5029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9496" y="3127248"/>
            <a:ext cx="1287109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D日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44893" y="3090672"/>
            <a:ext cx="3802258" cy="5029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881469" y="3127248"/>
            <a:ext cx="3747394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签到→主区→看场→建群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47151" y="3090672"/>
            <a:ext cx="3354933" cy="5029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83727" y="3127248"/>
            <a:ext cx="3300069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同浦汇执行；园区支持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002084" y="3090672"/>
            <a:ext cx="2683946" cy="5029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038660" y="3127248"/>
            <a:ext cx="2629082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签到/意向/群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3593592"/>
            <a:ext cx="1341973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9496" y="3630168"/>
            <a:ext cx="1287109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T+1~7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44893" y="3593592"/>
            <a:ext cx="3802258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881469" y="3630168"/>
            <a:ext cx="3747394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带客回访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647151" y="3593592"/>
            <a:ext cx="3354933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683727" y="3630168"/>
            <a:ext cx="3300069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同浦汇主责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002084" y="3593592"/>
            <a:ext cx="2683946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38660" y="3630168"/>
            <a:ext cx="2629082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回访摘要知会园区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2920" y="4096512"/>
            <a:ext cx="1341973" cy="5029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39496" y="4133088"/>
            <a:ext cx="1287109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销售促成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44893" y="4096512"/>
            <a:ext cx="3802258" cy="5029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881469" y="4133088"/>
            <a:ext cx="3747394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房源条件与成交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647151" y="4096512"/>
            <a:ext cx="3354933" cy="5029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683727" y="4133088"/>
            <a:ext cx="3300069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园区负责销售部分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002084" y="4096512"/>
            <a:ext cx="2683946" cy="5029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038660" y="4133088"/>
            <a:ext cx="2629082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合同/交割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02920" y="653796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8A8A9A"/>
                </a:solidFill>
                <a:latin typeface="Microsoft YaHei"/>
              </a:rPr>
              <a:t>上海创智汇 × 同浦汇 · 年度活动运营方案 · 双会资源并入融合版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241280" y="6537960"/>
            <a:ext cx="146304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8A8A9A"/>
                </a:solidFill>
                <a:latin typeface="Microsoft YaHei"/>
              </a:rPr>
              <a:t>16/29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1E4D8C"/>
                </a:solidFill>
                <a:latin typeface="Microsoft YaHei"/>
              </a:rPr>
              <a:t>05 · 转化与分工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  <a:latin typeface="Microsoft YaHei"/>
              </a:rPr>
              <a:t>到场→建群→看场→销售促成（合并同类项）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5394960" cy="4937760"/>
          </a:xfrm>
          <a:prstGeom prst="rect">
            <a:avLst/>
          </a:prstGeom>
          <a:solidFill>
            <a:srgbClr val="F7F8FA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73152" cy="4937760"/>
          </a:xfrm>
          <a:prstGeom prst="rect">
            <a:avLst/>
          </a:prstGeom>
          <a:solidFill>
            <a:srgbClr val="1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344168"/>
            <a:ext cx="507492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Microsoft YaHei"/>
              </a:rPr>
              <a:t>转化动作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1673352"/>
            <a:ext cx="50292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7A5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D日：签到分层并建群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7A5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T+1：看场预约与资料入群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7A5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T+1~7：同浦汇持续带客回访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7A5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园区：群内发布房源/政策/条件，负责销售促成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7A5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月度核对意向与成交进展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1234440"/>
            <a:ext cx="5074920" cy="4937760"/>
          </a:xfrm>
          <a:prstGeom prst="rect">
            <a:avLst/>
          </a:prstGeom>
          <a:solidFill>
            <a:srgbClr val="F7F8FA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0" y="1234440"/>
            <a:ext cx="73152" cy="4937760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84848" y="1344168"/>
            <a:ext cx="47548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Microsoft YaHei"/>
              </a:rPr>
              <a:t>责任边界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4848" y="1673352"/>
            <a:ext cx="470916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同浦汇：策划、邀约、带客、建群、回访摘要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园区：场地物业、样板间、销售成交、合同交割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云创基地：主体运营范围与算力协同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科企联/服中心：活动载体支持与政策手续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复旦住房中心：学术支持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3796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8A8A9A"/>
                </a:solidFill>
                <a:latin typeface="Microsoft YaHei"/>
              </a:rPr>
              <a:t>上海创智汇 × 同浦汇 · 年度活动运营方案 · 双会资源并入融合版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537960"/>
            <a:ext cx="146304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8A8A9A"/>
                </a:solidFill>
                <a:latin typeface="Microsoft YaHei"/>
              </a:rPr>
              <a:t>17/29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1E4D8C"/>
                </a:solidFill>
                <a:latin typeface="Microsoft YaHei"/>
              </a:rPr>
              <a:t>05 · 交付与收费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  <a:latin typeface="Microsoft YaHei"/>
              </a:rPr>
              <a:t>交给园区的东西 · 付款唯一方案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43000"/>
            <a:ext cx="2236622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" y="1179576"/>
            <a:ext cx="2181758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周期</a:t>
            </a:r>
          </a:p>
        </p:txBody>
      </p:sp>
      <p:sp>
        <p:nvSpPr>
          <p:cNvPr id="8" name="Rectangle 7"/>
          <p:cNvSpPr/>
          <p:nvPr/>
        </p:nvSpPr>
        <p:spPr>
          <a:xfrm>
            <a:off x="2739542" y="1143000"/>
            <a:ext cx="8946489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76118" y="1179576"/>
            <a:ext cx="8891625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交付物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490472"/>
            <a:ext cx="223662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9496" y="1527048"/>
            <a:ext cx="2181758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签约后2周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39542" y="1490472"/>
            <a:ext cx="8946489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76118" y="1527048"/>
            <a:ext cx="8891625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年度方案细化版 + 排期日历 + 资源导入台账模板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856232"/>
            <a:ext cx="2236622" cy="36576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9496" y="1892808"/>
            <a:ext cx="2181758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每场后7天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39542" y="1856232"/>
            <a:ext cx="8946489" cy="36576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76118" y="1892808"/>
            <a:ext cx="8891625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执行卡/议程/签到/意向/动线/照片通稿 + 回访摘要 + 建群清单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221992"/>
            <a:ext cx="223662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496" y="2258568"/>
            <a:ext cx="2181758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每月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39542" y="2221992"/>
            <a:ext cx="8946489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76118" y="2258568"/>
            <a:ext cx="8891625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活动数据月报 + 下月排期确认单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2587752"/>
            <a:ext cx="2236622" cy="36576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496" y="2624328"/>
            <a:ext cx="2181758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每季/年末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39542" y="2587752"/>
            <a:ext cx="8946489" cy="36576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76118" y="2624328"/>
            <a:ext cx="8891625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复盘、台账、双会资源消耗与补库建议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3657600"/>
            <a:ext cx="11183112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1E4D8C"/>
                </a:solidFill>
                <a:latin typeface="Microsoft YaHei"/>
              </a:rPr>
              <a:t>收费与付款（合并后唯一方案）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931920"/>
            <a:ext cx="3131271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9496" y="3968496"/>
            <a:ext cx="3076407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项目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34191" y="3931920"/>
            <a:ext cx="8051840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70767" y="3968496"/>
            <a:ext cx="7996976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口径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4279392"/>
            <a:ext cx="3131271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9496" y="4315968"/>
            <a:ext cx="307640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活动策划执行服务费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34191" y="4279392"/>
            <a:ext cx="8051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767" y="4315968"/>
            <a:ext cx="7996976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年度打包（金额线下确认）；含常规30场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4590288"/>
            <a:ext cx="3131271" cy="310896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9496" y="4626864"/>
            <a:ext cx="307640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租金/物业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34191" y="4590288"/>
            <a:ext cx="8051840" cy="310896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70767" y="4626864"/>
            <a:ext cx="7996976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3.3元/㎡/天；物业13.8元/㎡/月；建议免租期1–3个月（面议）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4901184"/>
            <a:ext cx="3131271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9496" y="4937760"/>
            <a:ext cx="307640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租赁对赌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34191" y="4901184"/>
            <a:ext cx="8051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70767" y="4937760"/>
            <a:ext cx="7996976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不做（租金高于周边均价）；不做租赁必要性要求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5212080"/>
            <a:ext cx="3131271" cy="310896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39496" y="5248656"/>
            <a:ext cx="307640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出海/领事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34191" y="5212080"/>
            <a:ext cx="8051840" cy="310896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70767" y="5248656"/>
            <a:ext cx="7996976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另议另计价；挂牌与到访分属不同性质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" y="5522976"/>
            <a:ext cx="3131271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39496" y="5559552"/>
            <a:ext cx="307640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付款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34191" y="5522976"/>
            <a:ext cx="8051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70767" y="5559552"/>
            <a:ext cx="7996976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签约后7日50%；Q3/Q4/次年Q1/次年Q2各10%；年终10%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653796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8A8A9A"/>
                </a:solidFill>
                <a:latin typeface="Microsoft YaHei"/>
              </a:rPr>
              <a:t>上海创智汇 × 同浦汇 · 年度活动运营方案 · 双会资源并入融合版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241280" y="6537960"/>
            <a:ext cx="146304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8A8A9A"/>
                </a:solidFill>
                <a:latin typeface="Microsoft YaHei"/>
              </a:rPr>
              <a:t>18/29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1E4D8C"/>
                </a:solidFill>
                <a:latin typeface="Microsoft YaHei"/>
              </a:rPr>
              <a:t>05 · 往期案例（一）训练营 / 沙龙类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  <a:latin typeface="Microsoft YaHei"/>
              </a:rPr>
              <a:t>杨「数」浦数字沙龙第七期：AI如何重塑企业DNA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4A4A5A"/>
                </a:solidFill>
                <a:latin typeface="Microsoft YaHei"/>
              </a:rPr>
              <a:t>2025-06-30 · 美团上海综合指挥中心 · 政策/治理沙龙类</a:t>
            </a:r>
          </a:p>
        </p:txBody>
      </p:sp>
      <p:pic>
        <p:nvPicPr>
          <p:cNvPr id="7" name="Picture 6" descr="case_c987bd9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3611880" cy="2057400"/>
          </a:xfrm>
          <a:prstGeom prst="rect">
            <a:avLst/>
          </a:prstGeom>
        </p:spPr>
      </p:pic>
      <p:pic>
        <p:nvPicPr>
          <p:cNvPr id="8" name="Picture 7" descr="case_59157ea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59" y="1234440"/>
            <a:ext cx="3611880" cy="2057400"/>
          </a:xfrm>
          <a:prstGeom prst="rect">
            <a:avLst/>
          </a:prstGeom>
        </p:spPr>
      </p:pic>
      <p:pic>
        <p:nvPicPr>
          <p:cNvPr id="9" name="Picture 8" descr="case_6e51af9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0998" y="1234440"/>
            <a:ext cx="3611880" cy="20574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2920" y="3474720"/>
            <a:ext cx="6858000" cy="2697480"/>
          </a:xfrm>
          <a:prstGeom prst="rect">
            <a:avLst/>
          </a:prstGeom>
          <a:solidFill>
            <a:srgbClr val="F7F8FA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566160"/>
            <a:ext cx="64922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1E4D8C"/>
                </a:solidFill>
                <a:latin typeface="Microsoft YaHei"/>
              </a:rPr>
              <a:t>当天议程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931920"/>
            <a:ext cx="9144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C49A3C"/>
                </a:solidFill>
                <a:latin typeface="Microsoft YaHei"/>
              </a:rPr>
              <a:t>参观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3931920"/>
            <a:ext cx="54864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美团综合指挥中心数字化场景参观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187952"/>
            <a:ext cx="9144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C49A3C"/>
                </a:solidFill>
                <a:latin typeface="Microsoft YaHei"/>
              </a:rPr>
              <a:t>主题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4187952"/>
            <a:ext cx="54864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人机共生时代：AI如何重塑企业DNA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443984"/>
            <a:ext cx="9144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C49A3C"/>
                </a:solidFill>
                <a:latin typeface="Microsoft YaHei"/>
              </a:rPr>
              <a:t>案例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443984"/>
            <a:ext cx="54864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大众点评AI技术应用创新与落地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700016"/>
            <a:ext cx="9144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C49A3C"/>
                </a:solidFill>
                <a:latin typeface="Microsoft YaHei"/>
              </a:rPr>
              <a:t>政策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4700016"/>
            <a:ext cx="54864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《人工智能生成合成内容标识办法》等解读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956048"/>
            <a:ext cx="9144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C49A3C"/>
                </a:solidFill>
                <a:latin typeface="Microsoft YaHei"/>
              </a:rPr>
              <a:t>互动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956048"/>
            <a:ext cx="54864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答疑与企业一对一交流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89520" y="3474720"/>
            <a:ext cx="4114800" cy="2697480"/>
          </a:xfrm>
          <a:prstGeom prst="rect">
            <a:avLst/>
          </a:prstGeom>
          <a:solidFill>
            <a:srgbClr val="E8F0FA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26679" y="3566160"/>
            <a:ext cx="38404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1E4D8C"/>
                </a:solidFill>
                <a:latin typeface="Microsoft YaHei"/>
              </a:rPr>
              <a:t>可见机构/企业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26679" y="3931920"/>
            <a:ext cx="3840480" cy="2011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杨浦区委网信办；赛博院等
企业侧：美团；大众点评大模型团队等
映射：对应：B类政策沙龙、A类训练营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3796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8A8A9A"/>
                </a:solidFill>
                <a:latin typeface="Microsoft YaHei"/>
              </a:rPr>
              <a:t>上海创智汇 × 同浦汇 · 年度活动运营方案 · 双会资源并入融合版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6537960"/>
            <a:ext cx="146304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8A8A9A"/>
                </a:solidFill>
                <a:latin typeface="Microsoft YaHei"/>
              </a:rPr>
              <a:t>19/29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1E4D8C"/>
                </a:solidFill>
                <a:latin typeface="Microsoft YaHei"/>
              </a:rPr>
              <a:t>05 · 往期案例（二）开放日 / 路演大场类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  <a:latin typeface="Microsoft YaHei"/>
              </a:rPr>
              <a:t>「融见科创·智启未来」人工智能专场路演暨投融资对接会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4A4A5A"/>
                </a:solidFill>
                <a:latin typeface="Microsoft YaHei"/>
              </a:rPr>
              <a:t>2025-10 · 杨浦 · 邮储银行联合主办 · 路演对接类</a:t>
            </a:r>
          </a:p>
        </p:txBody>
      </p:sp>
      <p:pic>
        <p:nvPicPr>
          <p:cNvPr id="7" name="Picture 6" descr="case_db1d5ca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3611880" cy="2057400"/>
          </a:xfrm>
          <a:prstGeom prst="rect">
            <a:avLst/>
          </a:prstGeom>
        </p:spPr>
      </p:pic>
      <p:pic>
        <p:nvPicPr>
          <p:cNvPr id="8" name="Picture 7" descr="case_6593151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59" y="1234440"/>
            <a:ext cx="3611880" cy="2057400"/>
          </a:xfrm>
          <a:prstGeom prst="rect">
            <a:avLst/>
          </a:prstGeom>
        </p:spPr>
      </p:pic>
      <p:pic>
        <p:nvPicPr>
          <p:cNvPr id="9" name="Picture 8" descr="case_cb0a381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0998" y="1234440"/>
            <a:ext cx="3611880" cy="20574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2920" y="3474720"/>
            <a:ext cx="6858000" cy="2697480"/>
          </a:xfrm>
          <a:prstGeom prst="rect">
            <a:avLst/>
          </a:prstGeom>
          <a:solidFill>
            <a:srgbClr val="F7F8FA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566160"/>
            <a:ext cx="64922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1E4D8C"/>
                </a:solidFill>
                <a:latin typeface="Microsoft YaHei"/>
              </a:rPr>
              <a:t>当天议程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931920"/>
            <a:ext cx="9144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C49A3C"/>
                </a:solidFill>
                <a:latin typeface="Microsoft YaHei"/>
              </a:rPr>
              <a:t>开场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3931920"/>
            <a:ext cx="54864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促进会会长夏立城致辞与生态介绍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187952"/>
            <a:ext cx="9144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C49A3C"/>
                </a:solidFill>
                <a:latin typeface="Microsoft YaHei"/>
              </a:rPr>
              <a:t>主办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4187952"/>
            <a:ext cx="54864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邮储银行科技金融致辞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443984"/>
            <a:ext cx="9144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C49A3C"/>
                </a:solidFill>
                <a:latin typeface="Microsoft YaHei"/>
              </a:rPr>
              <a:t>分享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443984"/>
            <a:ext cx="54864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中邮证券AI行业趋势主题分享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700016"/>
            <a:ext cx="9144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C49A3C"/>
                </a:solidFill>
                <a:latin typeface="Microsoft YaHei"/>
              </a:rPr>
              <a:t>路演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4700016"/>
            <a:ext cx="54864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6+6+6+1：项目+投资人+金融机构+政府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956048"/>
            <a:ext cx="9144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C49A3C"/>
                </a:solidFill>
                <a:latin typeface="Microsoft YaHei"/>
              </a:rPr>
              <a:t>收口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956048"/>
            <a:ext cx="54864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区投促点评与招商邀请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89520" y="3474720"/>
            <a:ext cx="4114800" cy="2697480"/>
          </a:xfrm>
          <a:prstGeom prst="rect">
            <a:avLst/>
          </a:prstGeom>
          <a:solidFill>
            <a:srgbClr val="E8F0FA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26679" y="3566160"/>
            <a:ext cx="38404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1E4D8C"/>
                </a:solidFill>
                <a:latin typeface="Microsoft YaHei"/>
              </a:rPr>
              <a:t>可见机构/企业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26679" y="3931920"/>
            <a:ext cx="3840480" cy="2011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杨浦科创促进会、邮储银行等
企业侧：复楚智能、卡房信息、一造科技、中科趋势、万笔千墨等
映射：对应：F4 Demo Day、项目推广日、路演类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3796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8A8A9A"/>
                </a:solidFill>
                <a:latin typeface="Microsoft YaHei"/>
              </a:rPr>
              <a:t>上海创智汇 × 同浦汇 · 年度活动运营方案 · 双会资源并入融合版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6537960"/>
            <a:ext cx="146304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8A8A9A"/>
                </a:solidFill>
                <a:latin typeface="Microsoft YaHei"/>
              </a:rPr>
              <a:t>20/29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1E4D8C"/>
                </a:solidFill>
                <a:latin typeface="Microsoft YaHei"/>
              </a:rPr>
              <a:t>06 · 结语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  <a:latin typeface="Microsoft YaHei"/>
              </a:rPr>
              <a:t>把一年做满，双会热度落在园区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5394960" cy="4937760"/>
          </a:xfrm>
          <a:prstGeom prst="rect">
            <a:avLst/>
          </a:prstGeom>
          <a:solidFill>
            <a:srgbClr val="F7F8FA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73152" cy="4937760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344168"/>
            <a:ext cx="507492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Microsoft YaHei"/>
              </a:rPr>
              <a:t>我们将交付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1673352"/>
            <a:ext cx="50292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30场按日历执行（每场≤30人）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8月项目推广日四场点火 + WAIC承接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ChinaJoy主题内容场次（合并原潮玩类）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每场定义核 + 资源导入标注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带客、建群、回访摘要；园区做销售促成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1234440"/>
            <a:ext cx="5074920" cy="4937760"/>
          </a:xfrm>
          <a:prstGeom prst="rect">
            <a:avLst/>
          </a:prstGeom>
          <a:solidFill>
            <a:srgbClr val="F7F8FA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0" y="1234440"/>
            <a:ext cx="73152" cy="4937760"/>
          </a:xfrm>
          <a:prstGeom prst="rect">
            <a:avLst/>
          </a:prstGeom>
          <a:solidFill>
            <a:srgbClr val="1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84848" y="1344168"/>
            <a:ext cx="47548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Microsoft YaHei"/>
              </a:rPr>
              <a:t>请园区协同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4848" y="1673352"/>
            <a:ext cx="470916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7A5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确认档期、场地物业与样板间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7A5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共享在谈名单，群内发布条件促成成交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7A5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云创基地/联合会/服中心协同到位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7A5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政策礼包与券务按活动节奏提前到位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7A5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月度联席会核对意向与下月排期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3796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8A8A9A"/>
                </a:solidFill>
                <a:latin typeface="Microsoft YaHei"/>
              </a:rPr>
              <a:t>上海创智汇 × 同浦汇 · 年度活动运营方案 · 双会资源并入融合版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537960"/>
            <a:ext cx="146304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8A8A9A"/>
                </a:solidFill>
                <a:latin typeface="Microsoft YaHei"/>
              </a:rPr>
              <a:t>21/29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0312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3200" b="1">
                <a:solidFill>
                  <a:srgbClr val="1A1A2E"/>
                </a:solidFill>
                <a:latin typeface="Microsoft YaHei"/>
              </a:rPr>
              <a:t>谢谢审阅，期待与您共事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83464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600" b="1">
                <a:solidFill>
                  <a:srgbClr val="1E4D8C"/>
                </a:solidFill>
                <a:latin typeface="Microsoft YaHei"/>
              </a:rPr>
              <a:t>创智汇年度活动运营方案 · 双会资源并入融合版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337560"/>
            <a:ext cx="109728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400" b="0">
                <a:solidFill>
                  <a:srgbClr val="4A4A5A"/>
                </a:solidFill>
                <a:latin typeface="Microsoft YaHei"/>
              </a:rPr>
              <a:t>2026年8月启动 · 同浦汇带客 · 园区销售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931920"/>
            <a:ext cx="1097280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300" b="0">
                <a:solidFill>
                  <a:srgbClr val="8A8A9A"/>
                </a:solidFill>
                <a:latin typeface="Microsoft YaHei"/>
              </a:rPr>
              <a:t>主体运营：上海市云计算创新基地（国家级孵化器）
学术支持：复旦大学住房政策研究中心
载体支持：杨浦区科技企业联合会 · 科技企业服务中心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3796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8A8A9A"/>
                </a:solidFill>
                <a:latin typeface="Microsoft YaHei"/>
              </a:rPr>
              <a:t>上海创智汇 × 同浦汇 · 年度活动运营方案 · 双会资源并入融合版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37960"/>
            <a:ext cx="146304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8A8A9A"/>
                </a:solidFill>
                <a:latin typeface="Microsoft YaHei"/>
              </a:rPr>
              <a:t>22/29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1E4D8C"/>
                </a:solidFill>
                <a:latin typeface="Microsoft YaHei"/>
              </a:rPr>
              <a:t>附录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  <a:latin typeface="Microsoft YaHei"/>
              </a:rPr>
              <a:t>附录 · 定义核与资源导入（1/3）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4A4A5A"/>
                </a:solidFill>
                <a:latin typeface="Microsoft YaHei"/>
              </a:rPr>
              <a:t>每场一句话定义 + 导入什么资源（招商向，不堆全量）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43000"/>
            <a:ext cx="894648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9496" y="1179576"/>
            <a:ext cx="839784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编号</a:t>
            </a:r>
          </a:p>
        </p:txBody>
      </p:sp>
      <p:sp>
        <p:nvSpPr>
          <p:cNvPr id="9" name="Rectangle 8"/>
          <p:cNvSpPr/>
          <p:nvPr/>
        </p:nvSpPr>
        <p:spPr>
          <a:xfrm>
            <a:off x="1397568" y="1143000"/>
            <a:ext cx="3578595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34144" y="1179576"/>
            <a:ext cx="3523731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定义核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76163" y="1143000"/>
            <a:ext cx="2236622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12739" y="1179576"/>
            <a:ext cx="2181758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资源源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12785" y="1143000"/>
            <a:ext cx="4473244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49361" y="1179576"/>
            <a:ext cx="441838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资源导入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1490472"/>
            <a:ext cx="894648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9496" y="1527048"/>
            <a:ext cx="839784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P1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97568" y="1490472"/>
            <a:ext cx="3578595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34144" y="1527048"/>
            <a:ext cx="3523731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渠道点火场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76163" y="1490472"/>
            <a:ext cx="223662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12739" y="1527048"/>
            <a:ext cx="2181758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园区自建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12785" y="1490472"/>
            <a:ext cx="447324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49361" y="1527048"/>
            <a:ext cx="441838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待租8间看场清单；双会转介话术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1874520"/>
            <a:ext cx="894648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9496" y="1911096"/>
            <a:ext cx="839784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P2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97568" y="1874520"/>
            <a:ext cx="3578595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34144" y="1911096"/>
            <a:ext cx="3523731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金融转介场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76163" y="1874520"/>
            <a:ext cx="2236622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12739" y="1911096"/>
            <a:ext cx="2181758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园区自建+投研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12785" y="1874520"/>
            <a:ext cx="4473244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49361" y="1911096"/>
            <a:ext cx="441838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WAIC金融科技议题摘要；CJ专业观众画像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2258568"/>
            <a:ext cx="894648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9496" y="2295144"/>
            <a:ext cx="839784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P3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97568" y="2258568"/>
            <a:ext cx="3578595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34144" y="2295144"/>
            <a:ext cx="3523731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叙事定调场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76163" y="2258568"/>
            <a:ext cx="223662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12739" y="2295144"/>
            <a:ext cx="2181758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园区自建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212785" y="2258568"/>
            <a:ext cx="447324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49361" y="2295144"/>
            <a:ext cx="441838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WAIC赛道结论；CJ「与AI同游」判断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2642616"/>
            <a:ext cx="894648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9496" y="2679192"/>
            <a:ext cx="839784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P4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397568" y="2642616"/>
            <a:ext cx="3578595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434144" y="2679192"/>
            <a:ext cx="3523731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政策协同场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76163" y="2642616"/>
            <a:ext cx="2236622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12739" y="2679192"/>
            <a:ext cx="2181758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云创+科企联/服中心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212785" y="2642616"/>
            <a:ext cx="4473244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249361" y="2679192"/>
            <a:ext cx="441838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算力券/创新券口径；YOUNG立方政策包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" y="3026664"/>
            <a:ext cx="894648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39496" y="3063240"/>
            <a:ext cx="839784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E1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397568" y="3026664"/>
            <a:ext cx="3578595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434144" y="3063240"/>
            <a:ext cx="3523731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WAIC余热承接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976163" y="3026664"/>
            <a:ext cx="223662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12739" y="3063240"/>
            <a:ext cx="2181758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WAIC总表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212785" y="3026664"/>
            <a:ext cx="447324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249361" y="3063240"/>
            <a:ext cx="441838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A/B线索抽样；ACT-001/002/006议题切片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2920" y="3410712"/>
            <a:ext cx="894648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39496" y="3447288"/>
            <a:ext cx="839784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A2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397568" y="3410712"/>
            <a:ext cx="3578595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434144" y="3447288"/>
            <a:ext cx="3523731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3F入孵核：Agent→OPC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976163" y="3410712"/>
            <a:ext cx="2236622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012739" y="3447288"/>
            <a:ext cx="2181758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WAIC·Agent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212785" y="3410712"/>
            <a:ext cx="4473244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49361" y="3447288"/>
            <a:ext cx="441838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Agent池抽样；ACT-001缩尺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02920" y="3794760"/>
            <a:ext cx="894648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39496" y="3831336"/>
            <a:ext cx="839784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C1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397568" y="3794760"/>
            <a:ext cx="3578595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434144" y="3831336"/>
            <a:ext cx="3523731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5F内容核：IP授权对接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976163" y="3794760"/>
            <a:ext cx="223662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012739" y="3831336"/>
            <a:ext cx="2181758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CJ·游戏/IP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212785" y="3794760"/>
            <a:ext cx="447324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249361" y="3831336"/>
            <a:ext cx="441838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中小工作室+IP方；可触达263抽样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02920" y="4178808"/>
            <a:ext cx="894648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39496" y="4215384"/>
            <a:ext cx="839784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F1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397568" y="4178808"/>
            <a:ext cx="3578595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434144" y="4215384"/>
            <a:ext cx="3523731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另议核：出海不进年度包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976163" y="4178808"/>
            <a:ext cx="2236622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012739" y="4215384"/>
            <a:ext cx="2181758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CJ国际展团（另案）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212785" y="4178808"/>
            <a:ext cx="4473244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249361" y="4215384"/>
            <a:ext cx="441838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BTOB外资线索仅作另案素材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02920" y="4562856"/>
            <a:ext cx="894648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39496" y="4599432"/>
            <a:ext cx="839784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A3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397568" y="4562856"/>
            <a:ext cx="3578595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434144" y="4599432"/>
            <a:ext cx="3523731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3F技术核：多模态看场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976163" y="4562856"/>
            <a:ext cx="223662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012739" y="4599432"/>
            <a:ext cx="2181758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WAIC·多模态/AIGC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212785" y="4562856"/>
            <a:ext cx="447324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249361" y="4599432"/>
            <a:ext cx="441838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AIGC子类抽样；内容创意论坛切片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02920" y="4946904"/>
            <a:ext cx="894648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39496" y="4983480"/>
            <a:ext cx="839784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E4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397568" y="4946904"/>
            <a:ext cx="3578595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434144" y="4983480"/>
            <a:ext cx="3523731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5F生态核：数字娱乐看场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976163" y="4946904"/>
            <a:ext cx="2236622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012739" y="4983480"/>
            <a:ext cx="2181758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CJ·游戏风云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212785" y="4946904"/>
            <a:ext cx="4473244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249361" y="4983480"/>
            <a:ext cx="441838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Express/独立游戏中小团队池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02920" y="653796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8A8A9A"/>
                </a:solidFill>
                <a:latin typeface="Microsoft YaHei"/>
              </a:rPr>
              <a:t>上海创智汇 × 同浦汇 · 年度活动运营方案 · 双会资源并入融合版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241280" y="6537960"/>
            <a:ext cx="146304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8A8A9A"/>
                </a:solidFill>
                <a:latin typeface="Microsoft YaHei"/>
              </a:rPr>
              <a:t>23/29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1E4D8C"/>
                </a:solidFill>
                <a:latin typeface="Microsoft YaHei"/>
              </a:rPr>
              <a:t>附录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  <a:latin typeface="Microsoft YaHei"/>
              </a:rPr>
              <a:t>附录 · 定义核与资源导入（2/3）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4A4A5A"/>
                </a:solidFill>
                <a:latin typeface="Microsoft YaHei"/>
              </a:rPr>
              <a:t>每场一句话定义 + 导入什么资源（招商向，不堆全量）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43000"/>
            <a:ext cx="894648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9496" y="1179576"/>
            <a:ext cx="839784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编号</a:t>
            </a:r>
          </a:p>
        </p:txBody>
      </p:sp>
      <p:sp>
        <p:nvSpPr>
          <p:cNvPr id="9" name="Rectangle 8"/>
          <p:cNvSpPr/>
          <p:nvPr/>
        </p:nvSpPr>
        <p:spPr>
          <a:xfrm>
            <a:off x="1397568" y="1143000"/>
            <a:ext cx="3578595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34144" y="1179576"/>
            <a:ext cx="3523731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定义核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76163" y="1143000"/>
            <a:ext cx="2236622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12739" y="1179576"/>
            <a:ext cx="2181758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资源源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12785" y="1143000"/>
            <a:ext cx="4473244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49361" y="1179576"/>
            <a:ext cx="441838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资源导入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1490472"/>
            <a:ext cx="894648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9496" y="1527048"/>
            <a:ext cx="839784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B2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97568" y="1490472"/>
            <a:ext cx="3578595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34144" y="1527048"/>
            <a:ext cx="3523731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信任核：治理合规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76163" y="1490472"/>
            <a:ext cx="223662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12739" y="1527048"/>
            <a:ext cx="2181758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WAIC·治理论坛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12785" y="1490472"/>
            <a:ext cx="447324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49361" y="1527048"/>
            <a:ext cx="441838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治理议题摘要；合规顾问短名单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1874520"/>
            <a:ext cx="894648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9496" y="1911096"/>
            <a:ext cx="839784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A4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97568" y="1874520"/>
            <a:ext cx="3578595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34144" y="1911096"/>
            <a:ext cx="3523731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算力核：云创×厂商联训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76163" y="1874520"/>
            <a:ext cx="2236622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12739" y="1911096"/>
            <a:ext cx="2181758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WAIC·算力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12785" y="1874520"/>
            <a:ext cx="4473244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49361" y="1911096"/>
            <a:ext cx="441838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ACT-003缩尺；算力展商池抽样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2258568"/>
            <a:ext cx="894648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9496" y="2295144"/>
            <a:ext cx="839784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B4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97568" y="2258568"/>
            <a:ext cx="3578595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34144" y="2295144"/>
            <a:ext cx="3523731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券务核：用券聚集转化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76163" y="2258568"/>
            <a:ext cx="223662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12739" y="2295144"/>
            <a:ext cx="2181758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云创+WAIC算力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212785" y="2258568"/>
            <a:ext cx="447324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49361" y="2295144"/>
            <a:ext cx="441838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三券核销路径；云厂商联系人抽样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2642616"/>
            <a:ext cx="894648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9496" y="2679192"/>
            <a:ext cx="839784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L1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397568" y="2642616"/>
            <a:ext cx="3578595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434144" y="2679192"/>
            <a:ext cx="3523731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外事另计价核（到访≠挂牌）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76163" y="2642616"/>
            <a:ext cx="2236622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12739" y="2679192"/>
            <a:ext cx="2181758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另案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212785" y="2642616"/>
            <a:ext cx="4473244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249361" y="2679192"/>
            <a:ext cx="441838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不占用年度30场资源池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" y="3026664"/>
            <a:ext cx="894648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39496" y="3063240"/>
            <a:ext cx="839784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A5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397568" y="3026664"/>
            <a:ext cx="3578595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434144" y="3063240"/>
            <a:ext cx="3523731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双会叠加核：具身体验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976163" y="3026664"/>
            <a:ext cx="223662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12739" y="3063240"/>
            <a:ext cx="2181758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WAIC具身+CJ Visi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212785" y="3026664"/>
            <a:ext cx="447324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249361" y="3063240"/>
            <a:ext cx="441838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ACT-002缩尺；场景观察+CJ前沿科技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2920" y="3410712"/>
            <a:ext cx="894648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39496" y="3447288"/>
            <a:ext cx="839784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F4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397568" y="3410712"/>
            <a:ext cx="3578595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434144" y="3447288"/>
            <a:ext cx="3523731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年中收口核：精选签约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976163" y="3410712"/>
            <a:ext cx="2236622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012739" y="3447288"/>
            <a:ext cx="2181758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双会精选项目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212785" y="3410712"/>
            <a:ext cx="4473244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49361" y="3447288"/>
            <a:ext cx="441838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年内导入A/B意向精选路演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02920" y="3794760"/>
            <a:ext cx="894648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39496" y="3831336"/>
            <a:ext cx="839784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D1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397568" y="3794760"/>
            <a:ext cx="3578595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434144" y="3831336"/>
            <a:ext cx="3523731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内容制片核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976163" y="3794760"/>
            <a:ext cx="223662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012739" y="3831336"/>
            <a:ext cx="2181758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WAIC·AIGC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212785" y="3794760"/>
            <a:ext cx="447324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249361" y="3831336"/>
            <a:ext cx="441838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影视内容论坛切片；AIGC厂牌抽样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02920" y="4178808"/>
            <a:ext cx="894648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39496" y="4215384"/>
            <a:ext cx="839784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A6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397568" y="4178808"/>
            <a:ext cx="3578595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434144" y="4215384"/>
            <a:ext cx="3523731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营销科技核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976163" y="4178808"/>
            <a:ext cx="2236622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012739" y="4215384"/>
            <a:ext cx="2181758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WAIC·企业服务营销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212785" y="4178808"/>
            <a:ext cx="4473244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249361" y="4215384"/>
            <a:ext cx="441838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企业服务/营销池抽样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02920" y="4562856"/>
            <a:ext cx="894648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39496" y="4599432"/>
            <a:ext cx="839784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B1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397568" y="4562856"/>
            <a:ext cx="3578595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434144" y="4599432"/>
            <a:ext cx="3523731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政策获客核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976163" y="4562856"/>
            <a:ext cx="223662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012739" y="4599432"/>
            <a:ext cx="2181758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服中心+双会客群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212785" y="4562856"/>
            <a:ext cx="447324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249361" y="4599432"/>
            <a:ext cx="441838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政策礼包+双会意向企业复邀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02920" y="4946904"/>
            <a:ext cx="894648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39496" y="4983480"/>
            <a:ext cx="839784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B3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397568" y="4946904"/>
            <a:ext cx="3578595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434144" y="4983480"/>
            <a:ext cx="3523731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带政策入驻核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976163" y="4946904"/>
            <a:ext cx="2236622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012739" y="4983480"/>
            <a:ext cx="2181758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服中心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212785" y="4946904"/>
            <a:ext cx="4473244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249361" y="4983480"/>
            <a:ext cx="441838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双会AI应用类待认定抽样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02920" y="653796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8A8A9A"/>
                </a:solidFill>
                <a:latin typeface="Microsoft YaHei"/>
              </a:rPr>
              <a:t>上海创智汇 × 同浦汇 · 年度活动运营方案 · 双会资源并入融合版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241280" y="6537960"/>
            <a:ext cx="146304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8A8A9A"/>
                </a:solidFill>
                <a:latin typeface="Microsoft YaHei"/>
              </a:rPr>
              <a:t>24/29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1E4D8C"/>
                </a:solidFill>
                <a:latin typeface="Microsoft YaHei"/>
              </a:rPr>
              <a:t>附录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  <a:latin typeface="Microsoft YaHei"/>
              </a:rPr>
              <a:t>附录 · 定义核与资源导入（3/3）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4A4A5A"/>
                </a:solidFill>
                <a:latin typeface="Microsoft YaHei"/>
              </a:rPr>
              <a:t>每场一句话定义 + 导入什么资源（招商向，不堆全量）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43000"/>
            <a:ext cx="894648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9496" y="1179576"/>
            <a:ext cx="839784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编号</a:t>
            </a:r>
          </a:p>
        </p:txBody>
      </p:sp>
      <p:sp>
        <p:nvSpPr>
          <p:cNvPr id="9" name="Rectangle 8"/>
          <p:cNvSpPr/>
          <p:nvPr/>
        </p:nvSpPr>
        <p:spPr>
          <a:xfrm>
            <a:off x="1397568" y="1143000"/>
            <a:ext cx="3578595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34144" y="1179576"/>
            <a:ext cx="3523731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定义核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76163" y="1143000"/>
            <a:ext cx="2236622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12739" y="1179576"/>
            <a:ext cx="2181758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资源源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12785" y="1143000"/>
            <a:ext cx="4473244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49361" y="1179576"/>
            <a:ext cx="441838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资源导入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1490472"/>
            <a:ext cx="894648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9496" y="1527048"/>
            <a:ext cx="839784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A7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97568" y="1490472"/>
            <a:ext cx="3578595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34144" y="1527048"/>
            <a:ext cx="3523731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OPC核：获奖谈单元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76163" y="1490472"/>
            <a:ext cx="223662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12739" y="1527048"/>
            <a:ext cx="2181758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WAIC青年+CJ创作者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12785" y="1490472"/>
            <a:ext cx="447324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49361" y="1527048"/>
            <a:ext cx="441838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高校Builder；CJ AGS线索抽样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1874520"/>
            <a:ext cx="894648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9496" y="1911096"/>
            <a:ext cx="839784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C2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97568" y="1874520"/>
            <a:ext cx="3578595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34144" y="1911096"/>
            <a:ext cx="3523731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成果转化核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76163" y="1874520"/>
            <a:ext cx="2236622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12739" y="1911096"/>
            <a:ext cx="2181758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学术支持+WAIC科研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12785" y="1874520"/>
            <a:ext cx="4473244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49361" y="1911096"/>
            <a:ext cx="441838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复旦住房中心学术支持位；科研论坛切片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2258568"/>
            <a:ext cx="894648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9496" y="2295144"/>
            <a:ext cx="839784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F3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97568" y="2258568"/>
            <a:ext cx="3578595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34144" y="2295144"/>
            <a:ext cx="3523731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研究型客户核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76163" y="2258568"/>
            <a:ext cx="223662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12739" y="2295144"/>
            <a:ext cx="2181758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WAIC·大模型论坛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212785" y="2258568"/>
            <a:ext cx="447324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49361" y="2295144"/>
            <a:ext cx="441838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ACT-001闭门形态；模型公司抽样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2642616"/>
            <a:ext cx="894648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9496" y="2679192"/>
            <a:ext cx="839784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D2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397568" y="2642616"/>
            <a:ext cx="3578595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434144" y="2679192"/>
            <a:ext cx="3523731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创作者首发核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76163" y="2642616"/>
            <a:ext cx="2236622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12739" y="2679192"/>
            <a:ext cx="2181758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CJ·创作者展区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212785" y="2642616"/>
            <a:ext cx="4473244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249361" y="2679192"/>
            <a:ext cx="441838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创作者/社团抽样；渠道玩法迁移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" y="3026664"/>
            <a:ext cx="894648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39496" y="3063240"/>
            <a:ext cx="839784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C3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397568" y="3026664"/>
            <a:ext cx="3578595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434144" y="3063240"/>
            <a:ext cx="3523731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供应链核：周边/潮玩展位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976163" y="3026664"/>
            <a:ext cx="223662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12739" y="3063240"/>
            <a:ext cx="2181758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CJ·魔玩/谷子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212785" y="3026664"/>
            <a:ext cx="447324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249361" y="3063240"/>
            <a:ext cx="441838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潮玩谷子高优先级；作品类示例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2920" y="3410712"/>
            <a:ext cx="894648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39496" y="3447288"/>
            <a:ext cx="839784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C4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397568" y="3410712"/>
            <a:ext cx="3578595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434144" y="3447288"/>
            <a:ext cx="3523731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成长补位核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976163" y="3410712"/>
            <a:ext cx="2236622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012739" y="3447288"/>
            <a:ext cx="2181758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WAIC·行业AI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212785" y="3410712"/>
            <a:ext cx="4473244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49361" y="3447288"/>
            <a:ext cx="441838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ACT-006缩尺；行业AI池抽样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02920" y="3794760"/>
            <a:ext cx="894648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39496" y="3831336"/>
            <a:ext cx="839784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D3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397568" y="3794760"/>
            <a:ext cx="3578595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434144" y="3831336"/>
            <a:ext cx="3523731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市集转化核：摊主升级展位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976163" y="3794760"/>
            <a:ext cx="223662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012739" y="3831336"/>
            <a:ext cx="2181758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CJ·创作者/市集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212785" y="3794760"/>
            <a:ext cx="447324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249361" y="3831336"/>
            <a:ext cx="441838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小微品牌；市集→固定展位路径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02920" y="4178808"/>
            <a:ext cx="894648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39496" y="4215384"/>
            <a:ext cx="839784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C5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397568" y="4178808"/>
            <a:ext cx="3578595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434144" y="4215384"/>
            <a:ext cx="3523731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IP商业化核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976163" y="4178808"/>
            <a:ext cx="2236622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012739" y="4215384"/>
            <a:ext cx="2181758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CJ·IP/联名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212785" y="4178808"/>
            <a:ext cx="4473244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249361" y="4215384"/>
            <a:ext cx="441838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老字号×IP联名案例迁移；衍生品抽样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02920" y="4562856"/>
            <a:ext cx="894648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39496" y="4599432"/>
            <a:ext cx="839784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D4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397568" y="4562856"/>
            <a:ext cx="3578595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434144" y="4599432"/>
            <a:ext cx="3523731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视觉落地核：短展期转化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976163" y="4562856"/>
            <a:ext cx="223662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012739" y="4599432"/>
            <a:ext cx="2181758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CJ·氛围落地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212785" y="4562856"/>
            <a:ext cx="447324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249361" y="4599432"/>
            <a:ext cx="441838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联合内容方短名单；预约制控流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02920" y="4946904"/>
            <a:ext cx="894648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39496" y="4983480"/>
            <a:ext cx="839784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D5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397568" y="4946904"/>
            <a:ext cx="3578595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434144" y="4983480"/>
            <a:ext cx="3523731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双会预热核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976163" y="4946904"/>
            <a:ext cx="2236622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012739" y="4983480"/>
            <a:ext cx="2181758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双会预热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212785" y="4946904"/>
            <a:ext cx="4473244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249361" y="4983480"/>
            <a:ext cx="441838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全年双会线索复盘；预热下届双会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02920" y="653796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8A8A9A"/>
                </a:solidFill>
                <a:latin typeface="Microsoft YaHei"/>
              </a:rPr>
              <a:t>上海创智汇 × 同浦汇 · 年度活动运营方案 · 双会资源并入融合版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241280" y="6537960"/>
            <a:ext cx="146304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8A8A9A"/>
                </a:solidFill>
                <a:latin typeface="Microsoft YaHei"/>
              </a:rPr>
              <a:t>25/29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1E4D8C"/>
                </a:solidFill>
                <a:latin typeface="Microsoft YaHei"/>
              </a:rPr>
              <a:t>附录 · 主体与口径一页纸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  <a:latin typeface="Microsoft YaHei"/>
              </a:rPr>
              <a:t>合并后统一口径（便于审阅）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3131271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" y="1271016"/>
            <a:ext cx="3076407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模块</a:t>
            </a:r>
          </a:p>
        </p:txBody>
      </p:sp>
      <p:sp>
        <p:nvSpPr>
          <p:cNvPr id="8" name="Rectangle 7"/>
          <p:cNvSpPr/>
          <p:nvPr/>
        </p:nvSpPr>
        <p:spPr>
          <a:xfrm>
            <a:off x="3634191" y="1234440"/>
            <a:ext cx="8051840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70767" y="1271016"/>
            <a:ext cx="7996976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口径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581912"/>
            <a:ext cx="3131271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9496" y="1618488"/>
            <a:ext cx="3076407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主体运营范围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34191" y="1581912"/>
            <a:ext cx="805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70767" y="1618488"/>
            <a:ext cx="7996976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上海市云计算创新基地（国家级孵化器）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965960"/>
            <a:ext cx="3131271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9496" y="2002536"/>
            <a:ext cx="3076407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学术支持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34191" y="1965960"/>
            <a:ext cx="8051840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70767" y="2002536"/>
            <a:ext cx="7996976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复旦大学住房政策研究中心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350008"/>
            <a:ext cx="3131271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496" y="2386584"/>
            <a:ext cx="3076407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活动及运营载体支持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34191" y="2350008"/>
            <a:ext cx="805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70767" y="2386584"/>
            <a:ext cx="7996976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杨浦区科技企业联合会、科技企业服务中心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2734056"/>
            <a:ext cx="3131271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496" y="2770632"/>
            <a:ext cx="3076407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执行带客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34191" y="2734056"/>
            <a:ext cx="8051840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70767" y="2770632"/>
            <a:ext cx="7996976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同浦汇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3118104"/>
            <a:ext cx="3131271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9496" y="3154680"/>
            <a:ext cx="3076407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销售成交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34191" y="3118104"/>
            <a:ext cx="805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70767" y="3154680"/>
            <a:ext cx="7996976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园区负责销售部分与合同交割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3502152"/>
            <a:ext cx="3131271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9496" y="3538728"/>
            <a:ext cx="3076407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人数/负责人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34191" y="3502152"/>
            <a:ext cx="8051840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70767" y="3538728"/>
            <a:ext cx="7996976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每场≤30人；负责人约50%；全年约600人次+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3886200"/>
            <a:ext cx="3131271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9496" y="3922776"/>
            <a:ext cx="3076407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双会原则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34191" y="3886200"/>
            <a:ext cx="805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70767" y="3922776"/>
            <a:ext cx="7996976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WAIC→3F；ChinaJoy→5F；具身/AIGC叠加；只取招商切片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4270248"/>
            <a:ext cx="3131271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9496" y="4306824"/>
            <a:ext cx="3076407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外企/出海/领事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34191" y="4270248"/>
            <a:ext cx="8051840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70767" y="4306824"/>
            <a:ext cx="7996976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不承诺必带外企；出海另议；领事到访与挂牌均另计价且分性质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4654296"/>
            <a:ext cx="3131271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9496" y="4690872"/>
            <a:ext cx="3076407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租金与付款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34191" y="4654296"/>
            <a:ext cx="805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70767" y="4690872"/>
            <a:ext cx="7996976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不对赌；免租期1–3个月面议；付款50%+4×10%+10%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653796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8A8A9A"/>
                </a:solidFill>
                <a:latin typeface="Microsoft YaHei"/>
              </a:rPr>
              <a:t>上海创智汇 × 同浦汇 · 年度活动运营方案 · 双会资源并入融合版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41280" y="6537960"/>
            <a:ext cx="146304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8A8A9A"/>
                </a:solidFill>
                <a:latin typeface="Microsoft YaHei"/>
              </a:rPr>
              <a:t>26/29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1E4D8C"/>
                </a:solidFill>
                <a:latin typeface="Microsoft YaHei"/>
              </a:rPr>
              <a:t>附录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  <a:latin typeface="Microsoft YaHei"/>
              </a:rPr>
              <a:t>附录 · 逐场执行要素（上）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4A4A5A"/>
                </a:solidFill>
                <a:latin typeface="Microsoft YaHei"/>
              </a:rPr>
              <a:t>行程 / 嘉宾（与正文总表合并互补，不重复堆砌）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43000"/>
            <a:ext cx="894648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9496" y="1179576"/>
            <a:ext cx="839784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icrosoft YaHei"/>
              </a:rPr>
              <a:t>编号</a:t>
            </a:r>
          </a:p>
        </p:txBody>
      </p:sp>
      <p:sp>
        <p:nvSpPr>
          <p:cNvPr id="9" name="Rectangle 8"/>
          <p:cNvSpPr/>
          <p:nvPr/>
        </p:nvSpPr>
        <p:spPr>
          <a:xfrm>
            <a:off x="1397568" y="1143000"/>
            <a:ext cx="2907609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34144" y="1179576"/>
            <a:ext cx="2852745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活动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5177" y="1143000"/>
            <a:ext cx="4249582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1753" y="1179576"/>
            <a:ext cx="4194718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行程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54759" y="1143000"/>
            <a:ext cx="3131271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1335" y="1179576"/>
            <a:ext cx="3076407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嘉宾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1490472"/>
            <a:ext cx="89464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9496" y="1527048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P1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97568" y="1490472"/>
            <a:ext cx="2907609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34144" y="1527048"/>
            <a:ext cx="2852745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创智汇项目推广日①·中介与渠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05177" y="1490472"/>
            <a:ext cx="424958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41753" y="1527048"/>
            <a:ext cx="4194718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项目介绍→空间导览→政策要点→一对一洽谈→建群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54759" y="1490472"/>
            <a:ext cx="3131271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1335" y="1527048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房产/产业中介、渠道、园区招商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1783080"/>
            <a:ext cx="894648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9496" y="1819656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P2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97568" y="1783080"/>
            <a:ext cx="2907609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34144" y="1819656"/>
            <a:ext cx="2852745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创智汇项目推广日②·五大行与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05177" y="1783080"/>
            <a:ext cx="4249582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41753" y="1819656"/>
            <a:ext cx="4194718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项目路演→金融产品对接→需求座谈→看场→建群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54759" y="1783080"/>
            <a:ext cx="3131271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91335" y="1819656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五大行及合作金融机构对公/科创条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2075688"/>
            <a:ext cx="89464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9496" y="2112264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P3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97568" y="2075688"/>
            <a:ext cx="2907609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34144" y="2112264"/>
            <a:ext cx="2852745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创智汇项目推广日③·投研机构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05177" y="2075688"/>
            <a:ext cx="424958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41753" y="2112264"/>
            <a:ext cx="4194718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项目定位→产业赛道研判→圆桌→看场→建群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554759" y="2075688"/>
            <a:ext cx="3131271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91335" y="2112264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券商研究所、产业研究院、智库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2368296"/>
            <a:ext cx="894648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9496" y="2404872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P4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397568" y="2368296"/>
            <a:ext cx="2907609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434144" y="2404872"/>
            <a:ext cx="2852745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创智汇项目推广日④·政府部门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05177" y="2368296"/>
            <a:ext cx="4249582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41753" y="2404872"/>
            <a:ext cx="4194718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载体介绍→政策协同→云创基地资源→看场→建群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554759" y="2368296"/>
            <a:ext cx="3131271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91335" y="2404872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区相关部门、载体、云创基地、服中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" y="2660904"/>
            <a:ext cx="89464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39496" y="2697480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E1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397568" y="2660904"/>
            <a:ext cx="2907609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434144" y="2697480"/>
            <a:ext cx="2852745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WAIC成果承接·创智汇开放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305177" y="2660904"/>
            <a:ext cx="424958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341753" y="2697480"/>
            <a:ext cx="4194718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WAIC议题速递→园区承接→双展台→洽谈→建群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554759" y="2660904"/>
            <a:ext cx="3131271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91335" y="2697480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AI/内容企业、媒体、云创基地代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2920" y="2953512"/>
            <a:ext cx="894648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39496" y="2990088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A2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397568" y="2953512"/>
            <a:ext cx="2907609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434144" y="2990088"/>
            <a:ext cx="2852745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Agent智能体搭建一日营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305177" y="2953512"/>
            <a:ext cx="4249582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341753" y="2990088"/>
            <a:ext cx="4194718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签到→工作流→实操→Demo→看场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554759" y="2953512"/>
            <a:ext cx="3131271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591335" y="2990088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Agent工程师、初创团队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02920" y="3246120"/>
            <a:ext cx="89464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39496" y="3282696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C1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397568" y="3246120"/>
            <a:ext cx="2907609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434144" y="3282696"/>
            <a:ext cx="2852745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ChinaJoy主题·数字娱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305177" y="3246120"/>
            <a:ext cx="424958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341753" y="3282696"/>
            <a:ext cx="4194718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赛道解读→IP授权→一对一撮合→看场→建群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554759" y="3246120"/>
            <a:ext cx="3131271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591335" y="3282696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游戏/动漫/潮玩IP方、渠道、内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02920" y="3538728"/>
            <a:ext cx="894648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39496" y="3575304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F1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397568" y="3538728"/>
            <a:ext cx="2907609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434144" y="3575304"/>
            <a:ext cx="2852745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出海专题活动（另议·另计价）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305177" y="3538728"/>
            <a:ext cx="4249582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341753" y="3575304"/>
            <a:ext cx="4194718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另案确定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554759" y="3538728"/>
            <a:ext cx="3131271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591335" y="3575304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另案确定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02920" y="3831336"/>
            <a:ext cx="89464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39496" y="3867912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A3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397568" y="3831336"/>
            <a:ext cx="2907609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434144" y="3867912"/>
            <a:ext cx="2852745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多模态智能体工作坊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305177" y="3831336"/>
            <a:ext cx="424958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341753" y="3867912"/>
            <a:ext cx="4194718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案例→实操→共创→评审→看场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554759" y="3831336"/>
            <a:ext cx="3131271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591335" y="3867912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多模态应用团队、产品负责人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02920" y="4123944"/>
            <a:ext cx="894648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39496" y="4160520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E4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397568" y="4123944"/>
            <a:ext cx="2907609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434144" y="4160520"/>
            <a:ext cx="2852745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ChinaJoy主题日·数字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305177" y="4123944"/>
            <a:ext cx="4249582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341753" y="4160520"/>
            <a:ext cx="4194718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开幕→赛道分享→展洽→看场→建群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554759" y="4123944"/>
            <a:ext cx="3131271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591335" y="4160520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数字娱乐企业、内容工作室、渠道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02920" y="4416552"/>
            <a:ext cx="89464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39496" y="4453128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B2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397568" y="4416552"/>
            <a:ext cx="2907609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434144" y="4453128"/>
            <a:ext cx="2852745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AI治理与可信智能体沙龙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305177" y="4416552"/>
            <a:ext cx="424958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341753" y="4453128"/>
            <a:ext cx="4194718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治理框架→合规清单→案例→问答→对接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554759" y="4416552"/>
            <a:ext cx="3131271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591335" y="4453128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合规顾问、企业法务/负责人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02920" y="4709160"/>
            <a:ext cx="894648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39496" y="4745736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A4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397568" y="4709160"/>
            <a:ext cx="2907609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434144" y="4745736"/>
            <a:ext cx="2852745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火山引擎×算力Infra实务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305177" y="4709160"/>
            <a:ext cx="4249582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4341753" y="4745736"/>
            <a:ext cx="4194718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政策包→代金券→案例→诊断→看场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8554759" y="4709160"/>
            <a:ext cx="3131271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8591335" y="4745736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火山引擎、云创基地、企业技术负责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02920" y="5001768"/>
            <a:ext cx="89464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39496" y="5038344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B4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397568" y="5001768"/>
            <a:ext cx="2907609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434144" y="5038344"/>
            <a:ext cx="2852745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创新券·算力券·模型券实务沙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4305177" y="5001768"/>
            <a:ext cx="424958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4341753" y="5038344"/>
            <a:ext cx="4194718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三券规则→核销→案例→开户→入驻洽谈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8554759" y="5001768"/>
            <a:ext cx="3131271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8591335" y="5038344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券平台、云厂商、企业负责人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502920" y="5294376"/>
            <a:ext cx="894648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539496" y="5330952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L1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397568" y="5294376"/>
            <a:ext cx="2907609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434144" y="5330952"/>
            <a:ext cx="2852745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领事到访接待（另计价）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4305177" y="5294376"/>
            <a:ext cx="4249582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4341753" y="5330952"/>
            <a:ext cx="4194718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另案确定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8554759" y="5294376"/>
            <a:ext cx="3131271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8591335" y="5330952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领事及相关方（另案）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502920" y="5586984"/>
            <a:ext cx="89464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539496" y="5623560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A5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1397568" y="5586984"/>
            <a:ext cx="2907609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434144" y="5623560"/>
            <a:ext cx="2852745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具身智能空间交互体验日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4305177" y="5586984"/>
            <a:ext cx="424958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4341753" y="5623560"/>
            <a:ext cx="4194718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演示→讲解→场景→踩点→洽谈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8554759" y="5586984"/>
            <a:ext cx="3131271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8591335" y="5623560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具身团队、高校实验室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502920" y="653796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8A8A9A"/>
                </a:solidFill>
                <a:latin typeface="Microsoft YaHei"/>
              </a:rPr>
              <a:t>上海创智汇 × 同浦汇 · 年度活动运营方案 · 双会资源并入融合版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0241280" y="6537960"/>
            <a:ext cx="146304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8A8A9A"/>
                </a:solidFill>
                <a:latin typeface="Microsoft YaHei"/>
              </a:rPr>
              <a:t>27/29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1E4D8C"/>
                </a:solidFill>
                <a:latin typeface="Microsoft YaHei"/>
              </a:rPr>
              <a:t>附录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  <a:latin typeface="Microsoft YaHei"/>
              </a:rPr>
              <a:t>附录 · 逐场执行要素（下）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4A4A5A"/>
                </a:solidFill>
                <a:latin typeface="Microsoft YaHei"/>
              </a:rPr>
              <a:t>行程 / 嘉宾（与正文总表合并互补，不重复堆砌）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43000"/>
            <a:ext cx="894648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9496" y="1179576"/>
            <a:ext cx="839784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icrosoft YaHei"/>
              </a:rPr>
              <a:t>编号</a:t>
            </a:r>
          </a:p>
        </p:txBody>
      </p:sp>
      <p:sp>
        <p:nvSpPr>
          <p:cNvPr id="9" name="Rectangle 8"/>
          <p:cNvSpPr/>
          <p:nvPr/>
        </p:nvSpPr>
        <p:spPr>
          <a:xfrm>
            <a:off x="1397568" y="1143000"/>
            <a:ext cx="2907609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34144" y="1179576"/>
            <a:ext cx="2852745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活动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5177" y="1143000"/>
            <a:ext cx="4249582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1753" y="1179576"/>
            <a:ext cx="4194718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行程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54759" y="1143000"/>
            <a:ext cx="3131271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1335" y="1179576"/>
            <a:ext cx="3076407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嘉宾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1490472"/>
            <a:ext cx="89464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9496" y="1527048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F4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97568" y="1490472"/>
            <a:ext cx="2907609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34144" y="1527048"/>
            <a:ext cx="2852745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创智汇AI年度Demo Da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05177" y="1490472"/>
            <a:ext cx="424958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41753" y="1527048"/>
            <a:ext cx="4194718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开幕→精选路演→颁奖→洽谈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54759" y="1490472"/>
            <a:ext cx="3131271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1335" y="1527048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投资人、链主、媒体、精选项目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1783080"/>
            <a:ext cx="894648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9496" y="1819656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D1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97568" y="1783080"/>
            <a:ext cx="2907609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34144" y="1819656"/>
            <a:ext cx="2852745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AIGC微短剧制片特训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05177" y="1783080"/>
            <a:ext cx="4249582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41753" y="1819656"/>
            <a:ext cx="4194718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政策→制片→脚本→路演→看场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54759" y="1783080"/>
            <a:ext cx="3131271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91335" y="1819656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导演、厂牌、平台方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2075688"/>
            <a:ext cx="89464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9496" y="2112264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A6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97568" y="2075688"/>
            <a:ext cx="2907609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34144" y="2112264"/>
            <a:ext cx="2852745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AI营销Agent实战营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05177" y="2075688"/>
            <a:ext cx="424958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41753" y="2112264"/>
            <a:ext cx="4194718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策略→Agent→素材→复盘→转化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554759" y="2075688"/>
            <a:ext cx="3131271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91335" y="2112264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投放操盘手、产品经理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2368296"/>
            <a:ext cx="894648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9496" y="2404872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B1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397568" y="2368296"/>
            <a:ext cx="2907609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434144" y="2404872"/>
            <a:ext cx="2852745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YOUNG立方×智能伙伴政策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05177" y="2368296"/>
            <a:ext cx="4249582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41753" y="2404872"/>
            <a:ext cx="4194718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政策→礼包→画像→诊断→看场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554759" y="2368296"/>
            <a:ext cx="3131271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91335" y="2404872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政策宣讲、服中心、企业负责人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" y="2660904"/>
            <a:ext cx="89464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39496" y="2697480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B3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397568" y="2660904"/>
            <a:ext cx="2907609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434144" y="2697480"/>
            <a:ext cx="2852745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高企认定冲刺（AI企业专场）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305177" y="2660904"/>
            <a:ext cx="424958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341753" y="2697480"/>
            <a:ext cx="4194718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条件→材料→初筛→套餐→激励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554759" y="2660904"/>
            <a:ext cx="3131271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91335" y="2697480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辅导顾问、待认定企业负责人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2920" y="2953512"/>
            <a:ext cx="894648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39496" y="2990088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A7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397568" y="2953512"/>
            <a:ext cx="2907609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434144" y="2990088"/>
            <a:ext cx="2852745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OPC超级个体黑客松（春）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305177" y="2953512"/>
            <a:ext cx="4249582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341753" y="2990088"/>
            <a:ext cx="4194718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开题→开发→路演→礼包→看场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554759" y="2953512"/>
            <a:ext cx="3131271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591335" y="2990088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评委、投资人、Builders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02920" y="3246120"/>
            <a:ext cx="89464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39496" y="3282696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C2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397568" y="3246120"/>
            <a:ext cx="2907609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434144" y="3282696"/>
            <a:ext cx="2852745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高校成果转化·AI for 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305177" y="3246120"/>
            <a:ext cx="424958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341753" y="3282696"/>
            <a:ext cx="4194718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成果路演→场景→承接→看单元→洽谈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554759" y="3246120"/>
            <a:ext cx="3131271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591335" y="3282696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复旦/同济技转、教授团队、住房政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02920" y="3538728"/>
            <a:ext cx="894648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39496" y="3575304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F3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397568" y="3538728"/>
            <a:ext cx="2907609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434144" y="3575304"/>
            <a:ext cx="2852745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通往AGI季度圆桌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305177" y="3538728"/>
            <a:ext cx="4249582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341753" y="3575304"/>
            <a:ext cx="4194718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议题→圆桌→围炉→问答→看场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554759" y="3538728"/>
            <a:ext cx="3131271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591335" y="3575304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学者、模型企业、投资人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02920" y="3831336"/>
            <a:ext cx="89464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39496" y="3867912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D2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397568" y="3831336"/>
            <a:ext cx="2907609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434144" y="3867912"/>
            <a:ext cx="2852745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ChinaJoy主题·创作者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305177" y="3831336"/>
            <a:ext cx="424958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341753" y="3867912"/>
            <a:ext cx="4194718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揭幕→发布→快闪→专访→招商通道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554759" y="3831336"/>
            <a:ext cx="3131271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591335" y="3867912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创作者、媒体、渠道、CJ内容方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02920" y="4123944"/>
            <a:ext cx="894648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39496" y="4160520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C3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397568" y="4123944"/>
            <a:ext cx="2907609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434144" y="4160520"/>
            <a:ext cx="2852745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ChinaJoy主题·游戏周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305177" y="4123944"/>
            <a:ext cx="4249582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341753" y="4160520"/>
            <a:ext cx="4194718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赛道介绍→供需对接→展位参观→报价→建群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554759" y="4123944"/>
            <a:ext cx="3131271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591335" y="4160520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游戏周边、潮玩供应链、渠道采购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02920" y="4416552"/>
            <a:ext cx="89464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39496" y="4453128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C4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397568" y="4416552"/>
            <a:ext cx="2907609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434144" y="4453128"/>
            <a:ext cx="2852745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专精特新·AI应用培育路演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305177" y="4416552"/>
            <a:ext cx="424958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341753" y="4453128"/>
            <a:ext cx="4194718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政策→路演→点评→金融→看场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554759" y="4416552"/>
            <a:ext cx="3131271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591335" y="4453128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顾问、银行、基金、企业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02920" y="4709160"/>
            <a:ext cx="894648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39496" y="4745736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D3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397568" y="4709160"/>
            <a:ext cx="2907609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434144" y="4745736"/>
            <a:ext cx="2852745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ChinaJoy主题·数字娱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305177" y="4709160"/>
            <a:ext cx="4249582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4341753" y="4745736"/>
            <a:ext cx="4194718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布展→体验→交流→转正洽谈→建群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8554759" y="4709160"/>
            <a:ext cx="3131271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8591335" y="4745736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内容工作室、周边品牌、达人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02920" y="5001768"/>
            <a:ext cx="89464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39496" y="5038344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C5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397568" y="5001768"/>
            <a:ext cx="2907609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434144" y="5038344"/>
            <a:ext cx="2852745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ChinaJoy主题·IP联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4305177" y="5001768"/>
            <a:ext cx="424958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4341753" y="5038344"/>
            <a:ext cx="4194718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IP路演→联名模式→一对一→MOU→看场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8554759" y="5001768"/>
            <a:ext cx="3131271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8591335" y="5038344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IP方、衍生品商、渠道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502920" y="5294376"/>
            <a:ext cx="894648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539496" y="5330952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D4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397568" y="5294376"/>
            <a:ext cx="2907609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434144" y="5330952"/>
            <a:ext cx="2852745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ChinaJoy主题·沉浸式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4305177" y="5294376"/>
            <a:ext cx="4249582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4341753" y="5330952"/>
            <a:ext cx="4194718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布展→预约观展→交流→闭幕洽谈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8554759" y="5294376"/>
            <a:ext cx="3131271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8591335" y="5330952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联合内容方、渠道、品牌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502920" y="5586984"/>
            <a:ext cx="89464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539496" y="5623560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D5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1397568" y="5586984"/>
            <a:ext cx="2907609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434144" y="5623560"/>
            <a:ext cx="2852745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创作者首发②·衔接WAIC2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4305177" y="5586984"/>
            <a:ext cx="424958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4341753" y="5623560"/>
            <a:ext cx="4194718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发布→渠道→看场→年框→双会预热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8554759" y="5586984"/>
            <a:ext cx="3131271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8591335" y="5623560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IP方、渠道、媒体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502920" y="653796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8A8A9A"/>
                </a:solidFill>
                <a:latin typeface="Microsoft YaHei"/>
              </a:rPr>
              <a:t>上海创智汇 × 同浦汇 · 年度活动运营方案 · 双会资源并入融合版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0241280" y="6537960"/>
            <a:ext cx="146304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8A8A9A"/>
                </a:solidFill>
                <a:latin typeface="Microsoft YaHei"/>
              </a:rPr>
              <a:t>28/29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1E4D8C"/>
                </a:solidFill>
                <a:latin typeface="Microsoft YaHei"/>
              </a:rPr>
              <a:t>附录 · 合并说明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  <a:latin typeface="Microsoft YaHei"/>
              </a:rPr>
              <a:t>本册如何把两套材料合成一套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11183112" cy="4937760"/>
          </a:xfrm>
          <a:prstGeom prst="rect">
            <a:avLst/>
          </a:prstGeom>
          <a:solidFill>
            <a:srgbClr val="F7F8FA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73152" cy="4937760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344168"/>
            <a:ext cx="1086307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Microsoft YaHei"/>
              </a:rPr>
              <a:t>合并同类项规则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1673352"/>
            <a:ext cx="10817352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结构：以《年度活动运营方案》章节为主骨架（背景→日历→六大主题→执行→转化收费案例→结语）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场次：以修订后30场为准（≤30人/负责人约50%/8月项目推广日/ChinaJoy主题替换潮玩产业集群场）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资源：把WAIC/ChinaJoy总表压缩为「可导入切片」写入主题页与附录定义核，不粘贴全量展商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商务：付款唯一方案、不对赌、出海/领事另计价、带客/销售分工——统一进正文，去掉冲突旧表述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案例：保留往期实拍案例页，映射到对应场次类型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删除：关联度核验表交付、大场千人级承诺、租赁佣金对赌等与现行口径冲突项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3796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8A8A9A"/>
                </a:solidFill>
                <a:latin typeface="Microsoft YaHei"/>
              </a:rPr>
              <a:t>上海创智汇 × 同浦汇 · 年度活动运营方案 · 双会资源并入融合版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537960"/>
            <a:ext cx="146304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8A8A9A"/>
                </a:solidFill>
                <a:latin typeface="Microsoft YaHei"/>
              </a:rPr>
              <a:t>29/29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