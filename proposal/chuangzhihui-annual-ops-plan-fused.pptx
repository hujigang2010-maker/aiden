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s_cover_fu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600" b="1">
                <a:solidFill>
                  <a:srgbClr val="1E3A5F"/>
                </a:solidFill>
                <a:latin typeface="Microsoft YaHei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640080" cy="45720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914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B58A4A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17320"/>
            <a:ext cx="7772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Microsoft YaHei"/>
              </a:rPr>
              <a:t>背景与总体思路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1417320"/>
            <a:ext cx="1371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400" b="0">
                <a:solidFill>
                  <a:srgbClr val="9A9A9A"/>
                </a:solidFill>
                <a:latin typeface="Microsoft YaHei"/>
              </a:rPr>
              <a:t>P.03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73736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为什么做、双会资源如何导入、做成什么样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2075688"/>
            <a:ext cx="9418320" cy="13716"/>
          </a:xfrm>
          <a:prstGeom prst="rect">
            <a:avLst/>
          </a:prstGeom>
          <a:solidFill>
            <a:srgbClr val="E0D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914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B58A4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94560"/>
            <a:ext cx="7772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Microsoft YaHei"/>
              </a:rPr>
              <a:t>年度日历与运营节奏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194560"/>
            <a:ext cx="1371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400" b="0">
                <a:solidFill>
                  <a:srgbClr val="9A9A9A"/>
                </a:solidFill>
                <a:latin typeface="Microsoft YaHei"/>
              </a:rPr>
              <a:t>P.06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51460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30场排期：2026年8月启动，四阶段推进；含双会资源摘要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852928"/>
            <a:ext cx="9418320" cy="13716"/>
          </a:xfrm>
          <a:prstGeom prst="rect">
            <a:avLst/>
          </a:prstGeom>
          <a:solidFill>
            <a:srgbClr val="E0D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71800"/>
            <a:ext cx="914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B58A4A"/>
                </a:solidFill>
                <a:latin typeface="Microsoft Ya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971800"/>
            <a:ext cx="7772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Microsoft YaHei"/>
              </a:rPr>
              <a:t>六大主题活动详述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2971800"/>
            <a:ext cx="1371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400" b="0">
                <a:solidFill>
                  <a:srgbClr val="9A9A9A"/>
                </a:solidFill>
                <a:latin typeface="Microsoft YaHei"/>
              </a:rPr>
              <a:t>P.11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29184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智能体与算力 · 政策与治理 · 产业与ChinaJoy · 内容与IP · 启动承接 · 收官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3630168"/>
            <a:ext cx="9418320" cy="13716"/>
          </a:xfrm>
          <a:prstGeom prst="rect">
            <a:avLst/>
          </a:prstGeom>
          <a:solidFill>
            <a:srgbClr val="E0D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40"/>
            <a:ext cx="914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B58A4A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49040"/>
            <a:ext cx="7772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Microsoft YaHei"/>
              </a:rPr>
              <a:t>单场执行标准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749040"/>
            <a:ext cx="1371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400" b="0">
                <a:solidFill>
                  <a:srgbClr val="9A9A9A"/>
                </a:solidFill>
                <a:latin typeface="Microsoft YaHei"/>
              </a:rPr>
              <a:t>P.23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069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每场从筹备到回访的标准动作与带客/销售分工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4407408"/>
            <a:ext cx="9418320" cy="13716"/>
          </a:xfrm>
          <a:prstGeom prst="rect">
            <a:avLst/>
          </a:prstGeom>
          <a:solidFill>
            <a:srgbClr val="E0D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526280"/>
            <a:ext cx="914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B58A4A"/>
                </a:solidFill>
                <a:latin typeface="Microsoft Ya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526280"/>
            <a:ext cx="7772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Microsoft YaHei"/>
              </a:rPr>
              <a:t>转化 · 分工 · 收费与往期案例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526280"/>
            <a:ext cx="1371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400" b="0">
                <a:solidFill>
                  <a:srgbClr val="9A9A9A"/>
                </a:solidFill>
                <a:latin typeface="Microsoft YaHei"/>
              </a:rPr>
              <a:t>P.24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8463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活动如何变成签约、怎么收费、以前做成过什么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5184648"/>
            <a:ext cx="9418320" cy="13716"/>
          </a:xfrm>
          <a:prstGeom prst="rect">
            <a:avLst/>
          </a:prstGeom>
          <a:solidFill>
            <a:srgbClr val="E0D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303520"/>
            <a:ext cx="914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B58A4A"/>
                </a:solidFill>
                <a:latin typeface="Microsoft YaHei"/>
              </a:rPr>
              <a:t>附录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303520"/>
            <a:ext cx="7772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Microsoft YaHei"/>
              </a:rPr>
              <a:t>30场定义核与双会资源导入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5303520"/>
            <a:ext cx="1371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400" b="0">
                <a:solidFill>
                  <a:srgbClr val="9A9A9A"/>
                </a:solidFill>
                <a:latin typeface="Microsoft YaHei"/>
              </a:rPr>
              <a:t>P.30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62356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招商向切片映射，不堆全量名单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7360" y="5961888"/>
            <a:ext cx="9418320" cy="13716"/>
          </a:xfrm>
          <a:prstGeom prst="rect">
            <a:avLst/>
          </a:prstGeom>
          <a:solidFill>
            <a:srgbClr val="E0D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01 · 背景与判断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大会闭幕之后，热度需要一个承接地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主题响应：上海创智汇 · AI+数字内容无界共创港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658368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Microsoft YaHei"/>
              </a:rPr>
              <a:t>WAIC 2026 已于 7 月闭幕，ChinaJoy 以「与AI同游」同步释放数字内容与具身线索。大会积累的嘉宾、议题与可触达线索，如果只停留在会期，对园区带动到此为止。
创智汇处于招商爬坡：3F 智能体与算力组团仍有单元虚位；5F 内容与 IP 组团需要持续人气。两个楼层缺的不是一次性活动，而是一整年有节奏的经营。
因此：双会是资源库，30 场是定义核——从 2026 年 8 月启动到 2027 年 7 月收官，每月两到三场，精而准，落点放在看场、建群与销售促成。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554480"/>
            <a:ext cx="3840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Microsoft YaHei"/>
              </a:rPr>
              <a:t>30场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874520"/>
            <a:ext cx="3840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全年活动总量，覆盖双会主要招商赛道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514600"/>
            <a:ext cx="3840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Microsoft YaHei"/>
              </a:rPr>
              <a:t>12个月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834640"/>
            <a:ext cx="3840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2026.08—2027.07，每月两到三场，不断档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74720"/>
            <a:ext cx="3840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Microsoft YaHei"/>
              </a:rPr>
              <a:t>≤30人/场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794760"/>
            <a:ext cx="3840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全年约600人次+，可执行、可核验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434840"/>
            <a:ext cx="38404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Microsoft YaHei"/>
              </a:rPr>
              <a:t>约50%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54880"/>
            <a:ext cx="3840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负责人占比适度承兑（非100%）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01 · 总体思路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一条主线：把双会的热度，变成园区的一年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4864" cy="4663440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园区得到什么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议题变日常：Agent/算力/治理/内容每月有场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空间有主题：3F吃WAIC能力线，5F吃CJ内容线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具身/AIGC为双会叠加带，跨楼层联动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考核有支撑：签到、建群、回访摘要可归档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云创基地国家级孵化器背书可感知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17320"/>
            <a:ext cx="54864" cy="4663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招商得到什么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客群更准：按赛道抽样邀约，不堆全量名单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动作标准化：每场固定看场+建群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同浦汇带客，园区负责销售促成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政策/券务活动中打包，降低决策门槛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租金高于周边均价，故不做租赁对赌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01 · 总体框架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六大主题，各管一段，互相导流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并入四层资源叠加：L0点火→L1承接→L2主线→L3/L4收口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870508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63040"/>
            <a:ext cx="77906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0588" y="141732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5452" y="146304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主题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57368" y="1417320"/>
            <a:ext cx="152339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2232" y="1463040"/>
            <a:ext cx="143195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场次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58" y="1417320"/>
            <a:ext cx="348203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35622" y="1463040"/>
            <a:ext cx="339059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在全年中的角色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62793" y="1417320"/>
            <a:ext cx="1958644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7657" y="1463040"/>
            <a:ext cx="186720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时间分布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1783080"/>
            <a:ext cx="870508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1828800"/>
            <a:ext cx="7790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10588" y="1783080"/>
            <a:ext cx="3046780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5452" y="1828800"/>
            <a:ext cx="29553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智能体与算力训练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7368" y="1783080"/>
            <a:ext cx="1523390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2232" y="1828800"/>
            <a:ext cx="143195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6场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58" y="1783080"/>
            <a:ext cx="3482035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35622" y="1828800"/>
            <a:ext cx="33905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3F基本盘：营/坊/联训/体验/黑客松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62793" y="1783080"/>
            <a:ext cx="1958644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17657" y="1828800"/>
            <a:ext cx="186720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9月—次年3月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221992"/>
            <a:ext cx="870508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2267712"/>
            <a:ext cx="7790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10588" y="2221992"/>
            <a:ext cx="3046780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65452" y="2267712"/>
            <a:ext cx="29553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政策与治理沙龙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57368" y="2221992"/>
            <a:ext cx="1523390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2232" y="2267712"/>
            <a:ext cx="143195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4场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58" y="2221992"/>
            <a:ext cx="3482035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2" y="2267712"/>
            <a:ext cx="33905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政策/券务/资质做成进园理由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62793" y="2221992"/>
            <a:ext cx="1958644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17657" y="2267712"/>
            <a:ext cx="186720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10月—次年2月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660904"/>
            <a:ext cx="870508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2706624"/>
            <a:ext cx="7790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10588" y="2660904"/>
            <a:ext cx="3046780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65452" y="2706624"/>
            <a:ext cx="29553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产业与ChinaJoy对接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7368" y="2660904"/>
            <a:ext cx="1523390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12232" y="2706624"/>
            <a:ext cx="143195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5场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58" y="2660904"/>
            <a:ext cx="3482035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35622" y="2706624"/>
            <a:ext cx="33905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高校成果+CJ工作室/供应链/IP（合并潮玩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62793" y="2660904"/>
            <a:ext cx="1958644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17657" y="2706624"/>
            <a:ext cx="186720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全年各月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099816"/>
            <a:ext cx="870508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" y="3145536"/>
            <a:ext cx="7790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10588" y="3099816"/>
            <a:ext cx="3046780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65452" y="3145536"/>
            <a:ext cx="29553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AI内容与ChinaJoy人气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57368" y="3099816"/>
            <a:ext cx="1523390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12232" y="3145536"/>
            <a:ext cx="143195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5场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58" y="3099816"/>
            <a:ext cx="3482035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35622" y="3145536"/>
            <a:ext cx="33905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5F人气引擎：特训/首发/市集/联展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62793" y="3099816"/>
            <a:ext cx="1958644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17657" y="3145536"/>
            <a:ext cx="186720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1月—7月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3538728"/>
            <a:ext cx="870508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4944" y="3584448"/>
            <a:ext cx="7790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10588" y="3538728"/>
            <a:ext cx="3046780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5452" y="3584448"/>
            <a:ext cx="29553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启动月·项目推广与双会承接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57368" y="3538728"/>
            <a:ext cx="1523390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12232" y="3584448"/>
            <a:ext cx="143195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6场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0758" y="3538728"/>
            <a:ext cx="3482035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35622" y="3584448"/>
            <a:ext cx="33905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8月点火+WAIC承接+CJ主题日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62793" y="3538728"/>
            <a:ext cx="1958644" cy="43891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17657" y="3584448"/>
            <a:ext cx="186720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8月、10月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3977640"/>
            <a:ext cx="870508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4023360"/>
            <a:ext cx="779068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F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0588" y="3977640"/>
            <a:ext cx="3046780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5452" y="4023360"/>
            <a:ext cx="29553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收官·圆桌·另计价事项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57368" y="3977640"/>
            <a:ext cx="1523390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12232" y="4023360"/>
            <a:ext cx="143195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2场+另计价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80758" y="3977640"/>
            <a:ext cx="3482035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35622" y="4023360"/>
            <a:ext cx="3390595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Demo Day收口；出海/领事另案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562793" y="3977640"/>
            <a:ext cx="1958644" cy="43891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17657" y="4023360"/>
            <a:ext cx="186720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12月、次年3月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02 · 年度日历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30场总表（上）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2026年8月—12月　｜　每场≤30人 · 负责人约50%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1732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71600"/>
            <a:ext cx="2937967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17320"/>
            <a:ext cx="284652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活动名称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9742" y="137160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4606" y="141732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45505" y="137160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00369" y="141732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51268" y="1371600"/>
            <a:ext cx="108813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6132" y="1417320"/>
            <a:ext cx="99669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人数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9404" y="1371600"/>
            <a:ext cx="108813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4268" y="1417320"/>
            <a:ext cx="99669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层次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7540" y="1371600"/>
            <a:ext cx="239389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2404" y="1417320"/>
            <a:ext cx="23024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170992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1737360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1783080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01775" y="1737360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6639" y="1783080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创智汇项目推广日①·中介与渠道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39742" y="173736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94606" y="178308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8月上旬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45505" y="173736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00369" y="178308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51268" y="173736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6132" y="178308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9404" y="173736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4268" y="178308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27540" y="1737360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2404" y="1783080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中介渠道带看与项目推介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2029968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2075688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01775" y="2029968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56639" y="2075688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创智汇项目推广日②·五大行与金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39742" y="202996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4606" y="207568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8月中旬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45505" y="202996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00369" y="207568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51268" y="202996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06132" y="207568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39404" y="202996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94268" y="207568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27540" y="2029968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2404" y="2075688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金融资源链接与客户导入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2322576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" y="2368296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01775" y="2322576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56639" y="2368296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创智汇项目推广日③·投研机构专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9742" y="232257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94606" y="236829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8月中旬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45505" y="232257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00369" y="236829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51268" y="232257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06132" y="236829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39404" y="232257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94268" y="236829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27540" y="2322576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82404" y="2368296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投研视角放大项目影响力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2615184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2660904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01775" y="2615184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56639" y="2660904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创智汇项目推广日④·政府部门与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39742" y="261518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94606" y="266090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8月下旬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45505" y="261518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00369" y="266090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51268" y="261518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06132" y="266090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39404" y="261518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94268" y="266090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27540" y="2615184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82404" y="2660904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政策与载体协同落地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2907792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4944" y="2953512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E1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01775" y="2907792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56639" y="2953512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WAIC成果承接·创智汇开放交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39742" y="290779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94606" y="295351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8月下旬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45505" y="290779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00369" y="295351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开放交流日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51268" y="290779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06132" y="295351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39404" y="290779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94268" y="295351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27540" y="2907792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2404" y="2953512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衔接WAIC议题与园区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40080" y="3200400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4944" y="3246120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01775" y="3200400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56639" y="3246120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Agent智能体搭建一日营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39742" y="3200400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94606" y="324612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9月上旬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45505" y="3200400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700369" y="324612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实训营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1268" y="3200400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06132" y="324612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039404" y="3200400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94268" y="324612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127540" y="3200400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82404" y="3246120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Agent初创落位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40080" y="3493008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4944" y="3538728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01775" y="3493008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56639" y="3538728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ChinaJoy主题·数字娱乐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339742" y="3493008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94606" y="353872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9月中旬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45505" y="3493008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0369" y="353872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对接会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51268" y="3493008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006132" y="353872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39404" y="3493008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94268" y="353872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127540" y="3493008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182404" y="3538728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CJ赛道企业/IP方入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" y="3785616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94944" y="3831336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F1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01775" y="3785616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56639" y="3831336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出海专题活动（另议·另计价）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39742" y="3785616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394606" y="383133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档期另议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45505" y="3785616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00369" y="383133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专题（另议）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51268" y="3785616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006132" y="383133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039404" y="3785616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94268" y="383133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另计价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27540" y="3785616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82404" y="3831336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出海服务（不在年度包内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40080" y="4078224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4944" y="4123944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01775" y="4078224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56639" y="4123944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多模态智能体工作坊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339742" y="4078224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394606" y="412394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10月上旬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45505" y="4078224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700369" y="412394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工作坊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951268" y="4078224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006132" y="412394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039404" y="4078224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094268" y="412394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127540" y="4078224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182404" y="4123944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多模态团队入驻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40080" y="4370832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4944" y="4416552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E4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01775" y="4370832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56639" y="4416552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ChinaJoy主题日·数字娱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339742" y="4370832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394606" y="441655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10月中旬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645505" y="4370832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700369" y="441655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主题日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951268" y="4370832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006132" y="441655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039404" y="4370832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094268" y="441655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27540" y="4370832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182404" y="4416552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CJ生态企业集中看场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40080" y="4663440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94944" y="4709160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401775" y="4663440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456639" y="4709160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AI治理与可信智能体沙龙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339742" y="466344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394606" y="470916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10月下旬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645505" y="466344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700369" y="470916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沙龙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951268" y="466344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006132" y="470916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039404" y="466344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94268" y="470916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127540" y="4663440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9182404" y="4709160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合规型企业信任导入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40080" y="4956048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944" y="5001768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A4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401775" y="4956048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456639" y="5001768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火山引擎×算力Infra实务营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4339742" y="495604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394606" y="500176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11月上旬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645505" y="495604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700369" y="500176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厂商联训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951268" y="495604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006132" y="500176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039404" y="495604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094268" y="500176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127540" y="4956048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182404" y="5001768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高算力企业定向看场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40080" y="5248656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94944" y="5294376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B4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401775" y="5248656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56639" y="5294376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创新券·算力券·模型券实务沙龙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4339742" y="524865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394606" y="529437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11月中旬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645505" y="524865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700369" y="529437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实务沙龙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951268" y="524865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006132" y="529437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039404" y="524865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8094268" y="529437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127540" y="5248656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182404" y="5294376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用券企业聚集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640080" y="5541264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694944" y="5586984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L1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1401775" y="5541264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456639" y="5586984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领事到访接待（另计价）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339742" y="554126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394606" y="558698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档期另议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5645505" y="554126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5700369" y="558698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外事接待（另计价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6951268" y="554126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006132" y="558698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另议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8039404" y="554126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8094268" y="558698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另计价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9127540" y="5541264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182404" y="5586984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领事到访（三部分费用之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40080" y="5833872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94944" y="5879592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401775" y="5833872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456639" y="5879592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具身智能空间交互体验日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4339742" y="583387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4394606" y="587959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12月上旬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5645505" y="583387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5700369" y="587959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体验日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6951268" y="583387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7006132" y="587959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8039404" y="583387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8094268" y="587959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L3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9127540" y="5833872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9182404" y="5879592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具身/机器人团队看场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02 · 年度日历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30场总表（下）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2027年1月—7月　｜　每场≤30人 · 负责人约50%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1732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371600"/>
            <a:ext cx="2937967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17320"/>
            <a:ext cx="284652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活动名称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9742" y="137160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4606" y="141732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45505" y="137160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00369" y="141732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51268" y="1371600"/>
            <a:ext cx="108813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6132" y="1417320"/>
            <a:ext cx="99669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人数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9404" y="1371600"/>
            <a:ext cx="108813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4268" y="1417320"/>
            <a:ext cx="99669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层次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7540" y="1371600"/>
            <a:ext cx="239389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2404" y="1417320"/>
            <a:ext cx="23024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170992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1737360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1783080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F4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01775" y="1737360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6639" y="1783080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创智汇AI年度Demo Day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39742" y="173736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94606" y="178308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12月中旬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45505" y="173736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00369" y="178308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路演日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51268" y="173736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6132" y="178308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9404" y="173736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4268" y="178308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27540" y="1737360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2404" y="1783080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集中签约洽谈与媒体背书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2029968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2075688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01775" y="2029968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56639" y="2075688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AIGC微短剧制片特训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39742" y="202996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4606" y="207568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次1月上旬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45505" y="202996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00369" y="207568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特训营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51268" y="202996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06132" y="207568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39404" y="202996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94268" y="207568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27540" y="2029968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2404" y="2075688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厂牌/工作室入驻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2322576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4944" y="2368296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01775" y="2322576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56639" y="2368296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AI营销Agent实战营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9742" y="232257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94606" y="236829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次1月中旬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45505" y="232257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00369" y="236829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实战营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51268" y="232257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06132" y="236829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39404" y="232257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94268" y="236829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27540" y="2322576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82404" y="2368296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营销科技公司看场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2615184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2660904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01775" y="2615184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56639" y="2660904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YOUNG立方×智能伙伴政策沙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39742" y="261518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94606" y="266090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次2月中旬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45505" y="261518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00369" y="266090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政策沙龙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51268" y="261518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06132" y="266090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39404" y="261518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94268" y="266090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27540" y="2615184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82404" y="2660904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内容/AI企业导入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2907792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4944" y="2953512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01775" y="2907792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56639" y="2953512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高企认定冲刺（AI企业专场）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39742" y="290779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94606" y="295351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次2月下旬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45505" y="290779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00369" y="295351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辅导会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51268" y="290779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06132" y="295351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39404" y="290779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94268" y="295351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27540" y="2907792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2404" y="2953512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待认定企业带政策入驻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40080" y="3200400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4944" y="3246120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01775" y="3200400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56639" y="3246120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OPC超级个体黑客松（春）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39742" y="3200400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94606" y="324612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次3月上旬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45505" y="3200400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700369" y="324612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黑客松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1268" y="3200400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06132" y="324612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039404" y="3200400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94268" y="324612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127540" y="3200400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82404" y="3246120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获奖团队优先谈单元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40080" y="3493008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4944" y="3538728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01775" y="3493008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56639" y="3538728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高校成果转化·AI for 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339742" y="3493008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94606" y="353872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次3月下旬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45505" y="3493008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0369" y="353872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对接日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951268" y="3493008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006132" y="353872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39404" y="3493008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94268" y="353872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127540" y="3493008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182404" y="3538728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成果公司/实验室落户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" y="3785616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94944" y="3831336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F3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01775" y="3785616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56639" y="3831336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通往AGI季度圆桌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39742" y="3785616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394606" y="383133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次3月下旬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45505" y="3785616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00369" y="383133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闭门圆桌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51268" y="3785616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006132" y="383133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039404" y="3785616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94268" y="383133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27540" y="3785616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82404" y="3831336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研究型/模型团队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40080" y="4078224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4944" y="4123944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01775" y="4078224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56639" y="4123944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ChinaJoy主题·创作者内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339742" y="4078224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394606" y="412394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次4月中旬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45505" y="4078224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700369" y="412394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发布会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951268" y="4078224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006132" y="412394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039404" y="4078224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094268" y="412394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127540" y="4078224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182404" y="4123944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数字娱乐/内容品牌问询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40080" y="4370832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4944" y="4416552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01775" y="4370832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56639" y="4416552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ChinaJoy主题·游戏周边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339742" y="4370832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394606" y="441655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次4月下旬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645505" y="4370832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700369" y="441655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对接会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951268" y="4370832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006132" y="441655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039404" y="4370832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094268" y="441655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127540" y="4370832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182404" y="4416552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CJ供应链/周边企业展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40080" y="4663440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94944" y="4709160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C4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401775" y="4663440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456639" y="4709160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专精特新·AI应用培育路演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339742" y="466344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394606" y="470916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次5月中旬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645505" y="4663440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700369" y="4709160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路演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951268" y="466344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006132" y="470916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039404" y="4663440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94268" y="4709160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127540" y="4663440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9182404" y="4709160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成长型AI补位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40080" y="4956048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944" y="5001768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401775" y="4956048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456639" y="5001768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ChinaJoy主题·数字娱乐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4339742" y="495604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394606" y="500176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次5月下旬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645505" y="4956048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700369" y="5001768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体验日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951268" y="495604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006132" y="500176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039404" y="4956048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094268" y="5001768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127540" y="4956048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182404" y="5001768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优质摊主/工作室升级固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40080" y="5248656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94944" y="5294376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C5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401775" y="5248656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56639" y="5294376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ChinaJoy主题·IP联名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4339742" y="524865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394606" y="529437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次6月中旬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5645505" y="5248656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700369" y="5294376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撮合会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951268" y="524865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006132" y="529437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8039404" y="5248656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8094268" y="5294376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127540" y="5248656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182404" y="5294376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IP联名/衍生品团队入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640080" y="5541264"/>
            <a:ext cx="761695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694944" y="5586984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D4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1401775" y="5541264"/>
            <a:ext cx="2937967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456639" y="5586984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ChinaJoy主题·沉浸式数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339742" y="554126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394606" y="558698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次6月下旬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5645505" y="5541264"/>
            <a:ext cx="1305763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5700369" y="5586984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联展（短展期）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6951268" y="554126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006132" y="558698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≤30人/场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8039404" y="5541264"/>
            <a:ext cx="1088136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8094268" y="5586984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L2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9127540" y="5541264"/>
            <a:ext cx="239389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182404" y="5586984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闭幕洽谈集中转化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40080" y="5833872"/>
            <a:ext cx="761695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94944" y="5879592"/>
            <a:ext cx="670255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401775" y="5833872"/>
            <a:ext cx="2937967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456639" y="5879592"/>
            <a:ext cx="2846527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创作者首发②·衔接WAIC20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4339742" y="583387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4394606" y="587959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次7月中旬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5645505" y="5833872"/>
            <a:ext cx="1305763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5700369" y="5879592"/>
            <a:ext cx="1214323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发布会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6951268" y="583387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7006132" y="587959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≤30人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8039404" y="5833872"/>
            <a:ext cx="1088136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8094268" y="5879592"/>
            <a:ext cx="996696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L4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9127540" y="5833872"/>
            <a:ext cx="239389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9182404" y="5879592"/>
            <a:ext cx="230245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旺季补位，双大会预热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02 · 运营节奏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四个阶段，各有重心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21208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4864" cy="2194560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启动期｜8—10月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024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四场项目推广日点火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E1承接WAIC余热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Agent营+CJ IP对接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CJ主题日与治理沙龙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521208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17320"/>
            <a:ext cx="54864" cy="21945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攻坚期｜11—12月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92024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算力联训+三券沙龙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具身双会叠加体验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Demo Day精选签约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领事另计价另案（如需）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0480"/>
            <a:ext cx="521208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54864" cy="219456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97764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深耕期｜1—3月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434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AIGC特训/营销Agent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政策沙龙+高企冲刺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黑客松+高校成果日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AGI圆桌研究型客户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840480"/>
            <a:ext cx="521208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840480"/>
            <a:ext cx="54864" cy="2194560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397764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收获与预热｜4—7月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43434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CJ创作者首发/供应链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市集转正/IP联名/联展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专精特新AI路演补位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D5预热下届双会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02 · 双会资源导入（摘要）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只取招商贴近可调用规模与优先策略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来源：WAIC2026全量资源整合总表 · ChinaJoy2026招商引资总表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54864" cy="4663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WAIC → 喂养 3F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参展商963 · 品牌库4262 · 联系人3463 · A/B线索500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主赛道：算力芯片 / 具身 / Agent / AIGC / 行业AI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ACT缩尺：闭门会·具身体验·算力峰会·行业AI圆桌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用法：线索抽样邀约；论坛议题→≤30人沙龙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不做：全量展商粘贴进PPT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417320"/>
            <a:ext cx="54864" cy="4663440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ChinaJoy → 喂养 5F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主题「与AI同游」· 可触达优先263 · 精编422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最高：中小游戏工作室（Express/Next Play/AGS）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高：Vision Future具身 · 潮玩谷子 · 创作者经济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中腰部选址灵活；不硬追大厂总部搬迁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原潮玩产业集群场次合并为CJ主题内容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03 · 主题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智能体与算力训练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对应WAIC：Agent·多模态·算力·具身；资源：ACT缩尺+线索抽样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6304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417320"/>
            <a:ext cx="261152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63040"/>
            <a:ext cx="252008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8165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3928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41732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9691" y="146304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417320"/>
            <a:ext cx="272034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5963" y="1463040"/>
            <a:ext cx="26289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783080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182880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1775" y="1783080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56639" y="182880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Agent智能体搭建一日营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3301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8165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9月上旬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19064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3928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实训营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4827" y="178308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9691" y="182880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Agent初创落位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099" y="1783080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55963" y="182880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Agent池抽样；ACT-001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167128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212848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01775" y="2167128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56639" y="2212848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多模态智能体工作坊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13301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8165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10月上旬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19064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928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工作坊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4827" y="216712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9691" y="221284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多模态团队入驻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1099" y="2167128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5963" y="2212848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AIGC子类抽样；内容论坛切片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2551176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2596896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1775" y="2551176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6639" y="2596896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火山引擎×算力Infra实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301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8165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11月上旬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19064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928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厂商联训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4827" y="255117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9691" y="259689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高算力企业定向看场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01099" y="2551176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55963" y="2596896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ACT-003缩尺；算力展商池抽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2935224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2980944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01775" y="2935224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56639" y="2980944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具身智能空间交互体验日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13301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8165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12月上旬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19064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73928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体验日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4827" y="293522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9691" y="298094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具身/机器人团队看场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01099" y="2935224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55963" y="2980944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ACT-002缩尺；场景观察+C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3319272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3364992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01775" y="3319272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56639" y="3364992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AI营销Agent实战营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13301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8165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次1月中旬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19064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73928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实战营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4827" y="3319272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9691" y="336499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营销科技公司看场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1099" y="3319272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5963" y="3364992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企业服务/营销池抽样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3703320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374904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01775" y="3703320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56639" y="374904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OPC超级个体黑客松（春）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013301" y="3703320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68165" y="374904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次3月上旬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19064" y="3703320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73928" y="374904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黑客松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4827" y="3703320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79691" y="374904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获奖团队优先谈单元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801099" y="3703320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55963" y="374904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高校Builder；CJ AGS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03 · 主题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政策与治理沙龙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对应WAIC治理/券务；服中心协同兑现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6304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417320"/>
            <a:ext cx="261152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63040"/>
            <a:ext cx="252008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8165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3928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41732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9691" y="146304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417320"/>
            <a:ext cx="272034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5963" y="1463040"/>
            <a:ext cx="26289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783080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182880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1775" y="1783080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56639" y="182880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AI治理与可信智能体沙龙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3301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8165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10月下旬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19064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3928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沙龙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4827" y="178308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9691" y="182880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合规型企业信任导入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099" y="1783080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55963" y="182880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治理议题摘要；合规顾问短名单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167128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212848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01775" y="2167128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56639" y="2212848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创新券·算力券·模型券实务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13301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8165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11月中旬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19064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928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实务沙龙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4827" y="216712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9691" y="221284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用券企业聚集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1099" y="2167128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5963" y="2212848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三券核销路径；云厂商联系人抽样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2551176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2596896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1775" y="2551176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6639" y="2596896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YOUNG立方×智能伙伴政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301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8165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次2月中旬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19064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928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政策沙龙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4827" y="255117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9691" y="259689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内容/AI企业导入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01099" y="2551176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55963" y="2596896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政策礼包+双会意向企业复邀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2935224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2980944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01775" y="2935224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56639" y="2980944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高企认定冲刺（AI企业专场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13301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8165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次2月下旬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19064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73928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辅导会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4827" y="293522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9691" y="298094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待认定企业带政策入驻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01099" y="2935224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55963" y="2980944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双会AI应用类待认定抽样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03 · 主题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产业与ChinaJoy对接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原东莞/汕头/扬州场次合并为ChinaJoy主题内容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6304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417320"/>
            <a:ext cx="261152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63040"/>
            <a:ext cx="252008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8165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3928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41732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9691" y="146304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417320"/>
            <a:ext cx="272034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5963" y="1463040"/>
            <a:ext cx="26289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783080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182880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1775" y="1783080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56639" y="182880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ChinaJoy主题·数字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3301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8165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9月中旬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19064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3928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对接会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4827" y="178308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9691" y="182880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CJ赛道企业/IP方入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099" y="1783080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55963" y="182880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中小工作室+IP方；可触达263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167128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212848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01775" y="2167128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56639" y="2212848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高校成果转化·AI for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13301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8165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次3月下旬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19064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928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对接日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4827" y="216712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9691" y="221284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成果公司/实验室落户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1099" y="2167128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5963" y="2212848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复旦住房中心学术支持位；科研论坛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2551176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2596896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1775" y="2551176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6639" y="2596896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ChinaJoy主题·游戏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301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8165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次4月下旬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19064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928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对接会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4827" y="255117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9691" y="259689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CJ供应链/周边企业展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01099" y="2551176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55963" y="2596896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潮玩谷子高优先级；作品类示例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2935224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2980944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01775" y="2935224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56639" y="2980944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专精特新·AI应用培育路演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13301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8165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次5月中旬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19064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73928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路演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4827" y="293522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9691" y="298094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成长型AI补位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01099" y="2935224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55963" y="2980944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ACT-006缩尺；行业AI池抽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3319272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3364992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01775" y="3319272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56639" y="3364992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ChinaJoy主题·IP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13301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8165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次6月中旬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19064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73928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撮合会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4827" y="3319272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9691" y="336499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IP联名/衍生品团队入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1099" y="3319272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5963" y="3364992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老字号×IP联名案例迁移；衍生品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03 · 主题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AI内容与ChinaJoy人气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对应CJ创作者经济+WAIC AIGC；与官方创作者活动错峰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6304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417320"/>
            <a:ext cx="261152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63040"/>
            <a:ext cx="252008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8165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3928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41732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9691" y="146304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417320"/>
            <a:ext cx="272034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5963" y="1463040"/>
            <a:ext cx="26289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783080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182880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1775" y="1783080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56639" y="182880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AIGC微短剧制片特训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3301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8165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次1月上旬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19064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3928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特训营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4827" y="178308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9691" y="182880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厂牌/工作室入驻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099" y="1783080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55963" y="182880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影视内容论坛切片；AIGC厂牌抽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167128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212848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01775" y="2167128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56639" y="2212848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ChinaJoy主题·创作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13301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8165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次4月中旬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19064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928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发布会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4827" y="216712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9691" y="221284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数字娱乐/内容品牌问询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1099" y="2167128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5963" y="2212848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创作者/社团抽样；渠道玩法迁移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2551176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2596896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1775" y="2551176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6639" y="2596896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ChinaJoy主题·数字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301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8165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次5月下旬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19064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928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体验日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4827" y="255117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9691" y="259689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优质摊主/工作室升级固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01099" y="2551176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55963" y="2596896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小微品牌；市集→固定展位路径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2935224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2980944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01775" y="2935224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56639" y="2980944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ChinaJoy主题·沉浸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13301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8165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次6月下旬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19064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73928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联展（短展期）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4827" y="293522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9691" y="298094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闭幕洽谈集中转化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01099" y="2935224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55963" y="2980944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联合内容方短名单；预约制控流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3319272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3364992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D5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01775" y="3319272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56639" y="3364992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创作者首发②·衔接WAIC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13301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8165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次7月中旬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19064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73928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发布会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4827" y="3319272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9691" y="336499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旺季补位，双大会预热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1099" y="3319272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5963" y="3364992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全年双会线索复盘；预热下届双会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03 · 主题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启动月·项目推广与双会承接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原大场改为≤30人精准场；8月=项目推广日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6304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417320"/>
            <a:ext cx="261152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63040"/>
            <a:ext cx="252008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8165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3928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41732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9691" y="146304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417320"/>
            <a:ext cx="272034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5963" y="1463040"/>
            <a:ext cx="26289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783080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182880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1775" y="1783080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56639" y="182880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创智汇项目推广日①·中介与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3301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8165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8月上旬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19064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3928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4827" y="178308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9691" y="182880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中介渠道带看与项目推介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099" y="1783080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55963" y="182880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待租8间看场清单；双会转介话术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167128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212848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01775" y="2167128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56639" y="2212848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创智汇项目推广日②·五大行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13301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8165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8月中旬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19064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928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4827" y="216712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9691" y="221284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金融资源链接与客户导入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1099" y="2167128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5963" y="2212848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WAIC金融议题摘要；CJ专业观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2551176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2596896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1775" y="2551176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6639" y="2596896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创智汇项目推广日③·投研机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301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8165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8月中旬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19064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928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4827" y="255117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9691" y="259689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投研视角放大项目影响力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01099" y="2551176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55963" y="2596896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WAIC赛道结论；CJ「与AI同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2935224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2980944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P4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01775" y="2935224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56639" y="2980944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创智汇项目推广日④·政府部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13301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8165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8月下旬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19064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73928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项目推广日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4827" y="293522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9691" y="298094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政策与载体协同落地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01099" y="2935224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55963" y="2980944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算力券/创新券；YOUNG立方政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3319272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3364992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E1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01775" y="3319272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56639" y="3364992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WAIC成果承接·创智汇开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13301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8165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8月下旬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19064" y="3319272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73928" y="3364992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开放交流日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4827" y="3319272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79691" y="336499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衔接WAIC议题与园区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1099" y="3319272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5963" y="3364992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A/B线索抽样；ACT议题切片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3703320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374904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E4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01775" y="3703320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56639" y="374904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ChinaJoy主题日·数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013301" y="3703320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68165" y="374904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10月中旬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319064" y="3703320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73928" y="374904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主题日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4827" y="3703320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79691" y="374904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CJ生态企业集中看场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801099" y="3703320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55963" y="374904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Express/独立游戏中小团队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03 · 主题 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收官·圆桌·另计价事项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出海另议另计价；领事到访/挂牌另计价且分属不同性质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6169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63040"/>
            <a:ext cx="67025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1775" y="1417320"/>
            <a:ext cx="261152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6639" y="1463040"/>
            <a:ext cx="252008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13301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8165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档期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9064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3928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4827" y="141732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9691" y="146304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招商落点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1099" y="1417320"/>
            <a:ext cx="272034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5963" y="1463040"/>
            <a:ext cx="26289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1783080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1828800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F4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1775" y="1783080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56639" y="1828800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创智汇AI年度Demo 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3301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8165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12月中旬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19064" y="1783080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3928" y="1828800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路演日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4827" y="178308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9691" y="182880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集中签约洽谈与媒体背书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1099" y="1783080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55963" y="1828800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年内导入A/B意向精选路演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167128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212848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F3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01775" y="2167128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56639" y="2212848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通往AGI季度圆桌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13301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8165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次3月下旬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19064" y="2167128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928" y="2212848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闭门圆桌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4827" y="216712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9691" y="221284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研究型/模型团队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1099" y="2167128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5963" y="2212848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ACT-001闭门形态；模型公司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2551176"/>
            <a:ext cx="76169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" y="2596896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F1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01775" y="2551176"/>
            <a:ext cx="2611526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6639" y="2596896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出海专题活动（另议·另计价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301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68165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档期另议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19064" y="2551176"/>
            <a:ext cx="1305763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3928" y="2596896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专题（另议）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4827" y="255117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9691" y="259689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出海服务（不在年度包内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01099" y="2551176"/>
            <a:ext cx="2720340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55963" y="2596896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BTOB外资线索仅作另案素材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2935224"/>
            <a:ext cx="76169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2980944"/>
            <a:ext cx="67025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L1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01775" y="2935224"/>
            <a:ext cx="2611526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56639" y="2980944"/>
            <a:ext cx="2520086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领事到访接待（另计价）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13301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8165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档期另议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19064" y="2935224"/>
            <a:ext cx="1305763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73928" y="2980944"/>
            <a:ext cx="1214323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外事接待（另计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4827" y="293522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79691" y="298094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领事到访（三部分费用之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01099" y="2935224"/>
            <a:ext cx="2720340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55963" y="2980944"/>
            <a:ext cx="26289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Microsoft YaHei"/>
              </a:rPr>
              <a:t>不占用年度30场资源池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04 · 单场执行标准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每场活动，同一套打法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305763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463040"/>
            <a:ext cx="121432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节点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1945843" y="1417320"/>
            <a:ext cx="369966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00707" y="1463040"/>
            <a:ext cx="360822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关键动作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45505" y="1417320"/>
            <a:ext cx="3264408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00369" y="1463040"/>
            <a:ext cx="317296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责任方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9913" y="1417320"/>
            <a:ext cx="2611526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4777" y="1463040"/>
            <a:ext cx="252008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交付物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75564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1783080"/>
            <a:ext cx="1305763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1828800"/>
            <a:ext cx="1214323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T-14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45843" y="1783080"/>
            <a:ext cx="3699662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00707" y="1828800"/>
            <a:ext cx="3608222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锁定嘉宾议程物料 + 本场资源切片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45505" y="1783080"/>
            <a:ext cx="3264408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00369" y="1828800"/>
            <a:ext cx="3172968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同浦汇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9913" y="1783080"/>
            <a:ext cx="2611526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4777" y="1828800"/>
            <a:ext cx="252008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议程/嘉宾确认/报名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286000"/>
            <a:ext cx="1305763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2331720"/>
            <a:ext cx="1214323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T-7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45843" y="2286000"/>
            <a:ext cx="3699662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00707" y="2331720"/>
            <a:ext cx="3608222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邀约确认 + 场地报备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45505" y="2286000"/>
            <a:ext cx="3264408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00369" y="2331720"/>
            <a:ext cx="3172968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同浦汇；园区场地确认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9913" y="2286000"/>
            <a:ext cx="2611526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4777" y="2331720"/>
            <a:ext cx="252008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名单/场地单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788920"/>
            <a:ext cx="1305763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2834640"/>
            <a:ext cx="1214323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T-1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45843" y="2788920"/>
            <a:ext cx="3699662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00707" y="2834640"/>
            <a:ext cx="3608222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彩排 + 看场动线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45505" y="2788920"/>
            <a:ext cx="3264408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00369" y="2834640"/>
            <a:ext cx="3172968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同浦汇；园区样板间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09913" y="2788920"/>
            <a:ext cx="2611526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4777" y="2834640"/>
            <a:ext cx="252008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彩排记录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291840"/>
            <a:ext cx="1305763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3337560"/>
            <a:ext cx="1214323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D日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45843" y="3291840"/>
            <a:ext cx="3699662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00707" y="3337560"/>
            <a:ext cx="3608222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签到→主区→看场→建群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45505" y="3291840"/>
            <a:ext cx="3264408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00369" y="3337560"/>
            <a:ext cx="3172968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同浦汇执行；园区支持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09913" y="3291840"/>
            <a:ext cx="2611526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4777" y="3337560"/>
            <a:ext cx="252008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签到/意向/群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794760"/>
            <a:ext cx="1305763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3840480"/>
            <a:ext cx="1214323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T+1~7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5843" y="3794760"/>
            <a:ext cx="3699662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00707" y="3840480"/>
            <a:ext cx="3608222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带客回访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45505" y="3794760"/>
            <a:ext cx="3264408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00369" y="3840480"/>
            <a:ext cx="3172968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同浦汇主责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09913" y="3794760"/>
            <a:ext cx="2611526" cy="50292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64777" y="3840480"/>
            <a:ext cx="252008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回访摘要知会园区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297680"/>
            <a:ext cx="1305763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343400"/>
            <a:ext cx="1214323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销售促成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45843" y="4297680"/>
            <a:ext cx="3699662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00707" y="4343400"/>
            <a:ext cx="3608222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房源条件与成交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45505" y="4297680"/>
            <a:ext cx="3264408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00369" y="4343400"/>
            <a:ext cx="3172968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园区负责销售部分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09913" y="4297680"/>
            <a:ext cx="2611526" cy="50292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4777" y="4343400"/>
            <a:ext cx="2520086" cy="4297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合同/交割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05 · 转化与分工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到场→建群→看场→销售促成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4864" cy="466344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转化动作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D日：签到分层并建群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T+1：看场预约与资料入群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T+1~7：同浦汇持续带客回访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园区：群内发布房源/政策/条件，负责销售促成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F6B4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月度核对意向与成交进展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17320"/>
            <a:ext cx="54864" cy="4663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责任边界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同浦汇：策划、邀约、带客、建群、回访摘要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园区：场地物业、样板间、销售成交、合同交割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云创基地：主体运营范围与算力协同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科企联/服中心：活动载体支持与政策手续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复旦住房中心：学术支持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05 · 交付与收费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交给园区的东西 · 付款唯一方案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39389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417320"/>
            <a:ext cx="23024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周期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3033979" y="1371600"/>
            <a:ext cx="848746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8843" y="1417320"/>
            <a:ext cx="83960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交付物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737360"/>
            <a:ext cx="2393899" cy="34747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783080"/>
            <a:ext cx="2302459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签约后2周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3979" y="1737360"/>
            <a:ext cx="8487460" cy="34747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8843" y="1783080"/>
            <a:ext cx="83960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年度方案细化版 + 排期日历 + 资源导入台账模板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084832"/>
            <a:ext cx="2393899" cy="34747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30552"/>
            <a:ext cx="2302459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每场后7天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3979" y="2084832"/>
            <a:ext cx="8487460" cy="34747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88843" y="2130552"/>
            <a:ext cx="83960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执行卡/议程/签到/意向/动线/照片通稿 + 回访摘要 + 建群清单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432304"/>
            <a:ext cx="2393899" cy="34747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478024"/>
            <a:ext cx="2302459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每月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33979" y="2432304"/>
            <a:ext cx="8487460" cy="347472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8843" y="2478024"/>
            <a:ext cx="83960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活动数据月报 + 下月排期确认单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79776"/>
            <a:ext cx="2393899" cy="34747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2825496"/>
            <a:ext cx="2302459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每季/年末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33979" y="2779776"/>
            <a:ext cx="8487460" cy="347472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8843" y="2825496"/>
            <a:ext cx="839602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复盘、台账、双会资源消耗与补库建议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794760"/>
            <a:ext cx="108813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Microsoft YaHei"/>
              </a:rPr>
              <a:t>收费与付款（合并后唯一方案）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6908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411480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项目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86860" y="4069080"/>
            <a:ext cx="783457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1724" y="411480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口径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40740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434840"/>
            <a:ext cx="3046780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" y="4480560"/>
            <a:ext cx="295534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活动策划执行服务费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86860" y="4434840"/>
            <a:ext cx="783457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1724" y="4480560"/>
            <a:ext cx="774313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年度打包（金额线下确认）；含常规30场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727448"/>
            <a:ext cx="3046780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4773168"/>
            <a:ext cx="295534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租金/物业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86860" y="4727448"/>
            <a:ext cx="783457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1724" y="4773168"/>
            <a:ext cx="774313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3.3元/㎡/天；物业13.8元/㎡/月；建议免租期1–3个月（面议）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020056"/>
            <a:ext cx="3046780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" y="5065776"/>
            <a:ext cx="295534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租赁对赌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86860" y="5020056"/>
            <a:ext cx="783457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1724" y="5065776"/>
            <a:ext cx="774313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不做（租金高于周边均价）；不做租赁必要性要求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312664"/>
            <a:ext cx="3046780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944" y="5358384"/>
            <a:ext cx="295534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出海/领事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86860" y="5312664"/>
            <a:ext cx="7834579" cy="29260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41724" y="5358384"/>
            <a:ext cx="774313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另议另计价；挂牌与到访分属不同性质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05272"/>
            <a:ext cx="3046780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" y="5650992"/>
            <a:ext cx="295534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付款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86860" y="5605272"/>
            <a:ext cx="7834579" cy="29260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41724" y="5650992"/>
            <a:ext cx="7743139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签约后7日50%；Q3/Q4/次年Q1/次年Q2各10%；年终10%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05 · 往期案例（一）训练营 / 沙龙类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杨「数」浦数字沙龙第七期：AI如何重塑企业DNA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2025-06-30 · 美团上海综合指挥中心 · 政策/治理沙龙类</a:t>
            </a:r>
          </a:p>
        </p:txBody>
      </p:sp>
      <p:pic>
        <p:nvPicPr>
          <p:cNvPr id="7" name="Picture 6" descr="case_c987bd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3566160" cy="2011680"/>
          </a:xfrm>
          <a:prstGeom prst="rect">
            <a:avLst/>
          </a:prstGeom>
        </p:spPr>
      </p:pic>
      <p:pic>
        <p:nvPicPr>
          <p:cNvPr id="8" name="Picture 7" descr="case_59157ea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417320"/>
            <a:ext cx="3566160" cy="2011680"/>
          </a:xfrm>
          <a:prstGeom prst="rect">
            <a:avLst/>
          </a:prstGeom>
        </p:spPr>
      </p:pic>
      <p:pic>
        <p:nvPicPr>
          <p:cNvPr id="9" name="Picture 8" descr="case_6e51af9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417320"/>
            <a:ext cx="3566160" cy="20116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3611880"/>
            <a:ext cx="6766560" cy="251460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6400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当天议程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参观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023360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美团综合指挥中心数字化场景参观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61104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主题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261104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人机共生时代：AI如何重塑企业DNA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98848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案例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498848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大众点评AI技术应用创新与落地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36592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政策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736592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《人工智能生成合成内容标识办法》等解读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74336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互动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974336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答疑与企业一对一交流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3611880"/>
            <a:ext cx="3977639" cy="2514600"/>
          </a:xfrm>
          <a:prstGeom prst="rect">
            <a:avLst/>
          </a:prstGeom>
          <a:solidFill>
            <a:srgbClr val="F2F0EA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703320"/>
            <a:ext cx="3703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可见机构/企业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023360"/>
            <a:ext cx="370332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杨浦区委网信办；赛博院等
企业侧：美团；大众点评大模型团队等
映射：对应：B类政策沙龙、A类训练营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05 · 往期案例（二）开放日 / 路演大场类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「融见科创·智启未来」人工智能专场路演暨投融资对接会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2025-10 · 杨浦 · 邮储银行联合主办 · 路演对接类</a:t>
            </a:r>
          </a:p>
        </p:txBody>
      </p:sp>
      <p:pic>
        <p:nvPicPr>
          <p:cNvPr id="7" name="Picture 6" descr="case_db1d5ca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3566160" cy="2011680"/>
          </a:xfrm>
          <a:prstGeom prst="rect">
            <a:avLst/>
          </a:prstGeom>
        </p:spPr>
      </p:pic>
      <p:pic>
        <p:nvPicPr>
          <p:cNvPr id="8" name="Picture 7" descr="case_659315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417320"/>
            <a:ext cx="3566160" cy="2011680"/>
          </a:xfrm>
          <a:prstGeom prst="rect">
            <a:avLst/>
          </a:prstGeom>
        </p:spPr>
      </p:pic>
      <p:pic>
        <p:nvPicPr>
          <p:cNvPr id="9" name="Picture 8" descr="case_cb0a38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417320"/>
            <a:ext cx="3566160" cy="20116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" y="3611880"/>
            <a:ext cx="6766560" cy="251460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6400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当天议程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开场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023360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促进会会长夏立城致辞与生态介绍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61104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主办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261104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邮储银行科技金融致辞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98848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分享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498848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中邮证券AI行业趋势主题分享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36592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736592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6+6+6+1：项目+投资人+金融机构+政府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74336"/>
            <a:ext cx="914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B58A4A"/>
                </a:solidFill>
                <a:latin typeface="Microsoft YaHei"/>
              </a:rPr>
              <a:t>收口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974336"/>
            <a:ext cx="5394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区投促点评与招商邀请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3611880"/>
            <a:ext cx="3977639" cy="2514600"/>
          </a:xfrm>
          <a:prstGeom prst="rect">
            <a:avLst/>
          </a:prstGeom>
          <a:solidFill>
            <a:srgbClr val="F2F0EA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703320"/>
            <a:ext cx="3703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可见机构/企业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023360"/>
            <a:ext cx="370332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杨浦科创促进会、邮储银行等
企业侧：复楚智能、卡房信息、一造科技、中科趋势、万笔千墨等
映射：对应：F4 Demo Day、项目推广日、路演类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06 · 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把一年做满，双会热度落在园区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4864" cy="46634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我们将交付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30场按日历执行（每场≤30人）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8月项目推广日四场点火 + WAIC承接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ChinaJoy主题内容场次（合并原潮玩类）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每场定义核 + 资源导入标注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E3A5F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带客、建群、回访摘要；园区做销售促成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5212080" cy="4663440"/>
          </a:xfrm>
          <a:prstGeom prst="rect">
            <a:avLst/>
          </a:prstGeom>
          <a:solidFill>
            <a:srgbClr val="FFFFFF"/>
          </a:solidFill>
          <a:ln w="1016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17320"/>
            <a:ext cx="54864" cy="4663440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554480"/>
            <a:ext cx="48920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Microsoft YaHei"/>
              </a:rPr>
              <a:t>请园区协同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确认档期、场地物业与样板间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共享在谈名单，群内发布条件促成成交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云创基地/联合会/服中心协同到位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政策礼包与券务按活动节奏提前到位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B58A4A"/>
                </a:solidFill>
                <a:latin typeface="Microsoft YaHei"/>
              </a:rPr>
              <a:t>· </a:t>
            </a:r>
            <a:r>
              <a:rPr sz="1300">
                <a:solidFill>
                  <a:srgbClr val="5A5A5A"/>
                </a:solidFill>
                <a:latin typeface="Microsoft YaHei"/>
              </a:rPr>
              <a:t>月度联席会核对意向与下月排期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附录 · 定义核与资源导入（1/3）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每场一句话定义 + 导入什么资源（招商向）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870508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17320"/>
            <a:ext cx="77906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0588" y="1371600"/>
            <a:ext cx="348203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5452" y="1417320"/>
            <a:ext cx="339059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定义核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3" y="137160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7487" y="141732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资源源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68895" y="1371600"/>
            <a:ext cx="4352544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1417320"/>
            <a:ext cx="426110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70992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1737360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1783080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P1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10588" y="1737360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65452" y="1783080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渠道点火场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3" y="173736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7" y="178308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园区自建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68895" y="1737360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1783080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待租8间看场清单；双会转介话术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2121408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2167128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P2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10588" y="2121408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65452" y="2167128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金融转介场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92623" y="212140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7" y="216712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园区自建+投研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68895" y="2121408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59" y="2167128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WAIC金融议题摘要；CJ专业观众画像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05456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551176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P3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10588" y="2505456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65452" y="2551176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叙事定调场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92623" y="250545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47487" y="255117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园区自建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68895" y="2505456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59" y="2551176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WAIC赛道结论；CJ「与AI同游」判断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2889504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" y="2935224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P4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10588" y="2889504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65452" y="2935224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政策协同场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2623" y="288950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7487" y="293522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云创+科企联/服中心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68895" y="2889504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23759" y="2935224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算力券/创新券；YOUNG立方政策包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273552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" y="3319272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E1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10588" y="3273552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65452" y="3319272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WAIC余热承接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92623" y="3273552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47487" y="331927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WAIC总表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68895" y="3273552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59" y="3319272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A/B线索抽样；ACT议题切片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3657600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3703320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10588" y="3657600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65452" y="3703320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3F入孵核：Agent→OPC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92623" y="3657600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47487" y="370332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WAIC·Agent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68895" y="3657600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59" y="3703320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Agent池抽样；ACT-001缩尺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4041648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4087368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10588" y="4041648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5452" y="4087368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5F内容核：IP授权对接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92623" y="4041648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47487" y="408736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CJ·游戏/IP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68895" y="4041648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59" y="4087368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中小工作室+IP方；可触达263抽样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" y="4425696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4471416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F1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10588" y="4425696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65452" y="4471416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另议核：出海不进年度包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92623" y="4425696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47487" y="447141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CJ国际展团（另案）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168895" y="4425696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23759" y="4471416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BTOB外资线索仅作另案素材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4809744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4855464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510588" y="4809744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65452" y="4855464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3F技术核：多模态看场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92623" y="4809744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47487" y="485546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WAIC·多模态/AIGC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68895" y="4809744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23759" y="4855464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AIGC子类抽样；内容论坛切片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" y="5193792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4944" y="5239512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E4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10588" y="5193792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65452" y="5239512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5F生态核：数字娱乐看场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92623" y="5193792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47487" y="523951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CJ·游戏风云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168895" y="5193792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223759" y="5239512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Express/独立游戏中小团队池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附录 · 定义核与资源导入（2/3）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每场一句话定义 + 导入什么资源（招商向）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870508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17320"/>
            <a:ext cx="77906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0588" y="1371600"/>
            <a:ext cx="348203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5452" y="1417320"/>
            <a:ext cx="339059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定义核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3" y="137160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7487" y="141732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资源源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68895" y="1371600"/>
            <a:ext cx="4352544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1417320"/>
            <a:ext cx="426110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70992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1737360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1783080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B2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10588" y="1737360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65452" y="1783080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信任核：治理合规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3" y="173736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7" y="178308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WAIC·治理论坛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68895" y="1737360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1783080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治理议题摘要；合规顾问短名单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2121408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2167128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10588" y="2121408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65452" y="2167128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算力核：云创×厂商联训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92623" y="212140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7" y="216712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WAIC·算力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68895" y="2121408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59" y="2167128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ACT-003缩尺；算力展商池抽样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05456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551176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B4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10588" y="2505456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65452" y="2551176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券务核：用券聚集转化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92623" y="250545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47487" y="255117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云创+WAIC算力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68895" y="2505456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59" y="2551176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三券核销路径；云厂商联系人抽样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2889504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" y="2935224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L1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10588" y="2889504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65452" y="2935224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外事另计价核（到访≠挂牌）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2623" y="288950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7487" y="293522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另案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68895" y="2889504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23759" y="2935224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不占用年度30场资源池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273552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" y="3319272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10588" y="3273552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65452" y="3319272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双会叠加核：具身体验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92623" y="3273552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47487" y="331927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WAIC具身+CJ Visi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68895" y="3273552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59" y="3319272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ACT-002缩尺；场景观察+CJ前沿科技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3657600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3703320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F4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10588" y="3657600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65452" y="3703320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年中收口核：精选签约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92623" y="3657600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47487" y="370332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双会精选项目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68895" y="3657600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59" y="3703320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年内导入A/B意向精选路演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4041648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4087368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D1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10588" y="4041648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5452" y="4087368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内容制片核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92623" y="4041648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47487" y="408736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WAIC·AIGC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68895" y="4041648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59" y="4087368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影视内容论坛切片；AIGC厂牌抽样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" y="4425696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4471416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10588" y="4425696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65452" y="4471416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营销科技核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92623" y="4425696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47487" y="447141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WAIC·企业服务营销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168895" y="4425696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23759" y="4471416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企业服务/营销池抽样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4809744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4855464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B1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510588" y="4809744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65452" y="4855464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政策获客核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92623" y="4809744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47487" y="485546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服中心+双会客群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68895" y="4809744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23759" y="4855464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政策礼包+双会意向企业复邀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" y="5193792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4944" y="5239512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B3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10588" y="5193792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65452" y="5239512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带政策入驻核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92623" y="5193792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47487" y="523951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服中心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168895" y="5193792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223759" y="5239512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双会AI应用类待认定抽样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附录 · 定义核与资源导入（3/3）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Microsoft YaHei"/>
              </a:rPr>
              <a:t>每场一句话定义 + 导入什么资源（招商向）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870508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17320"/>
            <a:ext cx="77906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0588" y="1371600"/>
            <a:ext cx="3482035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5452" y="1417320"/>
            <a:ext cx="339059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定义核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2623" y="1371600"/>
            <a:ext cx="2176272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7487" y="1417320"/>
            <a:ext cx="208483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资源源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68895" y="1371600"/>
            <a:ext cx="4352544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1417320"/>
            <a:ext cx="426110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icrosoft YaHei"/>
              </a:rPr>
              <a:t>资源导入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70992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1737360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1783080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10588" y="1737360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65452" y="1783080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OPC核：获奖谈单元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3" y="1737360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7" y="178308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WAIC青年+CJ创作者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68895" y="1737360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1783080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高校Builder；CJ AGS线索抽样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2121408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2167128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10588" y="2121408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65452" y="2167128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成果转化核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92623" y="2121408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7" y="216712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学术支持+WAIC科研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68895" y="2121408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59" y="2167128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复旦住房中心学术支持位；科研论坛切片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05456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2551176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F3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10588" y="2505456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65452" y="2551176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研究型客户核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92623" y="2505456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47487" y="255117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WAIC·大模型论坛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68895" y="2505456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59" y="2551176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ACT-001闭门形态；模型公司抽样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2889504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4944" y="2935224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D2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10588" y="2889504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65452" y="2935224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创作者首发核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2623" y="2889504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7487" y="293522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CJ·创作者展区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68895" y="2889504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23759" y="2935224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创作者/社团抽样；渠道玩法迁移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273552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" y="3319272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10588" y="3273552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65452" y="3319272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供应链核：周边/潮玩展位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92623" y="3273552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47487" y="331927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CJ·魔玩/谷子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68895" y="3273552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59" y="3319272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潮玩谷子高优先级；作品类示例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3657600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3703320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10588" y="3657600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65452" y="3703320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成长补位核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92623" y="3657600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47487" y="3703320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WAIC·行业AI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68895" y="3657600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59" y="3703320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ACT-006缩尺；行业AI池抽样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4041648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4944" y="4087368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D3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10588" y="4041648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5452" y="4087368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市集转化核：摊主升级展位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92623" y="4041648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47487" y="4087368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CJ·创作者/市集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68895" y="4041648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59" y="4087368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小微品牌；市集→固定展位路径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" y="4425696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4471416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10588" y="4425696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65452" y="4471416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IP商业化核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92623" y="4425696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47487" y="4471416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CJ·IP/联名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168895" y="4425696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23759" y="4471416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老字号×IP联名案例迁移；衍生品抽样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4809744"/>
            <a:ext cx="870508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4855464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D4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510588" y="4809744"/>
            <a:ext cx="3482035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65452" y="4855464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视觉落地核：短展期转化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92623" y="4809744"/>
            <a:ext cx="2176272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47487" y="4855464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CJ·氛围落地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68895" y="4809744"/>
            <a:ext cx="4352544" cy="384048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23759" y="4855464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联合内容方短名单；预约制控流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" y="5193792"/>
            <a:ext cx="870508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4944" y="5239512"/>
            <a:ext cx="779068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D5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10588" y="5193792"/>
            <a:ext cx="3482035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65452" y="5239512"/>
            <a:ext cx="339059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双会预热核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92623" y="5193792"/>
            <a:ext cx="2176272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47487" y="5239512"/>
            <a:ext cx="2084832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双会预热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168895" y="5193792"/>
            <a:ext cx="4352544" cy="384048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223759" y="5239512"/>
            <a:ext cx="4261104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Microsoft YaHei"/>
              </a:rPr>
              <a:t>全年双会线索复盘；预热下届双会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Microsoft YaHei"/>
              </a:rPr>
              <a:t>附录 · 主体与口径一页纸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1E3A5F"/>
                </a:solidFill>
                <a:latin typeface="Microsoft YaHei"/>
              </a:rPr>
              <a:t>合并后统一口径（便于审阅）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02920" cy="41148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41732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Microsoft YaHei"/>
              </a:rPr>
              <a:t>模块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3686860" y="1371600"/>
            <a:ext cx="783457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1724" y="141732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Microsoft YaHei"/>
              </a:rPr>
              <a:t>口径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10881360" cy="27432"/>
          </a:xfrm>
          <a:prstGeom prst="rect">
            <a:avLst/>
          </a:prstGeom>
          <a:solidFill>
            <a:srgbClr val="B5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73736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78308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主体运营范围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86860" y="1737360"/>
            <a:ext cx="783457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1724" y="178308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上海市云计算创新基地（国家级孵化器）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03120"/>
            <a:ext cx="3046780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4884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学术支持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86860" y="2103120"/>
            <a:ext cx="7834579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1724" y="214884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复旦大学住房政策研究中心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46888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51460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活动及运营载体支持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6860" y="2468880"/>
            <a:ext cx="783457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1724" y="251460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杨浦区科技企业联合会、科技企业服务中心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834640"/>
            <a:ext cx="3046780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288036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执行带客 / 销售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6860" y="2834640"/>
            <a:ext cx="7834579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1724" y="288036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同浦汇带客；园区负责销售部分与合同交割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20040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324612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人数 / 负责人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86860" y="3200400"/>
            <a:ext cx="783457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1724" y="324612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每场≤30人；负责人约50%；全年约600人次+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566160"/>
            <a:ext cx="3046780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61188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双会原则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86860" y="3566160"/>
            <a:ext cx="7834579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1724" y="361188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WAIC→3F；ChinaJoy→5F；具身/AIGC叠加；只取招商切片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3192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397764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外企 / 出海 / 领事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86860" y="3931920"/>
            <a:ext cx="783457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1724" y="397764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不承诺必带外企；出海另议；领事到访与挂牌均另计价且分性质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297680"/>
            <a:ext cx="3046780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34340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租金与付款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86860" y="4297680"/>
            <a:ext cx="7834579" cy="365760"/>
          </a:xfrm>
          <a:prstGeom prst="rect">
            <a:avLst/>
          </a:prstGeom>
          <a:solidFill>
            <a:srgbClr val="F2F0EA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1724" y="434340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不对赌；免租期1–3个月面议；付款50%+4×10%+10%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663440"/>
            <a:ext cx="3046780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4709160"/>
            <a:ext cx="29553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Microsoft YaHei"/>
              </a:rPr>
              <a:t>模板沿用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86860" y="4663440"/>
            <a:ext cx="7834579" cy="365760"/>
          </a:xfrm>
          <a:prstGeom prst="rect">
            <a:avLst/>
          </a:prstGeom>
          <a:solidFill>
            <a:srgbClr val="F8F7F3"/>
          </a:solidFill>
          <a:ln w="6350">
            <a:solidFill>
              <a:srgbClr val="E0D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41724" y="4709160"/>
            <a:ext cx="77431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Microsoft YaHei"/>
              </a:rPr>
              <a:t>扉页实景封面 · 米白底 · 金色点缀 · 五章结构 · 主题开场实景页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8686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Microsoft YaHei"/>
              </a:rPr>
              <a:t>上海创智汇 × 同浦汇 · 2026.08—2027.07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446520"/>
            <a:ext cx="16459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>
                <a:solidFill>
                  <a:srgbClr val="9A9A9A"/>
                </a:solidFill>
                <a:latin typeface="Microsoft YaHe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