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提交对象　上海同浦汇科技有限公司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1FF"/>
                </a:solidFill>
                <a:latin typeface="Microsoft YaHei"/>
              </a:rPr>
              <a:t>创智汇30场活动与科技企业服务中心筹备
业务承接合作策划案（复核定稿）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承接范围：30场可核验活动　＋　科技企业服务中心挂牌筹备
新赛道：智能建造 × 建筑产业出海　｜　政策包装：现代服务业 + 新一代信息技术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30场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年度活动包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30万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对园区打包价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≤30人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单场核验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19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≤30%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19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负责人占比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0999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39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90天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39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服中心筹备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36576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794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70/30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执行/接口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86C4"/>
                </a:solidFill>
                <a:latin typeface="Microsoft YaHei"/>
              </a:rPr>
              <a:t>上海市杨浦区科技企业服务中心　｜　联合 上海市杨浦区科技企业联合会
学术支持：复旦大学住房政策研究中心　｜　2026年9月1日　｜　周期 2026.08—2027.07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机密 · 仅供同浦汇合作沟通，不作为对园区/投资方的承诺函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昨天沟通后，需要立刻承接的两件事　｜　2026-08-31 赛道调整交流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赛道为什么改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1. 上周已定换赛道：由AI+IP转为建筑设计+智能建造，匹配同济设计与中建相关方主业。
2. 按「现代服务业+新一代信息技术」包装，科技赋能建筑，不与高新/载体申报本质冲突。
3. 目标不是招施工企业租办公室，而是做建筑产业出海集群。
4. 传统施工回款弱于AI赛道，按招租逻辑难过审、也难转化。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新方向怎么落地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1. 出海优先城市化率较低的一带一路、东南亚、中亚、非洲、中东。
2. 抓手：绿色低碳 + 机器人 + 模块化。
3. 展厅约500㎡做建筑出海主题展示。
4. 领事到访不纳入30场年包；合同口径已变、运营成本已发生。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不是替换同浦汇的园区入口地位，而是把执行和筹备接下来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C27C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247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30场活动全案执行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990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策划、档期、邀约协同、现场执行、月报、可核验交付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C27C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019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科技企业服务中心筹备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762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挂牌路径、制度人员、载体认定、创新券、高新SOP、展陈研学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C27C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79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新赛道叙事与审核材料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53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把昨日共识写成可过审一页纸 + 90天工作包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C27C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564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学术与白皮书协同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307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对接复旦大学住房政策研究中心，开题、发布与授牌预热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同浦汇管关系，服中心管交付；园区管销售促成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园区接口、在谈客户、带客名单协同、建群与回访台账、向园区转交促成线索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服中心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30场策划与现场执行、服中心挂牌筹备、政策申报材料、月报验收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联合会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联合协办、行业组织协同、活动背书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复旦住房中心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学术支持、白皮书、专家与行业数据、海外专题（按场次确认）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429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创智汇/园区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场地物业、导视、样板间、在谈名单、销售促成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4290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杨浦科创集团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空间业主；重大口径与场地条件确认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对园区报价不变　｜　对同浦汇把执行责任写清楚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工作包A　30场活动全案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周期：2026.08—2027.07　·　约每月2–3场
打包：30场 / 30万元（门票赞助可冲抵成本）
核验：每场≤30人，负责人≤30%，全年约600+
主线：智能建造能力 + 出海准备（国内可交付场）
付款：签约7日内50% + 四季度各10% + 年终10%
不含：出海专题、领事到访、挂牌仪式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工作包B　服中心筹备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90天完成挂牌材料、制度、2人配置
载体认定 + 创新券服务机构两项前置
高新辅导SOP（企业自行申报，不承诺获批）
500㎡建筑出海展陈大纲 + 零碳研学模型
联合复旦白皮书开题与授牌预热
筹备不另向同浦汇收费
政策收益：同浦汇38% / 服中心62%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活动结构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30场按六条线重排，服务新赛道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启动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5场　·　8月点火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赛道切换、渠道、金融、政府、进博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智能建造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7场　·　全年能力线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机器人、模块化、零碳、测绘、黑客松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政策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4场　·　申报入口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高新、创新券、YOUNG立方、冲刺营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出海准备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6场　·　国内可交付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案例、高校、华东华南、产业地图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52044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展示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5场　·　空间产品化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500㎡展厅、白皮书、研学、联展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52044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收官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3场　·　可核验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Demo Day、圆桌、年终验收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排期（上）· 2026.08—2026.12　共16场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每场≤30人　｜　负责人≤30%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188720"/>
                <a:gridCol w="4114800"/>
                <a:gridCol w="3931920"/>
              </a:tblGrid>
              <a:tr h="30659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月份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线条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活动名称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本场作用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E1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2026.08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赛道切换说明会 · 园区开放日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把新方向讲清楚，完成主业匹配叙事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E2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2026.08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中介渠道推广日（建造 / 园区）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点火带客，不谈租金对赌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E3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2026.08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五大行与资管对接日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面对施工企业支付能力弱的现实，先找金融出口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E4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2026.08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政府部门与载体沟通日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确认「科技赋能建筑」政策包装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E5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2026.08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进博绿色建造成果承接交流日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借势施工机器人 + 绿色低碳，不替代年包出海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2026.09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施工机器人与智能装备一日营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3F能力线：装备可见、可体验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2026.09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东南亚模块化建筑案例沙龙（国内场）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讲案例与供应链，不含领事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B1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2026.09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政策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智能建造企业高新认定路径沙龙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经营范围写入智能施工 / 绿色节能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2026.10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模块化 / 装配式建筑工作坊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可出口产品与就地建厂逻辑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D1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2026.10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展示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500㎡出海展厅共创工作坊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把展陈从概念落到平面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B2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2026.10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政策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创新券与数字化设计工具沙龙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服中心作为服务机构的入口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绿色低碳与零碳工地实务营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对接进博观察与越秀研学思路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B3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2026.11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政策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YOUNG立方 · 智能建造政策沙龙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活动经费申报的合规场次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A4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2026.12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智能测绘与数字设计对接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同济设计资源协同，不替代复旦住房政策线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0659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D2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展示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行业白皮书开题沙龙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联合复旦形成可传播文本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0660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2026.12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收官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智能建造年度 Demo Day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年度成果可核验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排期（下）· 2027.01—2027.07　共14场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每场≤30人　｜　负责人≤30%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188720"/>
                <a:gridCol w="4114800"/>
                <a:gridCol w="393192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月份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线条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活动名称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本场作用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A5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2027.01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建筑机器人场景体验日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3F体验与招商转化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C2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2027.01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高校成果转化 · 智能建造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复旦住房政策 + 同济设计双校协同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B4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政策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高企认定冲刺（智能施工专场）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企业自行申报，服中心辅导不承诺获批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D3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2027.02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展示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零碳体验馆研学方案工作坊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中小学生研学运营模型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A6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2027.03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建造科技黑客松（OPC超级个体）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保留科技社群带流，服务于新赛道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C3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2027.03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华东智能设计产业集群对接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华东产能与设计优势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F2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2027.03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收官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通往海外订单季度圆桌（国内）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订单逻辑研讨，领事另计价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C4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2027.04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华南制造基地联动对接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华东设计 × 华南制造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D4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2027.04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展示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新材料与绿色建材联展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5F展陈轮换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C5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2027.05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专精特新 · 建造科技路演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申报奖项节奏的企业侧入口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D5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2027.05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展示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展厅内容迭代与市集体验日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人气场，≤30人核验口径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C6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2027.06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出海准备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一带一路目标国产业地图沙龙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城市化率&lt;50%国家研究场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A7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2027.06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智能建造与智能家居交叉应用营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产品出口与场景验证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F3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2027.07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收官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年度收官 · 下一年度预热圆桌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验收30场 + 预热下一年度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单场可复制，转化不压到同浦汇一个人身上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T-14 策划邀约 → T-7 确认名单 → T-1 场地物料 → D日执行 → T+1~7 建群 / 回访摘要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≤30人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单场签到核验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≤30%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负责人占比上限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600+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全年触达人次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C27C"/>
                </a:solidFill>
                <a:latin typeface="Microsoft YaHei"/>
              </a:rPr>
              <a:t>月报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BAEA"/>
                </a:solidFill>
                <a:latin typeface="Microsoft YaHei"/>
              </a:rPr>
              <a:t>方案/签到/执行摘要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17520"/>
            <a:ext cx="11155680" cy="29260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C27C"/>
                </a:solidFill>
                <a:latin typeface="Microsoft YaHei"/>
              </a:rPr>
              <a:t>转化闭环（活动只对带到场负责，不对租金去化对赌）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到场 → 建群 → 看场 → 同浦汇回访 → 园区促成 → 复盘回流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另计价不进30万包：出海专题（10–20万/场或专项）· 领事到访（按场次）· 挂牌仪式（3万/个起）· 战略签约升级
同浦汇在闭环中多承担客户跟踪与回访台账；服中心重心放在下一场策划与现场。园区拿回访摘要即可，不要求逐户回访。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服中心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90天把科技企业服务中心筹备成可挂牌、可申报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D0–15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叙事与主体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统一新赛道一页纸；确认挂牌主体、2人配置、接待位/500㎡展区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4300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D16–45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制度与申报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402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服务制度、辅导SOP、载体认定材料、创新券机构、高新路径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D46–75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产品化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展陈大纲、零碳研学模型、白皮书开题、首批可辅导企业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143000"/>
            <a:ext cx="2743200" cy="30175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D76–90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可过审包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2402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给审核方初步方案、挂牌仪式报价（另计价）、Q4点火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8912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政策上限（测算，不是保底）：载体年上限110万｜活动YOUNG立方年上限200万｜十年三部分合计上限约6920万
前置条件：①项目成为经认定载体/成果转化服务平台　②服中心作为创新券服务机构
筹备不另向同浦汇收费；挂牌仪式另计价。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约6600㎡仍是创智汇，产品换成新赛道　｜　办公约3.3元/㎡/天　｜　物业约13.8元/㎡/月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C27C"/>
                </a:solidFill>
                <a:latin typeface="Microsoft YaHei"/>
              </a:rPr>
              <a:t>3F　约2850㎡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孵化器 + 办公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智能建造办公 / 装备体验 / 辅导接待 / OPC工位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C27C"/>
                </a:solidFill>
                <a:latin typeface="Microsoft YaHei"/>
              </a:rPr>
              <a:t>5F　约3670㎡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展厅 + 贸易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建筑出海展陈 / 模块化样品 / 新材料 / 培训沙龙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004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C27C"/>
                </a:solidFill>
                <a:latin typeface="Microsoft YaHei"/>
              </a:rPr>
              <a:t>专题展区　约500㎡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建筑产业出海主题展示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先做成可参观、可讲解、可研学的主题馆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8912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与招商的关系：租金约3.3元高于周边，故本方案不做租赁对赌、不做租赁必要性。活动任务是把对的人带到场、建群、看场。
待租约8间由园区销售闭环；佣金按2个月净租金（首年不重复）。建议园区给1–3个月免租，线下谈。
零碳体验馆可做成面向中小学的研学产品，形成不完全依赖补贴的运营入口。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新赛道仍然走科技企业服务，不另开一套「地产补贴」故事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对企业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· 先改经营范围：智能施工/绿色节能/数字化设计
· 企业自行申报高新，服中心提供辅导SOP
· 不承诺获批，成功费以到账为准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对载体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· 争取认定为成果转化服务平台/孵化基地
· 服中心申请成为创新券服务机构
· YOUNG立方活动按投入50%、年封顶200万申报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9728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对品牌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· 联合复旦发布智能建造/出海白皮书
· 战略合作签约+官方授牌（仪式另计价）
· 进博、领馆作为加购，不写进年包承诺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056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必须写进给审核方材料的三句话
1. 我们不是在招「付不起租金的施工队来租办公室」。
2. 我们是在用科技企业服务中心，把智能建造产品、模块化建筑和绿色低碳能力组织成可出海的集群。
3. 业主是杨浦科创集团；政府对接用科技与产业服务口径，不用「中建」名义。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对园区的报价一口价，付款只保留一套　｜　方案二已取消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9728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5F1FF"/>
                          </a:solidFill>
                          <a:latin typeface="Microsoft YaHei"/>
                        </a:defRPr>
                      </a:pPr>
                      <a:r>
                        <a:t>口径</a:t>
                      </a:r>
                    </a:p>
                  </a:txBody>
                  <a:tcPr anchor="ctr">
                    <a:solidFill>
                      <a:srgbClr val="2A1C5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活动年包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30场 / 30万元（固定执行费）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付款节点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签约后7日内50%启动款；Q3、Q4、次年Q1、次年Q2各10%；年终收官10%尾款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验收挂钩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季度场次完成度 + 月报验收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门票 / 赞助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可冲抵成本，不替代打包价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招商佣金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2个月净租金（首年不重复），由园区销售闭环触发</a:t>
                      </a:r>
                    </a:p>
                  </a:txBody>
                  <a:tcPr anchor="ctr">
                    <a:solidFill>
                      <a:srgbClr val="23174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服中心筹备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6BAEA"/>
                          </a:solidFill>
                          <a:latin typeface="Microsoft YaHei"/>
                        </a:defRPr>
                      </a:pPr>
                      <a:r>
                        <a:t>不另向同浦汇收取；向政策与园区要的是牌照与申报入口</a:t>
                      </a:r>
                    </a:p>
                  </a:txBody>
                  <a:tcPr anchor="ctr">
                    <a:solidFill>
                      <a:srgbClr val="271A4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结算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同浦汇保留接口价值，服中心按执行结算　｜　两套分成互不混用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440680" cy="32918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40680" cy="329184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活动年包内部结算（建议）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BAEA"/>
                </a:solidFill>
                <a:latin typeface="Microsoft YaHei"/>
              </a:rPr>
              <a:t>服中心　70%
策划、邀约协同、现场、月报、可核验交付
同浦汇　30%
园区接口、客户跟踪、回访台账、线索转交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政策收益分成（锁版）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6BAEA"/>
                </a:solidFill>
                <a:latin typeface="Microsoft YaHei"/>
              </a:rPr>
              <a:t>同浦汇　38%　｜　服中心　62%
以资金到账为准
十年上限测算≠保证到账
成功费不向企业承诺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091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给同浦汇的一句话：您继续做创智汇面前的招服入口和客户主人；30场能不能办完、服中心能不能挂上牌，由服中心按本方案承接交付。
这样您可以把精力放在回访和园区销售协同上，也有一份能交给审核方的执行答卷。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过审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下周就能带去审核方工程部门的材料包　｜　业主口径：杨浦科创集团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一页纸定位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智能建造×建筑产业出海，科技赋能，不是地产招租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30场总表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本PPT第7–8页 + Excel执行台账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服中心90天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挂牌、制度、载体、创新券四件套时间表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商务一页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30万、付款50+4×10+10、不做租金对赌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边界清单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出海/领事/挂牌另计价；不承诺外企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1FF"/>
                </a:solidFill>
                <a:latin typeface="Microsoft YaHei"/>
              </a:rPr>
              <a:t>复旦协同函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白皮书开题意向 + 授牌预热节奏（正式签约另走）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1FF"/>
                </a:solidFill>
                <a:latin typeface="Microsoft YaHei"/>
              </a:rPr>
              <a:t>请同浦汇确认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五件事确认后，7日内可启动　｜　并签署业务承接合作协议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1FF"/>
                </a:solidFill>
                <a:latin typeface="Microsoft YaHei"/>
              </a:rPr>
              <a:t>1. 同浦汇确认：承接范围（30场 + 服中心筹备）与不承接边界无异议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1FF"/>
                </a:solidFill>
                <a:latin typeface="Microsoft YaHei"/>
              </a:rPr>
              <a:t>2. 确认内部结算：活动年包70/30、政策收益38/62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1FF"/>
                </a:solidFill>
                <a:latin typeface="Microsoft YaHei"/>
              </a:rPr>
              <a:t>3. 确认8–9月前8场档期与场地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1FF"/>
                </a:solidFill>
                <a:latin typeface="Microsoft YaHei"/>
              </a:rPr>
              <a:t>4. 确认向审核方提交的业主口径（杨浦科创集团）与赛道叙事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27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1FF"/>
                </a:solidFill>
                <a:latin typeface="Microsoft YaHei"/>
              </a:rPr>
              <a:t>5. 签约后7日内启动款到位，T+14交付细化执行手册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86C4"/>
                </a:solidFill>
                <a:latin typeface="Microsoft YaHei"/>
              </a:rPr>
              <a:t>配套：执行台账.xlsx　｜　策划案.docx　｜　业务承接合作协议.docx（可直接签署）
联系人：高辰辰　15339617481　产业招服　｜　提出方：上海市杨浦区科技企业服务中心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86C4"/>
                </a:solidFill>
                <a:latin typeface="Microsoft YaHei"/>
              </a:rPr>
              <a:t>服中心 × 同浦汇 · 业务承接策划案（复核定稿）· 2026.09　　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