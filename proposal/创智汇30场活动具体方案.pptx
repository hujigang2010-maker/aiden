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9C27C"/>
                </a:solidFill>
                <a:latin typeface="Arial"/>
              </a:rPr>
              <a:t>WAIC 2026 ALIGNED  ·  EVENT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1FF"/>
                </a:solidFill>
                <a:latin typeface="Microsoft YaHei"/>
              </a:rPr>
              <a:t>创智汇 · 30场活动方案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9748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9C27C"/>
                </a:solidFill>
                <a:latin typeface="Microsoft YaHei"/>
              </a:rPr>
              <a:t>结合 WAIC 2026 完整议程升级　｜　智能伙伴 · 共创未来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54680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6BAEA"/>
                </a:solidFill>
                <a:latin typeface="Microsoft YaHei"/>
              </a:rPr>
              <a:t>总—分—总　｜　议程映射 · 分场策划 · 招商闭环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657600"/>
            <a:ext cx="2194560" cy="381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3977639"/>
            <a:ext cx="3474720" cy="21031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977639"/>
            <a:ext cx="64008" cy="210312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05655"/>
            <a:ext cx="310896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WAIC锚点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34839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主题：智能伙伴 共创未来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时间：7.17–7.20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三地四馆主会场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创智汇=杨浦承接会客厅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977639"/>
            <a:ext cx="3474720" cy="21031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3977639"/>
            <a:ext cx="64008" cy="210312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105655"/>
            <a:ext cx="310896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升级要点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434839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30场按议程赛道重命名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7月设WAIC UP!三日联动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Builders夜+AGI夜落地园区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会后全年赛道常态化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977639"/>
            <a:ext cx="3383280" cy="21031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3977639"/>
            <a:ext cx="64008" cy="210312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4105655"/>
            <a:ext cx="30175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执行方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434839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产业招服：同浦汇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协办：科技企业联合会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服务：科技企业服务中心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学术：复旦相关支持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WAIC AGENDA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总 · WAIC 2026议程 → 创智汇活动映射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01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280160"/>
            <a:ext cx="3028858" cy="365760"/>
          </a:xfrm>
          <a:prstGeom prst="rect">
            <a:avLst/>
          </a:prstGeom>
          <a:solidFill>
            <a:srgbClr val="2A1E55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316736"/>
            <a:ext cx="295570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WAIC/WAICA议程赛道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14658" y="1280160"/>
            <a:ext cx="3461552" cy="365760"/>
          </a:xfrm>
          <a:prstGeom prst="rect">
            <a:avLst/>
          </a:prstGeom>
          <a:solidFill>
            <a:srgbClr val="2A1E55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0378" y="1316736"/>
            <a:ext cx="338840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创智汇承接活动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6210" y="1280160"/>
            <a:ext cx="1947123" cy="365760"/>
          </a:xfrm>
          <a:prstGeom prst="rect">
            <a:avLst/>
          </a:prstGeom>
          <a:solidFill>
            <a:srgbClr val="2A1E55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1930" y="1316736"/>
            <a:ext cx="1873971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建议档期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23333" y="1280160"/>
            <a:ext cx="2379817" cy="365760"/>
          </a:xfrm>
          <a:prstGeom prst="rect">
            <a:avLst/>
          </a:prstGeom>
          <a:solidFill>
            <a:srgbClr val="2A1E55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69053" y="1316736"/>
            <a:ext cx="230666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招商价值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1645920"/>
            <a:ext cx="3028858" cy="45720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1682496"/>
            <a:ext cx="2955706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开幕主旨·智能伙伴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14658" y="1645920"/>
            <a:ext cx="3461552" cy="45720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60378" y="1682496"/>
            <a:ext cx="33884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①开年主题沙龙 + ②3 WAIC开放日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6210" y="1645920"/>
            <a:ext cx="1947123" cy="45720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1930" y="1682496"/>
            <a:ext cx="1873971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1月 / 7.17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23333" y="1645920"/>
            <a:ext cx="2379817" cy="45720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9053" y="1682496"/>
            <a:ext cx="2306665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定调获客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2103120"/>
            <a:ext cx="3028858" cy="45720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139696"/>
            <a:ext cx="2955706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Agent智能体/工具评测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14658" y="2103120"/>
            <a:ext cx="3461552" cy="45720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60378" y="2139696"/>
            <a:ext cx="33884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Agent搭建营、营销Agent营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6210" y="2103120"/>
            <a:ext cx="1947123" cy="45720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1930" y="2139696"/>
            <a:ext cx="1873971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2月 / 10月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23333" y="2103120"/>
            <a:ext cx="2379817" cy="45720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69053" y="2139696"/>
            <a:ext cx="2306665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Agent团队入驻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2560320"/>
            <a:ext cx="3028858" cy="45720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2596896"/>
            <a:ext cx="2955706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科学多模态智能体 / AI for Science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14658" y="2560320"/>
            <a:ext cx="3461552" cy="45720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60378" y="2596896"/>
            <a:ext cx="33884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多模态工作坊、成果转化日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76210" y="2560320"/>
            <a:ext cx="1947123" cy="45720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21930" y="2596896"/>
            <a:ext cx="1873971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3月 / 4月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23333" y="2560320"/>
            <a:ext cx="2379817" cy="45720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69053" y="2596896"/>
            <a:ext cx="2306665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科研转化落户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3017520"/>
            <a:ext cx="3028858" cy="45720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3054096"/>
            <a:ext cx="2955706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算力Infra / GPU集群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14658" y="3017520"/>
            <a:ext cx="3461552" cy="45720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60378" y="3054096"/>
            <a:ext cx="33884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火山引擎×算力实务营、三券沙龙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76210" y="3017520"/>
            <a:ext cx="1947123" cy="45720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21930" y="3054096"/>
            <a:ext cx="1873971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3月 / 11月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23333" y="3017520"/>
            <a:ext cx="2379817" cy="45720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69053" y="3054096"/>
            <a:ext cx="2306665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高算力企业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" y="3474720"/>
            <a:ext cx="3028858" cy="45720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3511296"/>
            <a:ext cx="2955706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具身智能空间交互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14658" y="3474720"/>
            <a:ext cx="3461552" cy="45720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60378" y="3511296"/>
            <a:ext cx="33884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具身智能体验日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76210" y="3474720"/>
            <a:ext cx="1947123" cy="45720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21930" y="3511296"/>
            <a:ext cx="1873971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4月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23333" y="3474720"/>
            <a:ext cx="2379817" cy="45720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69053" y="3511296"/>
            <a:ext cx="2306665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机器人/具身团队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" y="3931920"/>
            <a:ext cx="3028858" cy="45720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3968496"/>
            <a:ext cx="2955706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青年菁英 / Builders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14658" y="3931920"/>
            <a:ext cx="3461552" cy="45720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60378" y="3968496"/>
            <a:ext cx="33884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春黑客松、Builders Night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76210" y="3931920"/>
            <a:ext cx="1947123" cy="45720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21930" y="3968496"/>
            <a:ext cx="1873971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5月 / 7.17晚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23333" y="3931920"/>
            <a:ext cx="2379817" cy="45720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69053" y="3968496"/>
            <a:ext cx="2306665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青年创业转化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5800" y="4389120"/>
            <a:ext cx="3028858" cy="45720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4425696"/>
            <a:ext cx="2955706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AGI·治理·安全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14658" y="4389120"/>
            <a:ext cx="3461552" cy="45720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760378" y="4425696"/>
            <a:ext cx="33884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AGI之夜、治理沙龙、季度圆桌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76210" y="4389120"/>
            <a:ext cx="1947123" cy="45720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221930" y="4425696"/>
            <a:ext cx="1873971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2月/7.18/4月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23333" y="4389120"/>
            <a:ext cx="2379817" cy="45720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69053" y="4425696"/>
            <a:ext cx="2306665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高端研究型客户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5800" y="4846320"/>
            <a:ext cx="3028858" cy="45720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82896"/>
            <a:ext cx="2955706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内容创作（错位协同）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714658" y="4846320"/>
            <a:ext cx="3461552" cy="45720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760378" y="4882896"/>
            <a:ext cx="33884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AIGC特训、创作者首发、市集联展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176210" y="4846320"/>
            <a:ext cx="1947123" cy="45720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221930" y="4882896"/>
            <a:ext cx="1873971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全年D类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23333" y="4846320"/>
            <a:ext cx="2379817" cy="45720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69053" y="4882896"/>
            <a:ext cx="2306665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5F内容去化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DUAL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总 · 园区价值 × 招商价值（WAIC化）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02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80160"/>
            <a:ext cx="5212080" cy="4800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280160"/>
            <a:ext cx="64008" cy="4800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08176"/>
            <a:ext cx="48463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给园区的价值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737360"/>
            <a:ext cx="4800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把WAIC国家级议题变成园区可感知日常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7月联动抬升政府/媒体可见度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完成载体KPI与活动补贴基础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3F Agent/算力、5F内容双主题坐实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联合会+服务中心+复旦组合壁垒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80160"/>
            <a:ext cx="5120640" cy="4800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80160"/>
            <a:ext cx="64008" cy="480060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08176"/>
            <a:ext cx="475488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给招商的价值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737360"/>
            <a:ext cx="47091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大会与学术议程同频，客群更准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开放日+双夜形成72小时转化窗口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场中看场+7日逼单标准化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政策/算力礼包降低决策抗性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年触达900+，漏斗可量化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SIX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总 · 六大主题（WAIC对齐后）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03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25880"/>
            <a:ext cx="3520440" cy="21945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325880"/>
            <a:ext cx="64008" cy="219456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53896"/>
            <a:ext cx="315468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A. 智能体/多模态/算力训练　8场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7830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对齐Agent·科学智能体·Infra·具身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详见逐场执行卡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325880"/>
            <a:ext cx="3520440" cy="21945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325880"/>
            <a:ext cx="64008" cy="21945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453896"/>
            <a:ext cx="315468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B. 政策与治理沙龙　5场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7830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对齐智能伙伴·治理·三券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详见逐场执行卡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325880"/>
            <a:ext cx="3520440" cy="21945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325880"/>
            <a:ext cx="64008" cy="21945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453896"/>
            <a:ext cx="315468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C. 产业与科学对接　5场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78308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对齐AI for Science·集群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详见逐场执行卡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657600"/>
            <a:ext cx="3520440" cy="21945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657600"/>
            <a:ext cx="64008" cy="219456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85616"/>
            <a:ext cx="315468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D. AI内容与IP　4场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148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与官方创作者夜场错位协同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详见逐场执行卡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657600"/>
            <a:ext cx="3520440" cy="21945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657600"/>
            <a:ext cx="64008" cy="219456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785616"/>
            <a:ext cx="315468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E. WAIC联动大场　4场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1148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7月开放日+双夜+秋季嘉年华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详见逐场执行卡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3657600"/>
            <a:ext cx="3520440" cy="21945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1000" y="3657600"/>
            <a:ext cx="64008" cy="219456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3785616"/>
            <a:ext cx="315468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F. 出海/AGI/收官　4场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1148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会后延续与国际链接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详见逐场执行卡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30场总表（1–15）· WAIC对齐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04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234440"/>
            <a:ext cx="757214" cy="365760"/>
          </a:xfrm>
          <a:prstGeom prst="rect">
            <a:avLst/>
          </a:prstGeom>
          <a:solidFill>
            <a:srgbClr val="2A1E55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71016"/>
            <a:ext cx="68406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Microsoft YaHei"/>
              </a:rPr>
              <a:t>序号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3014" y="1234440"/>
            <a:ext cx="1298082" cy="365760"/>
          </a:xfrm>
          <a:prstGeom prst="rect">
            <a:avLst/>
          </a:prstGeom>
          <a:solidFill>
            <a:srgbClr val="2A1E55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88734" y="1271016"/>
            <a:ext cx="122493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Microsoft YaHei"/>
              </a:rPr>
              <a:t>WAIC赛道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1096" y="1234440"/>
            <a:ext cx="3677899" cy="365760"/>
          </a:xfrm>
          <a:prstGeom prst="rect">
            <a:avLst/>
          </a:prstGeom>
          <a:solidFill>
            <a:srgbClr val="2A1E55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6816" y="1271016"/>
            <a:ext cx="3604747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活动名称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8995" y="1234440"/>
            <a:ext cx="1514429" cy="365760"/>
          </a:xfrm>
          <a:prstGeom prst="rect">
            <a:avLst/>
          </a:prstGeom>
          <a:solidFill>
            <a:srgbClr val="2A1E55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715" y="1271016"/>
            <a:ext cx="1441277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33424" y="1234440"/>
            <a:ext cx="1730776" cy="365760"/>
          </a:xfrm>
          <a:prstGeom prst="rect">
            <a:avLst/>
          </a:prstGeom>
          <a:solidFill>
            <a:srgbClr val="2A1E55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79144" y="1271016"/>
            <a:ext cx="165762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Microsoft YaHei"/>
              </a:rPr>
              <a:t>场地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64200" y="1234440"/>
            <a:ext cx="1838949" cy="365760"/>
          </a:xfrm>
          <a:prstGeom prst="rect">
            <a:avLst/>
          </a:prstGeom>
          <a:solidFill>
            <a:srgbClr val="2A1E55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09920" y="1271016"/>
            <a:ext cx="1765797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Microsoft YaHei"/>
              </a:rPr>
              <a:t>招商作用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1600200"/>
            <a:ext cx="757214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1636776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43014" y="1600200"/>
            <a:ext cx="1298082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88734" y="1636776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智能伙伴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1096" y="1600200"/>
            <a:ext cx="367789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6816" y="1636776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智能伙伴·创智汇开年主题沙龙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8995" y="1600200"/>
            <a:ext cx="151442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715" y="1636776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1月下旬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33424" y="1600200"/>
            <a:ext cx="1730776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9144" y="1636776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5F沙龙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64200" y="1600200"/>
            <a:ext cx="183894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09920" y="1636776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开年集中获客与品牌定调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1901952"/>
            <a:ext cx="757214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1938528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43014" y="1901952"/>
            <a:ext cx="1298082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88734" y="1938528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Agent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1096" y="1901952"/>
            <a:ext cx="367789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86816" y="1938528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Agent智能体搭建一日营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18995" y="1901952"/>
            <a:ext cx="151442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4715" y="1938528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2月中旬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33424" y="1901952"/>
            <a:ext cx="1730776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79144" y="1938528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3F OPC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64200" y="1901952"/>
            <a:ext cx="183894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09920" y="1938528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Agent初创工位/单元转化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2203704"/>
            <a:ext cx="757214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2240280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43014" y="2203704"/>
            <a:ext cx="1298082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88734" y="2240280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多模态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1096" y="2203704"/>
            <a:ext cx="367789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86816" y="2240280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多模态智能体工作坊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18995" y="2203704"/>
            <a:ext cx="151442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64715" y="2240280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3月上旬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33424" y="2203704"/>
            <a:ext cx="1730776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79144" y="2240280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3F培训+直播间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64200" y="2203704"/>
            <a:ext cx="183894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09920" y="2240280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多模态应用团队入驻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" y="2505456"/>
            <a:ext cx="757214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2542032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43014" y="2505456"/>
            <a:ext cx="1298082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488734" y="2542032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算力Infra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1096" y="2505456"/>
            <a:ext cx="367789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86816" y="2542032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火山引擎×算力Infra实务营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18995" y="2505456"/>
            <a:ext cx="151442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64715" y="2542032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3月下旬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933424" y="2505456"/>
            <a:ext cx="1730776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79144" y="2542032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3F+云创基地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64200" y="2505456"/>
            <a:ext cx="183894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09920" y="2542032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高算力消耗型企业定向招商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5800" y="2807208"/>
            <a:ext cx="757214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" y="2843784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443014" y="2807208"/>
            <a:ext cx="1298082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488734" y="2843784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具身智能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1096" y="2807208"/>
            <a:ext cx="367789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86816" y="2843784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具身智能空间交互体验日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18995" y="2807208"/>
            <a:ext cx="151442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64715" y="2843784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4月上旬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933424" y="2807208"/>
            <a:ext cx="1730776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979144" y="2843784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5F展区角+3F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664200" y="2807208"/>
            <a:ext cx="183894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709920" y="2843784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具身/机器人团队看场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5800" y="3108960"/>
            <a:ext cx="757214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1520" y="3145536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443014" y="3108960"/>
            <a:ext cx="1298082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488734" y="3145536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AI内容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1096" y="3108960"/>
            <a:ext cx="367789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86816" y="3145536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AIGC微短剧制片特训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418995" y="3108960"/>
            <a:ext cx="151442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64715" y="3145536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5月上旬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933424" y="3108960"/>
            <a:ext cx="1730776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979144" y="3145536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3F直播间+5F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664200" y="3108960"/>
            <a:ext cx="183894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709920" y="3145536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厂牌/工作室入驻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85800" y="3410712"/>
            <a:ext cx="757214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31520" y="3447288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443014" y="3410712"/>
            <a:ext cx="1298082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488734" y="3447288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Builders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1096" y="3410712"/>
            <a:ext cx="367789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86816" y="3447288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OPC超级个体黑客松（春）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418995" y="3410712"/>
            <a:ext cx="151442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64715" y="3447288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5月中旬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933424" y="3410712"/>
            <a:ext cx="1730776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979144" y="3447288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3F整层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664200" y="3410712"/>
            <a:ext cx="183894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709920" y="3447288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获奖团队优先谈单元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85800" y="3712464"/>
            <a:ext cx="757214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31520" y="3749040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8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443014" y="3712464"/>
            <a:ext cx="1298082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488734" y="3749040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Agent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1096" y="3712464"/>
            <a:ext cx="367789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786816" y="3749040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AI营销Agent实战营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418995" y="3712464"/>
            <a:ext cx="151442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64715" y="3749040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10月中旬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933424" y="3712464"/>
            <a:ext cx="1730776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979144" y="3749040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3F培训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664200" y="3712464"/>
            <a:ext cx="183894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709920" y="3749040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营销型公司入驻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85800" y="4014216"/>
            <a:ext cx="757214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31520" y="4050792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9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443014" y="4014216"/>
            <a:ext cx="1298082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488734" y="4050792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智能伙伴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741096" y="4014216"/>
            <a:ext cx="367789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786816" y="4050792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YOUNG立方×智能伙伴政策沙龙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418995" y="4014216"/>
            <a:ext cx="151442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464715" y="4050792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1月中旬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933424" y="4014216"/>
            <a:ext cx="1730776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979144" y="4050792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5F沙龙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664200" y="4014216"/>
            <a:ext cx="183894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709920" y="4050792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内容/AI企业导入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85800" y="4315968"/>
            <a:ext cx="757214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31520" y="4352544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10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443014" y="4315968"/>
            <a:ext cx="1298082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488734" y="4352544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治理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741096" y="4315968"/>
            <a:ext cx="367789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786816" y="4352544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AI治理与可信智能体沙龙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418995" y="4315968"/>
            <a:ext cx="151442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464715" y="4352544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2月下旬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33424" y="4315968"/>
            <a:ext cx="1730776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979144" y="4352544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3F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664200" y="4315968"/>
            <a:ext cx="183894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709920" y="4352544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合规意识型企业信任入驻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85800" y="4617720"/>
            <a:ext cx="757214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31520" y="4654296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11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443014" y="4617720"/>
            <a:ext cx="1298082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488734" y="4654296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产业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741096" y="4617720"/>
            <a:ext cx="367789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786816" y="4654296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高企认定冲刺（AI企业专场）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418995" y="4617720"/>
            <a:ext cx="151442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464715" y="4654296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3月中旬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933424" y="4617720"/>
            <a:ext cx="1730776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979144" y="4654296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3F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664200" y="4617720"/>
            <a:ext cx="183894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709920" y="4654296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外区待认定AI企业带政策入驻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85800" y="4919472"/>
            <a:ext cx="757214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31520" y="4956048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12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443014" y="4919472"/>
            <a:ext cx="1298082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488734" y="4956048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产业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741096" y="4919472"/>
            <a:ext cx="367789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2786816" y="4956048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专精特新·AI应用培育路演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418995" y="4919472"/>
            <a:ext cx="151442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464715" y="4956048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6月上旬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933424" y="4919472"/>
            <a:ext cx="1730776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979144" y="4956048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5F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9664200" y="4919472"/>
            <a:ext cx="183894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9709920" y="4956048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成长型AI企业补位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685800" y="5221224"/>
            <a:ext cx="757214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31520" y="5257800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13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443014" y="5221224"/>
            <a:ext cx="1298082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488734" y="5257800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算力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741096" y="5221224"/>
            <a:ext cx="367789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2786816" y="5257800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创新券·算力券·模型券实务沙龙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418995" y="5221224"/>
            <a:ext cx="151442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464715" y="5257800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11月上旬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7933424" y="5221224"/>
            <a:ext cx="1730776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7979144" y="5257800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3F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9664200" y="5221224"/>
            <a:ext cx="183894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9709920" y="5257800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用券企业向园区聚集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685800" y="5522976"/>
            <a:ext cx="757214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31520" y="5559552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14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443014" y="5522976"/>
            <a:ext cx="1298082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488734" y="5559552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AI for Science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741096" y="5522976"/>
            <a:ext cx="367789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2786816" y="5559552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高校成果转化·AI for Science日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418995" y="5522976"/>
            <a:ext cx="151442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464715" y="5559552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4月中旬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7933424" y="5522976"/>
            <a:ext cx="1730776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7979144" y="5559552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3F+沙龙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9664200" y="5522976"/>
            <a:ext cx="183894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9709920" y="5559552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成果公司/实验室落户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85800" y="5824728"/>
            <a:ext cx="757214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31520" y="5861304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15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1443014" y="5824728"/>
            <a:ext cx="1298082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488734" y="5861304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产业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2741096" y="5824728"/>
            <a:ext cx="367789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2786816" y="5861304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汕头玩具×AIGC供应链对接会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6418995" y="5824728"/>
            <a:ext cx="151442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464715" y="5861304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4月下旬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7933424" y="5824728"/>
            <a:ext cx="1730776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7979144" y="5861304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5F玩具区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664200" y="5824728"/>
            <a:ext cx="183894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9709920" y="5861304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玩具企业展位去化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30场总表（16–30）· WAIC对齐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05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234440"/>
            <a:ext cx="757214" cy="365760"/>
          </a:xfrm>
          <a:prstGeom prst="rect">
            <a:avLst/>
          </a:prstGeom>
          <a:solidFill>
            <a:srgbClr val="2A1E55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71016"/>
            <a:ext cx="68406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Microsoft YaHei"/>
              </a:rPr>
              <a:t>序号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3014" y="1234440"/>
            <a:ext cx="1298082" cy="365760"/>
          </a:xfrm>
          <a:prstGeom prst="rect">
            <a:avLst/>
          </a:prstGeom>
          <a:solidFill>
            <a:srgbClr val="2A1E55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88734" y="1271016"/>
            <a:ext cx="122493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Microsoft YaHei"/>
              </a:rPr>
              <a:t>WAIC赛道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1096" y="1234440"/>
            <a:ext cx="3677899" cy="365760"/>
          </a:xfrm>
          <a:prstGeom prst="rect">
            <a:avLst/>
          </a:prstGeom>
          <a:solidFill>
            <a:srgbClr val="2A1E55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6816" y="1271016"/>
            <a:ext cx="3604747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Microsoft YaHei"/>
              </a:rPr>
              <a:t>活动名称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8995" y="1234440"/>
            <a:ext cx="1514429" cy="365760"/>
          </a:xfrm>
          <a:prstGeom prst="rect">
            <a:avLst/>
          </a:prstGeom>
          <a:solidFill>
            <a:srgbClr val="2A1E55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715" y="1271016"/>
            <a:ext cx="1441277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Microsoft YaHei"/>
              </a:rPr>
              <a:t>档期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33424" y="1234440"/>
            <a:ext cx="1730776" cy="365760"/>
          </a:xfrm>
          <a:prstGeom prst="rect">
            <a:avLst/>
          </a:prstGeom>
          <a:solidFill>
            <a:srgbClr val="2A1E55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79144" y="1271016"/>
            <a:ext cx="165762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Microsoft YaHei"/>
              </a:rPr>
              <a:t>场地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64200" y="1234440"/>
            <a:ext cx="1838949" cy="365760"/>
          </a:xfrm>
          <a:prstGeom prst="rect">
            <a:avLst/>
          </a:prstGeom>
          <a:solidFill>
            <a:srgbClr val="2A1E55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09920" y="1271016"/>
            <a:ext cx="1765797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Microsoft YaHei"/>
              </a:rPr>
              <a:t>招商作用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1600200"/>
            <a:ext cx="757214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1636776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43014" y="1600200"/>
            <a:ext cx="1298082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88734" y="1636776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产业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1096" y="1600200"/>
            <a:ext cx="367789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6816" y="1636776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扬州毛绒×数字人联名对接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8995" y="1600200"/>
            <a:ext cx="151442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715" y="1636776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6月中旬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33424" y="1600200"/>
            <a:ext cx="1730776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9144" y="1636776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5F毛绒区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64200" y="1600200"/>
            <a:ext cx="183894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09920" y="1636776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700㎡量级客户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1901952"/>
            <a:ext cx="757214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1938528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17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43014" y="1901952"/>
            <a:ext cx="1298082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88734" y="1938528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产业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1096" y="1901952"/>
            <a:ext cx="367789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86816" y="1938528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东莞潮玩品牌入沪推介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18995" y="1901952"/>
            <a:ext cx="151442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4715" y="1938528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8月上旬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33424" y="1901952"/>
            <a:ext cx="1730776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79144" y="1938528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5F潮玩区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64200" y="1901952"/>
            <a:ext cx="183894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09920" y="1938528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品牌展位/快闪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2203704"/>
            <a:ext cx="757214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2240280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18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43014" y="2203704"/>
            <a:ext cx="1298082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88734" y="2240280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内容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1096" y="2203704"/>
            <a:ext cx="367789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86816" y="2240280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IP授权×AI衍生交易撮合会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18995" y="2203704"/>
            <a:ext cx="151442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64715" y="2240280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9月中旬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33424" y="2203704"/>
            <a:ext cx="1730776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79144" y="2240280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5F展示中心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64200" y="2203704"/>
            <a:ext cx="183894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09920" y="2240280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IP/衍生品团队入驻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" y="2505456"/>
            <a:ext cx="757214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2542032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19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43014" y="2505456"/>
            <a:ext cx="1298082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488734" y="2542032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内容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1096" y="2505456"/>
            <a:ext cx="367789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86816" y="2542032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AI创作者内容首发①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18995" y="2505456"/>
            <a:ext cx="151442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64715" y="2542032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5月下旬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933424" y="2505456"/>
            <a:ext cx="1730776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79144" y="2542032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5F主展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64200" y="2505456"/>
            <a:ext cx="183894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09920" y="2542032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关联品牌问询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5800" y="2807208"/>
            <a:ext cx="757214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" y="2843784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20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443014" y="2807208"/>
            <a:ext cx="1298082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488734" y="2843784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内容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1096" y="2807208"/>
            <a:ext cx="367789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86816" y="2843784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潮玩×AIGC主题市集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18995" y="2807208"/>
            <a:ext cx="151442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64715" y="2843784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6月下旬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933424" y="2807208"/>
            <a:ext cx="1730776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979144" y="2843784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5F+公区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664200" y="2807208"/>
            <a:ext cx="183894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709920" y="2843784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摊主升级固定展位/办公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5800" y="3108960"/>
            <a:ext cx="757214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1520" y="3145536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21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443014" y="3108960"/>
            <a:ext cx="1298082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488734" y="3145536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内容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1096" y="3108960"/>
            <a:ext cx="367789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86816" y="3145536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沉浸式AI+IP联展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418995" y="3108960"/>
            <a:ext cx="151442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64715" y="3145536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8月中旬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933424" y="3108960"/>
            <a:ext cx="1730776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979144" y="3145536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5F展示中心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664200" y="3108960"/>
            <a:ext cx="183894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709920" y="3145536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闭幕酒会集中转化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85800" y="3410712"/>
            <a:ext cx="757214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31520" y="3447288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22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443014" y="3410712"/>
            <a:ext cx="1298082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488734" y="3447288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内容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1096" y="3410712"/>
            <a:ext cx="367789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86816" y="3447288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AI创作者内容首发②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418995" y="3410712"/>
            <a:ext cx="151442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64715" y="3447288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10月下旬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933424" y="3410712"/>
            <a:ext cx="1730776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979144" y="3447288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5F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664200" y="3410712"/>
            <a:ext cx="183894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709920" y="3447288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旺季补位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85800" y="3712464"/>
            <a:ext cx="757214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31520" y="3749040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23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443014" y="3712464"/>
            <a:ext cx="1298082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488734" y="3749040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WAIC主会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1096" y="3712464"/>
            <a:ext cx="367789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786816" y="3749040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WAIC UP! 创智汇「智能伙伴」开放日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418995" y="3712464"/>
            <a:ext cx="151442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64715" y="3749040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7月17日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933424" y="3712464"/>
            <a:ext cx="1730776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979144" y="3749040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3F+5F整区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664200" y="3712464"/>
            <a:ext cx="183894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709920" y="3749040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大会流量导入园区看场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85800" y="4014216"/>
            <a:ext cx="757214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31520" y="4050792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24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443014" y="4014216"/>
            <a:ext cx="1298082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488734" y="4050792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Builders夜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741096" y="4014216"/>
            <a:ext cx="367789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786816" y="4050792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WAIC UP! AI Builders Night·建造者之夜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418995" y="4014216"/>
            <a:ext cx="151442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464715" y="4050792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7月17日晚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933424" y="4014216"/>
            <a:ext cx="1730776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979144" y="4050792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5F主厅+露台/沙龙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664200" y="4014216"/>
            <a:ext cx="183894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709920" y="4050792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建造者当场看3F单元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85800" y="4315968"/>
            <a:ext cx="757214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31520" y="4352544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25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443014" y="4315968"/>
            <a:ext cx="1298082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488734" y="4352544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AGI夜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741096" y="4315968"/>
            <a:ext cx="367789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786816" y="4352544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WAIC UP! 通往AGI之夜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418995" y="4315968"/>
            <a:ext cx="151442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464715" y="4352544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7月18日晚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33424" y="4315968"/>
            <a:ext cx="1730776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979144" y="4352544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5F圆桌+学术酒吧分区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664200" y="4315968"/>
            <a:ext cx="183894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709920" y="4352544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高端涉外/研究型企业入驻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85800" y="4617720"/>
            <a:ext cx="757214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31520" y="4654296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26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443014" y="4617720"/>
            <a:ext cx="1298082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488734" y="4654296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青年菁英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741096" y="4617720"/>
            <a:ext cx="367789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786816" y="4654296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创智汇秋季潮玩×AI嘉年华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418995" y="4617720"/>
            <a:ext cx="151442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464715" y="4654296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10月上旬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933424" y="4617720"/>
            <a:ext cx="1730776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979144" y="4654296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5F+公区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664200" y="4617720"/>
            <a:ext cx="183894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709920" y="4654296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集中签约展位/办公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85800" y="4919472"/>
            <a:ext cx="757214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31520" y="4956048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27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443014" y="4919472"/>
            <a:ext cx="1298082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488734" y="4956048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出海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741096" y="4919472"/>
            <a:ext cx="367789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2786816" y="4956048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AI出海推介与国际买家团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418995" y="4919472"/>
            <a:ext cx="151442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464715" y="4956048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9月下旬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933424" y="4919472"/>
            <a:ext cx="1730776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979144" y="4956048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5F+培训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9664200" y="4919472"/>
            <a:ext cx="183894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9709920" y="4956048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出海需求企业入驻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685800" y="5221224"/>
            <a:ext cx="757214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31520" y="5257800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28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443014" y="5221224"/>
            <a:ext cx="1298082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488734" y="5257800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AGI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741096" y="5221224"/>
            <a:ext cx="367789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2786816" y="5257800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通往AGI季度圆桌①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418995" y="5221224"/>
            <a:ext cx="151442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464715" y="5257800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4月下旬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7933424" y="5221224"/>
            <a:ext cx="1730776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7979144" y="5257800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5F沙龙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9664200" y="5221224"/>
            <a:ext cx="183894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9709920" y="5257800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研究型/模型团队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685800" y="5522976"/>
            <a:ext cx="757214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31520" y="5559552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29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443014" y="5522976"/>
            <a:ext cx="1298082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488734" y="5559552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领事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741096" y="5522976"/>
            <a:ext cx="367789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2786816" y="5559552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国别会客厅·AI合作领事专题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418995" y="5522976"/>
            <a:ext cx="151442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464715" y="5559552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11月中旬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7933424" y="5522976"/>
            <a:ext cx="1730776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7979144" y="5559552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会客厅/5F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9664200" y="5522976"/>
            <a:ext cx="1838949" cy="301752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9709920" y="5559552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涉外/出海企业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85800" y="5824728"/>
            <a:ext cx="757214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31520" y="5861304"/>
            <a:ext cx="684062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30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1443014" y="5824728"/>
            <a:ext cx="1298082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488734" y="5861304"/>
            <a:ext cx="122493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智能伙伴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2741096" y="5824728"/>
            <a:ext cx="367789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2786816" y="5861304"/>
            <a:ext cx="360474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5F1FF"/>
                </a:solidFill>
                <a:latin typeface="Microsoft YaHei"/>
              </a:rPr>
              <a:t>创智汇AI年度Demo Day·智能伙伴收官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6418995" y="5824728"/>
            <a:ext cx="151442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464715" y="5861304"/>
            <a:ext cx="144127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12月上旬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7933424" y="5824728"/>
            <a:ext cx="1730776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7979144" y="5861304"/>
            <a:ext cx="1657624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5F主展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664200" y="5824728"/>
            <a:ext cx="1838949" cy="301752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9709920" y="5861304"/>
            <a:ext cx="1765797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1FF"/>
                </a:solidFill>
                <a:latin typeface="Microsoft YaHei"/>
              </a:rPr>
              <a:t>集中签约与媒体背书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WAIC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分 · WAIC联动精讲｜WAIC UP! 创智汇「智能伙伴」开放日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06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298448"/>
            <a:ext cx="10332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9C27C"/>
                </a:solidFill>
                <a:latin typeface="Microsoft YaHei"/>
              </a:rPr>
              <a:t>7月17日　｜　3F+5F整区　｜　1天（10:00–17:00）　｜　对齐：WAIC主会　｜　我方6+园区5+服务中心2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548640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51206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5074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10:00 开幕致辞（联合会+同浦汇）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10:30 WAIC主题速递与园区承接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11:30 空间开放参观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14:00 Agent/内容双展台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15:30 政策礼包发布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16:30 意向洽谈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965960"/>
            <a:ext cx="480060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2093976"/>
            <a:ext cx="44348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423160"/>
            <a:ext cx="4389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嘉宾：参展回流嘉宾、媒体、企业、高校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形式：开放日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落位：签到→主区→看场→洽谈角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069080"/>
            <a:ext cx="480060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4197096"/>
            <a:ext cx="44348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价值链接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52628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园区：WAIC日间散场承接、杨浦可见度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招商：大会流量导入园区看场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WAIC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分 · WAIC联动精讲｜WAIC UP! AI Builders Night·建造者之夜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07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298448"/>
            <a:ext cx="10332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9C27C"/>
                </a:solidFill>
                <a:latin typeface="Microsoft YaHei"/>
              </a:rPr>
              <a:t>7月17日晚　｜　5F主厅+露台/沙龙　｜　18:30–21:30　｜　对齐：Builders夜　｜　我方5+园区3+联合会2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548640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51206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5074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18:30 签到·名牌「我正在造的AI」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18:40 致辞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18:50 闪电演讲×4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19:40 1分钟开放麦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20:10 AMA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20:40 投资人蹲项目区+看场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965960"/>
            <a:ext cx="480060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2093976"/>
            <a:ext cx="44348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423160"/>
            <a:ext cx="4389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嘉宾：创业者、开发者、投资人、开源Maintainer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形式：夜场社交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落位：签到→主区→看场→洽谈角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069080"/>
            <a:ext cx="480060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4197096"/>
            <a:ext cx="44348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价值链接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52628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园区：对齐北外滩双夜Day1逻辑，落位创智汇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招商：建造者当场看3F单元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WAIC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分 · WAIC联动精讲｜WAIC UP! 通往AGI之夜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08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298448"/>
            <a:ext cx="10332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9C27C"/>
                </a:solidFill>
                <a:latin typeface="Microsoft YaHei"/>
              </a:rPr>
              <a:t>7月18日晚　｜　5F圆桌+学术酒吧分区　｜　19:00–21:30　｜　对齐：AGI夜　｜　我方4+园区2+复旦2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548640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51206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5074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19:00 复旦致辞定调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19:10 无PPT圆桌：通往AGI走到哪了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20:10 三桌围炉（模型/智能体/科学与治理）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20:40 辩题投票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21:00 深度社交+精品看场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965960"/>
            <a:ext cx="480060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2093976"/>
            <a:ext cx="44348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423160"/>
            <a:ext cx="4389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嘉宾：复旦学者、大模型负责人、Agent创始人、治理学者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形式：学术夜场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落位：签到→主区→看场→洽谈角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069080"/>
            <a:ext cx="480060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4197096"/>
            <a:ext cx="44348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价值链接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52628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园区：对齐WAICA思辨+复旦学术支持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招商：高端涉外/研究型企业入驻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THEME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分 · 主题策划｜智能体/多模态/算力训练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09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80160"/>
            <a:ext cx="3657600" cy="4800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280160"/>
            <a:ext cx="64008" cy="4800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08176"/>
            <a:ext cx="32918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定位与WAIC适配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737360"/>
            <a:ext cx="32461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场次：8场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适配：对齐Agent·科学智能体·Infra·具身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代表场：智能伙伴·创智汇开年主题沙龙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WAIC锚点：智能伙伴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统一：签到→内容→看场→意向→回访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280160"/>
            <a:ext cx="6583680" cy="4800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1280160"/>
            <a:ext cx="64008" cy="4800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1408176"/>
            <a:ext cx="62179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标准行程模板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737360"/>
            <a:ext cx="61722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时长：2.5小时｜形式：主题沙龙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嘉宾：联合会领导、AI企业代表、服务中心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行程：18:30 签到参观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行程：19:00 WAIC主题年度解读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行程：19:30 园区AI+内容定位发布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行程：20:10 圆桌：智能伙伴如何落杨浦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行程：20:40 看场+意向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人力：我方3+园区2+联合会1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THEME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分 · 主题策划｜政策与治理沙龙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10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80160"/>
            <a:ext cx="3657600" cy="4800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280160"/>
            <a:ext cx="64008" cy="48006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08176"/>
            <a:ext cx="32918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定位与WAIC适配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737360"/>
            <a:ext cx="32461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场次：5场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适配：对齐智能伙伴·治理·三券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代表场：YOUNG立方×智能伙伴政策沙龙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WAIC锚点：智能伙伴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统一：签到→内容→看场→意向→回访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280160"/>
            <a:ext cx="6583680" cy="4800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1280160"/>
            <a:ext cx="64008" cy="4800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1408176"/>
            <a:ext cx="62179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标准行程模板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737360"/>
            <a:ext cx="61722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时长：2.5小时｜形式：沙龙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嘉宾：区政策宣讲、服务中心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行程：政策要点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行程：WAIC主题与园区礼包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行程：适用画像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行程：诊断预约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行程：看场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人力：我方2+园区2+服务中心2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THEME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分 · 主题策划｜产业与科学对接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11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80160"/>
            <a:ext cx="3657600" cy="4800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280160"/>
            <a:ext cx="64008" cy="480060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08176"/>
            <a:ext cx="32918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定位与WAIC适配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737360"/>
            <a:ext cx="32461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场次：5场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适配：对齐AI for Science·集群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代表场：高校成果转化·AI for Science日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WAIC锚点：AI for Science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统一：签到→内容→看场→意向→回访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280160"/>
            <a:ext cx="6583680" cy="4800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1280160"/>
            <a:ext cx="64008" cy="4800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1408176"/>
            <a:ext cx="62179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标准行程模板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737360"/>
            <a:ext cx="61722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时长：半天｜形式：对接日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嘉宾：复旦/同济技术转移、教授团队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行程：成果路演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行程：科学智能体场景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行程：园区承接方案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行程：看孵化单元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行程：转化落位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人力：我方3+园区2+高校2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THEME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分 · 主题策划｜AI内容与IP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12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80160"/>
            <a:ext cx="3657600" cy="4800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280160"/>
            <a:ext cx="64008" cy="480060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08176"/>
            <a:ext cx="32918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定位与WAIC适配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737360"/>
            <a:ext cx="32461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场次：4场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适配：与官方创作者夜场错位协同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代表场：AI创作者内容首发①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WAIC锚点：内容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统一：签到→内容→看场→意向→回访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280160"/>
            <a:ext cx="6583680" cy="4800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1280160"/>
            <a:ext cx="64008" cy="4800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1408176"/>
            <a:ext cx="62179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标准行程模板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737360"/>
            <a:ext cx="61722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时长：3小时｜形式：发布会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嘉宾：创作者、媒体、渠道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行程：揭幕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行程：发布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行程：签售快闪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行程：媒体专访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行程：招商通道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人力：我方4+园区3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THEME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分 · 主题策划｜WAIC联动大场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13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80160"/>
            <a:ext cx="3657600" cy="4800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280160"/>
            <a:ext cx="64008" cy="480060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08176"/>
            <a:ext cx="32918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定位与WAIC适配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737360"/>
            <a:ext cx="32461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场次：4场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适配：7月开放日+双夜+秋季嘉年华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代表场：WAIC UP! 创智汇「智能伙伴」开放日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WAIC锚点：WAIC主会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统一：签到→内容→看场→意向→回访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280160"/>
            <a:ext cx="6583680" cy="4800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1280160"/>
            <a:ext cx="64008" cy="4800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1408176"/>
            <a:ext cx="62179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标准行程模板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737360"/>
            <a:ext cx="61722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时长：1天（10:00–17:00）｜形式：开放日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嘉宾：参展回流嘉宾、媒体、企业、高校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行程：10:00 开幕致辞（联合会+同浦汇）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行程：10:30 WAIC主题速递与园区承接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行程：11:30 空间开放参观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行程：14:00 Agent/内容双展台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行程：15:30 政策礼包发布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人力：我方6+园区5+服务中心2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THEME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分 · 主题策划｜出海/AGI/收官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14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80160"/>
            <a:ext cx="3657600" cy="4800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280160"/>
            <a:ext cx="64008" cy="4800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08176"/>
            <a:ext cx="32918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定位与WAIC适配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737360"/>
            <a:ext cx="32461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场次：4场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适配：会后延续与国际链接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代表场：AI出海推介与国际买家团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WAIC锚点：出海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统一：签到→内容→看场→意向→回访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280160"/>
            <a:ext cx="6583680" cy="4800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1280160"/>
            <a:ext cx="64008" cy="4800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1408176"/>
            <a:ext cx="62179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标准行程模板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737360"/>
            <a:ext cx="61722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时长：1天｜形式：买家团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嘉宾：海外买家、跨境平台、出海顾问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行程：出海路径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行程：买家需求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行程：一对一洽谈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行程：订单意向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行程：办公/展位捆绑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人力：我方5+园区2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01　智能伙伴·创智汇开年主题沙龙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15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WAIC赛道：智能伙伴　｜　1月下旬　｜　5F沙龙　｜　2.5小时　｜　主题沙龙　｜　我方3+园区2+联合会1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18:30 签到参观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19:00 WAIC主题年度解读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19:30 园区AI+内容定位发布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20:10 圆桌：智能伙伴如何落杨浦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20:40 看场+意向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嘉宾：联合会领导、AI企业代表、服务中心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形式：主题沙龙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场地：5F沙龙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档期：1月下旬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把WAIC年度主题转化为园区主叙事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开年集中获客与品牌定调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02　Agent智能体搭建一日营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16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WAIC赛道：Agent　｜　2月中旬　｜　3F OPC　｜　1天　｜　实训营　｜　我方3+园区2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09:30 签到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10:00 Agent工作流拆解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13:30 低代码实操（对齐MCP工具调用）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16:00 Demo路演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16:40 看场逼单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嘉宾：Agent工程师、开源Maintainer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形式：实训营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场地：3F OPC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档期：2月中旬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对齐WAICA Agent/工具评测赛道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Agent初创工位/单元转化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03　多模态智能体工作坊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17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WAIC赛道：多模态　｜　3月上旬　｜　3F培训+直播间　｜　1天　｜　工作坊　｜　我方4+园区2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多模态案例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视觉-语言实操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行业场景共创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作品评审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政策礼包+看场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嘉宾：多模态研究者、应用厂商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形式：工作坊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场地：3F培训+直播间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档期：3月上旬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承接WAICA「科学多模态智能体」议题落地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多模态应用团队入驻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04　火山引擎×算力Infra实务营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18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WAIC赛道：算力Infra　｜　3月下旬　｜　3F+云创基地　｜　1天　｜　厂商联训　｜　我方3+园区2+厂商2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算力政策包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代金券/折扣实操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集群调度案例（呼应WAIC Infra）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一对一诊断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入驻捆绑云资源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嘉宾：火山引擎讲师、云计算创新基地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形式：厂商联训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场地：3F+云创基地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档期：3月下旬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国级孵化器+专有算力包兑现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高算力消耗型企业定向招商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05　具身智能空间交互体验日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19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WAIC赛道：具身智能　｜　4月上旬　｜　5F展区角+3F　｜　半天　｜　体验日　｜　我方3+园区2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具身演示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空间交互讲解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场景清单对接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5F应用场景踩点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落位洽谈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嘉宾：机器人/具身团队、高校实验室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形式：体验日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场地：5F展区角+3F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档期：4月上旬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对齐WAICA具身智能空间交互工作坊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具身/机器人团队看场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06　AIGC微短剧制片特训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20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WAIC赛道：AI内容　｜　5月上旬　｜　3F直播间+5F　｜　1天　｜　特训营　｜　我方4+园区2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YOUNG立方政策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AIGC制片流程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脚本工作坊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优秀作品路演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5F场景看场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嘉宾：微短剧导演、平台方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形式：特训营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场地：3F直播间+5F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档期：5月上旬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内容赛道+官方创作者夜场错位协同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厂牌/工作室入驻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07　OPC超级个体黑客松（春）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21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WAIC赛道：Builders　｜　5月中旬　｜　3F整层　｜　1.5天　｜　黑客松　｜　我方5+园区3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开题组队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封闭开发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路演决赛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入驻礼包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一对一看场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嘉宾：评委×3、投资人×2、云厂商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形式：黑客松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场地：3F整层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档期：5月中旬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青年菁英/Builders氛围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获奖团队优先谈单元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08　AI营销Agent实战营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22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WAIC赛道：Agent　｜　10月中旬　｜　3F培训　｜　半天　｜　实战营　｜　我方3+园区1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投放策略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Agent自动化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素材AIGC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复盘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服务包转化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嘉宾：投放操盘手、Agent产品经理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形式：实战营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场地：3F培训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档期：10月中旬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企业服务粘性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营销型公司入驻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09　YOUNG立方×智能伙伴政策沙龙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23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WAIC赛道：智能伙伴　｜　1月中旬　｜　5F沙龙　｜　2.5小时　｜　沙龙　｜　我方2+园区2+服务中心2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政策要点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WAIC主题与园区礼包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适用画像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诊断预约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嘉宾：区政策宣讲、服务中心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形式：沙龙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场地：5F沙龙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档期：1月中旬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政策前置+主题统一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内容/AI企业导入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10　AI治理与可信智能体沙龙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24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WAIC赛道：治理　｜　2月下旬　｜　3F　｜　2小时　｜　沙龙　｜　我方2+服务中心2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全球治理框架速递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企业合规清单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案例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问答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入驻服务对接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嘉宾：治理学者、合规顾问、企业法务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形式：沙龙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场地：3F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档期：2月下旬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呼应WAIC全球AI治理高级别会议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合规意识型企业信任入驻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11　高企认定冲刺（AI企业专场）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25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WAIC赛道：产业　｜　3月中旬　｜　3F　｜　半天　｜　辅导会　｜　我方2+服务中心3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条件拆解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AI企业材料要点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初筛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辅导套餐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入驻激励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嘉宾：高企辅导、财税顾问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形式：辅导会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场地：3F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档期：3月中旬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在园资质提升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外区待认定AI企业带政策入驻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12　专精特新·AI应用培育路演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26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WAIC赛道：产业　｜　6月上旬　｜　5F　｜　半天　｜　路演　｜　我方3+园区2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梯度政策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企业路演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点评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金融对接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嘉宾：评审顾问、银行、基金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形式：路演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场地：5F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档期：6月上旬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优质企业筛选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成长型AI企业补位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13　创新券·算力券·模型券实务沙龙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27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WAIC赛道：算力　｜　11月上旬　｜　3F　｜　2小时　｜　实务沙龙　｜　我方2+服务中心2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三券规则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核销实操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案例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开户引导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入驻转化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嘉宾：创新券平台、云厂商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形式：实务沙龙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场地：3F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档期：11月上旬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服务机构KPI与核销流水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用券企业向园区聚集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14　高校成果转化·AI for Science日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28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WAIC赛道：AI for Science　｜　4月中旬　｜　3F+沙龙　｜　半天　｜　对接日　｜　我方3+园区2+高校2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成果路演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科学智能体场景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园区承接方案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看孵化单元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转化落位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嘉宾：复旦/同济技术转移、教授团队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形式：对接日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场地：3F+沙龙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档期：4月中旬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对齐WAICA科学多模态/AI for Science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成果公司/实验室落户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15　汕头玩具×AIGC供应链对接会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29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WAIC赛道：产业　｜　4月下旬　｜　5F玩具区　｜　半天　｜　对接会　｜　我方3+园区2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集群介绍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AIGC设计提效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供需对接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展位参观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报价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嘉宾：汕头商协会、品牌采购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形式：对接会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场地：5F玩具区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档期：4月下旬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5F集群填充+AI赋能传统产业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玩具企业展位去化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16　扬州毛绒×数字人联名对接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30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WAIC赛道：产业　｜　6月中旬　｜　5F毛绒区　｜　半天　｜　对接会　｜　我方3+园区2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联名模式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租金/扣点测算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MOU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跟进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嘉宾：扬州集群、数字人厂商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形式：对接会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场地：5F毛绒区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档期：6月中旬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毛绒集群落地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700㎡量级客户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17　东莞潮玩品牌入沪推介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31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WAIC赛道：产业　｜　8月上旬　｜　5F潮玩区　｜　半天　｜　推介会　｜　我方3+园区2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上海渠道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5F落位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联名活动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定金意向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嘉宾：潮玩品牌、渠道商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形式：推介会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场地：5F潮玩区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档期：8月上旬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潮玩内容填充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品牌展位/快闪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18　IP授权×AI衍生交易撮合会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32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WAIC赛道：内容　｜　9月中旬　｜　5F展示中心　｜　1天　｜　撮合会　｜　我方4+园区2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IP路演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AI衍生专题桌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一对一撮合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成交看板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落户激励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嘉宾：IP方、被授权商、律师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形式：撮合会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场地：5F展示中心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档期：9月中旬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IP交易+AI衍生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IP/衍生品团队入驻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19　AI创作者内容首发①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33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WAIC赛道：内容　｜　5月下旬　｜　5F主展　｜　3小时　｜　发布会　｜　我方4+园区3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揭幕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发布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签售快闪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媒体专访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招商通道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嘉宾：创作者、媒体、渠道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形式：发布会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场地：5F主展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档期：5月下旬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与官方创作者之夜错位：园区做「可落位」首发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关联品牌问询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20　潮玩×AIGC主题市集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34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WAIC赛道：内容　｜　6月下旬　｜　5F+公区　｜　2天　｜　市集　｜　我方5+园区4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布摊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开市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AIGC互动打卡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夜间场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优质摊主转正谈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嘉宾：摊主×40、达人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形式：市集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场地：5F+公区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档期：6月下旬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人气与经营收入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摊主升级固定展位/办公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21　沉浸式AI+IP联展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35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WAIC赛道：内容　｜　8月中旬　｜　5F展示中心　｜　7–10天　｜　联展　｜　我方4+园区3+外包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布展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开幕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预约观展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教育场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闭幕招商酒会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嘉宾：联合IP×5、文旅渠道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形式：联展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场地：5F展示中心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档期：8月中旬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长期人流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闭幕酒会集中转化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22　AI创作者内容首发②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36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WAIC赛道：内容　｜　10月下旬　｜　5F　｜　3小时　｜　发布会　｜　我方4+园区3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发布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双十一预售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渠道对接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年框意向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嘉宾：IP方、渠道、媒体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形式：发布会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场地：5F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档期：10月下旬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下半年内容高峰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旺季补位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23　WAIC UP! 创智汇「智能伙伴」开放日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37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WAIC赛道：WAIC主会　｜　7月17日　｜　3F+5F整区　｜　1天（10:00–17:00）　｜　开放日　｜　我方6+园区5+服务中心2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10:00 开幕致辞（联合会+同浦汇）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10:30 WAIC主题速递与园区承接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11:30 空间开放参观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14:00 Agent/内容双展台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15:30 政策礼包发布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16:30 意向洽谈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嘉宾：参展回流嘉宾、媒体、企业、高校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形式：开放日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场地：3F+5F整区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档期：7月17日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WAIC日间散场承接、杨浦可见度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大会流量导入园区看场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24　WAIC UP! AI Builders Night·建造者之夜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38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WAIC赛道：Builders夜　｜　7月17日晚　｜　5F主厅+露台/沙龙　｜　18:30–21:30　｜　夜场社交　｜　我方5+园区3+联合会2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18:30 签到·名牌「我正在造的AI」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18:40 致辞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18:50 闪电演讲×4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19:40 1分钟开放麦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20:10 AMA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20:40 投资人蹲项目区+看场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嘉宾：创业者、开发者、投资人、开源Maintainer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形式：夜场社交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场地：5F主厅+露台/沙龙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档期：7月17日晚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对齐北外滩双夜Day1逻辑，落位创智汇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建造者当场看3F单元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25　WAIC UP! 通往AGI之夜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39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WAIC赛道：AGI夜　｜　7月18日晚　｜　5F圆桌+学术酒吧分区　｜　19:00–21:30　｜　学术夜场　｜　我方4+园区2+复旦2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19:00 复旦致辞定调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19:10 无PPT圆桌：通往AGI走到哪了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20:10 三桌围炉（模型/智能体/科学与治理）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20:40 辩题投票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21:00 深度社交+精品看场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嘉宾：复旦学者、大模型负责人、Agent创始人、治理学者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形式：学术夜场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场地：5F圆桌+学术酒吧分区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档期：7月18日晚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对齐WAICA思辨+复旦学术支持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高端涉外/研究型企业入驻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26　创智汇秋季潮玩×AI嘉年华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40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WAIC赛道：青年菁英　｜　10月上旬　｜　5F+公区　｜　2天　｜　嘉年华　｜　我方8+园区6+外包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开幕秀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市集+展洽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AI互动赛事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夜间场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签约仪式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嘉宾：潮玩品牌、达人、赞助商、AI创作者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形式：嘉年华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场地：5F+公区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档期：10月上旬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秋季品牌大事件、WAIC精神延续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集中签约展位/办公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27　AI出海推介与国际买家团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41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WAIC赛道：出海　｜　9月下旬　｜　5F+培训　｜　1天　｜　买家团　｜　我方5+园区2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出海路径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买家需求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一对一洽谈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订单意向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办公/展位捆绑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嘉宾：海外买家、跨境平台、出海顾问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形式：买家团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场地：5F+培训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档期：9月下旬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出海服务闭环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出海需求企业入驻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28　通往AGI季度圆桌①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42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WAIC赛道：AGI　｜　4月下旬　｜　5F沙龙　｜　2.5小时　｜　圆桌　｜　我方3+园区1+学术1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议题导入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圆桌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围炉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问答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嘉宾：学者、模型企业、投资人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形式：圆桌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场地：5F沙龙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档期：4月下旬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AGI议题全年运营（WAIC会后延续）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研究型/模型团队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29　国别会客厅·AI合作领事专题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43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WAIC赛道：领事　｜　11月中旬　｜　会客厅/5F　｜　2.5小时　｜　领事沙龙　｜　我方4+园区2+外事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外事接待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国别AI机会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B2B闪见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国际服务介绍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高端看场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嘉宾：领事官员、涉外AI企业、翻译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形式：领事沙龙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场地：会客厅/5F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档期：11月中旬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国际背书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涉外/出海企业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E30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30　创智汇AI年度Demo Day·智能伙伴收官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44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817352" cy="59436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104241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WAIC赛道：智能伙伴　｜　12月上旬　｜　5F主展　｜　1天　｜　路演日　｜　我方6+园区4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3840480" cy="4114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65960"/>
            <a:ext cx="64008" cy="4114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6"/>
            <a:ext cx="3474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具体行程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23160"/>
            <a:ext cx="3429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开幕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十强路演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颁奖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明年WAIC预热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红酒洽谈+集中签约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356616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96596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0939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嘉宾与落位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60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嘉宾：投资人、链主、媒体、区级嘉宾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形式：路演日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场地：5F主展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动线：签到→主区→看场→洽谈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965960"/>
            <a:ext cx="3611880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96596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09397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排期执行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档期：12月上旬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T-14嘉宾物料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T-7邀约确认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T-1彩排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T+1~7回访逼单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069080"/>
            <a:ext cx="356616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4069080"/>
            <a:ext cx="64008" cy="20116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9709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园区价值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年度成果+来年WAIC预热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069080"/>
            <a:ext cx="3611880" cy="20116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4069080"/>
            <a:ext cx="64008" cy="201168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97096"/>
            <a:ext cx="3246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招商价值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5262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集中签约与媒体背书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200">
                <a:solidFill>
                  <a:srgbClr val="C6BAEA"/>
                </a:solidFill>
                <a:latin typeface="Microsoft YaHei"/>
              </a:rPr>
              <a:t>看场→意向→报价→签约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总 · 园区协同支持（人员）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45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2379817" cy="365760"/>
          </a:xfrm>
          <a:prstGeom prst="rect">
            <a:avLst/>
          </a:prstGeom>
          <a:solidFill>
            <a:srgbClr val="2A1E55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362456"/>
            <a:ext cx="230666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场次类型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5617" y="1325880"/>
            <a:ext cx="1730776" cy="365760"/>
          </a:xfrm>
          <a:prstGeom prst="rect">
            <a:avLst/>
          </a:prstGeom>
          <a:solidFill>
            <a:srgbClr val="2A1E55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1337" y="1362456"/>
            <a:ext cx="1657624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同浦汇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96393" y="1325880"/>
            <a:ext cx="2163470" cy="365760"/>
          </a:xfrm>
          <a:prstGeom prst="rect">
            <a:avLst/>
          </a:prstGeom>
          <a:solidFill>
            <a:srgbClr val="2A1E55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2113" y="1362456"/>
            <a:ext cx="2090318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园区配合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59863" y="1325880"/>
            <a:ext cx="2596164" cy="365760"/>
          </a:xfrm>
          <a:prstGeom prst="rect">
            <a:avLst/>
          </a:prstGeom>
          <a:solidFill>
            <a:srgbClr val="2A1E55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5583" y="1362456"/>
            <a:ext cx="252301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服务中心/其他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56027" y="1325880"/>
            <a:ext cx="1298082" cy="365760"/>
          </a:xfrm>
          <a:prstGeom prst="rect">
            <a:avLst/>
          </a:prstGeom>
          <a:solidFill>
            <a:srgbClr val="2A1E55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747" y="1362456"/>
            <a:ext cx="122493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合计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1691640"/>
            <a:ext cx="2379817" cy="50292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728216"/>
            <a:ext cx="2306665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常规训练/沙龙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5617" y="1691640"/>
            <a:ext cx="1730776" cy="50292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11337" y="1728216"/>
            <a:ext cx="1657624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2–3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96393" y="1691640"/>
            <a:ext cx="2163470" cy="50292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2113" y="1728216"/>
            <a:ext cx="2090318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1–2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59863" y="1691640"/>
            <a:ext cx="2596164" cy="50292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05583" y="1728216"/>
            <a:ext cx="252301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0–2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56027" y="1691640"/>
            <a:ext cx="1298082" cy="50292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747" y="1728216"/>
            <a:ext cx="1224930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4–7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2194560"/>
            <a:ext cx="2379817" cy="50292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2231136"/>
            <a:ext cx="2306665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政策/治理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65617" y="2194560"/>
            <a:ext cx="1730776" cy="50292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11337" y="2231136"/>
            <a:ext cx="1657624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2–3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96393" y="2194560"/>
            <a:ext cx="2163470" cy="50292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2113" y="2231136"/>
            <a:ext cx="2090318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1–2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59863" y="2194560"/>
            <a:ext cx="2596164" cy="50292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05583" y="2231136"/>
            <a:ext cx="252301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服务中心2–4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56027" y="2194560"/>
            <a:ext cx="1298082" cy="50292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747" y="2231136"/>
            <a:ext cx="1224930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5–9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2697480"/>
            <a:ext cx="2379817" cy="50292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2734056"/>
            <a:ext cx="2306665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WAIC开放日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65617" y="2697480"/>
            <a:ext cx="1730776" cy="50292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11337" y="2734056"/>
            <a:ext cx="1657624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96393" y="2697480"/>
            <a:ext cx="2163470" cy="50292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2113" y="2734056"/>
            <a:ext cx="2090318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5 + 物业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59863" y="2697480"/>
            <a:ext cx="2596164" cy="50292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05583" y="2734056"/>
            <a:ext cx="252301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服务中心2+媒体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56027" y="2697480"/>
            <a:ext cx="1298082" cy="50292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747" y="2734056"/>
            <a:ext cx="1224930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15+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" y="3200400"/>
            <a:ext cx="2379817" cy="50292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3236976"/>
            <a:ext cx="2306665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Builders / AGI夜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65617" y="3200400"/>
            <a:ext cx="1730776" cy="50292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11337" y="3236976"/>
            <a:ext cx="1657624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4–5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96393" y="3200400"/>
            <a:ext cx="2163470" cy="50292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42113" y="3236976"/>
            <a:ext cx="2090318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2–3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59863" y="3200400"/>
            <a:ext cx="2596164" cy="50292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05583" y="3236976"/>
            <a:ext cx="252301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联合会/复旦2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56027" y="3200400"/>
            <a:ext cx="1298082" cy="502920"/>
          </a:xfrm>
          <a:prstGeom prst="rect">
            <a:avLst/>
          </a:prstGeom>
          <a:solidFill>
            <a:srgbClr val="1C143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01747" y="3236976"/>
            <a:ext cx="1224930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8–12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5800" y="3703320"/>
            <a:ext cx="2379817" cy="50292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3739896"/>
            <a:ext cx="2306665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嘉年华/漫展级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65617" y="3703320"/>
            <a:ext cx="1730776" cy="50292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11337" y="3739896"/>
            <a:ext cx="1657624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6–8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796393" y="3703320"/>
            <a:ext cx="2163470" cy="50292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42113" y="3739896"/>
            <a:ext cx="2090318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5–6+安保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59863" y="3703320"/>
            <a:ext cx="2596164" cy="50292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05583" y="3739896"/>
            <a:ext cx="2523012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外包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56027" y="3703320"/>
            <a:ext cx="1298082" cy="502920"/>
          </a:xfrm>
          <a:prstGeom prst="rect">
            <a:avLst/>
          </a:prstGeom>
          <a:solidFill>
            <a:srgbClr val="241A4A"/>
          </a:solidFill>
          <a:ln w="571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01747" y="3739896"/>
            <a:ext cx="1224930" cy="4480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15+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5120640"/>
            <a:ext cx="10817352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6BAEA"/>
                </a:solidFill>
                <a:latin typeface="Microsoft YaHei"/>
              </a:rPr>
              <a:t>园区协同清单：场地报备 · 导视停车 · 领导出席 · 意向名单共享 · 会后逼单会议室 · WAIC周期接驳指引。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CLOSE &amp; CONVERT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总 · 逼单 · 转化 · 招商闭环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46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80160"/>
            <a:ext cx="3566160" cy="4800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280160"/>
            <a:ext cx="64008" cy="4800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081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逼单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737360"/>
            <a:ext cx="31546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每场必含≥20分钟看场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出口意向表+政策码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限时礼包当场留资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WAIC周设绿色通道专台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T+1~7标准化回访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280160"/>
            <a:ext cx="3566160" cy="4800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280160"/>
            <a:ext cx="64008" cy="48006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1408176"/>
            <a:ext cx="32004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转化漏斗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737360"/>
            <a:ext cx="31546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线索留资率≥60%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7日触达≥3次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看场率≥25%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48小时出报价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月度签约看板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280160"/>
            <a:ext cx="3063240" cy="4800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1280160"/>
            <a:ext cx="64008" cy="480060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1408176"/>
            <a:ext cx="269748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1737360"/>
            <a:ext cx="2651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活动前：目标场次化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活动中：建档种草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活动后：7日逼单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成交：服务中心接棒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复盘：反哺下场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54864" cy="7132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38912"/>
            <a:ext cx="82296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9C27C"/>
                </a:solidFill>
                <a:latin typeface="Arial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94944"/>
            <a:ext cx="9601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5F1FF"/>
                </a:solidFill>
                <a:latin typeface="Microsoft YaHei"/>
              </a:rPr>
              <a:t>结论 · 给对方的一页纸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84048"/>
            <a:ext cx="13716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1735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8412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00" b="0">
                <a:solidFill>
                  <a:srgbClr val="9486C4"/>
                </a:solidFill>
                <a:latin typeface="Microsoft YaHei"/>
              </a:rPr>
              <a:t>· 30场活动 · WAIC2026议程对齐 · 同浦汇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19088"/>
            <a:ext cx="155448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E9C27C"/>
                </a:solidFill>
                <a:latin typeface="Arial"/>
              </a:rPr>
              <a:t>47</a:t>
            </a:r>
            <a:r>
              <a:rPr sz="1000" b="0">
                <a:solidFill>
                  <a:srgbClr val="9486C4"/>
                </a:solidFill>
                <a:latin typeface="Arial"/>
              </a:rPr>
              <a:t> / 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80160"/>
            <a:ext cx="5212080" cy="4800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280160"/>
            <a:ext cx="64008" cy="4800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08176"/>
            <a:ext cx="48463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我们交付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737360"/>
            <a:ext cx="4800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30场已按WAIC2026议程赛道重命名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7月WAIC UP!：开放日+Builders夜+AGI夜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逐场行程/嘉宾/落位/价值链接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同浦汇执行 + 逼单转化SOP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全年赛道常态化，不仅办一次大会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80160"/>
            <a:ext cx="5120640" cy="4800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80160"/>
            <a:ext cx="64008" cy="480060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08176"/>
            <a:ext cx="475488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1FF"/>
                </a:solidFill>
                <a:latin typeface="Microsoft YaHei"/>
              </a:rPr>
              <a:t>请园区协同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737360"/>
            <a:ext cx="47091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确认WAIC周期场地与接驳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按场次配备1–6名现场支持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共享在谈客户名单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开放样板间看场动线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300">
                <a:solidFill>
                  <a:srgbClr val="C6BAEA"/>
                </a:solidFill>
                <a:latin typeface="Microsoft YaHei"/>
              </a:rPr>
              <a:t>月度联席复盘转化数据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