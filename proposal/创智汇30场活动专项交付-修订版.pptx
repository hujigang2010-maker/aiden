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E4D8C"/>
                </a:solidFill>
                <a:latin typeface="Microsoft YaHei"/>
              </a:rPr>
              <a:t>上海创智汇 × 同浦汇｜活动专项交付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>
                <a:solidFill>
                  <a:srgbClr val="1A1A2E"/>
                </a:solidFill>
                <a:latin typeface="Microsoft YaHei"/>
              </a:rPr>
              <a:t>创智汇 · 30场活动怎么做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51460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C49A3C"/>
                </a:solidFill>
                <a:latin typeface="Microsoft YaHei"/>
              </a:rPr>
              <a:t>2026.08—2027.07　｜　同步衔接 WAIC 与 ChinaJoy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92608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4A4A5A"/>
                </a:solidFill>
                <a:latin typeface="Microsoft YaHei"/>
              </a:rPr>
              <a:t>每场≤30人　·　负责人占比适度承兑约50%　·　我们带客 / 园区销售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474720"/>
            <a:ext cx="5486400" cy="260604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474720"/>
            <a:ext cx="73152" cy="260604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3584448"/>
            <a:ext cx="51663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主体与支持单位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913632"/>
            <a:ext cx="51206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运营主体范围：上海市云计算创新基地（国家级孵化器）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学术支持：复旦大学住房政策研究中心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活动及运营载体支持：杨浦区科技企业联合会、科技企业服务中心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执行：同浦汇（策划执行与带客）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3474720"/>
            <a:ext cx="5074920" cy="260604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3474720"/>
            <a:ext cx="73152" cy="2606040"/>
          </a:xfrm>
          <a:prstGeom prst="rect">
            <a:avLst/>
          </a:prstGeom>
          <a:solidFill>
            <a:srgbClr val="1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4848" y="3584448"/>
            <a:ext cx="47548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本册边界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84848" y="3913632"/>
            <a:ext cx="47091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仅活动专项交付，不做租金租赁对赌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因租金3.3元/㎡/天高于周边均价，不做租赁必要性要求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出海活动另议另计价，不在本册费用内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领事到访 / 挂牌活动另计价（三部分费用之外）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不承诺一定带来外资企业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01 · 主体与支持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谁在做这件事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2460284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271016"/>
            <a:ext cx="24054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角色</a:t>
            </a:r>
          </a:p>
        </p:txBody>
      </p:sp>
      <p:sp>
        <p:nvSpPr>
          <p:cNvPr id="8" name="Rectangle 7"/>
          <p:cNvSpPr/>
          <p:nvPr/>
        </p:nvSpPr>
        <p:spPr>
          <a:xfrm>
            <a:off x="2963204" y="1234440"/>
            <a:ext cx="3578595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99780" y="1271016"/>
            <a:ext cx="352373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</a:rPr>
              <a:t>单位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41799" y="1234440"/>
            <a:ext cx="5144231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78375" y="1271016"/>
            <a:ext cx="508936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说明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81912"/>
            <a:ext cx="2460284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1618488"/>
            <a:ext cx="2405420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主体运营范围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63204" y="1581912"/>
            <a:ext cx="35785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9780" y="1618488"/>
            <a:ext cx="3523731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Microsoft YaHei"/>
              </a:rPr>
              <a:t>上海市云计算创新基地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41799" y="1581912"/>
            <a:ext cx="5144231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78375" y="1618488"/>
            <a:ext cx="5089367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国家级孵化器，纳入创智汇活动与运营主体范围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084832"/>
            <a:ext cx="2460284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121408"/>
            <a:ext cx="2405420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学术支持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63204" y="2084832"/>
            <a:ext cx="3578595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99780" y="2121408"/>
            <a:ext cx="3523731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Microsoft YaHei"/>
              </a:rPr>
              <a:t>复旦大学住房政策研究中心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41799" y="2084832"/>
            <a:ext cx="5144231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78375" y="2121408"/>
            <a:ext cx="5089367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学术背书、议题与人才/空间相关研究支持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587752"/>
            <a:ext cx="2460284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" y="2624328"/>
            <a:ext cx="2405420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活动及运营载体支持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63204" y="2587752"/>
            <a:ext cx="35785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780" y="2624328"/>
            <a:ext cx="3523731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Microsoft YaHei"/>
              </a:rPr>
              <a:t>杨浦区科技企业联合会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41799" y="2587752"/>
            <a:ext cx="5144231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78375" y="2624328"/>
            <a:ext cx="5089367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活动生态、会员协同、传播支持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90672"/>
            <a:ext cx="2460284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3127248"/>
            <a:ext cx="2405420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活动及运营载体支持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3204" y="3090672"/>
            <a:ext cx="3578595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99780" y="3127248"/>
            <a:ext cx="3523731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Microsoft YaHei"/>
              </a:rPr>
              <a:t>杨浦区科技企业服务中心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41799" y="3090672"/>
            <a:ext cx="5144231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8375" y="3127248"/>
            <a:ext cx="5089367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政策服务、申报辅导、入驻手续协同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593592"/>
            <a:ext cx="2460284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" y="3630168"/>
            <a:ext cx="2405420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活动执行与带客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963204" y="3593592"/>
            <a:ext cx="35785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99780" y="3630168"/>
            <a:ext cx="3523731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Microsoft YaHei"/>
              </a:rPr>
              <a:t>同浦汇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41799" y="3593592"/>
            <a:ext cx="5144231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78375" y="3630168"/>
            <a:ext cx="5089367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策划、邀约、执行、建群、带客回访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096512"/>
            <a:ext cx="2460284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" y="4133088"/>
            <a:ext cx="2405420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销售成交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963204" y="4096512"/>
            <a:ext cx="3578595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999780" y="4133088"/>
            <a:ext cx="3523731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Microsoft YaHei"/>
              </a:rPr>
              <a:t>园区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41799" y="4096512"/>
            <a:ext cx="5144231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78375" y="4133088"/>
            <a:ext cx="5089367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房源销售、价格确认、合同交割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01 · 关键口径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人数 · 负责人 · 客群 · 外企原则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3657600" cy="493776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3152" cy="493776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344168"/>
            <a:ext cx="33375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人数与负责人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673352"/>
            <a:ext cx="32918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每场到场人次控制在 30 人以下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全年触达目标约 600 人次+，以可执行、可核验为准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负责人占比适度承兑约 50%（不做 100% 承诺）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邀约以园区产业主题客群为主（弱化关联度表述）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657600" cy="493776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73152" cy="4937760"/>
          </a:xfrm>
          <a:prstGeom prst="rect">
            <a:avLst/>
          </a:prstGeom>
          <a:solidFill>
            <a:srgbClr val="C4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44168"/>
            <a:ext cx="33375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外企与领事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673352"/>
            <a:ext cx="32918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原则：不承诺一定会带外资企业来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出海活动：另议、价格另议，不在本册费用内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领事到访接待：另计价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领事馆挂牌及挂牌活动：另计价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挂牌与领事活动性质不同，分开计价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234440"/>
            <a:ext cx="3474720" cy="493776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234440"/>
            <a:ext cx="73152" cy="4937760"/>
          </a:xfrm>
          <a:prstGeom prst="rect">
            <a:avLst/>
          </a:prstGeom>
          <a:solidFill>
            <a:srgbClr val="1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7" y="1344168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分工一句话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7" y="1673352"/>
            <a:ext cx="31089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我们负责带客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园区负责销售部分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活动结束建群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园区可在群内促成成交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02 · 活动概况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30场概况总表（上）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4A4A5A"/>
                </a:solidFill>
                <a:latin typeface="Microsoft YaHei"/>
              </a:rPr>
              <a:t>主题 · 时间 · 形式 · 人数≤30 · 负责人约50% · 价值落点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43000"/>
            <a:ext cx="894648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1179576"/>
            <a:ext cx="83978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397568" y="1143000"/>
            <a:ext cx="335493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4144" y="1179576"/>
            <a:ext cx="330006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主题/活动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2501" y="1143000"/>
            <a:ext cx="1565635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9077" y="1179576"/>
            <a:ext cx="151077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时间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18136" y="1143000"/>
            <a:ext cx="134197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4712" y="1179576"/>
            <a:ext cx="128710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60109" y="1143000"/>
            <a:ext cx="1118311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6685" y="1179576"/>
            <a:ext cx="106344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人数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420" y="1143000"/>
            <a:ext cx="1118311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14996" y="1179576"/>
            <a:ext cx="106344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负责人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96731" y="1143000"/>
            <a:ext cx="1789297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3307" y="1179576"/>
            <a:ext cx="173443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价值落点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490472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" y="1527048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P1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97568" y="1490472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34144" y="1527048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创智汇项目推广日①·中介与渠道专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2501" y="1490472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9077" y="1527048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8月上旬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18136" y="1490472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4712" y="1527048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项目推广日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60109" y="1490472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6685" y="1527048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420" y="1490472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14996" y="1527048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6731" y="1490472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3307" y="1527048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中介渠道带看与项目推介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1783080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1819656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P2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97568" y="1783080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34144" y="1819656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创智汇项目推广日②·五大行与金融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2501" y="1783080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89077" y="1819656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8月中旬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18136" y="1783080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4712" y="1819656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项目推广日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60109" y="1783080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96685" y="1819656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420" y="1783080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14996" y="1819656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96731" y="1783080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33307" y="1819656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金融资源链接与企业客户导入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2075688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496" y="2112264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P3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97568" y="2075688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34144" y="2112264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创智汇项目推广日③·投研机构专场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52501" y="2075688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89077" y="2112264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8月中旬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18136" y="2075688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4712" y="2112264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项目推广日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60109" y="2075688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96685" y="2112264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78420" y="2075688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14996" y="2112264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96731" y="2075688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33307" y="2112264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投研视角放大项目影响力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2368296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9496" y="2404872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P4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97568" y="2368296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434144" y="2404872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创智汇项目推广日④·政府部门与载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52501" y="2368296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89077" y="2404872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8月下旬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18136" y="2368296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54712" y="2404872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项目推广日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660109" y="2368296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96685" y="2404872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778420" y="2368296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14996" y="2404872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896731" y="2368296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33307" y="2404872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政策与载体协同落地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2920" y="2660904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9496" y="2697480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E1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397568" y="2660904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434144" y="2697480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WAIC成果承接·创智汇开放交流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52501" y="2660904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89077" y="2697480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8月下旬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18136" y="2660904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54712" y="2697480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开放交流日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60109" y="2660904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96685" y="2697480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778420" y="2660904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814996" y="2697480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896731" y="2660904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933307" y="2697480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衔接WAIC议题与园区看场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2920" y="2953512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39496" y="2990088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397568" y="2953512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34144" y="2990088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Agent智能体搭建一日营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2501" y="2953512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789077" y="2990088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9月上旬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18136" y="2953512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54712" y="2990088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实训营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660109" y="2953512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96685" y="2990088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778420" y="2953512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14996" y="2990088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96731" y="2953512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933307" y="2990088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Agent初创落位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2920" y="3246120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39496" y="3282696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397568" y="3246120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434144" y="3282696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ChinaJoy主题·数字娱乐与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2501" y="3246120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89077" y="3282696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9月中旬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18136" y="3246120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54712" y="3282696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对接会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660109" y="3246120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96685" y="3282696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778420" y="3246120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814996" y="3282696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896731" y="3246120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933307" y="3282696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ChinaJoy赛道企业/I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2920" y="3538728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9496" y="3575304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F1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397568" y="3538728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434144" y="3575304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出海专题活动（另议·另计价）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752501" y="3538728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789077" y="3575304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档期另议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18136" y="3538728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54712" y="3575304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专题（另议）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660109" y="3538728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696685" y="3575304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778420" y="3538728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814996" y="3575304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896731" y="3538728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933307" y="3575304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出海需求企业服务（不在年度活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02920" y="3831336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39496" y="3867912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A3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397568" y="3831336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434144" y="3867912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多模态智能体工作坊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752501" y="3831336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789077" y="3867912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10月上旬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18136" y="3831336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54712" y="3867912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工作坊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660109" y="3831336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96685" y="3867912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778420" y="3831336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814996" y="3867912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896731" y="3831336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933307" y="3867912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多模态团队入驻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02920" y="4123944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39496" y="4160520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E4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397568" y="4123944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434144" y="4160520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ChinaJoy主题日·数字娱乐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752501" y="4123944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789077" y="4160520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10月中旬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318136" y="4123944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354712" y="4160520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主题日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660109" y="4123944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696685" y="4160520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778420" y="4123944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814996" y="4160520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896731" y="4123944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933307" y="4160520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ChinaJoy生态企业集中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02920" y="4416552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39496" y="4453128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B2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397568" y="4416552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434144" y="4453128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AI治理与可信智能体沙龙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752501" y="4416552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789077" y="4453128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10月下旬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18136" y="4416552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354712" y="4453128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沙龙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660109" y="4416552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696685" y="4453128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778420" y="4416552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814996" y="4453128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896731" y="4416552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933307" y="4453128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合规型企业信任导入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02920" y="4709160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539496" y="4745736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A4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397568" y="4709160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434144" y="4745736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火山引擎×算力Infra实务营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752501" y="4709160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789077" y="4745736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11月上旬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6318136" y="4709160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54712" y="4745736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厂商联训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7660109" y="4709160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7696685" y="4745736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778420" y="4709160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814996" y="4745736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9896731" y="4709160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9933307" y="4745736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高算力企业定向看场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502920" y="5001768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539496" y="5038344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B4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397568" y="5001768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434144" y="5038344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创新券·算力券·模型券实务沙龙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752501" y="5001768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4789077" y="5038344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11月中旬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318136" y="5001768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354712" y="5038344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实务沙龙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660109" y="5001768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696685" y="5038344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778420" y="5001768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814996" y="5038344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896731" y="5001768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933307" y="5038344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用券企业聚集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502920" y="5294376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539496" y="5330952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L1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1397568" y="5294376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434144" y="5330952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领事到访接待（另计价）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4752501" y="5294376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4789077" y="5330952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档期另议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6318136" y="5294376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6354712" y="5330952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外事接待（另计价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660109" y="5294376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7696685" y="5330952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另议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778420" y="5294376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814996" y="5330952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—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9896731" y="5294376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9933307" y="5330952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领事到访接待（不在三部分活动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502920" y="5586984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539496" y="5623560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1397568" y="5586984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434144" y="5623560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具身智能空间交互体验日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4752501" y="5586984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4789077" y="5623560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12月上旬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318136" y="5586984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4712" y="5623560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体验日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7660109" y="5586984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7696685" y="5623560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8778420" y="5586984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8814996" y="5623560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9896731" y="5586984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9933307" y="5623560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具身/机器人团队看场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02 · 活动概况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30场概况总表（下）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4A4A5A"/>
                </a:solidFill>
                <a:latin typeface="Microsoft YaHei"/>
              </a:rPr>
              <a:t>主题 · 时间 · 形式 · 人数≤30 · 负责人约50% · 价值落点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43000"/>
            <a:ext cx="894648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1179576"/>
            <a:ext cx="83978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编号</a:t>
            </a:r>
          </a:p>
        </p:txBody>
      </p:sp>
      <p:sp>
        <p:nvSpPr>
          <p:cNvPr id="9" name="Rectangle 8"/>
          <p:cNvSpPr/>
          <p:nvPr/>
        </p:nvSpPr>
        <p:spPr>
          <a:xfrm>
            <a:off x="1397568" y="1143000"/>
            <a:ext cx="335493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4144" y="1179576"/>
            <a:ext cx="330006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主题/活动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2501" y="1143000"/>
            <a:ext cx="1565635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9077" y="1179576"/>
            <a:ext cx="151077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时间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18136" y="1143000"/>
            <a:ext cx="134197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4712" y="1179576"/>
            <a:ext cx="128710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形式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60109" y="1143000"/>
            <a:ext cx="1118311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6685" y="1179576"/>
            <a:ext cx="106344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人数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420" y="1143000"/>
            <a:ext cx="1118311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14996" y="1179576"/>
            <a:ext cx="106344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负责人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96731" y="1143000"/>
            <a:ext cx="1789297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3307" y="1179576"/>
            <a:ext cx="173443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价值落点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1490472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" y="1527048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F4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97568" y="1490472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34144" y="1527048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创智汇AI年度Demo Day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2501" y="1490472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89077" y="1527048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12月中旬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18136" y="1490472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4712" y="1527048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路演日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60109" y="1490472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6685" y="1527048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420" y="1490472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14996" y="1527048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96731" y="1490472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33307" y="1527048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集中签约洽谈与媒体背书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1783080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1819656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D1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97568" y="1783080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34144" y="1819656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AIGC微短剧制片特训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52501" y="1783080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89077" y="1819656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次1月上旬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18136" y="1783080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4712" y="1819656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特训营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60109" y="1783080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96685" y="1819656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420" y="1783080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14996" y="1819656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96731" y="1783080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33307" y="1819656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厂牌/工作室入驻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2075688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496" y="2112264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97568" y="2075688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34144" y="2112264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AI营销Agent实战营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752501" y="2075688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789077" y="2112264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次1月中旬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18136" y="2075688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54712" y="2112264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实战营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60109" y="2075688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96685" y="2112264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78420" y="2075688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814996" y="2112264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896731" y="2075688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33307" y="2112264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营销科技公司看场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2368296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9496" y="2404872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B1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397568" y="2368296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434144" y="2404872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YOUNG立方×智能伙伴政策沙龙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752501" y="2368296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789077" y="2404872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次2月中旬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18136" y="2368296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54712" y="2404872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政策沙龙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660109" y="2368296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96685" y="2404872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778420" y="2368296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14996" y="2404872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896731" y="2368296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933307" y="2404872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内容/AI企业导入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2920" y="2660904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39496" y="2697480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B3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397568" y="2660904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434144" y="2697480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高企认定冲刺（AI企业专场）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52501" y="2660904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89077" y="2697480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次2月下旬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18136" y="2660904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54712" y="2697480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辅导会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60109" y="2660904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96685" y="2697480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778420" y="2660904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814996" y="2697480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896731" y="2660904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933307" y="2697480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待认定企业带政策入驻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2920" y="2953512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39496" y="2990088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397568" y="2953512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34144" y="2990088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OPC超级个体黑客松（春）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2501" y="2953512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789077" y="2990088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次3月上旬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18136" y="2953512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54712" y="2990088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黑客松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660109" y="2953512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96685" y="2990088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778420" y="2953512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814996" y="2990088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96731" y="2953512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933307" y="2990088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获奖团队优先谈单元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2920" y="3246120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39496" y="3282696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397568" y="3246120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434144" y="3282696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高校成果转化·AI for Sc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4752501" y="3246120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89077" y="3282696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次3月下旬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18136" y="3246120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54712" y="3282696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对接日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660109" y="3246120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96685" y="3282696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778420" y="3246120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814996" y="3282696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896731" y="3246120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933307" y="3282696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成果公司/实验室落户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2920" y="3538728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9496" y="3575304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F3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397568" y="3538728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434144" y="3575304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通往AGI季度圆桌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752501" y="3538728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789077" y="3575304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次3月下旬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6318136" y="3538728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54712" y="3575304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闭门圆桌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660109" y="3538728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696685" y="3575304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778420" y="3538728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814996" y="3575304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896731" y="3538728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933307" y="3575304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研究型/模型团队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02920" y="3831336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39496" y="3867912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D2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397568" y="3831336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434144" y="3867912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ChinaJoy主题·创作者内容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4752501" y="3831336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789077" y="3867912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次4月中旬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18136" y="3831336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54712" y="3867912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发布会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660109" y="3831336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96685" y="3867912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8778420" y="3831336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814996" y="3867912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9896731" y="3831336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933307" y="3867912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数字娱乐/内容品牌问询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502920" y="4123944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39496" y="4160520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C3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1397568" y="4123944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434144" y="4160520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ChinaJoy主题·游戏周边与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752501" y="4123944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789077" y="4160520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次4月下旬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6318136" y="4123944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354712" y="4160520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对接会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660109" y="4123944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696685" y="4160520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778420" y="4123944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814996" y="4160520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896731" y="4123944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9933307" y="4160520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ChinaJoy供应链/周边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502920" y="4416552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39496" y="4453128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1397568" y="4416552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434144" y="4453128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专精特新·AI应用培育路演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752501" y="4416552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789077" y="4453128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次5月中旬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18136" y="4416552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354712" y="4453128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路演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660109" y="4416552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7696685" y="4453128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778420" y="4416552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814996" y="4453128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9896731" y="4416552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933307" y="4453128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成长型AI补位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502920" y="4709160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539496" y="4745736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D3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1397568" y="4709160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434144" y="4745736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ChinaJoy主题·数字娱乐市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752501" y="4709160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789077" y="4745736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次5月下旬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6318136" y="4709160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54712" y="4745736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体验日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7660109" y="4709160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7696685" y="4745736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778420" y="4709160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814996" y="4745736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9896731" y="4709160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9933307" y="4745736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优质摊主/工作室升级固定展位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502920" y="5001768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539496" y="5038344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1397568" y="5001768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1434144" y="5038344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ChinaJoy主题·IP联名与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4752501" y="5001768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4789077" y="5038344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次6月中旬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318136" y="5001768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354712" y="5038344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撮合会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660109" y="5001768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696685" y="5038344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778420" y="5001768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814996" y="5038344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896731" y="5001768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933307" y="5038344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IP联名/衍生品团队入驻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502920" y="5294376"/>
            <a:ext cx="894648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539496" y="5330952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D4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1397568" y="5294376"/>
            <a:ext cx="335493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434144" y="5330952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ChinaJoy主题·沉浸式数字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4752501" y="5294376"/>
            <a:ext cx="1565635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4789077" y="5330952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次6月下旬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6318136" y="5294376"/>
            <a:ext cx="1341973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6354712" y="5330952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联展（短展期）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660109" y="5294376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7696685" y="5330952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≤30人/场次接待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8778420" y="5294376"/>
            <a:ext cx="1118311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8814996" y="5330952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9896731" y="5294376"/>
            <a:ext cx="1789297" cy="29260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9933307" y="5330952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闭幕洽谈集中转化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502920" y="5586984"/>
            <a:ext cx="894648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539496" y="5623560"/>
            <a:ext cx="839784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D5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1397568" y="5586984"/>
            <a:ext cx="335493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1434144" y="5623560"/>
            <a:ext cx="330006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创作者首发②·衔接WAIC202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4752501" y="5586984"/>
            <a:ext cx="1565635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4789077" y="5623560"/>
            <a:ext cx="1510771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次7月中旬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318136" y="5586984"/>
            <a:ext cx="1341973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4712" y="5623560"/>
            <a:ext cx="1287109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发布会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7660109" y="5586984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7696685" y="5623560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≤30人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8778420" y="5586984"/>
            <a:ext cx="1118311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8814996" y="5623560"/>
            <a:ext cx="1063447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约50%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9896731" y="5586984"/>
            <a:ext cx="1789297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9933307" y="5623560"/>
            <a:ext cx="1734433" cy="2377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旺季补位，双大会预热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03 · 活动价值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活动带来什么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394960" cy="493776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3152" cy="493776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344168"/>
            <a:ext cx="50749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园区侧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673352"/>
            <a:ext cx="50292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每月有主题不断档，空间有热度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8月项目推广日打通中介/银行/投研/政府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内容场次对齐 ChinaJoy 数字娱乐主题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全年节奏同步衔接 WAIC 与 ChinaJoy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云创基地国家级孵化器背书可感知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234440"/>
            <a:ext cx="5074920" cy="493776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234440"/>
            <a:ext cx="73152" cy="4937760"/>
          </a:xfrm>
          <a:prstGeom prst="rect">
            <a:avLst/>
          </a:prstGeom>
          <a:solidFill>
            <a:srgbClr val="1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4848" y="1344168"/>
            <a:ext cx="47548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转化侧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1673352"/>
            <a:ext cx="47091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每场≤30人，精而准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固定看场环节，便于带客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活动结束建群，持续触达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同浦汇带客，园区做销售促成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不做租金租赁对赌与必要性要求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03 · 具体交付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我们交给园区的东西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2012960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271016"/>
            <a:ext cx="1958096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周期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5880" y="1234440"/>
            <a:ext cx="5815218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52456" y="1271016"/>
            <a:ext cx="5760354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交付物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31098" y="1234440"/>
            <a:ext cx="335493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7674" y="1271016"/>
            <a:ext cx="330006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说明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81912"/>
            <a:ext cx="2012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1618488"/>
            <a:ext cx="195809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签约后2周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5880" y="1581912"/>
            <a:ext cx="581521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52456" y="1618488"/>
            <a:ext cx="576035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年度活动方案细化版 + 排期日历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31098" y="1581912"/>
            <a:ext cx="3354933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7674" y="1618488"/>
            <a:ext cx="3300069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活动专项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112264"/>
            <a:ext cx="2012960" cy="53035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148840"/>
            <a:ext cx="195809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每场结束后7天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5880" y="2112264"/>
            <a:ext cx="5815218" cy="53035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52456" y="2148840"/>
            <a:ext cx="576035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执行卡、议程、嘉宾确认、报名页、签到表、意向表、动线图、照片/通稿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1098" y="2112264"/>
            <a:ext cx="3354933" cy="53035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7674" y="2148840"/>
            <a:ext cx="3300069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同浦汇归档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42616"/>
            <a:ext cx="2012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" y="2679192"/>
            <a:ext cx="195809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每场结束后7天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5880" y="2642616"/>
            <a:ext cx="581521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52456" y="2679192"/>
            <a:ext cx="576035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回访摘要（知会版）+ 建群清单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31098" y="2642616"/>
            <a:ext cx="3354933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7674" y="2679192"/>
            <a:ext cx="3300069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便于园区销售跟进与群内促成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172968"/>
            <a:ext cx="2012960" cy="53035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3209544"/>
            <a:ext cx="195809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每月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5880" y="3172968"/>
            <a:ext cx="5815218" cy="53035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52456" y="3209544"/>
            <a:ext cx="576035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活动数据月报 + 下月排期确认单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31098" y="3172968"/>
            <a:ext cx="3354933" cy="53035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7674" y="3209544"/>
            <a:ext cx="3300069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联席会前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703320"/>
            <a:ext cx="2012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" y="3739896"/>
            <a:ext cx="1958096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每季/年末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5880" y="3703320"/>
            <a:ext cx="5815218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552456" y="3739896"/>
            <a:ext cx="5760354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季度复盘、全年台账、WAIC/ChinaJoy衔接建议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31098" y="3703320"/>
            <a:ext cx="3354933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7674" y="3739896"/>
            <a:ext cx="3300069" cy="4754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资产沉淀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394960"/>
            <a:ext cx="11183112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4A4A5A"/>
                </a:solidFill>
                <a:latin typeface="Microsoft YaHei"/>
              </a:rPr>
              <a:t>回访与带客由同浦汇负责；园区聚焦销售促成。交园区的回访材料为摘要知会，方便销售跟进，不额外增加园区事务负担。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03 · 执行分工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我们带客，园区负责销售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1565635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225296"/>
            <a:ext cx="151077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事项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8555" y="1188720"/>
            <a:ext cx="335493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05131" y="1225296"/>
            <a:ext cx="330006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同浦汇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23488" y="1188720"/>
            <a:ext cx="335493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0064" y="1225296"/>
            <a:ext cx="330006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园区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421" y="1188720"/>
            <a:ext cx="2907609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14997" y="1225296"/>
            <a:ext cx="285274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载体支持/学术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36192"/>
            <a:ext cx="156563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1572768"/>
            <a:ext cx="1510771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策划与议程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68555" y="1536192"/>
            <a:ext cx="3354933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5131" y="15727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全案策划、执行卡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23488" y="1536192"/>
            <a:ext cx="3354933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60064" y="15727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方案审定、档期确认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421" y="1536192"/>
            <a:ext cx="2907609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4997" y="1572768"/>
            <a:ext cx="2852745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联合会/服中心协同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993392"/>
            <a:ext cx="1565635" cy="45720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" y="2029968"/>
            <a:ext cx="1510771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邀约与带客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8555" y="1993392"/>
            <a:ext cx="3354933" cy="45720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05131" y="20299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定向邀约、带客到场、建群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23488" y="1993392"/>
            <a:ext cx="3354933" cy="45720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60064" y="20299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共享在谈名单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421" y="1993392"/>
            <a:ext cx="2907609" cy="45720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4997" y="2029968"/>
            <a:ext cx="2852745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会员/学者推荐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450592"/>
            <a:ext cx="156563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2487168"/>
            <a:ext cx="1510771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场地保障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68555" y="2450592"/>
            <a:ext cx="3354933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105131" y="24871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提前提报需求、物料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23488" y="2450592"/>
            <a:ext cx="3354933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60064" y="24871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报备、导视、物业安保、样板间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421" y="2450592"/>
            <a:ext cx="2907609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4997" y="2487168"/>
            <a:ext cx="2852745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907792"/>
            <a:ext cx="1565635" cy="45720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496" y="2944368"/>
            <a:ext cx="1510771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现场执行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68555" y="2907792"/>
            <a:ext cx="3354933" cy="45720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05131" y="29443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主持控场、看场带队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23488" y="2907792"/>
            <a:ext cx="3354933" cy="45720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60064" y="29443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现场支持、开放看场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421" y="2907792"/>
            <a:ext cx="2907609" cy="45720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14997" y="2944368"/>
            <a:ext cx="2852745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政策宣讲位（如需）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364992"/>
            <a:ext cx="156563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496" y="3401568"/>
            <a:ext cx="1510771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销售促成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68555" y="3364992"/>
            <a:ext cx="3354933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05131" y="34015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提供意向名单与群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23488" y="3364992"/>
            <a:ext cx="3354933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60064" y="34015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负责销售部分、报价成交、合同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78421" y="3364992"/>
            <a:ext cx="2907609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14997" y="3401568"/>
            <a:ext cx="2852745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入驻手续（服中心）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3822192"/>
            <a:ext cx="1565635" cy="45720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9496" y="3858768"/>
            <a:ext cx="1510771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回访跟踪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068555" y="3822192"/>
            <a:ext cx="3354933" cy="45720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105131" y="38587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主责带客回访与台账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23488" y="3822192"/>
            <a:ext cx="3354933" cy="45720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60064" y="38587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基于名单/群做销售跟进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78421" y="3822192"/>
            <a:ext cx="2907609" cy="45720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14997" y="3858768"/>
            <a:ext cx="2852745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4279392"/>
            <a:ext cx="1565635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39496" y="4315968"/>
            <a:ext cx="1510771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复盘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068555" y="4279392"/>
            <a:ext cx="3354933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105131" y="43159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单场复盘+月报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23488" y="4279392"/>
            <a:ext cx="3354933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60064" y="4315968"/>
            <a:ext cx="3300069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确认下月活动安排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778421" y="4279392"/>
            <a:ext cx="2907609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14997" y="4315968"/>
            <a:ext cx="2852745" cy="40233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03 · 协同着眼点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做完活动、建完群 → 园区销售促成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394960" cy="493776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3152" cy="4937760"/>
          </a:xfrm>
          <a:prstGeom prst="rect">
            <a:avLst/>
          </a:prstGeom>
          <a:solidFill>
            <a:srgbClr val="1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344168"/>
            <a:ext cx="50749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标准动作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673352"/>
            <a:ext cx="50292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D日：同浦汇签到分层并建群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T+1：同浦汇发看场预约与资料入群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T+1~7：同浦汇持续带客回访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园区：在群内发布房源/政策/条件，负责销售促成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双方月度核对意向与成交进展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234440"/>
            <a:ext cx="5074920" cy="493776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234440"/>
            <a:ext cx="73152" cy="493776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4848" y="1344168"/>
            <a:ext cx="47548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责任边界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1673352"/>
            <a:ext cx="47091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我们负责带客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园区负责销售部分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回访摘要交园区便于销售跟进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不承诺必带外资企业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出海/领事相关另议另计价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04 · 收费与付款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活动费用边界 · 付款节点（唯一方案）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2683946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133856"/>
            <a:ext cx="262908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项目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3186866" y="1097280"/>
            <a:ext cx="3131271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23442" y="1133856"/>
            <a:ext cx="307640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口径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18137" y="1097280"/>
            <a:ext cx="536789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4713" y="1133856"/>
            <a:ext cx="531302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说明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44752"/>
            <a:ext cx="268394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1481328"/>
            <a:ext cx="262908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活动策划执行服务费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86866" y="1444752"/>
            <a:ext cx="3131271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23442" y="1481328"/>
            <a:ext cx="307640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年度打包（金额线下确认）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8137" y="1444752"/>
            <a:ext cx="5367893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4713" y="1481328"/>
            <a:ext cx="531302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含常规30场策划执行、物料、主持、建群与带客回访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792224"/>
            <a:ext cx="2683946" cy="34747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1828800"/>
            <a:ext cx="262908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租金参考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86866" y="1792224"/>
            <a:ext cx="3131271" cy="34747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23442" y="1828800"/>
            <a:ext cx="307640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3.3 元/㎡/天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18137" y="1792224"/>
            <a:ext cx="5367893" cy="34747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4713" y="1828800"/>
            <a:ext cx="531302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高于周边均价，故不做租赁对赌与租赁必要性要求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139696"/>
            <a:ext cx="268394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" y="2176272"/>
            <a:ext cx="262908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建议免租期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86866" y="2139696"/>
            <a:ext cx="3131271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23442" y="2176272"/>
            <a:ext cx="307640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建议 1–3 个月（面议）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18137" y="2139696"/>
            <a:ext cx="5367893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4713" y="2176272"/>
            <a:ext cx="531302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降低决策门槛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487168"/>
            <a:ext cx="2683946" cy="34747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2523744"/>
            <a:ext cx="262908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物业参考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86866" y="2487168"/>
            <a:ext cx="3131271" cy="34747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23442" y="2523744"/>
            <a:ext cx="307640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13.8 元/㎡/月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18137" y="2487168"/>
            <a:ext cx="5367893" cy="34747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4713" y="2523744"/>
            <a:ext cx="531302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园区统一标准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2834640"/>
            <a:ext cx="268394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" y="2871216"/>
            <a:ext cx="262908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待租房源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86866" y="2834640"/>
            <a:ext cx="3131271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23442" y="2871216"/>
            <a:ext cx="307640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8 间优先看场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18137" y="2834640"/>
            <a:ext cx="5367893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4713" y="2871216"/>
            <a:ext cx="531302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带客当场可看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182112"/>
            <a:ext cx="2683946" cy="34747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" y="3218688"/>
            <a:ext cx="262908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出海活动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86866" y="3182112"/>
            <a:ext cx="3131271" cy="34747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23442" y="3218688"/>
            <a:ext cx="307640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另议 · 另计价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18137" y="3182112"/>
            <a:ext cx="5367893" cy="34747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4713" y="3218688"/>
            <a:ext cx="531302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不在本册活动服务费内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3529584"/>
            <a:ext cx="268394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9496" y="3566160"/>
            <a:ext cx="262908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领事到访接待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186866" y="3529584"/>
            <a:ext cx="3131271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23442" y="3566160"/>
            <a:ext cx="307640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另计价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18137" y="3529584"/>
            <a:ext cx="5367893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4713" y="3566160"/>
            <a:ext cx="531302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在现有三部分费用之外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3877056"/>
            <a:ext cx="2683946" cy="34747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9496" y="3913632"/>
            <a:ext cx="262908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领事馆挂牌及挂牌活动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86866" y="3877056"/>
            <a:ext cx="3131271" cy="34747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23442" y="3913632"/>
            <a:ext cx="307640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另计价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18137" y="3877056"/>
            <a:ext cx="5367893" cy="347472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4713" y="3913632"/>
            <a:ext cx="531302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与领事到访分属不同性质，分开计价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4892040"/>
            <a:ext cx="11183112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4D8C"/>
                </a:solidFill>
                <a:latin typeface="Microsoft YaHei"/>
              </a:rPr>
              <a:t>付款节点（唯一建议方案）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166360"/>
            <a:ext cx="4473244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9496" y="5202936"/>
            <a:ext cx="441838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节点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76164" y="5166360"/>
            <a:ext cx="3131271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2740" y="5202936"/>
            <a:ext cx="307640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比例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07435" y="5166360"/>
            <a:ext cx="3578595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144011" y="5202936"/>
            <a:ext cx="352373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对应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5513832"/>
            <a:ext cx="4473244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9496" y="5550408"/>
            <a:ext cx="4418380" cy="2560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签约后7日内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976164" y="5513832"/>
            <a:ext cx="3131271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12740" y="5550408"/>
            <a:ext cx="3076407" cy="2560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50% 启动款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07435" y="5513832"/>
            <a:ext cx="3578595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144011" y="5550408"/>
            <a:ext cx="3523731" cy="2560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启动策划、年度日历锁定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02920" y="5824728"/>
            <a:ext cx="4473244" cy="310896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39496" y="5861304"/>
            <a:ext cx="4418380" cy="2560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Q3 / Q4 / 次年Q1 / 次年Q2 各季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976164" y="5824728"/>
            <a:ext cx="3131271" cy="310896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012740" y="5861304"/>
            <a:ext cx="3076407" cy="2560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各10%（合计40%）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107435" y="5824728"/>
            <a:ext cx="3578595" cy="310896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44011" y="5861304"/>
            <a:ext cx="3523731" cy="2560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与季度场次完成度、月报验收挂钩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6135624"/>
            <a:ext cx="4473244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39496" y="6172200"/>
            <a:ext cx="4418380" cy="2560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年终收官后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76164" y="6135624"/>
            <a:ext cx="3131271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012740" y="6172200"/>
            <a:ext cx="3076407" cy="2560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10% 尾款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07435" y="6135624"/>
            <a:ext cx="3578595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144011" y="6172200"/>
            <a:ext cx="3523731" cy="25603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年报、台账、影像资产移交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05 · 单场执行节奏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同一套打法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134197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271016"/>
            <a:ext cx="128710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节点</a:t>
            </a:r>
          </a:p>
        </p:txBody>
      </p:sp>
      <p:sp>
        <p:nvSpPr>
          <p:cNvPr id="8" name="Rectangle 7"/>
          <p:cNvSpPr/>
          <p:nvPr/>
        </p:nvSpPr>
        <p:spPr>
          <a:xfrm>
            <a:off x="1844893" y="1234440"/>
            <a:ext cx="335493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1469" y="1271016"/>
            <a:ext cx="330006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动作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99826" y="1234440"/>
            <a:ext cx="3578595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6402" y="1271016"/>
            <a:ext cx="3523731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责任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421" y="1234440"/>
            <a:ext cx="2907609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14997" y="1271016"/>
            <a:ext cx="285274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</a:rPr>
              <a:t>交付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81912"/>
            <a:ext cx="1341973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" y="1618488"/>
            <a:ext cx="1287109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T-14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44893" y="1581912"/>
            <a:ext cx="3354933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81469" y="1618488"/>
            <a:ext cx="3300069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锁定嘉宾议程物料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99826" y="1581912"/>
            <a:ext cx="35785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6402" y="1618488"/>
            <a:ext cx="3523731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同浦汇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421" y="1581912"/>
            <a:ext cx="2907609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4997" y="1618488"/>
            <a:ext cx="2852745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议程/嘉宾确认/报名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084832"/>
            <a:ext cx="1341973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496" y="2121408"/>
            <a:ext cx="1287109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T-7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44893" y="2084832"/>
            <a:ext cx="3354933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1469" y="2121408"/>
            <a:ext cx="3300069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邀约确认+场地报备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199826" y="2084832"/>
            <a:ext cx="3578595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36402" y="2121408"/>
            <a:ext cx="3523731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同浦汇；园区场地确认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78421" y="2084832"/>
            <a:ext cx="2907609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14997" y="2121408"/>
            <a:ext cx="2852745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名单/场地单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587752"/>
            <a:ext cx="1341973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2624328"/>
            <a:ext cx="1287109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T-1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44893" y="2587752"/>
            <a:ext cx="3354933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881469" y="2624328"/>
            <a:ext cx="3300069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彩排+看场动线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99826" y="2587752"/>
            <a:ext cx="35785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6402" y="2624328"/>
            <a:ext cx="3523731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同浦汇；园区样板间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421" y="2587752"/>
            <a:ext cx="2907609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14997" y="2624328"/>
            <a:ext cx="2852745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彩排记录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090672"/>
            <a:ext cx="1341973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9496" y="3127248"/>
            <a:ext cx="1287109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D日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44893" y="3090672"/>
            <a:ext cx="3354933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81469" y="3127248"/>
            <a:ext cx="3300069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签到→主区→看场→建群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99826" y="3090672"/>
            <a:ext cx="3578595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36402" y="3127248"/>
            <a:ext cx="3523731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同浦汇执行；园区支持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421" y="3090672"/>
            <a:ext cx="2907609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814997" y="3127248"/>
            <a:ext cx="2852745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签到/意向/群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593592"/>
            <a:ext cx="1341973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496" y="3630168"/>
            <a:ext cx="1287109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T+1~7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44893" y="3593592"/>
            <a:ext cx="3354933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81469" y="3630168"/>
            <a:ext cx="3300069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带客回访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199826" y="3593592"/>
            <a:ext cx="3578595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236402" y="3630168"/>
            <a:ext cx="3523731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同浦汇主责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778421" y="3593592"/>
            <a:ext cx="2907609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14997" y="3630168"/>
            <a:ext cx="2852745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回访摘要知会园区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096512"/>
            <a:ext cx="1341973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9496" y="4133088"/>
            <a:ext cx="1287109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销售促成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844893" y="4096512"/>
            <a:ext cx="3354933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881469" y="4133088"/>
            <a:ext cx="3300069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房源条件与成交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99826" y="4096512"/>
            <a:ext cx="3578595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36402" y="4133088"/>
            <a:ext cx="3523731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园区负责销售部分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778421" y="4096512"/>
            <a:ext cx="2907609" cy="50292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14997" y="4133088"/>
            <a:ext cx="2852745" cy="4480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Microsoft YaHei"/>
              </a:rPr>
              <a:t>合同/交割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06 · 往期案例（1）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杨「数」浦数字沙龙：AI如何重塑企业DNA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4A4A5A"/>
                </a:solidFill>
                <a:latin typeface="Microsoft YaHei"/>
              </a:rPr>
              <a:t>2025-06-30 · 美团上海综合指挥中心 · 沙龙类</a:t>
            </a:r>
          </a:p>
        </p:txBody>
      </p:sp>
      <p:pic>
        <p:nvPicPr>
          <p:cNvPr id="7" name="Picture 6" descr="case_c987bd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3611880" cy="2103120"/>
          </a:xfrm>
          <a:prstGeom prst="rect">
            <a:avLst/>
          </a:prstGeom>
        </p:spPr>
      </p:pic>
      <p:pic>
        <p:nvPicPr>
          <p:cNvPr id="8" name="Picture 7" descr="case_59157ea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59" y="1234440"/>
            <a:ext cx="3611880" cy="2103120"/>
          </a:xfrm>
          <a:prstGeom prst="rect">
            <a:avLst/>
          </a:prstGeom>
        </p:spPr>
      </p:pic>
      <p:pic>
        <p:nvPicPr>
          <p:cNvPr id="9" name="Picture 8" descr="case_6e51af9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8" y="1234440"/>
            <a:ext cx="3611880" cy="2103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3520440"/>
            <a:ext cx="6858000" cy="269748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611880"/>
            <a:ext cx="6492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4D8C"/>
                </a:solidFill>
                <a:latin typeface="Microsoft YaHei"/>
              </a:rPr>
              <a:t>当天议程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6492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300">
                <a:solidFill>
                  <a:srgbClr val="4A4A5A"/>
                </a:solidFill>
                <a:latin typeface="Microsoft YaHei"/>
              </a:rPr>
              <a:t>参观数字化场景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300">
                <a:solidFill>
                  <a:srgbClr val="4A4A5A"/>
                </a:solidFill>
                <a:latin typeface="Microsoft YaHei"/>
              </a:rPr>
              <a:t>主题分享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300">
                <a:solidFill>
                  <a:srgbClr val="4A4A5A"/>
                </a:solidFill>
                <a:latin typeface="Microsoft YaHei"/>
              </a:rPr>
              <a:t>案例落地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300">
                <a:solidFill>
                  <a:srgbClr val="4A4A5A"/>
                </a:solidFill>
                <a:latin typeface="Microsoft YaHei"/>
              </a:rPr>
              <a:t>政策解读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300">
                <a:solidFill>
                  <a:srgbClr val="4A4A5A"/>
                </a:solidFill>
                <a:latin typeface="Microsoft YaHei"/>
              </a:rPr>
              <a:t>互动答疑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3520440"/>
            <a:ext cx="4114800" cy="2697480"/>
          </a:xfrm>
          <a:prstGeom prst="rect">
            <a:avLst/>
          </a:prstGeom>
          <a:solidFill>
            <a:srgbClr val="E8F0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3611880"/>
            <a:ext cx="3840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4D8C"/>
                </a:solidFill>
                <a:latin typeface="Microsoft YaHei"/>
              </a:rPr>
              <a:t>可见机构/企业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977639"/>
            <a:ext cx="384048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杨浦区委网信办；赛博院等
企业侧：美团；大众点评大模型团队等
映射：对应：B类政策沙龙、A类训练营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06 · 往期案例（2）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「融见科创」人工智能专场路演暨投融资对接会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4A4A5A"/>
                </a:solidFill>
                <a:latin typeface="Microsoft YaHei"/>
              </a:rPr>
              <a:t>2025-10 · 杨浦 · 路演对接类</a:t>
            </a:r>
          </a:p>
        </p:txBody>
      </p:sp>
      <p:pic>
        <p:nvPicPr>
          <p:cNvPr id="7" name="Picture 6" descr="case_db1d5ca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3611880" cy="2103120"/>
          </a:xfrm>
          <a:prstGeom prst="rect">
            <a:avLst/>
          </a:prstGeom>
        </p:spPr>
      </p:pic>
      <p:pic>
        <p:nvPicPr>
          <p:cNvPr id="8" name="Picture 7" descr="case_659315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59" y="1234440"/>
            <a:ext cx="3611880" cy="2103120"/>
          </a:xfrm>
          <a:prstGeom prst="rect">
            <a:avLst/>
          </a:prstGeom>
        </p:spPr>
      </p:pic>
      <p:pic>
        <p:nvPicPr>
          <p:cNvPr id="9" name="Picture 8" descr="case_cb0a381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998" y="1234440"/>
            <a:ext cx="3611880" cy="21031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3520440"/>
            <a:ext cx="6858000" cy="269748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611880"/>
            <a:ext cx="6492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4D8C"/>
                </a:solidFill>
                <a:latin typeface="Microsoft YaHei"/>
              </a:rPr>
              <a:t>当天议程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6492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300">
                <a:solidFill>
                  <a:srgbClr val="4A4A5A"/>
                </a:solidFill>
                <a:latin typeface="Microsoft YaHei"/>
              </a:rPr>
              <a:t>开场致辞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300">
                <a:solidFill>
                  <a:srgbClr val="4A4A5A"/>
                </a:solidFill>
                <a:latin typeface="Microsoft YaHei"/>
              </a:rPr>
              <a:t>主办致辞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300">
                <a:solidFill>
                  <a:srgbClr val="4A4A5A"/>
                </a:solidFill>
                <a:latin typeface="Microsoft YaHei"/>
              </a:rPr>
              <a:t>趋势分享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300">
                <a:solidFill>
                  <a:srgbClr val="4A4A5A"/>
                </a:solidFill>
                <a:latin typeface="Microsoft YaHei"/>
              </a:rPr>
              <a:t>项目路演对接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300">
                <a:solidFill>
                  <a:srgbClr val="4A4A5A"/>
                </a:solidFill>
                <a:latin typeface="Microsoft YaHei"/>
              </a:rPr>
              <a:t>点评跟进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3520440"/>
            <a:ext cx="4114800" cy="2697480"/>
          </a:xfrm>
          <a:prstGeom prst="rect">
            <a:avLst/>
          </a:prstGeom>
          <a:solidFill>
            <a:srgbClr val="E8F0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3611880"/>
            <a:ext cx="3840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1E4D8C"/>
                </a:solidFill>
                <a:latin typeface="Microsoft YaHei"/>
              </a:rPr>
              <a:t>可见机构/企业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3977639"/>
            <a:ext cx="384048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/>
              </a:rPr>
              <a:t>杨浦科创促进会、邮储银行等
企业侧：复楚智能、卡房信息、一造科技、中科趋势、万笔千墨等
映射：对应：F4 Demo Day、项目推广日、路演类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07 · 逐场执行要素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P1–E4｜行程/嘉宾/交付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782817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225296"/>
            <a:ext cx="72795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编号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5737" y="1188720"/>
            <a:ext cx="2460284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2313" y="1225296"/>
            <a:ext cx="24054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活动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6021" y="1188720"/>
            <a:ext cx="335493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82597" y="1225296"/>
            <a:ext cx="330006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行程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00954" y="1188720"/>
            <a:ext cx="2907609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7530" y="1225296"/>
            <a:ext cx="285274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嘉宾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08563" y="1188720"/>
            <a:ext cx="1677466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45139" y="1225296"/>
            <a:ext cx="162260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交付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536192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1572768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P1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5737" y="1536192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2313" y="1572768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创智汇项目推广日①·中介与渠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6021" y="1536192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2597" y="1572768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项目介绍→空间导览→政策要点→一对一洽谈→建群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00954" y="1536192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7530" y="1572768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房产/产业中介、渠道机构、园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8563" y="1536192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5139" y="1572768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1920240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" y="1956816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P2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85737" y="1920240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2313" y="1956816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创智汇项目推广日②·五大行与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6021" y="1920240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82597" y="1956816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项目路演→金融产品对接→企业需求座谈→看场→建群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00954" y="1920240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7530" y="1956816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五大行及合作金融机构对公/科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08563" y="1920240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45139" y="1956816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2304288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" y="2340864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P3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85737" y="2304288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22313" y="2340864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创智汇项目推广日③·投研机构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46021" y="2304288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2597" y="2340864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项目定位→产业赛道研判→圆桌→看场→建群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00954" y="2304288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7530" y="2340864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券商研究所、产业研究院、智库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08563" y="2304288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5139" y="2340864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688336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496" y="2724912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P4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85737" y="2688336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2313" y="2724912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创智汇项目推广日④·政府部门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46021" y="2688336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82597" y="2724912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载体介绍→政策协同→云创基地资源→看场→建群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00954" y="2688336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37530" y="2724912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区相关部门、载体代表、云创基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08563" y="2688336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45139" y="2724912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3072384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9496" y="3108960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E1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85737" y="3072384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22313" y="3108960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WAIC成果承接·创智汇开放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46021" y="3072384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782597" y="3108960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WAIC议题速递→园区承接→双展台→洽谈→建群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00954" y="3072384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7530" y="3108960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AI/内容企业、媒体、云创基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008563" y="3072384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45139" y="3108960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3456432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9496" y="3493008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285737" y="3456432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22313" y="3493008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Agent智能体搭建一日营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46021" y="3456432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82597" y="3493008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签到→工作流→实操→Demo→看场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00954" y="3456432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7530" y="3493008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Agent工程师、初创团队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008563" y="3456432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045139" y="3493008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3840480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9496" y="3877056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85737" y="3840480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322313" y="3877056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ChinaJoy主题·数字娱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46021" y="3840480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782597" y="3877056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ChinaJoy赛道解读→IP授权→一对一撮合→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00954" y="3840480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37530" y="3877056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游戏/动漫/潮玩IP方、渠道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008563" y="3840480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45139" y="3877056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2920" y="4224528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9496" y="4261104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F1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285737" y="4224528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2313" y="4261104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出海专题活动（另议·另计价）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746021" y="4224528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782597" y="4261104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另案确定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100954" y="4224528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37530" y="4261104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另案确定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008563" y="4224528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045139" y="4261104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另案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4608576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39496" y="4645152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A3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285737" y="4608576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322313" y="4645152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多模态智能体工作坊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746021" y="4608576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2597" y="4645152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案例→实操→共创→评审→看场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100954" y="4608576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37530" y="4645152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多模态应用团队、产品负责人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008563" y="4608576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045139" y="4645152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2920" y="4992624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9496" y="5029200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E4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285737" y="4992624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322313" y="5029200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ChinaJoy主题日·数字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746021" y="4992624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782597" y="5029200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开幕→赛道分享→展洽→看场→建群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100954" y="4992624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137530" y="5029200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数字娱乐企业、内容工作室、渠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008563" y="4992624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045139" y="5029200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07 · 逐场执行要素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B2–B3｜行程/嘉宾/交付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782817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225296"/>
            <a:ext cx="72795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编号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5737" y="1188720"/>
            <a:ext cx="2460284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2313" y="1225296"/>
            <a:ext cx="24054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活动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6021" y="1188720"/>
            <a:ext cx="335493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82597" y="1225296"/>
            <a:ext cx="330006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行程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00954" y="1188720"/>
            <a:ext cx="2907609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7530" y="1225296"/>
            <a:ext cx="285274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嘉宾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08563" y="1188720"/>
            <a:ext cx="1677466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45139" y="1225296"/>
            <a:ext cx="162260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交付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536192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1572768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B2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5737" y="1536192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2313" y="1572768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AI治理与可信智能体沙龙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6021" y="1536192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2597" y="1572768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治理框架→合规清单→案例→问答→对接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00954" y="1536192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7530" y="1572768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合规顾问、企业法务/负责人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8563" y="1536192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5139" y="1572768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1920240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" y="1956816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85737" y="1920240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2313" y="1956816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火山引擎×算力Infra实务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6021" y="1920240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82597" y="1956816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政策包→代金券→案例→诊断→看场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00954" y="1920240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7530" y="1956816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火山引擎、云创基地、企业技术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08563" y="1920240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45139" y="1956816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2304288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" y="2340864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B4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85737" y="2304288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22313" y="2340864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创新券·算力券·模型券实务沙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46021" y="2304288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2597" y="2340864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三券规则→核销→案例→开户→入驻洽谈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00954" y="2304288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7530" y="2340864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券平台、云厂商、企业负责人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08563" y="2304288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5139" y="2340864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688336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496" y="2724912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L1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85737" y="2688336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2313" y="2724912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领事到访接待（另计价）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46021" y="2688336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82597" y="2724912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另案确定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00954" y="2688336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37530" y="2724912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领事及相关方（另案）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08563" y="2688336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45139" y="2724912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另案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3072384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9496" y="3108960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85737" y="3072384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22313" y="3108960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具身智能空间交互体验日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46021" y="3072384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782597" y="3108960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演示→讲解→场景→踩点→洽谈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00954" y="3072384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7530" y="3108960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具身团队、高校实验室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008563" y="3072384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45139" y="3108960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3456432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9496" y="3493008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F4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285737" y="3456432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22313" y="3493008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创智汇AI年度Demo Da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46021" y="3456432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82597" y="3493008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开幕→精选路演→颁奖→洽谈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00954" y="3456432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7530" y="3493008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投资人、链主、媒体、精选项目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008563" y="3456432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045139" y="3493008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3840480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9496" y="3877056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D1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85737" y="3840480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322313" y="3877056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AIGC微短剧制片特训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46021" y="3840480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782597" y="3877056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政策→制片→脚本→路演→看场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00954" y="3840480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37530" y="3877056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导演、厂牌、平台方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008563" y="3840480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45139" y="3877056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2920" y="4224528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9496" y="4261104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285737" y="4224528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2313" y="4261104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AI营销Agent实战营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746021" y="4224528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782597" y="4261104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策略→Agent→素材→复盘→转化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100954" y="4224528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37530" y="4261104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投放操盘手、产品经理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008563" y="4224528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045139" y="4261104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4608576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39496" y="4645152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B1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285737" y="4608576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322313" y="4645152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YOUNG立方×智能伙伴政策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746021" y="4608576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2597" y="4645152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政策→礼包→画像→诊断→看场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100954" y="4608576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37530" y="4645152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政策宣讲、服中心、企业负责人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008563" y="4608576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045139" y="4645152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2920" y="4992624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9496" y="5029200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B3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285737" y="4992624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322313" y="5029200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高企认定冲刺（AI企业专场）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746021" y="4992624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782597" y="5029200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条件→材料→初筛→套餐→激励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100954" y="4992624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137530" y="5029200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辅导顾问、待认定企业负责人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008563" y="4992624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045139" y="5029200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07 · 逐场执行要素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A7–D5｜行程/嘉宾/交付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782817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225296"/>
            <a:ext cx="727953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Microsoft YaHei"/>
              </a:rPr>
              <a:t>编号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5737" y="1188720"/>
            <a:ext cx="2460284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2313" y="1225296"/>
            <a:ext cx="2405420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活动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6021" y="1188720"/>
            <a:ext cx="3354933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82597" y="1225296"/>
            <a:ext cx="3300069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行程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00954" y="1188720"/>
            <a:ext cx="2907609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7530" y="1225296"/>
            <a:ext cx="285274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嘉宾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08563" y="1188720"/>
            <a:ext cx="1677466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45139" y="1225296"/>
            <a:ext cx="1622602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Microsoft YaHei"/>
              </a:rPr>
              <a:t>交付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536192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496" y="1572768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A7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5737" y="1536192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2313" y="1572768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OPC超级个体黑客松（春）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46021" y="1536192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82597" y="1572768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开题→开发→路演→礼包→看场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00954" y="1536192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7530" y="1572768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评委、投资人、Builder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8563" y="1536192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5139" y="1572768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1920240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" y="1956816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85737" y="1920240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22313" y="1956816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高校成果转化·AI for 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6021" y="1920240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82597" y="1956816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成果路演→场景→承接→看单元→洽谈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00954" y="1920240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7530" y="1956816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复旦/同济技转、教授团队、住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08563" y="1920240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45139" y="1956816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2304288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6" y="2340864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F3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85737" y="2304288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22313" y="2340864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通往AGI季度圆桌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46021" y="2304288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2597" y="2340864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议题→圆桌→围炉→问答→看场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00954" y="2304288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7530" y="2340864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学者、模型企业、投资人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08563" y="2304288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45139" y="2340864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688336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9496" y="2724912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D2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285737" y="2688336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2313" y="2724912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ChinaJoy主题·创作者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46021" y="2688336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82597" y="2724912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揭幕→发布→快闪→专访→招商通道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00954" y="2688336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37530" y="2724912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创作者、媒体、渠道、Chin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08563" y="2688336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45139" y="2724912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3072384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9496" y="3108960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85737" y="3072384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22313" y="3108960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ChinaJoy主题·游戏周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46021" y="3072384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782597" y="3108960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赛道介绍→供需对接→展位参观→报价→建群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100954" y="3072384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7530" y="3108960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游戏周边、潮玩供应链、渠道采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008563" y="3072384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45139" y="3108960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3456432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9496" y="3493008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285737" y="3456432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322313" y="3493008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专精特新·AI应用培育路演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746021" y="3456432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82597" y="3493008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政策→路演→点评→金融→看场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100954" y="3456432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37530" y="3493008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顾问、银行、基金、企业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008563" y="3456432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045139" y="3493008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3840480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9496" y="3877056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D3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285737" y="3840480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322313" y="3877056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ChinaJoy主题·数字娱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46021" y="3840480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782597" y="3877056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布展→体验→交流→转正洽谈→建群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100954" y="3840480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137530" y="3877056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内容工作室、周边品牌、达人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008563" y="3840480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45139" y="3877056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2920" y="4224528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9496" y="4261104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C5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285737" y="4224528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22313" y="4261104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ChinaJoy主题·IP联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746021" y="4224528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782597" y="4261104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IP路演→联名模式→一对一→MOU→看场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100954" y="4224528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37530" y="4261104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IP方、衍生品商、渠道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008563" y="4224528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045139" y="4261104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4608576"/>
            <a:ext cx="782817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39496" y="4645152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D4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285737" y="4608576"/>
            <a:ext cx="2460284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322313" y="4645152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ChinaJoy主题·沉浸式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746021" y="4608576"/>
            <a:ext cx="3354933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2597" y="4645152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布展→预约观展→交流→闭幕洽谈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100954" y="4608576"/>
            <a:ext cx="2907609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37530" y="4645152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联合内容方、渠道、品牌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008563" y="4608576"/>
            <a:ext cx="1677466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045139" y="4645152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2920" y="4992624"/>
            <a:ext cx="782817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39496" y="5029200"/>
            <a:ext cx="727953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1A1A2E"/>
                </a:solidFill>
                <a:latin typeface="Microsoft YaHei"/>
              </a:rPr>
              <a:t>D5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285737" y="4992624"/>
            <a:ext cx="2460284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322313" y="5029200"/>
            <a:ext cx="240542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创作者首发②·衔接WAIC2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746021" y="4992624"/>
            <a:ext cx="3354933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782597" y="5029200"/>
            <a:ext cx="3300069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发布→渠道→看场→年框→双会预热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100954" y="4992624"/>
            <a:ext cx="2907609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137530" y="5029200"/>
            <a:ext cx="2852745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IP方、渠道、媒体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008563" y="4992624"/>
            <a:ext cx="1677466" cy="384048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045139" y="5029200"/>
            <a:ext cx="1622602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1A1A2E"/>
                </a:solidFill>
                <a:latin typeface="Microsoft YaHei"/>
              </a:rPr>
              <a:t>标准包+建群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08 · 双会衔接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活动同步衔接 WAIC 与 ChinaJoy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5394960" cy="493776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3152" cy="493776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344168"/>
            <a:ext cx="50749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WAIC 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673352"/>
            <a:ext cx="502920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8月开放交流日承接大会议题余热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Agent/多模态/算力/具身训练营常态化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年底 Demo Day 收口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次年创作者首发预热 WAIC 2027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云创基地算力与孵化资源贯穿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234440"/>
            <a:ext cx="5074920" cy="493776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1234440"/>
            <a:ext cx="73152" cy="4937760"/>
          </a:xfrm>
          <a:prstGeom prst="rect">
            <a:avLst/>
          </a:prstGeom>
          <a:solidFill>
            <a:srgbClr val="C4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4848" y="1344168"/>
            <a:ext cx="47548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ChinaJoy 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1673352"/>
            <a:ext cx="47091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数字娱乐与IP授权对接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游戏周边与潮玩供应链对接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创作者内容首发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数字娱乐市集体验 / 沉浸式联展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IP联名与衍生品撮合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08 · 另议另计价事项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不在本册活动服务费内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131271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9496" y="1316736"/>
            <a:ext cx="307640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事项</a:t>
            </a:r>
          </a:p>
        </p:txBody>
      </p:sp>
      <p:sp>
        <p:nvSpPr>
          <p:cNvPr id="8" name="Rectangle 7"/>
          <p:cNvSpPr/>
          <p:nvPr/>
        </p:nvSpPr>
        <p:spPr>
          <a:xfrm>
            <a:off x="3634191" y="1280160"/>
            <a:ext cx="3131271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0767" y="1316736"/>
            <a:ext cx="3076407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计价方式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5462" y="1280160"/>
            <a:ext cx="4920569" cy="347472"/>
          </a:xfrm>
          <a:prstGeom prst="rect">
            <a:avLst/>
          </a:prstGeom>
          <a:solidFill>
            <a:srgbClr val="1E4D8C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2038" y="1316736"/>
            <a:ext cx="4865705" cy="29260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性质说明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27632"/>
            <a:ext cx="3131271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" y="1664208"/>
            <a:ext cx="3076407" cy="5852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出海专题活动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34191" y="1627632"/>
            <a:ext cx="3131271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0767" y="1664208"/>
            <a:ext cx="3076407" cy="5852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另议 · 另计价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5462" y="1627632"/>
            <a:ext cx="4920569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2038" y="1664208"/>
            <a:ext cx="4865705" cy="5852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不纳入本册年度活动包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267712"/>
            <a:ext cx="3131271" cy="64008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" y="2304288"/>
            <a:ext cx="3076407" cy="5852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领事到访接待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34191" y="2267712"/>
            <a:ext cx="3131271" cy="64008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70767" y="2304288"/>
            <a:ext cx="3076407" cy="5852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另计价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5462" y="2267712"/>
            <a:ext cx="4920569" cy="64008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2038" y="2304288"/>
            <a:ext cx="4865705" cy="5852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外事接待类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07792"/>
            <a:ext cx="3131271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" y="2944368"/>
            <a:ext cx="3076407" cy="5852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领事馆挂牌及挂牌活动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34191" y="2907792"/>
            <a:ext cx="3131271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70767" y="2944368"/>
            <a:ext cx="3076407" cy="5852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另计价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65462" y="2907792"/>
            <a:ext cx="4920569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2038" y="2944368"/>
            <a:ext cx="4865705" cy="5852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挂牌类；与领事到访分属不同性质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547872"/>
            <a:ext cx="3131271" cy="64008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" y="3584448"/>
            <a:ext cx="3076407" cy="5852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外资企业到场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34191" y="3547872"/>
            <a:ext cx="3131271" cy="64008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70767" y="3584448"/>
            <a:ext cx="3076407" cy="5852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不承诺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5462" y="3547872"/>
            <a:ext cx="4920569" cy="640080"/>
          </a:xfrm>
          <a:prstGeom prst="rect">
            <a:avLst/>
          </a:prstGeom>
          <a:solidFill>
            <a:srgbClr val="E8F0FA"/>
          </a:solidFill>
          <a:ln w="635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02038" y="3584448"/>
            <a:ext cx="4865705" cy="58521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Microsoft YaHei"/>
              </a:rPr>
              <a:t>原则：不承诺一定会带外资企业来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1E4D8C"/>
                </a:solidFill>
                <a:latin typeface="Microsoft YaHei"/>
              </a:rPr>
              <a:t>09 · 一页纸结论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8912"/>
            <a:ext cx="1097280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Microsoft YaHei"/>
              </a:rPr>
              <a:t>活动专项交付要点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3657600" cy="493776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73152" cy="493776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344168"/>
            <a:ext cx="33375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我们交付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673352"/>
            <a:ext cx="32918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30场排期（每场≤30人）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8月项目推广日（中介/五大行/投研/政府）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ChinaJoy主题内容场次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同步衔接 WAIC 与 ChinaJoy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带客、建群、回访摘要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E4D8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往期案例（企业+议程+现场照）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234440"/>
            <a:ext cx="3657600" cy="493776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73152" cy="4937760"/>
          </a:xfrm>
          <a:prstGeom prst="rect">
            <a:avLst/>
          </a:prstGeom>
          <a:solidFill>
            <a:srgbClr val="1F7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44168"/>
            <a:ext cx="33375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请园区协同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673352"/>
            <a:ext cx="329184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场地物业与样板间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共享在谈名单、确认档期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负责销售部分与成交交割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群内发布条件促成成交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7A5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云创基地/联合会/服中心协同到位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234440"/>
            <a:ext cx="3474720" cy="4937760"/>
          </a:xfrm>
          <a:prstGeom prst="rect">
            <a:avLst/>
          </a:prstGeom>
          <a:solidFill>
            <a:srgbClr val="F7F8FA"/>
          </a:solidFill>
          <a:ln w="10160">
            <a:solidFill>
              <a:srgbClr val="D8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234440"/>
            <a:ext cx="73152" cy="4937760"/>
          </a:xfrm>
          <a:prstGeom prst="rect">
            <a:avLst/>
          </a:prstGeom>
          <a:solidFill>
            <a:srgbClr val="C4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7" y="1344168"/>
            <a:ext cx="315468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Microsoft YaHei"/>
              </a:rPr>
              <a:t>商务口径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7" y="1673352"/>
            <a:ext cx="310896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付款：50%+4×10%+10%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租金不做对赌/必要性要求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建议免租期1–3个月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出海/领事另计价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C49A3C"/>
                </a:solidFill>
                <a:latin typeface="Microsoft YaHei"/>
              </a:rPr>
              <a:t>▪ </a:t>
            </a:r>
            <a:r>
              <a:rPr sz="1200">
                <a:solidFill>
                  <a:srgbClr val="4A4A5A"/>
                </a:solidFill>
                <a:latin typeface="Microsoft YaHei"/>
              </a:rPr>
              <a:t>不承诺必带外企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0312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3600" b="1">
                <a:solidFill>
                  <a:srgbClr val="1A1A2E"/>
                </a:solidFill>
                <a:latin typeface="Microsoft YaHei"/>
              </a:rPr>
              <a:t>谢谢审阅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800" b="1">
                <a:solidFill>
                  <a:srgbClr val="1E4D8C"/>
                </a:solidFill>
                <a:latin typeface="Microsoft YaHei"/>
              </a:rPr>
              <a:t>创智汇 · 30场活动专项交付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38328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400" b="0">
                <a:solidFill>
                  <a:srgbClr val="4A4A5A"/>
                </a:solidFill>
                <a:latin typeface="Microsoft YaHei"/>
              </a:rPr>
              <a:t>我们带客 · 园区销售 · 衔接 WAIC &amp; ChinaJoy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023360"/>
            <a:ext cx="109728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300" b="0">
                <a:solidFill>
                  <a:srgbClr val="8A8A9A"/>
                </a:solidFill>
                <a:latin typeface="Microsoft YaHei"/>
              </a:rPr>
              <a:t>主体运营：上海市云计算创新基地（国家级孵化器）
学术支持：复旦大学住房政策研究中心
载体支持：杨浦区科技企业联合会 · 科技企业服务中心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37960"/>
            <a:ext cx="841248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8A8A9A"/>
                </a:solidFill>
                <a:latin typeface="Microsoft YaHei"/>
              </a:rPr>
              <a:t>上海创智汇 × 同浦汇 · 活动专项 · 衔接 WAIC &amp; ChinaJoy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537960"/>
            <a:ext cx="137160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000" b="0">
                <a:solidFill>
                  <a:srgbClr val="8A8A9A"/>
                </a:solidFill>
                <a:latin typeface="Microsoft YaHei"/>
              </a:rPr>
              <a:t>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