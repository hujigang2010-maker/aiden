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E4D8C"/>
                </a:solidFill>
                <a:latin typeface="Microsoft YaHei"/>
              </a:rPr>
              <a:t>上海创智汇 × 同浦汇｜活动专项交付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Microsoft YaHei"/>
              </a:rPr>
              <a:t>创智汇 · 30场活动怎么做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9A3C"/>
                </a:solidFill>
                <a:latin typeface="Microsoft YaHei"/>
              </a:rPr>
              <a:t>2026.08—2027.07　｜　表格说清楚：概况 · 价值 · 交付 · 分工 · 收费 · 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A63D40"/>
                </a:solidFill>
                <a:latin typeface="Microsoft YaHei"/>
              </a:rPr>
              <a:t>本册仅为活动运营专项交付，不含招商制度保障条款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23360"/>
            <a:ext cx="3566160" cy="2194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023360"/>
            <a:ext cx="73152" cy="21945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133088"/>
            <a:ext cx="32461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修订要点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462272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人数目标下调更可执行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出海场次慎重、控成本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同浦汇主责客户跟踪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园区重心=后续活动+群内逼单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023360"/>
            <a:ext cx="3566160" cy="2194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023360"/>
            <a:ext cx="73152" cy="21945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133088"/>
            <a:ext cx="32461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协同着眼点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462272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活动结束立即建群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同浦汇完成回访与台账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园区在群内促进成交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不把回访责任压给园区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023360"/>
            <a:ext cx="3566160" cy="2194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4023360"/>
            <a:ext cx="73152" cy="21945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4133088"/>
            <a:ext cx="32461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商业建议（线下谈）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4462272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活动服务费打包/按场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建议配套免租期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付款节点建议方案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佣金仅作参考非本册重点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本册结构（活动专项）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31673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章节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4893" y="1280160"/>
            <a:ext cx="805184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1469" y="1316736"/>
            <a:ext cx="79969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96733" y="1280160"/>
            <a:ext cx="178929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3309" y="1316736"/>
            <a:ext cx="173443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27632"/>
            <a:ext cx="134197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64208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4893" y="1627632"/>
            <a:ext cx="805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1469" y="1664208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总体口径：关联度100%、人数修订、出海慎重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96733" y="1627632"/>
            <a:ext cx="178929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3309" y="1664208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66544"/>
            <a:ext cx="1341973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03120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4893" y="2066544"/>
            <a:ext cx="8051840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1469" y="2103120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30场概况总表（主题/时间/形式/人数/负责人占比）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96733" y="2066544"/>
            <a:ext cx="178929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3309" y="2103120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04–05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05456"/>
            <a:ext cx="134197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542032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44893" y="2505456"/>
            <a:ext cx="805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81469" y="2542032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活动价值 · 具体交付 · 执行分工 · 建群逼单协同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6733" y="2505456"/>
            <a:ext cx="178929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3309" y="2542032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06–09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44368"/>
            <a:ext cx="1341973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980944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4893" y="2944368"/>
            <a:ext cx="8051840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1469" y="2980944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收费模式 · 免租期建议 · 付款节点建议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6733" y="2944368"/>
            <a:ext cx="178929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3309" y="2980944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383280"/>
            <a:ext cx="134197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419856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44893" y="3383280"/>
            <a:ext cx="805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81469" y="3419856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单场执行节奏与转化（同浦汇主责跟踪）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96733" y="3383280"/>
            <a:ext cx="178929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33309" y="3419856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822192"/>
            <a:ext cx="1341973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858768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44893" y="3822192"/>
            <a:ext cx="8051840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81469" y="3858768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往期案例（企业+议程+现场照片）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96733" y="3822192"/>
            <a:ext cx="178929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3309" y="3858768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12–13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261104"/>
            <a:ext cx="134197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" y="4297680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44893" y="4261104"/>
            <a:ext cx="805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81469" y="4297680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逐场执行要素表（行程/嘉宾/交付）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96733" y="4261104"/>
            <a:ext cx="178929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3309" y="4297680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14–17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00016"/>
            <a:ext cx="1341973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736592"/>
            <a:ext cx="128710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4893" y="4700016"/>
            <a:ext cx="8051840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1469" y="4736592"/>
            <a:ext cx="79969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一页纸结论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6733" y="4700016"/>
            <a:ext cx="178929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3309" y="4736592"/>
            <a:ext cx="173443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总体口径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三个关键口径先说清楚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① 孵化器关联度 =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全部场次按园区产业主题定向邀约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不设随机散客 / 公开路人渠道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每场交付《关联度核验表》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负责人占比按场次目标列示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政府/高校/投资人/媒体为背书席位，单独标注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② 人数已下调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开放日：300→120–150人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嘉年华：500→150–200人（改为主题日）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联展：2000人次→累计约600人次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Demo Day：200→80–120人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全年触达目标同步下调为约600人次+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以可执行、可核验为准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③ 出海慎重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不默认邀请境外企业到场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F1改为国内出海路径/合规沙龙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F2改为涉外服务准备专场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领事/外企接待另案评估费用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控制外事与接待成本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30场概况总表（上）2026.08—12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形式 · 执行节奏 · 人数 · 负责人占比 · 关联度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37" y="114300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2313" y="117957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9683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6259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5318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1894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7291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3867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9264" y="1143000"/>
            <a:ext cx="100648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840" y="1179576"/>
            <a:ext cx="95161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负责人%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5744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320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关联度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20392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6968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9047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5270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5737" y="149047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2313" y="15270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智能伙伴·创智汇年度启动沙龙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9683" y="14904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6259" y="15270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8月上旬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5318" y="14904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1894" y="15270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主题沙龙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7291" y="14904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3867" y="15270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9264" y="149047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5840" y="15270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5744" y="149047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320" y="15270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20392" y="14904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6968" y="15270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集中邀约潜在客户，为全年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176479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18013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5737" y="176479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2313" y="18013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69683" y="17647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6259" y="18013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5318" y="17647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1894" y="18013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开放日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77291" y="17647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3867" y="18013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120–150人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9264" y="176479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5840" y="18013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25744" y="176479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320" y="18013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0392" y="17647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56968" y="18013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大会资源导入园区看场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03911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0756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5737" y="203911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2313" y="20756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 Builders Ni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69683" y="20391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6259" y="20756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35318" y="20391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1894" y="20756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夜场社交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77291" y="20391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3867" y="20756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60–80人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19264" y="203911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55840" y="20756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50%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25744" y="203911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62320" y="20756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20392" y="20391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56968" y="20756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建造者当场看3F单元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231343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23500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85737" y="231343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22313" y="23500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通往AGI之夜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69683" y="23134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06259" y="23500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5318" y="23134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1894" y="23500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学术夜场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77291" y="23134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3867" y="23500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19264" y="231343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55840" y="23500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25744" y="231343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62320" y="23500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20392" y="23134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56968" y="23500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招引研究型/模型团队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258775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262432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85737" y="258775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22313" y="262432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东莞潮玩品牌入沪推介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69683" y="25877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06259" y="26243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35318" y="25877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1894" y="26243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推介会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77291" y="25877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13867" y="26243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19264" y="258775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55840" y="262432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225744" y="258775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62320" y="262432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20392" y="25877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56968" y="26243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品牌展位与快闪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286207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28986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85737" y="286207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22313" y="28986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69683" y="28620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006259" y="28986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9月上旬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35318" y="28620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71894" y="28986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实训营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77291" y="28620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3867" y="28986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19264" y="286207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55840" y="28986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25744" y="286207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62320" y="28986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20392" y="28620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56968" y="28986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313639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31729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5737" y="313639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22313" y="31729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IP授权×AI衍生交易撮合会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69683" y="313639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006259" y="31729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9月中旬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35318" y="313639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71894" y="31729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撮合会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77291" y="313639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13867" y="31729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19264" y="313639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55840" y="31729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225744" y="313639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262320" y="31729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120392" y="313639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56968" y="31729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IP/衍生品团队入驻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341071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9496" y="34472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85737" y="341071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322313" y="34472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AI出海路径与合规沙龙（国内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69683" y="341071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006259" y="34472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9月下旬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35318" y="341071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71894" y="34472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政策/路径沙龙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77291" y="341071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13867" y="34472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19264" y="341071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55840" y="34472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85%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225744" y="341071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262320" y="34472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120392" y="341071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156968" y="34472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服务有出海意向的国内企业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368503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37216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85737" y="368503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22313" y="37216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969683" y="368503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06259" y="37216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10月上旬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35318" y="368503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71894" y="37216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工作坊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77291" y="368503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13867" y="37216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219264" y="368503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55840" y="37216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225744" y="368503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262320" y="37216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120392" y="368503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56968" y="37216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2920" y="395935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39496" y="399592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285737" y="395935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322313" y="399592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创智汇秋季潮玩×AI主题日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969683" y="395935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006259" y="39959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10月中旬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35318" y="395935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71894" y="39959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主题日（1天）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877291" y="395935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13867" y="39959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150–200人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219264" y="395935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255840" y="399592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225744" y="395935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262320" y="399592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120392" y="395935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156968" y="39959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集中签约展位/办公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02920" y="423367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39496" y="42702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285737" y="423367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322313" y="42702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969683" y="42336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006259" y="42702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10月下旬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35318" y="42336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571894" y="42702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沙龙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877291" y="42336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13867" y="42702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219264" y="423367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55840" y="42702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85%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225744" y="423367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262320" y="42702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120392" y="42336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156968" y="42702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合规型企业信任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02920" y="450799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39496" y="45445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5737" y="450799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322313" y="45445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969683" y="45079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006259" y="45445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11月上旬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35318" y="45079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571894" y="45445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厂商联训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877291" y="45079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13867" y="45445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219264" y="450799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255840" y="45445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70%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225744" y="450799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262320" y="45445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120392" y="45079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156968" y="45445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高算力企业定向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02920" y="478231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39496" y="48188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285737" y="478231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322313" y="48188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969683" y="47823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006259" y="48188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11月中旬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35318" y="47823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571894" y="48188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实务沙龙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877291" y="47823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13867" y="48188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219264" y="478231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255840" y="48188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85%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225744" y="478231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262320" y="48188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120392" y="47823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156968" y="48188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" y="505663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39496" y="50932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85737" y="505663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322313" y="50932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涉外服务与出海准备专场（慎重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969683" y="50566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006259" y="50932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11月下旬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35318" y="50566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571894" y="50932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闭门沙龙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877291" y="50566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913867" y="50932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20–30人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219264" y="505663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255840" y="50932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90%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9225744" y="505663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262320" y="50932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120392" y="50566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156968" y="50932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服务国内涉外/出海准备企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2920" y="533095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39496" y="536752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285737" y="533095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322313" y="536752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969683" y="53309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006259" y="53675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12月上旬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35318" y="53309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571894" y="53675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体验日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877291" y="53309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913867" y="53675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219264" y="533095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255840" y="536752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50%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225744" y="533095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262320" y="536752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120392" y="53309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156968" y="53675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机器人团队看场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02920" y="560527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39496" y="56418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285737" y="560527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322313" y="56418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969683" y="56052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006259" y="56418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12月中旬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35318" y="56052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571894" y="56418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路演日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877291" y="56052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913867" y="56418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80–120人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219264" y="560527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255840" y="56418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65%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9225744" y="560527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262320" y="56418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120392" y="56052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156968" y="56418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集中签约与媒体背书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30场概况总表（下）2027.01—07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形式 · 执行节奏 · 人数 · 负责人占比 · 关联度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37" y="114300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2313" y="117957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9683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6259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5318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1894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7291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3867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9264" y="1143000"/>
            <a:ext cx="100648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840" y="1179576"/>
            <a:ext cx="95161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负责人%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5744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320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关联度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20392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6968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9047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5270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5737" y="149047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2313" y="15270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9683" y="14904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6259" y="15270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次1月上旬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5318" y="14904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1894" y="15270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特训营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7291" y="14904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3867" y="15270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9264" y="149047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5840" y="15270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5744" y="149047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320" y="15270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20392" y="14904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6968" y="15270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176479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18013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5737" y="176479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2313" y="18013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69683" y="17647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6259" y="18013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次1月中旬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5318" y="17647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1894" y="18013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实战营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77291" y="17647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3867" y="18013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9264" y="176479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5840" y="18013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70%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25744" y="176479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320" y="18013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0392" y="17647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56968" y="18013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营销科技公司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03911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0756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5737" y="203911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2313" y="20756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69683" y="20391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6259" y="20756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35318" y="20391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1894" y="20756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政策沙龙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77291" y="20391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3867" y="20756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19264" y="203911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55840" y="20756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25744" y="203911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62320" y="20756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20392" y="20391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56968" y="20756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231343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23500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85737" y="231343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22313" y="23500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69683" y="23134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06259" y="23500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次2月下旬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5318" y="23134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1894" y="23500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辅导会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77291" y="23134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13867" y="23500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19264" y="231343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55840" y="23500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25744" y="231343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62320" y="23500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20392" y="23134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56968" y="23500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外区待认定企业带政策入驻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258775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262432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85737" y="258775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22313" y="262432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69683" y="25877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06259" y="26243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次3月上旬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35318" y="25877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1894" y="26243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黑客松（1.5天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77291" y="258775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13867" y="26243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19264" y="258775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55840" y="262432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225744" y="258775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62320" y="262432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20392" y="258775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56968" y="26243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286207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28986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85737" y="286207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22313" y="28986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69683" y="28620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006259" y="28986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35318" y="28620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71894" y="28986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对接日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77291" y="286207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3867" y="28986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19264" y="286207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55840" y="28986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25744" y="286207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62320" y="28986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20392" y="286207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56968" y="28986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313639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31729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5737" y="313639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22313" y="31729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69683" y="313639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006259" y="31729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35318" y="313639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71894" y="31729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闭门圆桌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77291" y="313639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13867" y="31729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20–30人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19264" y="313639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55840" y="31729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225744" y="313639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262320" y="31729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120392" y="313639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56968" y="31729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341071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9496" y="34472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85737" y="341071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322313" y="34472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AI创作者内容首发①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69683" y="341071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006259" y="34472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次4月中旬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35318" y="341071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71894" y="34472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77291" y="341071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13867" y="34472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60–80人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19264" y="341071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55840" y="34472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225744" y="341071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262320" y="34472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120392" y="341071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156968" y="34472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关联品牌问询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368503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37216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85737" y="368503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322313" y="37216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汕头玩具×AIGC供应链对接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969683" y="368503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06259" y="37216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次4月下旬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35318" y="368503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71894" y="37216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77291" y="368503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13867" y="37216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40人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219264" y="368503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55840" y="37216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225744" y="368503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262320" y="37216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120392" y="368503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56968" y="37216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玩具展位落位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2920" y="395935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39496" y="399592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285737" y="395935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322313" y="399592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969683" y="395935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006259" y="39959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次5月中旬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35318" y="395935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71894" y="39959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877291" y="395935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13867" y="399592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40–50人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219264" y="395935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255840" y="399592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75%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225744" y="395935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262320" y="399592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120392" y="395935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156968" y="399592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02920" y="423367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39496" y="427024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285737" y="423367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322313" y="427024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潮玩×AIGC主题市集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969683" y="42336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006259" y="42702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次5月下旬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35318" y="42336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571894" y="42702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市集（1–2天）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877291" y="423367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13867" y="427024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150–200人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219264" y="423367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55840" y="427024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25%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225744" y="423367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262320" y="427024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120392" y="423367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156968" y="427024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摊主升级固定展位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02920" y="450799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39496" y="454456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5737" y="450799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322313" y="454456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扬州毛绒×数字人联名对接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969683" y="45079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006259" y="45445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次6月中旬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35318" y="45079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571894" y="45445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877291" y="450799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13867" y="454456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219264" y="450799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255840" y="454456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85%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225744" y="450799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262320" y="454456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120392" y="450799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156968" y="454456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700㎡量级客户线索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02920" y="4782312"/>
            <a:ext cx="78281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39496" y="481888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285737" y="4782312"/>
            <a:ext cx="268394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322313" y="481888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沉浸式AI+IP联展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969683" y="47823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006259" y="48188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次6月下旬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35318" y="47823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571894" y="48188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联展（5–7天）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877291" y="4782312"/>
            <a:ext cx="134197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13867" y="481888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日均80–120人 / 累计约600人次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219264" y="4782312"/>
            <a:ext cx="100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255840" y="481888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20%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225744" y="4782312"/>
            <a:ext cx="894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262320" y="481888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120392" y="4782312"/>
            <a:ext cx="156563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156968" y="481888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闭幕酒会集中转化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" y="5056632"/>
            <a:ext cx="78281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39496" y="5093208"/>
            <a:ext cx="72795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85737" y="5056632"/>
            <a:ext cx="2683946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322313" y="5093208"/>
            <a:ext cx="2629082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AI创作者内容首发②（WAI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969683" y="50566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006259" y="50932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次7月中旬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35318" y="50566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571894" y="50932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877291" y="5056632"/>
            <a:ext cx="134197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913867" y="5093208"/>
            <a:ext cx="128710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60–80人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219264" y="5056632"/>
            <a:ext cx="100648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255840" y="5093208"/>
            <a:ext cx="95161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40%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9225744" y="5056632"/>
            <a:ext cx="894648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262320" y="5093208"/>
            <a:ext cx="8397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120392" y="5056632"/>
            <a:ext cx="1565635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156968" y="5093208"/>
            <a:ext cx="151077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旺季补位，衔接大会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活动价值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活动到底带来什么（可衡量）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给园区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议题变日常，每月有主题不断档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3F智能体/算力、5F内容IP标签坐实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载体考核与活动补贴台账可归档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待租单元获得持续看场曝光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活动资产可衔接 WAIC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给转化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客群100%主题定向，更准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每场固定看场≥20分钟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留资率目标≥60%，看场率≥25%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活动结束建群，便于持续触达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群内逼单促进成交（园区协同点）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不做的事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本册不做招商制度保障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不对出租率/去化对赌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不默认高成本外企接待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不把回访责任压给园区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具体交付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我们交给园区的，是这些具体的东西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5880" y="1234440"/>
            <a:ext cx="559155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456" y="1271016"/>
            <a:ext cx="55366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436" y="123444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4012" y="127101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01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签约后2周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5880" y="1581912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2456" y="161848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年度活动方案细化版 + 排期日历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7436" y="158191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4012" y="16184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活动专项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84832"/>
            <a:ext cx="2012960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2140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5880" y="2084832"/>
            <a:ext cx="559155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2456" y="212140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执行卡、议程、嘉宾确认、报名页、签到表、意向表、动线图、现场照片/通稿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7436" y="208483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4012" y="212140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同浦汇归档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87752"/>
            <a:ext cx="201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62432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5880" y="2587752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2456" y="262432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回访纪要（摘要知会版）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7436" y="258775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4012" y="262432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交园区知会，不要求园区承担回访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90672"/>
            <a:ext cx="2012960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12724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5880" y="3090672"/>
            <a:ext cx="559155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2456" y="312724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活动社群（企微/微信群）建群清单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07436" y="309067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4012" y="312724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便于园区在群内逼单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93592"/>
            <a:ext cx="201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63016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5880" y="3593592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52456" y="363016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活动数据月报 + 下月排期确认单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7436" y="359359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4012" y="363016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联席会前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096512"/>
            <a:ext cx="2012960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4133088"/>
            <a:ext cx="1958096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每季/年末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5880" y="4096512"/>
            <a:ext cx="559155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52456" y="4133088"/>
            <a:ext cx="553669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季度复盘、全年台账、WAIC衔接建议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7436" y="409651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4012" y="41330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活动资产沉淀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486400"/>
            <a:ext cx="11183112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说明：完整回访记录、报价跟进由同浦汇内部主责完成；交园区的回访纪要为摘要知会，减轻园区事务负担，把精力留给后续活动与群内促成。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执行分工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哪些同浦汇做，哪些请园区支持（写清楚）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8555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5131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同浦汇（主责）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7150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3726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园区（支持）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5745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321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服中心/高校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36192"/>
            <a:ext cx="15656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572768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策划与议程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8555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5131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全案策划、逐场执行卡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7150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3726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方案审定、档期确认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5745" y="1536192"/>
            <a:ext cx="246028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321" y="1572768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975104"/>
            <a:ext cx="156563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011680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邀约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8555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5131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定向邀约、报名、关联度核验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7150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3726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共享在谈名单（避免重复）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5745" y="1975104"/>
            <a:ext cx="2460284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321" y="2011680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推荐学者/成果团队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14016"/>
            <a:ext cx="15656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450592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场地保障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8555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5131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提前7天提报需求、物料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7150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3726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报备、导视停车、物业安保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25745" y="2414016"/>
            <a:ext cx="246028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321" y="2450592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52928"/>
            <a:ext cx="156563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2889504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现场执行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8555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5131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主持控场、看场带队、建档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7150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83726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开放样板间与看场动线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25745" y="2852928"/>
            <a:ext cx="2460284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321" y="2889504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政策宣讲位（如需）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91840"/>
            <a:ext cx="15656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328416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客户跟踪/回访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8555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5131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主责到底：回访、报价、台账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7150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3726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不承担逐户回访；可在群内逼单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25745" y="3291840"/>
            <a:ext cx="246028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62321" y="3328416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入驻手续（成交后）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730752"/>
            <a:ext cx="156563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767328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复盘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8555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5131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单场复盘+月报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7150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83726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联席确认下月活动安排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25745" y="3730752"/>
            <a:ext cx="2460284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62321" y="3767328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169664"/>
            <a:ext cx="15656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" y="4206240"/>
            <a:ext cx="151077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传播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68555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5131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通稿、影像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47150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83726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官方渠道转发（可选）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25745" y="4169664"/>
            <a:ext cx="246028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321" y="4206240"/>
            <a:ext cx="24054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联合会联动（可选）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协同着眼点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做完活动、建完群 → 园区在群里逼单促成交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标准动作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D日结束：同浦汇完成签到分层，当日建群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T+1：同浦汇发回访与看场预约链接入群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T+1~7：同浦汇主责逐户跟踪与报价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园区角色：在群内发布房源/政策/限时条件，促进意向成交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园区重心：排好下一场活动，保持节奏，不陷入逐户回访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责任边界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回访纪要：同浦汇做，交园区摘要知会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逼单成交：园区可基于群与名单促进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不把“客户跟踪制度”写成园区刚性义务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本册聚焦活动交付，不做招商制度保障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成交后的合同交割仍归园区流程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收费与付款建议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活动专项收费 · 免租期建议 · 付款节点（线下讨论）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7957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3204" y="114300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780" y="117957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建议标准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6448" y="1143000"/>
            <a:ext cx="424958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3024" y="1179576"/>
            <a:ext cx="419471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9047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52704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活动策划执行服务费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3204" y="1490472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780" y="152704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年度打包或按场结算（金额线下确认）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6448" y="1490472"/>
            <a:ext cx="424958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3024" y="1527048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含策划执行、基础物料、主持协调、建群与回访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7452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91109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办公租金基准（参考）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3204" y="1874520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780" y="191109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3.3 元/㎡/天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6448" y="1874520"/>
            <a:ext cx="424958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3024" y="1911096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活动转化客户按园区口径执行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25856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29514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建议免租期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3204" y="2258568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780" y="229514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建议给予 1–3 个月免租（或阶梯免租）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6448" y="2258568"/>
            <a:ext cx="424958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3024" y="2295144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降低决策门槛，否则招商阻力大；具体面议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64261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67919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物业费（参考）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3204" y="2642616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780" y="267919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13.8 元/㎡/月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36448" y="2642616"/>
            <a:ext cx="424958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3024" y="2679192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园区统一标准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02666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06324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待租房源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63204" y="3026664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780" y="306324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8 间优先纳入看场动线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6448" y="3026664"/>
            <a:ext cx="424958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3024" y="3063240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有意向当场可看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41071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44728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佣金（参考，非本册制度）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3204" y="3410712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780" y="344728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若发生成交，可参考 2 个月租金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6448" y="3410712"/>
            <a:ext cx="424958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3024" y="3447288"/>
            <a:ext cx="419471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本册不做招商制度保障，仅供线下参考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572000"/>
            <a:ext cx="111831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付款节点建议方案（供线下讨论，非最终条款）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892040"/>
            <a:ext cx="380225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4928616"/>
            <a:ext cx="374739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05178" y="489204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1754" y="492861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建议比例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6449" y="4892040"/>
            <a:ext cx="424958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3025" y="4928616"/>
            <a:ext cx="419471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对应交付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239512"/>
            <a:ext cx="380225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5276088"/>
            <a:ext cx="374739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合同签署后 7 个工作日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05178" y="5239512"/>
            <a:ext cx="3131271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41754" y="5276088"/>
            <a:ext cx="307640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30%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36449" y="5239512"/>
            <a:ext cx="424958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73025" y="5276088"/>
            <a:ext cx="419471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568696"/>
            <a:ext cx="3802258" cy="329184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5605272"/>
            <a:ext cx="374739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每季度首月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05178" y="5568696"/>
            <a:ext cx="3131271" cy="329184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1754" y="5605272"/>
            <a:ext cx="307640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20% × 3 季（共60%）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36449" y="5568696"/>
            <a:ext cx="4249582" cy="329184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3025" y="5605272"/>
            <a:ext cx="419471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按季度场次执行与月报验收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897880"/>
            <a:ext cx="380225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5934456"/>
            <a:ext cx="3747394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年度收官（Demo Day后）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5178" y="5897880"/>
            <a:ext cx="3131271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1754" y="5934456"/>
            <a:ext cx="307640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10%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36449" y="5897880"/>
            <a:ext cx="424958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3025" y="5934456"/>
            <a:ext cx="419471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年报、台账、影像资产移交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单场执行节奏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同一套打法；客户跟踪由同浦汇主责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4893" y="1234440"/>
            <a:ext cx="380225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1469" y="1271016"/>
            <a:ext cx="374739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7151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3727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责任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2084" y="123444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8660" y="127101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8191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6184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4893" y="158191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1469" y="161848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锁定嘉宾议程物料报名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7151" y="158191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3727" y="16184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2084" y="158191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8660" y="161848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议程/嘉宾函/报名页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8483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1214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4893" y="208483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1469" y="212140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邀约确认+场地报备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7151" y="208483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3727" y="21214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同浦汇主责；园区场地确认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2084" y="208483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8660" y="212140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8775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62432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4893" y="258775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1469" y="262432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彩排+看场动线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7151" y="258775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3727" y="26243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同浦汇；园区样板间就绪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2084" y="258775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8660" y="262432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09067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12724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44893" y="309067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1469" y="312724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签到→主区→看场≥20分钟→建群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7151" y="309067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83727" y="31272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同浦汇执行；园区现场支持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2084" y="309067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8660" y="312724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59359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63016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4893" y="359359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81469" y="363016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逐户回访、报价、三轮跟进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7151" y="35935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3727" y="36301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同浦汇主责到底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2084" y="359359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8660" y="363016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回访台账；摘要知会园区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09651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1330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群内协同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4893" y="409651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1469" y="413308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发布政策/房源/限时条件促成交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7151" y="40965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83727" y="41330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园区可在群内逼单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2084" y="409651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8660" y="413308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成交线索反馈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06 · 往期案例（1）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杨「数」浦数字沙龙：AI如何重塑企业DNA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2025-06-30 · 美团上海综合指挥中心 · 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参观数字化场景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主题分享：AI重塑企业DNA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案例：大众点评AI落地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政策解读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互动答疑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杨浦区委网信办；赛博院；人工智能与社会发展研究会
企业侧：美团；大众点评大模型团队；赛博院研究员等
映射：对应：B类政策治理沙龙、A类训练营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06 · 往期案例（2）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「融见科创」人工智能专场路演暨投融资对接会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2025-10 · 杨浦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开场致辞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主办方致辞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AI趋势分享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6+6+6+1路演对接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投促点评与跟进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杨浦科创促进会、邮储银行；科辰创投、益华资本等
企业侧：复楚智能、卡房信息、一造科技、中科趋势、万笔千墨等
映射：对应：F4 Demo Day、C1路演、E1开放日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行程 / 嘉宾 / 交付（A1–F1）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359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935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智能伙伴·创智汇年度启动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2359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8935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签到参观→主题解读→园区定位→圆桌→看场意向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联合会、AI/OPC企业负责人、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75104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01168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75104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201168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2359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8935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致辞→主题速递→开放参观→双展台→政策礼包→意向洽谈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75104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201168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WAIC回流嘉宾、媒体、AI/内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75104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201168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414016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45059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414016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45059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 Builders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2359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8935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签到→致辞→闪电演讲→开放麦→AMA→看场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414016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45059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创业者、开发者、投资人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414016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45059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852928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889504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852928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889504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通往AGI之夜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2359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8935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致辞→圆桌→围炉→投票→精品看场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852928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889504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学者、模型负责人、Agent创始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852928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889504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91840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328416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291840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328416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东莞潮玩品牌入沪推介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2359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8935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渠道介绍→落位→联名→看场→意向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291840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328416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潮玩品牌、渠道商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291840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328416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730752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76732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730752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76732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2359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58935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730752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76732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Agent工程师、开源Maint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730752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76732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4169664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420624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4169664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420624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IP授权×AI衍生交易撮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2359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58935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IP路演→专题桌→一对一→成交看板→落户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4169664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420624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IP方、被授权商、渠道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4169664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420624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608576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64515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608576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64515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AI出海路径与合规沙龙（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22359" y="4608576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58935" y="464515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出海路径→合规要点→案例→一对一咨询→看场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608576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64515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出海顾问、已出海国内企业、合规顾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608576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64515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行程 / 嘉宾 / 交付（A3–F4）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359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935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2359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8935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多模态研究者、应用厂商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75104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01168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75104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201168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创智汇秋季潮玩×AI主题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2359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8935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开幕→市集展洽→互动→洽谈签约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75104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201168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潮玩品牌、达人、AI创作者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75104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201168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414016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45059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414016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45059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2359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8935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治理框架→合规清单→案例→问答→对接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414016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45059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治理学者、合规顾问、企业法务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414016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45059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852928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889504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852928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889504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2359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8935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政策包→代金券→案例→诊断→捆绑入驻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852928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889504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火山引擎、云创基地、企业CTO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852928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889504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91840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328416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291840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328416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2359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8935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三券规则→核销→案例→开户→入驻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291840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328416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291840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328416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730752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76732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730752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76732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涉外服务与出海准备专场（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2359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58935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涉外服务路径→合规→案例→一对一→看场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730752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76732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涉外服务机构、国内出海企业（默认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730752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76732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4169664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420624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4169664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420624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2359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58935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演示→讲解→场景清单→踩点→洽谈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4169664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420624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4169664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420624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608576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64515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608576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64515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22359" y="4608576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58935" y="464515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开幕→十强路演→颁奖→洽谈签约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608576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64515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投资人、链主、媒体、十强项目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608576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64515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行程 / 嘉宾 / 交付（D1–F3）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359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935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2359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8935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75104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01168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75104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201168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2359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8935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75104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201168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75104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201168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414016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45059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414016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45059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2359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8935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414016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45059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414016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45059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852928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889504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852928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889504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2359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8935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852928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889504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852928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889504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91840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328416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291840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328416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2359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8935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291840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328416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评委、投资人、Builders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291840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328416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730752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76732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730752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76732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2359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58935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730752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76732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复旦/同济技转、教授团队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730752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76732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4169664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420624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4169664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420624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2359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58935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4169664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420624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4169664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420624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行程 / 嘉宾 / 交付（D2–D5）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359" y="118872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935" y="122529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AI创作者内容首发①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2359" y="1536192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8935" y="157276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创作者、媒体、渠道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75104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01168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75104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201168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汕头玩具×AIGC供应链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2359" y="1975104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8935" y="201168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集群→AIGC提效→对接→参观→报价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75104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201168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商协会、采购、玩具企业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75104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201168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414016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450592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414016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450592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2359" y="2414016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8935" y="2450592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414016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45059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414016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450592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852928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889504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852928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889504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潮玩×AIGC主题市集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2359" y="2852928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8935" y="2889504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布摊→开市→打卡→转正谈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852928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889504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摊主、达人、潮玩品牌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852928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889504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91840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328416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291840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328416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扬州毛绒×数字人联名对接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2359" y="3291840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8935" y="3328416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联名→测算→看场→MOU→跟进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291840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328416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扬州集群、数字人厂商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291840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328416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730752"/>
            <a:ext cx="782817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767328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730752"/>
            <a:ext cx="2236622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767328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沉浸式AI+IP联展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2359" y="3730752"/>
            <a:ext cx="3578595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58935" y="3767328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布展→开幕→观展→教育场→闭幕酒会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730752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76732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联合IP、渠道、品牌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730752"/>
            <a:ext cx="1677466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767328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4169664"/>
            <a:ext cx="78281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4206240"/>
            <a:ext cx="727953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4169664"/>
            <a:ext cx="223662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4206240"/>
            <a:ext cx="218175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AI创作者内容首发②（W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2359" y="4169664"/>
            <a:ext cx="357859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58935" y="4206240"/>
            <a:ext cx="352373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发布→渠道→看场→年框→预热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4169664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420624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4169664"/>
            <a:ext cx="167746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4206240"/>
            <a:ext cx="162260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一页纸结论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可直接回复对方的修订要点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我们交付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30场可执行排期（人数已下调）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关联度100%定向邀约+核验表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逐场行程/嘉宾/交付要素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同浦汇主责回访跟踪与台账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活动建群，便于园区群内逼单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往期案例含企业、议程、现场照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场地物业与样板间看场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共享在谈名单、确认档期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大场现场支持（按档配置）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活动后在群内发布条件逼单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重心放在后续活动节奏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不承担逐户回访事务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线下再谈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活动服务费金额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免租期 1–3 个月建议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付款节点建议方案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出海慎重场是否另案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佣金仅参考，非本册制度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 · 六大主题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场次结构（与运营方案一致，人数已修订）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31673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1231" y="12801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7807" y="13167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2502" y="128016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9078" y="131673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场次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5" y="1280160"/>
            <a:ext cx="391408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1" y="1316736"/>
            <a:ext cx="385922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人数口径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4" y="128016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40" y="131673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关联度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27632"/>
            <a:ext cx="111831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66420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1231" y="162763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7807" y="16642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2502" y="162763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9078" y="16642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4475" y="1627632"/>
            <a:ext cx="391408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1051" y="166420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30–50人为主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4" y="1627632"/>
            <a:ext cx="167746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40" y="166420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130552"/>
            <a:ext cx="111831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16712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1231" y="213055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7807" y="216712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2502" y="213055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9078" y="216712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75" y="2130552"/>
            <a:ext cx="391408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1051" y="216712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30–40人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4" y="2130552"/>
            <a:ext cx="167746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40" y="216712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633472"/>
            <a:ext cx="111831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67004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21231" y="263347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57807" y="267004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产业与科学对接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2502" y="263347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89078" y="267004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5" y="2633472"/>
            <a:ext cx="391408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1051" y="267004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30–50人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4" y="2633472"/>
            <a:ext cx="167746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40" y="267004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136392"/>
            <a:ext cx="111831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17296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21231" y="313639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57807" y="317296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AI内容与IP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2502" y="313639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9078" y="317296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4475" y="3136392"/>
            <a:ext cx="391408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1051" y="317296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60–200人（控规模）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4" y="3136392"/>
            <a:ext cx="167746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40" y="317296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639312"/>
            <a:ext cx="111831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67588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21231" y="363931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7807" y="367588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WAIC成果承接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2502" y="363931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89078" y="36758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4475" y="3639312"/>
            <a:ext cx="391408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1051" y="367588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开放日≤150；主题日≤200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4" y="3639312"/>
            <a:ext cx="167746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40" y="367588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142232"/>
            <a:ext cx="111831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4178808"/>
            <a:ext cx="106344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21231" y="414223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57807" y="41788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出海慎重场/AGI/收官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2502" y="414223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89078" y="41788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4475" y="4142232"/>
            <a:ext cx="391408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1051" y="4178808"/>
            <a:ext cx="385922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出海场20–40人；Demo≤120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4" y="4142232"/>
            <a:ext cx="167746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40" y="4178808"/>
            <a:ext cx="162260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100%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 · 出海场次说明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涉及外国企业/领事到场：慎重立项，费用另案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864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166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本册默认做法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1206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F1：国内出海路径与合规沙龙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F2：涉外服务准备专场（闭门）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默认不邀请境外企业到场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默认不安排领事出席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先用低成本场次验证需求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234440"/>
            <a:ext cx="50292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234440"/>
            <a:ext cx="73152" cy="493776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344168"/>
            <a:ext cx="47091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若确需升级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673352"/>
            <a:ext cx="4663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单独立项：国际买家/领事专题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单独预算：接待、翻译、外事流程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单独排期：与常规30场可替换/追加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书面确认费用与责任边界后再执行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A63D40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避免把高成本默认写进年度包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 · 付款节点建议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供线下讨论的两种备选（非正式条款）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方案A · 季度验收型（推荐）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签约后7日内：30%启动款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Q2/Q3/Q4季初：各20%（合计60%）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年终收官后：10%尾款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与季度场次完成度、月报验收挂钩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适合全年持续执行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方案B · 半年结算型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签约后：40%启动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半年复盘后：40%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年终移交资产后：20%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节点更少，适合简化财务流程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具体比例双方线下确认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831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A9A"/>
                </a:solidFill>
                <a:latin typeface="Microsoft YaHei"/>
              </a:rPr>
              <a:t>以上均为建议，最终以商务合同为准。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  <a:latin typeface="Microsoft YaHei"/>
              </a:rPr>
              <a:t>谢谢审阅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1E4D8C"/>
                </a:solidFill>
                <a:latin typeface="Microsoft YaHei"/>
              </a:rPr>
              <a:t>创智汇 · 30场活动专项交付（修订版）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4A4A5A"/>
                </a:solidFill>
                <a:latin typeface="Microsoft YaHei"/>
              </a:rPr>
              <a:t>人数更可执行 · 出海更慎重 · 回访同浦汇主责 · 园区群内逼单协同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Microsoft YaHei"/>
              </a:rPr>
              <a:t>编制：同浦汇　·　仅活动部分　·　付款与免租期建议供线下讨论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30场活动专项交付（修订版）· 仅活动部分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