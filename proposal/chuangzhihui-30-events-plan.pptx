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EVENT PLAN  ·  30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1FF"/>
                </a:solidFill>
                <a:latin typeface="Microsoft YaHei"/>
              </a:rPr>
              <a:t>创智汇 · 30场活动具体方案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6BAEA"/>
                </a:solidFill>
                <a:latin typeface="Microsoft YaHei"/>
              </a:rPr>
              <a:t>总—分—总　｜　主题适配 · 分场策划 · 招商闭环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83280"/>
            <a:ext cx="21945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3749039"/>
            <a:ext cx="33832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749039"/>
            <a:ext cx="64008" cy="20116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77055"/>
            <a:ext cx="30175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园区主题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39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AI + 数字内容无界共创港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3F AI/OPC　5F IP展贸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同浦汇产业招服执行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749039"/>
            <a:ext cx="33832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3749039"/>
            <a:ext cx="64008" cy="20116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877055"/>
            <a:ext cx="30175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交付结构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39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总：主题与价值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分：30场逐场策划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总：协同逼单与闭环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3749039"/>
            <a:ext cx="352044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9560" y="3749039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3877055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年度基线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206239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30场 / 打包执行费30万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每场原则上≥30人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年触达900+精准客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汇报目录 · 总—分—总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01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325880"/>
            <a:ext cx="10817352" cy="777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1280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01 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435608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主题定位与价值框架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73736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为何30场、适配什么、创造什么价值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0817352" cy="777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331720"/>
            <a:ext cx="1280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02 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304288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六大主题与30场总表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260604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名称、排期、楼层、类型一览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63240"/>
            <a:ext cx="10817352" cy="777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00400"/>
            <a:ext cx="1280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03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172968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六大主题策划案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4747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行程模板 · 嘉宾 · 落位 · 价值链接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931919"/>
            <a:ext cx="10817352" cy="777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069079"/>
            <a:ext cx="1280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04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041647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30场逐场执行卡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343399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一场一页：行程/嘉宾/排期/转化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00600"/>
            <a:ext cx="10817352" cy="777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937760"/>
            <a:ext cx="1280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05 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910328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协同支持与招商闭环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212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人员配置 · 逼单 · 转化 · 闭环流程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活动如何适配园区主题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02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325880"/>
            <a:ext cx="5212080" cy="47548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325880"/>
            <a:ext cx="64008" cy="47548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53896"/>
            <a:ext cx="4846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园区主题锚点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主定位：AI + 数字内容无界共创港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3F：人工智能 / OPC / 孵化办公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5F：IP内容 / 潮玩展贸 / 培训沙龙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政策：YOUNG立方 + 火山引擎 + 服务中心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目标：活动即招商、内容即去化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25880"/>
            <a:ext cx="5120640" cy="47548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325880"/>
            <a:ext cx="64008" cy="47548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53896"/>
            <a:ext cx="47548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六大主题 → 楼层映射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709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A AI培训/黑客松 → 主落 3F（10场）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B 政策沙龙/路演 → 3F/5F沙龙（6场）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C 行业对接/撮合 → 主落 5F集群（6场）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D IP/潮玩活动 → 主落 5F展区（4场）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E 漫展/大型 → 5F+临建（2场）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F 领事/出海 → 会客厅/5F（2场）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DUAL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给园区的价值 × 给招商的价值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03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325880"/>
            <a:ext cx="5212080" cy="47548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325880"/>
            <a:ext cx="64008" cy="47548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53896"/>
            <a:ext cx="4846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给园区 / 载体的价值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83080"/>
            <a:ext cx="4800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完成载体活跃度与活动KPI（满年补贴基础）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提升人气、媒体声量与政府可见度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验证3F/5F主题定位（AI+IP可感知）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沉淀社群、会员与复访数据资产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部分场次创造门票/赞助经营性收入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服务中心/联合会专业形象外溢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25880"/>
            <a:ext cx="5120640" cy="47548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325880"/>
            <a:ext cx="64008" cy="47548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53896"/>
            <a:ext cx="47548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给园区招商的价值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709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每场≥30人精准客，年触达900+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活动中嵌看场/报价/意向表，缩短决策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政策场「带补贴入驻」降低抗性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产业集群场直接去化5F展位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大型场集中留资，会后7日逼单窗口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形成「活动→线索→看场→签约」漏斗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SIX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六大主题一览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04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325880"/>
            <a:ext cx="352044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325880"/>
            <a:ext cx="64008" cy="2194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53896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A. AI培训 / 黑客松　10场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830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适配：3F AI/OPC主轴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路径：引流→实操→看场→工位/单元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25880"/>
            <a:ext cx="352044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325880"/>
            <a:ext cx="64008" cy="2194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453896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B. 政策沙龙 / 路演　6场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7830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适配：政策礼包主轴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路径：解读→诊断→申报→带政策入驻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325880"/>
            <a:ext cx="352044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325880"/>
            <a:ext cx="64008" cy="2194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453896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C. 行业对接 / 撮合　6场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7830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适配：5F集群+高校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路径：供需匹配→展位/落位→订单或租赁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57600"/>
            <a:ext cx="352044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57600"/>
            <a:ext cx="64008" cy="21945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785616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D. IP / 潮玩活动　4场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适配：5F内容主轴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路径：内容事件→客流→展位/品牌入驻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657600"/>
            <a:ext cx="352044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657600"/>
            <a:ext cx="64008" cy="21945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785616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E. 漫展 / 大型活动　2场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114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适配：声量与经营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路径：大流量→留资→集中逼单签约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657600"/>
            <a:ext cx="352044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1000" y="3657600"/>
            <a:ext cx="64008" cy="2194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3785616"/>
            <a:ext cx="31546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F. 领事 / 出海　2场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114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适配：国际与出海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路径：高端背书→涉外企业→出海服务包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30场活动总表（1–15）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05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280160"/>
            <a:ext cx="757214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325880"/>
            <a:ext cx="66577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序号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3014" y="1280160"/>
            <a:ext cx="1081735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7878" y="1325880"/>
            <a:ext cx="9902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主题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4749" y="1280160"/>
            <a:ext cx="3461552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9613" y="1325880"/>
            <a:ext cx="337011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活动名称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6301" y="1280160"/>
            <a:ext cx="1514429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41165" y="1325880"/>
            <a:ext cx="142298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建议档期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00730" y="1280160"/>
            <a:ext cx="1947123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5594" y="1325880"/>
            <a:ext cx="18556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场地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47853" y="1280160"/>
            <a:ext cx="2055296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2717" y="1325880"/>
            <a:ext cx="19638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招商作用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1664208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1709928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3014" y="1664208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97878" y="1709928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4749" y="1664208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9613" y="1709928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创智汇·AI工具链上手营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6301" y="1664208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41165" y="1709928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1月下旬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00730" y="1664208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5594" y="1709928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3F培训/OPC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47853" y="1664208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2717" y="1709928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引流AI初创，当场看场转化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1956816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" y="2002536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43014" y="1956816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97878" y="2002536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24749" y="1956816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79613" y="2002536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AIGC内容生产实战工作坊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6301" y="1956816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41165" y="2002536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2月中旬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00730" y="1956816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5594" y="2002536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3F直播间+培训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47853" y="1956816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2717" y="2002536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锁定内容型租户与联合办公需求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2249424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" y="2295144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43014" y="2249424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97878" y="2295144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24749" y="2249424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79613" y="2295144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OPC超级个体黑客松（春季）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6301" y="2249424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41165" y="2295144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3月上旬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00730" y="2249424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5594" y="2295144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3F整层开放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47853" y="2249424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02717" y="2295144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获奖团队优先谈单元/工位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2542032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" y="2587752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43014" y="2542032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97878" y="2587752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24749" y="2542032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79613" y="2587752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数字人直播实训营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86301" y="2542032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41165" y="2587752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3月下旬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00730" y="2542032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55594" y="2587752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3F直播间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47853" y="2542032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02717" y="2587752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直播/MCN类客户转化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" y="2834640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0664" y="2880360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43014" y="2834640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97878" y="2880360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24749" y="2834640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79613" y="2880360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火山引擎·算力应用训练营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86301" y="2834640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41165" y="2880360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4月中旬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00730" y="2834640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55594" y="2880360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3F+云创协同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447853" y="2834640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2717" y="2880360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AI算力消耗型企业定向招商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" y="3127248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" y="3172968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43014" y="3127248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97878" y="3172968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524749" y="3127248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9613" y="3172968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AI微短剧脚本与制作特训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86301" y="3127248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41165" y="3172968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5月上旬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500730" y="3127248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55594" y="3172968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5F展厅角+3F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47853" y="3127248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502717" y="3172968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厂牌/工作室看场5F或3F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800" y="3419856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0664" y="3465576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443014" y="3419856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497878" y="3465576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24749" y="3419856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579613" y="3465576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智能体搭建一日营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986301" y="3419856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41165" y="3465576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6月中旬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00730" y="3419856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5594" y="3465576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 OPC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447853" y="3419856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02717" y="3465576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工具型/服务型小团队入驻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85800" y="3712464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0664" y="3758184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43014" y="3712464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97878" y="3758184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524749" y="3712464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79613" y="3758184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OPC超级个体黑客松（秋季）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986301" y="3712464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041165" y="3758184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9月中旬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00730" y="3712464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5594" y="3758184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3F整层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447853" y="3712464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502717" y="3758184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秋季去化冲刺客源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85800" y="4005072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0664" y="4050792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443014" y="4005072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97878" y="4050792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524749" y="4005072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579613" y="4050792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AI营销投放实战营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986301" y="4005072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041165" y="4050792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10月中旬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500730" y="4005072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555594" y="4050792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3F培训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447853" y="4005072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502717" y="4050792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营销型公司与广告客户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" y="4297680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40664" y="4343400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443014" y="4297680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97878" y="4343400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AI培训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524749" y="4297680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579613" y="4343400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创智汇AI年度Demo Day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986301" y="4297680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041165" y="4343400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12月上旬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500730" y="4297680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555594" y="4343400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5F主展区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447853" y="4297680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502717" y="4343400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集中签约意向、媒体背书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85800" y="4590288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40664" y="4636008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443014" y="4590288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497878" y="4636008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524749" y="4590288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579613" y="4636008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YOUNG立方政策解读沙龙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986301" y="4590288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041165" y="4636008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1月中旬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500730" y="4590288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55594" y="4636008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5F沙龙区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447853" y="4590288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502717" y="4636008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内容/微短剧企业定向导入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85800" y="4882896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40664" y="4928616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12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443014" y="4882896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497878" y="4928616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524749" y="4882896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579613" y="4928616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高企认定冲刺辅导会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986301" y="4882896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41165" y="4928616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2月下旬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500730" y="4882896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555594" y="4928616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3F会议室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447853" y="4882896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502717" y="4928616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外区待认定企业「带政策入驻」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85800" y="5175504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0664" y="5221224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13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443014" y="5175504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497878" y="5221224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524749" y="5175504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579613" y="5221224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专精特新培育路演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986301" y="5175504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041165" y="5221224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4月上旬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00730" y="5175504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555594" y="5221224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447853" y="5175504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502717" y="5221224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成长型企业补位招商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85800" y="5468112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0664" y="5513832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443014" y="5468112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497878" y="5513832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524749" y="5468112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579613" y="5513832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杨浦科创政策一对一诊断日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986301" y="5468112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041165" y="5513832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5月下旬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500730" y="5468112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555594" y="5513832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3F多间工位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447853" y="5468112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502717" y="5513832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高意向客户集中转化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85800" y="5760720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40664" y="5806440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15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443014" y="5760720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7878" y="5806440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524749" y="5760720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579613" y="5806440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投融资对接路演（AI赛道）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986301" y="5760720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041165" y="5806440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7月中旬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500730" y="5760720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55594" y="5806440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447853" y="5760720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502717" y="5806440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获投项目优先谈租金/免租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30场活动总表（16–30）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06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280160"/>
            <a:ext cx="757214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325880"/>
            <a:ext cx="66577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序号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3014" y="1280160"/>
            <a:ext cx="1081735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7878" y="1325880"/>
            <a:ext cx="9902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主题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4749" y="1280160"/>
            <a:ext cx="3461552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9613" y="1325880"/>
            <a:ext cx="337011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活动名称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6301" y="1280160"/>
            <a:ext cx="1514429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41165" y="1325880"/>
            <a:ext cx="142298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建议档期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00730" y="1280160"/>
            <a:ext cx="1947123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5594" y="1325880"/>
            <a:ext cx="18556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场地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47853" y="1280160"/>
            <a:ext cx="2055296" cy="384048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2717" y="1325880"/>
            <a:ext cx="19638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招商作用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1664208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1709928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3014" y="1664208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97878" y="1709928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4749" y="1664208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9613" y="1709928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创新券·三券申用实务沙龙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6301" y="1664208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41165" y="1709928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11月上旬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00730" y="1664208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5594" y="1709928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47853" y="1664208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2717" y="1709928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需用券企业向园区聚集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1956816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" y="2002536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43014" y="1956816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97878" y="2002536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行业对接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24749" y="1956816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79613" y="2002536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汕头玩具供应链对接会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6301" y="1956816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41165" y="2002536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3月中旬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00730" y="1956816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5594" y="2002536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5F玩具集群区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47853" y="1956816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2717" y="2002536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玩具企业展位去化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2249424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" y="2295144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43014" y="2249424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97878" y="2295144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行业对接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24749" y="2249424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79613" y="2295144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扬州毛绒产业游学对接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6301" y="2249424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41165" y="2295144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4月下旬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00730" y="2249424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5594" y="2295144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5F+外部游学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47853" y="2249424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02717" y="2295144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700㎡量级客户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2542032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" y="2587752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19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43014" y="2542032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97878" y="2587752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行业对接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24749" y="2542032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79613" y="2587752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东莞潮玩品牌入沪推介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86301" y="2542032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41165" y="2587752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6月上旬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00730" y="2542032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55594" y="2587752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5F潮玩区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47853" y="2542032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02717" y="2587752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品牌展位与快闪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" y="2834640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0664" y="2880360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43014" y="2834640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97878" y="2880360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行业对接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24749" y="2834640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79613" y="2880360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IP授权交易撮合会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86301" y="2834640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41165" y="2880360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7月下旬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00730" y="2834640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55594" y="2880360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5F展示中心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447853" y="2834640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2717" y="2880360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IP公司与衍生品团队入驻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" y="3127248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" y="3172968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43014" y="3127248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97878" y="3172968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行业对接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524749" y="3127248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9613" y="3172968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高校成果转化对接日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86301" y="3127248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41165" y="3172968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9月下旬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500730" y="3127248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55594" y="3172968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3F+沙龙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47853" y="3127248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502717" y="3172968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成果公司/实验室落户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800" y="3419856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0664" y="3465576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443014" y="3419856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497878" y="3465576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行业对接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24749" y="3419856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579613" y="3465576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跨境展销买家对接会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986301" y="3419856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41165" y="3465576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11月中旬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00730" y="3419856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5594" y="3465576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5F展贸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447853" y="3419856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02717" y="3465576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外贸/跨境团队办公+展位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85800" y="3712464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0664" y="3758184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43014" y="3712464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97878" y="3758184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IP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524749" y="3712464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79613" y="3758184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IP首发发布会①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986301" y="3712464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041165" y="3758184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5月中旬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00730" y="3712464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5594" y="3758184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5F主展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447853" y="3712464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502717" y="3758184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关联品牌问询与展位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85800" y="4005072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0664" y="4050792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443014" y="4005072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97878" y="4050792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IP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524749" y="4005072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579613" y="4050792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潮玩主题周末市集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986301" y="4005072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041165" y="4050792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6月下旬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500730" y="4005072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555594" y="4050792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5F+公区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447853" y="4005072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502717" y="4050792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摊主升级为固定展位/办公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" y="4297680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40664" y="4343400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443014" y="4297680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97878" y="4343400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IP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524749" y="4297680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579613" y="4343400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沉浸式IP联展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986301" y="4297680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041165" y="4343400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8月中旬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500730" y="4297680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555594" y="4343400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5F展示中心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447853" y="4297680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502717" y="4343400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闭幕酒会集中转化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85800" y="4590288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40664" y="4636008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26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443014" y="4590288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497878" y="4636008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IP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524749" y="4590288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579613" y="4636008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IP首发发布会②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986301" y="4590288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041165" y="4636008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10月下旬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500730" y="4590288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55594" y="4636008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447853" y="4590288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502717" y="4636008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旺季补位招商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85800" y="4882896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40664" y="4928616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443014" y="4882896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497878" y="4928616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漫展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524749" y="4882896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579613" y="4928616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创智汇春季漫展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986301" y="4882896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41165" y="4928616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4月下旬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500730" y="4882896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555594" y="4928616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5F+可临建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447853" y="4882896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502717" y="4928616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展商/品牌方留资转租赁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85800" y="5175504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0664" y="5221224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28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443014" y="5175504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497878" y="5221224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漫展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524749" y="5175504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579613" y="5221224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创智汇秋季潮玩嘉年华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986301" y="5175504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041165" y="5221224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10月上旬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00730" y="5175504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555594" y="5221224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5F+公区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447853" y="5175504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502717" y="5221224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集中签约展位/办公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85800" y="5468112"/>
            <a:ext cx="757214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0664" y="5513832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29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443014" y="5468112"/>
            <a:ext cx="1081735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497878" y="5513832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领事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524749" y="5468112"/>
            <a:ext cx="3461552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579613" y="5513832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国别会客厅·领事专题沙龙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986301" y="5468112"/>
            <a:ext cx="1514429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041165" y="5513832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5月下旬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500730" y="5468112"/>
            <a:ext cx="1947123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555594" y="5513832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会客厅/5F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447853" y="5468112"/>
            <a:ext cx="2055296" cy="292608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502717" y="5513832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涉外/出海企业入驻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85800" y="5760720"/>
            <a:ext cx="757214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40664" y="5806440"/>
            <a:ext cx="66577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30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443014" y="5760720"/>
            <a:ext cx="1081735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7878" y="5806440"/>
            <a:ext cx="99029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领事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524749" y="5760720"/>
            <a:ext cx="3461552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579613" y="5806440"/>
            <a:ext cx="3370112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FF"/>
                </a:solidFill>
                <a:latin typeface="Microsoft YaHei"/>
              </a:rPr>
              <a:t>企业出海推介与买家团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986301" y="5760720"/>
            <a:ext cx="1514429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041165" y="5806440"/>
            <a:ext cx="142298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11月下旬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500730" y="5760720"/>
            <a:ext cx="1947123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55594" y="5806440"/>
            <a:ext cx="185568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5F+培训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447853" y="5760720"/>
            <a:ext cx="2055296" cy="292608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502717" y="5806440"/>
            <a:ext cx="19638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1FF"/>
                </a:solidFill>
                <a:latin typeface="Microsoft YaHei"/>
              </a:rPr>
              <a:t>有出海需求的制造/品牌入驻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分 · 主题策划案｜AI培训 / 黑客松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07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65760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主题定位与适配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2461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场次：10场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楼层适配：3F AI/OPC主轴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转化路径：引流→实操→看场→工位/单元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代表场次：创智汇·AI工具链上手营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统一动作：签到→内容→看场→意向表→回访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280160"/>
            <a:ext cx="65836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408176"/>
            <a:ext cx="6217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标准行程模板（可套用本主题各场）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737360"/>
            <a:ext cx="61722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建议时长：半天（13:30–17:30）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落位形式：工作坊+看场　｜　场地：3F培训/OPC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嘉宾配置：AI讲师×1、园区政策专员×1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行程：13:30 签到参观样板间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行程：14:00 开场+空间政策礼包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行程：14:30 工具链实操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行程：16:30 工位/单元看场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行程：17:00 意向登记逼单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现场人力：我方3+园区2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分 · 主题策划案｜政策沙龙 / 路演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08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65760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主题定位与适配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2461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场次：6场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楼层适配：政策礼包主轴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转化路径：解读→诊断→申报→带政策入驻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代表场次：YOUNG立方政策解读沙龙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统一动作：签到→内容→看场→意向表→回访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280160"/>
            <a:ext cx="65836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408176"/>
            <a:ext cx="6217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标准行程模板（可套用本主题各场）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737360"/>
            <a:ext cx="61722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建议时长：2.5小时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落位形式：沙龙　｜　场地：5F沙龙区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嘉宾配置：区政策宣讲人、服务中心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行程：政策要点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行程：适用企业画像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行程：申报路径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行程：问答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行程：诊断预约+看场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现场人力：我方2+园区2+服务中心2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分 · 主题策划案｜行业对接 / 撮合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09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65760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主题定位与适配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2461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场次：6场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楼层适配：5F集群+高校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转化路径：供需匹配→展位/落位→订单或租赁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代表场次：汕头玩具供应链对接会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统一动作：签到→内容→看场→意向表→回访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280160"/>
            <a:ext cx="65836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408176"/>
            <a:ext cx="6217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标准行程模板（可套用本主题各场）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737360"/>
            <a:ext cx="61722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建议时长：半天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落位形式：对接会　｜　场地：5F玩具集群区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嘉宾配置：汕头商协会、品牌采购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行程：集群介绍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行程：供需对接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行程：展位参观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行程：意向签约墙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行程：展位/仓储报价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现场人力：我方3+园区2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分 · 主题策划案｜IP / 潮玩活动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10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65760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主题定位与适配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2461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场次：4场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楼层适配：5F内容主轴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转化路径：内容事件→客流→展位/品牌入驻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代表场次：IP首发发布会①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统一动作：签到→内容→看场→意向表→回访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280160"/>
            <a:ext cx="65836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408176"/>
            <a:ext cx="6217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标准行程模板（可套用本主题各场）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737360"/>
            <a:ext cx="61722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建议时长：3小时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落位形式：发布会　｜　场地：5F主展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嘉宾配置：IP主理人、媒体、渠道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行程：揭幕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行程：发布会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行程：签售/快闪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行程：媒体专访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行程：招商通道开放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现场人力：我方4+园区3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分 · 主题策划案｜漫展 / 大型活动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11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65760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主题定位与适配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2461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场次：2场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楼层适配：声量与经营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转化路径：大流量→留资→集中逼单签约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代表场次：创智汇春季漫展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统一动作：签到→内容→看场→意向表→回访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280160"/>
            <a:ext cx="65836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408176"/>
            <a:ext cx="6217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标准行程模板（可套用本主题各场）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737360"/>
            <a:ext cx="61722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建议时长：2天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落位形式：漫展　｜　场地：5F+可临建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嘉宾配置：Coser、品牌商、媒体、赞助商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行程：开幕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行程：舞台演出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行程：展商区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行程：门票核销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行程：闭幕+企业招商通道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现场人力：我方8+园区6+安保票务外包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THEME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分 · 主题策划案｜领事 / 出海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12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65760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主题定位与适配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2461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场次：2场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楼层适配：国际与出海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转化路径：高端背书→涉外企业→出海服务包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代表场次：国别会客厅·领事专题沙龙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统一动作：签到→内容→看场→意向表→回访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280160"/>
            <a:ext cx="65836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408176"/>
            <a:ext cx="6217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标准行程模板（可套用本主题各场）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737360"/>
            <a:ext cx="61722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建议时长：2.5小时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落位形式：领事沙龙　｜　场地：会客厅/5F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嘉宾配置：领事官员、涉外企业、翻译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行程：外事礼仪接待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行程：国别机会分享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行程：B2B闪见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行程：园区国际服务介绍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行程：高端看场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现场人力：我方4+园区2+外事协同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01　创智汇·AI工具链上手营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13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1月下旬　｜　3F培训/OPC　｜　半天（13:30–17:30）　｜　工作坊+看场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13:30 签到参观样板间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14:00 开场+空间政策礼包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14:30 工具链实操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16:30 工位/单元看场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17:00 意向登记逼单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嘉宾：AI讲师×1、园区政策专员×1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形式：工作坊+看场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场地：3F培训/OPC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OPC社群体验、载体活跃度、培训KPI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引流AI初创，当场看场转化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02　AIGC内容生产实战工作坊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14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2月中旬　｜　3F直播间+培训　｜　1天　｜　实训营　｜　我方4+园区2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09:30 签到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10:00 案例拆解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13:30 实操产出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16:00 优秀作品路演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16:40 入驻政策+看场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嘉宾：AIGC创作者、内容机构导师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形式：实训营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场地：3F直播间+培训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档期：2月中旬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内容氛围、直播间利用率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锁定内容型租户与联合办公需求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03　OPC超级个体黑客松（春季）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15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3月上旬　｜　3F整层开放　｜　1.5天　｜　黑客松　｜　我方5+园区3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D1 组队开题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D1夜 封闭开发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D2路演决赛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颁奖+入驻礼包发布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一对一看场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嘉宾：技术评委×3、投资人×2、云厂商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形式：黑客松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场地：3F整层开放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档期：3月上旬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品牌声量、媒体曝光、青年人才黏性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获奖团队优先谈单元/工位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04　数字人直播实训营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16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3月下旬　｜　3F直播间　｜　半天　｜　实训+演示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参观直播间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数字人搭建演示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跟播实操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商业变现路径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空间与套餐报价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嘉宾：数字人厂商、直播操盘手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形式：实训+演示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场地：3F直播间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档期：3月下旬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直播间运营样板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直播/MCN类客户转化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05　火山引擎·算力应用训练营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17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4月中旬　｜　3F+云创协同　｜　1天　｜　厂商联训　｜　我方3+园区2+厂商2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算力政策包解读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代金券/折扣实操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企业案例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一对一算力诊断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入驻+云资源捆绑报价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嘉宾：火山引擎讲师、算力政策专员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形式：厂商联训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场地：3F+云创协同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档期：4月中旬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专有算力政策兑现、云基地协同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AI算力消耗型企业定向招商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06　AI微短剧脚本与制作特训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18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5月上旬　｜　5F展厅角+3F　｜　1天　｜　特训营　｜　我方4+园区2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政策与集聚区解读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脚本工作坊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AIGC制片流程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优秀剧本路演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5F场景踩点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嘉宾：微短剧导演/编剧、平台方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形式：特训营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场地：5F展厅角+3F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档期：5月上旬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对齐YOUNG立方/微短剧定位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厂牌/工作室看场5F或3F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07　智能体搭建一日营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19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6月中旬　｜　3F OPC　｜　1天　｜　一日营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需求拆解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低代码搭建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行业垂类案例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作品评审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入驻+服务包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嘉宾：智能体工程师、行业顾问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形式：一日营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 OPC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档期：6月中旬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OPC超级个体社区氛围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工具型/服务型小团队入驻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08　OPC超级个体黑客松（秋季）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20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9月中旬　｜　3F整层　｜　1.5天　｜　黑客松　｜　我方5+园区3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同春季结构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增加秋季赛道（出海/短剧）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决赛路演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媒体采访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集中逼单日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嘉宾：评委+赞助商+媒体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形式：黑客松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场地：3F整层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档期：9月中旬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年度品牌IP化第二峰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秋季去化冲刺客源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09　AI营销投放实战营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21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10月中旬　｜　3F培训　｜　半天　｜　实战营　｜　我方3+园区1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投放策略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素材AIGC生产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投流复盘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园区企业案例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增值服务转化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嘉宾：投放操盘手、品牌主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形式：实战营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场地：3F培训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档期：10月中旬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企业服务增收、会员粘性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营销型公司与广告客户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10　创智汇AI年度Demo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22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AI培训 / 黑客松　｜　12月上旬　｜　5F主展区　｜　1天　｜　路演日　｜　我方6+园区4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开幕致辞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十强路演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颁奖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招商政策发布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红酒洽谈+看场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嘉宾：投资人、链主、媒体、区级嘉宾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形式：路演日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场地：5F主展区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档期：12月上旬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年度成果展、政府可见度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集中签约意向、媒体背书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11　YOUNG立方政策解读沙龙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23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政策沙龙 / 路演　｜　1月中旬　｜　5F沙龙区　｜　2.5小时　｜　沙龙　｜　我方2+园区2+服务中心2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适用企业画像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申报路径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问答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诊断预约+看场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嘉宾：区政策宣讲人、服务中心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场地：5F沙龙区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政策礼包前置、载体认知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内容/微短剧企业定向导入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12　高企认定冲刺辅导会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24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政策沙龙 / 路演　｜　2月下旬　｜　3F会议室　｜　半天　｜　辅导会　｜　我方2+服务中心3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条件拆解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材料清单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失败案例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一对一初筛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入驻即享辅导套餐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嘉宾：高企辅导老师、财税顾问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形式：辅导会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场地：3F会议室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档期：2月下旬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在园企业资质提升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外区待认定企业「带政策入驻」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13　专精特新培育路演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25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政策沙龙 / 路演　｜　4月上旬　｜　5F　｜　半天　｜　路演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梯度政策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企业路演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导师点评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金融对接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看场与意向表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嘉宾：专精特新评审顾问、银行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档期：4月上旬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优质企业筛选与培育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成长型企业补位招商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14　杨浦科创政策一对一诊断日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26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政策沙龙 / 路演　｜　5月下旬　｜　3F多间工位　｜　1天滚动　｜　门诊式诊断　｜　我方3+服务中心4+园区1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预约排号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20分钟/企诊断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政策匹配表输出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当场报价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三日回访逼单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嘉宾：服务中心顾问团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形式：门诊式诊断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场地：3F多间工位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档期：5月下旬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服务中心专业形象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高意向客户集中转化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15　投融资对接路演（AI赛道）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27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政策沙龙 / 路演　｜　7月中旬　｜　5F　｜　半天　｜　路演+闭门　｜　我方4+园区2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项目路演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闭门对接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园区资本资源介绍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入驻条件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投资+租赁联动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嘉宾：基金×5、明星项目×8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形式：路演+闭门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档期：7月中旬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资本氛围、优质项目落位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获投项目优先谈租金/免租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16　创新券·三券申用实务沙龙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28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政策沙龙 / 路演　｜　11月上旬　｜　3F　｜　2小时　｜　实务沙龙　｜　我方2+服务中心2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券种规则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核销实操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案例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服务机构对接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入驻企业开户引导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嘉宾：创新券平台、云厂商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形式：实务沙龙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档期：11月上旬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创新券流水、服务机构KPI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需用券企业向园区聚集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17　汕头玩具供应链对接会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29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行业对接 / 撮合　｜　3月中旬　｜　5F玩具集群区　｜　半天　｜　对接会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集群介绍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供需对接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展位参观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意向签约墙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展位/仓储报价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嘉宾：汕头商协会、品牌采购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形式：对接会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场地：5F玩具集群区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档期：3月中旬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5F产业集群填充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玩具企业展位去化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18　扬州毛绒产业游学对接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30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行业对接 / 撮合　｜　4月下旬　｜　5F+外部游学　｜　1天（含半天园内）　｜　游学对接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园内展区介绍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合作模式（租金/扣点）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游学小结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入驻MOU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跟进清单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嘉宾：扬州产业集群代表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形式：游学对接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场地：5F+外部游学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档期：4月下旬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毛绒集群落地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700㎡量级客户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19　东莞潮玩品牌入沪推介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31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行业对接 / 撮合　｜　6月上旬　｜　5F潮玩区　｜　半天　｜　推介会　｜　我方3+园区2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上海渠道机会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5F落位方案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联名活动设想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定金/意向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嘉宾：潮玩品牌方、渠道商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形式：推介会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场地：5F潮玩区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档期：6月上旬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潮玩内容填充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品牌展位与快闪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20　IP授权交易撮合会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32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行业对接 / 撮合　｜　7月下旬　｜　5F展示中心　｜　1天　｜　撮合会　｜　我方4+园区2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IP路演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一对一撮合桌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法律速递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成交看板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落户激励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嘉宾：IP方、被授权商、律师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形式：撮合会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场地：5F展示中心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档期：7月下旬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IP交易氛围、分成收入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IP公司与衍生品团队入驻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21　高校成果转化对接日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33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行业对接 / 撮合　｜　9月下旬　｜　3F+沙龙　｜　半天　｜　对接日　｜　我方3+园区2+高校2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成果路演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中试/场景需求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园区承接方案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看孵化单元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转化落位协议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嘉宾：复旦/同济技术转移、教授团队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形式：对接日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场地：3F+沙龙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档期：9月下旬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高校协同、学术支持落地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成果公司/实验室落户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22　跨境展销买家对接会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34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行业对接 / 撮合　｜　11月中旬　｜　5F展贸　｜　半天　｜　买家对接　｜　我方4+园区2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买家需求发布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供应商闪见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展位下单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物流金融配套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展贸租户转化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嘉宾：跨境买家、货代、支付机构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形式：买家对接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场地：5F展贸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档期：11月中旬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5F贸易属性兑现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外贸/跨境团队办公+展位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23　IP首发发布会①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35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IP / 潮玩活动　｜　5月中旬　｜　5F主展　｜　3小时　｜　发布会　｜　我方4+园区3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揭幕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发布会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签售/快闪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媒体专访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招商通道开放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嘉宾：IP主理人、媒体、渠道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形式：发布会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场地：5F主展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档期：5月中旬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内容事件、客流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关联品牌问询与展位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24　潮玩主题周末市集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36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IP / 潮玩活动　｜　6月下旬　｜　5F+公区　｜　2天　｜　市集　｜　我方5+园区4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摊位布置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开市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互动打卡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夜间场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优质摊主转正谈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嘉宾：摊主×40、达人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形式：市集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场地：5F+公区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档期：6月下旬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人气、经营性收入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摊主升级为固定展位/办公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25　沉浸式IP联展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37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IP / 潮玩活动　｜　8月中旬　｜　5F展示中心　｜　7–10天巡展　｜　联展　｜　我方4+园区3+执行外包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布展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开幕礼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预约观展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教育场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闭幕招商酒会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嘉宾：联合IP×5、文旅渠道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形式：联展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场地：5F展示中心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档期：8月中旬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长期人流、品牌形象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闭幕酒会集中转化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26　IP首发发布会②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38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IP / 潮玩活动　｜　10月下旬　｜　5F　｜　3小时　｜　发布会　｜　我方4+园区3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同①结构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叠加双十一预售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渠道对接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年框意向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嘉宾：IP方、玩具渠道、媒体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形式：发布会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档期：10月下旬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下半年内容高峰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旺季补位招商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27　创智汇春季漫展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39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漫展 / 大型活动　｜　4月下旬　｜　5F+可临建　｜　2天　｜　漫展　｜　我方8+园区6+安保票务外包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开幕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舞台演出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展商区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门票核销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闭幕+企业招商通道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嘉宾：Coser、品牌商、媒体、赞助商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形式：漫展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场地：5F+可临建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档期：4月下旬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千人级声量、门票赞助收入、载体KPI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展商/品牌方留资转租赁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28　创智汇秋季潮玩嘉年华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40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漫展 / 大型活动　｜　10月上旬　｜　5F+公区　｜　2天　｜　嘉年华　｜　我方8+园区6+外包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开幕秀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市集+展洽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赛事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夜间场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嘉年华签约仪式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嘉宾：潮玩品牌、达人、赞助商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形式：嘉年华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场地：5F+公区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档期：10月上旬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秋季品牌大事件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集中签约展位/办公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29　国别会客厅·领事专题沙龙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41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领事 / 出海　｜　5月下旬　｜　会客厅/5F　｜　2.5小时　｜　领事沙龙　｜　我方4+园区2+外事协同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外事礼仪接待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国别机会分享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B2B闪见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园区国际服务介绍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高端看场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嘉宾：领事官员、涉外企业、翻译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形式：领事沙龙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场地：会客厅/5F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档期：5月下旬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高端背书、国际形象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涉外/出海企业入驻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E30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30　企业出海推介与买家团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42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34440"/>
            <a:ext cx="10817352" cy="6400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10332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领事 / 出海　｜　11月下旬　｜　5F+培训　｜　1天　｜　推介+买家团　｜　我方5+园区2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3840480" cy="4069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11680"/>
            <a:ext cx="64008" cy="4069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9696"/>
            <a:ext cx="3474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具体行程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34290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出海路径课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买家需求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一对一洽谈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订单意向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办公/展位捆绑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011680"/>
            <a:ext cx="356616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0520" y="2011680"/>
            <a:ext cx="64008" cy="1920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396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嘉宾与落位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68880"/>
            <a:ext cx="3154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嘉宾：海外买家、跨境平台、出海顾问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形式：推介+买家团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场地：5F+培训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落位：签到台→主区→看场动线→洽谈角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011680"/>
            <a:ext cx="3611880" cy="1920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64008" cy="1920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396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排期与执行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468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档期：11月下旬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T-14：嘉宾锁定+物料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T-7：邀约名单确认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T-1：场地彩排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T+1~7：回访逼单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069080"/>
            <a:ext cx="356616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4069080"/>
            <a:ext cx="64008" cy="20116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19709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园区价值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出海服务闭环、撮合收入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活跃度/声量/主题验证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069080"/>
            <a:ext cx="3611880" cy="20116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0" y="4069080"/>
            <a:ext cx="64008" cy="201168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97096"/>
            <a:ext cx="3246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招商价值链接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有出海需求的制造/品牌入驻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看场→意向表→报价→签约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STAFFING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对方如何协同支持（人员）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43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280160"/>
            <a:ext cx="1947123" cy="502920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37160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场次类型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2923" y="1280160"/>
            <a:ext cx="2163470" cy="502920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075" y="137160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我方（同浦汇）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6393" y="1280160"/>
            <a:ext cx="2379817" cy="502920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545" y="137160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园区配合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6210" y="1280160"/>
            <a:ext cx="2379817" cy="502920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362" y="137160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服务中心/其他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6027" y="1280160"/>
            <a:ext cx="1947123" cy="502920"/>
          </a:xfrm>
          <a:prstGeom prst="rect">
            <a:avLst/>
          </a:prstGeom>
          <a:solidFill>
            <a:srgbClr val="2A1E55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9179" y="137160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合计参考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783080"/>
            <a:ext cx="1947123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187452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常规培训/沙龙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2923" y="1783080"/>
            <a:ext cx="2163470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075" y="187452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2–3人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96393" y="1783080"/>
            <a:ext cx="2379817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545" y="187452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1–2人（场地/引导）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210" y="1783080"/>
            <a:ext cx="2379817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9362" y="187452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0–2人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6027" y="1783080"/>
            <a:ext cx="1947123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9179" y="187452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4–7人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286000"/>
            <a:ext cx="1947123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237744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政策诊断/路演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2923" y="2286000"/>
            <a:ext cx="2163470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6075" y="237744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2–3人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96393" y="2286000"/>
            <a:ext cx="2379817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69545" y="237744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1–2人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76210" y="2286000"/>
            <a:ext cx="2379817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49362" y="237744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服务中心2–4人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6027" y="2286000"/>
            <a:ext cx="1947123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29179" y="237744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5–9人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2788920"/>
            <a:ext cx="1947123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" y="288036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产业集群对接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2923" y="2788920"/>
            <a:ext cx="2163470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6075" y="288036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3–4人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96393" y="2788920"/>
            <a:ext cx="2379817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69545" y="288036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2人（展区接待）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76210" y="2788920"/>
            <a:ext cx="2379817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49362" y="288036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商协会1–2人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6027" y="2788920"/>
            <a:ext cx="1947123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9179" y="288036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6–8人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3291840"/>
            <a:ext cx="1947123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" y="338328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IP发布/市集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2923" y="3291840"/>
            <a:ext cx="2163470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6075" y="338328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4–5人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96393" y="3291840"/>
            <a:ext cx="2379817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69545" y="338328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3–4人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76210" y="3291840"/>
            <a:ext cx="2379817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49362" y="338328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外包票务视情况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6027" y="3291840"/>
            <a:ext cx="1947123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29179" y="338328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7–12人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" y="3794760"/>
            <a:ext cx="1947123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" y="388620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漫展/嘉年华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32923" y="3794760"/>
            <a:ext cx="2163470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6075" y="388620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6–8人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96393" y="3794760"/>
            <a:ext cx="2379817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69545" y="388620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5–6人+物业安保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6210" y="3794760"/>
            <a:ext cx="2379817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49362" y="388620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外包执行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56027" y="3794760"/>
            <a:ext cx="1947123" cy="502920"/>
          </a:xfrm>
          <a:prstGeom prst="rect">
            <a:avLst/>
          </a:prstGeom>
          <a:solidFill>
            <a:srgbClr val="241A4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29179" y="388620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15人+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" y="4297680"/>
            <a:ext cx="1947123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8952" y="438912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领事/出海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32923" y="4297680"/>
            <a:ext cx="2163470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06075" y="4389120"/>
            <a:ext cx="205374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4–5人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96393" y="4297680"/>
            <a:ext cx="2379817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69545" y="438912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2人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76210" y="4297680"/>
            <a:ext cx="2379817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249362" y="4389120"/>
            <a:ext cx="2270089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外事/翻译协同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556027" y="4297680"/>
            <a:ext cx="1947123" cy="502920"/>
          </a:xfrm>
          <a:prstGeom prst="rect">
            <a:avLst/>
          </a:prstGeom>
          <a:solidFill>
            <a:srgbClr val="1C143A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629179" y="4389120"/>
            <a:ext cx="18373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8–10人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5120640"/>
            <a:ext cx="10817352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6BAEA"/>
                </a:solidFill>
                <a:latin typeface="Microsoft YaHei"/>
              </a:rPr>
              <a:t>园区固定协同清单：①场地与物业报备　②一层导视/停车　③领导是否出席　④意向客户名单共享　⑤会后会议室留给逼单。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怎么样去逼单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44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356616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场中逼单设计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31546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每场必设「看场时段」不少于20分钟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出口处置意向表/政策礼包二维码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限时席位：当场留资享免租/折扣码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嘉宾/导师荐客即时对接招商经理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大型场设「招商绿色通道」专台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280160"/>
            <a:ext cx="356616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1280160"/>
            <a:ext cx="64008" cy="4800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1408176"/>
            <a:ext cx="3200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会后7日逼单窗口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737360"/>
            <a:ext cx="31546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T+1：短信/企微致谢+资料包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T+2：电话回访，约二次看场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T+3–5：政策诊断/报价单发出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T+7：决策人面谈或线上签约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未成交进培育池，导入下场活动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1280160"/>
            <a:ext cx="306324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1280160"/>
            <a:ext cx="64008" cy="4800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1080" y="1408176"/>
            <a:ext cx="26974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逼单话术锚点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1737360"/>
            <a:ext cx="265176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政策窗口期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展位/单元余量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同场竞品已留资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活动专属礼包到期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领导见证签约位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怎么样促进转化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45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63040"/>
            <a:ext cx="205740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线索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1828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签到·企微·意向表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91840"/>
            <a:ext cx="1828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6D6B6"/>
                </a:solidFill>
                <a:latin typeface="Microsoft YaHei"/>
              </a:rPr>
              <a:t>场场留资率≥60%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1463040"/>
            <a:ext cx="205740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64592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1945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培育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651760"/>
            <a:ext cx="1828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社群·内容·下场邀约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91840"/>
            <a:ext cx="1828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6D6B6"/>
                </a:solidFill>
                <a:latin typeface="Microsoft YaHei"/>
              </a:rPr>
              <a:t>7日触达≥3次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1463040"/>
            <a:ext cx="205740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164592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945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看场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51760"/>
            <a:ext cx="1828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标准动线+样板间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291840"/>
            <a:ext cx="1828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6D6B6"/>
                </a:solidFill>
                <a:latin typeface="Microsoft YaHei"/>
              </a:rPr>
              <a:t>看场到访率≥25%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69479" y="1463040"/>
            <a:ext cx="205740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39" y="164592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39" y="21945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报价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39" y="2651760"/>
            <a:ext cx="1828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租金+政策礼包组合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39" y="3291840"/>
            <a:ext cx="1828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6D6B6"/>
                </a:solidFill>
                <a:latin typeface="Microsoft YaHei"/>
              </a:rPr>
              <a:t>48小时内出单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1463040"/>
            <a:ext cx="2057400" cy="2194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21945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成交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651760"/>
            <a:ext cx="1828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意向金/合同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291840"/>
            <a:ext cx="1828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6D6B6"/>
                </a:solidFill>
                <a:latin typeface="Microsoft YaHei"/>
              </a:rPr>
              <a:t>月度转化看板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931920"/>
            <a:ext cx="10817352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393192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059936"/>
            <a:ext cx="10451592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转化加速器（与主题强绑定）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389120"/>
            <a:ext cx="104058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AI场：工位/小单元「体验日」当天可试坐 → 当周签约有礼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政策场：诊断结论页直接附「入驻可申报清单」→ 带政策决策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集群场：展位扣点测算表现场出 → 降低纯租金抗性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300">
                <a:solidFill>
                  <a:srgbClr val="C6BAEA"/>
                </a:solidFill>
                <a:latin typeface="Microsoft YaHei"/>
              </a:rPr>
              <a:t>大型场：门票票根/展商证兑换看场礼 → 流量变线索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总 · 后期招商闭环流程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46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10817352" cy="685800"/>
          </a:xfrm>
          <a:prstGeom prst="roundRect">
            <a:avLst/>
          </a:prstGeom>
          <a:ln w="1016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1.活动前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481328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F1FF"/>
                </a:solidFill>
                <a:latin typeface="Microsoft YaHei"/>
              </a:rPr>
              <a:t>名单筛选·邀约·政策礼包预热·招商目标场次化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057400"/>
            <a:ext cx="10817352" cy="685800"/>
          </a:xfrm>
          <a:prstGeom prst="roundRect">
            <a:avLst/>
          </a:prstGeom>
          <a:ln w="1016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24028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2.活动中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258568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F1FF"/>
                </a:solidFill>
                <a:latin typeface="Microsoft YaHei"/>
              </a:rPr>
              <a:t>签到建档·内容种草·看场·意向表·限时礼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34640"/>
            <a:ext cx="10817352" cy="685800"/>
          </a:xfrm>
          <a:prstGeom prst="roundRect">
            <a:avLst/>
          </a:prstGeom>
          <a:ln w="1016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01752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3.活动后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035808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F1FF"/>
                </a:solidFill>
                <a:latin typeface="Microsoft YaHei"/>
              </a:rPr>
              <a:t>7日逼单·报价·二次看场·未成交进池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11880"/>
            <a:ext cx="10817352" cy="685800"/>
          </a:xfrm>
          <a:prstGeom prst="roundRect">
            <a:avLst/>
          </a:prstGeom>
          <a:ln w="1016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79476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4.成交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813048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F1FF"/>
                </a:solidFill>
                <a:latin typeface="Microsoft YaHei"/>
              </a:rPr>
              <a:t>合同·付款·入驻排期·服务中心接棒申报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389120"/>
            <a:ext cx="10817352" cy="685800"/>
          </a:xfrm>
          <a:prstGeom prst="roundRect">
            <a:avLst/>
          </a:prstGeom>
          <a:ln w="1016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7200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5.复盘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590288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F1FF"/>
                </a:solidFill>
                <a:latin typeface="Microsoft YaHei"/>
              </a:rPr>
              <a:t>场次ROI·转化漏斗·内容沉淀·下场优化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66360"/>
            <a:ext cx="10817352" cy="685800"/>
          </a:xfrm>
          <a:prstGeom prst="roundRect">
            <a:avLst/>
          </a:prstGeom>
          <a:ln w="1016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3492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6.反哺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5367528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F1FF"/>
                </a:solidFill>
                <a:latin typeface="Microsoft YaHei"/>
              </a:rPr>
              <a:t>租户故事→下场案例；载体KPI→补贴；社群→下场观众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54864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38912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9C27C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94944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1FF"/>
                </a:solidFill>
                <a:latin typeface="Microsoft YaHei"/>
              </a:rPr>
              <a:t>结论 · 给对方的协同清单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384048"/>
            <a:ext cx="13716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3200" b="1">
                <a:solidFill>
                  <a:srgbClr val="E9C27C"/>
                </a:solidFill>
                <a:latin typeface="Arial"/>
              </a:rP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8229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00" b="0">
                <a:solidFill>
                  <a:srgbClr val="9486C4"/>
                </a:solidFill>
                <a:latin typeface="Microsoft YaHei"/>
              </a:rPr>
              <a:t>· 30场活动方案 · 同浦汇产业招服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641908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E9C27C"/>
                </a:solidFill>
                <a:latin typeface="Arial"/>
              </a:rPr>
              <a:t>47</a:t>
            </a:r>
            <a:r>
              <a:rPr sz="1000" b="0">
                <a:solidFill>
                  <a:srgbClr val="9486C4"/>
                </a:solidFill>
                <a:latin typeface="Arial"/>
              </a:rPr>
              <a:t> / 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280160"/>
            <a:ext cx="521208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64008" cy="4800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08176"/>
            <a:ext cx="4846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我们交付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4800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30场具名活动+年度排期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六大主题与园区AI+IP主轴对齐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逐场行程/嘉宾/落位/价值链接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执行团队与物料（活动执行费口径）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会后7日逼单与转化漏斗运营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120640" cy="4800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80160"/>
            <a:ext cx="64008" cy="4800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08176"/>
            <a:ext cx="47548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请园区协同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737360"/>
            <a:ext cx="470916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按场次类型配备1–6名现场支持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共享意向客户与在谈名单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开放样板间/展区看场动线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确认领导出席与媒体口径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会后会议室与逼单权限支持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400">
                <a:solidFill>
                  <a:srgbClr val="C6BAEA"/>
                </a:solidFill>
                <a:latin typeface="Microsoft YaHei"/>
              </a:rPr>
              <a:t>月度联席复盘转化数据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