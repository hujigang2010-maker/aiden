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E4D8C"/>
                </a:solidFill>
                <a:latin typeface="Microsoft YaHei"/>
              </a:rPr>
              <a:t>上海创智汇 × 同浦汇｜活动专项交付（双会资源融合）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Microsoft YaHei"/>
              </a:rPr>
              <a:t>创智汇 · 30场定义核与资源导入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C49A3C"/>
                </a:solidFill>
                <a:latin typeface="Microsoft YaHei"/>
              </a:rPr>
              <a:t>AI+数字内容无界共创港　｜　2026.08—2027.07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4A4A5A"/>
                </a:solidFill>
                <a:latin typeface="Microsoft YaHei"/>
              </a:rPr>
              <a:t>每场≤30人　·　负责人约50%　·　我们带客 / 园区销售　·　只融合招商贴近资源，不堆全量名单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5486400" cy="28803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200400"/>
            <a:ext cx="73152" cy="28803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310128"/>
            <a:ext cx="51663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创作主题响应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639312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3F ≈2850㎡：AI / OPC / 算力 / 具身入孵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5F ≈3670㎡：数字内容 / IP / 展贸转化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WAIC 线喂养 3F 能力场次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ChinaJoy 线喂养 5F 内容场次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具身 / AIGC 为双会叠加带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200400"/>
            <a:ext cx="5074920" cy="28803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3200400"/>
            <a:ext cx="73152" cy="28803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331012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本册边界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639312"/>
            <a:ext cx="4709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仅活动专项；不做租金租赁对赌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双会表只取可导入切片，不粘贴全库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出海 / 领事另议另计价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不承诺必带外资企业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主体：云创基地；学术：复旦住房中心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1/24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01 · 主体与支持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谁在做这件事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46028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71016"/>
            <a:ext cx="24054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角色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2963204" y="123444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780" y="127101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单位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41799" y="1234440"/>
            <a:ext cx="514423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8375" y="1271016"/>
            <a:ext cx="508936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81912"/>
            <a:ext cx="24602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618488"/>
            <a:ext cx="240542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主体运营范围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3204" y="158191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780" y="161848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上海市云计算创新基地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1799" y="1581912"/>
            <a:ext cx="514423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8375" y="1618488"/>
            <a:ext cx="508936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国家级孵化器，纳入创智汇活动与运营主体范围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084832"/>
            <a:ext cx="2460284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121408"/>
            <a:ext cx="240542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学术支持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63204" y="208483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780" y="212140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复旦大学住房政策研究中心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41799" y="2084832"/>
            <a:ext cx="514423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8375" y="2121408"/>
            <a:ext cx="508936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学术背书、议题与人才/空间相关研究支持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587752"/>
            <a:ext cx="24602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2624328"/>
            <a:ext cx="240542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活动及运营载体支持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63204" y="258775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9780" y="262432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杨浦区科技企业联合会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41799" y="2587752"/>
            <a:ext cx="514423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78375" y="2624328"/>
            <a:ext cx="508936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活动生态、会员协同、传播支持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090672"/>
            <a:ext cx="2460284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3127248"/>
            <a:ext cx="240542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活动及运营载体支持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63204" y="309067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9780" y="312724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杨浦区科技企业服务中心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41799" y="3090672"/>
            <a:ext cx="514423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78375" y="3127248"/>
            <a:ext cx="508936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政策服务、申报辅导、入驻手续协同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93592"/>
            <a:ext cx="24602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3630168"/>
            <a:ext cx="240542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活动执行与带客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63204" y="359359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99780" y="363016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同浦汇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41799" y="3593592"/>
            <a:ext cx="514423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78375" y="3630168"/>
            <a:ext cx="508936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策划、邀约、执行、建群、带客回访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096512"/>
            <a:ext cx="2460284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4133088"/>
            <a:ext cx="240542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销售成交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63204" y="409651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9780" y="413308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园区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41799" y="4096512"/>
            <a:ext cx="514423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78375" y="4133088"/>
            <a:ext cx="508936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房源销售、价格确认、合同交割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01 · 关键口径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人数 · 负责人 · 客群 · 外企原则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人数与负责人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每场到场人次控制在 30 人以下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全年触达目标约 600 人次+，以可执行、可核验为准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负责人占比适度承兑约 50%（不做 100% 承诺）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邀约以园区产业主题客群为主（弱化关联度表述）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493776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外企与领事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原则：不承诺一定会带外资企业来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出海活动：另议、价格另议，不在本册费用内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领事到访接待：另计价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领事馆挂牌及挂牌活动：另计价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挂牌与领事活动性质不同，分开计价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34747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7" y="1344168"/>
            <a:ext cx="3154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分工一句话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1673352"/>
            <a:ext cx="3108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我们负责带客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园区负责销售部分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活动结束建群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园区可在群内促成成交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3/24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02 · 内容层次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响应「AI+数字内容无界共创港」的四层叠加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不是把双会全量搬进园区，而是按招商转化裁切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22529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层次</a:t>
            </a:r>
          </a:p>
        </p:txBody>
      </p:sp>
      <p:sp>
        <p:nvSpPr>
          <p:cNvPr id="9" name="Rectangle 8"/>
          <p:cNvSpPr/>
          <p:nvPr/>
        </p:nvSpPr>
        <p:spPr>
          <a:xfrm>
            <a:off x="2068555" y="118872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5131" y="122529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作用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99826" y="118872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6402" y="122529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主要来源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31097" y="118872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7673" y="122529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对应场次类型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36192"/>
            <a:ext cx="156563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1572768"/>
            <a:ext cx="151077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L0 点火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8555" y="153619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5131" y="157276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渠道/金融/投研/政府点火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99826" y="153619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6402" y="157276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园区自建+载体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1097" y="153619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7673" y="157276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P1–P4 项目推广日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039112"/>
            <a:ext cx="156563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2075688"/>
            <a:ext cx="151077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L1 双会承接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68555" y="2039112"/>
            <a:ext cx="313127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5131" y="207568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大会余热→园区看场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99826" y="2039112"/>
            <a:ext cx="313127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6402" y="207568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WAIC成果切片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1097" y="203911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7673" y="207568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E1 开放交流日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542032"/>
            <a:ext cx="156563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578608"/>
            <a:ext cx="151077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L2 楼层主线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8555" y="254203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5131" y="257860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3F能力 / 5F内容分轨获客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99826" y="254203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6402" y="257860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WAIC赛道 + CJ优先策略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1097" y="254203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7673" y="257860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A/B 与 C/D 常规场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044952"/>
            <a:ext cx="156563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3081528"/>
            <a:ext cx="151077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L3 双会叠加带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68555" y="3044952"/>
            <a:ext cx="313127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5131" y="308152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具身+AIGC跨楼层联动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99826" y="3044952"/>
            <a:ext cx="313127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36402" y="308152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WAIC具身×CJ Vision Future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1097" y="304495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7673" y="308152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A5 等叠加体验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547872"/>
            <a:ext cx="156563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3584448"/>
            <a:ext cx="151077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L4 收口/预热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68555" y="354787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05131" y="358444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签约收口与下届双会预热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99826" y="354787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36402" y="358444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年内导入精选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31097" y="354787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7673" y="358444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F4 / D5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029200"/>
            <a:ext cx="1118311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4A4A5A"/>
                </a:solidFill>
                <a:latin typeface="Microsoft YaHei"/>
              </a:rPr>
              <a:t>原则：双会总表是「资源库」，30场是「定义核」。每场只导入可邀约、可看场、可建群的切片；不出全量展商名录。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02 · 双会资源导入（摘要）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只取与招商贴近的可调用规模与优先策略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数据来源：WAIC2026全量资源整合总表 · ChinaJoy2026招商引资总表六版融合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394960" cy="4983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73152" cy="498348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9844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WAIC → 喂养 3F AI/OPC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27632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参展商963 · 品牌主库4262 · 联系人3463 · A/B线索500 · 论坛175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主赛道：算力芯片 / 机器人具身 / 大模型Agent / AIGC / 行业AI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活动项目池缩尺：ACT-001闭门 · ACT-002具身 · ACT-003算力 · ACT-006行业AI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用法：A/B线索抽样邀约；论坛议题变≤30人沙龙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不做：963展商全量粘贴进PPT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188720"/>
            <a:ext cx="5074920" cy="4983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188720"/>
            <a:ext cx="73152" cy="498348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29844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ChinaJoy → 喂养 5F 内容/IP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627632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主题「与AI同游」· 近900家参展 · 可触达优先263 · 精编422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最高优先：中小游戏工作室池（Express/Next Play/AGS）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高优先：具身 Vision Future · 潮玩谷子供 · 创作者经济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中腰部工作室选址灵活；不硬追大厂总部搬迁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不做：422/966全量名单进PPT；大厂总部搬迁不作目标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活动概况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30场概况总表（上）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主题 · 时间 · 层次 · 资源源 · 价值落点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主题/活动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8839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415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4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1050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层次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60109" y="1143000"/>
            <a:ext cx="201296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6685" y="1179576"/>
            <a:ext cx="195809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资源源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73069" y="1143000"/>
            <a:ext cx="201296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09645" y="1179576"/>
            <a:ext cx="195809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价值落点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9047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152704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97568" y="149047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4144" y="152704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创智汇项目推广日①·中介与渠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8839" y="149047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5415" y="152704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8月上旬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4" y="149047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050" y="152704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L0点火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60109" y="149047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6685" y="152704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园区自建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3069" y="149047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9645" y="152704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中介渠道带看与项目推介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178308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181965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178308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181965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创智汇项目推广日②·五大行与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8839" y="178308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5415" y="181965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8月中旬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4" y="178308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1050" y="181965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L0点火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60109" y="178308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6685" y="181965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园区自建+投研交叉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73069" y="178308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09645" y="181965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金融资源链接与企业客户导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07568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211226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97568" y="207568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34144" y="211226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创智汇项目推广日③·投研机构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28839" y="207568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65415" y="211226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8月中旬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4474" y="207568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1050" y="211226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L0点火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60109" y="207568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96685" y="211226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园区自建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73069" y="207568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09645" y="211226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投研视角放大项目影响力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236829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240487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236829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240487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创智汇项目推广日④·政府部门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28839" y="236829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65415" y="240487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8月下旬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4474" y="236829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1050" y="240487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L0点火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60109" y="236829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96685" y="240487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云创基地+科企联/服中心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73069" y="236829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09645" y="240487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政策与载体协同落地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266090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" y="269748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97568" y="266090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34144" y="269748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WAIC成果承接·创智汇开放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28839" y="266090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5415" y="269748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8月下旬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4474" y="266090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1050" y="269748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L1双会承接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60109" y="266090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96685" y="269748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WAIC总表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73069" y="266090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09645" y="269748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衔接WAIC议题与园区看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2953512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299008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2953512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299008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28839" y="2953512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65415" y="299008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9月上旬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94474" y="2953512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1050" y="299008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660109" y="2953512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96685" y="299008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WAIC·大模型/Age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73069" y="2953512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09645" y="299008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Agent初创落位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3246120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6" y="328269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97568" y="3246120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34144" y="328269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28839" y="3246120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65415" y="328269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9月中旬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94474" y="3246120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31050" y="328269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60109" y="3246120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96685" y="328269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CJ·游戏风云/IP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73069" y="3246120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09645" y="328269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ChinaJoy赛道企业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3538728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9496" y="357530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97568" y="3538728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34144" y="357530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28839" y="3538728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65415" y="357530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档期另议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94474" y="3538728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31050" y="357530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60109" y="3538728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696685" y="357530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CJ·国际展团（另案）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73069" y="3538728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09645" y="357530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出海需求企业服务（不在年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" y="3831336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39496" y="386791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97568" y="3831336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434144" y="386791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28839" y="3831336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65415" y="386791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10月上旬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94474" y="3831336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31050" y="386791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660109" y="3831336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696685" y="386791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WAIC·多模态/AIG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673069" y="3831336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709645" y="386791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多模态团队入驻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2920" y="4123944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39496" y="416052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397568" y="4123944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434144" y="416052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ChinaJoy主题日·数字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28839" y="4123944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565415" y="416052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10月中旬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94474" y="4123944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131050" y="416052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660109" y="4123944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96685" y="416052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CJ·游戏风云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73069" y="4123944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09645" y="416052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ChinaJoy生态企业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02920" y="441655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39496" y="445312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B2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397568" y="441655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34144" y="445312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528839" y="441655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565415" y="445312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10月下旬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094474" y="441655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131050" y="445312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660109" y="441655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696685" y="445312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WAIC·治理标准论坛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673069" y="441655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709645" y="445312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合规型企业信任导入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02920" y="470916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39496" y="474573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A4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397568" y="470916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434144" y="474573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火山引擎×算力Infra实务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28839" y="470916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565415" y="474573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11月上旬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094474" y="470916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131050" y="474573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660109" y="470916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696685" y="474573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WAIC·算力/芯片 +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73069" y="470916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709645" y="474573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高算力企业定向看场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02920" y="500176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39496" y="503834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397568" y="500176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434144" y="503834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创新券·算力券·模型券实务沙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528839" y="500176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65415" y="503834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11月中旬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094474" y="500176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131050" y="503834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660109" y="500176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696685" y="503834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云创+WAIC算力池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673069" y="500176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709645" y="503834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用券企业聚集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02920" y="529437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39496" y="533095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397568" y="529437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434144" y="533095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528839" y="529437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565415" y="533095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档期另议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094474" y="529437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131050" y="533095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660109" y="529437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696685" y="533095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另案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673069" y="529437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709645" y="533095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领事到访接待（不在三部分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02920" y="558698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39496" y="562356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97568" y="558698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434144" y="562356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528839" y="558698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565415" y="562356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12月上旬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094474" y="558698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131050" y="562356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L3叠加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660109" y="558698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696685" y="562356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WAIC具身 + CJ 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673069" y="558698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709645" y="562356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具身/机器人团队看场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6/24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活动概况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30场概况总表（下）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主题 · 时间 · 层次 · 资源源 · 价值落点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主题/活动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8839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415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4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1050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层次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60109" y="1143000"/>
            <a:ext cx="201296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6685" y="1179576"/>
            <a:ext cx="195809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资源源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73069" y="1143000"/>
            <a:ext cx="201296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09645" y="1179576"/>
            <a:ext cx="195809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价值落点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9047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152704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97568" y="149047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4144" y="152704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创智汇AI年度Demo 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8839" y="149047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5415" y="152704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12月中旬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4" y="149047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050" y="152704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L4收口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60109" y="149047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6685" y="152704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双会精选项目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3069" y="149047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9645" y="152704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集中签约洽谈与媒体背书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178308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181965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178308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181965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8839" y="178308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5415" y="181965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次1月上旬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4" y="178308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1050" y="181965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60109" y="178308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6685" y="181965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WAIC·内容创意AIG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73069" y="178308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09645" y="181965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厂牌/工作室入驻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07568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211226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97568" y="207568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34144" y="211226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28839" y="207568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65415" y="211226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次1月中旬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4474" y="207568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1050" y="211226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60109" y="207568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96685" y="211226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WAIC·企业服务与营销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73069" y="207568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09645" y="211226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营销科技公司看场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236829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240487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236829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240487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YOUNG立方×智能伙伴政策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28839" y="236829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65415" y="240487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次2月中旬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4474" y="236829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1050" y="240487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L2·政策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60109" y="236829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96685" y="240487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服中心+双会客群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73069" y="236829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09645" y="240487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内容/AI企业导入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266090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" y="269748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97568" y="266090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34144" y="269748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28839" y="266090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5415" y="269748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次2月下旬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4474" y="266090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1050" y="269748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L2·政策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60109" y="266090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96685" y="269748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服中心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73069" y="266090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09645" y="269748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待认定企业带政策入驻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2953512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299008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2953512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299008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28839" y="2953512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65415" y="299008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次3月上旬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94474" y="2953512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1050" y="299008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660109" y="2953512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96685" y="299008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WAIC·青年/OPC 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73069" y="2953512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09645" y="299008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获奖团队优先谈单元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3246120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6" y="328269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97568" y="3246120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34144" y="328269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高校成果转化·AI for 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28839" y="3246120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65415" y="328269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次3月下旬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94474" y="3246120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31050" y="328269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L2·学术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60109" y="3246120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96685" y="328269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学术支持+WAIC科研赛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73069" y="3246120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09645" y="328269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3538728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9496" y="357530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97568" y="3538728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34144" y="357530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28839" y="3538728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65415" y="357530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次3月下旬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94474" y="3538728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31050" y="357530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60109" y="3538728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696685" y="357530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WAIC·大模型论坛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73069" y="3538728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09645" y="357530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研究型/模型团队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" y="3831336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39496" y="386791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97568" y="3831336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434144" y="386791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ChinaJoy主题·创作者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28839" y="3831336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65415" y="386791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次4月中旬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94474" y="3831336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31050" y="386791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660109" y="3831336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696685" y="386791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CJ·创作者展区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673069" y="3831336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709645" y="386791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数字娱乐/内容品牌问询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2920" y="4123944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39496" y="416052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C3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397568" y="4123944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434144" y="416052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ChinaJoy主题·游戏周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28839" y="4123944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565415" y="416052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次4月下旬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94474" y="4123944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131050" y="416052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660109" y="4123944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96685" y="416052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CJ·魔玩/谷子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73069" y="4123944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09645" y="416052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ChinaJoy供应链/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02920" y="441655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39496" y="445312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397568" y="441655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34144" y="445312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528839" y="441655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565415" y="445312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次5月中旬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094474" y="441655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131050" y="445312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660109" y="441655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696685" y="445312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WAIC·行业AI + 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673069" y="441655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709645" y="445312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成长型AI补位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02920" y="470916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39496" y="474573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D3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397568" y="470916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434144" y="474573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28839" y="470916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565415" y="474573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次5月下旬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094474" y="470916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131050" y="474573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660109" y="470916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696685" y="474573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CJ·创作者/市集形态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73069" y="470916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709645" y="474573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优质摊主/工作室升级固定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02920" y="500176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39496" y="503834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397568" y="500176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434144" y="503834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ChinaJoy主题·IP联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528839" y="500176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65415" y="503834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次6月中旬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094474" y="500176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131050" y="503834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660109" y="500176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696685" y="503834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CJ·IP/联名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673069" y="500176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709645" y="503834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IP联名/衍生品团队入驻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02920" y="529437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39496" y="533095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D4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397568" y="529437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434144" y="533095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ChinaJoy主题·沉浸式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528839" y="529437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565415" y="533095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次6月下旬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094474" y="529437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131050" y="533095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660109" y="529437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696685" y="533095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CJ·氛围落地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673069" y="529437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709645" y="533095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闭幕洽谈集中转化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02920" y="558698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39496" y="562356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97568" y="558698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434144" y="562356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创作者首发②·衔接WAIC2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528839" y="558698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565415" y="562356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次7月中旬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094474" y="558698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131050" y="562356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L4收口/预热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660109" y="558698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696685" y="562356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双会预热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673069" y="558698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709645" y="562356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旺季补位，双大会预热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定义核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30场定义核与资源导入（上）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469690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46420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定义核（一句话）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5" y="1143000"/>
            <a:ext cx="559155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1051" y="1179576"/>
            <a:ext cx="55366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9047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152704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7568" y="1490472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4144" y="1527048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渠道点火场：把「AI+数字内容共创港」讲清楚，导入后续带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5" y="1490472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1051" y="1527048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双会客群转介话术包；待租8间看场清单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78308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181965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97568" y="1783080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4144" y="1819656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金融转介场：用科创金融话术放大带客可信度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4475" y="1783080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1051" y="1819656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WAIC金融科技论坛议题摘要；CJ BTOB专业观众画像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07568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" y="211226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97568" y="2075688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34144" y="2112264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叙事定调场：对外统一园区赛道故事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4475" y="2075688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1051" y="2112264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WAIC赛道结论（大模型/具身/算力）；CJ「与AI同游」产业判断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36829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40487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2368296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2404872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政策协同场：主体背书与载体资源上桌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4475" y="2368296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1051" y="2404872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云创算力券/创新券口径；YOUNG立方政策包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66090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" y="269748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97568" y="2660904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34144" y="2697480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WAIC余热承接：把大会议题压缩为园区可看场的≤30人交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4475" y="2660904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31051" y="2697480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A/B线索抽样邀约；ACT-001/002/006议题切片；不堆全量96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953512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299008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97568" y="2953512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34144" y="2990088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3F入孵核：Agent能力→OPC工位转化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4475" y="2953512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31051" y="2990088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WAIC行业：AI Agent约87家池；ACT-001闭门会缩尺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246120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" y="328269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97568" y="3246120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34144" y="3282696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5F内容核：IP授权对接→展位/办公问询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4475" y="3246120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31051" y="3282696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CJ优先：中小工作室+IP授权方；可触达263抽样，不追大厂总部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538728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357530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3538728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3575304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另议核：出海不进年度包，另案另计价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4475" y="3538728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1051" y="3575304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 BTOB外资线索仅作另案素材；本册不承诺外企到场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3831336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9496" y="386791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97568" y="3831336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34144" y="3867912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3F技术核：多模态团队看场入驻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94475" y="3831336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31051" y="3867912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 AIGC图像/视频/3D子类抽样；论坛「内容创意与AIGC」切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4123944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" y="416052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97568" y="4123944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34144" y="4160520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5F生态核：数字娱乐集中看场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94475" y="4123944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31051" y="4160520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Express/独立游戏中小团队池；库洛/鹰角/散爆等仅作赛道示例非名单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441655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9496" y="445312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97568" y="4416552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34144" y="4453128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信任核：治理合规降低入驻决策摩擦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94475" y="4416552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31051" y="4453128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WAIC治理赛道7场论坛议题摘要；合规顾问短名单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470916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474573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4709160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4745736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算力核：云创基地×厂商联训→高算力看场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94475" y="4709160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1051" y="4745736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ACT-003缩尺；WAIC算力展商226家池抽样；云创算力资源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500176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9496" y="503834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97568" y="5001768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34144" y="5038344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券务核：用券企业聚集转化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94475" y="5001768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31051" y="5038344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三券核销路径；WAIC算力/云厂商联系人抽样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529437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6" y="533095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97568" y="5294376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34144" y="5330952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外事另计价核：到访≠挂牌，分开报价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94475" y="5294376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1051" y="5330952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不占用年度30场资源池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" y="558698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9496" y="562356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97568" y="5586984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34144" y="5623560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双会叠加核：具身体验→3F/5F联合看场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94475" y="5586984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31051" y="5623560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ACT-002缩尺；WAIC场景观察（零售/工业物流）；CJ前沿科技高优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定义核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30场定义核与资源导入（下）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469690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46420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定义核（一句话）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5" y="1143000"/>
            <a:ext cx="559155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1051" y="1179576"/>
            <a:ext cx="55366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9047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152704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7568" y="1490472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4144" y="1527048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年中收口核：精选项目集中签约洽谈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5" y="1490472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1051" y="1527048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年内WAIC/CJ导入的A/B意向项目精选路演，不做全量路演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78308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181965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97568" y="1783080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4144" y="1819656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内容制片核：微短剧厂牌→5F展陈/3F办公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4475" y="1783080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1051" y="1819656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WAIC「AI赋能影视内容」论坛切片；AIGC厂牌抽样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07568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" y="211226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97568" y="2075688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34144" y="2112264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营销科技核：投放团队看场入驻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4475" y="2075688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1051" y="2112264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WAIC企业服务/营销86家池抽样；Agent应用团队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36829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40487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2368296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2404872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政策获客核：YOUNG立方礼包转化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4475" y="2368296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1051" y="2404872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政策礼包+双会导入意向企业复邀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66090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" y="269748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97568" y="2660904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34144" y="2697480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带政策入驻核：高企辅导绑定入驻套餐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4475" y="2660904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31051" y="2697480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双会AI应用类待认定企业名单抽样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953512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299008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97568" y="2953512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34144" y="2990088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OPC核：黑客松获奖→优先谈单元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4475" y="2953512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31051" y="2990088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高校/青年Builder；CJ AGS高校团队线索抽样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246120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" y="328269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97568" y="3246120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34144" y="3282696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成果转化核：高校实验室/公司落户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4475" y="3246120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31051" y="3282696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复旦住房政策研究中心学术支持位；WAIC前沿科研论坛切片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538728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357530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3538728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3575304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研究型客户核：闭门圆桌深谈看场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4475" y="3538728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1051" y="3575304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ACT-001闭门形态；模型公司抽样（不作全量邀约）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3831336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9496" y="386791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97568" y="3831336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34144" y="3867912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创作者首发核：内容发布带招商通道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94475" y="3831336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31051" y="3867912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CJ创作者/社团抽样；渠道复用（抖音/小红书玩法迁移园区）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4123944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" y="416052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97568" y="4123944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34144" y="4160520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供应链核：周边/潮玩→5F展位落位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94475" y="4123944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31051" y="4160520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CJ潮玩谷子高优先级；JOYTOY/卡游等仅作品类示例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441655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9496" y="445312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97568" y="4416552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34144" y="4453128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成长补位核：专精特新AI应用看场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94475" y="4416552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31051" y="4453128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ACT-006案例圆桌缩尺；行业AI114家池抽样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470916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474573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4709160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4745736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市集转化核：摊主升级固定展位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94475" y="4709160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1051" y="4745736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CJ创作者展区小微品牌；市集→固定展位升级路径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500176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9496" y="503834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97568" y="5001768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34144" y="5038344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IP商业化核：联名撮合→入驻/展位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94475" y="5001768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31051" y="5038344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CJ老字号×IP联名案例迁移；衍生品商抽样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529437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6" y="533095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97568" y="5294376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34144" y="5330952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视觉落地核：短展期氛围→闭幕洽谈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94475" y="5294376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1051" y="5330952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联合内容方短名单；预约制控流≤30人/场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" y="558698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9496" y="562356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97568" y="5586984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34144" y="5623560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双会预热核：创作者首发衔接下一年双会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94475" y="5586984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31051" y="5623560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全年双会导入线索复盘；预热WAIC2027+下届CJ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04 · 活动价值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活动带来什么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园区侧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每月有主题不断档，空间有热度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8月项目推广日打通中介/银行/投研/政府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3F/5F 分轨：AI入孵 + 内容展贸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双会资源切片持续喂养带客池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云创基地国家级孵化器背书可感知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34440"/>
            <a:ext cx="50749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34416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转化侧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73352"/>
            <a:ext cx="4709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每场≤30人，精而准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固定看场环节，便于带客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活动结束建群，持续触达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同浦汇带客，园区做销售促成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不做租金租赁对赌与必要性要求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04 · 具体交付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我们交给园区的东西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01296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71016"/>
            <a:ext cx="195809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周期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5880" y="1234440"/>
            <a:ext cx="581521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2456" y="1271016"/>
            <a:ext cx="576035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交付物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1098" y="123444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7674" y="127101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81912"/>
            <a:ext cx="201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618488"/>
            <a:ext cx="19580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签约后2周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5880" y="1581912"/>
            <a:ext cx="581521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52456" y="1618488"/>
            <a:ext cx="576035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年度活动方案细化版 + 排期日历 + 资源导入台账模板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1098" y="1581912"/>
            <a:ext cx="3354933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7674" y="1618488"/>
            <a:ext cx="3300069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活动专项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12264"/>
            <a:ext cx="2012960" cy="53035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148840"/>
            <a:ext cx="19580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每场结束后7天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5880" y="2112264"/>
            <a:ext cx="5815218" cy="53035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52456" y="2148840"/>
            <a:ext cx="576035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执行卡、议程、嘉宾确认、报名页、签到表、意向表、动线图、照片/通稿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1098" y="2112264"/>
            <a:ext cx="3354933" cy="53035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7674" y="2148840"/>
            <a:ext cx="3300069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同浦汇归档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642616"/>
            <a:ext cx="201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2679192"/>
            <a:ext cx="19580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每场结束后7天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5880" y="2642616"/>
            <a:ext cx="581521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52456" y="2679192"/>
            <a:ext cx="576035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回访摘要（知会版）+ 建群清单 + 本场资源来源标注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1098" y="2642616"/>
            <a:ext cx="3354933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7674" y="2679192"/>
            <a:ext cx="3300069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便于园区销售跟进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172968"/>
            <a:ext cx="2012960" cy="53035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3209544"/>
            <a:ext cx="19580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5880" y="3172968"/>
            <a:ext cx="5815218" cy="53035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52456" y="3209544"/>
            <a:ext cx="576035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活动数据月报 + 下月排期确认单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31098" y="3172968"/>
            <a:ext cx="3354933" cy="53035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7674" y="3209544"/>
            <a:ext cx="3300069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联席会前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703320"/>
            <a:ext cx="201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3739896"/>
            <a:ext cx="19580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每季/年末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5880" y="3703320"/>
            <a:ext cx="581521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52456" y="3739896"/>
            <a:ext cx="576035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季度复盘、全年台账、双会资源消耗与补库建议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31098" y="3703320"/>
            <a:ext cx="3354933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7674" y="3739896"/>
            <a:ext cx="3300069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资产沉淀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394960"/>
            <a:ext cx="11183112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回访与带客由同浦汇负责；园区聚焦销售促成。交园区的回访材料为摘要知会，方便销售跟进，不额外增加园区事务负担。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04 · 执行分工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我们带客，园区负责销售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事项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8555" y="118872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5131" y="122529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同浦汇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23488" y="118872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0064" y="122529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园区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421" y="118872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4997" y="122529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载体支持/学术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36192"/>
            <a:ext cx="156563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15727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策划与议程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68555" y="15361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5131" y="15727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全案策划、执行卡、资源切片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23488" y="15361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0064" y="15727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方案审定、档期确认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421" y="1536192"/>
            <a:ext cx="290760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997" y="15727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联合会/服中心协同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993392"/>
            <a:ext cx="1565635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0299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邀约与带客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8555" y="1993392"/>
            <a:ext cx="3354933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5131" y="20299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双会线索抽样邀约、带客、建群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23488" y="1993392"/>
            <a:ext cx="3354933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0064" y="20299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共享在谈名单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421" y="1993392"/>
            <a:ext cx="2907609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14997" y="20299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会员/学者推荐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450592"/>
            <a:ext cx="156563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4871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场地保障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68555" y="24505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5131" y="24871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提前提报需求、物料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23488" y="24505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60064" y="24871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报备、导视、物业安保、样板间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421" y="2450592"/>
            <a:ext cx="290760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14997" y="24871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907792"/>
            <a:ext cx="1565635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29443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现场执行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68555" y="2907792"/>
            <a:ext cx="3354933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5131" y="29443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主持控场、看场带队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23488" y="2907792"/>
            <a:ext cx="3354933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60064" y="29443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现场支持、开放看场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421" y="2907792"/>
            <a:ext cx="2907609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14997" y="29443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政策宣讲位（如需）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364992"/>
            <a:ext cx="156563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4015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销售促成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68555" y="33649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5131" y="34015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提供意向名单与群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23488" y="33649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60064" y="34015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负责销售部分、报价成交、合同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421" y="3364992"/>
            <a:ext cx="290760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14997" y="34015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入驻手续（服中心）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822192"/>
            <a:ext cx="1565635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38587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回访跟踪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68555" y="3822192"/>
            <a:ext cx="3354933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5131" y="38587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主责带客回访与台账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23488" y="3822192"/>
            <a:ext cx="3354933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60064" y="38587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基于名单/群做销售跟进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421" y="3822192"/>
            <a:ext cx="2907609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14997" y="38587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4279392"/>
            <a:ext cx="156563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9496" y="43159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复盘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68555" y="42793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05131" y="43159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单场复盘+月报+资源补库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23488" y="42793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60064" y="43159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确认下月活动安排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78421" y="4279392"/>
            <a:ext cx="290760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14997" y="43159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04 · 协同着眼点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做完活动、建完群 → 园区销售促成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标准动作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D日：同浦汇签到分层并建群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T+1：同浦汇发看场预约与资料入群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T+1~7：同浦汇持续带客回访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园区：在群内发布房源/政策/条件，负责销售促成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双方月度核对意向与成交进展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34440"/>
            <a:ext cx="50749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34416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责任边界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73352"/>
            <a:ext cx="4709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我们负责带客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园区负责销售部分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回访摘要交园区便于销售跟进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不承诺必带外资企业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出海/领事相关另议另计价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05 · 收费与付款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活动费用边界 · 付款节点（唯一方案）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268394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13385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项目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3186866" y="109728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3442" y="113385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口径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8137" y="1097280"/>
            <a:ext cx="536789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4713" y="1133856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44752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481328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活动策划执行服务费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6866" y="1444752"/>
            <a:ext cx="313127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3442" y="1481328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年度打包（金额线下确认）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8137" y="1444752"/>
            <a:ext cx="536789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4713" y="1481328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含常规30场策划执行、物料、主持、建群与带客回访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792224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1828800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租金参考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6866" y="1792224"/>
            <a:ext cx="3131271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23442" y="1828800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3.3 元/㎡/天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18137" y="1792224"/>
            <a:ext cx="536789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4713" y="1828800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高于周边均价，故不做租赁对赌与租赁必要性要求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139696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2176272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建议免租期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86866" y="2139696"/>
            <a:ext cx="313127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23442" y="2176272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建议 1–3 个月（面议）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18137" y="2139696"/>
            <a:ext cx="536789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4713" y="2176272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降低决策门槛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487168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523744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物业参考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86866" y="2487168"/>
            <a:ext cx="3131271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23442" y="2523744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13.8 元/㎡/月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8137" y="2487168"/>
            <a:ext cx="536789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4713" y="2523744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园区统一标准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834640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87121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待租房源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86866" y="2834640"/>
            <a:ext cx="313127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23442" y="287121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8 间优先看场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18137" y="2834640"/>
            <a:ext cx="536789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4713" y="2871216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带客当场可看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182112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3218688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出海活动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6866" y="3182112"/>
            <a:ext cx="3131271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23442" y="3218688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另议 · 另计价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18137" y="3182112"/>
            <a:ext cx="536789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4713" y="3218688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不在本册活动服务费内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529584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6" y="3566160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领事到访接待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86866" y="3529584"/>
            <a:ext cx="313127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23442" y="3566160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18137" y="3529584"/>
            <a:ext cx="536789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4713" y="3566160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在现有三部分费用之外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877056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3913632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领事馆挂牌及挂牌活动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86866" y="3877056"/>
            <a:ext cx="3131271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23442" y="3913632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18137" y="3877056"/>
            <a:ext cx="536789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4713" y="3913632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与领事到访分属不同性质，分开计价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4892040"/>
            <a:ext cx="11183112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付款节点（唯一建议方案）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166360"/>
            <a:ext cx="447324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9496" y="5202936"/>
            <a:ext cx="44183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节点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76164" y="516636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12740" y="520293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比例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07435" y="516636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44011" y="520293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对应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5513832"/>
            <a:ext cx="447324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" y="5550408"/>
            <a:ext cx="44183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签约后7日内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76164" y="5513832"/>
            <a:ext cx="3131271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12740" y="5550408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50% 启动款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07435" y="5513832"/>
            <a:ext cx="357859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44011" y="5550408"/>
            <a:ext cx="3523731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启动策划、年度日历锁定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824728"/>
            <a:ext cx="4473244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9496" y="5861304"/>
            <a:ext cx="44183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Q3 / Q4 / 次年Q1 / 次年Q2 各季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76164" y="5824728"/>
            <a:ext cx="3131271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12740" y="5861304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各10%（合计40%）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07435" y="5824728"/>
            <a:ext cx="3578595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44011" y="5861304"/>
            <a:ext cx="3523731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与季度场次完成度、月报验收挂钩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6135624"/>
            <a:ext cx="447324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6172200"/>
            <a:ext cx="44183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年终收官后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76164" y="6135624"/>
            <a:ext cx="3131271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12740" y="6172200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10% 尾款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07435" y="6135624"/>
            <a:ext cx="357859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44011" y="6172200"/>
            <a:ext cx="3523731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年报、台账、影像资产移交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06 · 单场执行节奏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同一套打法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7101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844893" y="123444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1469" y="127101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99826" y="123444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6402" y="127101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责任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421" y="123444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4997" y="127101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8191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161848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T-14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44893" y="158191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81469" y="161848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锁定嘉宾议程物料+本场资源切片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9826" y="158191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6402" y="161848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421" y="1581912"/>
            <a:ext cx="290760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997" y="1618488"/>
            <a:ext cx="285274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议程/嘉宾确认/报名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08483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12140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T-7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44893" y="208483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81469" y="212140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邀约确认+场地报备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99826" y="208483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6402" y="212140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同浦汇；园区场地确认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421" y="2084832"/>
            <a:ext cx="2907609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14997" y="2121408"/>
            <a:ext cx="285274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名单/场地单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58775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62432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44893" y="258775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81469" y="262432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彩排+看场动线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99826" y="258775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6402" y="262432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同浦汇；园区样板间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421" y="2587752"/>
            <a:ext cx="290760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14997" y="2624328"/>
            <a:ext cx="285274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彩排记录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09067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312724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D日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44893" y="309067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81469" y="312724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签到→主区→看场→建群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99826" y="309067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6402" y="312724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同浦汇执行；园区支持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421" y="3090672"/>
            <a:ext cx="2907609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14997" y="3127248"/>
            <a:ext cx="285274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签到/意向/群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59359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63016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T+1~7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44893" y="359359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81469" y="363016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带客回访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99826" y="359359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36402" y="363016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同浦汇主责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421" y="3593592"/>
            <a:ext cx="290760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14997" y="3630168"/>
            <a:ext cx="285274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回访摘要知会园区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09651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413308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销售促成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44893" y="409651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81469" y="413308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房源条件与成交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99826" y="409651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36402" y="413308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园区负责销售部分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421" y="4096512"/>
            <a:ext cx="2907609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14997" y="4133088"/>
            <a:ext cx="285274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合同/交割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07 · 往期案例（1）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杨「数」浦数字沙龙：AI如何重塑企业DNA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2025-06-30 · 美团上海综合指挥中心 · 沙龙类</a:t>
            </a:r>
          </a:p>
        </p:txBody>
      </p:sp>
      <p:pic>
        <p:nvPicPr>
          <p:cNvPr id="7" name="Picture 6" descr="case_c987bd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611880" cy="2103120"/>
          </a:xfrm>
          <a:prstGeom prst="rect">
            <a:avLst/>
          </a:prstGeom>
        </p:spPr>
      </p:pic>
      <p:pic>
        <p:nvPicPr>
          <p:cNvPr id="8" name="Picture 7" descr="case_59157ea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234440"/>
            <a:ext cx="3611880" cy="2103120"/>
          </a:xfrm>
          <a:prstGeom prst="rect">
            <a:avLst/>
          </a:prstGeom>
        </p:spPr>
      </p:pic>
      <p:pic>
        <p:nvPicPr>
          <p:cNvPr id="9" name="Picture 8" descr="case_6e51af9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8" y="1234440"/>
            <a:ext cx="3611880" cy="2103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3520440"/>
            <a:ext cx="6858000" cy="2697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6492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6492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参观数字化场景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主题分享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案例落地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政策解读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互动答疑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520440"/>
            <a:ext cx="4114800" cy="2697480"/>
          </a:xfrm>
          <a:prstGeom prst="rect">
            <a:avLst/>
          </a:prstGeom>
          <a:solidFill>
            <a:srgbClr val="E8F0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611880"/>
            <a:ext cx="3840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977639"/>
            <a:ext cx="384048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杨浦区委网信办；赛博院等
企业侧：美团；大众点评大模型团队等
映射：对应：B类政策沙龙、A类训练营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16/24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07 · 往期案例（2）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「融见科创」人工智能专场路演暨投融资对接会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2025-10 · 杨浦 · 路演对接类</a:t>
            </a:r>
          </a:p>
        </p:txBody>
      </p:sp>
      <p:pic>
        <p:nvPicPr>
          <p:cNvPr id="7" name="Picture 6" descr="case_db1d5c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611880" cy="2103120"/>
          </a:xfrm>
          <a:prstGeom prst="rect">
            <a:avLst/>
          </a:prstGeom>
        </p:spPr>
      </p:pic>
      <p:pic>
        <p:nvPicPr>
          <p:cNvPr id="8" name="Picture 7" descr="case_659315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234440"/>
            <a:ext cx="3611880" cy="2103120"/>
          </a:xfrm>
          <a:prstGeom prst="rect">
            <a:avLst/>
          </a:prstGeom>
        </p:spPr>
      </p:pic>
      <p:pic>
        <p:nvPicPr>
          <p:cNvPr id="9" name="Picture 8" descr="case_cb0a38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8" y="1234440"/>
            <a:ext cx="3611880" cy="2103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3520440"/>
            <a:ext cx="6858000" cy="2697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6492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6492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开场致辞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主办致辞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趋势分享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项目路演对接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点评跟进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520440"/>
            <a:ext cx="4114800" cy="2697480"/>
          </a:xfrm>
          <a:prstGeom prst="rect">
            <a:avLst/>
          </a:prstGeom>
          <a:solidFill>
            <a:srgbClr val="E8F0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611880"/>
            <a:ext cx="3840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977639"/>
            <a:ext cx="384048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杨浦科创促进会、邮储银行等
企业侧：复楚智能、卡房信息、一造科技、中科趋势、万笔千墨等
映射：对应：F4 Demo Day、项目推广日、路演类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08 · 逐场执行要素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P1–E4｜行程/嘉宾/交付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5737" y="1188720"/>
            <a:ext cx="246028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2313" y="1225296"/>
            <a:ext cx="24054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6021" y="118872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2597" y="122529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954" y="118872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530" y="122529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8563" y="1188720"/>
            <a:ext cx="167746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5139" y="1225296"/>
            <a:ext cx="162260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36192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572768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5737" y="1536192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2313" y="157276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创智汇项目推广日①·中介与渠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6021" y="1536192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2597" y="1572768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项目介绍→空间导览→政策要点→一对一洽谈→建群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954" y="1536192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7530" y="1572768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房产/产业中介、渠道机构、园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8563" y="1536192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5139" y="1572768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20240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1956816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5737" y="1920240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2313" y="195681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创智汇项目推广日②·五大行与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6021" y="1920240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2597" y="1956816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项目路演→金融产品对接→企业需求座谈→看场→建群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0954" y="1920240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7530" y="1956816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五大行及合作金融机构对公/科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08563" y="1920240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5139" y="1956816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304288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340864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5737" y="2304288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2313" y="234086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创智汇项目推广日③·投研机构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6021" y="2304288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2597" y="2340864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项目定位→产业赛道研判→圆桌→看场→建群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0954" y="2304288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7530" y="2340864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券商研究所、产业研究院、智库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8563" y="2304288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5139" y="2340864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688336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2724912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2688336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272491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创智汇项目推广日④·政府部门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6021" y="2688336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82597" y="2724912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载体介绍→政策协同→云创基地资源→看场→建群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0954" y="2688336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7530" y="2724912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区相关部门、载体代表、云创基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8563" y="2688336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5139" y="2724912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072384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" y="3108960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5737" y="3072384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22313" y="310896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WAIC成果承接·创智汇开放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6021" y="3072384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82597" y="3108960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WAIC议题速递→园区承接→双展台→洽谈→建群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0954" y="3072384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7530" y="3108960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AI/内容企业、媒体、云创基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8563" y="3072384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5139" y="3108960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456432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3493008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5737" y="3456432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22313" y="349300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6021" y="3456432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82597" y="3493008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签到→工作流→实操→Demo→看场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00954" y="3456432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7530" y="3493008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Agent工程师、初创团队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08563" y="3456432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5139" y="3493008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3840480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3877056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85737" y="3840480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22313" y="387705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46021" y="3840480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82597" y="3877056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ChinaJoy赛道解读→IP授权→一对一撮合→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0954" y="3840480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530" y="3877056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游戏/动漫/潮玩IP方、渠道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08563" y="3840480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45139" y="3877056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" y="4224528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9496" y="4261104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85737" y="4224528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22313" y="426110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6021" y="4224528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82597" y="4261104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另案确定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00954" y="4224528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37530" y="4261104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另案确定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08563" y="4224528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45139" y="4261104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4608576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9496" y="4645152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285737" y="4608576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22313" y="464515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46021" y="4608576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82597" y="4645152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案例→实操→共创→评审→看场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100954" y="4608576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137530" y="4645152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多模态应用团队、产品负责人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08563" y="4608576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045139" y="4645152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4992624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9496" y="5029200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85737" y="4992624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22313" y="502920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ChinaJoy主题日·数字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46021" y="4992624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782597" y="5029200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开幕→赛道分享→展洽→看场→建群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00954" y="4992624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37530" y="5029200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数字娱乐企业、内容工作室、渠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08563" y="4992624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45139" y="5029200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08 · 逐场执行要素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B2–B3｜行程/嘉宾/交付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5737" y="1188720"/>
            <a:ext cx="246028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2313" y="1225296"/>
            <a:ext cx="24054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6021" y="118872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2597" y="122529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954" y="118872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530" y="122529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8563" y="1188720"/>
            <a:ext cx="167746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5139" y="1225296"/>
            <a:ext cx="162260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36192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572768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5737" y="1536192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2313" y="157276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6021" y="1536192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2597" y="1572768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治理框架→合规清单→案例→问答→对接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954" y="1536192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7530" y="1572768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合规顾问、企业法务/负责人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8563" y="1536192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5139" y="1572768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20240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1956816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5737" y="1920240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2313" y="195681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火山引擎×算力Infra实务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6021" y="1920240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2597" y="1956816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政策包→代金券→案例→诊断→看场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0954" y="1920240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7530" y="1956816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火山引擎、云创基地、企业技术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08563" y="1920240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5139" y="1956816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304288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340864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5737" y="2304288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2313" y="234086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创新券·算力券·模型券实务沙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6021" y="2304288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2597" y="2340864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三券规则→核销→案例→开户→入驻洽谈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0954" y="2304288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7530" y="2340864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券平台、云厂商、企业负责人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8563" y="2304288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5139" y="2340864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688336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2724912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2688336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272491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6021" y="2688336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82597" y="2724912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另案确定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0954" y="2688336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7530" y="2724912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领事及相关方（另案）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8563" y="2688336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5139" y="2724912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072384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" y="3108960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5737" y="3072384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22313" y="310896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6021" y="3072384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82597" y="3108960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演示→讲解→场景→踩点→洽谈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0954" y="3072384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7530" y="3108960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具身团队、高校实验室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8563" y="3072384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5139" y="3108960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456432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3493008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5737" y="3456432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22313" y="349300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创智汇AI年度Demo 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6021" y="3456432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82597" y="3493008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开幕→精选路演→颁奖→洽谈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00954" y="3456432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7530" y="3493008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投资人、链主、媒体、精选项目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08563" y="3456432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5139" y="3493008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3840480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3877056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85737" y="3840480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22313" y="387705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46021" y="3840480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82597" y="3877056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政策→制片→脚本→路演→看场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0954" y="3840480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530" y="3877056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导演、厂牌、平台方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08563" y="3840480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45139" y="3877056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" y="4224528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9496" y="4261104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85737" y="4224528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22313" y="426110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6021" y="4224528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82597" y="4261104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策略→Agent→素材→复盘→转化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00954" y="4224528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37530" y="4261104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投放操盘手、产品经理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08563" y="4224528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45139" y="4261104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4608576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9496" y="4645152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285737" y="4608576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22313" y="464515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YOUNG立方×智能伙伴政策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46021" y="4608576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82597" y="4645152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政策→礼包→画像→诊断→看场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100954" y="4608576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137530" y="4645152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政策宣讲、服中心、企业负责人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08563" y="4608576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045139" y="4645152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4992624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9496" y="5029200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85737" y="4992624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22313" y="502920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46021" y="4992624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782597" y="5029200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条件→材料→初筛→套餐→激励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00954" y="4992624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37530" y="5029200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辅导顾问、待认定企业负责人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08563" y="4992624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45139" y="5029200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08 · 逐场执行要素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A7–D5｜行程/嘉宾/交付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5737" y="1188720"/>
            <a:ext cx="246028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2313" y="1225296"/>
            <a:ext cx="24054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6021" y="118872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2597" y="122529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954" y="118872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530" y="122529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8563" y="1188720"/>
            <a:ext cx="167746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5139" y="1225296"/>
            <a:ext cx="162260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36192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572768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5737" y="1536192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2313" y="157276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6021" y="1536192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2597" y="1572768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开题→开发→路演→礼包→看场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954" y="1536192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7530" y="1572768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评委、投资人、Builder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8563" y="1536192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5139" y="1572768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20240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1956816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5737" y="1920240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2313" y="195681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高校成果转化·AI for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6021" y="1920240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2597" y="1956816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成果路演→场景→承接→看单元→洽谈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0954" y="1920240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7530" y="1956816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复旦/同济技转、教授团队、住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08563" y="1920240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5139" y="1956816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304288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340864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5737" y="2304288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2313" y="234086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6021" y="2304288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2597" y="2340864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议题→圆桌→围炉→问答→看场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0954" y="2304288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7530" y="2340864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学者、模型企业、投资人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8563" y="2304288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5139" y="2340864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688336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2724912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2688336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272491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ChinaJoy主题·创作者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6021" y="2688336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82597" y="2724912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揭幕→发布→快闪→专访→招商通道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0954" y="2688336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7530" y="2724912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创作者、媒体、渠道、Chin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8563" y="2688336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5139" y="2724912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072384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" y="3108960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5737" y="3072384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22313" y="310896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ChinaJoy主题·游戏周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6021" y="3072384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82597" y="3108960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赛道介绍→供需对接→展位参观→报价→建群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0954" y="3072384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7530" y="3108960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游戏周边、潮玩供应链、渠道采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8563" y="3072384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5139" y="3108960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456432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3493008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5737" y="3456432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22313" y="349300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6021" y="3456432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82597" y="3493008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政策→路演→点评→金融→看场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00954" y="3456432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7530" y="3493008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顾问、银行、基金、企业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08563" y="3456432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5139" y="3493008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3840480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3877056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85737" y="3840480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22313" y="387705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46021" y="3840480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82597" y="3877056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布展→体验→交流→转正洽谈→建群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0954" y="3840480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530" y="3877056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内容工作室、周边品牌、达人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08563" y="3840480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45139" y="3877056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" y="4224528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9496" y="4261104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85737" y="4224528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22313" y="426110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ChinaJoy主题·IP联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6021" y="4224528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82597" y="4261104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IP路演→联名模式→一对一→MOU→看场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00954" y="4224528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37530" y="4261104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IP方、衍生品商、渠道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08563" y="4224528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45139" y="4261104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4608576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9496" y="4645152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285737" y="4608576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22313" y="464515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ChinaJoy主题·沉浸式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46021" y="4608576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82597" y="4645152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布展→预约观展→交流→闭幕洽谈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100954" y="4608576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137530" y="4645152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联合内容方、渠道、品牌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08563" y="4608576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045139" y="4645152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4992624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9496" y="5029200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85737" y="4992624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22313" y="502920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创作者首发②·衔接WAIC2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46021" y="4992624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782597" y="5029200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发布→渠道→看场→年框→双会预热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00954" y="4992624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37530" y="5029200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IP方、渠道、媒体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08563" y="4992624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45139" y="5029200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09 · 双会衔接落地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活动同步衔接 WAIC 与 ChinaJoy（招商向）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5394960" cy="4983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73152" cy="498348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9844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WAIC 线 → 3F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27632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E1 开放交流日承接大会余热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Agent / 多模态 / 算力 / 具身 / 治理常态化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ACT项目池缩尺为≤30人场次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年底 Demo Day 收口精选意向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D5 预热 WAIC 2027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5074920" cy="4983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188720"/>
            <a:ext cx="73152" cy="498348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29844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ChinaJoy 线 → 5F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27632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数字娱乐与IP授权对接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中小工作室 / 创作者首发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潮玩供应链 / 市集转正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IP联名与沉浸式联展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主题响应「与AI同游」×园区共创港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09 · 另议另计价事项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不在本册活动服务费内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31673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事项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4191" y="128016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0767" y="131673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计价方式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5462" y="1280160"/>
            <a:ext cx="492056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2038" y="1316736"/>
            <a:ext cx="486570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性质说明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27632"/>
            <a:ext cx="3131271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66420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出海专题活动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4191" y="1627632"/>
            <a:ext cx="3131271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0767" y="166420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另议 · 另计价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5462" y="1627632"/>
            <a:ext cx="4920569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2038" y="1664208"/>
            <a:ext cx="486570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不纳入本册年度活动包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67712"/>
            <a:ext cx="3131271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30428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领事到访接待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34191" y="2267712"/>
            <a:ext cx="3131271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0767" y="230428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5462" y="2267712"/>
            <a:ext cx="4920569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2038" y="2304288"/>
            <a:ext cx="486570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外事接待类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07792"/>
            <a:ext cx="3131271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294436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领事馆挂牌及挂牌活动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4191" y="2907792"/>
            <a:ext cx="3131271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0767" y="294436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5462" y="2907792"/>
            <a:ext cx="4920569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2038" y="2944368"/>
            <a:ext cx="486570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挂牌类；与领事到访分属不同性质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47872"/>
            <a:ext cx="3131271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358444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外资企业到场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34191" y="3547872"/>
            <a:ext cx="3131271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0767" y="358444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不承诺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5462" y="3547872"/>
            <a:ext cx="4920569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2038" y="3584448"/>
            <a:ext cx="486570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原则：不承诺一定会带外资企业来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22/24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10 · 一页纸结论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活动专项交付要点（含资源导入）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我们交付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30场定义核 + 资源导入映射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L0–L4 内容层次与叠加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8月项目推广日四场点火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WAIC→3F / CJ→5F 分轨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带客、建群、回访摘要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往期案例（企业+议程+现场照）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请园区协同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场地物业与样板间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共享在谈名单、确认档期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负责销售部分与成交交割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群内发布条件促成成交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云创基地/联合会/服中心协同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34747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493776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7" y="1344168"/>
            <a:ext cx="3154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商务口径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1673352"/>
            <a:ext cx="3108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付款：50%+4×10%+10%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租金不做对赌/必要性要求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建议免租期1–3个月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出海/领事另计价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不承诺必带外企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600" b="1">
                <a:solidFill>
                  <a:srgbClr val="1A1A2E"/>
                </a:solidFill>
                <a:latin typeface="Microsoft YaHei"/>
              </a:rPr>
              <a:t>谢谢审阅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1E4D8C"/>
                </a:solidFill>
                <a:latin typeface="Microsoft YaHei"/>
              </a:rPr>
              <a:t>创智汇 · 30场定义核与双会资源导入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>
                <a:solidFill>
                  <a:srgbClr val="4A4A5A"/>
                </a:solidFill>
                <a:latin typeface="Microsoft YaHei"/>
              </a:rPr>
              <a:t>AI+数字内容无界共创港 · 我们带客 · 园区销售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8A8A9A"/>
                </a:solidFill>
                <a:latin typeface="Microsoft YaHei"/>
              </a:rPr>
              <a:t>主体运营：上海市云计算创新基地（国家级孵化器）
学术支持：复旦大学住房政策研究中心
载体支持：杨浦区科技企业联合会 · 科技企业服务中心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