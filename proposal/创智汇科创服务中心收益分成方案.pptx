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1371600"/>
            <a:ext cx="4572000" cy="4572000"/>
          </a:xfrm>
          <a:prstGeom prst="ellipse">
            <a:avLst/>
          </a:prstGeom>
          <a:gradFill>
            <a:gsLst>
              <a:gs pos="0">
                <a:srgbClr val="5B3FA8">
                  <a:alpha val="40000"/>
                </a:srgbClr>
              </a:gs>
              <a:gs pos="100000">
                <a:srgbClr val="1A1140">
                  <a:alpha val="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spc="300">
                <a:solidFill>
                  <a:srgbClr val="E9C27C"/>
                </a:solidFill>
                <a:latin typeface="Arial"/>
              </a:rPr>
              <a:t>REVENUE SHARE  ·  SERVICE CENTER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1051560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1FF"/>
                </a:solidFill>
                <a:latin typeface="Microsoft YaHei"/>
              </a:rPr>
              <a:t>科创科技服务中心 · 收益评估与分成方案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017520"/>
            <a:ext cx="100584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C6BAEA"/>
                </a:solidFill>
                <a:latin typeface="Microsoft YaHei"/>
              </a:rPr>
              <a:t>政策申报收益项测算  ×  门类分成方案  ×  贡献比例分配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657600"/>
            <a:ext cx="2011680" cy="3810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4023360"/>
            <a:ext cx="4937760" cy="141732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160520"/>
            <a:ext cx="45720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9C27C"/>
                </a:solidFill>
                <a:latin typeface="Microsoft YaHei"/>
              </a:rPr>
              <a:t>甲方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480560"/>
            <a:ext cx="45720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5F1FF"/>
                </a:solidFill>
                <a:latin typeface="Microsoft YaHei"/>
              </a:rPr>
              <a:t>同普会
（协同同浦汇产业运营资源）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023360"/>
            <a:ext cx="4937760" cy="141732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4160520"/>
            <a:ext cx="45720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9C27C"/>
                </a:solidFill>
                <a:latin typeface="Microsoft YaHei"/>
              </a:rPr>
              <a:t>乙方（我们）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4480560"/>
            <a:ext cx="45720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5F1FF"/>
                </a:solidFill>
                <a:latin typeface="Microsoft YaHei"/>
              </a:rPr>
              <a:t>杨浦区科技企业服务中心
（科企联体系 · 政务通道与申报主体）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760720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86C4"/>
                </a:solidFill>
                <a:latin typeface="Microsoft YaHei"/>
              </a:rPr>
              <a:t>上海创智汇 · AI+数字内容无界共创港　｜　沟通版 v1.0　｜　测算供协商，最终以协议为准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30352"/>
            <a:ext cx="54864" cy="749808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12064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200">
                <a:solidFill>
                  <a:srgbClr val="E9C27C"/>
                </a:solidFill>
                <a:latin typeface="Arial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" y="786384"/>
            <a:ext cx="9601200" cy="53035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5F1FF"/>
                </a:solidFill>
                <a:latin typeface="Microsoft YaHei"/>
              </a:rPr>
              <a:t>汇报目录 · 评估逻辑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438912"/>
            <a:ext cx="1371600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3600" b="1">
                <a:solidFill>
                  <a:srgbClr val="E9C27C"/>
                </a:solidFill>
                <a:latin typeface="Arial"/>
              </a:rPr>
              <a:t>00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61320" y="1152144"/>
            <a:ext cx="1170432" cy="254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327648"/>
            <a:ext cx="1063447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00800"/>
            <a:ext cx="84124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50" b="0">
                <a:solidFill>
                  <a:srgbClr val="9486C4"/>
                </a:solidFill>
                <a:latin typeface="Arial"/>
              </a:rPr>
              <a:t>CHUANGZHIHUI</a:t>
            </a:r>
            <a:r>
              <a:rPr sz="950" b="0">
                <a:solidFill>
                  <a:srgbClr val="9486C4"/>
                </a:solidFill>
                <a:latin typeface="Microsoft YaHei"/>
              </a:rPr>
              <a:t>  ·  科创服务中心收益评估与分成方案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95560" y="6400800"/>
            <a:ext cx="15544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9C27C"/>
                </a:solidFill>
                <a:latin typeface="Arial"/>
              </a:rPr>
              <a:t>01</a:t>
            </a:r>
            <a:r>
              <a:rPr sz="1050" b="0">
                <a:solidFill>
                  <a:srgbClr val="9486C4"/>
                </a:solidFill>
                <a:latin typeface="Arial"/>
              </a:rPr>
              <a:t> / 11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417320"/>
            <a:ext cx="10634472" cy="658368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1527048"/>
            <a:ext cx="7315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9C27C"/>
                </a:solidFill>
                <a:latin typeface="Arial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20" y="1508760"/>
            <a:ext cx="5486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F1FF"/>
                </a:solidFill>
                <a:latin typeface="Microsoft YaHei"/>
              </a:rPr>
              <a:t>合作双方与评估边界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20" y="1783080"/>
            <a:ext cx="82296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C6BAEA"/>
                </a:solidFill>
                <a:latin typeface="Microsoft YaHei"/>
              </a:rPr>
              <a:t>谁出什么、评什么、钱从哪来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167128"/>
            <a:ext cx="10634472" cy="658368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2276856"/>
            <a:ext cx="7315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9C27C"/>
                </a:solidFill>
                <a:latin typeface="Arial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20" y="2258568"/>
            <a:ext cx="5486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F1FF"/>
                </a:solidFill>
                <a:latin typeface="Microsoft YaHei"/>
              </a:rPr>
              <a:t>政策申报收益项清单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20" y="2532888"/>
            <a:ext cx="82296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C6BAEA"/>
                </a:solidFill>
                <a:latin typeface="Microsoft YaHei"/>
              </a:rPr>
              <a:t>载体 / 活动 / 奖项 / 其他政策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2916936"/>
            <a:ext cx="10634472" cy="658368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3026664"/>
            <a:ext cx="7315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9C27C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20" y="3008376"/>
            <a:ext cx="5486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F1FF"/>
                </a:solidFill>
                <a:latin typeface="Microsoft YaHei"/>
              </a:rPr>
              <a:t>服务方可实现收益评估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74520" y="3282696"/>
            <a:ext cx="82296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C6BAEA"/>
                </a:solidFill>
                <a:latin typeface="Microsoft YaHei"/>
              </a:rPr>
              <a:t>可申请金额 · 服务费比例/金额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3666744"/>
            <a:ext cx="10634472" cy="658368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3776472"/>
            <a:ext cx="7315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9C27C"/>
                </a:solidFill>
                <a:latin typeface="Arial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20" y="3758184"/>
            <a:ext cx="5486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F1FF"/>
                </a:solidFill>
                <a:latin typeface="Microsoft YaHei"/>
              </a:rPr>
              <a:t>收益分成方案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74520" y="4032504"/>
            <a:ext cx="82296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C6BAEA"/>
                </a:solidFill>
                <a:latin typeface="Microsoft YaHei"/>
              </a:rPr>
              <a:t>按门类设定甲乙分成比例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416552"/>
            <a:ext cx="10634472" cy="658368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" y="4526280"/>
            <a:ext cx="7315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9C27C"/>
                </a:solidFill>
                <a:latin typeface="Arial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74520" y="4507992"/>
            <a:ext cx="5486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F1FF"/>
                </a:solidFill>
                <a:latin typeface="Microsoft YaHei"/>
              </a:rPr>
              <a:t>贡献度与测算结果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74520" y="4782312"/>
            <a:ext cx="82296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C6BAEA"/>
                </a:solidFill>
                <a:latin typeface="Microsoft YaHei"/>
              </a:rPr>
              <a:t>成熟年 / 三年累计分配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5166359"/>
            <a:ext cx="10634472" cy="658368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5276087"/>
            <a:ext cx="7315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9C27C"/>
                </a:solidFill>
                <a:latin typeface="Arial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74520" y="5257799"/>
            <a:ext cx="5486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F1FF"/>
                </a:solidFill>
                <a:latin typeface="Microsoft YaHei"/>
              </a:rPr>
              <a:t>结论与签约建议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74520" y="5532119"/>
            <a:ext cx="82296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C6BAEA"/>
                </a:solidFill>
                <a:latin typeface="Microsoft YaHei"/>
              </a:rPr>
              <a:t>分成原则写入补充协议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30352"/>
            <a:ext cx="54864" cy="749808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12064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200">
                <a:solidFill>
                  <a:srgbClr val="E9C27C"/>
                </a:solidFill>
                <a:latin typeface="Arial"/>
              </a:rPr>
              <a:t>PARTIES &amp;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" y="786384"/>
            <a:ext cx="9601200" cy="53035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5F1FF"/>
                </a:solidFill>
                <a:latin typeface="Microsoft YaHei"/>
              </a:rPr>
              <a:t>合作双方与评估边界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438912"/>
            <a:ext cx="1371600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3600" b="1">
                <a:solidFill>
                  <a:srgbClr val="E9C27C"/>
                </a:solidFill>
                <a:latin typeface="Arial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61320" y="1152144"/>
            <a:ext cx="1170432" cy="254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327648"/>
            <a:ext cx="1063447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00800"/>
            <a:ext cx="84124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50" b="0">
                <a:solidFill>
                  <a:srgbClr val="9486C4"/>
                </a:solidFill>
                <a:latin typeface="Arial"/>
              </a:rPr>
              <a:t>CHUANGZHIHUI</a:t>
            </a:r>
            <a:r>
              <a:rPr sz="950" b="0">
                <a:solidFill>
                  <a:srgbClr val="9486C4"/>
                </a:solidFill>
                <a:latin typeface="Microsoft YaHei"/>
              </a:rPr>
              <a:t>  ·  科创服务中心收益评估与分成方案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95560" y="6400800"/>
            <a:ext cx="15544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9C27C"/>
                </a:solidFill>
                <a:latin typeface="Arial"/>
              </a:rPr>
              <a:t>02</a:t>
            </a:r>
            <a:r>
              <a:rPr sz="1050" b="0">
                <a:solidFill>
                  <a:srgbClr val="9486C4"/>
                </a:solidFill>
                <a:latin typeface="Arial"/>
              </a:rPr>
              <a:t> / 11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371600"/>
            <a:ext cx="5212080" cy="21945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1371600"/>
            <a:ext cx="64008" cy="219456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3272" y="1517904"/>
            <a:ext cx="48006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5F1FF"/>
                </a:solidFill>
                <a:latin typeface="Microsoft YaHei"/>
              </a:rPr>
              <a:t>甲方 · 同普会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" y="1874520"/>
            <a:ext cx="4754880" cy="1600200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产业资源、项目导入、商务统筹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同浦汇协同：招商/出海/活动运营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客户关系与品牌传播协同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贡献侧重：获客 · 资源 · 商务转化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371600"/>
            <a:ext cx="5074920" cy="21945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371600"/>
            <a:ext cx="64008" cy="219456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65392" y="1517904"/>
            <a:ext cx="466344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5F1FF"/>
                </a:solidFill>
                <a:latin typeface="Microsoft YaHei"/>
              </a:rPr>
              <a:t>乙方 · 杨浦区科技企业服务中心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1874520"/>
            <a:ext cx="4617720" cy="1600200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2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政务通道、载体/服务机构资质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2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政策申报执行、材料与过审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2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创新券平台核销与合规把关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2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贡献侧重：资质 · 申报 · 兑现落地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749039"/>
            <a:ext cx="10607040" cy="22860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3749039"/>
            <a:ext cx="64008" cy="2286000"/>
          </a:xfrm>
          <a:prstGeom prst="rect">
            <a:avLst/>
          </a:prstGeom>
          <a:solidFill>
            <a:srgbClr val="56D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3272" y="3895343"/>
            <a:ext cx="1019556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5F1FF"/>
                </a:solidFill>
                <a:latin typeface="Microsoft YaHei"/>
              </a:rPr>
              <a:t>本次评估边界（服务中心未来收益）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2" y="4251959"/>
            <a:ext cx="10149840" cy="1691640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25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250">
                <a:solidFill>
                  <a:srgbClr val="C6BAEA"/>
                </a:solidFill>
                <a:latin typeface="Microsoft YaHei"/>
              </a:rPr>
              <a:t>评估对象：挂牌「科技企业服务中心」后，因政策申报与载体运营可沉淀到服务方的现金收益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25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250">
                <a:solidFill>
                  <a:srgbClr val="C6BAEA"/>
                </a:solidFill>
                <a:latin typeface="Microsoft YaHei"/>
              </a:rPr>
              <a:t>三块主账：①载体可申请/到账　②活动经费可申请/到账　③申报奖项带来的服务费+成功分成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25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250">
                <a:solidFill>
                  <a:srgbClr val="C6BAEA"/>
                </a:solidFill>
                <a:latin typeface="Microsoft YaHei"/>
              </a:rPr>
              <a:t>其他政策项：房租补贴、创新券、政府专项等——按服务费比例或到账分成计入服务方收益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25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250">
                <a:solidFill>
                  <a:srgbClr val="C6BAEA"/>
                </a:solidFill>
                <a:latin typeface="Microsoft YaHei"/>
              </a:rPr>
              <a:t>不含：业主租金、招商佣金主合同（可另表）；本 PPT 聚焦服务中心政策服务收益与甲乙分佣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30352"/>
            <a:ext cx="54864" cy="749808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12064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200">
                <a:solidFill>
                  <a:srgbClr val="E9C27C"/>
                </a:solidFill>
                <a:latin typeface="Arial"/>
              </a:rPr>
              <a:t>REVENUE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" y="786384"/>
            <a:ext cx="9601200" cy="53035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5F1FF"/>
                </a:solidFill>
                <a:latin typeface="Microsoft YaHei"/>
              </a:rPr>
              <a:t>政策申报收益项总览（服务方可计）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438912"/>
            <a:ext cx="1371600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3600" b="1">
                <a:solidFill>
                  <a:srgbClr val="E9C27C"/>
                </a:solidFill>
                <a:latin typeface="Arial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61320" y="1152144"/>
            <a:ext cx="1170432" cy="254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327648"/>
            <a:ext cx="1063447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00800"/>
            <a:ext cx="84124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50" b="0">
                <a:solidFill>
                  <a:srgbClr val="9486C4"/>
                </a:solidFill>
                <a:latin typeface="Arial"/>
              </a:rPr>
              <a:t>CHUANGZHIHUI</a:t>
            </a:r>
            <a:r>
              <a:rPr sz="950" b="0">
                <a:solidFill>
                  <a:srgbClr val="9486C4"/>
                </a:solidFill>
                <a:latin typeface="Microsoft YaHei"/>
              </a:rPr>
              <a:t>  ·  科创服务中心收益评估与分成方案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95560" y="6400800"/>
            <a:ext cx="15544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9C27C"/>
                </a:solidFill>
                <a:latin typeface="Arial"/>
              </a:rPr>
              <a:t>03</a:t>
            </a:r>
            <a:r>
              <a:rPr sz="1050" b="0">
                <a:solidFill>
                  <a:srgbClr val="9486C4"/>
                </a:solidFill>
                <a:latin typeface="Arial"/>
              </a:rPr>
              <a:t> / 11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353312"/>
            <a:ext cx="1063447" cy="658368"/>
          </a:xfrm>
          <a:prstGeom prst="rect">
            <a:avLst/>
          </a:prstGeom>
          <a:solidFill>
            <a:srgbClr val="2A1E55"/>
          </a:solidFill>
          <a:ln w="889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463040"/>
            <a:ext cx="898855" cy="49377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9C27C"/>
                </a:solidFill>
                <a:latin typeface="Microsoft YaHei"/>
              </a:rPr>
              <a:t>门类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40687" y="1353312"/>
            <a:ext cx="2764962" cy="658368"/>
          </a:xfrm>
          <a:prstGeom prst="rect">
            <a:avLst/>
          </a:prstGeom>
          <a:solidFill>
            <a:srgbClr val="2A1E55"/>
          </a:solidFill>
          <a:ln w="889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32127" y="1463040"/>
            <a:ext cx="2600370" cy="49377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9C27C"/>
                </a:solidFill>
                <a:latin typeface="Microsoft YaHei"/>
              </a:rPr>
              <a:t>详细项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05649" y="1353312"/>
            <a:ext cx="3190341" cy="658368"/>
          </a:xfrm>
          <a:prstGeom prst="rect">
            <a:avLst/>
          </a:prstGeom>
          <a:solidFill>
            <a:srgbClr val="2A1E55"/>
          </a:solidFill>
          <a:ln w="889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97089" y="1463040"/>
            <a:ext cx="3025749" cy="49377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9C27C"/>
                </a:solidFill>
                <a:latin typeface="Microsoft YaHei"/>
              </a:rPr>
              <a:t>对企业/载体的政策金额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95990" y="1353312"/>
            <a:ext cx="3615720" cy="658368"/>
          </a:xfrm>
          <a:prstGeom prst="rect">
            <a:avLst/>
          </a:prstGeom>
          <a:solidFill>
            <a:srgbClr val="2A1E55"/>
          </a:solidFill>
          <a:ln w="889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87430" y="1463040"/>
            <a:ext cx="3451128" cy="49377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9C27C"/>
                </a:solidFill>
                <a:latin typeface="Microsoft YaHei"/>
              </a:rPr>
              <a:t>服务方可实现收益口径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011680"/>
            <a:ext cx="1063447" cy="713232"/>
          </a:xfrm>
          <a:prstGeom prst="rect">
            <a:avLst/>
          </a:prstGeom>
          <a:solidFill>
            <a:srgbClr val="241A4A"/>
          </a:solidFill>
          <a:ln w="889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2121408"/>
            <a:ext cx="898855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5F1FF"/>
                </a:solidFill>
                <a:latin typeface="Microsoft YaHei"/>
              </a:rPr>
              <a:t>载体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40687" y="2011680"/>
            <a:ext cx="2764962" cy="713232"/>
          </a:xfrm>
          <a:prstGeom prst="rect">
            <a:avLst/>
          </a:prstGeom>
          <a:solidFill>
            <a:srgbClr val="241A4A"/>
          </a:solidFill>
          <a:ln w="889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32127" y="2121408"/>
            <a:ext cx="260037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成果转化平台运营补贴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05649" y="2011680"/>
            <a:ext cx="3190341" cy="713232"/>
          </a:xfrm>
          <a:prstGeom prst="rect">
            <a:avLst/>
          </a:prstGeom>
          <a:solidFill>
            <a:srgbClr val="241A4A"/>
          </a:solidFill>
          <a:ln w="889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97089" y="2121408"/>
            <a:ext cx="3025749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≤100万/年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95990" y="2011680"/>
            <a:ext cx="3615720" cy="713232"/>
          </a:xfrm>
          <a:prstGeom prst="rect">
            <a:avLst/>
          </a:prstGeom>
          <a:solidFill>
            <a:srgbClr val="241A4A"/>
          </a:solidFill>
          <a:ln w="889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87430" y="2121408"/>
            <a:ext cx="3451128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直接到平台 10–20万/年（认定+满年）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2724912"/>
            <a:ext cx="1063447" cy="713232"/>
          </a:xfrm>
          <a:prstGeom prst="rect">
            <a:avLst/>
          </a:prstGeom>
          <a:solidFill>
            <a:srgbClr val="1C143A"/>
          </a:solidFill>
          <a:ln w="889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2834640"/>
            <a:ext cx="898855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5F1FF"/>
                </a:solidFill>
                <a:latin typeface="Microsoft YaHei"/>
              </a:rPr>
              <a:t>载体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40687" y="2724912"/>
            <a:ext cx="2764962" cy="713232"/>
          </a:xfrm>
          <a:prstGeom prst="rect">
            <a:avLst/>
          </a:prstGeom>
          <a:solidFill>
            <a:srgbClr val="1C143A"/>
          </a:solidFill>
          <a:ln w="889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932127" y="2834640"/>
            <a:ext cx="260037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创业孵化基地运营补贴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05649" y="2724912"/>
            <a:ext cx="3190341" cy="713232"/>
          </a:xfrm>
          <a:prstGeom prst="rect">
            <a:avLst/>
          </a:prstGeom>
          <a:solidFill>
            <a:srgbClr val="1C143A"/>
          </a:solidFill>
          <a:ln w="889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97089" y="2834640"/>
            <a:ext cx="3025749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10万/年（评估达标）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95990" y="2724912"/>
            <a:ext cx="3615720" cy="713232"/>
          </a:xfrm>
          <a:prstGeom prst="rect">
            <a:avLst/>
          </a:prstGeom>
          <a:solidFill>
            <a:srgbClr val="1C143A"/>
          </a:solidFill>
          <a:ln w="889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87430" y="2834640"/>
            <a:ext cx="3451128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直接到平台约10万/年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" y="3438144"/>
            <a:ext cx="1063447" cy="713232"/>
          </a:xfrm>
          <a:prstGeom prst="rect">
            <a:avLst/>
          </a:prstGeom>
          <a:solidFill>
            <a:srgbClr val="241A4A"/>
          </a:solidFill>
          <a:ln w="889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" y="3547872"/>
            <a:ext cx="898855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5F1FF"/>
                </a:solidFill>
                <a:latin typeface="Microsoft YaHei"/>
              </a:rPr>
              <a:t>活动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40687" y="3438144"/>
            <a:ext cx="2764962" cy="713232"/>
          </a:xfrm>
          <a:prstGeom prst="rect">
            <a:avLst/>
          </a:prstGeom>
          <a:solidFill>
            <a:srgbClr val="241A4A"/>
          </a:solidFill>
          <a:ln w="889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932127" y="3547872"/>
            <a:ext cx="260037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YOUNG立方活动经费补贴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05649" y="3438144"/>
            <a:ext cx="3190341" cy="713232"/>
          </a:xfrm>
          <a:prstGeom prst="rect">
            <a:avLst/>
          </a:prstGeom>
          <a:solidFill>
            <a:srgbClr val="241A4A"/>
          </a:solidFill>
          <a:ln w="889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97089" y="3547872"/>
            <a:ext cx="3025749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投入×50%，封顶≤200万/年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95990" y="3438144"/>
            <a:ext cx="3615720" cy="713232"/>
          </a:xfrm>
          <a:prstGeom prst="rect">
            <a:avLst/>
          </a:prstGeom>
          <a:solidFill>
            <a:srgbClr val="241A4A"/>
          </a:solidFill>
          <a:ln w="889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87430" y="3547872"/>
            <a:ext cx="3451128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以申报主体到账；或执行服务费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4151376"/>
            <a:ext cx="1063447" cy="713232"/>
          </a:xfrm>
          <a:prstGeom prst="rect">
            <a:avLst/>
          </a:prstGeom>
          <a:solidFill>
            <a:srgbClr val="1C143A"/>
          </a:solidFill>
          <a:ln w="889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8680" y="4261104"/>
            <a:ext cx="898855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5F1FF"/>
                </a:solidFill>
                <a:latin typeface="Microsoft YaHei"/>
              </a:rPr>
              <a:t>奖项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840687" y="4151376"/>
            <a:ext cx="2764962" cy="713232"/>
          </a:xfrm>
          <a:prstGeom prst="rect">
            <a:avLst/>
          </a:prstGeom>
          <a:solidFill>
            <a:srgbClr val="1C143A"/>
          </a:solidFill>
          <a:ln w="889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932127" y="4261104"/>
            <a:ext cx="260037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高企 / 专精特新 / 小巨人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05649" y="4151376"/>
            <a:ext cx="3190341" cy="713232"/>
          </a:xfrm>
          <a:prstGeom prst="rect">
            <a:avLst/>
          </a:prstGeom>
          <a:solidFill>
            <a:srgbClr val="1C143A"/>
          </a:solidFill>
          <a:ln w="889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97089" y="4261104"/>
            <a:ext cx="3025749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20 / 10·30 / 50–100万（企业）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95990" y="4151376"/>
            <a:ext cx="3615720" cy="713232"/>
          </a:xfrm>
          <a:prstGeom prst="rect">
            <a:avLst/>
          </a:prstGeom>
          <a:solidFill>
            <a:srgbClr val="1C143A"/>
          </a:solidFill>
          <a:ln w="889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887430" y="4261104"/>
            <a:ext cx="3451128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服务费2–8万/家 + 到账5%–15%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77240" y="4864608"/>
            <a:ext cx="1063447" cy="713232"/>
          </a:xfrm>
          <a:prstGeom prst="rect">
            <a:avLst/>
          </a:prstGeom>
          <a:solidFill>
            <a:srgbClr val="241A4A"/>
          </a:solidFill>
          <a:ln w="889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68680" y="4974336"/>
            <a:ext cx="898855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5F1FF"/>
                </a:solidFill>
                <a:latin typeface="Microsoft YaHei"/>
              </a:rPr>
              <a:t>其他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840687" y="4864608"/>
            <a:ext cx="2764962" cy="713232"/>
          </a:xfrm>
          <a:prstGeom prst="rect">
            <a:avLst/>
          </a:prstGeom>
          <a:solidFill>
            <a:srgbClr val="241A4A"/>
          </a:solidFill>
          <a:ln w="889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932127" y="4974336"/>
            <a:ext cx="260037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科小备案 / 创新券 / 房租补贴等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605649" y="4864608"/>
            <a:ext cx="3190341" cy="713232"/>
          </a:xfrm>
          <a:prstGeom prst="rect">
            <a:avLst/>
          </a:prstGeom>
          <a:solidFill>
            <a:srgbClr val="241A4A"/>
          </a:solidFill>
          <a:ln w="889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697089" y="4974336"/>
            <a:ext cx="3025749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资格或≤30–100万/年（企业）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795990" y="4864608"/>
            <a:ext cx="3615720" cy="713232"/>
          </a:xfrm>
          <a:prstGeom prst="rect">
            <a:avLst/>
          </a:prstGeom>
          <a:solidFill>
            <a:srgbClr val="241A4A"/>
          </a:solidFill>
          <a:ln w="889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887430" y="4974336"/>
            <a:ext cx="3451128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服务费0.3–2万 或 到账5%–15%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7240" y="5897880"/>
            <a:ext cx="10634472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86C4"/>
                </a:solidFill>
                <a:latin typeface="Microsoft YaHei"/>
              </a:rPr>
              <a:t>＊产业补贴主体多为企业/载体；服务中心收益＝直接运营补贴 + 申报服务费 + 成功分成（及活动主体到账）。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30352"/>
            <a:ext cx="54864" cy="749808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12064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200">
                <a:solidFill>
                  <a:srgbClr val="E9C27C"/>
                </a:solidFill>
                <a:latin typeface="Arial"/>
              </a:rPr>
              <a:t>ITEMIZED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" y="786384"/>
            <a:ext cx="9601200" cy="53035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5F1FF"/>
                </a:solidFill>
                <a:latin typeface="Microsoft YaHei"/>
              </a:rPr>
              <a:t>分项收益评估 · 可申请 / 服务费 / 确定性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438912"/>
            <a:ext cx="1371600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3600" b="1">
                <a:solidFill>
                  <a:srgbClr val="E9C27C"/>
                </a:solidFill>
                <a:latin typeface="Arial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61320" y="1152144"/>
            <a:ext cx="1170432" cy="254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327648"/>
            <a:ext cx="1063447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00800"/>
            <a:ext cx="84124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50" b="0">
                <a:solidFill>
                  <a:srgbClr val="9486C4"/>
                </a:solidFill>
                <a:latin typeface="Arial"/>
              </a:rPr>
              <a:t>CHUANGZHIHUI</a:t>
            </a:r>
            <a:r>
              <a:rPr sz="950" b="0">
                <a:solidFill>
                  <a:srgbClr val="9486C4"/>
                </a:solidFill>
                <a:latin typeface="Microsoft YaHei"/>
              </a:rPr>
              <a:t>  ·  科创服务中心收益评估与分成方案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95560" y="6400800"/>
            <a:ext cx="15544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9C27C"/>
                </a:solidFill>
                <a:latin typeface="Arial"/>
              </a:rPr>
              <a:t>04</a:t>
            </a:r>
            <a:r>
              <a:rPr sz="1050" b="0">
                <a:solidFill>
                  <a:srgbClr val="9486C4"/>
                </a:solidFill>
                <a:latin typeface="Arial"/>
              </a:rPr>
              <a:t> / 11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298448"/>
            <a:ext cx="1914204" cy="530352"/>
          </a:xfrm>
          <a:prstGeom prst="rect">
            <a:avLst/>
          </a:prstGeom>
          <a:solidFill>
            <a:srgbClr val="2A1E55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1371600"/>
            <a:ext cx="1804476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9C27C"/>
                </a:solidFill>
                <a:latin typeface="Microsoft YaHei"/>
              </a:rPr>
              <a:t>详细项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91444" y="1298448"/>
            <a:ext cx="1914204" cy="530352"/>
          </a:xfrm>
          <a:prstGeom prst="rect">
            <a:avLst/>
          </a:prstGeom>
          <a:solidFill>
            <a:srgbClr val="2A1E55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64596" y="1371600"/>
            <a:ext cx="1804476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9C27C"/>
                </a:solidFill>
                <a:latin typeface="Microsoft YaHei"/>
              </a:rPr>
              <a:t>可申请/政策金额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05648" y="1298448"/>
            <a:ext cx="2339583" cy="530352"/>
          </a:xfrm>
          <a:prstGeom prst="rect">
            <a:avLst/>
          </a:prstGeom>
          <a:solidFill>
            <a:srgbClr val="2A1E55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78800" y="1371600"/>
            <a:ext cx="2229855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9C27C"/>
                </a:solidFill>
                <a:latin typeface="Microsoft YaHei"/>
              </a:rPr>
              <a:t>服务费比例或金额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45231" y="1298448"/>
            <a:ext cx="2764962" cy="530352"/>
          </a:xfrm>
          <a:prstGeom prst="rect">
            <a:avLst/>
          </a:prstGeom>
          <a:solidFill>
            <a:srgbClr val="2A1E55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18383" y="1371600"/>
            <a:ext cx="2655234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9C27C"/>
                </a:solidFill>
                <a:latin typeface="Microsoft YaHei"/>
              </a:rPr>
              <a:t>成熟年服务方收益（示意）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710193" y="1298448"/>
            <a:ext cx="1701515" cy="530352"/>
          </a:xfrm>
          <a:prstGeom prst="rect">
            <a:avLst/>
          </a:prstGeom>
          <a:solidFill>
            <a:srgbClr val="2A1E55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3345" y="1371600"/>
            <a:ext cx="1591787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9C27C"/>
                </a:solidFill>
                <a:latin typeface="Microsoft YaHei"/>
              </a:rPr>
              <a:t>确定性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1828800"/>
            <a:ext cx="1914204" cy="566928"/>
          </a:xfrm>
          <a:prstGeom prst="rect">
            <a:avLst/>
          </a:prstGeom>
          <a:solidFill>
            <a:srgbClr val="241A4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" y="1901952"/>
            <a:ext cx="1804476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5F1FF"/>
                </a:solidFill>
                <a:latin typeface="Microsoft YaHei"/>
              </a:rPr>
              <a:t>载体运营补贴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91444" y="1828800"/>
            <a:ext cx="1914204" cy="566928"/>
          </a:xfrm>
          <a:prstGeom prst="rect">
            <a:avLst/>
          </a:prstGeom>
          <a:solidFill>
            <a:srgbClr val="241A4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64596" y="1901952"/>
            <a:ext cx="1804476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F1FF"/>
                </a:solidFill>
                <a:latin typeface="Microsoft YaHei"/>
              </a:rPr>
              <a:t>≤100万/年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05648" y="1828800"/>
            <a:ext cx="2339583" cy="566928"/>
          </a:xfrm>
          <a:prstGeom prst="rect">
            <a:avLst/>
          </a:prstGeom>
          <a:solidFill>
            <a:srgbClr val="241A4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78800" y="1901952"/>
            <a:ext cx="2229855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F1FF"/>
                </a:solidFill>
                <a:latin typeface="Microsoft YaHei"/>
              </a:rPr>
              <a:t>直接到账（非服务费）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45231" y="1828800"/>
            <a:ext cx="2764962" cy="566928"/>
          </a:xfrm>
          <a:prstGeom prst="rect">
            <a:avLst/>
          </a:prstGeom>
          <a:solidFill>
            <a:srgbClr val="241A4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18383" y="1901952"/>
            <a:ext cx="2655234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F1FF"/>
                </a:solidFill>
                <a:latin typeface="Microsoft YaHei"/>
              </a:rPr>
              <a:t>15–20万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10193" y="1828800"/>
            <a:ext cx="1701515" cy="566928"/>
          </a:xfrm>
          <a:prstGeom prst="rect">
            <a:avLst/>
          </a:prstGeom>
          <a:solidFill>
            <a:srgbClr val="241A4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83345" y="1901952"/>
            <a:ext cx="1591787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F1FF"/>
                </a:solidFill>
                <a:latin typeface="Microsoft YaHei"/>
              </a:rPr>
              <a:t>较确定·需认定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2395728"/>
            <a:ext cx="1914204" cy="566928"/>
          </a:xfrm>
          <a:prstGeom prst="rect">
            <a:avLst/>
          </a:prstGeom>
          <a:solidFill>
            <a:srgbClr val="1C143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2468880"/>
            <a:ext cx="1804476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5F1FF"/>
                </a:solidFill>
                <a:latin typeface="Microsoft YaHei"/>
              </a:rPr>
              <a:t>孵化基地运营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91444" y="2395728"/>
            <a:ext cx="1914204" cy="566928"/>
          </a:xfrm>
          <a:prstGeom prst="rect">
            <a:avLst/>
          </a:prstGeom>
          <a:solidFill>
            <a:srgbClr val="1C143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64596" y="2468880"/>
            <a:ext cx="1804476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F1FF"/>
                </a:solidFill>
                <a:latin typeface="Microsoft YaHei"/>
              </a:rPr>
              <a:t>10万/年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05648" y="2395728"/>
            <a:ext cx="2339583" cy="566928"/>
          </a:xfrm>
          <a:prstGeom prst="rect">
            <a:avLst/>
          </a:prstGeom>
          <a:solidFill>
            <a:srgbClr val="1C143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78800" y="2468880"/>
            <a:ext cx="2229855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F1FF"/>
                </a:solidFill>
                <a:latin typeface="Microsoft YaHei"/>
              </a:rPr>
              <a:t>直接到账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45231" y="2395728"/>
            <a:ext cx="2764962" cy="566928"/>
          </a:xfrm>
          <a:prstGeom prst="rect">
            <a:avLst/>
          </a:prstGeom>
          <a:solidFill>
            <a:srgbClr val="1C143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18383" y="2468880"/>
            <a:ext cx="2655234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F1FF"/>
                </a:solidFill>
                <a:latin typeface="Microsoft YaHei"/>
              </a:rPr>
              <a:t>8–10万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710193" y="2395728"/>
            <a:ext cx="1701515" cy="566928"/>
          </a:xfrm>
          <a:prstGeom prst="rect">
            <a:avLst/>
          </a:prstGeom>
          <a:solidFill>
            <a:srgbClr val="1C143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83345" y="2468880"/>
            <a:ext cx="1591787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F1FF"/>
                </a:solidFill>
                <a:latin typeface="Microsoft YaHei"/>
              </a:rPr>
              <a:t>较确定·评估达标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2962656"/>
            <a:ext cx="1914204" cy="566928"/>
          </a:xfrm>
          <a:prstGeom prst="rect">
            <a:avLst/>
          </a:prstGeom>
          <a:solidFill>
            <a:srgbClr val="241A4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0392" y="3035808"/>
            <a:ext cx="1804476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5F1FF"/>
                </a:solidFill>
                <a:latin typeface="Microsoft YaHei"/>
              </a:rPr>
              <a:t>活动经费补贴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691444" y="2962656"/>
            <a:ext cx="1914204" cy="566928"/>
          </a:xfrm>
          <a:prstGeom prst="rect">
            <a:avLst/>
          </a:prstGeom>
          <a:solidFill>
            <a:srgbClr val="241A4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64596" y="3035808"/>
            <a:ext cx="1804476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F1FF"/>
                </a:solidFill>
                <a:latin typeface="Microsoft YaHei"/>
              </a:rPr>
              <a:t>≤200万/年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605648" y="2962656"/>
            <a:ext cx="2339583" cy="566928"/>
          </a:xfrm>
          <a:prstGeom prst="rect">
            <a:avLst/>
          </a:prstGeom>
          <a:solidFill>
            <a:srgbClr val="241A4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78800" y="3035808"/>
            <a:ext cx="2229855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F1FF"/>
                </a:solidFill>
                <a:latin typeface="Microsoft YaHei"/>
              </a:rPr>
              <a:t>主体到账或执行分成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945231" y="2962656"/>
            <a:ext cx="2764962" cy="566928"/>
          </a:xfrm>
          <a:prstGeom prst="rect">
            <a:avLst/>
          </a:prstGeom>
          <a:solidFill>
            <a:srgbClr val="241A4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018383" y="3035808"/>
            <a:ext cx="2655234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F1FF"/>
                </a:solidFill>
                <a:latin typeface="Microsoft YaHei"/>
              </a:rPr>
              <a:t>30–60万*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710193" y="2962656"/>
            <a:ext cx="1701515" cy="566928"/>
          </a:xfrm>
          <a:prstGeom prst="rect">
            <a:avLst/>
          </a:prstGeom>
          <a:solidFill>
            <a:srgbClr val="241A4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783345" y="3035808"/>
            <a:ext cx="1591787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F1FF"/>
                </a:solidFill>
                <a:latin typeface="Microsoft YaHei"/>
              </a:rPr>
              <a:t>依投入与主体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77240" y="3529584"/>
            <a:ext cx="1914204" cy="566928"/>
          </a:xfrm>
          <a:prstGeom prst="rect">
            <a:avLst/>
          </a:prstGeom>
          <a:solidFill>
            <a:srgbClr val="1C143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50392" y="3602736"/>
            <a:ext cx="1804476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5F1FF"/>
                </a:solidFill>
                <a:latin typeface="Microsoft YaHei"/>
              </a:rPr>
              <a:t>高企认定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691444" y="3529584"/>
            <a:ext cx="1914204" cy="566928"/>
          </a:xfrm>
          <a:prstGeom prst="rect">
            <a:avLst/>
          </a:prstGeom>
          <a:solidFill>
            <a:srgbClr val="1C143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764596" y="3602736"/>
            <a:ext cx="1804476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F1FF"/>
                </a:solidFill>
                <a:latin typeface="Microsoft YaHei"/>
              </a:rPr>
              <a:t>企业20万/家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605648" y="3529584"/>
            <a:ext cx="2339583" cy="566928"/>
          </a:xfrm>
          <a:prstGeom prst="rect">
            <a:avLst/>
          </a:prstGeom>
          <a:solidFill>
            <a:srgbClr val="1C143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678800" y="3602736"/>
            <a:ext cx="2229855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F1FF"/>
                </a:solidFill>
                <a:latin typeface="Microsoft YaHei"/>
              </a:rPr>
              <a:t>服务费2–8万/家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945231" y="3529584"/>
            <a:ext cx="2764962" cy="566928"/>
          </a:xfrm>
          <a:prstGeom prst="rect">
            <a:avLst/>
          </a:prstGeom>
          <a:solidFill>
            <a:srgbClr val="1C143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018383" y="3602736"/>
            <a:ext cx="2655234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F1FF"/>
                </a:solidFill>
                <a:latin typeface="Microsoft YaHei"/>
              </a:rPr>
              <a:t>5万×8家≈40万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710193" y="3529584"/>
            <a:ext cx="1701515" cy="566928"/>
          </a:xfrm>
          <a:prstGeom prst="rect">
            <a:avLst/>
          </a:prstGeom>
          <a:solidFill>
            <a:srgbClr val="1C143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783345" y="3602736"/>
            <a:ext cx="1591787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F1FF"/>
                </a:solidFill>
                <a:latin typeface="Microsoft YaHei"/>
              </a:rPr>
              <a:t>确定（服务费）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77240" y="4096512"/>
            <a:ext cx="1914204" cy="566928"/>
          </a:xfrm>
          <a:prstGeom prst="rect">
            <a:avLst/>
          </a:prstGeom>
          <a:solidFill>
            <a:srgbClr val="241A4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50392" y="4169664"/>
            <a:ext cx="1804476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5F1FF"/>
                </a:solidFill>
                <a:latin typeface="Microsoft YaHei"/>
              </a:rPr>
              <a:t>专精特新/小巨人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691444" y="4096512"/>
            <a:ext cx="1914204" cy="566928"/>
          </a:xfrm>
          <a:prstGeom prst="rect">
            <a:avLst/>
          </a:prstGeom>
          <a:solidFill>
            <a:srgbClr val="241A4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764596" y="4169664"/>
            <a:ext cx="1804476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F1FF"/>
                </a:solidFill>
                <a:latin typeface="Microsoft YaHei"/>
              </a:rPr>
              <a:t>10/30/50/100万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605648" y="4096512"/>
            <a:ext cx="2339583" cy="566928"/>
          </a:xfrm>
          <a:prstGeom prst="rect">
            <a:avLst/>
          </a:prstGeom>
          <a:solidFill>
            <a:srgbClr val="241A4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678800" y="4169664"/>
            <a:ext cx="2229855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F1FF"/>
                </a:solidFill>
                <a:latin typeface="Microsoft YaHei"/>
              </a:rPr>
              <a:t>服务费2–8万 + 分成5–15%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945231" y="4096512"/>
            <a:ext cx="2764962" cy="566928"/>
          </a:xfrm>
          <a:prstGeom prst="rect">
            <a:avLst/>
          </a:prstGeom>
          <a:solidFill>
            <a:srgbClr val="241A4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018383" y="4169664"/>
            <a:ext cx="2655234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F1FF"/>
                </a:solidFill>
                <a:latin typeface="Microsoft YaHei"/>
              </a:rPr>
              <a:t>服务费+分成≈45–80万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710193" y="4096512"/>
            <a:ext cx="1701515" cy="566928"/>
          </a:xfrm>
          <a:prstGeom prst="rect">
            <a:avLst/>
          </a:prstGeom>
          <a:solidFill>
            <a:srgbClr val="241A4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783345" y="4169664"/>
            <a:ext cx="1591787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F1FF"/>
                </a:solidFill>
                <a:latin typeface="Microsoft YaHei"/>
              </a:rPr>
              <a:t>服务费确定·分成依到账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77240" y="4663440"/>
            <a:ext cx="1914204" cy="566928"/>
          </a:xfrm>
          <a:prstGeom prst="rect">
            <a:avLst/>
          </a:prstGeom>
          <a:solidFill>
            <a:srgbClr val="1C143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50392" y="4736592"/>
            <a:ext cx="1804476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5F1FF"/>
                </a:solidFill>
                <a:latin typeface="Microsoft YaHei"/>
              </a:rPr>
              <a:t>科小/创新券等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691444" y="4663440"/>
            <a:ext cx="1914204" cy="566928"/>
          </a:xfrm>
          <a:prstGeom prst="rect">
            <a:avLst/>
          </a:prstGeom>
          <a:solidFill>
            <a:srgbClr val="1C143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764596" y="4736592"/>
            <a:ext cx="1804476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F1FF"/>
                </a:solidFill>
                <a:latin typeface="Microsoft YaHei"/>
              </a:rPr>
              <a:t>资格或≤30万/年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605648" y="4663440"/>
            <a:ext cx="2339583" cy="566928"/>
          </a:xfrm>
          <a:prstGeom prst="rect">
            <a:avLst/>
          </a:prstGeom>
          <a:solidFill>
            <a:srgbClr val="1C143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678800" y="4736592"/>
            <a:ext cx="2229855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F1FF"/>
                </a:solidFill>
                <a:latin typeface="Microsoft YaHei"/>
              </a:rPr>
              <a:t>0.3–2万 或核销分成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945231" y="4663440"/>
            <a:ext cx="2764962" cy="566928"/>
          </a:xfrm>
          <a:prstGeom prst="rect">
            <a:avLst/>
          </a:prstGeom>
          <a:solidFill>
            <a:srgbClr val="1C143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018383" y="4736592"/>
            <a:ext cx="2655234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F1FF"/>
                </a:solidFill>
                <a:latin typeface="Microsoft YaHei"/>
              </a:rPr>
              <a:t>10–25万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710193" y="4663440"/>
            <a:ext cx="1701515" cy="566928"/>
          </a:xfrm>
          <a:prstGeom prst="rect">
            <a:avLst/>
          </a:prstGeom>
          <a:solidFill>
            <a:srgbClr val="1C143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783345" y="4736592"/>
            <a:ext cx="1591787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F1FF"/>
                </a:solidFill>
                <a:latin typeface="Microsoft YaHei"/>
              </a:rPr>
              <a:t>需入驻平台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77240" y="5230368"/>
            <a:ext cx="1914204" cy="566928"/>
          </a:xfrm>
          <a:prstGeom prst="rect">
            <a:avLst/>
          </a:prstGeom>
          <a:solidFill>
            <a:srgbClr val="241A4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50392" y="5303520"/>
            <a:ext cx="1804476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5F1FF"/>
                </a:solidFill>
                <a:latin typeface="Microsoft YaHei"/>
              </a:rPr>
              <a:t>房租/专项补贴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691444" y="5230368"/>
            <a:ext cx="1914204" cy="566928"/>
          </a:xfrm>
          <a:prstGeom prst="rect">
            <a:avLst/>
          </a:prstGeom>
          <a:solidFill>
            <a:srgbClr val="241A4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764596" y="5303520"/>
            <a:ext cx="1804476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F1FF"/>
                </a:solidFill>
                <a:latin typeface="Microsoft YaHei"/>
              </a:rPr>
              <a:t>≤100万/年等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605648" y="5230368"/>
            <a:ext cx="2339583" cy="566928"/>
          </a:xfrm>
          <a:prstGeom prst="rect">
            <a:avLst/>
          </a:prstGeom>
          <a:solidFill>
            <a:srgbClr val="241A4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678800" y="5303520"/>
            <a:ext cx="2229855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F1FF"/>
                </a:solidFill>
                <a:latin typeface="Microsoft YaHei"/>
              </a:rPr>
              <a:t>到账成功费5%–15%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945231" y="5230368"/>
            <a:ext cx="2764962" cy="566928"/>
          </a:xfrm>
          <a:prstGeom prst="rect">
            <a:avLst/>
          </a:prstGeom>
          <a:solidFill>
            <a:srgbClr val="241A4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018383" y="5303520"/>
            <a:ext cx="2655234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F1FF"/>
                </a:solidFill>
                <a:latin typeface="Microsoft YaHei"/>
              </a:rPr>
              <a:t>15–40万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710193" y="5230368"/>
            <a:ext cx="1701515" cy="566928"/>
          </a:xfrm>
          <a:prstGeom prst="rect">
            <a:avLst/>
          </a:prstGeom>
          <a:solidFill>
            <a:srgbClr val="241A4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783345" y="5303520"/>
            <a:ext cx="1591787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F1FF"/>
                </a:solidFill>
                <a:latin typeface="Microsoft YaHei"/>
              </a:rPr>
              <a:t>依兑现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77240" y="5943600"/>
            <a:ext cx="10634472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486C4"/>
                </a:solidFill>
                <a:latin typeface="Microsoft YaHei"/>
              </a:rPr>
              <a:t>＊活动经费：若服务中心为申报主体且活动投入抬升，可申空间大；若仅基线30万投入，可申约15万。上表成熟年取中位示意。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30352"/>
            <a:ext cx="54864" cy="749808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12064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200">
                <a:solidFill>
                  <a:srgbClr val="E9C27C"/>
                </a:solidFill>
                <a:latin typeface="Arial"/>
              </a:rPr>
              <a:t>ANNUAL OUTLOOK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" y="786384"/>
            <a:ext cx="9601200" cy="53035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5F1FF"/>
                </a:solidFill>
                <a:latin typeface="Microsoft YaHei"/>
              </a:rPr>
              <a:t>成熟年服务方收益总览（合理中位）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438912"/>
            <a:ext cx="1371600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3600" b="1">
                <a:solidFill>
                  <a:srgbClr val="E9C27C"/>
                </a:solidFill>
                <a:latin typeface="Arial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61320" y="1152144"/>
            <a:ext cx="1170432" cy="254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327648"/>
            <a:ext cx="1063447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00800"/>
            <a:ext cx="84124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50" b="0">
                <a:solidFill>
                  <a:srgbClr val="9486C4"/>
                </a:solidFill>
                <a:latin typeface="Arial"/>
              </a:rPr>
              <a:t>CHUANGZHIHUI</a:t>
            </a:r>
            <a:r>
              <a:rPr sz="950" b="0">
                <a:solidFill>
                  <a:srgbClr val="9486C4"/>
                </a:solidFill>
                <a:latin typeface="Microsoft YaHei"/>
              </a:rPr>
              <a:t>  ·  科创服务中心收益评估与分成方案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95560" y="6400800"/>
            <a:ext cx="15544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9C27C"/>
                </a:solidFill>
                <a:latin typeface="Arial"/>
              </a:rPr>
              <a:t>05</a:t>
            </a:r>
            <a:r>
              <a:rPr sz="1050" b="0">
                <a:solidFill>
                  <a:srgbClr val="9486C4"/>
                </a:solidFill>
                <a:latin typeface="Arial"/>
              </a:rPr>
              <a:t> / 11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417320"/>
            <a:ext cx="2606040" cy="19659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554480"/>
            <a:ext cx="22860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9C27C"/>
                </a:solidFill>
                <a:latin typeface="Microsoft YaHei"/>
              </a:rPr>
              <a:t>载体类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011680"/>
            <a:ext cx="22860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5F1FF"/>
                </a:solidFill>
                <a:latin typeface="Microsoft YaHei"/>
              </a:rPr>
              <a:t>25–30万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743200"/>
            <a:ext cx="22860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C6BAEA"/>
                </a:solidFill>
                <a:latin typeface="Microsoft YaHei"/>
              </a:rPr>
              <a:t>运营补贴到平台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0440" y="1417320"/>
            <a:ext cx="2606040" cy="19659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03320" y="1554480"/>
            <a:ext cx="22860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B7BFF"/>
                </a:solidFill>
                <a:latin typeface="Microsoft YaHei"/>
              </a:rPr>
              <a:t>活动类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2011680"/>
            <a:ext cx="22860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5F1FF"/>
                </a:solidFill>
                <a:latin typeface="Microsoft YaHei"/>
              </a:rPr>
              <a:t>30–60万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2743200"/>
            <a:ext cx="22860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C6BAEA"/>
                </a:solidFill>
                <a:latin typeface="Microsoft YaHei"/>
              </a:rPr>
              <a:t>经费到账/执行分成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417320"/>
            <a:ext cx="2606040" cy="19659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1554480"/>
            <a:ext cx="22860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77DFF"/>
                </a:solidFill>
                <a:latin typeface="Microsoft YaHei"/>
              </a:rPr>
              <a:t>奖项服务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011680"/>
            <a:ext cx="22860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5F1FF"/>
                </a:solidFill>
                <a:latin typeface="Microsoft YaHei"/>
              </a:rPr>
              <a:t>85–120万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743200"/>
            <a:ext cx="22860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C6BAEA"/>
                </a:solidFill>
                <a:latin typeface="Microsoft YaHei"/>
              </a:rPr>
              <a:t>服务费+成功分成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06840" y="1417320"/>
            <a:ext cx="2606040" cy="19659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9720" y="1554480"/>
            <a:ext cx="22860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56D6B6"/>
                </a:solidFill>
                <a:latin typeface="Microsoft YaHei"/>
              </a:rPr>
              <a:t>其他政策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2011680"/>
            <a:ext cx="22860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5F1FF"/>
                </a:solidFill>
                <a:latin typeface="Microsoft YaHei"/>
              </a:rPr>
              <a:t>25–65万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2743200"/>
            <a:ext cx="22860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C6BAEA"/>
                </a:solidFill>
                <a:latin typeface="Microsoft YaHei"/>
              </a:rPr>
              <a:t>创新券/房租/专项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3611880"/>
            <a:ext cx="10634472" cy="2423160"/>
          </a:xfrm>
          <a:prstGeom prst="roundRect">
            <a:avLst/>
          </a:prstGeom>
          <a:ln w="15875">
            <a:solidFill>
              <a:srgbClr val="E9C2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" y="3794760"/>
            <a:ext cx="96012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9C27C"/>
                </a:solidFill>
                <a:latin typeface="Microsoft YaHei"/>
              </a:rPr>
              <a:t>成熟年服务方合计（中位）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4206240"/>
            <a:ext cx="96012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1FF"/>
                </a:solidFill>
                <a:latin typeface="Microsoft YaHei"/>
              </a:rPr>
              <a:t>约 165 – 275 万元 / 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4937760"/>
            <a:ext cx="9875520" cy="914400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25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50">
                <a:solidFill>
                  <a:srgbClr val="C6BAEA"/>
                </a:solidFill>
                <a:latin typeface="Microsoft YaHei"/>
              </a:rPr>
              <a:t>保守：约165万（载体25+活动30+奖项85+其他25）　｜　积极：约275万（载体30+活动60+奖项120+其他65）</a:t>
            </a:r>
          </a:p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25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50">
                <a:solidFill>
                  <a:srgbClr val="C6BAEA"/>
                </a:solidFill>
                <a:latin typeface="Microsoft YaHei"/>
              </a:rPr>
              <a:t>前置条件：载体/成果转化平台认定 · 服务中心挂牌 · 创新券服务机构入驻 · 样板企业申报流水跑通</a:t>
            </a:r>
          </a:p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25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50">
                <a:solidFill>
                  <a:srgbClr val="C6BAEA"/>
                </a:solidFill>
                <a:latin typeface="Microsoft YaHei"/>
              </a:rPr>
              <a:t>以下分成方案均在「服务方已实现到账收益」基础上，再按门类在甲乙之间分配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30352"/>
            <a:ext cx="54864" cy="749808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12064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200">
                <a:solidFill>
                  <a:srgbClr val="E9C27C"/>
                </a:solidFill>
                <a:latin typeface="Arial"/>
              </a:rPr>
              <a:t>SHARE PRINCIPLES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" y="786384"/>
            <a:ext cx="9601200" cy="53035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5F1FF"/>
                </a:solidFill>
                <a:latin typeface="Microsoft YaHei"/>
              </a:rPr>
              <a:t>分成原则 · 按贡献定比例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438912"/>
            <a:ext cx="1371600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3600" b="1">
                <a:solidFill>
                  <a:srgbClr val="E9C27C"/>
                </a:solidFill>
                <a:latin typeface="Arial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61320" y="1152144"/>
            <a:ext cx="1170432" cy="254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327648"/>
            <a:ext cx="1063447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00800"/>
            <a:ext cx="84124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50" b="0">
                <a:solidFill>
                  <a:srgbClr val="9486C4"/>
                </a:solidFill>
                <a:latin typeface="Arial"/>
              </a:rPr>
              <a:t>CHUANGZHIHUI</a:t>
            </a:r>
            <a:r>
              <a:rPr sz="950" b="0">
                <a:solidFill>
                  <a:srgbClr val="9486C4"/>
                </a:solidFill>
                <a:latin typeface="Microsoft YaHei"/>
              </a:rPr>
              <a:t>  ·  科创服务中心收益评估与分成方案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95560" y="6400800"/>
            <a:ext cx="15544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9C27C"/>
                </a:solidFill>
                <a:latin typeface="Arial"/>
              </a:rPr>
              <a:t>06</a:t>
            </a:r>
            <a:r>
              <a:rPr sz="1050" b="0">
                <a:solidFill>
                  <a:srgbClr val="9486C4"/>
                </a:solidFill>
                <a:latin typeface="Arial"/>
              </a:rPr>
              <a:t> / 11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371600"/>
            <a:ext cx="3383280" cy="466344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1371600"/>
            <a:ext cx="64008" cy="466344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3272" y="1517904"/>
            <a:ext cx="2971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5F1FF"/>
                </a:solidFill>
                <a:latin typeface="Microsoft YaHei"/>
              </a:rPr>
              <a:t>原则一 · 资质归谁、基础归谁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" y="1874520"/>
            <a:ext cx="2926080" cy="4069080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300">
                <a:solidFill>
                  <a:srgbClr val="C6BAEA"/>
                </a:solidFill>
                <a:latin typeface="Microsoft YaHei"/>
              </a:rPr>
              <a:t>载体认定、服务中心挂牌、创新券机构资格主要由乙方持有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300">
                <a:solidFill>
                  <a:srgbClr val="C6BAEA"/>
                </a:solidFill>
                <a:latin typeface="Microsoft YaHei"/>
              </a:rPr>
              <a:t>直接到平台的载体运营补贴：乙方基础份额更高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300">
                <a:solidFill>
                  <a:srgbClr val="C6BAEA"/>
                </a:solidFill>
                <a:latin typeface="Microsoft YaHei"/>
              </a:rPr>
              <a:t>甲方以资源与商务换取对应分成，而非替代资质主体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1371600"/>
            <a:ext cx="3383280" cy="466344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0" y="1371600"/>
            <a:ext cx="64008" cy="466344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85232" y="1517904"/>
            <a:ext cx="2971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5F1FF"/>
                </a:solidFill>
                <a:latin typeface="Microsoft YaHei"/>
              </a:rPr>
              <a:t>原则二 · 谁获客、谁执行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85232" y="1874520"/>
            <a:ext cx="2926080" cy="4069080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300">
                <a:solidFill>
                  <a:srgbClr val="C6BAEA"/>
                </a:solidFill>
                <a:latin typeface="Microsoft YaHei"/>
              </a:rPr>
              <a:t>甲方/同浦汇：获客、活动引流、企业转化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300">
                <a:solidFill>
                  <a:srgbClr val="C6BAEA"/>
                </a:solidFill>
                <a:latin typeface="Microsoft YaHei"/>
              </a:rPr>
              <a:t>乙方：申报执行、材料、过审、合规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300">
                <a:solidFill>
                  <a:srgbClr val="C6BAEA"/>
                </a:solidFill>
                <a:latin typeface="Microsoft YaHei"/>
              </a:rPr>
              <a:t>服务费类：执行方（乙方）为主；导流方（甲方）按贡献取成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03920" y="1371600"/>
            <a:ext cx="2880360" cy="466344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503920" y="1371600"/>
            <a:ext cx="64008" cy="4663440"/>
          </a:xfrm>
          <a:prstGeom prst="rect">
            <a:avLst/>
          </a:prstGeom>
          <a:solidFill>
            <a:srgbClr val="56D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59952" y="1517904"/>
            <a:ext cx="246888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5F1FF"/>
                </a:solidFill>
                <a:latin typeface="Microsoft YaHei"/>
              </a:rPr>
              <a:t>原则三 · 风险共担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59952" y="1874520"/>
            <a:ext cx="2423160" cy="4069080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30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300">
                <a:solidFill>
                  <a:srgbClr val="C6BAEA"/>
                </a:solidFill>
                <a:latin typeface="Microsoft YaHei"/>
              </a:rPr>
              <a:t>成功分成随到账结算，未兑现不计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30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300">
                <a:solidFill>
                  <a:srgbClr val="C6BAEA"/>
                </a:solidFill>
                <a:latin typeface="Microsoft YaHei"/>
              </a:rPr>
              <a:t>季度对账、先扣直接成本再分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30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300">
                <a:solidFill>
                  <a:srgbClr val="C6BAEA"/>
                </a:solidFill>
                <a:latin typeface="Microsoft YaHei"/>
              </a:rPr>
              <a:t>重大专项可单独立账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30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300">
                <a:solidFill>
                  <a:srgbClr val="C6BAEA"/>
                </a:solidFill>
                <a:latin typeface="Microsoft YaHei"/>
              </a:rPr>
              <a:t>比例写入补充协议可调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30352"/>
            <a:ext cx="54864" cy="749808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12064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200">
                <a:solidFill>
                  <a:srgbClr val="E9C27C"/>
                </a:solidFill>
                <a:latin typeface="Arial"/>
              </a:rPr>
              <a:t>CATEGORY SPLIT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" y="786384"/>
            <a:ext cx="9601200" cy="53035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5F1FF"/>
                </a:solidFill>
                <a:latin typeface="Microsoft YaHei"/>
              </a:rPr>
              <a:t>分门类收益分成方案（建议）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438912"/>
            <a:ext cx="1371600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3600" b="1">
                <a:solidFill>
                  <a:srgbClr val="E9C27C"/>
                </a:solidFill>
                <a:latin typeface="Arial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61320" y="1152144"/>
            <a:ext cx="1170432" cy="254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327648"/>
            <a:ext cx="1063447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00800"/>
            <a:ext cx="84124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50" b="0">
                <a:solidFill>
                  <a:srgbClr val="9486C4"/>
                </a:solidFill>
                <a:latin typeface="Arial"/>
              </a:rPr>
              <a:t>CHUANGZHIHUI</a:t>
            </a:r>
            <a:r>
              <a:rPr sz="950" b="0">
                <a:solidFill>
                  <a:srgbClr val="9486C4"/>
                </a:solidFill>
                <a:latin typeface="Microsoft YaHei"/>
              </a:rPr>
              <a:t>  ·  科创服务中心收益评估与分成方案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95560" y="6400800"/>
            <a:ext cx="15544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9C27C"/>
                </a:solidFill>
                <a:latin typeface="Arial"/>
              </a:rPr>
              <a:t>07</a:t>
            </a:r>
            <a:r>
              <a:rPr sz="1050" b="0">
                <a:solidFill>
                  <a:srgbClr val="9486C4"/>
                </a:solidFill>
                <a:latin typeface="Arial"/>
              </a:rPr>
              <a:t> / 11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298448"/>
            <a:ext cx="1488826" cy="530352"/>
          </a:xfrm>
          <a:prstGeom prst="rect">
            <a:avLst/>
          </a:prstGeom>
          <a:solidFill>
            <a:srgbClr val="2A1E55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1389888"/>
            <a:ext cx="1379098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E9C27C"/>
                </a:solidFill>
                <a:latin typeface="Microsoft YaHei"/>
              </a:rPr>
              <a:t>门类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66066" y="1298448"/>
            <a:ext cx="1914204" cy="530352"/>
          </a:xfrm>
          <a:prstGeom prst="rect">
            <a:avLst/>
          </a:prstGeom>
          <a:solidFill>
            <a:srgbClr val="2A1E55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39218" y="1389888"/>
            <a:ext cx="1804476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E9C27C"/>
                </a:solidFill>
                <a:latin typeface="Microsoft YaHei"/>
              </a:rPr>
              <a:t>收益内容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80270" y="1298448"/>
            <a:ext cx="1276136" cy="530352"/>
          </a:xfrm>
          <a:prstGeom prst="rect">
            <a:avLst/>
          </a:prstGeom>
          <a:solidFill>
            <a:srgbClr val="2A1E55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53422" y="1389888"/>
            <a:ext cx="1166408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E9C27C"/>
                </a:solidFill>
                <a:latin typeface="Microsoft YaHei"/>
              </a:rPr>
              <a:t>甲方同普会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56406" y="1298448"/>
            <a:ext cx="1488826" cy="530352"/>
          </a:xfrm>
          <a:prstGeom prst="rect">
            <a:avLst/>
          </a:prstGeom>
          <a:solidFill>
            <a:srgbClr val="2A1E55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29558" y="1389888"/>
            <a:ext cx="1379098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E9C27C"/>
                </a:solidFill>
                <a:latin typeface="Microsoft YaHei"/>
              </a:rPr>
              <a:t>乙方服务中心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45232" y="1298448"/>
            <a:ext cx="4466478" cy="530352"/>
          </a:xfrm>
          <a:prstGeom prst="rect">
            <a:avLst/>
          </a:prstGeom>
          <a:solidFill>
            <a:srgbClr val="2A1E55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18384" y="1389888"/>
            <a:ext cx="435675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E9C27C"/>
                </a:solidFill>
                <a:latin typeface="Microsoft YaHei"/>
              </a:rPr>
              <a:t>贡献逻辑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1828800"/>
            <a:ext cx="1488826" cy="566928"/>
          </a:xfrm>
          <a:prstGeom prst="rect">
            <a:avLst/>
          </a:prstGeom>
          <a:solidFill>
            <a:srgbClr val="241A4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" y="1920240"/>
            <a:ext cx="1379098" cy="4389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5F1FF"/>
                </a:solidFill>
                <a:latin typeface="Microsoft YaHei"/>
              </a:rPr>
              <a:t>载体运营补贴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66066" y="1828800"/>
            <a:ext cx="1914204" cy="566928"/>
          </a:xfrm>
          <a:prstGeom prst="rect">
            <a:avLst/>
          </a:prstGeom>
          <a:solidFill>
            <a:srgbClr val="241A4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39218" y="1920240"/>
            <a:ext cx="1804476" cy="4389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10–20万/年到平台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80270" y="1828800"/>
            <a:ext cx="1276136" cy="566928"/>
          </a:xfrm>
          <a:prstGeom prst="rect">
            <a:avLst/>
          </a:prstGeom>
          <a:solidFill>
            <a:srgbClr val="241A4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53422" y="1920240"/>
            <a:ext cx="1166408" cy="4389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56D6B6"/>
                </a:solidFill>
                <a:latin typeface="Microsoft YaHei"/>
              </a:rPr>
              <a:t>40%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56406" y="1828800"/>
            <a:ext cx="1488826" cy="566928"/>
          </a:xfrm>
          <a:prstGeom prst="rect">
            <a:avLst/>
          </a:prstGeom>
          <a:solidFill>
            <a:srgbClr val="241A4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29558" y="1920240"/>
            <a:ext cx="1379098" cy="4389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56D6B6"/>
                </a:solidFill>
                <a:latin typeface="Microsoft YaHei"/>
              </a:rPr>
              <a:t>60%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45232" y="1828800"/>
            <a:ext cx="4466478" cy="566928"/>
          </a:xfrm>
          <a:prstGeom prst="rect">
            <a:avLst/>
          </a:prstGeom>
          <a:solidFill>
            <a:srgbClr val="241A4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18384" y="1920240"/>
            <a:ext cx="4356750" cy="4389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乙方持资质运营；甲方协同认定与KPI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2395728"/>
            <a:ext cx="1488826" cy="566928"/>
          </a:xfrm>
          <a:prstGeom prst="rect">
            <a:avLst/>
          </a:prstGeom>
          <a:solidFill>
            <a:srgbClr val="1C143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2487168"/>
            <a:ext cx="1379098" cy="4389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5F1FF"/>
                </a:solidFill>
                <a:latin typeface="Microsoft YaHei"/>
              </a:rPr>
              <a:t>孵化基地运营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66066" y="2395728"/>
            <a:ext cx="1914204" cy="566928"/>
          </a:xfrm>
          <a:prstGeom prst="rect">
            <a:avLst/>
          </a:prstGeom>
          <a:solidFill>
            <a:srgbClr val="1C143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39218" y="2487168"/>
            <a:ext cx="1804476" cy="4389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约10万/年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80270" y="2395728"/>
            <a:ext cx="1276136" cy="566928"/>
          </a:xfrm>
          <a:prstGeom prst="rect">
            <a:avLst/>
          </a:prstGeom>
          <a:solidFill>
            <a:srgbClr val="1C143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53422" y="2487168"/>
            <a:ext cx="1166408" cy="4389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56D6B6"/>
                </a:solidFill>
                <a:latin typeface="Microsoft YaHei"/>
              </a:rPr>
              <a:t>35%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56406" y="2395728"/>
            <a:ext cx="1488826" cy="566928"/>
          </a:xfrm>
          <a:prstGeom prst="rect">
            <a:avLst/>
          </a:prstGeom>
          <a:solidFill>
            <a:srgbClr val="1C143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29558" y="2487168"/>
            <a:ext cx="1379098" cy="4389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56D6B6"/>
                </a:solidFill>
                <a:latin typeface="Microsoft YaHei"/>
              </a:rPr>
              <a:t>65%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45232" y="2395728"/>
            <a:ext cx="4466478" cy="566928"/>
          </a:xfrm>
          <a:prstGeom prst="rect">
            <a:avLst/>
          </a:prstGeom>
          <a:solidFill>
            <a:srgbClr val="1C143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18384" y="2487168"/>
            <a:ext cx="4356750" cy="4389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乙方主体评估申报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2962656"/>
            <a:ext cx="1488826" cy="566928"/>
          </a:xfrm>
          <a:prstGeom prst="rect">
            <a:avLst/>
          </a:prstGeom>
          <a:solidFill>
            <a:srgbClr val="241A4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0392" y="3054096"/>
            <a:ext cx="1379098" cy="4389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5F1FF"/>
                </a:solidFill>
                <a:latin typeface="Microsoft YaHei"/>
              </a:rPr>
              <a:t>活动经费到账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266066" y="2962656"/>
            <a:ext cx="1914204" cy="566928"/>
          </a:xfrm>
          <a:prstGeom prst="rect">
            <a:avLst/>
          </a:prstGeom>
          <a:solidFill>
            <a:srgbClr val="241A4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339218" y="3054096"/>
            <a:ext cx="1804476" cy="4389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按主体到账部分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80270" y="2962656"/>
            <a:ext cx="1276136" cy="566928"/>
          </a:xfrm>
          <a:prstGeom prst="rect">
            <a:avLst/>
          </a:prstGeom>
          <a:solidFill>
            <a:srgbClr val="241A4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53422" y="3054096"/>
            <a:ext cx="1166408" cy="4389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56D6B6"/>
                </a:solidFill>
                <a:latin typeface="Microsoft YaHei"/>
              </a:rPr>
              <a:t>50%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56406" y="2962656"/>
            <a:ext cx="1488826" cy="566928"/>
          </a:xfrm>
          <a:prstGeom prst="rect">
            <a:avLst/>
          </a:prstGeom>
          <a:solidFill>
            <a:srgbClr val="241A4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529558" y="3054096"/>
            <a:ext cx="1379098" cy="4389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56D6B6"/>
                </a:solidFill>
                <a:latin typeface="Microsoft YaHei"/>
              </a:rPr>
              <a:t>50%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945232" y="2962656"/>
            <a:ext cx="4466478" cy="566928"/>
          </a:xfrm>
          <a:prstGeom prst="rect">
            <a:avLst/>
          </a:prstGeom>
          <a:solidFill>
            <a:srgbClr val="241A4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018384" y="3054096"/>
            <a:ext cx="4356750" cy="4389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甲方活动运营≈乙方申报资质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77240" y="3529584"/>
            <a:ext cx="1488826" cy="566928"/>
          </a:xfrm>
          <a:prstGeom prst="rect">
            <a:avLst/>
          </a:prstGeom>
          <a:solidFill>
            <a:srgbClr val="1C143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50392" y="3621024"/>
            <a:ext cx="1379098" cy="4389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5F1FF"/>
                </a:solidFill>
                <a:latin typeface="Microsoft YaHei"/>
              </a:rPr>
              <a:t>奖项·申报服务费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266066" y="3529584"/>
            <a:ext cx="1914204" cy="566928"/>
          </a:xfrm>
          <a:prstGeom prst="rect">
            <a:avLst/>
          </a:prstGeom>
          <a:solidFill>
            <a:srgbClr val="1C143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339218" y="3621024"/>
            <a:ext cx="1804476" cy="4389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2–8万/家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180270" y="3529584"/>
            <a:ext cx="1276136" cy="566928"/>
          </a:xfrm>
          <a:prstGeom prst="rect">
            <a:avLst/>
          </a:prstGeom>
          <a:solidFill>
            <a:srgbClr val="1C143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253422" y="3621024"/>
            <a:ext cx="1166408" cy="4389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56D6B6"/>
                </a:solidFill>
                <a:latin typeface="Microsoft YaHei"/>
              </a:rPr>
              <a:t>30%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456406" y="3529584"/>
            <a:ext cx="1488826" cy="566928"/>
          </a:xfrm>
          <a:prstGeom prst="rect">
            <a:avLst/>
          </a:prstGeom>
          <a:solidFill>
            <a:srgbClr val="1C143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529558" y="3621024"/>
            <a:ext cx="1379098" cy="4389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56D6B6"/>
                </a:solidFill>
                <a:latin typeface="Microsoft YaHei"/>
              </a:rPr>
              <a:t>70%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945232" y="3529584"/>
            <a:ext cx="4466478" cy="566928"/>
          </a:xfrm>
          <a:prstGeom prst="rect">
            <a:avLst/>
          </a:prstGeom>
          <a:solidFill>
            <a:srgbClr val="1C143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018384" y="3621024"/>
            <a:ext cx="4356750" cy="4389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乙方执行申报；甲方导流获客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77240" y="4096512"/>
            <a:ext cx="1488826" cy="566928"/>
          </a:xfrm>
          <a:prstGeom prst="rect">
            <a:avLst/>
          </a:prstGeom>
          <a:solidFill>
            <a:srgbClr val="241A4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50392" y="4187952"/>
            <a:ext cx="1379098" cy="4389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5F1FF"/>
                </a:solidFill>
                <a:latin typeface="Microsoft YaHei"/>
              </a:rPr>
              <a:t>奖项·成功分成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266066" y="4096512"/>
            <a:ext cx="1914204" cy="566928"/>
          </a:xfrm>
          <a:prstGeom prst="rect">
            <a:avLst/>
          </a:prstGeom>
          <a:solidFill>
            <a:srgbClr val="241A4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339218" y="4187952"/>
            <a:ext cx="1804476" cy="4389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到账额5%–15%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180270" y="4096512"/>
            <a:ext cx="1276136" cy="566928"/>
          </a:xfrm>
          <a:prstGeom prst="rect">
            <a:avLst/>
          </a:prstGeom>
          <a:solidFill>
            <a:srgbClr val="241A4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253422" y="4187952"/>
            <a:ext cx="1166408" cy="4389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56D6B6"/>
                </a:solidFill>
                <a:latin typeface="Microsoft YaHei"/>
              </a:rPr>
              <a:t>40%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456406" y="4096512"/>
            <a:ext cx="1488826" cy="566928"/>
          </a:xfrm>
          <a:prstGeom prst="rect">
            <a:avLst/>
          </a:prstGeom>
          <a:solidFill>
            <a:srgbClr val="241A4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529558" y="4187952"/>
            <a:ext cx="1379098" cy="4389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56D6B6"/>
                </a:solidFill>
                <a:latin typeface="Microsoft YaHei"/>
              </a:rPr>
              <a:t>60%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945232" y="4096512"/>
            <a:ext cx="4466478" cy="566928"/>
          </a:xfrm>
          <a:prstGeom prst="rect">
            <a:avLst/>
          </a:prstGeom>
          <a:solidFill>
            <a:srgbClr val="241A4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018384" y="4187952"/>
            <a:ext cx="4356750" cy="4389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共同促成兑现；乙方合规过审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77240" y="4663440"/>
            <a:ext cx="1488826" cy="566928"/>
          </a:xfrm>
          <a:prstGeom prst="rect">
            <a:avLst/>
          </a:prstGeom>
          <a:solidFill>
            <a:srgbClr val="1C143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50392" y="4754880"/>
            <a:ext cx="1379098" cy="4389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5F1FF"/>
                </a:solidFill>
                <a:latin typeface="Microsoft YaHei"/>
              </a:rPr>
              <a:t>创新券核销分成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266066" y="4663440"/>
            <a:ext cx="1914204" cy="566928"/>
          </a:xfrm>
          <a:prstGeom prst="rect">
            <a:avLst/>
          </a:prstGeom>
          <a:solidFill>
            <a:srgbClr val="1C143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339218" y="4754880"/>
            <a:ext cx="1804476" cy="4389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服务机构核销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180270" y="4663440"/>
            <a:ext cx="1276136" cy="566928"/>
          </a:xfrm>
          <a:prstGeom prst="rect">
            <a:avLst/>
          </a:prstGeom>
          <a:solidFill>
            <a:srgbClr val="1C143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253422" y="4754880"/>
            <a:ext cx="1166408" cy="4389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56D6B6"/>
                </a:solidFill>
                <a:latin typeface="Microsoft YaHei"/>
              </a:rPr>
              <a:t>30%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456406" y="4663440"/>
            <a:ext cx="1488826" cy="566928"/>
          </a:xfrm>
          <a:prstGeom prst="rect">
            <a:avLst/>
          </a:prstGeom>
          <a:solidFill>
            <a:srgbClr val="1C143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529558" y="4754880"/>
            <a:ext cx="1379098" cy="4389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56D6B6"/>
                </a:solidFill>
                <a:latin typeface="Microsoft YaHei"/>
              </a:rPr>
              <a:t>70%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945232" y="4663440"/>
            <a:ext cx="4466478" cy="566928"/>
          </a:xfrm>
          <a:prstGeom prst="rect">
            <a:avLst/>
          </a:prstGeom>
          <a:solidFill>
            <a:srgbClr val="1C143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018384" y="4754880"/>
            <a:ext cx="4356750" cy="4389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乙方为入驻服务机构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77240" y="5230368"/>
            <a:ext cx="1488826" cy="566928"/>
          </a:xfrm>
          <a:prstGeom prst="rect">
            <a:avLst/>
          </a:prstGeom>
          <a:solidFill>
            <a:srgbClr val="241A4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50392" y="5321808"/>
            <a:ext cx="1379098" cy="4389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5F1FF"/>
                </a:solidFill>
                <a:latin typeface="Microsoft YaHei"/>
              </a:rPr>
              <a:t>房租/专项成功费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266066" y="5230368"/>
            <a:ext cx="1914204" cy="566928"/>
          </a:xfrm>
          <a:prstGeom prst="rect">
            <a:avLst/>
          </a:prstGeom>
          <a:solidFill>
            <a:srgbClr val="241A4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339218" y="5321808"/>
            <a:ext cx="1804476" cy="4389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到账5%–15%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180270" y="5230368"/>
            <a:ext cx="1276136" cy="566928"/>
          </a:xfrm>
          <a:prstGeom prst="rect">
            <a:avLst/>
          </a:prstGeom>
          <a:solidFill>
            <a:srgbClr val="241A4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253422" y="5321808"/>
            <a:ext cx="1166408" cy="4389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56D6B6"/>
                </a:solidFill>
                <a:latin typeface="Microsoft YaHei"/>
              </a:rPr>
              <a:t>40%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456406" y="5230368"/>
            <a:ext cx="1488826" cy="566928"/>
          </a:xfrm>
          <a:prstGeom prst="rect">
            <a:avLst/>
          </a:prstGeom>
          <a:solidFill>
            <a:srgbClr val="241A4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529558" y="5321808"/>
            <a:ext cx="1379098" cy="4389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56D6B6"/>
                </a:solidFill>
                <a:latin typeface="Microsoft YaHei"/>
              </a:rPr>
              <a:t>60%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945232" y="5230368"/>
            <a:ext cx="4466478" cy="566928"/>
          </a:xfrm>
          <a:prstGeom prst="rect">
            <a:avLst/>
          </a:prstGeom>
          <a:solidFill>
            <a:srgbClr val="241A4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018384" y="5321808"/>
            <a:ext cx="4356750" cy="4389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甲方商务转化 + 乙方申报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77240" y="5943600"/>
            <a:ext cx="10634472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9C27C"/>
                </a:solidFill>
                <a:latin typeface="Microsoft YaHei"/>
              </a:rPr>
              <a:t>加权后综合分成约：甲方 36%–40%　｜　乙方 60%–64%。可作为默认结算带，单项可±5–10 个点协商。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30352"/>
            <a:ext cx="54864" cy="749808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12064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200">
                <a:solidFill>
                  <a:srgbClr val="E9C27C"/>
                </a:solidFill>
                <a:latin typeface="Arial"/>
              </a:rPr>
              <a:t>CONTRIBUTION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" y="786384"/>
            <a:ext cx="9601200" cy="53035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5F1FF"/>
                </a:solidFill>
                <a:latin typeface="Microsoft YaHei"/>
              </a:rPr>
              <a:t>贡献度模型 · 如何定比例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438912"/>
            <a:ext cx="1371600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3600" b="1">
                <a:solidFill>
                  <a:srgbClr val="E9C27C"/>
                </a:solidFill>
                <a:latin typeface="Arial"/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61320" y="1152144"/>
            <a:ext cx="1170432" cy="254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327648"/>
            <a:ext cx="1063447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00800"/>
            <a:ext cx="84124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50" b="0">
                <a:solidFill>
                  <a:srgbClr val="9486C4"/>
                </a:solidFill>
                <a:latin typeface="Arial"/>
              </a:rPr>
              <a:t>CHUANGZHIHUI</a:t>
            </a:r>
            <a:r>
              <a:rPr sz="950" b="0">
                <a:solidFill>
                  <a:srgbClr val="9486C4"/>
                </a:solidFill>
                <a:latin typeface="Microsoft YaHei"/>
              </a:rPr>
              <a:t>  ·  科创服务中心收益评估与分成方案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95560" y="6400800"/>
            <a:ext cx="15544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9C27C"/>
                </a:solidFill>
                <a:latin typeface="Arial"/>
              </a:rPr>
              <a:t>08</a:t>
            </a:r>
            <a:r>
              <a:rPr sz="1050" b="0">
                <a:solidFill>
                  <a:srgbClr val="9486C4"/>
                </a:solidFill>
                <a:latin typeface="Arial"/>
              </a:rPr>
              <a:t> / 11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325880"/>
            <a:ext cx="10634472" cy="658368"/>
          </a:xfrm>
          <a:prstGeom prst="roundRect">
            <a:avLst/>
          </a:prstGeom>
          <a:ln w="1016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490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资质与牌照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1490472"/>
            <a:ext cx="10972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9C27C"/>
                </a:solidFill>
                <a:latin typeface="Microsoft YaHei"/>
              </a:rPr>
              <a:t>25%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1508760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B7BFF"/>
                </a:solidFill>
                <a:latin typeface="Microsoft YaHei"/>
              </a:rPr>
              <a:t>乙方为主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1508760"/>
            <a:ext cx="50292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C6BAEA"/>
                </a:solidFill>
                <a:latin typeface="Microsoft YaHei"/>
              </a:rPr>
              <a:t>服务中心挂牌、载体认定、创新券机构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2057400"/>
            <a:ext cx="10634472" cy="658368"/>
          </a:xfrm>
          <a:prstGeom prst="roundRect">
            <a:avLst/>
          </a:prstGeom>
          <a:ln w="1016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22199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申报执行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2221992"/>
            <a:ext cx="10972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9C27C"/>
                </a:solidFill>
                <a:latin typeface="Microsoft YaHei"/>
              </a:rPr>
              <a:t>25%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2240280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B7BFF"/>
                </a:solidFill>
                <a:latin typeface="Microsoft YaHei"/>
              </a:rPr>
              <a:t>乙方为主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2240280"/>
            <a:ext cx="50292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C6BAEA"/>
                </a:solidFill>
                <a:latin typeface="Microsoft YaHei"/>
              </a:rPr>
              <a:t>材料、过审、对接处室、合规风控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2788920"/>
            <a:ext cx="10634472" cy="658368"/>
          </a:xfrm>
          <a:prstGeom prst="roundRect">
            <a:avLst/>
          </a:prstGeom>
          <a:ln w="1016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295351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获客与转化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2953512"/>
            <a:ext cx="10972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9C27C"/>
                </a:solidFill>
                <a:latin typeface="Microsoft YaHei"/>
              </a:rPr>
              <a:t>20%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2971800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56D6B6"/>
                </a:solidFill>
                <a:latin typeface="Microsoft YaHei"/>
              </a:rPr>
              <a:t>甲方为主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2971800"/>
            <a:ext cx="50292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C6BAEA"/>
                </a:solidFill>
                <a:latin typeface="Microsoft YaHei"/>
              </a:rPr>
              <a:t>同浦汇招商、活动引流、企业转化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3520440"/>
            <a:ext cx="10634472" cy="658368"/>
          </a:xfrm>
          <a:prstGeom prst="roundRect">
            <a:avLst/>
          </a:prstGeom>
          <a:ln w="1016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368503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资源与背书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37560" y="3685032"/>
            <a:ext cx="10972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9C27C"/>
                </a:solidFill>
                <a:latin typeface="Microsoft YaHei"/>
              </a:rPr>
              <a:t>15%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3703320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6BAEA"/>
                </a:solidFill>
                <a:latin typeface="Microsoft YaHei"/>
              </a:rPr>
              <a:t>双方共担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3703320"/>
            <a:ext cx="50292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C6BAEA"/>
                </a:solidFill>
                <a:latin typeface="Microsoft YaHei"/>
              </a:rPr>
              <a:t>协会/高校/政府关系与品牌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4251960"/>
            <a:ext cx="10634472" cy="658368"/>
          </a:xfrm>
          <a:prstGeom prst="roundRect">
            <a:avLst/>
          </a:prstGeom>
          <a:ln w="1016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441655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资金与垫付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37560" y="4416552"/>
            <a:ext cx="10972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9C27C"/>
                </a:solidFill>
                <a:latin typeface="Microsoft YaHei"/>
              </a:rPr>
              <a:t>10%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17720" y="4434840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6BAEA"/>
                </a:solidFill>
                <a:latin typeface="Microsoft YaHei"/>
              </a:rPr>
              <a:t>按实约定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4434840"/>
            <a:ext cx="50292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C6BAEA"/>
                </a:solidFill>
                <a:latin typeface="Microsoft YaHei"/>
              </a:rPr>
              <a:t>活动垫资、第三方成本垫付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" y="4983480"/>
            <a:ext cx="10634472" cy="658368"/>
          </a:xfrm>
          <a:prstGeom prst="roundRect">
            <a:avLst/>
          </a:prstGeom>
          <a:ln w="1016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" y="51480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日常运营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37560" y="5148072"/>
            <a:ext cx="10972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9C27C"/>
                </a:solidFill>
                <a:latin typeface="Microsoft YaHei"/>
              </a:rPr>
              <a:t>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17720" y="5166360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6BAEA"/>
                </a:solidFill>
                <a:latin typeface="Microsoft YaHei"/>
              </a:rPr>
              <a:t>双方共担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5166360"/>
            <a:ext cx="50292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C6BAEA"/>
                </a:solidFill>
                <a:latin typeface="Microsoft YaHei"/>
              </a:rPr>
              <a:t>对账、客服、档案与复盘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30352"/>
            <a:ext cx="54864" cy="749808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12064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200">
                <a:solidFill>
                  <a:srgbClr val="E9C27C"/>
                </a:solidFill>
                <a:latin typeface="Arial"/>
              </a:rPr>
              <a:t>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" y="786384"/>
            <a:ext cx="9601200" cy="53035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5F1FF"/>
                </a:solidFill>
                <a:latin typeface="Microsoft YaHei"/>
              </a:rPr>
              <a:t>按贡献比例测算 · 成熟年分配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438912"/>
            <a:ext cx="1371600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3600" b="1">
                <a:solidFill>
                  <a:srgbClr val="E9C27C"/>
                </a:solidFill>
                <a:latin typeface="Arial"/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61320" y="1152144"/>
            <a:ext cx="1170432" cy="254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327648"/>
            <a:ext cx="1063447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00800"/>
            <a:ext cx="84124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50" b="0">
                <a:solidFill>
                  <a:srgbClr val="9486C4"/>
                </a:solidFill>
                <a:latin typeface="Arial"/>
              </a:rPr>
              <a:t>CHUANGZHIHUI</a:t>
            </a:r>
            <a:r>
              <a:rPr sz="950" b="0">
                <a:solidFill>
                  <a:srgbClr val="9486C4"/>
                </a:solidFill>
                <a:latin typeface="Microsoft YaHei"/>
              </a:rPr>
              <a:t>  ·  科创服务中心收益评估与分成方案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95560" y="6400800"/>
            <a:ext cx="15544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9C27C"/>
                </a:solidFill>
                <a:latin typeface="Arial"/>
              </a:rPr>
              <a:t>09</a:t>
            </a:r>
            <a:r>
              <a:rPr sz="1050" b="0">
                <a:solidFill>
                  <a:srgbClr val="9486C4"/>
                </a:solidFill>
                <a:latin typeface="Arial"/>
              </a:rPr>
              <a:t> / 11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298448"/>
            <a:ext cx="2339583" cy="475488"/>
          </a:xfrm>
          <a:prstGeom prst="rect">
            <a:avLst/>
          </a:prstGeom>
          <a:solidFill>
            <a:srgbClr val="2A1E55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1389888"/>
            <a:ext cx="2229855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E9C27C"/>
                </a:solidFill>
                <a:latin typeface="Microsoft YaHei"/>
              </a:rPr>
              <a:t>门类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16823" y="1298448"/>
            <a:ext cx="1701515" cy="475488"/>
          </a:xfrm>
          <a:prstGeom prst="rect">
            <a:avLst/>
          </a:prstGeom>
          <a:solidFill>
            <a:srgbClr val="2A1E55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89975" y="1389888"/>
            <a:ext cx="1591787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E9C27C"/>
                </a:solidFill>
                <a:latin typeface="Microsoft YaHei"/>
              </a:rPr>
              <a:t>成熟年服务方收益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18338" y="1298448"/>
            <a:ext cx="1276136" cy="475488"/>
          </a:xfrm>
          <a:prstGeom prst="rect">
            <a:avLst/>
          </a:prstGeom>
          <a:solidFill>
            <a:srgbClr val="2A1E55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91490" y="1389888"/>
            <a:ext cx="116640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E9C27C"/>
                </a:solidFill>
                <a:latin typeface="Microsoft YaHei"/>
              </a:rPr>
              <a:t>甲方分成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4474" y="1298448"/>
            <a:ext cx="1488826" cy="475488"/>
          </a:xfrm>
          <a:prstGeom prst="rect">
            <a:avLst/>
          </a:prstGeom>
          <a:solidFill>
            <a:srgbClr val="2A1E55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67626" y="1389888"/>
            <a:ext cx="137909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E9C27C"/>
                </a:solidFill>
                <a:latin typeface="Microsoft YaHei"/>
              </a:rPr>
              <a:t>甲方金额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3300" y="1298448"/>
            <a:ext cx="1488826" cy="475488"/>
          </a:xfrm>
          <a:prstGeom prst="rect">
            <a:avLst/>
          </a:prstGeom>
          <a:solidFill>
            <a:srgbClr val="2A1E55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56452" y="1389888"/>
            <a:ext cx="137909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E9C27C"/>
                </a:solidFill>
                <a:latin typeface="Microsoft YaHei"/>
              </a:rPr>
              <a:t>乙方分成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72126" y="1298448"/>
            <a:ext cx="2339583" cy="475488"/>
          </a:xfrm>
          <a:prstGeom prst="rect">
            <a:avLst/>
          </a:prstGeom>
          <a:solidFill>
            <a:srgbClr val="2A1E55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5278" y="1389888"/>
            <a:ext cx="2229855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E9C27C"/>
                </a:solidFill>
                <a:latin typeface="Microsoft YaHei"/>
              </a:rPr>
              <a:t>乙方金额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1773936"/>
            <a:ext cx="2339583" cy="502920"/>
          </a:xfrm>
          <a:prstGeom prst="rect">
            <a:avLst/>
          </a:prstGeom>
          <a:solidFill>
            <a:srgbClr val="241A4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" y="1865376"/>
            <a:ext cx="2229855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5F1FF"/>
                </a:solidFill>
                <a:latin typeface="Microsoft YaHei"/>
              </a:rPr>
              <a:t>载体运营补贴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16823" y="1773936"/>
            <a:ext cx="1701515" cy="502920"/>
          </a:xfrm>
          <a:prstGeom prst="rect">
            <a:avLst/>
          </a:prstGeom>
          <a:solidFill>
            <a:srgbClr val="241A4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89975" y="1865376"/>
            <a:ext cx="1591787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20万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18338" y="1773936"/>
            <a:ext cx="1276136" cy="502920"/>
          </a:xfrm>
          <a:prstGeom prst="rect">
            <a:avLst/>
          </a:prstGeom>
          <a:solidFill>
            <a:srgbClr val="241A4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91490" y="1865376"/>
            <a:ext cx="1166408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40%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94474" y="1773936"/>
            <a:ext cx="1488826" cy="502920"/>
          </a:xfrm>
          <a:prstGeom prst="rect">
            <a:avLst/>
          </a:prstGeom>
          <a:solidFill>
            <a:srgbClr val="241A4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67626" y="1865376"/>
            <a:ext cx="1379098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8.0万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83300" y="1773936"/>
            <a:ext cx="1488826" cy="502920"/>
          </a:xfrm>
          <a:prstGeom prst="rect">
            <a:avLst/>
          </a:prstGeom>
          <a:solidFill>
            <a:srgbClr val="241A4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56452" y="1865376"/>
            <a:ext cx="1379098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60%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72126" y="1773936"/>
            <a:ext cx="2339583" cy="502920"/>
          </a:xfrm>
          <a:prstGeom prst="rect">
            <a:avLst/>
          </a:prstGeom>
          <a:solidFill>
            <a:srgbClr val="241A4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5278" y="1865376"/>
            <a:ext cx="2229855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12.0万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" y="2276856"/>
            <a:ext cx="2339583" cy="502920"/>
          </a:xfrm>
          <a:prstGeom prst="rect">
            <a:avLst/>
          </a:prstGeom>
          <a:solidFill>
            <a:srgbClr val="1C143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0392" y="2368296"/>
            <a:ext cx="2229855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5F1FF"/>
                </a:solidFill>
                <a:latin typeface="Microsoft YaHei"/>
              </a:rPr>
              <a:t>孵化基地运营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16823" y="2276856"/>
            <a:ext cx="1701515" cy="502920"/>
          </a:xfrm>
          <a:prstGeom prst="rect">
            <a:avLst/>
          </a:prstGeom>
          <a:solidFill>
            <a:srgbClr val="1C143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189975" y="2368296"/>
            <a:ext cx="1591787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10万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818338" y="2276856"/>
            <a:ext cx="1276136" cy="502920"/>
          </a:xfrm>
          <a:prstGeom prst="rect">
            <a:avLst/>
          </a:prstGeom>
          <a:solidFill>
            <a:srgbClr val="1C143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91490" y="2368296"/>
            <a:ext cx="1166408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35%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94474" y="2276856"/>
            <a:ext cx="1488826" cy="502920"/>
          </a:xfrm>
          <a:prstGeom prst="rect">
            <a:avLst/>
          </a:prstGeom>
          <a:solidFill>
            <a:srgbClr val="1C143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67626" y="2368296"/>
            <a:ext cx="1379098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3.5万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583300" y="2276856"/>
            <a:ext cx="1488826" cy="502920"/>
          </a:xfrm>
          <a:prstGeom prst="rect">
            <a:avLst/>
          </a:prstGeom>
          <a:solidFill>
            <a:srgbClr val="1C143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56452" y="2368296"/>
            <a:ext cx="1379098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65%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072126" y="2276856"/>
            <a:ext cx="2339583" cy="502920"/>
          </a:xfrm>
          <a:prstGeom prst="rect">
            <a:avLst/>
          </a:prstGeom>
          <a:solidFill>
            <a:srgbClr val="1C143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45278" y="2368296"/>
            <a:ext cx="2229855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6.5万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2779776"/>
            <a:ext cx="2339583" cy="502920"/>
          </a:xfrm>
          <a:prstGeom prst="rect">
            <a:avLst/>
          </a:prstGeom>
          <a:solidFill>
            <a:srgbClr val="241A4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0392" y="2871216"/>
            <a:ext cx="2229855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5F1FF"/>
                </a:solidFill>
                <a:latin typeface="Microsoft YaHei"/>
              </a:rPr>
              <a:t>活动经费（中位）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16823" y="2779776"/>
            <a:ext cx="1701515" cy="502920"/>
          </a:xfrm>
          <a:prstGeom prst="rect">
            <a:avLst/>
          </a:prstGeom>
          <a:solidFill>
            <a:srgbClr val="241A4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189975" y="2871216"/>
            <a:ext cx="1591787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45万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818338" y="2779776"/>
            <a:ext cx="1276136" cy="502920"/>
          </a:xfrm>
          <a:prstGeom prst="rect">
            <a:avLst/>
          </a:prstGeom>
          <a:solidFill>
            <a:srgbClr val="241A4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891490" y="2871216"/>
            <a:ext cx="1166408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50%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94474" y="2779776"/>
            <a:ext cx="1488826" cy="502920"/>
          </a:xfrm>
          <a:prstGeom prst="rect">
            <a:avLst/>
          </a:prstGeom>
          <a:solidFill>
            <a:srgbClr val="241A4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167626" y="2871216"/>
            <a:ext cx="1379098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22.5万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583300" y="2779776"/>
            <a:ext cx="1488826" cy="502920"/>
          </a:xfrm>
          <a:prstGeom prst="rect">
            <a:avLst/>
          </a:prstGeom>
          <a:solidFill>
            <a:srgbClr val="241A4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656452" y="2871216"/>
            <a:ext cx="1379098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50%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072126" y="2779776"/>
            <a:ext cx="2339583" cy="502920"/>
          </a:xfrm>
          <a:prstGeom prst="rect">
            <a:avLst/>
          </a:prstGeom>
          <a:solidFill>
            <a:srgbClr val="241A4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145278" y="2871216"/>
            <a:ext cx="2229855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22.5万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77240" y="3282696"/>
            <a:ext cx="2339583" cy="502920"/>
          </a:xfrm>
          <a:prstGeom prst="rect">
            <a:avLst/>
          </a:prstGeom>
          <a:solidFill>
            <a:srgbClr val="1C143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50392" y="3374136"/>
            <a:ext cx="2229855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5F1FF"/>
                </a:solidFill>
                <a:latin typeface="Microsoft YaHei"/>
              </a:rPr>
              <a:t>奖项·服务费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116823" y="3282696"/>
            <a:ext cx="1701515" cy="502920"/>
          </a:xfrm>
          <a:prstGeom prst="rect">
            <a:avLst/>
          </a:prstGeom>
          <a:solidFill>
            <a:srgbClr val="1C143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189975" y="3374136"/>
            <a:ext cx="1591787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55万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818338" y="3282696"/>
            <a:ext cx="1276136" cy="502920"/>
          </a:xfrm>
          <a:prstGeom prst="rect">
            <a:avLst/>
          </a:prstGeom>
          <a:solidFill>
            <a:srgbClr val="1C143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891490" y="3374136"/>
            <a:ext cx="1166408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30%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094474" y="3282696"/>
            <a:ext cx="1488826" cy="502920"/>
          </a:xfrm>
          <a:prstGeom prst="rect">
            <a:avLst/>
          </a:prstGeom>
          <a:solidFill>
            <a:srgbClr val="1C143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167626" y="3374136"/>
            <a:ext cx="1379098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16.5万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583300" y="3282696"/>
            <a:ext cx="1488826" cy="502920"/>
          </a:xfrm>
          <a:prstGeom prst="rect">
            <a:avLst/>
          </a:prstGeom>
          <a:solidFill>
            <a:srgbClr val="1C143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656452" y="3374136"/>
            <a:ext cx="1379098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70%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072126" y="3282696"/>
            <a:ext cx="2339583" cy="502920"/>
          </a:xfrm>
          <a:prstGeom prst="rect">
            <a:avLst/>
          </a:prstGeom>
          <a:solidFill>
            <a:srgbClr val="1C143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145278" y="3374136"/>
            <a:ext cx="2229855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38.5万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77240" y="3785616"/>
            <a:ext cx="2339583" cy="502920"/>
          </a:xfrm>
          <a:prstGeom prst="rect">
            <a:avLst/>
          </a:prstGeom>
          <a:solidFill>
            <a:srgbClr val="241A4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50392" y="3877056"/>
            <a:ext cx="2229855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5F1FF"/>
                </a:solidFill>
                <a:latin typeface="Microsoft YaHei"/>
              </a:rPr>
              <a:t>奖项·成功分成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116823" y="3785616"/>
            <a:ext cx="1701515" cy="502920"/>
          </a:xfrm>
          <a:prstGeom prst="rect">
            <a:avLst/>
          </a:prstGeom>
          <a:solidFill>
            <a:srgbClr val="241A4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189975" y="3877056"/>
            <a:ext cx="1591787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40万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818338" y="3785616"/>
            <a:ext cx="1276136" cy="502920"/>
          </a:xfrm>
          <a:prstGeom prst="rect">
            <a:avLst/>
          </a:prstGeom>
          <a:solidFill>
            <a:srgbClr val="241A4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891490" y="3877056"/>
            <a:ext cx="1166408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40%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094474" y="3785616"/>
            <a:ext cx="1488826" cy="502920"/>
          </a:xfrm>
          <a:prstGeom prst="rect">
            <a:avLst/>
          </a:prstGeom>
          <a:solidFill>
            <a:srgbClr val="241A4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167626" y="3877056"/>
            <a:ext cx="1379098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16.0万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583300" y="3785616"/>
            <a:ext cx="1488826" cy="502920"/>
          </a:xfrm>
          <a:prstGeom prst="rect">
            <a:avLst/>
          </a:prstGeom>
          <a:solidFill>
            <a:srgbClr val="241A4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656452" y="3877056"/>
            <a:ext cx="1379098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60%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072126" y="3785616"/>
            <a:ext cx="2339583" cy="502920"/>
          </a:xfrm>
          <a:prstGeom prst="rect">
            <a:avLst/>
          </a:prstGeom>
          <a:solidFill>
            <a:srgbClr val="241A4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145278" y="3877056"/>
            <a:ext cx="2229855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24.0万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77240" y="4288536"/>
            <a:ext cx="2339583" cy="502920"/>
          </a:xfrm>
          <a:prstGeom prst="rect">
            <a:avLst/>
          </a:prstGeom>
          <a:solidFill>
            <a:srgbClr val="1C143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50392" y="4379976"/>
            <a:ext cx="2229855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5F1FF"/>
                </a:solidFill>
                <a:latin typeface="Microsoft YaHei"/>
              </a:rPr>
              <a:t>其他政策（创新券等）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116823" y="4288536"/>
            <a:ext cx="1701515" cy="502920"/>
          </a:xfrm>
          <a:prstGeom prst="rect">
            <a:avLst/>
          </a:prstGeom>
          <a:solidFill>
            <a:srgbClr val="1C143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189975" y="4379976"/>
            <a:ext cx="1591787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30万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818338" y="4288536"/>
            <a:ext cx="1276136" cy="502920"/>
          </a:xfrm>
          <a:prstGeom prst="rect">
            <a:avLst/>
          </a:prstGeom>
          <a:solidFill>
            <a:srgbClr val="1C143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891490" y="4379976"/>
            <a:ext cx="1166408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35%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094474" y="4288536"/>
            <a:ext cx="1488826" cy="502920"/>
          </a:xfrm>
          <a:prstGeom prst="rect">
            <a:avLst/>
          </a:prstGeom>
          <a:solidFill>
            <a:srgbClr val="1C143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167626" y="4379976"/>
            <a:ext cx="1379098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10.5万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583300" y="4288536"/>
            <a:ext cx="1488826" cy="502920"/>
          </a:xfrm>
          <a:prstGeom prst="rect">
            <a:avLst/>
          </a:prstGeom>
          <a:solidFill>
            <a:srgbClr val="1C143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656452" y="4379976"/>
            <a:ext cx="1379098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65%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072126" y="4288536"/>
            <a:ext cx="2339583" cy="502920"/>
          </a:xfrm>
          <a:prstGeom prst="rect">
            <a:avLst/>
          </a:prstGeom>
          <a:solidFill>
            <a:srgbClr val="1C143A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145278" y="4379976"/>
            <a:ext cx="2229855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19.5万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77240" y="4791456"/>
            <a:ext cx="2339583" cy="502920"/>
          </a:xfrm>
          <a:prstGeom prst="rect">
            <a:avLst/>
          </a:prstGeom>
          <a:solidFill>
            <a:srgbClr val="3A2A18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50392" y="4882896"/>
            <a:ext cx="2229855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E9C27C"/>
                </a:solidFill>
                <a:latin typeface="Microsoft YaHei"/>
              </a:rPr>
              <a:t>合计（成熟年）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116823" y="4791456"/>
            <a:ext cx="1701515" cy="502920"/>
          </a:xfrm>
          <a:prstGeom prst="rect">
            <a:avLst/>
          </a:prstGeom>
          <a:solidFill>
            <a:srgbClr val="3A2A18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189975" y="4882896"/>
            <a:ext cx="1591787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E9C27C"/>
                </a:solidFill>
                <a:latin typeface="Microsoft YaHei"/>
              </a:rPr>
              <a:t>200万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818338" y="4791456"/>
            <a:ext cx="1276136" cy="502920"/>
          </a:xfrm>
          <a:prstGeom prst="rect">
            <a:avLst/>
          </a:prstGeom>
          <a:solidFill>
            <a:srgbClr val="3A2A18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891490" y="4882896"/>
            <a:ext cx="1166408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E9C27C"/>
                </a:solidFill>
                <a:latin typeface="Microsoft YaHei"/>
              </a:rPr>
              <a:t>约38.5%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094474" y="4791456"/>
            <a:ext cx="1488826" cy="502920"/>
          </a:xfrm>
          <a:prstGeom prst="rect">
            <a:avLst/>
          </a:prstGeom>
          <a:solidFill>
            <a:srgbClr val="3A2A18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167626" y="4882896"/>
            <a:ext cx="1379098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E9C27C"/>
                </a:solidFill>
                <a:latin typeface="Microsoft YaHei"/>
              </a:rPr>
              <a:t>77.0万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583300" y="4791456"/>
            <a:ext cx="1488826" cy="502920"/>
          </a:xfrm>
          <a:prstGeom prst="rect">
            <a:avLst/>
          </a:prstGeom>
          <a:solidFill>
            <a:srgbClr val="3A2A18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7656452" y="4882896"/>
            <a:ext cx="1379098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E9C27C"/>
                </a:solidFill>
                <a:latin typeface="Microsoft YaHei"/>
              </a:rPr>
              <a:t>约61.5%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9072126" y="4791456"/>
            <a:ext cx="2339583" cy="502920"/>
          </a:xfrm>
          <a:prstGeom prst="rect">
            <a:avLst/>
          </a:prstGeom>
          <a:solidFill>
            <a:srgbClr val="3A2A18"/>
          </a:solidFill>
          <a:ln w="762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145278" y="4882896"/>
            <a:ext cx="2229855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E9C27C"/>
                </a:solidFill>
                <a:latin typeface="Microsoft YaHei"/>
              </a:rPr>
              <a:t>123.0万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77240" y="5806440"/>
            <a:ext cx="10634472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C6BAEA"/>
                </a:solidFill>
                <a:latin typeface="Microsoft YaHei"/>
              </a:rPr>
              <a:t>解读：成熟年服务方到账约200万时，甲方同普会约77万、乙方服务中心约123万。若活动/奖项放量至275万，按同比例放大即可。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30352"/>
            <a:ext cx="54864" cy="749808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12064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200">
                <a:solidFill>
                  <a:srgbClr val="E9C27C"/>
                </a:solidFill>
                <a:latin typeface="Arial"/>
              </a:rPr>
              <a:t>3-YEAR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" y="786384"/>
            <a:ext cx="9601200" cy="53035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5F1FF"/>
                </a:solidFill>
                <a:latin typeface="Microsoft YaHei"/>
              </a:rPr>
              <a:t>三年收益路径与累计分配（示意）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438912"/>
            <a:ext cx="1371600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3600" b="1">
                <a:solidFill>
                  <a:srgbClr val="E9C27C"/>
                </a:solidFill>
                <a:latin typeface="Arial"/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61320" y="1152144"/>
            <a:ext cx="1170432" cy="254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327648"/>
            <a:ext cx="1063447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00800"/>
            <a:ext cx="84124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50" b="0">
                <a:solidFill>
                  <a:srgbClr val="9486C4"/>
                </a:solidFill>
                <a:latin typeface="Arial"/>
              </a:rPr>
              <a:t>CHUANGZHIHUI</a:t>
            </a:r>
            <a:r>
              <a:rPr sz="950" b="0">
                <a:solidFill>
                  <a:srgbClr val="9486C4"/>
                </a:solidFill>
                <a:latin typeface="Microsoft YaHei"/>
              </a:rPr>
              <a:t>  ·  科创服务中心收益评估与分成方案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95560" y="6400800"/>
            <a:ext cx="15544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9C27C"/>
                </a:solidFill>
                <a:latin typeface="Arial"/>
              </a:rPr>
              <a:t>10</a:t>
            </a:r>
            <a:r>
              <a:rPr sz="1050" b="0">
                <a:solidFill>
                  <a:srgbClr val="9486C4"/>
                </a:solidFill>
                <a:latin typeface="Arial"/>
              </a:rPr>
              <a:t> / 11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417320"/>
            <a:ext cx="1701515" cy="658368"/>
          </a:xfrm>
          <a:prstGeom prst="rect">
            <a:avLst/>
          </a:prstGeom>
          <a:solidFill>
            <a:srgbClr val="2A1E55"/>
          </a:solidFill>
          <a:ln w="889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581912"/>
            <a:ext cx="1555211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9C27C"/>
                </a:solidFill>
                <a:latin typeface="Microsoft YaHei"/>
              </a:rPr>
              <a:t>年度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78755" y="1417320"/>
            <a:ext cx="1914204" cy="658368"/>
          </a:xfrm>
          <a:prstGeom prst="rect">
            <a:avLst/>
          </a:prstGeom>
          <a:solidFill>
            <a:srgbClr val="2A1E55"/>
          </a:solidFill>
          <a:ln w="889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70195" y="1581912"/>
            <a:ext cx="1767900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9C27C"/>
                </a:solidFill>
                <a:latin typeface="Microsoft YaHei"/>
              </a:rPr>
              <a:t>服务方到账（中位）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2959" y="1417320"/>
            <a:ext cx="1488826" cy="658368"/>
          </a:xfrm>
          <a:prstGeom prst="rect">
            <a:avLst/>
          </a:prstGeom>
          <a:solidFill>
            <a:srgbClr val="2A1E55"/>
          </a:solidFill>
          <a:ln w="889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4399" y="1581912"/>
            <a:ext cx="1342522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9C27C"/>
                </a:solidFill>
                <a:latin typeface="Microsoft YaHei"/>
              </a:rPr>
              <a:t>甲方分成约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81785" y="1417320"/>
            <a:ext cx="1488826" cy="658368"/>
          </a:xfrm>
          <a:prstGeom prst="rect">
            <a:avLst/>
          </a:prstGeom>
          <a:solidFill>
            <a:srgbClr val="2A1E55"/>
          </a:solidFill>
          <a:ln w="889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3225" y="1581912"/>
            <a:ext cx="1342522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9C27C"/>
                </a:solidFill>
                <a:latin typeface="Microsoft YaHei"/>
              </a:rPr>
              <a:t>乙方分成约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70611" y="1417320"/>
            <a:ext cx="4041099" cy="658368"/>
          </a:xfrm>
          <a:prstGeom prst="rect">
            <a:avLst/>
          </a:prstGeom>
          <a:solidFill>
            <a:srgbClr val="2A1E55"/>
          </a:solidFill>
          <a:ln w="889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62051" y="1581912"/>
            <a:ext cx="3894795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9C27C"/>
                </a:solidFill>
                <a:latin typeface="Microsoft YaHei"/>
              </a:rPr>
              <a:t>阶段重点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2075688"/>
            <a:ext cx="1701515" cy="658368"/>
          </a:xfrm>
          <a:prstGeom prst="rect">
            <a:avLst/>
          </a:prstGeom>
          <a:solidFill>
            <a:srgbClr val="241A4A"/>
          </a:solidFill>
          <a:ln w="889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2240280"/>
            <a:ext cx="1555211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5F1FF"/>
                </a:solidFill>
                <a:latin typeface="Microsoft YaHei"/>
              </a:rPr>
              <a:t>第1年 2027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78755" y="2075688"/>
            <a:ext cx="1914204" cy="658368"/>
          </a:xfrm>
          <a:prstGeom prst="rect">
            <a:avLst/>
          </a:prstGeom>
          <a:solidFill>
            <a:srgbClr val="241A4A"/>
          </a:solidFill>
          <a:ln w="889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70195" y="2240280"/>
            <a:ext cx="1767900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F5F1FF"/>
                </a:solidFill>
                <a:latin typeface="Microsoft YaHei"/>
              </a:rPr>
              <a:t>90–120万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92959" y="2075688"/>
            <a:ext cx="1488826" cy="658368"/>
          </a:xfrm>
          <a:prstGeom prst="rect">
            <a:avLst/>
          </a:prstGeom>
          <a:solidFill>
            <a:srgbClr val="241A4A"/>
          </a:solidFill>
          <a:ln w="889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4399" y="2240280"/>
            <a:ext cx="1342522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F5F1FF"/>
                </a:solidFill>
                <a:latin typeface="Microsoft YaHei"/>
              </a:rPr>
              <a:t>35–45万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81785" y="2075688"/>
            <a:ext cx="1488826" cy="658368"/>
          </a:xfrm>
          <a:prstGeom prst="rect">
            <a:avLst/>
          </a:prstGeom>
          <a:solidFill>
            <a:srgbClr val="241A4A"/>
          </a:solidFill>
          <a:ln w="889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73225" y="2240280"/>
            <a:ext cx="1342522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F5F1FF"/>
                </a:solidFill>
                <a:latin typeface="Microsoft YaHei"/>
              </a:rPr>
              <a:t>55–75万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70611" y="2075688"/>
            <a:ext cx="4041099" cy="658368"/>
          </a:xfrm>
          <a:prstGeom prst="rect">
            <a:avLst/>
          </a:prstGeom>
          <a:solidFill>
            <a:srgbClr val="241A4A"/>
          </a:solidFill>
          <a:ln w="889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62051" y="2240280"/>
            <a:ext cx="3894795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F5F1FF"/>
                </a:solidFill>
                <a:latin typeface="Microsoft YaHei"/>
              </a:rPr>
              <a:t>认定挂牌 · 样板3–5家 · 活动起步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2734056"/>
            <a:ext cx="1701515" cy="658368"/>
          </a:xfrm>
          <a:prstGeom prst="rect">
            <a:avLst/>
          </a:prstGeom>
          <a:solidFill>
            <a:srgbClr val="1C143A"/>
          </a:solidFill>
          <a:ln w="889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2898648"/>
            <a:ext cx="1555211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5F1FF"/>
                </a:solidFill>
                <a:latin typeface="Microsoft YaHei"/>
              </a:rPr>
              <a:t>第2年 2028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478755" y="2734056"/>
            <a:ext cx="1914204" cy="658368"/>
          </a:xfrm>
          <a:prstGeom prst="rect">
            <a:avLst/>
          </a:prstGeom>
          <a:solidFill>
            <a:srgbClr val="1C143A"/>
          </a:solidFill>
          <a:ln w="889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70195" y="2898648"/>
            <a:ext cx="1767900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F5F1FF"/>
                </a:solidFill>
                <a:latin typeface="Microsoft YaHei"/>
              </a:rPr>
              <a:t>150–200万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92959" y="2734056"/>
            <a:ext cx="1488826" cy="658368"/>
          </a:xfrm>
          <a:prstGeom prst="rect">
            <a:avLst/>
          </a:prstGeom>
          <a:solidFill>
            <a:srgbClr val="1C143A"/>
          </a:solidFill>
          <a:ln w="889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84399" y="2898648"/>
            <a:ext cx="1342522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F5F1FF"/>
                </a:solidFill>
                <a:latin typeface="Microsoft YaHei"/>
              </a:rPr>
              <a:t>55–75万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881785" y="2734056"/>
            <a:ext cx="1488826" cy="658368"/>
          </a:xfrm>
          <a:prstGeom prst="rect">
            <a:avLst/>
          </a:prstGeom>
          <a:solidFill>
            <a:srgbClr val="1C143A"/>
          </a:solidFill>
          <a:ln w="889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73225" y="2898648"/>
            <a:ext cx="1342522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F5F1FF"/>
                </a:solidFill>
                <a:latin typeface="Microsoft YaHei"/>
              </a:rPr>
              <a:t>95–125万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70611" y="2734056"/>
            <a:ext cx="4041099" cy="658368"/>
          </a:xfrm>
          <a:prstGeom prst="rect">
            <a:avLst/>
          </a:prstGeom>
          <a:solidFill>
            <a:srgbClr val="1C143A"/>
          </a:solidFill>
          <a:ln w="889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62051" y="2898648"/>
            <a:ext cx="3894795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F5F1FF"/>
                </a:solidFill>
                <a:latin typeface="Microsoft YaHei"/>
              </a:rPr>
              <a:t>高企/专精特新放量 · 活动抬升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3392424"/>
            <a:ext cx="1701515" cy="658368"/>
          </a:xfrm>
          <a:prstGeom prst="rect">
            <a:avLst/>
          </a:prstGeom>
          <a:solidFill>
            <a:srgbClr val="241A4A"/>
          </a:solidFill>
          <a:ln w="889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8680" y="3557016"/>
            <a:ext cx="1555211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5F1FF"/>
                </a:solidFill>
                <a:latin typeface="Microsoft YaHei"/>
              </a:rPr>
              <a:t>第3年 2029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478755" y="3392424"/>
            <a:ext cx="1914204" cy="658368"/>
          </a:xfrm>
          <a:prstGeom prst="rect">
            <a:avLst/>
          </a:prstGeom>
          <a:solidFill>
            <a:srgbClr val="241A4A"/>
          </a:solidFill>
          <a:ln w="889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570195" y="3557016"/>
            <a:ext cx="1767900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F5F1FF"/>
                </a:solidFill>
                <a:latin typeface="Microsoft YaHei"/>
              </a:rPr>
              <a:t>200–275万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92959" y="3392424"/>
            <a:ext cx="1488826" cy="658368"/>
          </a:xfrm>
          <a:prstGeom prst="rect">
            <a:avLst/>
          </a:prstGeom>
          <a:solidFill>
            <a:srgbClr val="241A4A"/>
          </a:solidFill>
          <a:ln w="889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84399" y="3557016"/>
            <a:ext cx="1342522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F5F1FF"/>
                </a:solidFill>
                <a:latin typeface="Microsoft YaHei"/>
              </a:rPr>
              <a:t>75–105万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81785" y="3392424"/>
            <a:ext cx="1488826" cy="658368"/>
          </a:xfrm>
          <a:prstGeom prst="rect">
            <a:avLst/>
          </a:prstGeom>
          <a:solidFill>
            <a:srgbClr val="241A4A"/>
          </a:solidFill>
          <a:ln w="889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73225" y="3557016"/>
            <a:ext cx="1342522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F5F1FF"/>
                </a:solidFill>
                <a:latin typeface="Microsoft YaHei"/>
              </a:rPr>
              <a:t>125–170万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370611" y="3392424"/>
            <a:ext cx="4041099" cy="658368"/>
          </a:xfrm>
          <a:prstGeom prst="rect">
            <a:avLst/>
          </a:prstGeom>
          <a:solidFill>
            <a:srgbClr val="241A4A"/>
          </a:solidFill>
          <a:ln w="889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462051" y="3557016"/>
            <a:ext cx="3894795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F5F1FF"/>
                </a:solidFill>
                <a:latin typeface="Microsoft YaHei"/>
              </a:rPr>
              <a:t>双资质稳定 · 创新券核销常态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77240" y="4050792"/>
            <a:ext cx="1701515" cy="658368"/>
          </a:xfrm>
          <a:prstGeom prst="rect">
            <a:avLst/>
          </a:prstGeom>
          <a:solidFill>
            <a:srgbClr val="3A2A18"/>
          </a:solidFill>
          <a:ln w="889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68680" y="4215384"/>
            <a:ext cx="1555211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9C27C"/>
                </a:solidFill>
                <a:latin typeface="Microsoft YaHei"/>
              </a:rPr>
              <a:t>三年累计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478755" y="4050792"/>
            <a:ext cx="1914204" cy="658368"/>
          </a:xfrm>
          <a:prstGeom prst="rect">
            <a:avLst/>
          </a:prstGeom>
          <a:solidFill>
            <a:srgbClr val="3A2A18"/>
          </a:solidFill>
          <a:ln w="889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570195" y="4215384"/>
            <a:ext cx="1767900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9C27C"/>
                </a:solidFill>
                <a:latin typeface="Microsoft YaHei"/>
              </a:rPr>
              <a:t>440–595万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392959" y="4050792"/>
            <a:ext cx="1488826" cy="658368"/>
          </a:xfrm>
          <a:prstGeom prst="rect">
            <a:avLst/>
          </a:prstGeom>
          <a:solidFill>
            <a:srgbClr val="3A2A18"/>
          </a:solidFill>
          <a:ln w="889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484399" y="4215384"/>
            <a:ext cx="1342522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9C27C"/>
                </a:solidFill>
                <a:latin typeface="Microsoft YaHei"/>
              </a:rPr>
              <a:t>165–225万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881785" y="4050792"/>
            <a:ext cx="1488826" cy="658368"/>
          </a:xfrm>
          <a:prstGeom prst="rect">
            <a:avLst/>
          </a:prstGeom>
          <a:solidFill>
            <a:srgbClr val="3A2A18"/>
          </a:solidFill>
          <a:ln w="889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973225" y="4215384"/>
            <a:ext cx="1342522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9C27C"/>
                </a:solidFill>
                <a:latin typeface="Microsoft YaHei"/>
              </a:rPr>
              <a:t>275–370万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70611" y="4050792"/>
            <a:ext cx="4041099" cy="658368"/>
          </a:xfrm>
          <a:prstGeom prst="rect">
            <a:avLst/>
          </a:prstGeom>
          <a:solidFill>
            <a:srgbClr val="3A2A18"/>
          </a:solidFill>
          <a:ln w="889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462051" y="4215384"/>
            <a:ext cx="3894795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9C27C"/>
                </a:solidFill>
                <a:latin typeface="Microsoft YaHei"/>
              </a:rPr>
              <a:t>综合分成约 甲38% / 乙62%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77240" y="5212080"/>
            <a:ext cx="10634472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E9C27C"/>
                </a:solidFill>
                <a:latin typeface="Microsoft YaHei"/>
              </a:rPr>
              <a:t>结算机制　</a:t>
            </a:r>
            <a:r>
              <a:rPr sz="1300" b="0">
                <a:solidFill>
                  <a:srgbClr val="C6BAEA"/>
                </a:solidFill>
                <a:latin typeface="Microsoft YaHei"/>
              </a:rPr>
              <a:t>按自然季度对账；先扣除经双方确认的直接成本（第三方、物料、垫付），再按门类比例分配；一方对外收款的，到账后5个工作日内通知并划付。重大专项（如服务业引导资金项目制）单独立账、另议比例。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30352"/>
            <a:ext cx="54864" cy="749808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12064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200">
                <a:solidFill>
                  <a:srgbClr val="E9C27C"/>
                </a:solidFill>
                <a:latin typeface="Arial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" y="786384"/>
            <a:ext cx="9601200" cy="53035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5F1FF"/>
                </a:solidFill>
                <a:latin typeface="Microsoft YaHei"/>
              </a:rPr>
              <a:t>结论与签约建议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438912"/>
            <a:ext cx="1371600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3600" b="1">
                <a:solidFill>
                  <a:srgbClr val="E9C27C"/>
                </a:solidFill>
                <a:latin typeface="Arial"/>
              </a:rP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61320" y="1152144"/>
            <a:ext cx="1170432" cy="254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327648"/>
            <a:ext cx="1063447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00800"/>
            <a:ext cx="84124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50" b="0">
                <a:solidFill>
                  <a:srgbClr val="9486C4"/>
                </a:solidFill>
                <a:latin typeface="Arial"/>
              </a:rPr>
              <a:t>CHUANGZHIHUI</a:t>
            </a:r>
            <a:r>
              <a:rPr sz="950" b="0">
                <a:solidFill>
                  <a:srgbClr val="9486C4"/>
                </a:solidFill>
                <a:latin typeface="Microsoft YaHei"/>
              </a:rPr>
              <a:t>  ·  科创服务中心收益评估与分成方案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95560" y="6400800"/>
            <a:ext cx="15544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9C27C"/>
                </a:solidFill>
                <a:latin typeface="Arial"/>
              </a:rPr>
              <a:t>11</a:t>
            </a:r>
            <a:r>
              <a:rPr sz="1050" b="0">
                <a:solidFill>
                  <a:srgbClr val="9486C4"/>
                </a:solidFill>
                <a:latin typeface="Arial"/>
              </a:rPr>
              <a:t> / 11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371600"/>
            <a:ext cx="5212080" cy="466344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1371600"/>
            <a:ext cx="64008" cy="466344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3272" y="1517904"/>
            <a:ext cx="48006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5F1FF"/>
                </a:solidFill>
                <a:latin typeface="Microsoft YaHei"/>
              </a:rPr>
              <a:t>结论（可直接对齐甲方）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" y="1874520"/>
            <a:ext cx="4754880" cy="4069080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35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350">
                <a:solidFill>
                  <a:srgbClr val="C6BAEA"/>
                </a:solidFill>
                <a:latin typeface="Microsoft YaHei"/>
              </a:rPr>
              <a:t>服务中心成熟年中位收益约165–275万/年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35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350">
                <a:solidFill>
                  <a:srgbClr val="C6BAEA"/>
                </a:solidFill>
                <a:latin typeface="Microsoft YaHei"/>
              </a:rPr>
              <a:t>建议综合分成：甲方同普会约38% · 乙方约62%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35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350">
                <a:solidFill>
                  <a:srgbClr val="C6BAEA"/>
                </a:solidFill>
                <a:latin typeface="Microsoft YaHei"/>
              </a:rPr>
              <a:t>门类差异化：执行类乙方高、获客/活动类更均分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35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350">
                <a:solidFill>
                  <a:srgbClr val="C6BAEA"/>
                </a:solidFill>
                <a:latin typeface="Microsoft YaHei"/>
              </a:rPr>
              <a:t>奖项对企业侧是补贴，对服务方是服务费+分成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35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350">
                <a:solidFill>
                  <a:srgbClr val="C6BAEA"/>
                </a:solidFill>
                <a:latin typeface="Microsoft YaHei"/>
              </a:rPr>
              <a:t>数字为测算，写入协议时保留±协商带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371600"/>
            <a:ext cx="5074920" cy="466344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371600"/>
            <a:ext cx="64008" cy="4663440"/>
          </a:xfrm>
          <a:prstGeom prst="rect">
            <a:avLst/>
          </a:prstGeom>
          <a:solidFill>
            <a:srgbClr val="56D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65392" y="1517904"/>
            <a:ext cx="466344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5F1FF"/>
                </a:solidFill>
                <a:latin typeface="Microsoft YaHei"/>
              </a:rPr>
              <a:t>建议落地动作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1874520"/>
            <a:ext cx="4617720" cy="4069080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35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350">
                <a:solidFill>
                  <a:srgbClr val="C6BAEA"/>
                </a:solidFill>
                <a:latin typeface="Microsoft YaHei"/>
              </a:rPr>
              <a:t>① 签署《收益分成确认书》锁定门类比例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35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350">
                <a:solidFill>
                  <a:srgbClr val="C6BAEA"/>
                </a:solidFill>
                <a:latin typeface="Microsoft YaHei"/>
              </a:rPr>
              <a:t>② 完成服务中心挂牌 + 载体认定路径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35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350">
                <a:solidFill>
                  <a:srgbClr val="C6BAEA"/>
                </a:solidFill>
                <a:latin typeface="Microsoft YaHei"/>
              </a:rPr>
              <a:t>③ 入驻创新券平台，打通核销分成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35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350">
                <a:solidFill>
                  <a:srgbClr val="C6BAEA"/>
                </a:solidFill>
                <a:latin typeface="Microsoft YaHei"/>
              </a:rPr>
              <a:t>④ 锁定首批3–5家样板企业申报流水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35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350">
                <a:solidFill>
                  <a:srgbClr val="C6BAEA"/>
                </a:solidFill>
                <a:latin typeface="Microsoft YaHei"/>
              </a:rPr>
              <a:t>⑤ 季度联席对账，年度复盘调整比例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35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350">
                <a:solidFill>
                  <a:srgbClr val="C6BAEA"/>
                </a:solidFill>
                <a:latin typeface="Microsoft YaHei"/>
              </a:rPr>
              <a:t>⑥ 活动申报主体提前书面确认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