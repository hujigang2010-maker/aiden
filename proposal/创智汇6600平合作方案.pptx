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2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8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9C27C"/>
                </a:solidFill>
                <a:latin typeface="Arial"/>
              </a:rPr>
              <a:t>SHANGHAI CHUANGZHIHUI · WUJIAOCHANG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389888"/>
            <a:ext cx="822960" cy="3175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070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F5F1FF"/>
                </a:solidFill>
                <a:latin typeface="Microsoft YaHei"/>
              </a:rPr>
              <a:t>上海创智汇</a:t>
            </a:r>
            <a:r>
              <a:rPr sz="4000" b="1">
                <a:solidFill>
                  <a:srgbClr val="E9C27C"/>
                </a:solidFill>
                <a:latin typeface="Microsoft YaHei"/>
              </a:rPr>
              <a:t>
AI + 数字内容无界共创港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6600㎡ 招商运营合作</a:t>
            </a:r>
            <a:r>
              <a:rPr sz="1600" b="0" spc="100">
                <a:solidFill>
                  <a:srgbClr val="9486C4"/>
                </a:solidFill>
                <a:latin typeface="Microsoft YaHei"/>
              </a:rPr>
              <a:t>　·　</a:t>
            </a:r>
            <a:r>
              <a:rPr sz="1600" b="0" spc="100">
                <a:solidFill>
                  <a:srgbClr val="C6BAEA"/>
                </a:solidFill>
                <a:latin typeface="Microsoft YaHei"/>
              </a:rPr>
              <a:t>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2560320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256032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以 AI + 数字内容 为产业主轴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029200"/>
            <a:ext cx="2048256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政策导入 · 政企联动闭环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51576" y="5029200"/>
            <a:ext cx="1792224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三年合作 · 协同复制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v3.0 谈判稿</a:t>
            </a:r>
            <a:r>
              <a:rPr sz="1050" b="0">
                <a:solidFill>
                  <a:srgbClr val="9486C4"/>
                </a:solidFill>
                <a:latin typeface="Microsoft YaHei"/>
              </a:rPr>
              <a:t>    项目定位（三选一）：AI+数字内容无界共创港 / AI+数据智能产业创新中心 / AI+在线新经济产业创新港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研判与关键信息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研判报告 · 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招商与运营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漏斗 / 运营计划 / 活动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80/85/95%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6968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出海与国际会客厅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国家会客厅 · 出海撮合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0" y="4809744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4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904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4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规划建议 · 协同复制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三问 · 30/60/90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项目定位 · 产业定位方向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项目命名（三选一）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10634472" cy="73152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64008" cy="731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方案一 · 推荐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65960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数字内容无界共创港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965960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最贴合「AI+数字内容」主轴与共创理念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807208"/>
            <a:ext cx="64008" cy="731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07208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方案二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807208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数据智能产业创新中心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19" y="2807208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偏 AI 数据智能与硬科技定位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648456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648456"/>
            <a:ext cx="64008" cy="731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648456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Microsoft YaHei"/>
              </a:rPr>
              <a:t>方案三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648456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在线新经济产业创新港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19" y="3648456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对齐杨浦「在线新经济」政策品牌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7365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产业定位方向　</a:t>
            </a:r>
            <a:r>
              <a:rPr sz="1350" b="0">
                <a:solidFill>
                  <a:srgbClr val="9486C4"/>
                </a:solidFill>
                <a:latin typeface="Microsoft YaHei"/>
              </a:rPr>
              <a:t>（经商讨暂定）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0640"/>
            <a:ext cx="102412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 </a:t>
            </a:r>
            <a:r>
              <a:rPr sz="1250" b="1">
                <a:solidFill>
                  <a:srgbClr val="E9C27C"/>
                </a:solidFill>
                <a:latin typeface="Microsoft YaHei"/>
              </a:rPr>
              <a:t>人工智能和数字内容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为产业主轴，重点承接 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AI 微短剧、AIGC 内容生产、数字 IP、创意设计、智能营销、在线新经济、OPC 超级个体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 等应用场景；并通过 办公空间 · 展示交易 · 订单撮合 · 政策服务 · 高校大厂资源 · IP 资源 · 出海服务，为入驻企业提供从落地到增长的综合服务。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市场与区位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区位研判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五角场城市副中心 + 环同济经济圈；创智天地正处杨浦 YOUNG立方内容集聚区核心圈，紧邻 V聚场/大学路/B站新世代产业园。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9164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市场研判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AI+ 与数字内容处政策红利期：微短剧/AIGC/数字人爆发；上海明确徐汇·杨浦·闵行建 AI 微短剧集聚区，需求侧旺盛。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26440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市区两级政策叠加（YOUNG立方/长阳秀带/人工智能+/微短剧/模塑申城/火山引擎）；载体认定 + 三券 + 补贴可形成兑现能力。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26440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客群研判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 应用/AIGC/数字人、AI 短剧、数字 IP、创意设计、智能营销、OPC 超级个体；供应链（玩具/毛绒/潮玩）与内容 IP 出海需求明确。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92040"/>
            <a:ext cx="10634472" cy="11887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1091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研判结论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需求真实、政策强、区位优——项目具备「政策引导产业落位 + 出海撮合放大」的稀缺条件。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6600㎡ 体量适中，可做「小而精」样板并向周边复制（≤2 项目）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对标魔术空间等：高频活动（约 110 场级）驱动招商与载体 KPI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 · SWOT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SWOT 与对策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S 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政策核心圈 + 环同济 + 高校大厂资源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AI/OPC 社群 + IP 内容 + 领事/出海资源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离运营方近，轻驻场高频次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64208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W 劣势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体量小（6600㎡），单靠租金想象空间有限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载体/OPC 社区等「经认定」资格待落实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出海撮合需自有资源与专职团队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785616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O 机会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微短剧/AIGC 政策红利与集聚区身份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 + 国家会客厅高毛利业务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沪穗联动、可复制到周边项目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85616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T 威胁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招商去化对赌压力（三年均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政策以最新文件为准，兑现有不确定性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出海行业分散、跨行业撮合难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3 楼平面布局 · OPC + AI + IP 创新中心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3937772" cy="1170432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505456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600㎡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316 (150) · 301 (175)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" y="3108960"/>
            <a:ext cx="3937772" cy="658368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218688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配套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913632"/>
            <a:ext cx="3937772" cy="184708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023360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530352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1150㎡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1596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306·305·304·303·302·310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5908" y="1792224"/>
            <a:ext cx="2947660" cy="932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2212" y="190195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直播间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2212" y="2267712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250㎡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5908" y="2871216"/>
            <a:ext cx="2947660" cy="786384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2212" y="2980944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2212" y="320040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150㎡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5908" y="3803904"/>
            <a:ext cx="2947660" cy="1956816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2212" y="391363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2212" y="530352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700㎡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主轴：AI / OPC — 对齐「人工智能+」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＊依据一期方案平面图复原（分区/房号/面积对应）；最终以物业实测与设计院图纸为准。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5 楼平面布局 · 综合集群展厅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1441505" cy="4105656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44068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700㎡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景区+博物馆文创 · 50+ IP 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93065" y="1792224"/>
            <a:ext cx="632856" cy="4105656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369" y="1901952"/>
            <a:ext cx="376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369" y="5440680"/>
            <a:ext cx="37682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5649" y="1792224"/>
            <a:ext cx="1582140" cy="1188720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953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东莞潮玩产业集群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1953" y="2523744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330㎡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5649" y="3090672"/>
            <a:ext cx="1582140" cy="2761488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1953" y="3200400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汕头玩具产业集群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953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900㎡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517" y="1792224"/>
            <a:ext cx="1582140" cy="102412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3821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821" y="2359152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270㎡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27517" y="2926080"/>
            <a:ext cx="1582140" cy="2926080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821" y="3035808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扬州毛绒产业集群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3821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700㎡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9385" y="1792224"/>
            <a:ext cx="1441505" cy="731520"/>
          </a:xfrm>
          <a:prstGeom prst="roundRect">
            <a:avLst/>
          </a:prstGeom>
          <a:gradFill>
            <a:gsLst>
              <a:gs pos="0">
                <a:srgbClr val="9486C4">
                  <a:alpha val="24000"/>
                </a:srgbClr>
              </a:gs>
              <a:gs pos="100000">
                <a:srgbClr val="9486C4">
                  <a:alpha val="7000"/>
                </a:srgbClr>
              </a:gs>
            </a:gsLst>
            <a:lin ang="7200000" scaled="1"/>
          </a:gradFill>
          <a:ln w="15875">
            <a:solidFill>
              <a:srgbClr val="948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5689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仓储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5689" y="2066544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486C4"/>
                </a:solidFill>
                <a:latin typeface="Arial"/>
              </a:rPr>
              <a:t>120㎡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85" y="2633472"/>
            <a:ext cx="1441505" cy="3218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5689" y="2743200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5689" y="53949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650㎡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四大集群：汕头玩具·扬州毛绒·东莞潮玩·文创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＊依据一期方案平面图复原（分区/面积对应）；最终以物业实测与设计院图纸为准。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C6BAEA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9C27C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7B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77D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6D6B6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C6BAEA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人工智能+数字内容 · 政策工具箱（三端）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160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· 补给企业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科技创新券：企业≤30万/年、团队≤10万/年（≤50%）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模塑申城：算力券 / 模型券 / 语料券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高企首认 20万；专精特新市级 10万 / 国家小巨人 30万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大数据房租 2.0 元/天/㎡（人均 15㎡）≤100万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经营性奖励 + 参保奖励（10–20 人给 10万，超 20 每人≤1.5万）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4160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· 强平台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科技服务业：成果转化服务平台≤100万/年运营补贴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服务业引导资金：市级≥500万投资 / 区级 500–1000万，≤300万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OPC 超级个体社区：AI 工具链 / 智能体 / Tokens券 / 大厂团队 各≤1000–2000万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未来产业试验场 / 加速器（认定后申报）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把创智汇做成「经认定载体 + 成果转化服务平台」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4160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· 造场景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微短剧集聚区（徐汇/杨浦/闵行）：智能体≤研发20%≤1000万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优秀微短剧≤300万；优质厂牌≤200万；出海≤50万；课程≤20万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标志性重大应用场景 / 创新产品市场化应用（联合≤5家采购）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消费新场景专项：补助≤30%、≥100万、累计≤2000万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5楼做「AI 数字内容高价值应用场景」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＊政策口径以各级政府最新发布文件为准；「经认定」类政策需先取得认定资格方可对外兑现。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GOV-ENTERPRISE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辅助招商定位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0634472" cy="8686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招商定位　</a:t>
            </a:r>
            <a:r>
              <a:rPr sz="1500" b="1">
                <a:solidFill>
                  <a:srgbClr val="F5F1FF"/>
                </a:solidFill>
                <a:latin typeface="Microsoft YaHei"/>
              </a:rPr>
              <a:t>创智汇 = 杨浦「AI + 数字内容」孵化转化载体 + 场景清单发布平台（3F 孵化转化 · 5F 场景应用与交易）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5176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→ 招什么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招「能拿补贴的优质企业」：AI/AIGC、数字人、智能体、AI 微短剧、内容生成工具、科技型中小；用三券与房租/经营奖励做入驻礼包。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5176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→ 靠什么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把创智汇做成经认定载体 / OPC 社区 / 成果转化服务平台 / 服务业园区，取得政策兑现资格与运营补贴。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51760"/>
            <a:ext cx="64008" cy="17830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→ 卖什么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5楼做 AI 数字内容高价值应用场景、AI 微短剧承接点、创新产品市场化应用撮合，形成可背书的场景清单。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6D6B6"/>
                </a:solidFill>
                <a:latin typeface="Microsoft YaHei"/>
              </a:rPr>
              <a:t>政企联动机制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138928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挂牌「杨浦科技企业服务中心」，接入政务快速通道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对接区科经委 / 发改委 / 文旅局 / 市经信委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38928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建企业「三券」适配表，联合公司承接申报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补贴归运营平台公司，反哺招商可信度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NEXT-STEP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后续摸排清单 · 政企联动落地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4592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3172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摸排事项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64592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对接部门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645920"/>
            <a:ext cx="319034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目的 / 判定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能否按创新创业载体 / 成果转化服务平台 / 场景清单申报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06654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区科经委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206654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确立载体端政策兑现资格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5690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578608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7860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3F 办公孵化 + 5F 展示交易能否作服务业引导资金项目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4476" y="257860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区发改委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57860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核算投资是否达 500 万门槛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0811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90672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取得 OPC 超级个体社区「认定条件」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3090672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区人民政府 / 科经委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3090672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先决条件；未认定只能做协同点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932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602736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02736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杨浦 AI 微短剧集聚区承接空间；5F 可否作展示/路演/拍摄/协同点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602736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区文旅局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602736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确立场景端承接身份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05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14800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建企业「算力/模型/语料」三券适配表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4476" y="4114800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4114800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核查合同 / 账单 / 发票 / 使用日志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626864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2686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科企联 / 服务机构是否入驻创新券平台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462686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科企联 / 服务机构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62686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打通创新券在线下单核验兑付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1294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13892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入驻企业产品进《创新产品推荐目录》→ 5F 找采购/承租联合申报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4476" y="513892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采购方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1370" y="513892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落地 5F 订单撮合机制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1645920"/>
            <a:ext cx="31750" cy="400507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ECO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生态闭环（双环驱动）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政府政策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YOUNG立方/长阳秀带/人工智能+/微短剧/火山引擎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1645920"/>
            <a:ext cx="64008" cy="12801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平台承接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载体认定 · 挂牌 · 成果转化服务平台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1544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1645920"/>
            <a:ext cx="64008" cy="12801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政策礼包 · 三券适配 · 场景背书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063240"/>
            <a:ext cx="64008" cy="12801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企业成长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联合公司：注册/申报/知产/融资/出海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063240"/>
            <a:ext cx="64008" cy="12801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场景与内容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微短剧/展贸/IP · 创新产品应用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82712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82712" y="306324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补贴反哺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补贴归平台 · 资质回流 · 能级提升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526280"/>
            <a:ext cx="10634472" cy="14630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64515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双环驱动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① 政企联动闭环：政府—平台—企业—场景—补贴反哺，能级持续提升；② 产业生态闭环：内容引流—产业承接—商业变现—服务成长。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政企联动：把政策转化为招商资格与兑现能力，越做越有背书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生态自进化：内容 × 产业 × 商业 × 服务相互反哺，摆脱单一租金依赖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7B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9C27C"/>
                </a:solidFill>
                <a:latin typeface="Microsoft YaHei"/>
              </a:rPr>
              <a:t>三年均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或 80% → 85% → 95%（首/次/三年）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8B7B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6D6B6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OPERATION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招商运营策划及计划方案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招商打法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牌照锚定 + 政策礼包前置，客户「送进来」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小红书投流引流 → 线下 AI 培训/活动 → 转化租客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复旦科技园导流 + 高校大厂 + IP/协会资源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64208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在地 2 人（招商 + 综合管理，均全方位）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出海撮合：初期各部门抽调兼职，成熟设全职约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挂牌杨浦科技企业服务中心，接政务通道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64208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运营节奏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月度招商目标 + 去化看板（参考目标，招商不对赌）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常态化活动完成载体 KPI，运营满年申请补贴（约一二十万）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企业服务收费体系逐步导入，沉淀会员/私域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阶段计划（0–3 / 3–6 / 6–12 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20640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0–3 月：定位包装 + 政策梳理 + 首批挂牌 + 样板企业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3–6 月：集中招引 + 首批优惠 + 推介路演 + 政策诊断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20640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6–12 月：重点补位 + 专精特新/高企培育 + 首场漫展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全周期：活动 IP 化 + 出海撮合 + 补贴反哺 + 复制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活动安排计划 · 年度 30 场（表格化）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417320"/>
            <a:ext cx="10634472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417320"/>
            <a:ext cx="2126894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档位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417320"/>
            <a:ext cx="850757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场次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4891" y="1417320"/>
            <a:ext cx="127613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人数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1027" y="1417320"/>
            <a:ext cx="148882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负责人占比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853" y="1417320"/>
            <a:ext cx="233958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孵化器关联度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9436" y="1417320"/>
            <a:ext cx="255227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核心作用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79184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1801368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A 智能体/训练营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4134" y="1801368"/>
            <a:ext cx="85075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4891" y="1801368"/>
            <a:ext cx="127613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40–80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1027" y="1801368"/>
            <a:ext cx="148882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35–45%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853" y="1801368"/>
            <a:ext cx="233958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邀约≥90%/到场≥80%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9436" y="1801368"/>
            <a:ext cx="255227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OPC/Agent入驻转化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2307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2240280"/>
            <a:ext cx="10634472" cy="438912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2240280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B 政策/治理沙龙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04134" y="2240280"/>
            <a:ext cx="85075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54891" y="2240280"/>
            <a:ext cx="127613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40–80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31027" y="2240280"/>
            <a:ext cx="148882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50–60%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853" y="2240280"/>
            <a:ext cx="233958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邀约≥90%/到场≥80%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9436" y="2240280"/>
            <a:ext cx="255227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政策兑现+招商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26696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2679192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C 产业/科学对接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2679192"/>
            <a:ext cx="85075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54891" y="2679192"/>
            <a:ext cx="127613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50–100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1027" y="2679192"/>
            <a:ext cx="148882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55–65%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853" y="2679192"/>
            <a:ext cx="233958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≥85%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9436" y="2679192"/>
            <a:ext cx="255227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成果/集群去化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310857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3118104"/>
            <a:ext cx="10634472" cy="438912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118104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D 内容IP活动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4134" y="3118104"/>
            <a:ext cx="85075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54891" y="3118104"/>
            <a:ext cx="127613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80–300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31027" y="3118104"/>
            <a:ext cx="148882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30–40%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9853" y="3118104"/>
            <a:ext cx="233958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≥75%（流量场）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59436" y="3118104"/>
            <a:ext cx="255227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5F引流+经营收入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3547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3557016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E WAIC联动大场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04134" y="3557016"/>
            <a:ext cx="85075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54891" y="3557016"/>
            <a:ext cx="127613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100–400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31027" y="3557016"/>
            <a:ext cx="148882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40–55%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853" y="3557016"/>
            <a:ext cx="233958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≥80%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59436" y="3557016"/>
            <a:ext cx="255227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大会流量+集中看场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39864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3995928"/>
            <a:ext cx="10634472" cy="438912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3995928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F 出海/AGI/收官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04134" y="3995928"/>
            <a:ext cx="850757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54891" y="3995928"/>
            <a:ext cx="127613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40–120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31027" y="3995928"/>
            <a:ext cx="1488826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50–60%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853" y="3995928"/>
            <a:ext cx="233958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≥90%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59436" y="3995928"/>
            <a:ext cx="2552273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出海撮合+年框签约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442531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7240" y="1417320"/>
            <a:ext cx="31750" cy="3017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5349240"/>
            <a:ext cx="106070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＊关联度不是口号式100%：允许约10–15%生态角色（政府/高校/投资人/媒体）；主体客群必须是可入驻画像企业。详表见《30场表格应答版》。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" y="585216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9C27C"/>
                </a:solidFill>
                <a:latin typeface="Microsoft YaHei"/>
              </a:rPr>
              <a:t>＊商业锚点：办公 3.3 元/㎡/天 · 物业 13.8 元/㎡/月 · 待租办公室 8 间 · 佣金 2 个月。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30 场怎么做 · 价值 · 分工 · 收费（摘要）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417320"/>
            <a:ext cx="356616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417320"/>
            <a:ext cx="64008" cy="23317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600200"/>
            <a:ext cx="307238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活动价值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1984248"/>
            <a:ext cx="3017520" cy="16733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导流 8 间待租看场与逼单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年触达 900+ 精准客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载体 KPI → 补贴 10–20 万/年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媒体声量与品牌定调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转化成交计佣金 2 个月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417320"/>
            <a:ext cx="356616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417320"/>
            <a:ext cx="64008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1600200"/>
            <a:ext cx="307238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交付物（每场）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1984248"/>
            <a:ext cx="3017520" cy="16733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方案+议程+关联度核验表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签到建档 / 意向分级表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7 日回访纪要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单场复盘（人数/关联度/转化）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月度漏斗看板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417320"/>
            <a:ext cx="356616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417320"/>
            <a:ext cx="64008" cy="23317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3336" y="1600200"/>
            <a:ext cx="307238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分工一句话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3336" y="1984248"/>
            <a:ext cx="3017520" cy="16733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我方：策划邀约执行回访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贵方：场地物业名单看场交割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联合会/服中心：政策协同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最低支持：报备/导视/样板间/名单/会议室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详表见 RACI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977639"/>
            <a:ext cx="10634472" cy="2057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977639"/>
            <a:ext cx="64008" cy="20574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114800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收费模式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26280"/>
            <a:ext cx="5120640" cy="12801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活动打包：30 场 / 30 万元（策划执行+基础物料+主持）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招商佣金：成交首年有效净租金 × 2 个月（首年不重复）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办公 3.3 元/㎡/天；物业 13.8 元/㎡/月；待租 8 间优先活动转化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26280"/>
            <a:ext cx="5029200" cy="12801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门票/赞助默认归园区经营性收入（可协商分成）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媒体投流约 10 万/年另计（可选）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2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00">
                <a:solidFill>
                  <a:srgbClr val="C6BAEA"/>
                </a:solidFill>
                <a:latin typeface="Microsoft YaHei"/>
              </a:rPr>
              <a:t>往期案例：杨数浦合规沙龙 / AI重塑DNA / 融见科创路演（含企业+议程+现场照）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招商轻运营（不对赌）· 出海为增长引擎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三年运营节奏 · 去化与出海双线推进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E9C27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B7B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重点客户补位/专精特新·高企培育/企业服务收费/出海撮合起量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区级示范点/载体资质/补贴反哺/出海撮合放量/协同周边≤2项目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招商轻运营（不对赌）· 出海重收费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合作模式与原则 · 轻资产运营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9C27C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B7B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C77DFF"/>
                </a:solidFill>
                <a:latin typeface="Microsoft YaHei"/>
              </a:rPr>
              <a:t>轻资产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招商不对赌；月费转化为出海专项服务费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协议分层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6D6B6"/>
                </a:solidFill>
                <a:latin typeface="Microsoft YaHei"/>
              </a:rPr>
              <a:t>双协议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招商轻运营协议 + 出海联合运营协议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轻资产不对赌——招商板块不背对赌，降低风险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招商佣金——按成交首年有效净租金 × 2 个月取酬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月费转化——原月费并入出海专项服务费（换名）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出海重收费——强化国际出海职能并在此收费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合作报价总表 · 招商轻运营（不对赌）+ 出海重收费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8078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5100" y="1572768"/>
            <a:ext cx="478551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612" y="1572768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572768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5100" y="199339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成交后 2 个月租金（首年不重复）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612" y="199339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199339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市场标准，作招商板块主收费；招商不对赌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59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68880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活动执行费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5100" y="246888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612" y="246888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6888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含策划执行、导师及物料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3484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4436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挂牌费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5100" y="294436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612" y="294436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4436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10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19856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19856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媒体流量费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5100" y="3419856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0612" y="341985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1985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官媒背书 5 万 + 自媒体/投流 5 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858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95344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85100" y="3895344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出海协议框架内计收（由原月费转化，非月费）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612" y="389534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合作方/合资公司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89534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 2–3 人出海团队，强化国际出海职能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6130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7083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7083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出海撮合佣金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85100" y="437083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612" y="437083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合资公司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7083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国际出海收费重点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3679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84632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85100" y="484632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工商/政策/知产/财税法务/融资/出海撮合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0612" y="484632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3093" y="484632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3122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32180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32180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5100" y="532180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612" y="532180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53093" y="532180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78777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422452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VALUE JUSTIFICATION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收费点价值论证 · 逻辑 / 价值 / 怎么做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36192"/>
            <a:ext cx="106344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36192"/>
            <a:ext cx="148882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6066" y="1536192"/>
            <a:ext cx="308399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背后逻辑（凭什么）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0062" y="1536192"/>
            <a:ext cx="329668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给中建的可衡量价值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6748" y="1536192"/>
            <a:ext cx="276496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怎么做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90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38528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6066" y="1938528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牌照+政策+社群自带客流，110:1 漏斗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0062" y="1938528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去化提速、租金回收提前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6748" y="1938528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牌照锚定+政策礼包+社群/活动导流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04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14016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14016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活动 30 场/30 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66066" y="2414016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高频活动引流+完成载体 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50062" y="2414016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转化租客、达标补贴 10–20 万/年、媒体声量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6748" y="2414016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6 类活动打包，投流引流→线下转化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87997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889504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媒体 10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6066" y="2889504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官媒背书 + 自媒体投流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0062" y="2889504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项目背书、招商曝光 ≥150 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6748" y="2889504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官媒 5 万 + 自媒体/投流 5 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355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36499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364992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政策申报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6066" y="3364992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挂牌科企服务中心+科企联+复旦系资质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0062" y="3364992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企业补贴到账、平台服务费/分成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6748" y="3364992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见「政策申报能力与清单」页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309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40480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企业服务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66066" y="3840480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联合公司承接注册/申报/知产/财税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0062" y="3840480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企业黏性、第二收入曲线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6748" y="3840480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联合公司经营分成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0644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1596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15968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出海撮合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66066" y="4315968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领事/大湾区/高校/国际英才资源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50062" y="4315968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海外订单、租金反哺、合资收益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6748" y="4315968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见出海板块（全链条+领事路径）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7819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791456"/>
            <a:ext cx="148882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国际会客厅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66066" y="4791456"/>
            <a:ext cx="308399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领事资源合作方 + 高端背书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50062" y="4791456"/>
            <a:ext cx="329668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外资对接、高端招商、≥80 万收益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6748" y="4791456"/>
            <a:ext cx="276496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见「会客厅收益逻辑与机制」页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2574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1536192"/>
            <a:ext cx="31750" cy="373075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＊每个收费点＝背后逻辑（我们凭什么）+ 给中建的可衡量价值 + 具体怎么做；后续各页逐点展开。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8B7BFF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58008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203" y="2286000"/>
            <a:ext cx="335767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官媒背书 5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203" y="2670048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党媒/央媒/上海主流媒体宣发，项目背书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1360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145536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45536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自媒体+投流 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0203" y="3145536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小红书投流 + 账号代运营 + 短视频/直播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61149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621024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注册自有账号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0203" y="3621024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园区/IP 官方号，沉淀私域流量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08698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4096512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96512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活动协同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203" y="4096512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活动招募与内容基于活动产出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5624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2286000"/>
            <a:ext cx="31750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媒体合作报价 · 完整生态传播包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7635240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27632"/>
            <a:ext cx="3206800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4040" y="1627632"/>
            <a:ext cx="9925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6621" y="1627632"/>
            <a:ext cx="343585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原创内容生产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4040" y="2066544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621" y="2066544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结合品牌定位，品牌宣传稿 + 营销活动稿原创采写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3947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33472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33472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中央级/全国性/上海主流媒体宣发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4040" y="2633472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10 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6621" y="2633472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央视/人民网/新华网/第一财经/澎湃/界面等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90875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200400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全国社交平台流量投放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4040" y="3200400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6621" y="3200400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抖音 / 今日头条信息流，投放上海（不含短视频拍摄制作）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57803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767328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67328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营销策划与舆情管理咨询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040" y="3767328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≤2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6621" y="3767328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营销策划咨询 + 媒体舆情协调处理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324731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1627632"/>
            <a:ext cx="31750" cy="27066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54880"/>
            <a:ext cx="7635240" cy="12344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折后总价　</a:t>
            </a:r>
            <a:r>
              <a:rPr sz="1400" b="1">
                <a:solidFill>
                  <a:srgbClr val="E9C27C"/>
                </a:solidFill>
                <a:latin typeface="Microsoft YaHei"/>
              </a:rPr>
              <a:t>5 万元</a:t>
            </a:r>
            <a:r>
              <a:rPr sz="1400" b="1">
                <a:solidFill>
                  <a:srgbClr val="F5F1FF"/>
                </a:solidFill>
                <a:latin typeface="Microsoft YaHei"/>
              </a:rPr>
              <a:t>（官媒背书包，曝光 ≥ 150 万；为 10 万/年媒体预算之一）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4068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交付：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合作结束提供完整投放报告（发布链接证明 + 曝光量证明 + 投放分析）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1627632"/>
            <a:ext cx="2798064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13648" y="1627632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24544" y="1810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服务周期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4544" y="2231136"/>
            <a:ext cx="2249424" cy="1435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自签约起至 2026.12.31；服务期满可续，乙方享优先续约权。合作内容可按宣传需要调整。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3913632"/>
            <a:ext cx="2798064" cy="207568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3913632"/>
            <a:ext cx="64008" cy="207568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24544" y="4096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传播策略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4480560"/>
            <a:ext cx="2249424" cy="14173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主流媒体引领，权威发声定调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抖音 + 头条：广度覆盖 + 深度触达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信息流精准算法，锁定目标人群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 月租金 · 成交计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B7B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原月费转化 · 出海协议内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C77D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6D6B6"/>
                </a:solidFill>
                <a:latin typeface="Microsoft YaHei"/>
              </a:rPr>
              <a:t>+ 10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媒体流量费（含投流）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36977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9891" y="3886200"/>
            <a:ext cx="352226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29891" y="42885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招商板块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29891" y="47457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佣金 2 月 + 活动 30 万 + 媒体 10 万（不对赌）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出海板块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29891" y="52029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出海专项服务费 + 撮合佣金（重收费）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招商轻资产不对赌，降低双方风险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佣金按 2 个月计，贴合本次沟通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月费转出海专项服务费，出海为增长引擎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 + 联合公司 + 国家会客厅第二曲线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GLOBAL &amp; CONSUL SALON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出海撮合与国际会客厅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国家会客厅 · 领事资源 · 出海撮合业务闭环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NATIONAL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国际会议厅 · 「国家会客厅」（旗舰载体）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72768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载体定位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联合国际领事资源合作方（驻沪数十国总领事网络与领团背书），依托上海核心区地标高层空间，设「国家会客厅」——外事接待 · 文化展示 · 招商对接 · 企业服务四位一体。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06040"/>
            <a:ext cx="64008" cy="30632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三方协同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复旦政策研究中心：智库背书 / 课题 / 培训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杨浦科企联：企业会员 / 获客 / 招商落地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领事资源合作方：领事网络 / 空间 / 活动落地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06040"/>
            <a:ext cx="64008" cy="3063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六大产品线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国家会客厅（旗舰，冠名 + 会籍）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领事专题活动（小 / 中 / 大三档）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高端商务出海深度游 · 企业出海对接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会员会籍 · 文化传播 / 智库 / 培训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06040"/>
            <a:ext cx="64008" cy="3063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收入来源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国家冠名 80–300 万 / 联合冠名 30–80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企业常驻会籍 10–30 万 / 单场地 + 领事出席 3–10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园区·政府招商包 30–100 万 / 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出海：单国服务包 20–50 万 / 落地佣金 1–5%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＊为商务保密，本页对合作方名称作模糊化处理；具体主体、空间与权益以正式协议为准。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出海撮合业务 · 合作模式与闭环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6002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展厅免租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5F 展厅对优质企业免租，约定租金标准 + 物业费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2" y="1627632"/>
            <a:ext cx="64008" cy="16002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13048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订单扣点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出海达成订单后按扣点反哺租金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627632"/>
            <a:ext cx="64008" cy="16002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超额分成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超出租金部分进入合资公司收益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7384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51976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27632"/>
            <a:ext cx="64008" cy="16002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合资分配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运营平台方与合作方按约定分配（平台方约 30%）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4290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收入模式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出海撮合平台利润：单项目 1–30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落地成功佣金：项目额 1%–3%（按行业浮动）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展厅订单扣点反哺租金 + 超额进合资公司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产业撮合会员体系：年度顾问 / 游学 / 高级专家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国家会客厅：冠名 / 会籍 / 园区政府招商包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34290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落地要点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行业聚焦：供应链（玩具/毛绒/潮玩 OEM→品牌）+ 内容（AI 短剧/IP 授权）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对接层级：连领事 → 对接所在国商务部/部长 → 洽谈落地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团队：初期各部门抽调兼职（1 人起），成熟设全职（约 3 人），单独成立公司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沪穗联动：与广州自贸港/电商出海项目协同，两地共享资源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FULL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出海全链条 · 流程与服务（运营框架）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集聚入驻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3F 孵化办公
5F 展贸集群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9464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9464" y="160020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内容与产品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AIGC/AI 短剧制作
IP 授权 · 选品打样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160020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海外通路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TikTok/领英/短剧
跨境电商 · 展销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3912" y="160020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订单撮合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5F 展厅接单
领事/商务对接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600200"/>
            <a:ext cx="64008" cy="18288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履约交付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报关物流 · 结汇
财税合规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3952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增长复购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品牌沉淀 · 复投
反哺租金/合资收益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3657600"/>
            <a:ext cx="64008" cy="2148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内容出海服务链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AI 短剧：剧本→AIGC 制作→翻译配音→TikTok/海外短剧平台分发→广告/付费分成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数字 IP：国漫 IP 海外独家授权 → 海外手办/玩具开发 → 跨境渠道销售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领英出海：LinkedIn B2B 海外获客 / 品牌出海 / 决策人触达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0488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0488" y="3657600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货品出海服务链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供应链：玩具/毛绒/潮玩 OEM → 设计赋能 → 品牌化 → 海外订单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通路：TikTok / 领英 / 跨境电商（亚马逊·TikTok Shop）+ 海外展销 + 自贸港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配套：报关物流 · 出口退税 · 结汇 · 财税法务（联合公司承接）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＊全链条服务由运营平台 + 联合公司 + 出海合作资源共同交付；收益按撮合佣金/分成计入合资公司。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CONSULATE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领事馆路径 · 产业集聚 → 海外订单达成逻辑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产业集聚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各类产业企业集聚平台：
供应链 / IP 内容 / AI 应用
形成可展示的产品池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16002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4553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需求画像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按国别梳理供需清单：
企业出海意向 × 国别
市场准入与政策研判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74920" y="1600200"/>
            <a:ext cx="64008" cy="23774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领事撮合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国家会客厅 / 领事专题活动：
连领事 → 对接所在国
商务部 / 部长级洽谈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317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3760" y="1600200"/>
            <a:ext cx="64008" cy="237744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321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Arial"/>
              </a:rP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商务对接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国别推介会 / 买家团来访 /
出海考察团（B2B 配对）
展厅选品 · 样品确认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7260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1600200"/>
            <a:ext cx="64008" cy="23774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9205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Arial"/>
              </a:rP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205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订单落地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205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签约 → 履约交付 → 结算
订单扣点反哺租金
超额进合资公司分配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06240"/>
            <a:ext cx="10634472" cy="16916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31596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双向撮合方法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「走出去」与「引进来」同一套领事通路，双向取酬。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709160"/>
            <a:ext cx="512064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走出去：企业产品池 → 国别推介 → 海外买家 → 订单出口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引进来：领事引荐海外品牌/买家 → 5F 展厅落地 → 采购中国供应链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709160"/>
            <a:ext cx="502920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高频活动养通路：领事午餐会/国别论坛/买家团（纳入年度 30 场）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取酬：撮合佣金 1%–3% + 单国服务包 + 会籍 + 订单扣点反哺租金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GBA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大湾区出海资源叠加 · 复旦系 + 高校（沪穗联动）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复旦珠海创新研究院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九大公共平台（集成电路/大数据智算/工业仿真/海洋科技/物联网智慧城市/先进材料）；「手心研发·手背转化」；服务横琴粤澳深合区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27632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葡语国家科技合作平台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横琴对接葡语系（巴西/葡萄牙/安哥拉/莫桑比克）唯一国家级平台；市场调研·本地匹配·海外展会·合规咨询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27632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珠澳双循环出海窗口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澳门自由港 + 葡语商贸平台；「内地研发 + 澳门展销 + 葡语国家落地」；设海外总部/海外仓中转，规避关税壁垒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200400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粤港澳复旦成果转化中心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复旦技术转移落地南沙；技术授权海外/国际专利/海外临床与认证；港澳跨境通道 + 粤科复旦母基金等出海基金矩阵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200400"/>
            <a:ext cx="64008" cy="14173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大湾区精准医学研究院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省市南沙复旦五方共建；南沙唯一万笼级实验动物中心；肿瘤/代谢/生殖精准诊疗、类器官、医疗器械转化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20040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深圳复旦研究院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河套深港科创合作区；AI/前沿医学/集成电路；联动香港，打通深港产学研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28032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377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高校出海资源　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暨南大学 · 华侨大学 · 广东外语外贸大学 · 广州大学黄埔研究院 + 复旦广州校友会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349240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广外＝出海第一梯队：小语种（东盟/葡语/西语）· 海丝国别智库 · 跨境合规 · 国际贸易 · 海外市场调研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广州大学黄埔研究院：数字经济 · 跨境新媒体 · 海外独立站 · 智能制造国际转化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STRATEGIC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战略资源探讨 · 东方枢纽 / 谷歌 / 领英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东方枢纽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国际商务合作区 + 综保区 + 空铁枢纽（临港/浦东方向）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探讨：出海企业「境内关外」通道、保税展示、国际中转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作用：为出海订单与海外仓提供口岸与政策承接点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谷歌 Google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探讨：Google Ads / YouTube 出海投放与海外获客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探讨：谷歌在领事馆/国别活动中的技术与流量角色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作用：叠加海外数字营销通路，服务内容与货品出海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领英 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海外决策人触达、品牌出海、海外招募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与展会/领事撮合互补，沉淀海外客户资产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作用：国际出海职能的线上主通路之一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说明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本页为战略资源探讨方向（待落实），用以强化国际出海职能并在出海板块形成收费。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38928"/>
            <a:ext cx="10058400" cy="7315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收费落点：出海专项服务费 + 撮合佣金 + 海外营销投放代运营 + 国家会客厅冠名/会籍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东方枢纽与谷歌合作以实际对接结果为准，不构成承诺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GOOGLE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谷歌合作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以园区/平台名义对接谷歌出海生态（Google Ads / YouTube / Google Cloud），为入驻企业提供海外投放开户、代运营与出海营销培训；并探讨谷歌在领事馆/国别活动中的技术与流量支持角色。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海外广告开户、充值与合规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YouTube / 搜索出海投放代运营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出海营销培训与认证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谷歌出海资源与国别活动对接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投放代运营 1–3 万/月/家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或按投放额 10%–15% 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开户返点分成（平台侧）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培训 按场/人计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代运营人力（兼职分摊）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投放媒介费由客户承担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账户合规/风控成本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出海专项服务费 + 海外营销代运营 + 返点分成。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7BFF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探讨中 / 待落实，以实际对接结果为准，不构成承诺。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LINKEDIN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领英合作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以平台名义对接领英营销解决方案，为出海企业做 B2B 品牌页、广告投放、决策人触达与海外招募；纳入出海全链条线上主通路，与展会/领事撮合互补。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企业领英账号搭建与代运营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广告投放 / 决策人触达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 KOL / 人才招募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领英出海培训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账号搭建 0.5–1 万/家（一次性）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 1–3 万/月/家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或按投放额 10%–15% 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培训 按场计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代运营人力（兼职分摊）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投放媒介费由客户承担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领英资源合作分成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出海专项服务费 + 代运营分成。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77DFF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探讨中 / 待落实，沉淀海外客户资产为长期价值。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EAST-HUB PARTNERSHIP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东方枢纽合作 · 合作模式展开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对接东方枢纽（浦东综保区 / 国际商务合作区 / 空铁枢纽），为出海企业提供境内关外通道、保税展示、海外仓与国际中转、口岸与政策承接，作为出海物流与合规落地节点。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42032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保税展示 / 展销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海外仓 / 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跨境电商 / 出口退税通道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口岸政策承接与合规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542032"/>
            <a:ext cx="34015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542032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249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08960"/>
            <a:ext cx="28529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服务对接费（待定）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撮合佣金（待定）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仓储 / 中转分成（待定）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542032"/>
            <a:ext cx="338328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1" y="2542032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724912"/>
            <a:ext cx="288950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108960"/>
            <a:ext cx="283464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合作模式未明，成本待定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983480"/>
            <a:ext cx="64008" cy="10058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收费落点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若落地：服务对接费 + 撮合佣金 + 仓储分成。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0468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8BB8"/>
                </a:solidFill>
                <a:latin typeface="Microsoft YaHei"/>
              </a:rPr>
              <a:t>状态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中保区（东方枢纽）合作模式尚未明确，暂不纳入本次预算；作为加分项后补（主干先行·枝叶后补）。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GLOBAL TALENT &amp;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出海板块补充 · 国际英才 + 出海运营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7086600" cy="44348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682496"/>
            <a:ext cx="6766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国际英才 · 沪动营（留学生丝路英才计划）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2103120"/>
            <a:ext cx="6766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7BFF"/>
                </a:solidFill>
                <a:latin typeface="Microsoft YaHei"/>
              </a:rPr>
              <a:t>定位　</a:t>
            </a:r>
            <a:r>
              <a:rPr sz="1100" b="0">
                <a:solidFill>
                  <a:srgbClr val="C6BAEA"/>
                </a:solidFill>
                <a:latin typeface="Microsoft YaHei"/>
              </a:rPr>
              <a:t>「沪联世界·智创未来」——财大/复旦/同济三校联合，服务逾万名在校留学生，培养懂中国·通国际的一带一路桥梁人才。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788920"/>
            <a:ext cx="6858000" cy="20116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三大体系：思想引领（丝路青年领袖峰会）→ 能力提升（1+N 双导师·跨境电商实训）→ 实践转化（跨境贸易服务中心·全球供应链）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出海用途：双语双市场人才、TikTok 直播选品、海外品牌孵化、连接一带一路国家母国市场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百千万工程（3 年）：孵化 100 跨境团队 / 促成 1000 人就业 / 培养 10000 复合人才；目标促成 10 亿跨境贸易、30 个海外品牌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收入落点：训练营/创投大赛/跨境撮合佣金/企业结对 + 留学生政策项目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54480"/>
            <a:ext cx="322783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554480"/>
            <a:ext cx="64008" cy="44348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5" y="1737360"/>
            <a:ext cx="27340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出海运营（运营）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5" y="2121408"/>
            <a:ext cx="267919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出海代运营：领英/谷歌/TikTok/短剧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海外账号搭建与投放代运营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出海活动运营 + 买家团/展销运营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落地陪跑：连领事→部长→洽谈→落地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团队：初期兼职 → 成熟全职约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收费：出海专项服务费 + 代运营 + 撮合佣金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出海费用清单 · 挂牌 / 代运营 / 资源导入（轻运营）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方式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出海板块以「轻运营」推进：以运营活动 + 资源对接为主，不重投入；活动场次或按招人方式后续再定。以下为出海成本项（供甲方预算）。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487168"/>
            <a:ext cx="10634472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87168"/>
            <a:ext cx="212689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费用项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4134" y="2487168"/>
            <a:ext cx="5742614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6748" y="2487168"/>
            <a:ext cx="2764962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金额（含单位）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165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926080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① 出海挂牌费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4134" y="2926080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 / 北欧会客厅挂牌 + 领事资源背书 + 出海身份/牌照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6748" y="2926080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10–20 万元（一次性 / 按牌）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7492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584448"/>
            <a:ext cx="10634472" cy="65836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584448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② 代运营费用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3584448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领英 / 谷歌 / 短剧 / 社媒 海外账号搭建与投放代运营（媒介投放费由企业承担）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6748" y="3584448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打包 15–30 万/年（或 1–3 万/月/家）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233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242816"/>
            <a:ext cx="212689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③ 资源导入费用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04134" y="4242816"/>
            <a:ext cx="5742614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大湾区 / 复旦系 / 高校 / 领事 / 买家团 / IP 资源对接与导入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6748" y="4242816"/>
            <a:ext cx="2764962" cy="65836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打包 10–20 万/年（或按项目 1–5 万/次）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89165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2487168"/>
            <a:ext cx="31750" cy="241401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" y="5029200"/>
            <a:ext cx="10634472" cy="9601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029200"/>
            <a:ext cx="64008" cy="9601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12064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费用合计（示意）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一次性：挂牌 10–20 万；年度：代运营 + 资源导入 约 25–50 万/年 → 首年约 35–70 万。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5522976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C6BAEA"/>
                </a:solidFill>
                <a:latin typeface="Microsoft YaHei"/>
              </a:rPr>
              <a:t>备注　</a:t>
            </a:r>
            <a:r>
              <a:rPr sz="1050" b="0">
                <a:solidFill>
                  <a:srgbClr val="C6BAEA"/>
                </a:solidFill>
                <a:latin typeface="Microsoft YaHei"/>
              </a:rPr>
              <a:t>不含出海撮合佣金（平台利润 1–30 万/项目 + 落地 1%–3%，按成交另计）与海外媒介投放费（企业承担）；活动/招人方式待定后细化。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收入结构（3F + 5F 整体）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收入逻辑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园区空间盘（租金/物业）＝出海反哺来源；运营平台收入＝招商佣金（强化）+ 出海专项服务费 + 撮合分成 + 经营性/补贴。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432304"/>
            <a:ext cx="5230368" cy="33832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432304"/>
            <a:ext cx="64008" cy="33832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① 园区空间盘（甲方口径 · 出海反哺来源）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017520"/>
            <a:ext cx="227136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科目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3201" y="3017520"/>
            <a:ext cx="266639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4015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3F 办公租金 2850㎡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3201" y="34015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400 万（85% 去化 · ~4.5 元/㎡/天）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587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5F 展贸租金 + 物业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3201" y="38587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300 万（部分免租 · 订单扣点反哺）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3159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6600㎡ 物业费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3201" y="43159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按 13.8 元/㎡/月实测核算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7731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空间盘合计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3201" y="47731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900 万/年（满租稳定期）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432304"/>
            <a:ext cx="5230368" cy="33832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432304"/>
            <a:ext cx="64008" cy="33832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7376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② 运营平台收入（乙方口径）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017520"/>
            <a:ext cx="1975104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收入类别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017520"/>
            <a:ext cx="296265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4015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4015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 月租金/成交（按实际去化）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587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活动 + 媒体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38587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 30 万 + 媒体 10 万 + 挂牌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3159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43159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原月费转化，出海协议内计收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7731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出海撮合 + 增值分成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47731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150–450 万（联合公司）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＊示意测算，用于沟通商业空间；租金/去化/分成以物业条件、签约与执行节奏为准。运营平台稳定期年收入区间约 380–740 万。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成本结构与盈亏测算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50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5230368" cy="3246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32461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682496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成本结构（运营平台 · 年化）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2139696"/>
            <a:ext cx="4937760" cy="3657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139696"/>
            <a:ext cx="3061411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成本科目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3243" y="2139696"/>
            <a:ext cx="1876348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249593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50545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团队人力（在地 2 + 出海 1–3 + 兼职）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250545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100–180 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289826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2907792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2907792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活动执行（约 30 场）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3243" y="2907792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" y="330060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310128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媒体 + 网络投流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3243" y="3310128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10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" y="370293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2" y="3712464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3712464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运营杂费 / 差旅 / 办公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3243" y="3712464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20–40 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" y="41052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4114800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硬件装修摊销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3243" y="4114800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甲方为主，乙方轻资产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" y="45076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2" y="4517136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51713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成本合计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3243" y="451713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160–260 万/年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" y="490994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" y="2139696"/>
            <a:ext cx="31750" cy="27797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81344" y="155448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554480"/>
            <a:ext cx="64008" cy="713232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155448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Microsoft YaHei"/>
              </a:rPr>
              <a:t>保守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155448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~380 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155448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~185 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155448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净 +195 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237744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1344" y="2377440"/>
            <a:ext cx="64008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237744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中性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237744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~520 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237744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~220 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237744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净 +300 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1344" y="320040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1344" y="3200400"/>
            <a:ext cx="64008" cy="713232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9088" y="320040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Microsoft YaHei"/>
              </a:rPr>
              <a:t>乐观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320040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~740 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320040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~260 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320040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Microsoft YaHei"/>
              </a:rPr>
              <a:t>净 +480 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盈亏与现金流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招商轻资产不对赌、佣金强化保基本盘；出海专项服务费 + 撮合为最大增长弹性，三情景净收益均为正。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5486400"/>
            <a:ext cx="10058400" cy="45720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2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轻资产：装修硬件以甲方投入为主，乙方前期投入低、回正快；补贴与增值/出海形成第二增长曲线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6053328"/>
            <a:ext cx="10607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＊三情景为示意测算区间，实际以签约、去化与出海落地为准。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政策申报 · 凭什么我们能申 + 本项目可申清单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51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3736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凭什么我们能申报（能力/资质）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817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挂牌科企服务中心 + 依托科企联，政务快通道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拟入驻一网通办创新券平台，作服务机构核销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复旦系（技术转移/珠海院/成果转化中心）+ 高校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专业申报团队 + 过往经验（高企/专精特新）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载体认定路径：载体/成果转化平台/OPC 社区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54480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554480"/>
            <a:ext cx="64008" cy="22860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3736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本项目可申报清单（具体）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21408"/>
            <a:ext cx="4681728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企业侧：高企 20 万、专精特新 10/30 万、科小备案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企业侧：AI 房租补贴 ≤100 万/年、算力 ≤50%、创新券 ≤30 万/年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企业侧：微短剧专项（智能体/优秀剧/厂牌/出海）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载体侧：成果转化平台运营 ≤100 万/年、服务业引导资金 ≤300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载体侧：活动/载体补贴（满年 10–20 万）、载体认定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005072"/>
            <a:ext cx="10634472" cy="1874519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005072"/>
            <a:ext cx="64008" cy="1874519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148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Microsoft YaHei"/>
              </a:rPr>
              <a:t>政策 → 收入怎么算（平台可实现现金）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526280"/>
            <a:ext cx="5120640" cy="12801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申报服务费：科小 0.3–2 万/家；高企/专精特新 2–8 万/家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成功分成：补贴到账额 5%–15%（以兑现为准）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载体运营补贴：认定+满年约 10–20 万/年（直接到平台）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526280"/>
            <a:ext cx="5029200" cy="12801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前提：先取得相应认定（载体/服务机构），摸排已列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口径：补贴主体到企业/载体，平台按服务费+分成取酬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0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先陪 3–5 家样板跑通，形成可复制申报流水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INCOME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政策申报收入（能否拿到现金）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52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10634472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3403031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政策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0271" y="1554480"/>
            <a:ext cx="2977652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金额（含单位）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7923" y="1554480"/>
            <a:ext cx="255227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平台可实现现金（单位）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0196" y="1554480"/>
            <a:ext cx="1701515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现金确定性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90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38528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载体运营/活动补贴（科技服务业·成果转化平台）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0271" y="1938528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认定后≤100 万/年；运营满年约 10–20 万/年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7923" y="1938528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直接到平台 10–20 万/年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0196" y="1938528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现金·较确定（需认定+满年）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31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40864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340864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高新技术企业认定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0271" y="2340864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首次 20 万/次（企业·一次性）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3" y="2340864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申报服务费 2–8 万/家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196" y="2340864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7336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743200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专精特新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0271" y="274320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市级 10 / 国家小巨人 30 万（企业·一次性）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7923" y="2743200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服务费 2–8 万/家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196" y="2743200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1360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145536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145536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科技型中小企业备案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80271" y="3145536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资格（企业·无直接现金）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57923" y="3145536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服务费 0.3–2 万/家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0196" y="3145536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现金·确定（服务费）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5383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547872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AI/大数据房租补贴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0271" y="3547872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2 元/天/㎡·≤100 万/年（企业·3 年）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7923" y="3547872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代申请成功费 到账 5%–15%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0196" y="3547872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现金·依到账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39406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3950208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3950208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政府补贴项目（各类）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80271" y="3950208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视项目（企业）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7923" y="3950208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成功费 到账额 5%–15%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10196" y="3950208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现金·以兑现为准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343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352544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科技创新券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80271" y="4352544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企业≤30 万·团队≤10 万/年（抵付服务）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57923" y="4352544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作服务机构核销分成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10196" y="4352544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现金·需入驻创新券平台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745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54880"/>
            <a:ext cx="10634472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754880"/>
            <a:ext cx="340303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E9C27C"/>
                </a:solidFill>
                <a:latin typeface="Microsoft YaHei"/>
              </a:rPr>
              <a:t>算力补贴 + 云折扣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80271" y="475488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最高 50%（企业）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7923" y="4754880"/>
            <a:ext cx="255227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— 招商抓手（非平台现金）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10196" y="4754880"/>
            <a:ext cx="1701515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非现金（招商用）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1476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54480"/>
            <a:ext cx="31750" cy="36027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" y="5440680"/>
            <a:ext cx="102412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关键提示　</a:t>
            </a:r>
            <a:r>
              <a:rPr sz="1050" b="0">
                <a:solidFill>
                  <a:srgbClr val="F5F1FF"/>
                </a:solidFill>
                <a:latin typeface="Microsoft YaHei"/>
              </a:rPr>
              <a:t>计入预算的政策收入＝平台可实现现金（申报服务费 + 成功分成 + 载体运营补贴）；产业补贴主体流向企业/载体，平台按约定分成或成功费取酬。未来预判：微短剧专项、模塑申城三券、YOUNG立方直播券/活动补贴（窗口开放后追加）。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SALON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国际会客厅 · 收益逻辑与合作机制（≥80 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53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914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合作机制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三方协同：平台（运营策划+活动执行+出海撮合）× 领事资源合作方（领事网络+空间）× 复旦政策研究中心/科企联（背书+获客）；以「国别/北欧会客厅」为载体，按 冠名 + 会籍 + 活动 + 出海对接 收费，收益按项目在三方间分润。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≥80 万收益如何构成（保守单一情景）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017520"/>
            <a:ext cx="106344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276496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收益项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2202" y="3017520"/>
            <a:ext cx="4891857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4059" y="3017520"/>
            <a:ext cx="2977652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年收益（保守）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410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198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国家/联合冠名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2202" y="34198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 个 × 30–80 万/年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4059" y="34198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40 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675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7705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770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企业常驻会籍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2202" y="38770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3–5 家 × 10 万/家/年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4059" y="38770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30–50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47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342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单场活动（领事出席）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42202" y="43342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6–8 场 × 3–8 万/场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4059" y="43342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20–40 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819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79145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7914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出海对接服务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2202" y="47914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单国服务包 20–50 万/项目 × 1–2 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4059" y="47914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20–50 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391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248656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E9C27C"/>
                </a:solidFill>
                <a:latin typeface="Microsoft YaHei"/>
              </a:rPr>
              <a:t>合计（毛收益）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2202" y="5248656"/>
            <a:ext cx="4891857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以上累计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34059" y="5248656"/>
            <a:ext cx="297765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110–180 万 → 分润/成本后平台 ≥80 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696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3017520"/>
            <a:ext cx="31750" cy="26883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＊给中建的价值：以「国家为单位」的招商与外资对接入口、高端背书与外事资源；收益为保守测算，最终以合作方协议与执行为准。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SALON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国际会客厅（北欧会客厅）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54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896112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8961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合作模式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联合国际领事资源合作方，以「北欧/国别会客厅」为载体，在核心区高层空间做外事接待·文化展示·招商对接·企业出海；平台负责运营策划、活动执行与出海撮合，按「冠名 + 会籍 + 活动 + 出海对接」收费，与领事资源合作方分润。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78608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64008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6974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收费（合理·不高估）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154680"/>
            <a:ext cx="4937760" cy="34747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154680"/>
            <a:ext cx="2073859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691" y="3154680"/>
            <a:ext cx="2863900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金额（单位）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49262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502152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冠名/联合冠名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691" y="3502152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30–80 万/年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766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86200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86200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企业会籍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5691" y="3886200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10 万/家/年（保守 3–5 家）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2607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270248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单场活动（领事出席）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5691" y="4270248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3–8 万/场（6–8 场/年）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64477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654296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654296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出海对接服务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5691" y="4654296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单国服务包 20–50 万/项目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02881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154680"/>
            <a:ext cx="31750" cy="188366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578608"/>
            <a:ext cx="5230368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578608"/>
            <a:ext cx="64008" cy="22860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26974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154680"/>
            <a:ext cx="4937760" cy="34747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154680"/>
            <a:ext cx="2073859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5515" y="3154680"/>
            <a:ext cx="2863900" cy="34747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金额（单位）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49262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502152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5515" y="3502152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3–5 万/场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766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86200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86200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领事/嘉宾对接接待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65515" y="3886200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2–5 万/场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2607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270248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空间/场地分摊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5515" y="4270248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按次或年（合作方空间）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64477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654296"/>
            <a:ext cx="4937760" cy="38404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654296"/>
            <a:ext cx="207385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合作方分润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65515" y="4654296"/>
            <a:ext cx="286390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领事资源方 40%–50%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02881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154680"/>
            <a:ext cx="31750" cy="188366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77240" y="5010912"/>
            <a:ext cx="10634472" cy="9601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5102352"/>
            <a:ext cx="1024128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合理预估（不高估）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首年收入 ~80–120 万，平台净 ~20–40 万/年；成熟期收入 ~150–250 万，平台净 ~50–90 万/年（分润与成本后）。数据为保守测算，待与合作方最终确认。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ENTERPRISE SERVICE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财务测算 · 企业服务（项目 / 收费 / 成本）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55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54480"/>
            <a:ext cx="106344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212689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554480"/>
            <a:ext cx="53172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收费（含单位）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554480"/>
            <a:ext cx="319034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成本（含单位）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1947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9568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工商注册 · 代账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19568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注册引流免费；代账 3000–6000 元/年/家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19568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 + 人力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404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4140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4140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政策申报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4134" y="24140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普通 0.3–2 万/项；高企/专精特新 2–8 万/项；补贴成功费 到账 5%–15%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4140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人力 + 材料杂费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8616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28712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知识产权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04134" y="28712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商标 800–2000 元/件；软著 2000–5000 元/件；专利代理 5000–1 万/件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28712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3188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3284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3284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财税 · 法务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4134" y="33284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顾问 1–5 万/年/家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3284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第三方分成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37760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融资顾问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7856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成功佣金 融资额 1%–3%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37856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人力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2332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242816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242816"/>
            <a:ext cx="212689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出海撮合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4242816"/>
            <a:ext cx="53172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242816"/>
            <a:ext cx="319034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出海团队（单列）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469049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15544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77240" y="5166360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166360"/>
            <a:ext cx="64008" cy="9144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248656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成本与人力（必列示）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企业服务暂不设专职，但属必做工作：按兼职/共享人力列示 约 15–30 万/年（社保+人力）。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6509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E9C27C"/>
                </a:solidFill>
                <a:latin typeface="Microsoft YaHei"/>
              </a:rPr>
              <a:t>　　　　　　　　　　　</a:t>
            </a:r>
            <a:r>
              <a:rPr sz="1050" b="0">
                <a:solidFill>
                  <a:srgbClr val="C6BAEA"/>
                </a:solidFill>
                <a:latin typeface="Microsoft YaHei"/>
              </a:rPr>
              <a:t>第三方服务分成 按收入 30%–50%；系统/材料杂费 约 2–5 万/年。合理预估：首年企业服务收入(不含出海) ~30–60 万，净利 ~10–25 万。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56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57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58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59</a:t>
            </a:r>
            <a:r>
              <a:rPr sz="1050" b="0">
                <a:solidFill>
                  <a:srgbClr val="9486C4"/>
                </a:solidFill>
                <a:latin typeface="Arial"/>
              </a:rPr>
              <a:t> / 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Arial"/>
              </a:rPr>
              <a:t>Q1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轻资产运营（招商不对赌）：佣金 2 月 + 出海专项服务费 + 增值分成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B7BFF"/>
                </a:solidFill>
                <a:latin typeface="Arial"/>
              </a:rPr>
              <a:t>Q2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招商：佣金 2 月 + 活动 30 万 + 媒体 10 万 + 挂牌；办公3.3/物业13.8/待租8间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C77DFF"/>
                </a:solidFill>
                <a:latin typeface="Arial"/>
              </a:rPr>
              <a:t>Q3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30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60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90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先签 6600㎡ 单项目专项（单项目单核算），三年跑通三年均 85% 去化后，协同周边 ≤2 项目并复制模式。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0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9C27C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5F1FF"/>
                </a:solidFill>
                <a:latin typeface="Microsoft YaHei"/>
              </a:rPr>
              <a:t>让上海创智汇成为杨浦五角场
</a:t>
            </a:r>
            <a:r>
              <a:rPr sz="3200" b="1">
                <a:solidFill>
                  <a:srgbClr val="E9C27C"/>
                </a:solidFill>
                <a:latin typeface="Microsoft YaHei"/>
              </a:rPr>
              <a:t>AI + 数字内容</a:t>
            </a:r>
            <a:r>
              <a:rPr sz="3200" b="1">
                <a:solidFill>
                  <a:srgbClr val="F5F1FF"/>
                </a:solidFill>
                <a:latin typeface="Microsoft YaHei"/>
              </a:rPr>
              <a:t>的无界共创港与可复制样板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谈判集中汇报 v3.0</a:t>
            </a:r>
            <a:r>
              <a:rPr sz="1200" b="0">
                <a:solidFill>
                  <a:srgbClr val="9486C4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