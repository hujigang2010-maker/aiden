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89520" y="-1828800"/>
            <a:ext cx="6858000" cy="68580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8B7BFF">
                  <a:alpha val="22000"/>
                </a:srgbClr>
              </a:gs>
              <a:gs pos="100000">
                <a:srgbClr val="1A1140">
                  <a:alpha val="0"/>
                </a:srgbClr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2926080"/>
            <a:ext cx="5029200" cy="50292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C77DFF">
                  <a:alpha val="18000"/>
                </a:srgbClr>
              </a:gs>
              <a:gs pos="100000">
                <a:srgbClr val="1A1140">
                  <a:alpha val="0"/>
                </a:srgbClr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E9C27C"/>
              </a:gs>
              <a:gs pos="100000">
                <a:srgbClr val="C77DF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spc="300">
                <a:solidFill>
                  <a:srgbClr val="E9C27C"/>
                </a:solidFill>
                <a:latin typeface="Arial"/>
              </a:rPr>
              <a:t>SHANGHAI CHUANGZHIHUI · WUJIAOCHANG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389888"/>
            <a:ext cx="822960" cy="3175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1060704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</a:pPr>
            <a:r>
              <a:rPr sz="4000" b="1">
                <a:solidFill>
                  <a:srgbClr val="F5F1FF"/>
                </a:solidFill>
                <a:latin typeface="Microsoft YaHei"/>
              </a:rPr>
              <a:t>上海创智汇</a:t>
            </a:r>
            <a:r>
              <a:rPr sz="4000" b="1">
                <a:solidFill>
                  <a:srgbClr val="E9C27C"/>
                </a:solidFill>
                <a:latin typeface="Microsoft YaHei"/>
              </a:rPr>
              <a:t>
AI + 数字内容无界共创港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10128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spc="100">
                <a:solidFill>
                  <a:srgbClr val="C6BAEA"/>
                </a:solidFill>
                <a:latin typeface="Microsoft YaHei"/>
              </a:rPr>
              <a:t>6600㎡ 招商运营合作</a:t>
            </a:r>
            <a:r>
              <a:rPr sz="1600" b="0" spc="100">
                <a:solidFill>
                  <a:srgbClr val="9486C4"/>
                </a:solidFill>
                <a:latin typeface="Microsoft YaHei"/>
              </a:rPr>
              <a:t>　·　</a:t>
            </a:r>
            <a:r>
              <a:rPr sz="1600" b="0" spc="100">
                <a:solidFill>
                  <a:srgbClr val="C6BAEA"/>
                </a:solidFill>
                <a:latin typeface="Microsoft YaHei"/>
              </a:rPr>
              <a:t>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40480"/>
            <a:ext cx="106070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C6BAEA"/>
                </a:solidFill>
                <a:latin typeface="Microsoft YaHei"/>
              </a:rPr>
              <a:t>五角场片区城市更新 · 创智汇（一期）OPC + AI + IP 创新中心
</a:t>
            </a:r>
            <a:r>
              <a:rPr sz="1500" b="0">
                <a:solidFill>
                  <a:srgbClr val="C6BAEA"/>
                </a:solidFill>
                <a:latin typeface="Microsoft YaHei"/>
              </a:rPr>
              <a:t>3 楼 孵化器 + 办公 ≈ </a:t>
            </a:r>
            <a:r>
              <a:rPr sz="1500" b="1">
                <a:solidFill>
                  <a:srgbClr val="E9C27C"/>
                </a:solidFill>
                <a:latin typeface="Microsoft YaHei"/>
              </a:rPr>
              <a:t>2850㎡</a:t>
            </a:r>
            <a:r>
              <a:rPr sz="1500" b="0">
                <a:solidFill>
                  <a:srgbClr val="C6BAEA"/>
                </a:solidFill>
                <a:latin typeface="Microsoft YaHei"/>
              </a:rPr>
              <a:t>      5 楼 展厅 + 贸易 ≈ </a:t>
            </a:r>
            <a:r>
              <a:rPr sz="1500" b="1">
                <a:solidFill>
                  <a:srgbClr val="E9C27C"/>
                </a:solidFill>
                <a:latin typeface="Microsoft YaHei"/>
              </a:rPr>
              <a:t>3670㎡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029200"/>
            <a:ext cx="2560320" cy="475488"/>
          </a:xfrm>
          <a:prstGeom prst="roundRect">
            <a:avLst/>
          </a:prstGeom>
          <a:noFill/>
          <a:ln w="1587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29200"/>
            <a:ext cx="256032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F5F1FF"/>
                </a:solidFill>
                <a:latin typeface="Microsoft YaHei"/>
              </a:rPr>
              <a:t>以 AI + 数字内容 为产业主轴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5029200"/>
            <a:ext cx="2048256" cy="475488"/>
          </a:xfrm>
          <a:prstGeom prst="roundRect">
            <a:avLst/>
          </a:prstGeom>
          <a:noFill/>
          <a:ln w="1587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5029200"/>
            <a:ext cx="204825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F5F1FF"/>
                </a:solidFill>
                <a:latin typeface="Microsoft YaHei"/>
              </a:rPr>
              <a:t>政策导入 · 政企联动闭环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51576" y="5029200"/>
            <a:ext cx="1792224" cy="475488"/>
          </a:xfrm>
          <a:prstGeom prst="roundRect">
            <a:avLst/>
          </a:prstGeom>
          <a:noFill/>
          <a:ln w="15875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51576" y="5029200"/>
            <a:ext cx="179222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F5F1FF"/>
                </a:solidFill>
                <a:latin typeface="Microsoft YaHei"/>
              </a:rPr>
              <a:t>三年合作 · 协同复制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943600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053328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Microsoft YaHei"/>
              </a:rPr>
              <a:t>v3.0 谈判稿</a:t>
            </a:r>
            <a:r>
              <a:rPr sz="1050" b="0">
                <a:solidFill>
                  <a:srgbClr val="9486C4"/>
                </a:solidFill>
                <a:latin typeface="Microsoft YaHei"/>
              </a:rPr>
              <a:t>    项目定位（三选一）：AI+数字内容无界共创港 / AI+数据智能产业创新中心 / AI+在线新经济产业创新港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汇报议程 · 九大板块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02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37360"/>
            <a:ext cx="2578608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737360"/>
            <a:ext cx="64008" cy="137160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01952"/>
            <a:ext cx="1371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8B7BFF"/>
                </a:solidFill>
                <a:latin typeface="Arial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395728"/>
            <a:ext cx="212140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1FF"/>
                </a:solidFill>
                <a:latin typeface="Microsoft YaHei"/>
              </a:rPr>
              <a:t>研判与关键信息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761488"/>
            <a:ext cx="212140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研判报告 · 事实底盘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1737360"/>
            <a:ext cx="2578608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1737360"/>
            <a:ext cx="64008" cy="13716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0" y="1901952"/>
            <a:ext cx="1371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9C27C"/>
                </a:solidFill>
                <a:latin typeface="Arial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2395728"/>
            <a:ext cx="212140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1FF"/>
                </a:solidFill>
                <a:latin typeface="Microsoft YaHei"/>
              </a:rPr>
              <a:t>项目与共识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2761488"/>
            <a:ext cx="212140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定位 / 双重身份 / 要点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737360"/>
            <a:ext cx="2578608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737360"/>
            <a:ext cx="64008" cy="137160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901952"/>
            <a:ext cx="1371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8B7BFF"/>
                </a:solidFill>
                <a:latin typeface="Arial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395728"/>
            <a:ext cx="212140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1FF"/>
                </a:solidFill>
                <a:latin typeface="Microsoft YaHei"/>
              </a:rPr>
              <a:t>空间与平面图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761488"/>
            <a:ext cx="212140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3F 孵化办公 · 5F 展厅贸易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9680" y="1737360"/>
            <a:ext cx="2578608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69680" y="1737360"/>
            <a:ext cx="64008" cy="13716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1901952"/>
            <a:ext cx="1371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9C27C"/>
                </a:solidFill>
                <a:latin typeface="Arial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395728"/>
            <a:ext cx="212140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1FF"/>
                </a:solidFill>
                <a:latin typeface="Microsoft YaHei"/>
              </a:rPr>
              <a:t>我们带来什么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61488"/>
            <a:ext cx="212140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六大资源资产化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3273552"/>
            <a:ext cx="2578608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3273552"/>
            <a:ext cx="64008" cy="137160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3438144"/>
            <a:ext cx="1371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8B7BFF"/>
                </a:solidFill>
                <a:latin typeface="Arial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3931920"/>
            <a:ext cx="212140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1FF"/>
                </a:solidFill>
                <a:latin typeface="Microsoft YaHei"/>
              </a:rPr>
              <a:t>政策与闭环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4297680"/>
            <a:ext cx="212140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政策导入 · 产业落位 · 招商闭环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74720" y="3273552"/>
            <a:ext cx="2578608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74720" y="3273552"/>
            <a:ext cx="64008" cy="13716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0" y="3438144"/>
            <a:ext cx="1371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9C27C"/>
                </a:solidFill>
                <a:latin typeface="Arial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40" y="3931920"/>
            <a:ext cx="212140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1FF"/>
                </a:solidFill>
                <a:latin typeface="Microsoft YaHei"/>
              </a:rPr>
              <a:t>招商与运营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40" y="4297680"/>
            <a:ext cx="212140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漏斗 / 运营计划 / 活动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3273552"/>
            <a:ext cx="2578608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72200" y="3273552"/>
            <a:ext cx="64008" cy="137160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3438144"/>
            <a:ext cx="1371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8B7BFF"/>
                </a:solidFill>
                <a:latin typeface="Arial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3931920"/>
            <a:ext cx="212140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1FF"/>
                </a:solidFill>
                <a:latin typeface="Microsoft YaHei"/>
              </a:rPr>
              <a:t>节点与排期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4297680"/>
            <a:ext cx="212140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三年 · 80/85/95% 去化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69680" y="3273552"/>
            <a:ext cx="2578608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869680" y="3273552"/>
            <a:ext cx="64008" cy="13716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0" y="3438144"/>
            <a:ext cx="1371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9C27C"/>
                </a:solidFill>
                <a:latin typeface="Arial"/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3931920"/>
            <a:ext cx="212140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1FF"/>
                </a:solidFill>
                <a:latin typeface="Microsoft YaHei"/>
              </a:rPr>
              <a:t>条款与报价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4297680"/>
            <a:ext cx="212140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三年 · 五类收费 · 测算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7240" y="4809744"/>
            <a:ext cx="2578608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7240" y="4809744"/>
            <a:ext cx="64008" cy="137160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1560" y="4974336"/>
            <a:ext cx="1371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8B7BFF"/>
                </a:solidFill>
                <a:latin typeface="Arial"/>
              </a:rPr>
              <a:t>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" y="5468112"/>
            <a:ext cx="212140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1FF"/>
                </a:solidFill>
                <a:latin typeface="Microsoft YaHei"/>
              </a:rPr>
              <a:t>出海与国际会客厅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" y="5833872"/>
            <a:ext cx="212140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国家会客厅 · 出海撮合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474720" y="4809744"/>
            <a:ext cx="2578608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474720" y="4809744"/>
            <a:ext cx="64008" cy="13716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49040" y="4974336"/>
            <a:ext cx="1371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9C27C"/>
                </a:solidFill>
                <a:latin typeface="Arial"/>
              </a:rPr>
              <a:t>09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49040" y="5468112"/>
            <a:ext cx="212140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1FF"/>
                </a:solidFill>
                <a:latin typeface="Microsoft YaHei"/>
              </a:rPr>
              <a:t>规划与拓展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49040" y="5833872"/>
            <a:ext cx="212140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规划建议 · 协同复制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72200" y="4809744"/>
            <a:ext cx="2578608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72200" y="4809744"/>
            <a:ext cx="64008" cy="137160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46520" y="4974336"/>
            <a:ext cx="13716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8B7BFF"/>
                </a:solidFill>
                <a:latin typeface="Arial"/>
              </a:rPr>
              <a:t>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46520" y="5468112"/>
            <a:ext cx="212140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1FF"/>
                </a:solidFill>
                <a:latin typeface="Microsoft YaHei"/>
              </a:rPr>
              <a:t>投决与下一步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46520" y="5833872"/>
            <a:ext cx="212140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三问 · 30/60/90 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项目定位 · 产业定位方向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03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72768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9C27C"/>
                </a:solidFill>
                <a:latin typeface="Microsoft YaHei"/>
              </a:rPr>
              <a:t>项目命名（三选一）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65960"/>
            <a:ext cx="10634472" cy="731520"/>
          </a:xfrm>
          <a:prstGeom prst="roundRect">
            <a:avLst/>
          </a:prstGeom>
          <a:ln w="19050">
            <a:solidFill>
              <a:srgbClr val="E9C2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965960"/>
            <a:ext cx="64008" cy="73152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1965960"/>
            <a:ext cx="192024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9C27C"/>
                </a:solidFill>
                <a:latin typeface="Microsoft YaHei"/>
              </a:rPr>
              <a:t>方案一 · 推荐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1965960"/>
            <a:ext cx="57607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5F1FF"/>
                </a:solidFill>
                <a:latin typeface="Microsoft YaHei"/>
              </a:rPr>
              <a:t>上海创智汇 · AI + 数字内容无界共创港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19" y="1965960"/>
            <a:ext cx="25603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最贴合「AI+数字内容」主轴与共创理念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807208"/>
            <a:ext cx="10634472" cy="7315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807208"/>
            <a:ext cx="64008" cy="73152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2807208"/>
            <a:ext cx="192024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B7BFF"/>
                </a:solidFill>
                <a:latin typeface="Microsoft YaHei"/>
              </a:rPr>
              <a:t>方案二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2807208"/>
            <a:ext cx="57607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5F1FF"/>
                </a:solidFill>
                <a:latin typeface="Microsoft YaHei"/>
              </a:rPr>
              <a:t>上海创智汇 · AI + 数据智能产业创新中心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19" y="2807208"/>
            <a:ext cx="25603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偏 AI 数据智能与硬科技定位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648456"/>
            <a:ext cx="10634472" cy="7315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648456"/>
            <a:ext cx="64008" cy="73152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3648456"/>
            <a:ext cx="192024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77DFF"/>
                </a:solidFill>
                <a:latin typeface="Microsoft YaHei"/>
              </a:rPr>
              <a:t>方案三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3648456"/>
            <a:ext cx="57607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5F1FF"/>
                </a:solidFill>
                <a:latin typeface="Microsoft YaHei"/>
              </a:rPr>
              <a:t>上海创智汇 · AI + 在线新经济产业创新港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19" y="3648456"/>
            <a:ext cx="256032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对齐杨浦「在线新经济」政策品牌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617720"/>
            <a:ext cx="10634472" cy="1417320"/>
          </a:xfrm>
          <a:prstGeom prst="roundRect">
            <a:avLst/>
          </a:prstGeom>
          <a:ln w="15875">
            <a:solidFill>
              <a:srgbClr val="E9C27C"/>
            </a:solidFill>
          </a:ln>
          <a:effectLst/>
          <a:gradFill>
            <a:gsLst>
              <a:gs pos="0">
                <a:srgbClr val="3A2878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736592"/>
            <a:ext cx="10241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9C27C"/>
                </a:solidFill>
                <a:latin typeface="Microsoft YaHei"/>
              </a:rPr>
              <a:t>产业定位方向　</a:t>
            </a:r>
            <a:r>
              <a:rPr sz="1350" b="0">
                <a:solidFill>
                  <a:srgbClr val="9486C4"/>
                </a:solidFill>
                <a:latin typeface="Microsoft YaHei"/>
              </a:rPr>
              <a:t>（经商讨暂定）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120640"/>
            <a:ext cx="1024128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C6BAEA"/>
                </a:solidFill>
                <a:latin typeface="Microsoft YaHei"/>
              </a:rPr>
              <a:t>以 </a:t>
            </a:r>
            <a:r>
              <a:rPr sz="1250" b="1">
                <a:solidFill>
                  <a:srgbClr val="E9C27C"/>
                </a:solidFill>
                <a:latin typeface="Microsoft YaHei"/>
              </a:rPr>
              <a:t>人工智能和数字内容</a:t>
            </a:r>
            <a:r>
              <a:rPr sz="1250" b="0">
                <a:solidFill>
                  <a:srgbClr val="C6BAEA"/>
                </a:solidFill>
                <a:latin typeface="Microsoft YaHei"/>
              </a:rPr>
              <a:t>为产业主轴，重点承接 </a:t>
            </a:r>
            <a:r>
              <a:rPr sz="1250" b="1">
                <a:solidFill>
                  <a:srgbClr val="F5F1FF"/>
                </a:solidFill>
                <a:latin typeface="Microsoft YaHei"/>
              </a:rPr>
              <a:t>AI 微短剧、AIGC 内容生产、数字 IP、创意设计、智能营销、在线新经济、OPC 超级个体</a:t>
            </a:r>
            <a:r>
              <a:rPr sz="1250" b="0">
                <a:solidFill>
                  <a:srgbClr val="C6BAEA"/>
                </a:solidFill>
                <a:latin typeface="Microsoft YaHei"/>
              </a:rPr>
              <a:t> 等应用场景；并通过 办公空间 · 展示交易 · 订单撮合 · 政策服务 · 高校大厂资源 · IP 资源 · 出海服务，为入驻企业提供从落地到增长的综合服务。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FACT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关键信息提取 · 项目基本盘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00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04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27632"/>
            <a:ext cx="5532120" cy="27889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832" y="1810512"/>
            <a:ext cx="5212080" cy="402336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6276C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1810512"/>
            <a:ext cx="1563624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项目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5456" y="1810512"/>
            <a:ext cx="3648456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内容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" y="2203323"/>
            <a:ext cx="521208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212848"/>
            <a:ext cx="1563624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位置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05456" y="2212848"/>
            <a:ext cx="3648456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0">
                <a:solidFill>
                  <a:srgbClr val="C6BAEA"/>
                </a:solidFill>
                <a:latin typeface="Microsoft YaHei"/>
              </a:rPr>
              <a:t>上海杨浦五角场 · 创智汇（创智天地）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" y="2623947"/>
            <a:ext cx="521208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1832" y="2633472"/>
            <a:ext cx="5212080" cy="420624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" y="2633472"/>
            <a:ext cx="1563624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合作面积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05456" y="2633472"/>
            <a:ext cx="3648456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0">
                <a:solidFill>
                  <a:srgbClr val="C6BAEA"/>
                </a:solidFill>
                <a:latin typeface="Microsoft YaHei"/>
              </a:rPr>
              <a:t>约 6600㎡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" y="3044571"/>
            <a:ext cx="521208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3054096"/>
            <a:ext cx="1563624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3 楼 ≈2850㎡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5456" y="3054096"/>
            <a:ext cx="3648456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0">
                <a:solidFill>
                  <a:srgbClr val="C6BAEA"/>
                </a:solidFill>
                <a:latin typeface="Microsoft YaHei"/>
              </a:rPr>
              <a:t>孵化器 + 办公（AI / OPC 主轴）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" y="3465195"/>
            <a:ext cx="521208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1832" y="3474720"/>
            <a:ext cx="5212080" cy="420624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3474720"/>
            <a:ext cx="1563624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5 楼 ≈3670㎡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05456" y="3474720"/>
            <a:ext cx="3648456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0">
                <a:solidFill>
                  <a:srgbClr val="C6BAEA"/>
                </a:solidFill>
                <a:latin typeface="Microsoft YaHei"/>
              </a:rPr>
              <a:t>展厅 + 贸易（IP 内容主轴）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2" y="3885819"/>
            <a:ext cx="521208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3895344"/>
            <a:ext cx="1563624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合作周期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05456" y="3895344"/>
            <a:ext cx="3648456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0">
                <a:solidFill>
                  <a:srgbClr val="C6BAEA"/>
                </a:solidFill>
                <a:latin typeface="Microsoft YaHei"/>
              </a:rPr>
              <a:t>3 年 · 可复制 · 协同周边 ≤2 项目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1832" y="4306443"/>
            <a:ext cx="521208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1832" y="1810512"/>
            <a:ext cx="31750" cy="250545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37960" y="1627632"/>
            <a:ext cx="4873752" cy="27889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37960" y="1627632"/>
            <a:ext cx="64008" cy="278892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48856" y="1810512"/>
            <a:ext cx="437997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区位与政策腹地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48856" y="2194560"/>
            <a:ext cx="4325112" cy="213055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环同济：复旦 / 同济 / 财大 / 上理工高校群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正处杨浦「YOUNG立方」内容集聚区核心圈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紧邻 V聚场(6号楼) · 大学路 · B站新世代产业园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离我方极近（20–30min）→ 轻驻场 · 高频次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617720"/>
            <a:ext cx="3401568" cy="157276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4617720"/>
            <a:ext cx="64008" cy="1572768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88136" y="480060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定位主线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" y="5221224"/>
            <a:ext cx="2852928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C6BAEA"/>
                </a:solidFill>
                <a:latin typeface="Microsoft YaHei"/>
              </a:rPr>
              <a:t>超级链接器：IP 为内容、AI 为工具、空间为载体；产业筋骨 · 文化灵魂 · 商业血脉。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70832" y="4617720"/>
            <a:ext cx="3401568" cy="157276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70832" y="4617720"/>
            <a:ext cx="64008" cy="1572768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81728" y="480060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三大集群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81728" y="5221224"/>
            <a:ext cx="2852928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动漫 IP  ·  科技应用  ·  交互设计（对齐杨浦「在线新经济·创意设计」千亿集群）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10144" y="4617720"/>
            <a:ext cx="3401568" cy="157276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10144" y="4617720"/>
            <a:ext cx="64008" cy="1572768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480060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可链接资源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5221224"/>
            <a:ext cx="2852928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北大上海校友会、同济设计创新院、科企联、IP/玩具/广告协会、混知等 IP、聚成智能、中建四局。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项目研判报告 · 市场与区位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00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05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91640"/>
            <a:ext cx="5230368" cy="14173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91640"/>
            <a:ext cx="64008" cy="141732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1874520"/>
            <a:ext cx="47365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区位研判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295144"/>
            <a:ext cx="4681728" cy="7040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C6BAEA"/>
                </a:solidFill>
                <a:latin typeface="Microsoft YaHei"/>
              </a:rPr>
              <a:t>五角场城市副中心 + 环同济经济圈；创智天地正处杨浦 YOUNG立方内容集聚区核心圈，紧邻 V聚场/大学路/B站新世代产业园。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691640"/>
            <a:ext cx="5230368" cy="14173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691640"/>
            <a:ext cx="64008" cy="141732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1874520"/>
            <a:ext cx="47365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市场研判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2295144"/>
            <a:ext cx="4681728" cy="7040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C6BAEA"/>
                </a:solidFill>
                <a:latin typeface="Microsoft YaHei"/>
              </a:rPr>
              <a:t>AI+ 与数字内容处政策红利期：微短剧/AIGC/数字人爆发；上海明确徐汇·杨浦·闵行建 AI 微短剧集聚区，需求侧旺盛。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264408"/>
            <a:ext cx="5230368" cy="14173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264408"/>
            <a:ext cx="64008" cy="141732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8136" y="3447288"/>
            <a:ext cx="47365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政策研判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" y="3867912"/>
            <a:ext cx="4681728" cy="7040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C6BAEA"/>
                </a:solidFill>
                <a:latin typeface="Microsoft YaHei"/>
              </a:rPr>
              <a:t>市区两级政策叠加（YOUNG立方/长阳秀带/人工智能+/微短剧/模塑申城/火山引擎）；载体认定 + 三券 + 补贴可形成兑现能力。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3264408"/>
            <a:ext cx="5230368" cy="14173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0488" y="3264408"/>
            <a:ext cx="64008" cy="141732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1384" y="3447288"/>
            <a:ext cx="47365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客群研判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4" y="3867912"/>
            <a:ext cx="4681728" cy="70408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C6BAEA"/>
                </a:solidFill>
                <a:latin typeface="Microsoft YaHei"/>
              </a:rPr>
              <a:t>AI 应用/AIGC/数字人、AI 短剧、数字 IP、创意设计、智能营销、OPC 超级个体；供应链（玩具/毛绒/潮玩）与内容 IP 出海需求明确。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92040"/>
            <a:ext cx="10634472" cy="118872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3A2878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010912"/>
            <a:ext cx="10241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9C27C"/>
                </a:solidFill>
                <a:latin typeface="Microsoft YaHei"/>
              </a:rPr>
              <a:t>研判结论　</a:t>
            </a:r>
            <a:r>
              <a:rPr sz="1300" b="0">
                <a:solidFill>
                  <a:srgbClr val="F5F1FF"/>
                </a:solidFill>
                <a:latin typeface="Microsoft YaHei"/>
              </a:rPr>
              <a:t>需求真实、政策强、区位优——项目具备「政策引导产业落位 + 出海撮合放大」的稀缺条件。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413248"/>
            <a:ext cx="10058400" cy="64008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1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6600㎡ 体量适中，可做「小而精」样板并向周边复制（≤2 项目）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1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对标魔术空间等：高频活动（约 110 场级）驱动招商与载体 KPI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RESEARCH · SWOT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项目研判报告 · SWOT 与对策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00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06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64208"/>
            <a:ext cx="5230368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64208"/>
            <a:ext cx="64008" cy="196596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1847088"/>
            <a:ext cx="47365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S 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231136"/>
            <a:ext cx="4681728" cy="130759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政策核心圈 + 环同济 + 高校大厂资源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AI/OPC 社群 + IP 内容 + 领事/出海资源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离运营方近，轻驻场高频次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664208"/>
            <a:ext cx="5230368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664208"/>
            <a:ext cx="64008" cy="196596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1847088"/>
            <a:ext cx="47365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W 劣势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2231136"/>
            <a:ext cx="4681728" cy="130759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体量小（6600㎡），单靠租金想象空间有限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载体/OPC 社区等「经认定」资格待落实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F58BB8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出海撮合需自有资源与专职团队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785616"/>
            <a:ext cx="5230368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785616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8136" y="3968496"/>
            <a:ext cx="47365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O 机会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" y="4352544"/>
            <a:ext cx="4681728" cy="130759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微短剧/AIGC 政策红利与集聚区身份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出海撮合 + 国家会客厅高毛利业务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沪穗联动、可复制到周边项目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3785616"/>
            <a:ext cx="5230368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0488" y="3785616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1384" y="3968496"/>
            <a:ext cx="47365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T 威胁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4" y="4352544"/>
            <a:ext cx="4681728" cy="130759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招商去化对赌压力（三年均 85%）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政策以最新文件为准，兑现有不确定性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5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出海行业分散、跨行业撮合难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2194560"/>
            <a:ext cx="6858000" cy="68580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8B7B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2377440"/>
            <a:ext cx="5943600" cy="59436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C77D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640080"/>
            <a:ext cx="548640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0" b="1">
                <a:solidFill>
                  <a:srgbClr val="E9C27C"/>
                </a:solidFill>
                <a:latin typeface="Arial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7480"/>
            <a:ext cx="822960" cy="381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300">
                <a:solidFill>
                  <a:srgbClr val="E9C27C"/>
                </a:solidFill>
                <a:latin typeface="Arial"/>
              </a:rPr>
              <a:t>PROJECT &amp; CONSENSUS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96012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5F1FF"/>
                </a:solidFill>
                <a:latin typeface="Microsoft YaHei"/>
              </a:rPr>
              <a:t>项目与共识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6BAEA"/>
                </a:solidFill>
                <a:latin typeface="Microsoft YaHei"/>
              </a:rPr>
              <a:t>不做二房东，做产业空间合作运营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07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PROJECT &amp; CONSENSUS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双重身份 + 三件谈判要点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08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45920"/>
            <a:ext cx="5230368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45920"/>
            <a:ext cx="64008" cy="137160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1828800"/>
            <a:ext cx="47365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身份一 · 产业孵化核心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249424"/>
            <a:ext cx="4681728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C6BAEA"/>
                </a:solidFill>
                <a:latin typeface="Microsoft YaHei"/>
              </a:rPr>
              <a:t>五角场城市更新的孵化核心与先行示范区——空间改造 + 产业升级 + 商业激活的完整落地路径。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645920"/>
            <a:ext cx="5230368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45920"/>
            <a:ext cx="64008" cy="137160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828800"/>
            <a:ext cx="47365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身份二 · 超级链接器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249424"/>
            <a:ext cx="4681728" cy="6583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C6BAEA"/>
                </a:solidFill>
                <a:latin typeface="Microsoft YaHei"/>
              </a:rPr>
              <a:t>环同济经济圈资源链接平台：IP 内容 × AI 工具 × 空间载体，闭环生长。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24612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9C27C"/>
                </a:solidFill>
                <a:latin typeface="Microsoft YaHei"/>
              </a:rPr>
              <a:t>本次谈判要点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703320"/>
            <a:ext cx="3401568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3703320"/>
            <a:ext cx="64008" cy="13716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88136" y="3904488"/>
            <a:ext cx="457200" cy="457200"/>
          </a:xfrm>
          <a:prstGeom prst="roundRect">
            <a:avLst/>
          </a:prstGeom>
          <a:ln>
            <a:noFill/>
          </a:ln>
          <a:effectLst/>
          <a:gradFill>
            <a:gsLst>
              <a:gs pos="0">
                <a:srgbClr val="8B7BFF"/>
              </a:gs>
              <a:gs pos="100000">
                <a:srgbClr val="C77DFF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" y="390448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41440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3886200"/>
            <a:ext cx="2304288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合作模式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" y="4434840"/>
            <a:ext cx="301752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对赌运营 · 收基础运营费
+ 招商佣金 + 增值分成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9976" y="3703320"/>
            <a:ext cx="3401568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79976" y="3703320"/>
            <a:ext cx="64008" cy="13716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90872" y="3904488"/>
            <a:ext cx="457200" cy="457200"/>
          </a:xfrm>
          <a:prstGeom prst="roundRect">
            <a:avLst/>
          </a:prstGeom>
          <a:ln>
            <a:noFill/>
          </a:ln>
          <a:effectLst/>
          <a:gradFill>
            <a:gsLst>
              <a:gs pos="0">
                <a:srgbClr val="8B7BFF"/>
              </a:gs>
              <a:gs pos="100000">
                <a:srgbClr val="C77DFF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0872" y="390448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41440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94376" y="3886200"/>
            <a:ext cx="2304288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商业条款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0872" y="4434840"/>
            <a:ext cx="301752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3 年合作 · 五类收费
协同周边 ≤2 项目 · 可复制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82712" y="3703320"/>
            <a:ext cx="3401568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82712" y="3703320"/>
            <a:ext cx="64008" cy="13716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93608" y="3904488"/>
            <a:ext cx="457200" cy="457200"/>
          </a:xfrm>
          <a:prstGeom prst="roundRect">
            <a:avLst/>
          </a:prstGeom>
          <a:ln>
            <a:noFill/>
          </a:ln>
          <a:effectLst/>
          <a:gradFill>
            <a:gsLst>
              <a:gs pos="0">
                <a:srgbClr val="8B7BFF"/>
              </a:gs>
              <a:gs pos="100000">
                <a:srgbClr val="C77DFF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93608" y="3904488"/>
            <a:ext cx="4572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241440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97112" y="3886200"/>
            <a:ext cx="2304288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启动时间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93608" y="4434840"/>
            <a:ext cx="301752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与装修 / 设计交付同步，
尽快锁定并启动招商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285232"/>
            <a:ext cx="10634472" cy="91440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322462"/>
              </a:gs>
              <a:gs pos="100000">
                <a:srgbClr val="22184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285232"/>
            <a:ext cx="1014984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E9C27C"/>
                </a:solidFill>
                <a:latin typeface="Microsoft YaHei"/>
              </a:rPr>
              <a:t>核心共识　</a:t>
            </a:r>
            <a:r>
              <a:rPr sz="1350" b="0">
                <a:solidFill>
                  <a:srgbClr val="F5F1FF"/>
                </a:solidFill>
                <a:latin typeface="Microsoft YaHei"/>
              </a:rPr>
              <a:t>把 6600㎡ 升级为「产业空间合作运营项目」——我方输出 政策 + 招商 + 产业资源 + 活动 + 媒体 五项能力，按「基础运营费 + 招商佣金 + 增值分成」取酬。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2194560"/>
            <a:ext cx="6858000" cy="68580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8B7B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2377440"/>
            <a:ext cx="5943600" cy="59436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C77D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640080"/>
            <a:ext cx="548640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0" b="1">
                <a:solidFill>
                  <a:srgbClr val="E9C27C"/>
                </a:solidFill>
                <a:latin typeface="Arial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7480"/>
            <a:ext cx="822960" cy="381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300">
                <a:solidFill>
                  <a:srgbClr val="E9C27C"/>
                </a:solidFill>
                <a:latin typeface="Arial"/>
              </a:rPr>
              <a:t>SPACE &amp; FLOOR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96012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5F1FF"/>
                </a:solidFill>
                <a:latin typeface="Microsoft YaHei"/>
              </a:rPr>
              <a:t>空间与平面图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6BAEA"/>
                </a:solidFill>
                <a:latin typeface="Microsoft YaHei"/>
              </a:rPr>
              <a:t>3F 孵化办公（AI 主轴）· 5F 展厅贸易（IP 主轴）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09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FLOOR PLAN · 3F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3 楼平面布局 · OPC + AI + IP 创新中心 ≈ 2850㎡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10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27632"/>
            <a:ext cx="7360920" cy="4434840"/>
          </a:xfrm>
          <a:prstGeom prst="roundRect">
            <a:avLst/>
          </a:prstGeom>
          <a:ln w="19050">
            <a:solidFill>
              <a:srgbClr val="E9C27C"/>
            </a:solidFill>
          </a:ln>
          <a:effectLst/>
          <a:gradFill>
            <a:gsLst>
              <a:gs pos="0">
                <a:srgbClr val="231A4A"/>
              </a:gs>
              <a:gs pos="100000">
                <a:srgbClr val="1A1236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" y="1792224"/>
            <a:ext cx="3937772" cy="1170432"/>
          </a:xfrm>
          <a:prstGeom prst="roundRect">
            <a:avLst/>
          </a:prstGeom>
          <a:gradFill>
            <a:gsLst>
              <a:gs pos="0">
                <a:srgbClr val="E9C27C">
                  <a:alpha val="24000"/>
                </a:srgbClr>
              </a:gs>
              <a:gs pos="100000">
                <a:srgbClr val="E9C27C">
                  <a:alpha val="7000"/>
                </a:srgbClr>
              </a:gs>
            </a:gsLst>
            <a:lin ang="7200000" scaled="1"/>
          </a:gradFill>
          <a:ln w="15875">
            <a:solidFill>
              <a:srgbClr val="E9C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1901952"/>
            <a:ext cx="36817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AI+IP 产业办公空间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505456"/>
            <a:ext cx="36817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9C27C"/>
                </a:solidFill>
                <a:latin typeface="Arial"/>
              </a:rPr>
              <a:t>600㎡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2194560"/>
            <a:ext cx="36817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6BAEA"/>
                </a:solidFill>
                <a:latin typeface="Microsoft YaHei"/>
              </a:rPr>
              <a:t>316 (150) · 301 (175)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" y="3108960"/>
            <a:ext cx="3937772" cy="658368"/>
          </a:xfrm>
          <a:prstGeom prst="roundRect">
            <a:avLst/>
          </a:prstGeom>
          <a:gradFill>
            <a:gsLst>
              <a:gs pos="0">
                <a:srgbClr val="F58BB8">
                  <a:alpha val="24000"/>
                </a:srgbClr>
              </a:gs>
              <a:gs pos="100000">
                <a:srgbClr val="F58BB8">
                  <a:alpha val="7000"/>
                </a:srgbClr>
              </a:gs>
            </a:gsLst>
            <a:lin ang="7200000" scaled="1"/>
          </a:gradFill>
          <a:ln w="15875">
            <a:solidFill>
              <a:srgbClr val="F58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" y="3218688"/>
            <a:ext cx="36817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接待 · 前台 · 休闲区 · 茶水间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" y="3310128"/>
            <a:ext cx="36817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8BB8"/>
                </a:solidFill>
                <a:latin typeface="Arial"/>
              </a:rPr>
              <a:t>配套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" y="3913632"/>
            <a:ext cx="3937772" cy="1847088"/>
          </a:xfrm>
          <a:prstGeom prst="roundRect">
            <a:avLst/>
          </a:prstGeom>
          <a:gradFill>
            <a:gsLst>
              <a:gs pos="0">
                <a:srgbClr val="E9C27C">
                  <a:alpha val="24000"/>
                </a:srgbClr>
              </a:gs>
              <a:gs pos="100000">
                <a:srgbClr val="E9C27C">
                  <a:alpha val="7000"/>
                </a:srgbClr>
              </a:gs>
            </a:gsLst>
            <a:lin ang="7200000" scaled="1"/>
          </a:gradFill>
          <a:ln w="15875">
            <a:solidFill>
              <a:srgbClr val="E9C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6" y="4023360"/>
            <a:ext cx="36817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AI+IP 产业办公空间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5303520"/>
            <a:ext cx="36817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9C27C"/>
                </a:solidFill>
                <a:latin typeface="Arial"/>
              </a:rPr>
              <a:t>1150㎡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" y="4315968"/>
            <a:ext cx="36817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6BAEA"/>
                </a:solidFill>
                <a:latin typeface="Microsoft YaHei"/>
              </a:rPr>
              <a:t>306·305·304·303·302·310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5908" y="1792224"/>
            <a:ext cx="2947660" cy="932688"/>
          </a:xfrm>
          <a:prstGeom prst="roundRect">
            <a:avLst/>
          </a:prstGeom>
          <a:gradFill>
            <a:gsLst>
              <a:gs pos="0">
                <a:srgbClr val="8B7BFF">
                  <a:alpha val="24000"/>
                </a:srgbClr>
              </a:gs>
              <a:gs pos="100000">
                <a:srgbClr val="8B7BFF">
                  <a:alpha val="7000"/>
                </a:srgbClr>
              </a:gs>
            </a:gsLst>
            <a:lin ang="7200000" scaled="1"/>
          </a:gradFill>
          <a:ln w="15875">
            <a:solidFill>
              <a:srgbClr val="8B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72212" y="1901952"/>
            <a:ext cx="269162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直播间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2212" y="2267712"/>
            <a:ext cx="269162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7BFF"/>
                </a:solidFill>
                <a:latin typeface="Arial"/>
              </a:rPr>
              <a:t>250㎡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5908" y="2871216"/>
            <a:ext cx="2947660" cy="786384"/>
          </a:xfrm>
          <a:prstGeom prst="roundRect">
            <a:avLst/>
          </a:prstGeom>
          <a:gradFill>
            <a:gsLst>
              <a:gs pos="0">
                <a:srgbClr val="56D6B6">
                  <a:alpha val="24000"/>
                </a:srgbClr>
              </a:gs>
              <a:gs pos="100000">
                <a:srgbClr val="56D6B6">
                  <a:alpha val="7000"/>
                </a:srgbClr>
              </a:gs>
            </a:gsLst>
            <a:lin ang="7200000" scaled="1"/>
          </a:gradFill>
          <a:ln w="15875">
            <a:solidFill>
              <a:srgbClr val="56D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72212" y="2980944"/>
            <a:ext cx="269162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AI 展示与运营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2212" y="3200400"/>
            <a:ext cx="269162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6D6B6"/>
                </a:solidFill>
                <a:latin typeface="Arial"/>
              </a:rPr>
              <a:t>150㎡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5908" y="3803904"/>
            <a:ext cx="2947660" cy="1956816"/>
          </a:xfrm>
          <a:prstGeom prst="roundRect">
            <a:avLst/>
          </a:prstGeom>
          <a:gradFill>
            <a:gsLst>
              <a:gs pos="0">
                <a:srgbClr val="C77DFF">
                  <a:alpha val="24000"/>
                </a:srgbClr>
              </a:gs>
              <a:gs pos="100000">
                <a:srgbClr val="C77DFF">
                  <a:alpha val="7000"/>
                </a:srgbClr>
              </a:gs>
            </a:gsLst>
            <a:lin ang="7200000" scaled="1"/>
          </a:gradFill>
          <a:ln w="15875">
            <a:solidFill>
              <a:srgbClr val="C7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72212" y="3913632"/>
            <a:ext cx="269162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OPC 产业办公空间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72212" y="5303520"/>
            <a:ext cx="269162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77DFF"/>
                </a:solidFill>
                <a:latin typeface="Arial"/>
              </a:rPr>
              <a:t>700㎡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66760" y="1627632"/>
            <a:ext cx="3044952" cy="443484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66760" y="1627632"/>
            <a:ext cx="64008" cy="443484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77656" y="1810512"/>
            <a:ext cx="255117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楼层要点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77656" y="2194560"/>
            <a:ext cx="2496312" cy="377647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OPC + AI + IP 创新中心整层运营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9 个可分割办公单元（301–316）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含 AI 展示与运营 + 直播间双运营位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主轴：AI / OPC — 对齐「人工智能+」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适配：AI 初创 / 研发设计 / 孵化项目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设计建议：4–6 人设计条件，不做联合办公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10819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＊依据一期方案平面图复原（分区/房号/面积对应）；最终以物业实测与设计院图纸为准。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FLOOR PLAN · 5F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5 楼平面布局 · 综合集群展厅 ≈ 3670㎡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11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27632"/>
            <a:ext cx="7360920" cy="4434840"/>
          </a:xfrm>
          <a:prstGeom prst="roundRect">
            <a:avLst/>
          </a:prstGeom>
          <a:ln w="19050">
            <a:solidFill>
              <a:srgbClr val="E9C27C"/>
            </a:solidFill>
          </a:ln>
          <a:effectLst/>
          <a:gradFill>
            <a:gsLst>
              <a:gs pos="0">
                <a:srgbClr val="231A4A"/>
              </a:gs>
              <a:gs pos="100000">
                <a:srgbClr val="1A1236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" y="1792224"/>
            <a:ext cx="1441505" cy="4105656"/>
          </a:xfrm>
          <a:prstGeom prst="roundRect">
            <a:avLst/>
          </a:prstGeom>
          <a:gradFill>
            <a:gsLst>
              <a:gs pos="0">
                <a:srgbClr val="F58BB8">
                  <a:alpha val="24000"/>
                </a:srgbClr>
              </a:gs>
              <a:gs pos="100000">
                <a:srgbClr val="F58BB8">
                  <a:alpha val="7000"/>
                </a:srgbClr>
              </a:gs>
            </a:gsLst>
            <a:lin ang="7200000" scaled="1"/>
          </a:gradFill>
          <a:ln w="15875">
            <a:solidFill>
              <a:srgbClr val="F58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1901952"/>
            <a:ext cx="1185473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AI+IP 展示中心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5440680"/>
            <a:ext cx="1185473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8BB8"/>
                </a:solidFill>
                <a:latin typeface="Arial"/>
              </a:rPr>
              <a:t>700㎡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2194560"/>
            <a:ext cx="1185473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6BAEA"/>
                </a:solidFill>
                <a:latin typeface="Microsoft YaHei"/>
              </a:rPr>
              <a:t>景区+博物馆文创 · 50+ IP 展示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93065" y="1792224"/>
            <a:ext cx="632856" cy="4105656"/>
          </a:xfrm>
          <a:prstGeom prst="roundRect">
            <a:avLst/>
          </a:prstGeom>
          <a:gradFill>
            <a:gsLst>
              <a:gs pos="0">
                <a:srgbClr val="8B7BFF">
                  <a:alpha val="24000"/>
                </a:srgbClr>
              </a:gs>
              <a:gs pos="100000">
                <a:srgbClr val="8B7BFF">
                  <a:alpha val="7000"/>
                </a:srgbClr>
              </a:gs>
            </a:gsLst>
            <a:lin ang="7200000" scaled="1"/>
          </a:gradFill>
          <a:ln w="15875">
            <a:solidFill>
              <a:srgbClr val="8B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9369" y="1901952"/>
            <a:ext cx="37682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休闲沙龙区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9369" y="5440680"/>
            <a:ext cx="37682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7BFF"/>
                </a:solidFill>
                <a:latin typeface="Arial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35649" y="1792224"/>
            <a:ext cx="1582140" cy="1188720"/>
          </a:xfrm>
          <a:prstGeom prst="roundRect">
            <a:avLst/>
          </a:prstGeom>
          <a:gradFill>
            <a:gsLst>
              <a:gs pos="0">
                <a:srgbClr val="56D6B6">
                  <a:alpha val="24000"/>
                </a:srgbClr>
              </a:gs>
              <a:gs pos="100000">
                <a:srgbClr val="56D6B6">
                  <a:alpha val="7000"/>
                </a:srgbClr>
              </a:gs>
            </a:gsLst>
            <a:lin ang="7200000" scaled="1"/>
          </a:gradFill>
          <a:ln w="15875">
            <a:solidFill>
              <a:srgbClr val="56D6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1953" y="1901952"/>
            <a:ext cx="132610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东莞潮玩产业集群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1953" y="2523744"/>
            <a:ext cx="132610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56D6B6"/>
                </a:solidFill>
                <a:latin typeface="Arial"/>
              </a:rPr>
              <a:t>330㎡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35649" y="3090672"/>
            <a:ext cx="1582140" cy="2761488"/>
          </a:xfrm>
          <a:prstGeom prst="roundRect">
            <a:avLst/>
          </a:prstGeom>
          <a:gradFill>
            <a:gsLst>
              <a:gs pos="0">
                <a:srgbClr val="C77DFF">
                  <a:alpha val="24000"/>
                </a:srgbClr>
              </a:gs>
              <a:gs pos="100000">
                <a:srgbClr val="C77DFF">
                  <a:alpha val="7000"/>
                </a:srgbClr>
              </a:gs>
            </a:gsLst>
            <a:lin ang="7200000" scaled="1"/>
          </a:gradFill>
          <a:ln w="15875">
            <a:solidFill>
              <a:srgbClr val="C7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1953" y="3200400"/>
            <a:ext cx="132610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汕头玩具产业集群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1953" y="5394960"/>
            <a:ext cx="132610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77DFF"/>
                </a:solidFill>
                <a:latin typeface="Arial"/>
              </a:rPr>
              <a:t>900㎡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27517" y="1792224"/>
            <a:ext cx="1582140" cy="1024128"/>
          </a:xfrm>
          <a:prstGeom prst="roundRect">
            <a:avLst/>
          </a:prstGeom>
          <a:gradFill>
            <a:gsLst>
              <a:gs pos="0">
                <a:srgbClr val="E9C27C">
                  <a:alpha val="24000"/>
                </a:srgbClr>
              </a:gs>
              <a:gs pos="100000">
                <a:srgbClr val="E9C27C">
                  <a:alpha val="7000"/>
                </a:srgbClr>
              </a:gs>
            </a:gsLst>
            <a:lin ang="7200000" scaled="1"/>
          </a:gradFill>
          <a:ln w="15875">
            <a:solidFill>
              <a:srgbClr val="E9C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3821" y="1901952"/>
            <a:ext cx="132610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AI 智能产业集群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3821" y="2359152"/>
            <a:ext cx="132610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9C27C"/>
                </a:solidFill>
                <a:latin typeface="Arial"/>
              </a:rPr>
              <a:t>270㎡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27517" y="2926080"/>
            <a:ext cx="1582140" cy="2926080"/>
          </a:xfrm>
          <a:prstGeom prst="roundRect">
            <a:avLst/>
          </a:prstGeom>
          <a:gradFill>
            <a:gsLst>
              <a:gs pos="0">
                <a:srgbClr val="E9C27C">
                  <a:alpha val="24000"/>
                </a:srgbClr>
              </a:gs>
              <a:gs pos="100000">
                <a:srgbClr val="E9C27C">
                  <a:alpha val="7000"/>
                </a:srgbClr>
              </a:gs>
            </a:gsLst>
            <a:lin ang="7200000" scaled="1"/>
          </a:gradFill>
          <a:ln w="15875">
            <a:solidFill>
              <a:srgbClr val="E9C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3821" y="3035808"/>
            <a:ext cx="132610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扬州毛绒产业集群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3821" y="5394960"/>
            <a:ext cx="132610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9C27C"/>
                </a:solidFill>
                <a:latin typeface="Arial"/>
              </a:rPr>
              <a:t>700㎡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19385" y="1792224"/>
            <a:ext cx="1441505" cy="731520"/>
          </a:xfrm>
          <a:prstGeom prst="roundRect">
            <a:avLst/>
          </a:prstGeom>
          <a:gradFill>
            <a:gsLst>
              <a:gs pos="0">
                <a:srgbClr val="9486C4">
                  <a:alpha val="24000"/>
                </a:srgbClr>
              </a:gs>
              <a:gs pos="100000">
                <a:srgbClr val="9486C4">
                  <a:alpha val="7000"/>
                </a:srgbClr>
              </a:gs>
            </a:gsLst>
            <a:lin ang="7200000" scaled="1"/>
          </a:gradFill>
          <a:ln w="15875">
            <a:solidFill>
              <a:srgbClr val="948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5689" y="1901952"/>
            <a:ext cx="1185473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仓储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5689" y="2066544"/>
            <a:ext cx="1185473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486C4"/>
                </a:solidFill>
                <a:latin typeface="Arial"/>
              </a:rPr>
              <a:t>120㎡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19385" y="2633472"/>
            <a:ext cx="1441505" cy="3218688"/>
          </a:xfrm>
          <a:prstGeom prst="roundRect">
            <a:avLst/>
          </a:prstGeom>
          <a:gradFill>
            <a:gsLst>
              <a:gs pos="0">
                <a:srgbClr val="8B7BFF">
                  <a:alpha val="24000"/>
                </a:srgbClr>
              </a:gs>
              <a:gs pos="100000">
                <a:srgbClr val="8B7BFF">
                  <a:alpha val="7000"/>
                </a:srgbClr>
              </a:gs>
            </a:gsLst>
            <a:lin ang="7200000" scaled="1"/>
          </a:gradFill>
          <a:ln w="15875">
            <a:solidFill>
              <a:srgbClr val="8B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5689" y="2743200"/>
            <a:ext cx="1185473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F5F1FF"/>
                </a:solidFill>
                <a:latin typeface="Microsoft YaHei"/>
              </a:rPr>
              <a:t>OPC 社区培训中心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5689" y="5394960"/>
            <a:ext cx="1185473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7BFF"/>
                </a:solidFill>
                <a:latin typeface="Arial"/>
              </a:rPr>
              <a:t>650㎡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66760" y="1627632"/>
            <a:ext cx="3044952" cy="443484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66760" y="1627632"/>
            <a:ext cx="64008" cy="443484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77656" y="1810512"/>
            <a:ext cx="255117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楼层要点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77656" y="2194560"/>
            <a:ext cx="2496312" cy="377647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50+ IP 展示 + 跨境展销贸易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四大集群：汕头玩具·扬州毛绒·东莞潮玩·文创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顶层可办漫展 / 展览（门票+赞助）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主轴：IP 内容 — 对齐「互联网内容创作」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适配：IP 品牌方 / 玩具外贸 / 文创贸易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培训 + 沙龙 + 小红书招募 → 经营性收入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10819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＊依据一期方案平面图复原（分区/面积对应）；最终以物业实测与设计院图纸为准。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2194560"/>
            <a:ext cx="6858000" cy="68580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8B7B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2377440"/>
            <a:ext cx="5943600" cy="59436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C77D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640080"/>
            <a:ext cx="548640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0" b="1">
                <a:solidFill>
                  <a:srgbClr val="E9C27C"/>
                </a:solidFill>
                <a:latin typeface="Arial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7480"/>
            <a:ext cx="822960" cy="381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300">
                <a:solidFill>
                  <a:srgbClr val="E9C27C"/>
                </a:solidFill>
                <a:latin typeface="Arial"/>
              </a:rPr>
              <a:t>WHAT WE BRING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96012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5F1FF"/>
                </a:solidFill>
                <a:latin typeface="Microsoft YaHei"/>
              </a:rPr>
              <a:t>我们能带来什么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6BAEA"/>
                </a:solidFill>
                <a:latin typeface="Microsoft YaHei"/>
              </a:rPr>
              <a:t>六大稀缺资源，全部可资产化为招商工具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12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WHAT WE BRING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资源即招商 · 六大引擎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13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45920"/>
            <a:ext cx="3456432" cy="157276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45920"/>
            <a:ext cx="64008" cy="1572768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1828800"/>
            <a:ext cx="296265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① 政策抓手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249424"/>
            <a:ext cx="2907792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杨浦 YOUNG立方 / 长阳秀带 / 人工智能+ + 火山引擎园区政策 + 算力补贴 →「创智汇专有政策包」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1645920"/>
            <a:ext cx="3456432" cy="157276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1688" y="1645920"/>
            <a:ext cx="64008" cy="1572768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2584" y="1828800"/>
            <a:ext cx="296265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② 高校 / 协会背书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2584" y="2249424"/>
            <a:ext cx="2907792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北大上海校友会、同济设计创新院、复旦、科企联、IP/玩具/广告协会 → 挂牌即招商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46136" y="1645920"/>
            <a:ext cx="3456432" cy="157276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46136" y="1645920"/>
            <a:ext cx="64008" cy="1572768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2" y="1828800"/>
            <a:ext cx="296265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③ IP 内容资源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2249424"/>
            <a:ext cx="2907792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混知、观山礼玉等 IP 品牌方 + 汕头玩具/扬州毛绒/东莞潮玩/文创集群 → 5 楼自带内容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401568"/>
            <a:ext cx="3456432" cy="157276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401568"/>
            <a:ext cx="64008" cy="1572768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8136" y="3584448"/>
            <a:ext cx="296265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④ AI / OPC 社群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" y="4005072"/>
            <a:ext cx="2907792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自有 OPC（AI 开放社群）品牌、黑客松、AI 项目库、聚成智能 → 3 楼自带客流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61688" y="3401568"/>
            <a:ext cx="3456432" cy="157276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61688" y="3401568"/>
            <a:ext cx="64008" cy="1572768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72584" y="3584448"/>
            <a:ext cx="296265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⑤ 活动 / 会客厅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72584" y="4005072"/>
            <a:ext cx="2907792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漫展（门票+赞助）、北欧会客厅（出海撮合）、沙龙、峰会借势 → 活动即招商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46136" y="3401568"/>
            <a:ext cx="3456432" cy="157276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46136" y="3401568"/>
            <a:ext cx="64008" cy="1572768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57032" y="3584448"/>
            <a:ext cx="2962656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⑥ 资本 / 产业方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032" y="4005072"/>
            <a:ext cx="2907792" cy="85953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江西金控基金、复旦科技园导流、中建四局工程资源、奇瑞/华为外延 → 链主带动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5440680"/>
            <a:ext cx="10634472" cy="65836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322462"/>
              </a:gs>
              <a:gs pos="100000">
                <a:srgbClr val="22184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440680"/>
            <a:ext cx="100584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C6BAEA"/>
                </a:solidFill>
                <a:latin typeface="Microsoft YaHei"/>
              </a:rPr>
              <a:t>普通园区「发广告 · 等上门」；六维齐发 → 客户 </a:t>
            </a:r>
            <a:r>
              <a:rPr sz="1350" b="1">
                <a:solidFill>
                  <a:srgbClr val="E9C27C"/>
                </a:solidFill>
                <a:latin typeface="Microsoft YaHei"/>
              </a:rPr>
              <a:t>「被送进来」而非「被拉进来」。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2194560"/>
            <a:ext cx="6858000" cy="68580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8B7B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2377440"/>
            <a:ext cx="5943600" cy="59436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C77D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640080"/>
            <a:ext cx="548640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7480"/>
            <a:ext cx="822960" cy="381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300">
                <a:solidFill>
                  <a:srgbClr val="E9C27C"/>
                </a:solidFill>
                <a:latin typeface="Arial"/>
              </a:rPr>
              <a:t>POLICY &amp; CLOSED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96012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5F1FF"/>
                </a:solidFill>
                <a:latin typeface="Microsoft YaHei"/>
              </a:rPr>
              <a:t>政策导入与招商闭环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6BAEA"/>
                </a:solidFill>
                <a:latin typeface="Microsoft YaHei"/>
              </a:rPr>
              <a:t>以政策引导产业布局落位，形成产业招商闭环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14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YANGPU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杨浦政策矩阵 · 项目正处政策核心圈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15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45920"/>
            <a:ext cx="5230368" cy="14173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45920"/>
            <a:ext cx="64008" cy="141732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1792224"/>
            <a:ext cx="3566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YOUNG立方 · 18 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121408"/>
            <a:ext cx="4663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Microsoft YaHei"/>
              </a:rPr>
              <a:t>互联网优质内容 / 微短剧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2395728"/>
            <a:ext cx="47091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</a:pPr>
            <a:r>
              <a:rPr sz="1030" b="0">
                <a:solidFill>
                  <a:srgbClr val="C6BAEA"/>
                </a:solidFill>
                <a:latin typeface="Microsoft YaHei"/>
              </a:rPr>
              <a:t>免：入孵 V聚场 三年租金物业减免（全免/75%/50%）；补：直播券≤50万、活动≤50%（年≤200万）；投：≥10亿内容基金、贷款50%贴息；人才：购房≤200万、公寓≤8000/月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645920"/>
            <a:ext cx="5230368" cy="14173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1645920"/>
            <a:ext cx="64008" cy="141732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1384" y="1792224"/>
            <a:ext cx="3566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长阳秀带 · 在线新经济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2121408"/>
            <a:ext cx="4663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8B7BFF"/>
                </a:solidFill>
                <a:latin typeface="Microsoft YaHei"/>
              </a:rPr>
              <a:t>数字经济 / AI 大数据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2395728"/>
            <a:ext cx="47091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</a:pPr>
            <a:r>
              <a:rPr sz="1030" b="0">
                <a:solidFill>
                  <a:srgbClr val="C6BAEA"/>
                </a:solidFill>
                <a:latin typeface="Microsoft YaHei"/>
              </a:rPr>
              <a:t>AI 及大数据企业房租补贴 3 年每年≤100万；头部/总部≤1500万开办费；技术攻关研发 10–30%≤200万；应用场景≤500万；10 亿母基金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218688"/>
            <a:ext cx="5230368" cy="14173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218688"/>
            <a:ext cx="64008" cy="141732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" y="3364992"/>
            <a:ext cx="3566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人工智能+ 行动（26–28）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" y="3694176"/>
            <a:ext cx="4663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77DFF"/>
                </a:solidFill>
                <a:latin typeface="Microsoft YaHei"/>
              </a:rPr>
              <a:t>六大赛道 · 内容生成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" y="3968496"/>
            <a:ext cx="47091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</a:pPr>
            <a:r>
              <a:rPr sz="1030" b="0">
                <a:solidFill>
                  <a:srgbClr val="C6BAEA"/>
                </a:solidFill>
                <a:latin typeface="Microsoft YaHei"/>
              </a:rPr>
              <a:t>大模型垂类应用补贴≤50%、≤500万；AI 人才个人奖励≤30万；聚焦具身智能/智能终端/内容生成工具等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218688"/>
            <a:ext cx="5230368" cy="14173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0488" y="3218688"/>
            <a:ext cx="64008" cy="141732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01384" y="3364992"/>
            <a:ext cx="3566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数字经济产业体系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1384" y="3694176"/>
            <a:ext cx="4663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6D6B6"/>
                </a:solidFill>
                <a:latin typeface="Microsoft YaHei"/>
              </a:rPr>
              <a:t>三大千亿集群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1384" y="3968496"/>
            <a:ext cx="47091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</a:pPr>
            <a:r>
              <a:rPr sz="1030" b="0">
                <a:solidFill>
                  <a:srgbClr val="C6BAEA"/>
                </a:solidFill>
                <a:latin typeface="Microsoft YaHei"/>
              </a:rPr>
              <a:t>在线新经济 · 智能制造 · 创意设计 三大千亿集群 + 四大新兴；专项资金「就高不重复」；算力补贴叠加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892040"/>
            <a:ext cx="10634472" cy="1207008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3A2878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029200"/>
            <a:ext cx="10241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关键卡位　</a:t>
            </a:r>
            <a:r>
              <a:rPr sz="1250" b="0">
                <a:solidFill>
                  <a:srgbClr val="F5F1FF"/>
                </a:solidFill>
                <a:latin typeface="Microsoft YaHei"/>
              </a:rPr>
              <a:t>创智汇位于创智天地——正是 YOUNG立方「一楼(V聚场6号楼) · 一街(大学路) · 一园(B站新世代产业园) · 一区」核心腹地。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440680"/>
            <a:ext cx="102412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　　　　　　</a:t>
            </a:r>
            <a:r>
              <a:rPr sz="1150" b="0">
                <a:solidFill>
                  <a:srgbClr val="C6BAEA"/>
                </a:solidFill>
                <a:latin typeface="Microsoft YaHei"/>
              </a:rPr>
              <a:t>政策适配度极高：3F AI 孵化对齐「人工智能+」，5F IP 内容 / 微短剧对齐「互联网内容创作」，可直接承接补贴与载体认定。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144768"/>
            <a:ext cx="10607040" cy="182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86C4"/>
                </a:solidFill>
                <a:latin typeface="Microsoft YaHei"/>
              </a:rPr>
              <a:t>＊政策口径以杨浦区政府最新发布文件为准，本页为要点提炼。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CLOSED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政策 → 产业布局落位 → 招商闭环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16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874519"/>
            <a:ext cx="1920240" cy="23317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874519"/>
            <a:ext cx="64008" cy="233172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" y="2075687"/>
            <a:ext cx="10972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9C27C"/>
                </a:solidFill>
                <a:latin typeface="Arial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2651759"/>
            <a:ext cx="1554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1FF"/>
                </a:solidFill>
                <a:latin typeface="Microsoft YaHei"/>
              </a:rPr>
              <a:t>政策导入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3063239"/>
            <a:ext cx="15544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6BAEA"/>
                </a:solidFill>
                <a:latin typeface="Microsoft YaHei"/>
              </a:rPr>
              <a:t>YOUNG立方 / 长阳秀带 /
人工智能+ / 火山引擎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743199"/>
            <a:ext cx="457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E9C27C"/>
                </a:solidFill>
                <a:latin typeface="Microsoft YaHe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98648" y="1874519"/>
            <a:ext cx="1920240" cy="23317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98648" y="1874519"/>
            <a:ext cx="64008" cy="233172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36392" y="2075687"/>
            <a:ext cx="10972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8B7BFF"/>
                </a:solidFill>
                <a:latin typeface="Arial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6392" y="2651759"/>
            <a:ext cx="1554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1FF"/>
                </a:solidFill>
                <a:latin typeface="Microsoft YaHei"/>
              </a:rPr>
              <a:t>产业布局落位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36392" y="3063239"/>
            <a:ext cx="15544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6BAEA"/>
                </a:solidFill>
                <a:latin typeface="Microsoft YaHei"/>
              </a:rPr>
              <a:t>3F AI 孵化 · 5F IP 展贸
按政策赛道分区落位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18888" y="2743199"/>
            <a:ext cx="457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E9C27C"/>
                </a:solidFill>
                <a:latin typeface="Microsoft YaHei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0056" y="1874519"/>
            <a:ext cx="1920240" cy="23317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0056" y="1874519"/>
            <a:ext cx="64008" cy="233172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57800" y="2075687"/>
            <a:ext cx="10972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C77DFF"/>
                </a:solidFill>
                <a:latin typeface="Arial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2651759"/>
            <a:ext cx="1554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1FF"/>
                </a:solidFill>
                <a:latin typeface="Microsoft YaHei"/>
              </a:rPr>
              <a:t>精准招商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3063239"/>
            <a:ext cx="15544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6BAEA"/>
                </a:solidFill>
                <a:latin typeface="Microsoft YaHei"/>
              </a:rPr>
              <a:t>牌照锚定 · 政策礼包 ·
社群/活动/复旦科技园导流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0296" y="2743199"/>
            <a:ext cx="457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E9C27C"/>
                </a:solidFill>
                <a:latin typeface="Microsoft YaHei"/>
              </a:rPr>
              <a:t>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41464" y="1874519"/>
            <a:ext cx="1920240" cy="23317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41464" y="1874519"/>
            <a:ext cx="64008" cy="233172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79208" y="2075687"/>
            <a:ext cx="10972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56D6B6"/>
                </a:solidFill>
                <a:latin typeface="Arial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79208" y="2651759"/>
            <a:ext cx="1554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1FF"/>
                </a:solidFill>
                <a:latin typeface="Microsoft YaHei"/>
              </a:rPr>
              <a:t>企业成长服务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79208" y="3063239"/>
            <a:ext cx="15544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6BAEA"/>
                </a:solidFill>
                <a:latin typeface="Microsoft YaHei"/>
              </a:rPr>
              <a:t>联合公司：注册 / 申报 /
知产 / 融资 / 出海撮合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61704" y="2743199"/>
            <a:ext cx="457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E9C27C"/>
                </a:solidFill>
                <a:latin typeface="Microsoft YaHei"/>
              </a:rPr>
              <a:t>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62872" y="1874519"/>
            <a:ext cx="1920240" cy="23317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62872" y="1874519"/>
            <a:ext cx="64008" cy="233172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0616" y="2075687"/>
            <a:ext cx="10972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58BB8"/>
                </a:solidFill>
                <a:latin typeface="Arial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0616" y="2651759"/>
            <a:ext cx="1554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F1FF"/>
                </a:solidFill>
                <a:latin typeface="Microsoft YaHei"/>
              </a:rPr>
              <a:t>补贴资质反哺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0616" y="3063239"/>
            <a:ext cx="155448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6BAEA"/>
                </a:solidFill>
                <a:latin typeface="Microsoft YaHei"/>
              </a:rPr>
              <a:t>补贴归运营平台 · 载体认定
→ 提升招商可信度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4572000"/>
            <a:ext cx="10634472" cy="141732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322462"/>
              </a:gs>
              <a:gs pos="100000">
                <a:srgbClr val="22184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4709160"/>
            <a:ext cx="10241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闭环逻辑　</a:t>
            </a:r>
            <a:r>
              <a:rPr sz="1250" b="0">
                <a:solidFill>
                  <a:srgbClr val="F5F1FF"/>
                </a:solidFill>
                <a:latin typeface="Microsoft YaHei"/>
              </a:rPr>
              <a:t>政策吸引企业 → 企业落位对齐产业 → 高效招商去化 → 联合公司服务企业成长 → 补贴/资质反哺平台 → 再吸引更优企业。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166360"/>
            <a:ext cx="10058400" cy="82296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越招越准：政策把符合赛道的企业「筛」进来，去化质量高、租金承载强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越做越强：补贴与载体资质回流平台，招商可信度与议价力持续提升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VOLCANO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火山引擎园区独立政策（优于火山工坊）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17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45920"/>
            <a:ext cx="3703320" cy="1874519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45920"/>
            <a:ext cx="64008" cy="1874519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1828800"/>
            <a:ext cx="320954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一、无门槛半年免费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249424"/>
            <a:ext cx="3154680" cy="1161287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C6BAEA"/>
                </a:solidFill>
                <a:latin typeface="Microsoft YaHei"/>
              </a:rPr>
              <a:t>入园企业半年费用免费，按预估半年费用一次性发放代金券，无消费门槛。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657600"/>
            <a:ext cx="3703320" cy="22860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657600"/>
            <a:ext cx="64008" cy="228600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" y="3840480"/>
            <a:ext cx="320954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作为招商抓手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" y="4224528"/>
            <a:ext cx="3154680" cy="162763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叠加杨浦算力补贴（凭票最高 50%）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叠加腾讯云免 2 月 / 85 折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打造「创智汇专有算力政策包」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签约共建，作为 AI 企业入驻礼包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1645920"/>
            <a:ext cx="6748272" cy="502920"/>
          </a:xfrm>
          <a:prstGeom prst="roundRect">
            <a:avLst/>
          </a:prstGeom>
          <a:ln>
            <a:noFill/>
          </a:ln>
          <a:effectLst/>
          <a:gradFill>
            <a:gsLst>
              <a:gs pos="0">
                <a:srgbClr val="36276C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1645920"/>
            <a:ext cx="64008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9C27C"/>
                </a:solidFill>
                <a:latin typeface="Microsoft YaHei"/>
              </a:rPr>
              <a:t>二、大客户额外折扣（代金券之外，累计消费越多折扣越低）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2240280"/>
            <a:ext cx="6748272" cy="402336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6276C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2240280"/>
            <a:ext cx="3374136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累计消费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2240280"/>
            <a:ext cx="3374136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额外折扣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633091"/>
            <a:ext cx="67482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2642616"/>
            <a:ext cx="3374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300" b="1">
                <a:solidFill>
                  <a:srgbClr val="F5F1FF"/>
                </a:solidFill>
                <a:latin typeface="Microsoft YaHei"/>
              </a:rPr>
              <a:t>0 – 10 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37576" y="2642616"/>
            <a:ext cx="3374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300" b="0">
                <a:solidFill>
                  <a:srgbClr val="C6BAEA"/>
                </a:solidFill>
                <a:latin typeface="Microsoft YaHei"/>
              </a:rPr>
              <a:t>5 折 ~ 7 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3090291"/>
            <a:ext cx="67482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63440" y="3099816"/>
            <a:ext cx="6748272" cy="457200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3099816"/>
            <a:ext cx="3374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300" b="1">
                <a:solidFill>
                  <a:srgbClr val="F5F1FF"/>
                </a:solidFill>
                <a:latin typeface="Microsoft YaHei"/>
              </a:rPr>
              <a:t>10 – 30 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37576" y="3099816"/>
            <a:ext cx="3374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300" b="0">
                <a:solidFill>
                  <a:srgbClr val="C6BAEA"/>
                </a:solidFill>
                <a:latin typeface="Microsoft YaHei"/>
              </a:rPr>
              <a:t>4.5 折 ~ 5 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3547491"/>
            <a:ext cx="67482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3557016"/>
            <a:ext cx="3374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300" b="1">
                <a:solidFill>
                  <a:srgbClr val="F5F1FF"/>
                </a:solidFill>
                <a:latin typeface="Microsoft YaHei"/>
              </a:rPr>
              <a:t>30 – 50 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37576" y="3557016"/>
            <a:ext cx="3374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300" b="0">
                <a:solidFill>
                  <a:srgbClr val="C6BAEA"/>
                </a:solidFill>
                <a:latin typeface="Microsoft YaHei"/>
              </a:rPr>
              <a:t>4 折 ~ 4.5 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4004691"/>
            <a:ext cx="67482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63440" y="4014216"/>
            <a:ext cx="6748272" cy="457200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4014216"/>
            <a:ext cx="3374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300" b="1">
                <a:solidFill>
                  <a:srgbClr val="F5F1FF"/>
                </a:solidFill>
                <a:latin typeface="Microsoft YaHei"/>
              </a:rPr>
              <a:t>50 – 100 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37576" y="4014216"/>
            <a:ext cx="3374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300" b="0">
                <a:solidFill>
                  <a:srgbClr val="C6BAEA"/>
                </a:solidFill>
                <a:latin typeface="Microsoft YaHei"/>
              </a:rPr>
              <a:t>3.5 折 ~ 4 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4461891"/>
            <a:ext cx="67482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4471416"/>
            <a:ext cx="3374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300" b="1">
                <a:solidFill>
                  <a:srgbClr val="F5F1FF"/>
                </a:solidFill>
                <a:latin typeface="Microsoft YaHei"/>
              </a:rPr>
              <a:t>100 – 300 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37576" y="4471416"/>
            <a:ext cx="3374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300" b="0">
                <a:solidFill>
                  <a:srgbClr val="C6BAEA"/>
                </a:solidFill>
                <a:latin typeface="Microsoft YaHei"/>
              </a:rPr>
              <a:t>3 折 ~ 3.5 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63440" y="4919091"/>
            <a:ext cx="67482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663440" y="4928616"/>
            <a:ext cx="6748272" cy="457200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63440" y="4928616"/>
            <a:ext cx="3374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300" b="1">
                <a:solidFill>
                  <a:srgbClr val="F5F1FF"/>
                </a:solidFill>
                <a:latin typeface="Microsoft YaHei"/>
              </a:rPr>
              <a:t>300 – 500 万+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37576" y="4928616"/>
            <a:ext cx="3374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300" b="0">
                <a:solidFill>
                  <a:srgbClr val="C6BAEA"/>
                </a:solidFill>
                <a:latin typeface="Microsoft YaHei"/>
              </a:rPr>
              <a:t>2.5 折 ~ 3 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63440" y="5376291"/>
            <a:ext cx="67482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63440" y="2240280"/>
            <a:ext cx="31750" cy="314553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POLICY TOOLBOX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人工智能+数字内容 · 政策工具箱（三端）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18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45920"/>
            <a:ext cx="3401568" cy="41605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45920"/>
            <a:ext cx="64008" cy="416052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182880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企业端 · 补给企业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212848"/>
            <a:ext cx="2852928" cy="350215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8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080">
                <a:solidFill>
                  <a:srgbClr val="C6BAEA"/>
                </a:solidFill>
                <a:latin typeface="Microsoft YaHei"/>
              </a:rPr>
              <a:t>科技创新券：企业≤30万/年、团队≤10万/年（≤50%）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8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080">
                <a:solidFill>
                  <a:srgbClr val="C6BAEA"/>
                </a:solidFill>
                <a:latin typeface="Microsoft YaHei"/>
              </a:rPr>
              <a:t>模塑申城：算力券 / 模型券 / 语料券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8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080">
                <a:solidFill>
                  <a:srgbClr val="C6BAEA"/>
                </a:solidFill>
                <a:latin typeface="Microsoft YaHei"/>
              </a:rPr>
              <a:t>高企首认 20万；专精特新市级 10万 / 国家小巨人 30万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8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080">
                <a:solidFill>
                  <a:srgbClr val="C6BAEA"/>
                </a:solidFill>
                <a:latin typeface="Microsoft YaHei"/>
              </a:rPr>
              <a:t>AI 大数据房租 2.0 元/天/㎡（人均 15㎡）≤100万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8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080">
                <a:solidFill>
                  <a:srgbClr val="C6BAEA"/>
                </a:solidFill>
                <a:latin typeface="Microsoft YaHei"/>
              </a:rPr>
              <a:t>经营性奖励 + 参保奖励（10–20 人给 10万，超 20 每人≤1.5万）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1645920"/>
            <a:ext cx="3401568" cy="41605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9976" y="1645920"/>
            <a:ext cx="64008" cy="416052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182880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载体端 · 强平台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212848"/>
            <a:ext cx="2852928" cy="350215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8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080">
                <a:solidFill>
                  <a:srgbClr val="C6BAEA"/>
                </a:solidFill>
                <a:latin typeface="Microsoft YaHei"/>
              </a:rPr>
              <a:t>科技服务业：成果转化服务平台≤100万/年运营补贴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8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080">
                <a:solidFill>
                  <a:srgbClr val="C6BAEA"/>
                </a:solidFill>
                <a:latin typeface="Microsoft YaHei"/>
              </a:rPr>
              <a:t>服务业引导资金：市级≥500万投资 / 区级 500–1000万，≤300万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8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080">
                <a:solidFill>
                  <a:srgbClr val="C6BAEA"/>
                </a:solidFill>
                <a:latin typeface="Microsoft YaHei"/>
              </a:rPr>
              <a:t>OPC 超级个体社区：AI 工具链 / 智能体 / Tokens券 / 大厂团队 各≤1000–2000万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8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080">
                <a:solidFill>
                  <a:srgbClr val="C6BAEA"/>
                </a:solidFill>
                <a:latin typeface="Microsoft YaHei"/>
              </a:rPr>
              <a:t>未来产业试验场 / 加速器（认定后申报）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8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080">
                <a:solidFill>
                  <a:srgbClr val="C6BAEA"/>
                </a:solidFill>
                <a:latin typeface="Microsoft YaHei"/>
              </a:rPr>
              <a:t>→ 把创智汇做成「经认定载体 + 成果转化服务平台」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82712" y="1645920"/>
            <a:ext cx="3401568" cy="41605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82712" y="1645920"/>
            <a:ext cx="64008" cy="416052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182880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场景端 · 造场景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212848"/>
            <a:ext cx="2852928" cy="350215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8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080">
                <a:solidFill>
                  <a:srgbClr val="C6BAEA"/>
                </a:solidFill>
                <a:latin typeface="Microsoft YaHei"/>
              </a:rPr>
              <a:t>AI 微短剧集聚区（徐汇/杨浦/闵行）：智能体≤研发20%≤1000万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8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080">
                <a:solidFill>
                  <a:srgbClr val="C6BAEA"/>
                </a:solidFill>
                <a:latin typeface="Microsoft YaHei"/>
              </a:rPr>
              <a:t>优秀微短剧≤300万；优质厂牌≤200万；出海≤50万；课程≤20万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8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080">
                <a:solidFill>
                  <a:srgbClr val="C6BAEA"/>
                </a:solidFill>
                <a:latin typeface="Microsoft YaHei"/>
              </a:rPr>
              <a:t>标志性重大应用场景 / 创新产品市场化应用（联合≤5家采购）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8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080">
                <a:solidFill>
                  <a:srgbClr val="C6BAEA"/>
                </a:solidFill>
                <a:latin typeface="Microsoft YaHei"/>
              </a:rPr>
              <a:t>消费新场景专项：补助≤30%、≥100万、累计≤2000万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08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080">
                <a:solidFill>
                  <a:srgbClr val="C6BAEA"/>
                </a:solidFill>
                <a:latin typeface="Microsoft YaHei"/>
              </a:rPr>
              <a:t>→ 5楼做「AI 数字内容高价值应用场景」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943600"/>
            <a:ext cx="10607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＊政策口径以各级政府最新发布文件为准；「经认定」类政策需先取得认定资格方可对外兑现。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GOV-ENTERPRISE SYNERGY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政企联动 · 辅助招商定位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19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00200"/>
            <a:ext cx="10634472" cy="868680"/>
          </a:xfrm>
          <a:prstGeom prst="roundRect">
            <a:avLst/>
          </a:prstGeom>
          <a:ln w="15875">
            <a:solidFill>
              <a:srgbClr val="E9C27C"/>
            </a:solidFill>
          </a:ln>
          <a:effectLst/>
          <a:gradFill>
            <a:gsLst>
              <a:gs pos="0">
                <a:srgbClr val="3A2878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600200"/>
            <a:ext cx="1024128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9C27C"/>
                </a:solidFill>
                <a:latin typeface="Microsoft YaHei"/>
              </a:rPr>
              <a:t>招商定位　</a:t>
            </a:r>
            <a:r>
              <a:rPr sz="1500" b="1">
                <a:solidFill>
                  <a:srgbClr val="F5F1FF"/>
                </a:solidFill>
                <a:latin typeface="Microsoft YaHei"/>
              </a:rPr>
              <a:t>创智汇 = 杨浦「AI + 数字内容」孵化转化载体 + 场景清单发布平台（3F 孵化转化 · 5F 场景应用与交易）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651760"/>
            <a:ext cx="3401568" cy="17830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651760"/>
            <a:ext cx="64008" cy="17830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283464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企业端 → 招什么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3255264"/>
            <a:ext cx="2852928" cy="10698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招「能拿补贴的优质企业」：AI/AIGC、数字人、智能体、AI 微短剧、内容生成工具、科技型中小；用三券与房租/经营奖励做入驻礼包。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9976" y="2651760"/>
            <a:ext cx="3401568" cy="17830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9976" y="2651760"/>
            <a:ext cx="64008" cy="178308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90872" y="283464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载体端 → 靠什么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3255264"/>
            <a:ext cx="2852928" cy="10698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把创智汇做成经认定载体 / OPC 社区 / 成果转化服务平台 / 服务业园区，取得政策兑现资格与运营补贴。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82712" y="2651760"/>
            <a:ext cx="3401568" cy="17830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82712" y="2651760"/>
            <a:ext cx="64008" cy="178308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8" y="283464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场景端 → 卖什么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3255264"/>
            <a:ext cx="2852928" cy="10698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5楼做 AI 数字内容高价值应用场景、AI 微短剧承接点、创新产品市场化应用撮合，形成可背书的场景清单。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617720"/>
            <a:ext cx="10634472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617720"/>
            <a:ext cx="64008" cy="137160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736592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56D6B6"/>
                </a:solidFill>
                <a:latin typeface="Microsoft YaHei"/>
              </a:rPr>
              <a:t>政企联动机制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138928"/>
            <a:ext cx="5120640" cy="82296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挂牌「杨浦科技企业服务中心」，接入政务快速通道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对接区科经委 / 发改委 / 文旅局 / 市经信委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138928"/>
            <a:ext cx="5029200" cy="82296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建企业「三券」适配表，联合公司承接申报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补贴归运营平台公司，反哺招商可信度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NEXT-STEP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后续摸排清单 · 政企联动落地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20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645920"/>
            <a:ext cx="10634472" cy="420624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6276C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45920"/>
            <a:ext cx="5317236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摸排事项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4476" y="1645920"/>
            <a:ext cx="2126894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对接部门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1370" y="1645920"/>
            <a:ext cx="3190341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目的 / 判定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057019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066544"/>
            <a:ext cx="5317236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能否按创新创业载体 / 成果转化服务平台 / 场景清单申报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4476" y="2066544"/>
            <a:ext cx="2126894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区科经委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1370" y="2066544"/>
            <a:ext cx="3190341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确立载体端政策兑现资格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569083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2578608"/>
            <a:ext cx="10634472" cy="512064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578608"/>
            <a:ext cx="5317236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3F 办公孵化 + 5F 展示交易能否作服务业引导资金项目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4476" y="2578608"/>
            <a:ext cx="2126894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区发改委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1370" y="2578608"/>
            <a:ext cx="3190341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核算投资是否达 500 万门槛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081147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090672"/>
            <a:ext cx="5317236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取得 OPC 超级个体社区「认定条件」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4476" y="3090672"/>
            <a:ext cx="2126894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区人民政府 / 科经委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1370" y="3090672"/>
            <a:ext cx="3190341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先决条件；未认定只能做协同点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3593211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3602736"/>
            <a:ext cx="10634472" cy="512064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602736"/>
            <a:ext cx="5317236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杨浦 AI 微短剧集聚区承接空间；5F 可否作展示/路演/拍摄/协同点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4476" y="3602736"/>
            <a:ext cx="2126894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区文旅局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1370" y="3602736"/>
            <a:ext cx="3190341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确立场景端承接身份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4105275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114800"/>
            <a:ext cx="5317236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建企业「算力/模型/语料」三券适配表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4476" y="4114800"/>
            <a:ext cx="2126894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市经信委 / 平台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1370" y="4114800"/>
            <a:ext cx="3190341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核查合同 / 账单 / 发票 / 使用日志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17339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626864"/>
            <a:ext cx="10634472" cy="512064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626864"/>
            <a:ext cx="5317236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科企联 / 服务机构是否入驻创新券平台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4476" y="4626864"/>
            <a:ext cx="2126894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科企联 / 服务机构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1370" y="4626864"/>
            <a:ext cx="3190341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打通创新券在线下单核验兑付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5129403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138928"/>
            <a:ext cx="5317236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入驻企业产品进《创新产品推荐目录》→ 5F 找采购/承租联合申报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4476" y="5138928"/>
            <a:ext cx="2126894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市经信委 / 采购方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1370" y="5138928"/>
            <a:ext cx="3190341" cy="51206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落地 5F 订单撮合机制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" y="5641467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" y="1645920"/>
            <a:ext cx="31750" cy="400507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ECO CLOSED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政企联动 · 生态闭环（双环驱动）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21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45920"/>
            <a:ext cx="3401568" cy="12801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45920"/>
            <a:ext cx="64008" cy="128016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182880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政府政策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249424"/>
            <a:ext cx="2852928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YOUNG立方/长阳秀带/人工智能+/微短剧/火山引擎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8" y="2057400"/>
            <a:ext cx="457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E9C27C"/>
                </a:solidFill>
                <a:latin typeface="Microsoft YaHei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1645920"/>
            <a:ext cx="3401568" cy="12801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9976" y="1645920"/>
            <a:ext cx="64008" cy="12801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182880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平台承接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2249424"/>
            <a:ext cx="2852928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载体认定 · 挂牌 · 成果转化服务平台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1544" y="2057400"/>
            <a:ext cx="457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E9C27C"/>
                </a:solidFill>
                <a:latin typeface="Microsoft YaHei"/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82712" y="1645920"/>
            <a:ext cx="3401568" cy="12801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82712" y="1645920"/>
            <a:ext cx="64008" cy="12801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8" y="182880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精准招商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2249424"/>
            <a:ext cx="2852928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政策礼包 · 三券适配 · 场景背书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063240"/>
            <a:ext cx="3401568" cy="12801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3063240"/>
            <a:ext cx="64008" cy="128016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" y="324612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企业成长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" y="3666744"/>
            <a:ext cx="2852928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联合公司：注册/申报/知产/融资/出海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8808" y="3474720"/>
            <a:ext cx="457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E9C27C"/>
                </a:solidFill>
                <a:latin typeface="Microsoft YaHei"/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9976" y="3063240"/>
            <a:ext cx="3401568" cy="12801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79976" y="3063240"/>
            <a:ext cx="64008" cy="128016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90872" y="324612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场景与内容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0872" y="3666744"/>
            <a:ext cx="2852928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5F 微短剧/展贸/IP · 创新产品应用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81544" y="3474720"/>
            <a:ext cx="457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E9C27C"/>
                </a:solidFill>
                <a:latin typeface="Microsoft YaHei"/>
              </a:rPr>
              <a:t>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82712" y="3063240"/>
            <a:ext cx="3401568" cy="12801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82712" y="3063240"/>
            <a:ext cx="64008" cy="128016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3608" y="324612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补贴反哺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3608" y="3666744"/>
            <a:ext cx="2852928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补贴归平台 · 资质回流 · 能级提升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4526280"/>
            <a:ext cx="10634472" cy="146304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322462"/>
              </a:gs>
              <a:gs pos="100000">
                <a:srgbClr val="22184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4645152"/>
            <a:ext cx="10241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双环驱动　</a:t>
            </a:r>
            <a:r>
              <a:rPr sz="1200" b="0">
                <a:solidFill>
                  <a:srgbClr val="F5F1FF"/>
                </a:solidFill>
                <a:latin typeface="Microsoft YaHei"/>
              </a:rPr>
              <a:t>① 政企联动闭环：政府—平台—企业—场景—补贴反哺，能级持续提升；② 产业生态闭环：内容引流—产业承接—商业变现—服务成长。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074920"/>
            <a:ext cx="10058400" cy="82296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政企联动：把政策转化为招商资格与兑现能力，越做越有背书</a:t>
            </a:r>
          </a:p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1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50">
                <a:solidFill>
                  <a:srgbClr val="C6BAEA"/>
                </a:solidFill>
                <a:latin typeface="Microsoft YaHei"/>
              </a:rPr>
              <a:t>生态自进化：内容 × 产业 × 商业 × 服务相互反哺，摆脱单一租金依赖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2194560"/>
            <a:ext cx="6858000" cy="68580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8B7B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2377440"/>
            <a:ext cx="5943600" cy="59436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C77D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640080"/>
            <a:ext cx="548640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0" b="1">
                <a:solidFill>
                  <a:srgbClr val="E9C27C"/>
                </a:solidFill>
                <a:latin typeface="Arial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7480"/>
            <a:ext cx="822960" cy="381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300">
                <a:solidFill>
                  <a:srgbClr val="E9C27C"/>
                </a:solidFill>
                <a:latin typeface="Arial"/>
              </a:rPr>
              <a:t>LEASING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96012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5F1FF"/>
                </a:solidFill>
                <a:latin typeface="Microsoft YaHei"/>
              </a:rPr>
              <a:t>招商方案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6BAEA"/>
                </a:solidFill>
                <a:latin typeface="Microsoft YaHei"/>
              </a:rPr>
              <a:t>IP + AI 双轨 · 楼层产品化 · 四级漏斗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22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LEASING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楼层产品切分 · 招商最小颗粒度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23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27632"/>
            <a:ext cx="5230368" cy="443484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27632"/>
            <a:ext cx="64008" cy="443484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78308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8B7BFF"/>
                </a:solidFill>
                <a:latin typeface="Microsoft YaHei"/>
              </a:rPr>
              <a:t>3 楼</a:t>
            </a:r>
            <a:r>
              <a:rPr sz="1600" b="1">
                <a:solidFill>
                  <a:srgbClr val="F5F1FF"/>
                </a:solidFill>
                <a:latin typeface="Microsoft YaHei"/>
              </a:rPr>
              <a:t>　约 2850㎡　孵化 + 办公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2286000"/>
            <a:ext cx="4937760" cy="402336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6276C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286000"/>
            <a:ext cx="1629460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产品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9580" y="2286000"/>
            <a:ext cx="1678838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面积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8418" y="2286000"/>
            <a:ext cx="1629460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客户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2678811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688336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F5F1FF"/>
                </a:solidFill>
                <a:latin typeface="Microsoft YaHei"/>
              </a:rPr>
              <a:t>标准小单元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89580" y="2688336"/>
            <a:ext cx="1678838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80–150㎡×8–12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8418" y="2688336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AI 初创/设计/小微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3099435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" y="3108960"/>
            <a:ext cx="4937760" cy="420624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108960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F5F1FF"/>
                </a:solidFill>
                <a:latin typeface="Microsoft YaHei"/>
              </a:rPr>
              <a:t>成长型单元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89580" y="3108960"/>
            <a:ext cx="1678838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200–350㎡×3–4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8418" y="3108960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AI 应用/研发服务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3520059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3529584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F5F1FF"/>
                </a:solidFill>
                <a:latin typeface="Microsoft YaHei"/>
              </a:rPr>
              <a:t>OPC 联合办公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89580" y="3529584"/>
            <a:ext cx="1678838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工位大区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68418" y="3529584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AI 项目/黑客松/孵化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" y="3940683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120" y="3950208"/>
            <a:ext cx="4937760" cy="420624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3950208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F5F1FF"/>
                </a:solidFill>
                <a:latin typeface="Microsoft YaHei"/>
              </a:rPr>
              <a:t>直播 / AI 展示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89580" y="3950208"/>
            <a:ext cx="1678838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共享 1–2 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68418" y="3950208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按次 / 时段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" y="4361307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0120" y="2286000"/>
            <a:ext cx="31750" cy="20848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81344" y="1627632"/>
            <a:ext cx="5230368" cy="443484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81344" y="1627632"/>
            <a:ext cx="64008" cy="443484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178308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9C27C"/>
                </a:solidFill>
                <a:latin typeface="Microsoft YaHei"/>
              </a:rPr>
              <a:t>5 楼</a:t>
            </a:r>
            <a:r>
              <a:rPr sz="1600" b="1">
                <a:solidFill>
                  <a:srgbClr val="F5F1FF"/>
                </a:solidFill>
                <a:latin typeface="Microsoft YaHei"/>
              </a:rPr>
              <a:t>　约 3670㎡　展厅 + 贸易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73368" y="2286000"/>
            <a:ext cx="4937760" cy="402336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6276C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2286000"/>
            <a:ext cx="1629460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产品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2828" y="2286000"/>
            <a:ext cx="1678838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面积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81666" y="2286000"/>
            <a:ext cx="1629460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内容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73368" y="2678811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73368" y="2688336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F5F1FF"/>
                </a:solidFill>
                <a:latin typeface="Microsoft YaHei"/>
              </a:rPr>
              <a:t>综合集群展厅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2828" y="2688336"/>
            <a:ext cx="1678838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700–900㎡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81666" y="2688336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50+ IP 轮展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73368" y="3099435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73368" y="3108960"/>
            <a:ext cx="4937760" cy="420624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73368" y="3108960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F5F1FF"/>
                </a:solidFill>
                <a:latin typeface="Microsoft YaHei"/>
              </a:rPr>
              <a:t>产业集群展位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2828" y="3108960"/>
            <a:ext cx="1678838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270–700㎡×4–5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81666" y="3108960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玩具/毛绒/潮玩/文创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73368" y="3520059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73368" y="3529584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F5F1FF"/>
                </a:solidFill>
                <a:latin typeface="Microsoft YaHei"/>
              </a:rPr>
              <a:t>IP 展销/跨境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02828" y="3529584"/>
            <a:ext cx="1678838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按摊位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81666" y="3529584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IP 零售/跨境展销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73368" y="3940683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373368" y="3950208"/>
            <a:ext cx="4937760" cy="420624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73368" y="3950208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F5F1FF"/>
                </a:solidFill>
                <a:latin typeface="Microsoft YaHei"/>
              </a:rPr>
              <a:t>培训沙龙/仓储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02828" y="3950208"/>
            <a:ext cx="1678838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120–650㎡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81666" y="3950208"/>
            <a:ext cx="16294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OPC 培训/活动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73368" y="4361307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373368" y="2286000"/>
            <a:ext cx="31750" cy="208483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LEASING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四级招商漏斗 + 三年去化目标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24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91640"/>
            <a:ext cx="2542032" cy="1828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91640"/>
            <a:ext cx="64008" cy="182880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1874519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8B7BFF"/>
                </a:solidFill>
                <a:latin typeface="Arial"/>
              </a:rPr>
              <a:t>L1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395728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F1FF"/>
                </a:solidFill>
                <a:latin typeface="Microsoft YaHei"/>
              </a:rPr>
              <a:t>牌照锚定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2816352"/>
            <a:ext cx="21945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校友会/科企联/IP/玩具协会挂牌前置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65576" y="1691640"/>
            <a:ext cx="2542032" cy="1828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65576" y="1691640"/>
            <a:ext cx="64008" cy="182880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76472" y="1874519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8B7BFF"/>
                </a:solidFill>
                <a:latin typeface="Arial"/>
              </a:rPr>
              <a:t>L2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6472" y="2395728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F1FF"/>
                </a:solidFill>
                <a:latin typeface="Microsoft YaHei"/>
              </a:rPr>
              <a:t>政策招商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6472" y="2816352"/>
            <a:ext cx="21945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杨浦政策 + 火山引擎 + 算力补贴礼包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3912" y="1691640"/>
            <a:ext cx="2542032" cy="1828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3912" y="1691640"/>
            <a:ext cx="64008" cy="182880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1874519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8B7BFF"/>
                </a:solidFill>
                <a:latin typeface="Arial"/>
              </a:rPr>
              <a:t>L3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2395728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F1FF"/>
                </a:solidFill>
                <a:latin typeface="Microsoft YaHei"/>
              </a:rPr>
              <a:t>社群带流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2816352"/>
            <a:ext cx="21945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OPC 社群/黑客松/小红书/漫展/复旦科技园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42248" y="1691640"/>
            <a:ext cx="2542032" cy="1828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42248" y="1691640"/>
            <a:ext cx="64008" cy="182880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53144" y="1874519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8B7BFF"/>
                </a:solidFill>
                <a:latin typeface="Arial"/>
              </a:rPr>
              <a:t>L4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2395728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F1FF"/>
                </a:solidFill>
                <a:latin typeface="Microsoft YaHei"/>
              </a:rPr>
              <a:t>资源转化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3144" y="2816352"/>
            <a:ext cx="21945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高校成果转化/IP 品牌方/外贸玩具厂转化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3886200"/>
            <a:ext cx="3401568" cy="17830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3886200"/>
            <a:ext cx="64008" cy="17830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6424" y="4160520"/>
            <a:ext cx="30175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9C27C"/>
                </a:solidFill>
                <a:latin typeface="Microsoft YaHei"/>
              </a:rPr>
              <a:t>三年均 85%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" y="4937760"/>
            <a:ext cx="30175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或 80% → 85% → 95%（首/次/三年）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79976" y="3886200"/>
            <a:ext cx="3401568" cy="17830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79976" y="3886200"/>
            <a:ext cx="64008" cy="178308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60" y="4160520"/>
            <a:ext cx="30175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8B7BFF"/>
                </a:solidFill>
                <a:latin typeface="Microsoft YaHei"/>
              </a:rPr>
              <a:t>对赌挂钩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4937760"/>
            <a:ext cx="30175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基础运营费与去化目标对赌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82712" y="3886200"/>
            <a:ext cx="3401568" cy="17830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82712" y="3886200"/>
            <a:ext cx="64008" cy="17830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11896" y="4160520"/>
            <a:ext cx="30175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56D6B6"/>
                </a:solidFill>
                <a:latin typeface="Microsoft YaHei"/>
              </a:rPr>
              <a:t>5 类客群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11896" y="4937760"/>
            <a:ext cx="30175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AI / 潮玩玩具文创 IP / 科技中小 /
高校转化 / 生产性服务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OPERATION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招商运营策划及计划方案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25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64208"/>
            <a:ext cx="3401568" cy="27889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64208"/>
            <a:ext cx="64008" cy="278892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1847088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招商打法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231136"/>
            <a:ext cx="2852928" cy="213055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3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30">
                <a:solidFill>
                  <a:srgbClr val="C6BAEA"/>
                </a:solidFill>
                <a:latin typeface="Microsoft YaHei"/>
              </a:rPr>
              <a:t>牌照锚定 + 政策礼包前置，客户「送进来」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3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30">
                <a:solidFill>
                  <a:srgbClr val="C6BAEA"/>
                </a:solidFill>
                <a:latin typeface="Microsoft YaHei"/>
              </a:rPr>
              <a:t>小红书投流引流 → 线下 AI 培训/活动 → 转化租客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3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30">
                <a:solidFill>
                  <a:srgbClr val="C6BAEA"/>
                </a:solidFill>
                <a:latin typeface="Microsoft YaHei"/>
              </a:rPr>
              <a:t>复旦科技园导流 + 高校大厂 + IP/协会资源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1664208"/>
            <a:ext cx="3401568" cy="27889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9976" y="1664208"/>
            <a:ext cx="64008" cy="278892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1847088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运营团队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231136"/>
            <a:ext cx="2852928" cy="213055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3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30">
                <a:solidFill>
                  <a:srgbClr val="C6BAEA"/>
                </a:solidFill>
                <a:latin typeface="Microsoft YaHei"/>
              </a:rPr>
              <a:t>在地 2 人（招商 + 综合管理，均全方位）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3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30">
                <a:solidFill>
                  <a:srgbClr val="C6BAEA"/>
                </a:solidFill>
                <a:latin typeface="Microsoft YaHei"/>
              </a:rPr>
              <a:t>出海撮合：初期各部门抽调兼职，成熟设全职约 3 人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3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30">
                <a:solidFill>
                  <a:srgbClr val="C6BAEA"/>
                </a:solidFill>
                <a:latin typeface="Microsoft YaHei"/>
              </a:rPr>
              <a:t>挂牌杨浦科技企业服务中心，接政务通道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82712" y="1664208"/>
            <a:ext cx="3401568" cy="27889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82712" y="1664208"/>
            <a:ext cx="64008" cy="278892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1847088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运营节奏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231136"/>
            <a:ext cx="2852928" cy="213055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3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30">
                <a:solidFill>
                  <a:srgbClr val="C6BAEA"/>
                </a:solidFill>
                <a:latin typeface="Microsoft YaHei"/>
              </a:rPr>
              <a:t>月度招商目标 + 去化看板（对赌三年均 85%）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3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30">
                <a:solidFill>
                  <a:srgbClr val="C6BAEA"/>
                </a:solidFill>
                <a:latin typeface="Microsoft YaHei"/>
              </a:rPr>
              <a:t>常态化活动完成载体 KPI，运营满年申请补贴（约一二十万）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3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30">
                <a:solidFill>
                  <a:srgbClr val="C6BAEA"/>
                </a:solidFill>
                <a:latin typeface="Microsoft YaHei"/>
              </a:rPr>
              <a:t>企业服务收费体系逐步导入，沉淀会员/私域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617720"/>
            <a:ext cx="10634472" cy="14173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617720"/>
            <a:ext cx="64008" cy="141732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736592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9C27C"/>
                </a:solidFill>
                <a:latin typeface="Microsoft YaHei"/>
              </a:rPr>
              <a:t>阶段计划（0–3 / 3–6 / 6–12 月）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120640"/>
            <a:ext cx="5120640" cy="82296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1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0–3 月：定位包装 + 政策梳理 + 首批挂牌 + 样板企业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1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3–6 月：集中招引 + 首批优惠 + 推介路演 + 政策诊断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120640"/>
            <a:ext cx="5029200" cy="82296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1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6–12 月：重点补位 + 专精特新/高企培育 + 首场漫展</a:t>
            </a:r>
          </a:p>
          <a:p>
            <a:pPr>
              <a:lnSpc>
                <a:spcPct val="118000"/>
              </a:lnSpc>
              <a:spcAft>
                <a:spcPts val="300"/>
              </a:spcAft>
            </a:pPr>
            <a:r>
              <a:rPr sz="11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全周期：活动 IP 化 + 出海撮合 + 补贴反哺 + 复制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EVENT CALENDAR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活动安排计划 · 年度活动日历（约 30 场）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26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600200"/>
            <a:ext cx="10634472" cy="420624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6276C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00200"/>
            <a:ext cx="2126894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类型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4134" y="1600200"/>
            <a:ext cx="1382481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频次/年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6615" y="1600200"/>
            <a:ext cx="4466478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3093" y="1600200"/>
            <a:ext cx="2658618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作用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011299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020824"/>
            <a:ext cx="2126894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AI 培训 / 黑客松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4134" y="2020824"/>
            <a:ext cx="1382481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约 10 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6615" y="2020824"/>
            <a:ext cx="4466478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OPC 社群、AI 工具链、AIGC 实操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3093" y="2020824"/>
            <a:ext cx="2658618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引流转化 → 租客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2486787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2496312"/>
            <a:ext cx="10634472" cy="475488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496312"/>
            <a:ext cx="2126894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政策沙龙 / 路演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4134" y="2496312"/>
            <a:ext cx="1382481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约 6 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86615" y="2496312"/>
            <a:ext cx="4466478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政策解读、专精特新/高企培育、投融资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093" y="2496312"/>
            <a:ext cx="2658618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政策兑现 + 招商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962275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2971800"/>
            <a:ext cx="2126894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行业对接 / 撮合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04134" y="2971800"/>
            <a:ext cx="1382481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约 6 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86615" y="2971800"/>
            <a:ext cx="4466478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供应链/IP 出海对接、产业撮合、游学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53093" y="2971800"/>
            <a:ext cx="2658618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出海撮合 + 会员粘性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3437763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3447288"/>
            <a:ext cx="10634472" cy="475488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3447288"/>
            <a:ext cx="2126894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IP / 潮玩活动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04134" y="3447288"/>
            <a:ext cx="1382481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约 4 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86615" y="3447288"/>
            <a:ext cx="4466478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IP 首发、主题市集、沉浸式展览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53093" y="3447288"/>
            <a:ext cx="2658618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5F 引流 + 商业变现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3913251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3922776"/>
            <a:ext cx="2126894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漫展 / 大型活动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04134" y="3922776"/>
            <a:ext cx="1382481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约 2 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86615" y="3922776"/>
            <a:ext cx="4466478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千人级漫展（门票+赞助）、峰会借势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53093" y="3922776"/>
            <a:ext cx="2658618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声量 + 经营性收入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388739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4398264"/>
            <a:ext cx="10634472" cy="475488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4398264"/>
            <a:ext cx="2126894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领事专题 / 出海活动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04134" y="4398264"/>
            <a:ext cx="1382481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约 2 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86615" y="4398264"/>
            <a:ext cx="4466478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国家会客厅领事专题、出海推介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53093" y="4398264"/>
            <a:ext cx="2658618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高端背书 + 出海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4864227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" y="1600200"/>
            <a:ext cx="31750" cy="3273552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" y="5806440"/>
            <a:ext cx="10607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＊对标魔术空间约 110 场/年：活动场次越多，招商与载体 KPI 越有利；30 场为满足各项要求的基线。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2194560"/>
            <a:ext cx="6858000" cy="68580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8B7B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2377440"/>
            <a:ext cx="5943600" cy="59436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C77D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640080"/>
            <a:ext cx="548640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0" b="1">
                <a:solidFill>
                  <a:srgbClr val="E9C27C"/>
                </a:solidFill>
                <a:latin typeface="Arial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7480"/>
            <a:ext cx="822960" cy="381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300">
                <a:solidFill>
                  <a:srgbClr val="E9C27C"/>
                </a:solidFill>
                <a:latin typeface="Arial"/>
              </a:rPr>
              <a:t>MILESTONES &amp; SCHEDULE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96012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5F1FF"/>
                </a:solidFill>
                <a:latin typeface="Microsoft YaHei"/>
              </a:rPr>
              <a:t>节点与排期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6BAEA"/>
                </a:solidFill>
                <a:latin typeface="Microsoft YaHei"/>
              </a:rPr>
              <a:t>三年合作 · 三年平均 85%（80% / 85% / 95%）去化目标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27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MILESTONES &amp;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三年运营节奏 · 去化与品牌双线推进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28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965960"/>
            <a:ext cx="38100" cy="356616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8B7BFF"/>
              </a:gs>
              <a:gs pos="100000">
                <a:srgbClr val="E9C27C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2194559"/>
            <a:ext cx="329184" cy="329184"/>
          </a:xfrm>
          <a:prstGeom prst="ellipse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554480" y="1874519"/>
            <a:ext cx="9857232" cy="10515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54480" y="1874519"/>
            <a:ext cx="64008" cy="10515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1874519"/>
            <a:ext cx="155448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8B7BFF"/>
                </a:solidFill>
                <a:latin typeface="Microsoft YaHei"/>
              </a:rPr>
              <a:t>第 1 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1874519"/>
            <a:ext cx="155448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F1FF"/>
                </a:solidFill>
                <a:latin typeface="Microsoft YaHei"/>
              </a:rPr>
              <a:t>去化 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1874519"/>
            <a:ext cx="173736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6BAEA"/>
                </a:solidFill>
                <a:latin typeface="Microsoft YaHei"/>
              </a:rPr>
              <a:t>启动 + 导入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874519"/>
            <a:ext cx="457200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命名/手册/收费/政策汇编/首批挂牌/样板企业/首批招引 AI·IP·潮玩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3383279"/>
            <a:ext cx="329184" cy="329184"/>
          </a:xfrm>
          <a:prstGeom prst="ellipse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554480" y="3063239"/>
            <a:ext cx="9857232" cy="10515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54480" y="3063239"/>
            <a:ext cx="64008" cy="10515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3063239"/>
            <a:ext cx="155448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77DFF"/>
                </a:solidFill>
                <a:latin typeface="Microsoft YaHei"/>
              </a:rPr>
              <a:t>第 2 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3063239"/>
            <a:ext cx="155448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F1FF"/>
                </a:solidFill>
                <a:latin typeface="Microsoft YaHei"/>
              </a:rPr>
              <a:t>去化 85%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063239"/>
            <a:ext cx="173736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6BAEA"/>
                </a:solidFill>
                <a:latin typeface="Microsoft YaHei"/>
              </a:rPr>
              <a:t>成型 + 提质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063239"/>
            <a:ext cx="457200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重点客户补位/专精特新·高企培育/企业服务收费/漫展与沙龙常态化</a:t>
            </a:r>
          </a:p>
        </p:txBody>
      </p:sp>
      <p:sp>
        <p:nvSpPr>
          <p:cNvPr id="26" name="Oval 25"/>
          <p:cNvSpPr/>
          <p:nvPr/>
        </p:nvSpPr>
        <p:spPr>
          <a:xfrm>
            <a:off x="960120" y="4571999"/>
            <a:ext cx="329184" cy="329184"/>
          </a:xfrm>
          <a:prstGeom prst="ellipse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554480" y="4251959"/>
            <a:ext cx="9857232" cy="10515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554480" y="4251959"/>
            <a:ext cx="64008" cy="105156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4251959"/>
            <a:ext cx="155448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9C27C"/>
                </a:solidFill>
                <a:latin typeface="Microsoft YaHei"/>
              </a:rPr>
              <a:t>第 3 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4251959"/>
            <a:ext cx="155448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F1FF"/>
                </a:solidFill>
                <a:latin typeface="Microsoft YaHei"/>
              </a:rPr>
              <a:t>去化 95%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4251959"/>
            <a:ext cx="173736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6BAEA"/>
                </a:solidFill>
                <a:latin typeface="Microsoft YaHei"/>
              </a:rPr>
              <a:t>提升 + 复制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251959"/>
            <a:ext cx="4572000" cy="10515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区级示范点/载体资质/补贴反哺/出海撮合放量/协同周边≤2项目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2194560"/>
            <a:ext cx="6858000" cy="68580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8B7B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2377440"/>
            <a:ext cx="5943600" cy="59436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C77D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640080"/>
            <a:ext cx="548640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0" b="1">
                <a:solidFill>
                  <a:srgbClr val="E9C27C"/>
                </a:solidFill>
                <a:latin typeface="Arial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7480"/>
            <a:ext cx="822960" cy="381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300">
                <a:solidFill>
                  <a:srgbClr val="E9C27C"/>
                </a:solidFill>
                <a:latin typeface="Arial"/>
              </a:rPr>
              <a:t>TERMS &amp; QUOTATION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96012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5F1FF"/>
                </a:solidFill>
                <a:latin typeface="Microsoft YaHei"/>
              </a:rPr>
              <a:t>商业条款与合作报价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6BAEA"/>
                </a:solidFill>
                <a:latin typeface="Microsoft YaHei"/>
              </a:rPr>
              <a:t>三年合作 · 五类收费 · 联合公司 · 测算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29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COOPERATION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合作模式与原则 · 对赌运营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30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91640"/>
            <a:ext cx="2542032" cy="1828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91640"/>
            <a:ext cx="64008" cy="18288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874519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6BAEA"/>
                </a:solidFill>
                <a:latin typeface="Microsoft YaHei"/>
              </a:rPr>
              <a:t>合作周期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286000"/>
            <a:ext cx="2103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E9C27C"/>
                </a:solidFill>
                <a:latin typeface="Microsoft YaHei"/>
              </a:rPr>
              <a:t>3 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926080"/>
            <a:ext cx="2148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首期三年，满租后享优先续约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83864" y="1691640"/>
            <a:ext cx="2542032" cy="1828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83864" y="1691640"/>
            <a:ext cx="64008" cy="182880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58184" y="1874519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6BAEA"/>
                </a:solidFill>
                <a:latin typeface="Microsoft YaHei"/>
              </a:rPr>
              <a:t>协同复制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8184" y="2286000"/>
            <a:ext cx="2103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8B7BFF"/>
                </a:solidFill>
                <a:latin typeface="Microsoft YaHei"/>
              </a:rPr>
              <a:t>≤ 2 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58184" y="2926080"/>
            <a:ext cx="2148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可协同周边不超过两个项目，模式可复制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1691640"/>
            <a:ext cx="2542032" cy="1828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1691640"/>
            <a:ext cx="64008" cy="182880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1874519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6BAEA"/>
                </a:solidFill>
                <a:latin typeface="Microsoft YaHei"/>
              </a:rPr>
              <a:t>合作方式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2286000"/>
            <a:ext cx="2103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C77DFF"/>
                </a:solidFill>
                <a:latin typeface="Microsoft YaHei"/>
              </a:rPr>
              <a:t>对赌运营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2926080"/>
            <a:ext cx="2148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收基础运营费并对赌去化目标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97112" y="1691640"/>
            <a:ext cx="2542032" cy="18288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97112" y="1691640"/>
            <a:ext cx="64008" cy="182880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71432" y="1874519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6BAEA"/>
                </a:solidFill>
                <a:latin typeface="Microsoft YaHei"/>
              </a:rPr>
              <a:t>人员配置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1432" y="2286000"/>
            <a:ext cx="2103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56D6B6"/>
                </a:solidFill>
                <a:latin typeface="Microsoft YaHei"/>
              </a:rPr>
              <a:t>2 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71432" y="2926080"/>
            <a:ext cx="2148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含杨浦科技企业服务中心挂牌服务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79476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9C27C"/>
                </a:solidFill>
                <a:latin typeface="Microsoft YaHei"/>
              </a:rPr>
              <a:t>合作原则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251960"/>
            <a:ext cx="91440" cy="457200"/>
          </a:xfrm>
          <a:prstGeom prst="round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6696" y="4251960"/>
            <a:ext cx="51206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空间价值最大化——做产业运营而非二房东租赁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251960"/>
            <a:ext cx="91440" cy="457200"/>
          </a:xfrm>
          <a:prstGeom prst="round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9944" y="4251960"/>
            <a:ext cx="51206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风险收益匹配——基础运营费保障 + 增量分成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4855464"/>
            <a:ext cx="91440" cy="457200"/>
          </a:xfrm>
          <a:prstGeom prst="round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6696" y="4855464"/>
            <a:ext cx="51206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招商资源共享——双方共同推动企业导入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0488" y="4855464"/>
            <a:ext cx="91440" cy="457200"/>
          </a:xfrm>
          <a:prstGeom prst="round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9944" y="4855464"/>
            <a:ext cx="51206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政策服务赋能——政策既是招商工具也是盈利工具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5458968"/>
            <a:ext cx="91440" cy="457200"/>
          </a:xfrm>
          <a:prstGeom prst="round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6696" y="5458968"/>
            <a:ext cx="51206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阶段化对赌——按三年平均 85%（80/85/95）去化考核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0488" y="5458968"/>
            <a:ext cx="91440" cy="457200"/>
          </a:xfrm>
          <a:prstGeom prst="round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9944" y="5458968"/>
            <a:ext cx="51206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F1FF"/>
                </a:solidFill>
                <a:latin typeface="Microsoft YaHei"/>
              </a:rPr>
              <a:t>可复制外延——跑通后协同周边项目、拓展新合作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QUOTATION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合作报价总表 · 五类收费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31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572768"/>
            <a:ext cx="10634472" cy="420624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6276C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72768"/>
            <a:ext cx="1807860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收费项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5100" y="1572768"/>
            <a:ext cx="4785512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标准 / 口径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0612" y="1572768"/>
            <a:ext cx="1276136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支付方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6748" y="1572768"/>
            <a:ext cx="2764962" cy="420624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备注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983867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993392"/>
            <a:ext cx="1807860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基础运营费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85100" y="1993392"/>
            <a:ext cx="478551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96 万/年（8 万/月）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0612" y="1993392"/>
            <a:ext cx="1276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合作方按月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6748" y="1993392"/>
            <a:ext cx="276496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含 2 人在地团队，支持对赌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2441067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2450592"/>
            <a:ext cx="10634472" cy="457200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450592"/>
            <a:ext cx="1807860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对赌去化目标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85100" y="2450592"/>
            <a:ext cx="478551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三年平均 85%（或 首年 80%/次年 85%/三年 95%）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0612" y="2450592"/>
            <a:ext cx="1276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6748" y="2450592"/>
            <a:ext cx="276496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达标机制，挂钩基础运营费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898267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2907792"/>
            <a:ext cx="1807860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招商佣金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85100" y="2907792"/>
            <a:ext cx="478551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成交后 1 个月租金（首年不重复）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612" y="2907792"/>
            <a:ext cx="1276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合作方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6748" y="2907792"/>
            <a:ext cx="276496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按进价/净值计（市场为 2–3 月）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3355467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3364992"/>
            <a:ext cx="10634472" cy="457200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3364992"/>
            <a:ext cx="1807860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挂牌费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85100" y="3364992"/>
            <a:ext cx="478551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3 万/个，按数量与影响力分档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70612" y="3364992"/>
            <a:ext cx="1276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合作方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6748" y="3364992"/>
            <a:ext cx="276496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国际会议厅费用另计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3812667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3822192"/>
            <a:ext cx="1807860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活动执行费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85100" y="3822192"/>
            <a:ext cx="478551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约 30 场/年 打包 30 万（每场≥30 人）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70612" y="3822192"/>
            <a:ext cx="1276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合作方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6748" y="3822192"/>
            <a:ext cx="276496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含策划执行、导师及物料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269867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4279392"/>
            <a:ext cx="10634472" cy="457200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4279392"/>
            <a:ext cx="1807860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媒体流量费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85100" y="4279392"/>
            <a:ext cx="478551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10 万/年（含网络投流）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70612" y="4279392"/>
            <a:ext cx="1276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合作方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46748" y="4279392"/>
            <a:ext cx="276496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官媒背书 5 万 + 自媒体/投流 5 万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4727067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4736592"/>
            <a:ext cx="1807860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企业增值服务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85100" y="4736592"/>
            <a:ext cx="478551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工商/政策/知产/财税法务/融资/出海撮合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70612" y="4736592"/>
            <a:ext cx="1276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入驻企业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46748" y="4736592"/>
            <a:ext cx="276496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成立联合公司经营分成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" y="5184267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77240" y="5193792"/>
            <a:ext cx="10634472" cy="457200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" y="5193792"/>
            <a:ext cx="1807860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补贴与资质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85100" y="5193792"/>
            <a:ext cx="478551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协助申请政府补贴与企业资质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70612" y="5193792"/>
            <a:ext cx="127613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46748" y="5193792"/>
            <a:ext cx="2764962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申请下的补贴归运营平台公司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" y="5641467"/>
            <a:ext cx="10634472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77240" y="1572768"/>
            <a:ext cx="31750" cy="407822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MEDIA &amp; VALUE-ADD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媒体报价 + 联合公司增值服务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32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45920"/>
            <a:ext cx="5230368" cy="43434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45920"/>
            <a:ext cx="64008" cy="434340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10512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媒体报价　</a:t>
            </a:r>
            <a:r>
              <a:rPr sz="1550" b="1">
                <a:solidFill>
                  <a:srgbClr val="8B7BFF"/>
                </a:solidFill>
                <a:latin typeface="Microsoft YaHei"/>
              </a:rPr>
              <a:t>10 万/年（含网络投流）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2286000"/>
            <a:ext cx="4937760" cy="38404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6276C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286000"/>
            <a:ext cx="1580083" cy="38404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构成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0203" y="2286000"/>
            <a:ext cx="3357676" cy="38404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口径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2660523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670048"/>
            <a:ext cx="1580083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1">
                <a:solidFill>
                  <a:srgbClr val="F5F1FF"/>
                </a:solidFill>
                <a:latin typeface="Microsoft YaHei"/>
              </a:rPr>
              <a:t>官媒背书 5 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0203" y="2670048"/>
            <a:ext cx="3357676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党媒/央媒/上海主流媒体宣发，项目背书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3136011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3145536"/>
            <a:ext cx="4937760" cy="475488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145536"/>
            <a:ext cx="1580083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1">
                <a:solidFill>
                  <a:srgbClr val="F5F1FF"/>
                </a:solidFill>
                <a:latin typeface="Microsoft YaHei"/>
              </a:rPr>
              <a:t>自媒体+投流 5 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0203" y="3145536"/>
            <a:ext cx="3357676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小红书投流 + 账号代运营 + 短视频/直播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3611499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621024"/>
            <a:ext cx="1580083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1">
                <a:solidFill>
                  <a:srgbClr val="F5F1FF"/>
                </a:solidFill>
                <a:latin typeface="Microsoft YaHei"/>
              </a:rPr>
              <a:t>注册自有账号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40203" y="3621024"/>
            <a:ext cx="3357676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园区/IP 官方号，沉淀私域流量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4086987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20" y="4096512"/>
            <a:ext cx="4937760" cy="475488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096512"/>
            <a:ext cx="1580083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1">
                <a:solidFill>
                  <a:srgbClr val="F5F1FF"/>
                </a:solidFill>
                <a:latin typeface="Microsoft YaHei"/>
              </a:rPr>
              <a:t>活动协同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40203" y="4096512"/>
            <a:ext cx="3357676" cy="47548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050" b="0">
                <a:solidFill>
                  <a:srgbClr val="C6BAEA"/>
                </a:solidFill>
                <a:latin typeface="Microsoft YaHei"/>
              </a:rPr>
              <a:t>活动招募与内容基于活动产出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" y="4562475"/>
            <a:ext cx="493776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120" y="2286000"/>
            <a:ext cx="31750" cy="22860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81344" y="1645920"/>
            <a:ext cx="5230368" cy="4343400"/>
          </a:xfrm>
          <a:prstGeom prst="roundRect">
            <a:avLst/>
          </a:prstGeom>
          <a:ln w="15875">
            <a:solidFill>
              <a:srgbClr val="E9C27C"/>
            </a:solidFill>
          </a:ln>
          <a:effectLst/>
          <a:gradFill>
            <a:gsLst>
              <a:gs pos="0">
                <a:srgbClr val="3A2878"/>
              </a:gs>
              <a:gs pos="100000">
                <a:srgbClr val="2A1E55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81344" y="1645920"/>
            <a:ext cx="64008" cy="43434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1810512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9C27C"/>
                </a:solidFill>
                <a:latin typeface="Microsoft YaHei"/>
              </a:rPr>
              <a:t>企业增值服务 · 联合公司经营分成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9088" y="2331720"/>
            <a:ext cx="4846320" cy="237744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工商注册、政策申报、知识产权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税收法务、融资顾问、出海撮合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以上通过成立联合公司经营、按约定分成</a:t>
            </a:r>
          </a:p>
          <a:p>
            <a:pPr>
              <a:lnSpc>
                <a:spcPct val="118000"/>
              </a:lnSpc>
              <a:spcAft>
                <a:spcPts val="11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补贴归属：申请下的补贴归运营平台公司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19088" y="4800600"/>
            <a:ext cx="4754880" cy="96012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322462"/>
              </a:gs>
              <a:gs pos="100000">
                <a:srgbClr val="22184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1968" y="4892040"/>
            <a:ext cx="448056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E9C27C"/>
                </a:solidFill>
                <a:latin typeface="Microsoft YaHei"/>
              </a:rPr>
              <a:t>多元化收入　</a:t>
            </a:r>
            <a:r>
              <a:rPr sz="1150" b="0">
                <a:solidFill>
                  <a:srgbClr val="F5F1FF"/>
                </a:solidFill>
                <a:latin typeface="Microsoft YaHei"/>
              </a:rPr>
              <a:t>联合培训 + 小红书招募增经营性收入；顶层可办漫展/展览（门票+赞助）。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MEDIA QUOTATION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媒体合作报价 · 完整生态传播包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33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627632"/>
            <a:ext cx="7635240" cy="438912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6276C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27632"/>
            <a:ext cx="3206800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服务项目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84040" y="1627632"/>
            <a:ext cx="992581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数量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6621" y="1627632"/>
            <a:ext cx="3435858" cy="438912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说明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057019"/>
            <a:ext cx="763524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066544"/>
            <a:ext cx="3206800" cy="56692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F5F1FF"/>
                </a:solidFill>
                <a:latin typeface="Microsoft YaHei"/>
              </a:rPr>
              <a:t>原创内容生产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84040" y="2066544"/>
            <a:ext cx="992581" cy="56692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3 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76621" y="2066544"/>
            <a:ext cx="3435858" cy="56692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结合品牌定位，品牌宣传稿 + 营销活动稿原创采写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623947"/>
            <a:ext cx="763524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2633472"/>
            <a:ext cx="7635240" cy="566928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633472"/>
            <a:ext cx="3206800" cy="56692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F5F1FF"/>
                </a:solidFill>
                <a:latin typeface="Microsoft YaHei"/>
              </a:rPr>
              <a:t>中央级/全国性/上海主流媒体宣发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84040" y="2633472"/>
            <a:ext cx="992581" cy="56692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10 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76621" y="2633472"/>
            <a:ext cx="3435858" cy="56692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央视/人民网/新华网/第一财经/澎湃/界面等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190875"/>
            <a:ext cx="763524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200400"/>
            <a:ext cx="3206800" cy="56692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F5F1FF"/>
                </a:solidFill>
                <a:latin typeface="Microsoft YaHei"/>
              </a:rPr>
              <a:t>全国社交平台流量投放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84040" y="3200400"/>
            <a:ext cx="992581" cy="56692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76621" y="3200400"/>
            <a:ext cx="3435858" cy="56692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抖音 / 今日头条信息流，投放上海（不含短视频拍摄制作）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3757803"/>
            <a:ext cx="763524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3767328"/>
            <a:ext cx="7635240" cy="566928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767328"/>
            <a:ext cx="3206800" cy="56692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00" b="1">
                <a:solidFill>
                  <a:srgbClr val="F5F1FF"/>
                </a:solidFill>
                <a:latin typeface="Microsoft YaHei"/>
              </a:rPr>
              <a:t>营销策划与舆情管理咨询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84040" y="3767328"/>
            <a:ext cx="992581" cy="56692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≤2 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76621" y="3767328"/>
            <a:ext cx="3435858" cy="566928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营销策划咨询 + 媒体舆情协调处理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4324731"/>
            <a:ext cx="763524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1627632"/>
            <a:ext cx="31750" cy="270662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7240" y="4754880"/>
            <a:ext cx="7635240" cy="1234440"/>
          </a:xfrm>
          <a:prstGeom prst="roundRect">
            <a:avLst/>
          </a:prstGeom>
          <a:ln w="15875">
            <a:solidFill>
              <a:srgbClr val="E9C27C"/>
            </a:solidFill>
          </a:ln>
          <a:effectLst/>
          <a:gradFill>
            <a:gsLst>
              <a:gs pos="0">
                <a:srgbClr val="3A2878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4892040"/>
            <a:ext cx="7315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9C27C"/>
                </a:solidFill>
                <a:latin typeface="Microsoft YaHei"/>
              </a:rPr>
              <a:t>折后总价　</a:t>
            </a:r>
            <a:r>
              <a:rPr sz="1400" b="1">
                <a:solidFill>
                  <a:srgbClr val="E9C27C"/>
                </a:solidFill>
                <a:latin typeface="Microsoft YaHei"/>
              </a:rPr>
              <a:t>5 万元</a:t>
            </a:r>
            <a:r>
              <a:rPr sz="1400" b="1">
                <a:solidFill>
                  <a:srgbClr val="F5F1FF"/>
                </a:solidFill>
                <a:latin typeface="Microsoft YaHei"/>
              </a:rPr>
              <a:t>（官媒背书包，曝光 ≥ 150 万；为 10 万/年媒体预算之一）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440680"/>
            <a:ext cx="7315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6BAEA"/>
                </a:solidFill>
                <a:latin typeface="Microsoft YaHei"/>
              </a:rPr>
              <a:t>交付：</a:t>
            </a:r>
            <a:r>
              <a:rPr sz="1150" b="0">
                <a:solidFill>
                  <a:srgbClr val="F5F1FF"/>
                </a:solidFill>
                <a:latin typeface="Microsoft YaHei"/>
              </a:rPr>
              <a:t>合作结束提供完整投放报告（发布链接证明 + 曝光量证明 + 投放分析）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13648" y="1627632"/>
            <a:ext cx="2798064" cy="214884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13648" y="1627632"/>
            <a:ext cx="64008" cy="214884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24544" y="1810512"/>
            <a:ext cx="230428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服务周期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24544" y="2231136"/>
            <a:ext cx="2249424" cy="1435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C6BAEA"/>
                </a:solidFill>
                <a:latin typeface="Microsoft YaHei"/>
              </a:rPr>
              <a:t>自签约起至 2026.12.31；服务期满可续，乙方享优先续约权。合作内容可按宣传需要调整。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13648" y="3913632"/>
            <a:ext cx="2798064" cy="2075688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613648" y="3913632"/>
            <a:ext cx="64008" cy="2075688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24544" y="4096512"/>
            <a:ext cx="230428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传播策略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24544" y="4480560"/>
            <a:ext cx="2249424" cy="141732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主流媒体引领，权威发声定调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抖音 + 头条：广度覆盖 + 深度触达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信息流精准算法，锁定目标人群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收益模型 · 对方视角测算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34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91640"/>
            <a:ext cx="2542032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91640"/>
            <a:ext cx="64008" cy="13716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847088"/>
            <a:ext cx="2103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9C27C"/>
                </a:solidFill>
                <a:latin typeface="Microsoft YaHei"/>
              </a:rPr>
              <a:t>96 万/年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468880"/>
            <a:ext cx="2148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基础运营费（8 万/月）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83864" y="1691640"/>
            <a:ext cx="2542032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83864" y="1691640"/>
            <a:ext cx="64008" cy="137160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58184" y="1847088"/>
            <a:ext cx="2103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8B7BFF"/>
                </a:solidFill>
                <a:latin typeface="Microsoft YaHei"/>
              </a:rPr>
              <a:t>+ 招商佣金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8184" y="2468880"/>
            <a:ext cx="2148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1 月租金 · 成交计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1691640"/>
            <a:ext cx="2542032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1691640"/>
            <a:ext cx="64008" cy="137160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1847088"/>
            <a:ext cx="2103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C77DFF"/>
                </a:solidFill>
                <a:latin typeface="Microsoft YaHei"/>
              </a:rPr>
              <a:t>+ 30 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2468880"/>
            <a:ext cx="2148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活动打包（约 30 场）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97112" y="1691640"/>
            <a:ext cx="2542032" cy="13716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97112" y="1691640"/>
            <a:ext cx="64008" cy="137160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1432" y="1847088"/>
            <a:ext cx="2103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56D6B6"/>
                </a:solidFill>
                <a:latin typeface="Microsoft YaHei"/>
              </a:rPr>
              <a:t>+ 10 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2468880"/>
            <a:ext cx="2148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媒体流量费（含投流）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3291840"/>
            <a:ext cx="5230368" cy="26974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3291840"/>
            <a:ext cx="64008" cy="26974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3456432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对方视角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" y="3886200"/>
            <a:ext cx="4892040" cy="402336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6276C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3886200"/>
            <a:ext cx="1663293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维度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23413" y="3886200"/>
            <a:ext cx="3228746" cy="402336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250" b="1">
                <a:solidFill>
                  <a:srgbClr val="E9C27C"/>
                </a:solidFill>
                <a:latin typeface="Microsoft YaHei"/>
              </a:rPr>
              <a:t>口径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" y="4279011"/>
            <a:ext cx="489204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4288536"/>
            <a:ext cx="1663293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8B7BFF"/>
                </a:solidFill>
                <a:latin typeface="Microsoft YaHei"/>
              </a:rPr>
              <a:t>对方空间成本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23413" y="4288536"/>
            <a:ext cx="322874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≈554 万/年（2.3 元/㎡/天）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" y="4736211"/>
            <a:ext cx="489204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0120" y="4745736"/>
            <a:ext cx="4892040" cy="457200"/>
          </a:xfrm>
          <a:prstGeom prst="rect">
            <a:avLst/>
          </a:prstGeom>
          <a:solidFill>
            <a:srgbClr val="221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4745736"/>
            <a:ext cx="1663293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8B7BFF"/>
                </a:solidFill>
                <a:latin typeface="Microsoft YaHei"/>
              </a:rPr>
              <a:t>我方固定服务包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23413" y="4745736"/>
            <a:ext cx="322874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约 136 万/年（96+30+10）+ 佣金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" y="5193411"/>
            <a:ext cx="489204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" y="5202936"/>
            <a:ext cx="1663293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50" b="1">
                <a:solidFill>
                  <a:srgbClr val="8B7BFF"/>
                </a:solidFill>
                <a:latin typeface="Microsoft YaHei"/>
              </a:rPr>
              <a:t>列支来源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23413" y="5202936"/>
            <a:ext cx="3228746" cy="457200"/>
          </a:xfrm>
          <a:prstGeom prst="rect">
            <a:avLst/>
          </a:prstGeom>
          <a:noFill/>
        </p:spPr>
        <p:txBody>
          <a:bodyPr wrap="square" anchor="ctr" lIns="127000" rIns="76200" tIns="25400" bIns="25400">
            <a:spAutoFit/>
          </a:bodyPr>
          <a:lstStyle/>
          <a:p>
            <a:pPr>
              <a:lnSpc>
                <a:spcPct val="104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利润/合作方运营费，非纯增量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0120" y="5650611"/>
            <a:ext cx="4892040" cy="9525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60120" y="3886200"/>
            <a:ext cx="31750" cy="177393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181344" y="3291840"/>
            <a:ext cx="5230368" cy="26974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81344" y="3291840"/>
            <a:ext cx="64008" cy="26974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3474720"/>
            <a:ext cx="47365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为什么算得过账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3858768"/>
            <a:ext cx="4681728" cy="203911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去化率按 80→85→95%（三年均 85%）逐年抬升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政策/补贴回流企业与平台，企业质量更高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出海撮合 + 联合公司形成第二增长曲线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56D6B6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比照元谷「花一份钱赚四份钱」逻辑，账面可算正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2194560"/>
            <a:ext cx="6858000" cy="68580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8B7B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2377440"/>
            <a:ext cx="5943600" cy="59436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C77D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640080"/>
            <a:ext cx="548640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0" b="1">
                <a:solidFill>
                  <a:srgbClr val="E9C27C"/>
                </a:solidFill>
                <a:latin typeface="Arial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7480"/>
            <a:ext cx="822960" cy="381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300">
                <a:solidFill>
                  <a:srgbClr val="E9C27C"/>
                </a:solidFill>
                <a:latin typeface="Arial"/>
              </a:rPr>
              <a:t>GLOBAL &amp; CONSUL SALON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96012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5F1FF"/>
                </a:solidFill>
                <a:latin typeface="Microsoft YaHei"/>
              </a:rPr>
              <a:t>出海撮合与国际会客厅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6BAEA"/>
                </a:solidFill>
                <a:latin typeface="Microsoft YaHei"/>
              </a:rPr>
              <a:t>国家会客厅 · 领事资源 · 出海撮合业务闭环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35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NATIONAL SALON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国际会议厅 · 「国家会客厅」（旗舰载体）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36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572768"/>
            <a:ext cx="10634472" cy="841248"/>
          </a:xfrm>
          <a:prstGeom prst="roundRect">
            <a:avLst/>
          </a:prstGeom>
          <a:ln w="15875">
            <a:solidFill>
              <a:srgbClr val="E9C27C"/>
            </a:solidFill>
          </a:ln>
          <a:effectLst/>
          <a:gradFill>
            <a:gsLst>
              <a:gs pos="0">
                <a:srgbClr val="3A2878"/>
              </a:gs>
              <a:gs pos="100000">
                <a:srgbClr val="2A1E5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572768"/>
            <a:ext cx="10241280" cy="8412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E9C27C"/>
                </a:solidFill>
                <a:latin typeface="Microsoft YaHei"/>
              </a:rPr>
              <a:t>载体定位　</a:t>
            </a:r>
            <a:r>
              <a:rPr sz="1300" b="0">
                <a:solidFill>
                  <a:srgbClr val="F5F1FF"/>
                </a:solidFill>
                <a:latin typeface="Microsoft YaHei"/>
              </a:rPr>
              <a:t>联合国际领事资源合作方（驻沪数十国总领事网络与领团背书），依托上海核心区地标高层空间，设「国家会客厅」——外事接待 · 文化展示 · 招商对接 · 企业服务四位一体。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606040"/>
            <a:ext cx="3401568" cy="306324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606040"/>
            <a:ext cx="64008" cy="306324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278892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三方协同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3172968"/>
            <a:ext cx="2852928" cy="240487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复旦政策研究中心：智库背书 / 课题 / 培训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杨浦科企联：企业会员 / 获客 / 招商落地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领事资源合作方：领事网络 / 空间 / 活动落地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9976" y="2606040"/>
            <a:ext cx="3401568" cy="306324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9976" y="2606040"/>
            <a:ext cx="64008" cy="306324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90872" y="278892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六大产品线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3172968"/>
            <a:ext cx="2852928" cy="240487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国家会客厅（旗舰，冠名 + 会籍）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领事专题活动（小 / 中 / 大三档）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高端商务出海深度游 · 企业出海对接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会员会籍 · 文化传播 / 智库 / 培训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82712" y="2606040"/>
            <a:ext cx="3401568" cy="306324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82712" y="2606040"/>
            <a:ext cx="64008" cy="306324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8" y="278892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收入来源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3172968"/>
            <a:ext cx="2852928" cy="240487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国家冠名 80–300 万 / 联合冠名 30–80 万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企业常驻会籍 10–30 万 / 单场地 + 领事出席 3–10 万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园区·政府招商包 30–100 万 / 项目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100">
                <a:solidFill>
                  <a:srgbClr val="C77DFF"/>
                </a:solidFill>
                <a:latin typeface="Microsoft YaHei"/>
              </a:rPr>
              <a:t>▪  </a:t>
            </a:r>
            <a:r>
              <a:rPr sz="1100">
                <a:solidFill>
                  <a:srgbClr val="C6BAEA"/>
                </a:solidFill>
                <a:latin typeface="Microsoft YaHei"/>
              </a:rPr>
              <a:t>出海：单国服务包 20–50 万 / 落地佣金 1–5%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06440"/>
            <a:ext cx="10607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＊为商务保密，本页对合作方名称作模糊化处理；具体主体、空间与权益以正式协议为准。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GO-GLOBAL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出海撮合业务 · 合作模式与闭环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37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27632"/>
            <a:ext cx="2560320" cy="16002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27632"/>
            <a:ext cx="64008" cy="16002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1810512"/>
            <a:ext cx="206654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展厅免租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231136"/>
            <a:ext cx="2011680" cy="886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080" b="0">
                <a:solidFill>
                  <a:srgbClr val="C6BAEA"/>
                </a:solidFill>
                <a:latin typeface="Microsoft YaHei"/>
              </a:rPr>
              <a:t>5F 展厅对优质企业免租，约定租金标准 + 物业费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084832"/>
            <a:ext cx="457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E9C27C"/>
                </a:solidFill>
                <a:latin typeface="Microsoft YaHei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02152" y="1627632"/>
            <a:ext cx="2560320" cy="16002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02152" y="1627632"/>
            <a:ext cx="64008" cy="160020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13048" y="1810512"/>
            <a:ext cx="206654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订单扣点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3048" y="2231136"/>
            <a:ext cx="2011680" cy="886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080" b="0">
                <a:solidFill>
                  <a:srgbClr val="C6BAEA"/>
                </a:solidFill>
                <a:latin typeface="Microsoft YaHei"/>
              </a:rPr>
              <a:t>出海达成订单后按扣点反哺租金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2472" y="2084832"/>
            <a:ext cx="457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E9C27C"/>
                </a:solidFill>
                <a:latin typeface="Microsoft YaHei"/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7064" y="1627632"/>
            <a:ext cx="2560320" cy="16002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27064" y="1627632"/>
            <a:ext cx="64008" cy="160020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1810512"/>
            <a:ext cx="206654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超额分成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231136"/>
            <a:ext cx="2011680" cy="886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080" b="0">
                <a:solidFill>
                  <a:srgbClr val="C6BAEA"/>
                </a:solidFill>
                <a:latin typeface="Microsoft YaHei"/>
              </a:rPr>
              <a:t>超出租金部分进入合资公司收益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7384" y="2084832"/>
            <a:ext cx="4572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E9C27C"/>
                </a:solidFill>
                <a:latin typeface="Microsoft YaHei"/>
              </a:rPr>
              <a:t>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51976" y="1627632"/>
            <a:ext cx="2560320" cy="160020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51976" y="1627632"/>
            <a:ext cx="64008" cy="160020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2" y="1810512"/>
            <a:ext cx="206654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5F1FF"/>
                </a:solidFill>
                <a:latin typeface="Microsoft YaHei"/>
              </a:rPr>
              <a:t>合资分配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2872" y="2231136"/>
            <a:ext cx="2011680" cy="886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080" b="0">
                <a:solidFill>
                  <a:srgbClr val="C6BAEA"/>
                </a:solidFill>
                <a:latin typeface="Microsoft YaHei"/>
              </a:rPr>
              <a:t>运营平台方与合作方按约定分配（平台方约 30%）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3429000"/>
            <a:ext cx="5230368" cy="237744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3429000"/>
            <a:ext cx="64008" cy="237744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8136" y="3611880"/>
            <a:ext cx="47365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收入模式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" y="3995928"/>
            <a:ext cx="4681728" cy="171907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出海撮合平台利润：单项目 1–30 万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落地成功佣金：项目额 1%–3%（按行业浮动）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展厅订单扣点反哺租金 + 超额进合资公司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产业撮合会员体系：年度顾问 / 游学 / 高级专家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E9C27C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国家会客厅：冠名 / 会籍 / 园区政府招商包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3429000"/>
            <a:ext cx="5230368" cy="237744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81344" y="3429000"/>
            <a:ext cx="64008" cy="237744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3611880"/>
            <a:ext cx="47365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落地要点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995928"/>
            <a:ext cx="4681728" cy="1719072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行业聚焦：供应链（玩具/毛绒/潮玩 OEM→品牌）+ 内容（AI 短剧/IP 授权）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对接层级：连领事 → 对接所在国商务部/部长 → 洽谈落地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团队：初期各部门抽调兼职（1 人起），成熟设全职（约 3 人），单独成立公司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250">
                <a:solidFill>
                  <a:srgbClr val="8B7BFF"/>
                </a:solidFill>
                <a:latin typeface="Microsoft YaHei"/>
              </a:rPr>
              <a:t>▪  </a:t>
            </a:r>
            <a:r>
              <a:rPr sz="1250">
                <a:solidFill>
                  <a:srgbClr val="C6BAEA"/>
                </a:solidFill>
                <a:latin typeface="Microsoft YaHei"/>
              </a:rPr>
              <a:t>沪穗联动：与广州自贸港/电商出海项目协同，两地共享资源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2194560"/>
            <a:ext cx="6858000" cy="68580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8B7B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2377440"/>
            <a:ext cx="5943600" cy="59436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C77D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640080"/>
            <a:ext cx="548640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0" b="1">
                <a:solidFill>
                  <a:srgbClr val="E9C27C"/>
                </a:solidFill>
                <a:latin typeface="Arial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7480"/>
            <a:ext cx="822960" cy="381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300">
                <a:solidFill>
                  <a:srgbClr val="E9C27C"/>
                </a:solidFill>
                <a:latin typeface="Arial"/>
              </a:rPr>
              <a:t>PLANNING &amp; EXPANSION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96012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5F1FF"/>
                </a:solidFill>
                <a:latin typeface="Microsoft YaHei"/>
              </a:rPr>
              <a:t>规划建议与业务拓展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6BAEA"/>
                </a:solidFill>
                <a:latin typeface="Microsoft YaHei"/>
              </a:rPr>
              <a:t>规划设计 · 多元收入 · 资源导入 · 协同复制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38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PLANNING &amp;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规划建议与业务拓展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39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91640"/>
            <a:ext cx="3401568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91640"/>
            <a:ext cx="64008" cy="196596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187452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规划设计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295144"/>
            <a:ext cx="2852928" cy="12527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C6BAEA"/>
                </a:solidFill>
                <a:latin typeface="Microsoft YaHei"/>
              </a:rPr>
              <a:t>配置 4–6 人设计条件；不建议做联合办公，突出产业办公与展贸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3063240"/>
            <a:ext cx="2743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1691640"/>
            <a:ext cx="3401568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1688" y="1691640"/>
            <a:ext cx="64008" cy="196596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2584" y="187452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多元化收入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4" y="2295144"/>
            <a:ext cx="2852928" cy="12527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C6BAEA"/>
                </a:solidFill>
                <a:latin typeface="Microsoft YaHei"/>
              </a:rPr>
              <a:t>联合开展培训；利用小红书招募，增加经营性收入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4" y="3063240"/>
            <a:ext cx="2743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8B7BFF"/>
                </a:solidFill>
                <a:latin typeface="Arial"/>
              </a:rPr>
              <a:t>02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46136" y="1691640"/>
            <a:ext cx="3401568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46136" y="1691640"/>
            <a:ext cx="64008" cy="196596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2" y="187452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资源导入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2295144"/>
            <a:ext cx="2852928" cy="12527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C6BAEA"/>
                </a:solidFill>
                <a:latin typeface="Microsoft YaHei"/>
              </a:rPr>
              <a:t>引入复旦科技园进行客户导流，形成稳定客源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3063240"/>
            <a:ext cx="2743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C77DFF"/>
                </a:solidFill>
                <a:latin typeface="Arial"/>
              </a:rP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840480"/>
            <a:ext cx="3401568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3840480"/>
            <a:ext cx="64008" cy="196596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36" y="402336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空间利用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" y="4443984"/>
            <a:ext cx="2852928" cy="12527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C6BAEA"/>
                </a:solidFill>
                <a:latin typeface="Microsoft YaHei"/>
              </a:rPr>
              <a:t>顶层部分可举办漫展或各类展览（门票 + 赞助）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" y="5212080"/>
            <a:ext cx="2743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56D6B6"/>
                </a:solidFill>
                <a:latin typeface="Arial"/>
              </a:rPr>
              <a:t>04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61688" y="3840480"/>
            <a:ext cx="3401568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61688" y="3840480"/>
            <a:ext cx="64008" cy="1965960"/>
          </a:xfrm>
          <a:prstGeom prst="rect">
            <a:avLst/>
          </a:prstGeom>
          <a:solidFill>
            <a:srgbClr val="F58B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72584" y="402336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协同复制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72584" y="4443984"/>
            <a:ext cx="2852928" cy="12527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C6BAEA"/>
                </a:solidFill>
                <a:latin typeface="Microsoft YaHei"/>
              </a:rPr>
              <a:t>合作模式可协同周边不超过两个项目，具备可复制性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2584" y="5212080"/>
            <a:ext cx="2743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8BB8"/>
                </a:solidFill>
                <a:latin typeface="Arial"/>
              </a:rPr>
              <a:t>05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46136" y="3840480"/>
            <a:ext cx="3401568" cy="196596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46136" y="3840480"/>
            <a:ext cx="64008" cy="196596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57032" y="4023360"/>
            <a:ext cx="290779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5F1FF"/>
                </a:solidFill>
                <a:latin typeface="Microsoft YaHei"/>
              </a:rPr>
              <a:t>业务拓展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7032" y="4443984"/>
            <a:ext cx="2852928" cy="12527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>
                <a:solidFill>
                  <a:srgbClr val="C6BAEA"/>
                </a:solidFill>
                <a:latin typeface="Microsoft YaHei"/>
              </a:rPr>
              <a:t>以本项目为支点，进一步协助拓展新的合作项目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57032" y="5212080"/>
            <a:ext cx="2743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9C27C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11680" y="2194560"/>
            <a:ext cx="6858000" cy="68580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8B7B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2377440"/>
            <a:ext cx="5943600" cy="59436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C77D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640080"/>
            <a:ext cx="548640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0" b="1">
                <a:solidFill>
                  <a:srgbClr val="E9C27C"/>
                </a:solidFill>
                <a:latin typeface="Arial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7480"/>
            <a:ext cx="822960" cy="381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300">
                <a:solidFill>
                  <a:srgbClr val="E9C27C"/>
                </a:solidFill>
                <a:latin typeface="Arial"/>
              </a:rPr>
              <a:t>DECISION &amp; NEXT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96012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5F1FF"/>
                </a:solidFill>
                <a:latin typeface="Microsoft YaHei"/>
              </a:rPr>
              <a:t>投决建议与下一步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9144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C6BAEA"/>
                </a:solidFill>
                <a:latin typeface="Microsoft YaHei"/>
              </a:rPr>
              <a:t>三问决策 · 30 / 60 / 90 天 · 三年蓝图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40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786384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48640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00">
                <a:solidFill>
                  <a:srgbClr val="E9C27C"/>
                </a:solidFill>
                <a:latin typeface="Arial"/>
              </a:rPr>
              <a:t>DECISION &amp;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" y="841248"/>
            <a:ext cx="9509760" cy="60350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5F1FF"/>
                </a:solidFill>
                <a:latin typeface="Microsoft YaHei"/>
              </a:rPr>
              <a:t>三问决策 + 启动路线图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57200"/>
            <a:ext cx="14173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b="1">
                <a:solidFill>
                  <a:srgbClr val="E9C27C"/>
                </a:solidFill>
                <a:latin typeface="Arial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61320" y="1207008"/>
            <a:ext cx="1170432" cy="254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6327648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400800"/>
            <a:ext cx="82296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86C4"/>
                </a:solidFill>
                <a:latin typeface="Microsoft YaHei"/>
              </a:rPr>
              <a:t>上海创智汇 </a:t>
            </a:r>
            <a:r>
              <a:rPr sz="950" b="0">
                <a:solidFill>
                  <a:srgbClr val="9486C4"/>
                </a:solidFill>
                <a:latin typeface="Arial"/>
              </a:rPr>
              <a:t>CHUANGZHIHUI</a:t>
            </a:r>
            <a:r>
              <a:rPr sz="950" b="0">
                <a:solidFill>
                  <a:srgbClr val="9486C4"/>
                </a:solidFill>
                <a:latin typeface="Microsoft YaHei"/>
              </a:rPr>
              <a:t>  ·  AI+数字内容无界共创港 · 6600㎡ 谈判集中汇报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00800"/>
            <a:ext cx="149047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E9C27C"/>
                </a:solidFill>
                <a:latin typeface="Arial"/>
              </a:rPr>
              <a:t>41</a:t>
            </a:r>
            <a:r>
              <a:rPr sz="1050" b="0">
                <a:solidFill>
                  <a:srgbClr val="9486C4"/>
                </a:solidFill>
                <a:latin typeface="Arial"/>
              </a:rPr>
              <a:t> / 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45920"/>
            <a:ext cx="3401568" cy="15544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645920"/>
            <a:ext cx="64008" cy="15544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1828800"/>
            <a:ext cx="2926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9C27C"/>
                </a:solidFill>
                <a:latin typeface="Arial"/>
              </a:rPr>
              <a:t>Q1　</a:t>
            </a:r>
            <a:r>
              <a:rPr sz="1550" b="1">
                <a:solidFill>
                  <a:srgbClr val="F5F1FF"/>
                </a:solidFill>
                <a:latin typeface="Microsoft YaHei"/>
              </a:rPr>
              <a:t>合作模式？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2286000"/>
            <a:ext cx="297180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对赌运营：基础运营费 96 万/年 + 佣金 + 增值分成，对赌三年均 85%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1645920"/>
            <a:ext cx="3401568" cy="15544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9976" y="1645920"/>
            <a:ext cx="64008" cy="155448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1828800"/>
            <a:ext cx="2926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8B7BFF"/>
                </a:solidFill>
                <a:latin typeface="Arial"/>
              </a:rPr>
              <a:t>Q2　</a:t>
            </a:r>
            <a:r>
              <a:rPr sz="1550" b="1">
                <a:solidFill>
                  <a:srgbClr val="F5F1FF"/>
                </a:solidFill>
                <a:latin typeface="Microsoft YaHei"/>
              </a:rPr>
              <a:t>报价档位？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2286000"/>
            <a:ext cx="297180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基础 96 万/年 + 活动 30 万 + 媒体 10 万 + 挂牌（3 万/个）+ 1 月佣金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82712" y="1645920"/>
            <a:ext cx="3401568" cy="15544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82712" y="1645920"/>
            <a:ext cx="64008" cy="155448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1828800"/>
            <a:ext cx="29260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C77DFF"/>
                </a:solidFill>
                <a:latin typeface="Arial"/>
              </a:rPr>
              <a:t>Q3　</a:t>
            </a:r>
            <a:r>
              <a:rPr sz="1550" b="1">
                <a:solidFill>
                  <a:srgbClr val="F5F1FF"/>
                </a:solidFill>
                <a:latin typeface="Microsoft YaHei"/>
              </a:rPr>
              <a:t>何时启动？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286000"/>
            <a:ext cx="297180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与装修/设计交付同步，尽快签 MOU，先行政策梳理与挂牌筹备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383280"/>
            <a:ext cx="3401568" cy="15544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383280"/>
            <a:ext cx="64008" cy="155448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8136" y="3566160"/>
            <a:ext cx="23774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8B7BFF"/>
                </a:solidFill>
                <a:latin typeface="Arial"/>
              </a:rPr>
              <a:t>30</a:t>
            </a:r>
            <a:r>
              <a:rPr sz="2400" b="0">
                <a:solidFill>
                  <a:srgbClr val="C6BAEA"/>
                </a:solidFill>
                <a:latin typeface="Microsoft YaHei"/>
              </a:rPr>
              <a:t> 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" y="4160520"/>
            <a:ext cx="297180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签 MOU + 招商手册与报价 + 政策汇编 + 首批挂牌对接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9976" y="3383280"/>
            <a:ext cx="3401568" cy="15544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79976" y="3383280"/>
            <a:ext cx="64008" cy="155448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0872" y="3566160"/>
            <a:ext cx="23774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8B7BFF"/>
                </a:solidFill>
                <a:latin typeface="Arial"/>
              </a:rPr>
              <a:t>60</a:t>
            </a:r>
            <a:r>
              <a:rPr sz="2400" b="0">
                <a:solidFill>
                  <a:srgbClr val="C6BAEA"/>
                </a:solidFill>
                <a:latin typeface="Microsoft YaHei"/>
              </a:rPr>
              <a:t> 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0872" y="4160520"/>
            <a:ext cx="297180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首场沙龙/路演 + OPC 社群与投流 + 首单招商 + 漫展筹备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82712" y="3383280"/>
            <a:ext cx="3401568" cy="1554480"/>
          </a:xfrm>
          <a:prstGeom prst="roundRect">
            <a:avLst/>
          </a:prstGeom>
          <a:ln w="12700">
            <a:solidFill>
              <a:srgbClr val="4A3C7C"/>
            </a:solidFill>
          </a:ln>
          <a:effectLst/>
          <a:gradFill>
            <a:gsLst>
              <a:gs pos="0">
                <a:srgbClr val="2A1E55"/>
              </a:gs>
              <a:gs pos="100000">
                <a:srgbClr val="1E1542"/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82712" y="3383280"/>
            <a:ext cx="64008" cy="155448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93608" y="3566160"/>
            <a:ext cx="23774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8B7BFF"/>
                </a:solidFill>
                <a:latin typeface="Arial"/>
              </a:rPr>
              <a:t>90</a:t>
            </a:r>
            <a:r>
              <a:rPr sz="2400" b="0">
                <a:solidFill>
                  <a:srgbClr val="C6BAEA"/>
                </a:solidFill>
                <a:latin typeface="Microsoft YaHei"/>
              </a:rPr>
              <a:t> 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3608" y="4160520"/>
            <a:ext cx="297180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C6BAEA"/>
                </a:solidFill>
                <a:latin typeface="Microsoft YaHei"/>
              </a:rPr>
              <a:t>正式挂牌 + 样板企业入驻 + 去化向首年 60% 推进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5166360"/>
            <a:ext cx="10634472" cy="868680"/>
          </a:xfrm>
          <a:prstGeom prst="roundRect">
            <a:avLst/>
          </a:prstGeom>
          <a:ln w="12700">
            <a:solidFill>
              <a:srgbClr val="E9C27C"/>
            </a:solidFill>
          </a:ln>
          <a:effectLst/>
          <a:gradFill>
            <a:gsLst>
              <a:gs pos="0">
                <a:srgbClr val="322462"/>
              </a:gs>
              <a:gs pos="100000">
                <a:srgbClr val="22184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166360"/>
            <a:ext cx="1005840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9C27C"/>
                </a:solidFill>
                <a:latin typeface="Microsoft YaHei"/>
              </a:rPr>
              <a:t>三年蓝图　</a:t>
            </a:r>
            <a:r>
              <a:rPr sz="1350" b="0">
                <a:solidFill>
                  <a:srgbClr val="F5F1FF"/>
                </a:solidFill>
                <a:latin typeface="Microsoft YaHei"/>
              </a:rPr>
              <a:t>先签 6600㎡ 单项目专项（单项目单核算），三年跑通三年均 85% 去化后，协同周边 ≤2 项目并复制模式。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-2194560"/>
            <a:ext cx="7315200" cy="73152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8B7BFF">
                  <a:alpha val="20000"/>
                </a:srgbClr>
              </a:gs>
              <a:gs pos="100000">
                <a:srgbClr val="1A1140">
                  <a:alpha val="0"/>
                </a:srgbClr>
              </a:gs>
            </a:gsLst>
            <a:lin ang="72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286000" y="2743200"/>
            <a:ext cx="5943600" cy="59436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C77DFF">
                  <a:alpha val="16000"/>
                </a:srgbClr>
              </a:gs>
              <a:gs pos="100000">
                <a:srgbClr val="1A1140">
                  <a:alpha val="0"/>
                </a:srgbClr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E9C27C"/>
              </a:gs>
              <a:gs pos="100000">
                <a:srgbClr val="C77DF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400">
                <a:solidFill>
                  <a:srgbClr val="E9C27C"/>
                </a:solidFill>
                <a:latin typeface="Arial"/>
              </a:rPr>
              <a:t>THANKS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06040"/>
            <a:ext cx="822960" cy="381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1051560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5F1FF"/>
                </a:solidFill>
                <a:latin typeface="Microsoft YaHei"/>
              </a:rPr>
              <a:t>让上海创智汇成为杨浦五角场
</a:t>
            </a:r>
            <a:r>
              <a:rPr sz="3200" b="1">
                <a:solidFill>
                  <a:srgbClr val="E9C27C"/>
                </a:solidFill>
                <a:latin typeface="Microsoft YaHei"/>
              </a:rPr>
              <a:t>AI + 数字内容</a:t>
            </a:r>
            <a:r>
              <a:rPr sz="3200" b="1">
                <a:solidFill>
                  <a:srgbClr val="F5F1FF"/>
                </a:solidFill>
                <a:latin typeface="Microsoft YaHei"/>
              </a:rPr>
              <a:t>的无界共创港与可复制样板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66344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spc="100">
                <a:solidFill>
                  <a:srgbClr val="C6BAEA"/>
                </a:solidFill>
                <a:latin typeface="Microsoft YaHei"/>
              </a:rPr>
              <a:t>政策闭环  ·  三年合作  ·  协同复制  ·  内容自造流量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52160"/>
            <a:ext cx="10634472" cy="12700"/>
          </a:xfrm>
          <a:prstGeom prst="rect">
            <a:avLst/>
          </a:prstGeom>
          <a:solidFill>
            <a:srgbClr val="4A3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9893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9C27C"/>
                </a:solidFill>
                <a:latin typeface="Microsoft YaHei"/>
              </a:rPr>
              <a:t>谈判集中汇报 v3.0</a:t>
            </a:r>
            <a:r>
              <a:rPr sz="1200" b="0">
                <a:solidFill>
                  <a:srgbClr val="9486C4"/>
                </a:solidFill>
                <a:latin typeface="Microsoft YaHei"/>
              </a:rPr>
              <a:t>　期待与各方达成合作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