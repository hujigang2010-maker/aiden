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8B7BFF"/>
                </a:solidFill>
                <a:latin typeface="Microsoft YaHei"/>
              </a:rPr>
              <a:t>上海创智汇 × 同浦汇｜呈报园区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600" b="1">
                <a:solidFill>
                  <a:srgbClr val="F5F1FF"/>
                </a:solidFill>
                <a:latin typeface="Microsoft YaHei"/>
              </a:rPr>
              <a:t>创智汇年度活动运营方案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30场 · 定义核与双会资源导入 · 2026.08—2027.07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C6BAEA"/>
                </a:solidFill>
                <a:latin typeface="Microsoft YaHei"/>
              </a:rPr>
              <a:t>AI+数字内容无界共创港　｜　承接 WAIC · 衔接 ChinaJoy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5303520" cy="2468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73152" cy="24688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本册要点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紫金主题视觉（沿用既往方案风格）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每场≤30人 · 负责人约50%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同浦汇带客 / 园区销售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WAIC→3F · ChinaJoy→5F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主体：云创基地（国家级孵化器）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657600"/>
            <a:ext cx="5029200" cy="2468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3657600"/>
            <a:ext cx="73152" cy="24688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379476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160520"/>
            <a:ext cx="4617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只取双会招商贴近切片，不堆全量名单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出海另议另计价；领事到访/挂牌另计价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不做租金租赁对赌与必要性要求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不承诺必带外资企业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学术支持：复旦住房政策研究中心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本方案结构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章节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86860" y="1325880"/>
            <a:ext cx="7834579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2580" y="137160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E9C27C"/>
                </a:solidFill>
                <a:latin typeface="Microsoft YaHei"/>
              </a:rPr>
              <a:t>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3046780" cy="47548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29736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01 背景与总体思路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86860" y="1691640"/>
            <a:ext cx="7834579" cy="47548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2580" y="1737360"/>
            <a:ext cx="776142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为什么做、双会如何导入、做成什么样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67128"/>
            <a:ext cx="3046780" cy="47548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212848"/>
            <a:ext cx="29736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02 年度日历与运营节奏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6860" y="2167128"/>
            <a:ext cx="7834579" cy="47548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2580" y="2212848"/>
            <a:ext cx="776142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30场排期 + 四阶段 + 双会资源摘要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642616"/>
            <a:ext cx="3046780" cy="47548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88336"/>
            <a:ext cx="29736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03 六大主题活动详述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6860" y="2642616"/>
            <a:ext cx="7834579" cy="47548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2580" y="2688336"/>
            <a:ext cx="776142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A训练·B政策·C产业/CJ·D内容·E启动·F收官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18104"/>
            <a:ext cx="3046780" cy="47548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163824"/>
            <a:ext cx="29736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04 单场执行标准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86860" y="3118104"/>
            <a:ext cx="7834579" cy="47548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2580" y="3163824"/>
            <a:ext cx="776142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筹备→看场→建群→回访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593592"/>
            <a:ext cx="3046780" cy="47548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39312"/>
            <a:ext cx="29736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05 转化·分工·收费·案例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86860" y="3593592"/>
            <a:ext cx="7834579" cy="47548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2580" y="3639312"/>
            <a:ext cx="776142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带客/销售、付款、往期案例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069080"/>
            <a:ext cx="3046780" cy="47548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114800"/>
            <a:ext cx="297362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附录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86860" y="4069080"/>
            <a:ext cx="7834579" cy="47548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2580" y="4114800"/>
            <a:ext cx="7761427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F5F1FF"/>
                </a:solidFill>
                <a:latin typeface="Microsoft YaHei"/>
              </a:rPr>
              <a:t>30场定义核与资源导入映射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01 · 背景与判断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大会闭幕之后，热度需要一个承接地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主题响应：上海创智汇 · AI+数字内容无界共创港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73152" cy="47548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2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WAIC闭幕后：议题/嘉宾/线索需落到看场与洽谈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ChinaJoy「与AI同游」：中小工作室/创作者/潮玩/具身可导入5F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3F缺持续入孵节奏；5F缺持续内容人气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因此：双会是资源库，30场是定义核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每月两到三场，精而准，不断档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71600"/>
            <a:ext cx="502920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371600"/>
            <a:ext cx="73152" cy="47548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50876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运营目标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87452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30场：全年活动总量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12个月：2026.08—2027.07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每场≤30人；全年约600人次+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负责人占比适度承兑约50%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不承诺必带外资企业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01 · 总体思路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一条主线：把双会的热度，变成园区的一年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47548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园区得到什么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议题变日常：Agent/算力/治理/内容每月有场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空间有主题：3F吃WAIC能力线，5F吃CJ内容线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具身/AIGC为双会叠加带，跨楼层联动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考核有支撑：签到、建群、回访摘要可归档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云创基地国家级孵化器背书可感知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71600"/>
            <a:ext cx="502920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371600"/>
            <a:ext cx="73152" cy="47548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50876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招商得到什么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7452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客群更准：按赛道抽样邀约，不堆全量名单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动作标准化：每场固定看场+建群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同浦汇带客，园区负责销售促成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政策/券务活动中打包，降低决策门槛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租金高于周边均价，故不做租赁对赌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01 · 总体框架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六大主题 + 四层叠加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主题管内容；层次管资源导入顺序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149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主题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8216" y="1325880"/>
            <a:ext cx="348203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73936" y="1371600"/>
            <a:ext cx="340888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名称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0251" y="1325880"/>
            <a:ext cx="1741017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5971" y="1371600"/>
            <a:ext cx="166786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场次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51268" y="1325880"/>
            <a:ext cx="4570171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6988" y="1371600"/>
            <a:ext cx="449701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角色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91640"/>
            <a:ext cx="1088136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737360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8216" y="1691640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3936" y="173736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智能体与算力训练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0251" y="1691640"/>
            <a:ext cx="1741017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5971" y="1737360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6场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51268" y="1691640"/>
            <a:ext cx="4570171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6988" y="1737360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3F基本盘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075688"/>
            <a:ext cx="1088136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121408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28216" y="2075688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73936" y="212140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政策与治理沙龙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0251" y="2075688"/>
            <a:ext cx="1741017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5971" y="2121408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4场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51268" y="2075688"/>
            <a:ext cx="4570171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6988" y="2121408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政策/券务/资质进园理由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459736"/>
            <a:ext cx="1088136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505456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28216" y="2459736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73936" y="250545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产业与ChinaJoy对接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0251" y="2459736"/>
            <a:ext cx="1741017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55971" y="2505456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5场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51268" y="2459736"/>
            <a:ext cx="4570171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6988" y="2505456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高校+CJ工作室/供应链/IP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2843784"/>
            <a:ext cx="1088136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2889504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28216" y="2843784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73936" y="288950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AI内容与ChinaJoy人气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0251" y="2843784"/>
            <a:ext cx="1741017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55971" y="2889504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5场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51268" y="2843784"/>
            <a:ext cx="4570171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96988" y="2889504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5F人气：特训/首发/市集/联展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227832"/>
            <a:ext cx="1088136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3273552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28216" y="3227832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73936" y="327355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启动月·推广与双会承接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10251" y="3227832"/>
            <a:ext cx="1741017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55971" y="3273552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6场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51268" y="3227832"/>
            <a:ext cx="4570171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96988" y="3273552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项目推广日+WAIC+CJ主题日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611880"/>
            <a:ext cx="1088136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657600"/>
            <a:ext cx="10149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28216" y="3611880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73936" y="365760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收官·圆桌·另计价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10251" y="3611880"/>
            <a:ext cx="1741017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55971" y="3657600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2场+另计价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51268" y="3611880"/>
            <a:ext cx="4570171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96988" y="3657600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Demo Day；出海/领事另案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资源叠加：L0点火(P1–P4) → L1承接(E1) → L2主线(A/B/C/D) → L3具身叠加(A5) → L4收口预热(F4/D5)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02 · 年度日历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30场总表（上）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2026年8月—12月　｜　每场≤30人 · 负责人约50%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937967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86481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活动名称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9742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5462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45505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91225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51268" y="1325880"/>
            <a:ext cx="108813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6988" y="1371600"/>
            <a:ext cx="10149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人数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9404" y="1325880"/>
            <a:ext cx="108813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5124" y="1371600"/>
            <a:ext cx="10149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层次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27540" y="1325880"/>
            <a:ext cx="2393899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3260" y="1371600"/>
            <a:ext cx="232074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1691640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173736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01775" y="1691640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7495" y="173736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创智汇项目推广日①·中介与渠道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9742" y="169164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5462" y="173736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8月上旬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45505" y="169164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91225" y="173736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51268" y="169164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6988" y="173736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39404" y="169164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85124" y="173736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27540" y="1691640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3260" y="173736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中介渠道带看与项目推介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1984248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202996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01775" y="1984248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47495" y="202996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创智汇项目推广日②·五大行与金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39742" y="198424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5462" y="202996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8月中旬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45505" y="198424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91225" y="202996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51268" y="198424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6988" y="202996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39404" y="198424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85124" y="202996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27540" y="1984248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73260" y="202996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金融资源链接与客户导入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2276856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232257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01775" y="2276856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47495" y="232257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创智汇项目推广日③·投研机构专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39742" y="227685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5462" y="232257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8月中旬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45505" y="227685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91225" y="232257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51268" y="227685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96988" y="232257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39404" y="227685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85124" y="232257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27540" y="2276856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73260" y="232257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投研视角放大项目影响力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2569464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261518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01775" y="2569464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47495" y="261518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创智汇项目推广日④·政府部门与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39742" y="256946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85462" y="261518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8月下旬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45505" y="256946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1225" y="261518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51268" y="256946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96988" y="261518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39404" y="256946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85124" y="261518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27540" y="2569464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73260" y="261518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政策与载体协同落地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" y="2862072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5800" y="290779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01775" y="2862072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47495" y="290779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WAIC成果承接·创智汇开放交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39742" y="286207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85462" y="290779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8月下旬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45505" y="286207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91225" y="290779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开放交流日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951268" y="286207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96988" y="290779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39404" y="286207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85124" y="290779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27540" y="2862072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73260" y="290779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衔接WAIC议题与园区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0080" y="3154680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5800" y="320040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401775" y="3154680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47495" y="320040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339742" y="3154680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85462" y="320040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9月上旬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45505" y="3154680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91225" y="320040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实训营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51268" y="3154680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996988" y="320040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39404" y="3154680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85124" y="320040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27540" y="3154680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173260" y="320040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Agent初创落位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" y="3447288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85800" y="349300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401775" y="3447288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447495" y="349300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ChinaJoy主题·数字娱乐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39742" y="3447288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385462" y="349300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9月中旬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45505" y="3447288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691225" y="349300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对接会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51268" y="3447288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96988" y="349300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39404" y="3447288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085124" y="349300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127540" y="3447288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173260" y="349300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CJ赛道企业/IP方入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40080" y="3739896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85800" y="378561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401775" y="3739896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447495" y="378561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出海专题活动（另议·另计价）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39742" y="3739896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85462" y="378561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档期另议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45505" y="3739896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691225" y="378561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专题（另议）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951268" y="3739896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996988" y="378561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039404" y="3739896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085124" y="378561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另计价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27540" y="3739896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73260" y="378561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出海服务（不在年度包内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0080" y="4032504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85800" y="407822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A3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401775" y="4032504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447495" y="407822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339742" y="4032504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385462" y="407822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10月上旬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645505" y="4032504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691225" y="407822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工作坊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951268" y="4032504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996988" y="407822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039404" y="4032504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85124" y="407822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127540" y="4032504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173260" y="407822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多模态团队入驻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0080" y="4325112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85800" y="437083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E4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401775" y="4325112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447495" y="437083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ChinaJoy主题日·数字娱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339742" y="4325112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385462" y="437083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10月中旬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645505" y="4325112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691225" y="437083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主题日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951268" y="4325112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996988" y="437083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039404" y="4325112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085124" y="437083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127540" y="4325112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173260" y="437083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CJ生态企业集中看场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40080" y="4617720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85800" y="466344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401775" y="4617720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47495" y="466344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39742" y="461772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385462" y="466344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10月下旬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645505" y="461772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691225" y="466344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沙龙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951268" y="461772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996988" y="466344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039404" y="461772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085124" y="466344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127540" y="4617720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173260" y="466344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合规型企业信任导入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0080" y="4910328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85800" y="495604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A4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401775" y="4910328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447495" y="495604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火山引擎×算力Infra实务营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339742" y="491032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385462" y="495604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11月上旬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645505" y="491032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691225" y="495604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厂商联训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951268" y="491032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996988" y="495604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039404" y="491032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085124" y="495604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127540" y="4910328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173260" y="495604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高算力企业定向看场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40080" y="5202936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85800" y="524865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B4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401775" y="5202936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447495" y="524865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创新券·算力券·模型券实务沙龙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339742" y="520293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385462" y="524865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11月中旬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645505" y="520293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691225" y="524865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实务沙龙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951268" y="520293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996988" y="524865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039404" y="520293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085124" y="524865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127540" y="5202936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173260" y="524865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用券企业聚集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40080" y="5495544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85800" y="554126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401775" y="5495544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447495" y="554126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领事到访接待（另计价）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339742" y="549554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385462" y="554126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档期另议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5645505" y="549554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691225" y="554126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外事接待（另计价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6951268" y="549554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996988" y="554126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另议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039404" y="549554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085124" y="554126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另计价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127540" y="5495544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173260" y="554126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领事到访（三部分费用之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40080" y="5788152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85800" y="583387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401775" y="5788152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447495" y="583387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339742" y="578815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385462" y="583387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12月上旬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645505" y="578815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691225" y="583387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体验日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6951268" y="578815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996988" y="583387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039404" y="578815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085124" y="583387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L3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127540" y="5788152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173260" y="583387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具身/机器人团队看场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02 · 年度日历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30场总表（下）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2027年1月—7月　｜　每场≤30人 · 负责人约50%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937967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86481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活动名称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9742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5462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45505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91225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51268" y="1325880"/>
            <a:ext cx="108813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6988" y="1371600"/>
            <a:ext cx="10149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人数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9404" y="1325880"/>
            <a:ext cx="108813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5124" y="1371600"/>
            <a:ext cx="10149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层次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27540" y="1325880"/>
            <a:ext cx="2393899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3260" y="1371600"/>
            <a:ext cx="232074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1691640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173736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01775" y="1691640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7495" y="173736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创智汇AI年度Demo Day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9742" y="169164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5462" y="173736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12月中旬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45505" y="169164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91225" y="173736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路演日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51268" y="169164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6988" y="173736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39404" y="169164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85124" y="173736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27540" y="1691640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3260" y="173736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集中签约洽谈与媒体背书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1984248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202996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01775" y="1984248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47495" y="202996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39742" y="198424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5462" y="202996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次1月上旬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45505" y="198424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91225" y="202996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特训营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51268" y="198424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6988" y="202996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39404" y="198424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85124" y="202996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27540" y="1984248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73260" y="202996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厂牌/工作室入驻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2276856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232257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01775" y="2276856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47495" y="232257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39742" y="227685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5462" y="232257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次1月中旬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45505" y="227685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91225" y="232257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实战营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51268" y="227685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96988" y="232257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39404" y="227685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85124" y="232257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27540" y="2276856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73260" y="232257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营销科技公司看场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2569464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261518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01775" y="2569464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47495" y="261518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YOUNG立方×智能伙伴政策沙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39742" y="256946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85462" y="261518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次2月中旬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45505" y="256946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1225" y="261518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政策沙龙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51268" y="256946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96988" y="261518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39404" y="256946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85124" y="261518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27540" y="2569464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73260" y="261518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内容/AI企业导入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" y="2862072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5800" y="290779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01775" y="2862072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47495" y="290779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高企认定冲刺（AI企业专场）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39742" y="286207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85462" y="290779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次2月下旬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45505" y="286207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91225" y="290779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辅导会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951268" y="286207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96988" y="290779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39404" y="286207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85124" y="290779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27540" y="2862072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73260" y="290779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待认定企业带政策入驻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0080" y="3154680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5800" y="320040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401775" y="3154680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47495" y="320040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339742" y="3154680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85462" y="320040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次3月上旬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45505" y="3154680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91225" y="320040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黑客松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51268" y="3154680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996988" y="320040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39404" y="3154680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85124" y="320040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27540" y="3154680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173260" y="320040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获奖团队优先谈单元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" y="3447288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85800" y="349300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401775" y="3447288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447495" y="349300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高校成果转化·AI for 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39742" y="3447288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385462" y="349300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次3月下旬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45505" y="3447288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691225" y="349300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对接日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51268" y="3447288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96988" y="349300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39404" y="3447288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085124" y="349300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127540" y="3447288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173260" y="349300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成果公司/实验室落户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40080" y="3739896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85800" y="378561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401775" y="3739896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447495" y="378561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39742" y="3739896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85462" y="378561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次3月下旬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45505" y="3739896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691225" y="378561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闭门圆桌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951268" y="3739896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996988" y="378561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039404" y="3739896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085124" y="378561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27540" y="3739896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73260" y="378561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研究型/模型团队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0080" y="4032504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85800" y="407822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D2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401775" y="4032504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447495" y="407822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ChinaJoy主题·创作者内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339742" y="4032504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385462" y="407822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次4月中旬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645505" y="4032504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691225" y="407822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发布会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951268" y="4032504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996988" y="407822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039404" y="4032504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85124" y="407822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127540" y="4032504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173260" y="407822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数字娱乐/内容品牌问询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0080" y="4325112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85800" y="437083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C3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401775" y="4325112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447495" y="437083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ChinaJoy主题·游戏周边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339742" y="4325112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385462" y="437083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次4月下旬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645505" y="4325112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691225" y="437083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对接会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951268" y="4325112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996988" y="437083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039404" y="4325112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085124" y="437083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127540" y="4325112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173260" y="437083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CJ供应链/周边企业展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40080" y="4617720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85800" y="4663440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C4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401775" y="4617720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47495" y="4663440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39742" y="461772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385462" y="466344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次5月中旬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645505" y="4617720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691225" y="4663440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路演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951268" y="461772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996988" y="466344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039404" y="4617720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085124" y="4663440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127540" y="4617720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173260" y="4663440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成长型AI补位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0080" y="4910328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85800" y="4956048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D3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401775" y="4910328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447495" y="4956048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ChinaJoy主题·数字娱乐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339742" y="491032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385462" y="495604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次5月下旬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645505" y="4910328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691225" y="4956048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体验日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951268" y="491032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996988" y="495604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039404" y="4910328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085124" y="4956048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127540" y="4910328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173260" y="4956048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优质摊主/工作室升级固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40080" y="5202936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85800" y="5248656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C5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401775" y="5202936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447495" y="5248656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ChinaJoy主题·IP联名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339742" y="520293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385462" y="524865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次6月中旬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645505" y="5202936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691225" y="5248656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撮合会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951268" y="520293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996988" y="524865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039404" y="5202936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085124" y="5248656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127540" y="5202936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173260" y="5248656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IP联名/衍生品团队入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40080" y="5495544"/>
            <a:ext cx="761695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85800" y="5541264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D4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401775" y="5495544"/>
            <a:ext cx="2937967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447495" y="5541264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ChinaJoy主题·沉浸式数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339742" y="549554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385462" y="554126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次6月下旬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5645505" y="5495544"/>
            <a:ext cx="130576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691225" y="5541264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联展（短展期）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6951268" y="549554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996988" y="554126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≤30人/场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039404" y="5495544"/>
            <a:ext cx="108813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085124" y="5541264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L2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127540" y="5495544"/>
            <a:ext cx="2393899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173260" y="5541264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闭幕洽谈集中转化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40080" y="5788152"/>
            <a:ext cx="761695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85800" y="5833872"/>
            <a:ext cx="688543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401775" y="5788152"/>
            <a:ext cx="2937967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447495" y="5833872"/>
            <a:ext cx="2864815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创作者首发②·衔接WAIC20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339742" y="578815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385462" y="583387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次7月中旬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645505" y="5788152"/>
            <a:ext cx="130576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691225" y="5833872"/>
            <a:ext cx="123261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发布会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6951268" y="578815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996988" y="583387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≤30人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039404" y="5788152"/>
            <a:ext cx="108813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085124" y="5833872"/>
            <a:ext cx="101498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L4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127540" y="5788152"/>
            <a:ext cx="2393899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173260" y="5833872"/>
            <a:ext cx="2320747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旺季补位，双大会预热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02 · 运营节奏与双会资源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四阶段重心 + 招商向资源摘要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233172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23317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四阶段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启动8–10月：推广日+WAIC+CJ开局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攻坚11–12月：算力/券务/具身/Demo Day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深耕1–3月：特训/政策/黑客松/成果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收获4–7月：CJ内容密集+双会预热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25880"/>
            <a:ext cx="5029200" cy="233172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325880"/>
            <a:ext cx="73152" cy="233172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46304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WAIC → 3F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28800"/>
            <a:ext cx="4617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C77D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963展商·4262品牌·3463联系人·A/B500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C77D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ACT缩尺：闭门/具身/算力/行业AI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C77D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用法：线索抽样，不堆全量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10881360" cy="219456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73152" cy="21945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60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ChinaJoy → 5F（主题「与AI同游」）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89120"/>
            <a:ext cx="10469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可触达263优先 · 最高：中小游戏工作室 · 高：Vision Future具身 / 潮玩谷子 / 创作者经济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中腰部选址灵活；不硬追大厂总部；原潮玩产业集群场次合并为CJ主题内容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智能体与算力训练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对应WAIC：Agent·多模态·算力·具身；资源：ACT缩尺+线索抽样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9月上旬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实训营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Agent初创落位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Agent池抽样；ACT-001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10月上旬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工作坊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多模态团队入驻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AIGC子类抽样；内容论坛切片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火山引擎×算力Infra实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11月上旬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厂商联训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高算力企业定向看场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ACT-003缩尺；算力展商池抽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12月上旬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体验日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具身/机器人团队看场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ACT-002缩尺；场景观察+C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3447288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3493008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1775" y="3447288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47495" y="3493008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13301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59021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次1月中旬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19064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64784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实战营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24827" y="3447288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0547" y="3493008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营销科技公司看场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01099" y="3447288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46819" y="3493008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企业服务/营销池抽样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3886200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393192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01775" y="3886200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47495" y="393192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13301" y="3886200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059021" y="393192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次3月上旬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19064" y="3886200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64784" y="393192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黑客松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24827" y="3886200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70547" y="393192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获奖团队优先谈单元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801099" y="3886200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846819" y="393192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高校Builder；CJ AGS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政策与治理沙龙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对应WAIC治理/券务；服中心协同兑现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10月下旬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沙龙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合规型企业信任导入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治理议题摘要；合规顾问短名单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创新券·算力券·模型券实务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11月中旬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实务沙龙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用券企业聚集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三券核销路径；云厂商联系人抽样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YOUNG立方×智能伙伴政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次2月中旬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政策沙龙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内容/AI企业导入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政策礼包+双会意向企业复邀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高企认定冲刺（AI企业专场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次2月下旬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辅导会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待认定企业带政策入驻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双会AI应用类待认定抽样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产业与ChinaJoy对接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原东莞/汕头/扬州场次合并为ChinaJoy主题内容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9月中旬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CJ赛道企业/IP方入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中小工作室+IP方；可触达263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高校成果转化·AI for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次3月下旬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成果公司/实验室落户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复旦住房中心学术支持位；科研论坛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ChinaJoy主题·游戏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次4月下旬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对接会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CJ供应链/周边企业展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潮玩谷子高优先级；作品类示例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次5月中旬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路演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成长型AI补位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ACT-006缩尺；行业AI池抽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3447288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3493008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1775" y="3447288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47495" y="3493008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ChinaJoy主题·IP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13301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59021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次6月中旬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19064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64784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撮合会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24827" y="3447288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0547" y="3493008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IP联名/衍生品团队入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01099" y="3447288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46819" y="3493008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老字号×IP联名案例迁移；衍生品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AI内容与ChinaJoy人气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对应CJ创作者经济+WAIC AIGC；与官方创作者活动错峰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次1月上旬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特训营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厂牌/工作室入驻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影视内容论坛切片；AIGC厂牌抽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ChinaJoy主题·创作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次4月中旬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发布会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数字娱乐/内容品牌问询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创作者/社团抽样；渠道玩法迁移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次5月下旬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体验日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优质摊主/工作室升级固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小微品牌；市集→固定展位路径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ChinaJoy主题·沉浸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次6月下旬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联展（短展期）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闭幕洽谈集中转化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联合内容方短名单；预约制控流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3447288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3493008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1775" y="3447288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47495" y="3493008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创作者首发②·衔接WAIC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13301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59021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次7月中旬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19064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64784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发布会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24827" y="3447288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0547" y="3493008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旺季补位，双大会预热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01099" y="3447288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46819" y="3493008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全年双会线索复盘；预热下届双会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启动月·项目推广与双会承接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原大场改为≤30人精准场；8月=项目推广日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创智汇项目推广日①·中介与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8月上旬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中介渠道带看与项目推介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待租8间看场清单；双会转介话术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创智汇项目推广日②·五大行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8月中旬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金融资源链接与客户导入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WAIC金融议题摘要；CJ专业观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创智汇项目推广日③·投研机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8月中旬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投研视角放大项目影响力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WAIC赛道结论；CJ「与AI同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创智汇项目推广日④·政府部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8月下旬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项目推广日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政策与载体协同落地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算力券/创新券；YOUNG立方政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3447288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3493008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1775" y="3447288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47495" y="3493008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WAIC成果承接·创智汇开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13301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59021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8月下旬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19064" y="3447288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64784" y="3493008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开放交流日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24827" y="3447288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0547" y="3493008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衔接WAIC议题与园区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01099" y="3447288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46819" y="3493008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A/B线索抽样；ACT议题切片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3886200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393192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01775" y="3886200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47495" y="393192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ChinaJoy主题日·数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13301" y="3886200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059021" y="393192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10月中旬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19064" y="3886200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64784" y="393192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主题日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24827" y="3886200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70547" y="393192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CJ生态企业集中看场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801099" y="3886200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846819" y="393192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Express/独立游戏中小团队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主题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收官·圆桌·另计价事项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出海另议另计价；领事到访/挂牌另计价且分属不同性质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6169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885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401775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495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3301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021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9064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4784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形式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4827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7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招商落点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1099" y="1325880"/>
            <a:ext cx="272034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6819" y="1371600"/>
            <a:ext cx="264718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691640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737360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01775" y="1691640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495" y="1737360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创智汇AI年度Demo 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13301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9021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12月中旬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9064" y="1691640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4784" y="1737360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路演日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4827" y="1691640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0547" y="17373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集中签约洽谈与媒体背书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099" y="1691640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819" y="1737360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年内导入A/B意向精选路演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130552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176272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1775" y="2130552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495" y="2176272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13301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9021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次3月下旬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19064" y="2130552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784" y="2176272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闭门圆桌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4827" y="2130552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0547" y="2176272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研究型/模型团队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1099" y="2130552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46819" y="2176272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ACT-001闭门形态；模型公司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569464"/>
            <a:ext cx="761695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615184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1775" y="2569464"/>
            <a:ext cx="2611526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47495" y="2615184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出海专题活动（另议·另计价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13301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9021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档期另议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9064" y="2569464"/>
            <a:ext cx="1305763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784" y="2615184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专题（另议）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4827" y="2569464"/>
            <a:ext cx="2176272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0547" y="2615184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出海服务（不在年度包内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01099" y="2569464"/>
            <a:ext cx="272034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46819" y="2615184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BTOB外资线索仅作另案素材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008376"/>
            <a:ext cx="761695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054096"/>
            <a:ext cx="688543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1775" y="3008376"/>
            <a:ext cx="2611526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47495" y="3054096"/>
            <a:ext cx="253837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领事到访接待（另计价）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13301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9021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档期另议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19064" y="3008376"/>
            <a:ext cx="1305763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4784" y="3054096"/>
            <a:ext cx="1232611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外事接待（另计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4827" y="3008376"/>
            <a:ext cx="2176272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0547" y="3054096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领事到访（三部分费用之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1099" y="3008376"/>
            <a:ext cx="272034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6819" y="3054096"/>
            <a:ext cx="26471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不占用年度30场资源池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04 · 单场执行标准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每场活动，同一套打法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30576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23261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节点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945843" y="1325880"/>
            <a:ext cx="369966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1563" y="1371600"/>
            <a:ext cx="362651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关键动作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45505" y="1325880"/>
            <a:ext cx="32644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91225" y="1371600"/>
            <a:ext cx="31912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责任方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09913" y="1325880"/>
            <a:ext cx="261152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5633" y="1371600"/>
            <a:ext cx="253837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交付物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91640"/>
            <a:ext cx="1305763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3736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45843" y="1691640"/>
            <a:ext cx="3699662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91563" y="173736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锁定嘉宾议程物料 + 本场资源切片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45505" y="1691640"/>
            <a:ext cx="3264408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91225" y="173736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同浦汇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09913" y="1691640"/>
            <a:ext cx="2611526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5633" y="173736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议程/嘉宾确认/报名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194560"/>
            <a:ext cx="1305763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24028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45843" y="2194560"/>
            <a:ext cx="3699662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91563" y="224028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邀约确认 + 场地报备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45505" y="2194560"/>
            <a:ext cx="3264408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91225" y="224028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同浦汇；园区场地确认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9913" y="2194560"/>
            <a:ext cx="2611526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55633" y="224028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名单/场地单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697480"/>
            <a:ext cx="1305763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74320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5843" y="2697480"/>
            <a:ext cx="3699662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91563" y="274320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彩排 + 看场动线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45505" y="2697480"/>
            <a:ext cx="3264408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1225" y="274320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同浦汇；园区样板间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09913" y="2697480"/>
            <a:ext cx="2611526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55633" y="274320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彩排记录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200400"/>
            <a:ext cx="1305763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24612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D日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5843" y="3200400"/>
            <a:ext cx="3699662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91563" y="324612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签到→主区→看场→建群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45505" y="3200400"/>
            <a:ext cx="3264408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91225" y="324612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同浦汇执行；园区支持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09913" y="3200400"/>
            <a:ext cx="2611526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55633" y="324612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签到/意向/群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3703320"/>
            <a:ext cx="1305763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374904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T+1~7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5843" y="3703320"/>
            <a:ext cx="3699662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91563" y="374904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带客回访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45505" y="3703320"/>
            <a:ext cx="3264408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91225" y="374904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同浦汇主责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09913" y="3703320"/>
            <a:ext cx="2611526" cy="50292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55633" y="374904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回访摘要知会园区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4206240"/>
            <a:ext cx="1305763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4251960"/>
            <a:ext cx="1232611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销售促成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5843" y="4206240"/>
            <a:ext cx="3699662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91563" y="4251960"/>
            <a:ext cx="3626510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房源条件与成交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45505" y="4206240"/>
            <a:ext cx="3264408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91225" y="4251960"/>
            <a:ext cx="3191256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园区负责销售部分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09913" y="4206240"/>
            <a:ext cx="2611526" cy="50292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55633" y="4251960"/>
            <a:ext cx="2538374" cy="4297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合同/交割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05 · 转化 · 分工 · 收费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带客/销售 · 付款唯一方案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228600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22860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转化与分工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同浦汇：策划、邀约、带客、建群、回访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园区：场地物业、样板间、销售成交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云创基地：主体运营与算力协同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科企联/服中心：载体支持与政策手续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D日建群→园区群内促成成交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25880"/>
            <a:ext cx="5029200" cy="228600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325880"/>
            <a:ext cx="73152" cy="22860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46304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收费口径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28800"/>
            <a:ext cx="4617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活动费：年度打包（线下确认）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租金3.3元/㎡/天；物业13.8元/㎡/月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建议免租期1–3个月（面议）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不做租赁对赌与必要性要求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出海/领事另计价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369966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362651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付款节点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9742" y="384048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5462" y="388620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比例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86522" y="3840480"/>
            <a:ext cx="413491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2242" y="3886200"/>
            <a:ext cx="406176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对应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206240"/>
            <a:ext cx="369966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51960"/>
            <a:ext cx="362651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签约后7日内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9742" y="4206240"/>
            <a:ext cx="3046780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5462" y="4251960"/>
            <a:ext cx="297362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50%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6522" y="4206240"/>
            <a:ext cx="4134916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32242" y="4251960"/>
            <a:ext cx="406176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启动策划、年度日历锁定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590288"/>
            <a:ext cx="369966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636008"/>
            <a:ext cx="362651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Q3 / Q4 / 次年Q1 / 次年Q2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39742" y="4590288"/>
            <a:ext cx="3046780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5462" y="4636008"/>
            <a:ext cx="297362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各10%（合计40%）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6522" y="4590288"/>
            <a:ext cx="4134916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32242" y="4636008"/>
            <a:ext cx="406176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与季度场次完成度挂钩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974336"/>
            <a:ext cx="369966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20056"/>
            <a:ext cx="362651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年终收官后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39742" y="4974336"/>
            <a:ext cx="3046780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5462" y="5020056"/>
            <a:ext cx="297362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10%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86522" y="4974336"/>
            <a:ext cx="4134916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32242" y="5020056"/>
            <a:ext cx="406176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年报、台账、影像移交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05 · 往期案例（一）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杨「数」浦数字沙龙第七期：AI如何重塑企业DNA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2025-06-30 · 美团上海综合指挥中心 · 政策/治理沙龙类</a:t>
            </a:r>
          </a:p>
        </p:txBody>
      </p:sp>
      <p:pic>
        <p:nvPicPr>
          <p:cNvPr id="7" name="Picture 6" descr="case_c987bd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3566160" cy="1965960"/>
          </a:xfrm>
          <a:prstGeom prst="rect">
            <a:avLst/>
          </a:prstGeom>
        </p:spPr>
      </p:pic>
      <p:pic>
        <p:nvPicPr>
          <p:cNvPr id="8" name="Picture 7" descr="case_59157ea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25880"/>
            <a:ext cx="3566160" cy="1965960"/>
          </a:xfrm>
          <a:prstGeom prst="rect">
            <a:avLst/>
          </a:prstGeom>
        </p:spPr>
      </p:pic>
      <p:pic>
        <p:nvPicPr>
          <p:cNvPr id="9" name="Picture 8" descr="case_6e51af9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566160" cy="1965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3474720"/>
            <a:ext cx="6675120" cy="265176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6400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当天议程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参观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77639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美团综合指挥中心数字化场景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15383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主题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15383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人机共生：AI如何重塑企业DNA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53127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案例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53127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大众点评AI技术应用落地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90871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政策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90871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生成合成内容标识办法解读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28615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互动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928615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答疑与一对一交流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3474720"/>
            <a:ext cx="4069080" cy="2651760"/>
          </a:xfrm>
          <a:prstGeom prst="roundRect">
            <a:avLst/>
          </a:prstGeom>
          <a:solidFill>
            <a:srgbClr val="1E1542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3611880"/>
            <a:ext cx="37947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可见机构/企业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977639"/>
            <a:ext cx="3794760" cy="1965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杨浦区委网信办；赛博院等
企业侧：美团；大众点评大模型团队等
映射：对应：B类政策沙龙、A类训练营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05 · 往期案例（二）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「融见科创·智启未来」人工智能专场路演暨投融资对接会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2025-10 · 杨浦 · 邮储银行联合主办 · 路演对接类</a:t>
            </a:r>
          </a:p>
        </p:txBody>
      </p:sp>
      <p:pic>
        <p:nvPicPr>
          <p:cNvPr id="7" name="Picture 6" descr="case_db1d5ca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3566160" cy="1965960"/>
          </a:xfrm>
          <a:prstGeom prst="rect">
            <a:avLst/>
          </a:prstGeom>
        </p:spPr>
      </p:pic>
      <p:pic>
        <p:nvPicPr>
          <p:cNvPr id="8" name="Picture 7" descr="case_659315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25880"/>
            <a:ext cx="3566160" cy="1965960"/>
          </a:xfrm>
          <a:prstGeom prst="rect">
            <a:avLst/>
          </a:prstGeom>
        </p:spPr>
      </p:pic>
      <p:pic>
        <p:nvPicPr>
          <p:cNvPr id="9" name="Picture 8" descr="case_cb0a38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566160" cy="1965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3474720"/>
            <a:ext cx="6675120" cy="265176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6400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当天议程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开场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77639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促进会会长致辞与生态介绍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15383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主办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15383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邮储银行科技金融致辞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53127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分享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53127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中邮证券AI行业趋势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90871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路演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90871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6+6+6+1对接模式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28615"/>
            <a:ext cx="9144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8B7BFF"/>
                </a:solidFill>
                <a:latin typeface="Microsoft YaHei"/>
              </a:rPr>
              <a:t>收口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928615"/>
            <a:ext cx="530352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区投促点评与招商邀请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3474720"/>
            <a:ext cx="4069080" cy="2651760"/>
          </a:xfrm>
          <a:prstGeom prst="roundRect">
            <a:avLst/>
          </a:prstGeom>
          <a:solidFill>
            <a:srgbClr val="1E1542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3611880"/>
            <a:ext cx="37947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可见机构/企业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977639"/>
            <a:ext cx="3794760" cy="1965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杨浦科创促进会、邮储银行等
企业侧：复楚智能、卡房信息、一造科技、中科趋势、万笔千墨等
映射：对应：F4 Demo Day、项目推广日、路演类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结语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把一年做满，双会热度落在园区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47548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我们将交付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30场按日历执行（每场≤30人）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8月项目推广日四场点火 + WAIC承接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ChinaJoy主题内容场次（合并原潮玩类）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每场定义核 + 资源导入标注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带客、建群、回访摘要；园区做销售促成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71600"/>
            <a:ext cx="502920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371600"/>
            <a:ext cx="73152" cy="47548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50876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请园区协同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7452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确认档期、场地物业与样板间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共享在谈名单，群内发布条件促成成交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云创基地/联合会/服中心协同到位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政策礼包与券务按活动节奏提前到位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月度联席会核对意向与下月排期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400" b="1">
                <a:solidFill>
                  <a:srgbClr val="F5F1FF"/>
                </a:solidFill>
                <a:latin typeface="Microsoft YaHei"/>
              </a:rPr>
              <a:t>谢谢审阅，期待与您共事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E9C27C"/>
                </a:solidFill>
                <a:latin typeface="Microsoft YaHei"/>
              </a:rPr>
              <a:t>创智汇年度活动运营方案 · 紫金版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400" b="0">
                <a:solidFill>
                  <a:srgbClr val="C6BAEA"/>
                </a:solidFill>
                <a:latin typeface="Microsoft YaHei"/>
              </a:rPr>
              <a:t>同浦汇带客 · 园区销售 · 衔接 WAIC &amp; ChinaJoy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9486C4"/>
                </a:solidFill>
                <a:latin typeface="Microsoft YaHei"/>
              </a:rPr>
              <a:t>主体运营：上海市云计算创新基地（国家级孵化器）
学术支持：复旦大学住房政策研究中心
载体支持：杨浦区科技企业联合会 · 科技企业服务中心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附录 · 定义核与资源导入（1/3）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每场一句话定义 + 导入什么资源（招商向）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8705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7973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0588" y="1325880"/>
            <a:ext cx="348203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6308" y="1371600"/>
            <a:ext cx="340888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定义核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2623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8343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68895" y="1325880"/>
            <a:ext cx="4352544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4615" y="1371600"/>
            <a:ext cx="427939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91640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73736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P1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0588" y="1691640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6308" y="173736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渠道点火场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2623" y="1691640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3" y="173736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园区自建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5" y="1691640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14615" y="173736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待租8间看场清单；双会转介话术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075688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12140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P2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10588" y="2075688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6308" y="212140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金融转介场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2623" y="2075688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8343" y="212140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园区自建+投研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68895" y="2075688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14615" y="212140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WAIC金融议题摘要；CJ专业观众画像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459736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50545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P3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10588" y="2459736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6308" y="250545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叙事定调场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92623" y="2459736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3" y="250545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园区自建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68895" y="2459736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14615" y="250545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WAIC赛道结论；CJ「与AI同游」判断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2843784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288950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P4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10588" y="2843784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6308" y="288950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政策协同场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92623" y="2843784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38343" y="288950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云创+科企联/服中心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68895" y="2843784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14615" y="288950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算力券/创新券；YOUNG立方政策包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227832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327355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E1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10588" y="3227832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56308" y="327355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WAIC余热承接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92623" y="3227832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38343" y="327355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WAIC总表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68895" y="3227832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14615" y="327355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A/B线索抽样；ACT议题切片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611880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65760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10588" y="3611880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56308" y="365760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3F入孵核：Agent→OPC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92623" y="3611880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38343" y="365760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WAIC·Agent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68895" y="3611880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14615" y="365760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Agent池抽样；ACT-001缩尺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3995928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404164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10588" y="3995928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56308" y="404164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5F内容核：IP授权对接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92623" y="3995928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38343" y="404164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CJ·游戏/IP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5" y="3995928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14615" y="404164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中小工作室+IP方；可触达263抽样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4379976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442569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F1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10588" y="4379976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56308" y="442569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另议核：出海不进年度包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92623" y="4379976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38343" y="442569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CJ国际展团（另案）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68895" y="4379976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14615" y="442569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BTOB外资线索仅作另案素材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4764024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480974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510588" y="4764024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556308" y="480974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3F技术核：多模态看场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92623" y="4764024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38343" y="480974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WAIC·多模态/AIGC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68895" y="4764024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14615" y="480974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AIGC子类抽样；内容论坛切片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" y="5148072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5800" y="519379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E4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10588" y="5148072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556308" y="519379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5F生态核：数字娱乐看场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92623" y="5148072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38343" y="519379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CJ·游戏风云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68895" y="5148072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14615" y="519379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Express/独立游戏中小团队池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附录 · 定义核与资源导入（2/3）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每场一句话定义 + 导入什么资源（招商向）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8705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7973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0588" y="1325880"/>
            <a:ext cx="348203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6308" y="1371600"/>
            <a:ext cx="340888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定义核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2623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8343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68895" y="1325880"/>
            <a:ext cx="4352544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4615" y="1371600"/>
            <a:ext cx="427939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91640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73736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B2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0588" y="1691640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6308" y="173736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信任核：治理合规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2623" y="1691640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3" y="173736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WAIC·治理论坛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5" y="1691640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14615" y="173736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治理议题摘要；合规顾问短名单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075688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12140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10588" y="2075688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6308" y="212140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算力核：云创×厂商联训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2623" y="2075688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8343" y="212140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WAIC·算力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68895" y="2075688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14615" y="212140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ACT-003缩尺；算力展商池抽样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459736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50545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B4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10588" y="2459736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6308" y="250545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券务核：用券聚集转化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92623" y="2459736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3" y="250545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云创+WAIC算力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68895" y="2459736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14615" y="250545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三券核销路径；云厂商联系人抽样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2843784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288950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L1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10588" y="2843784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6308" y="288950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外事另计价核（到访≠挂牌）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92623" y="2843784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38343" y="288950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另案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68895" y="2843784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14615" y="288950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不占用年度30场资源池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227832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327355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10588" y="3227832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56308" y="327355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双会叠加核：具身体验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92623" y="3227832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38343" y="327355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WAIC具身+CJ Visi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68895" y="3227832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14615" y="327355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ACT-002缩尺；场景观察+CJ前沿科技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611880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65760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F4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10588" y="3611880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56308" y="365760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年中收口核：精选签约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92623" y="3611880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38343" y="365760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双会精选项目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68895" y="3611880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14615" y="365760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年内导入A/B意向精选路演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3995928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404164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D1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10588" y="3995928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56308" y="404164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内容制片核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92623" y="3995928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38343" y="404164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WAIC·AIGC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5" y="3995928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14615" y="404164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影视内容论坛切片；AIGC厂牌抽样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4379976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442569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10588" y="4379976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56308" y="442569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营销科技核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92623" y="4379976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38343" y="442569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WAIC·企业服务营销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68895" y="4379976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14615" y="442569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企业服务/营销池抽样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4764024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480974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B1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510588" y="4764024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556308" y="480974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政策获客核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92623" y="4764024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38343" y="480974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服中心+双会客群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68895" y="4764024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14615" y="480974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政策礼包+双会意向企业复邀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" y="5148072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5800" y="519379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B3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10588" y="5148072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556308" y="519379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带政策入驻核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92623" y="5148072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38343" y="519379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服中心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68895" y="5148072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14615" y="519379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双会AI应用类待认定抽样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附录 · 定义核与资源导入（3/3）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每场一句话定义 + 导入什么资源（招商向）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8705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7973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0588" y="1325880"/>
            <a:ext cx="3482035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6308" y="1371600"/>
            <a:ext cx="340888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定义核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2623" y="132588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8343" y="1371600"/>
            <a:ext cx="2103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68895" y="1325880"/>
            <a:ext cx="4352544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4615" y="1371600"/>
            <a:ext cx="427939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资源导入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91640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73736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10588" y="1691640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6308" y="173736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OPC核：获奖谈单元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2623" y="1691640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3" y="173736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WAIC青年+CJ创作者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5" y="1691640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14615" y="173736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高校Builder；CJ AGS线索抽样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075688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12140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10588" y="2075688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6308" y="212140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成果转化核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2623" y="2075688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8343" y="212140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学术支持+WAIC科研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68895" y="2075688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14615" y="212140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复旦住房中心学术支持位；科研论坛切片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459736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50545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F3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10588" y="2459736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6308" y="250545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研究型客户核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92623" y="2459736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3" y="250545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WAIC·大模型论坛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68895" y="2459736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14615" y="250545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ACT-001闭门形态；模型公司抽样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2843784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288950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D2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10588" y="2843784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6308" y="288950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创作者首发核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92623" y="2843784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38343" y="288950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CJ·创作者展区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68895" y="2843784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14615" y="288950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创作者/社团抽样；渠道玩法迁移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227832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327355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10588" y="3227832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56308" y="327355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供应链核：周边/潮玩展位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92623" y="3227832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38343" y="327355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CJ·魔玩/谷子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68895" y="3227832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14615" y="327355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潮玩谷子高优先级；作品类示例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611880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657600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10588" y="3611880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56308" y="3657600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成长补位核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92623" y="3611880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38343" y="3657600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WAIC·行业AI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68895" y="3611880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14615" y="3657600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ACT-006缩尺；行业AI池抽样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3995928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4041648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D3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10588" y="3995928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56308" y="4041648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市集转化核：摊主升级展位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92623" y="3995928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38343" y="4041648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CJ·创作者/市集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5" y="3995928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14615" y="4041648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小微品牌；市集→固定展位路径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4379976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4425696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10588" y="4379976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56308" y="4425696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IP商业化核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92623" y="4379976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38343" y="442569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CJ·IP/联名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68895" y="4379976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14615" y="4425696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老字号×IP联名案例迁移；衍生品抽样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4764024"/>
            <a:ext cx="870508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4809744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D4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510588" y="4764024"/>
            <a:ext cx="3482035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556308" y="4809744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视觉落地核：短展期转化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92623" y="4764024"/>
            <a:ext cx="2176272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38343" y="4809744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CJ·氛围落地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68895" y="4764024"/>
            <a:ext cx="4352544" cy="38404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14615" y="4809744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联合内容方短名单；预约制控流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" y="5148072"/>
            <a:ext cx="870508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5800" y="5193792"/>
            <a:ext cx="7973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D5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10588" y="5148072"/>
            <a:ext cx="3482035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556308" y="5193792"/>
            <a:ext cx="3408883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双会预热核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92623" y="5148072"/>
            <a:ext cx="2176272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38343" y="5193792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双会预热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68895" y="5148072"/>
            <a:ext cx="4352544" cy="38404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14615" y="5193792"/>
            <a:ext cx="42793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全年双会线索复盘；预热下届双会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附录 · 逐场执行要素（上）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8705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7973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0588" y="1325880"/>
            <a:ext cx="282915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6308" y="1371600"/>
            <a:ext cx="275600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9741" y="1325880"/>
            <a:ext cx="413491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5461" y="1371600"/>
            <a:ext cx="406176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行程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74657" y="132588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0377" y="137160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嘉宾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91640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3736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10588" y="1691640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6308" y="173736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创智汇项目推广日①·中介与渠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9741" y="1691640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5461" y="173736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项目介绍→空间导览→政策要点→洽谈→建群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74657" y="1691640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0377" y="173736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中介/渠道/园区招商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1984248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02996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10588" y="1984248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6308" y="202996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创智汇项目推广日②·五大行与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9741" y="1984248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5461" y="202996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项目路演→金融对接→座谈→看场→建群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74657" y="1984248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0377" y="202996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五大行及合作金融机构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276856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32257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10588" y="2276856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6308" y="232257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创智汇项目推广日③·投研机构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39741" y="2276856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5461" y="232257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定位→赛道研判→圆桌→看场→建群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74657" y="2276856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20377" y="232257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券商研究所/产业研究院/智库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2569464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261518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P4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10588" y="2569464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56308" y="261518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创智汇项目推广日④·政府部门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39741" y="2569464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5461" y="261518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载体介绍→政策协同→云创资源→看场→建群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74657" y="2569464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20377" y="261518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区部门/载体/云创/服中心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2862072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290779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10588" y="2862072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56308" y="290779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WAIC成果承接·创智汇开放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9741" y="2862072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5461" y="290779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议题速递→园区承接→双展台→洽谈→建群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74657" y="2862072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20377" y="290779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AI/内容企业、媒体、云创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3154680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320040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10588" y="3154680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56308" y="320040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9741" y="3154680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5461" y="320040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签到→工作流→实操→Demo→看场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74657" y="3154680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20377" y="320040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Agent工程师、初创团队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3447288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349300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10588" y="3447288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556308" y="349300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39741" y="3447288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5461" y="349300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赛道解读→IP授权→撮合→看场→建群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74657" y="3447288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20377" y="349300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游戏/动漫/潮玩IP方、渠道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" y="3739896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" y="378561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10588" y="3739896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56308" y="378561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出海专题活动（另议·另计价）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39741" y="3739896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85461" y="378561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另案确定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74657" y="3739896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20377" y="378561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另案确定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" y="4032504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5800" y="407822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10588" y="4032504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556308" y="407822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39741" y="4032504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85461" y="407822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案例→实操→共创→评审→看场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74657" y="4032504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20377" y="407822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多模态应用团队、产品负责人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" y="4325112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5800" y="437083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E4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10588" y="4325112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556308" y="437083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ChinaJoy主题日·数字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339741" y="4325112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385461" y="437083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开幕→赛道分享→展洽→看场→建群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474657" y="4325112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520377" y="437083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数字娱乐企业、内容工作室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" y="4617720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5800" y="466344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510588" y="4617720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556308" y="466344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39741" y="4617720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85461" y="466344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治理框架→合规清单→案例→对接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74657" y="4617720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20377" y="466344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合规顾问、企业法务/负责人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" y="4910328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5800" y="495604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510588" y="4910328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556308" y="495604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火山引擎×算力Infra实务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339741" y="4910328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385461" y="495604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政策包→代金券→案例→诊断→看场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474657" y="4910328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520377" y="495604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火山引擎、云创基地、技术负责人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" y="5202936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85800" y="524865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510588" y="5202936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556308" y="524865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创新券·算力券·模型券实务沙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339741" y="5202936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385461" y="524865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三券规则→核销→案例→开户→入驻洽谈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474657" y="5202936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20377" y="524865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券平台、云厂商、企业负责人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" y="5495544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85800" y="554126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L1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510588" y="5495544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556308" y="554126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领事到访接待（另计价）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339741" y="5495544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385461" y="554126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另案确定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474657" y="5495544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520377" y="554126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领事及相关方（另案）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" y="5788152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85800" y="583387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510588" y="5788152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556308" y="583387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339741" y="5788152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385461" y="583387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演示→讲解→场景→踩点→洽谈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474657" y="5788152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520377" y="583387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具身团队、高校实验室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附录 · 逐场执行要素（下）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8705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79735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9C27C"/>
                </a:solidFill>
                <a:latin typeface="Microsoft YaHei"/>
              </a:rPr>
              <a:t>编号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0588" y="1325880"/>
            <a:ext cx="2829153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6308" y="1371600"/>
            <a:ext cx="275600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活动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9741" y="1325880"/>
            <a:ext cx="4134916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5461" y="1371600"/>
            <a:ext cx="406176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行程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74657" y="132588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0377" y="137160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嘉宾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91640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73736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10588" y="1691640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6308" y="173736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创智汇AI年度Demo 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9741" y="1691640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5461" y="173736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开幕→精选路演→颁奖→洽谈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74657" y="1691640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0377" y="173736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投资人、链主、媒体、精选项目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1984248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02996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10588" y="1984248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6308" y="202996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9741" y="1984248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5461" y="202996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政策→制片→脚本→路演→看场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74657" y="1984248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0377" y="202996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导演、厂牌、平台方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276856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32257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10588" y="2276856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6308" y="232257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39741" y="2276856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5461" y="232257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策略→Agent→素材→复盘→转化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74657" y="2276856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20377" y="232257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投放操盘手、产品经理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2569464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261518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10588" y="2569464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56308" y="261518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YOUNG立方×智能伙伴政策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39741" y="2569464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5461" y="261518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政策→礼包→画像→诊断→看场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74657" y="2569464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20377" y="261518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政策宣讲、服中心、企业负责人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2862072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290779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B3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10588" y="2862072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56308" y="290779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高企认定冲刺（AI企业专场）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9741" y="2862072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5461" y="290779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条件→材料→初筛→套餐→激励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74657" y="2862072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20377" y="290779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辅导顾问、待认定企业负责人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3154680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320040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A7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10588" y="3154680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56308" y="320040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9741" y="3154680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5461" y="320040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开题→开发→路演→礼包→看场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74657" y="3154680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20377" y="320040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评委、投资人、Builders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3447288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349300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10588" y="3447288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556308" y="349300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高校成果转化·AI for 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39741" y="3447288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5461" y="349300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成果路演→场景→承接→看单元→洽谈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74657" y="3447288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20377" y="349300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复旦/同济技转、住房政策研究中心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" y="3739896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" y="378561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F3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10588" y="3739896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56308" y="378561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39741" y="3739896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85461" y="378561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议题→圆桌→围炉→问答→看场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74657" y="3739896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20377" y="378561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学者、模型企业、投资人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" y="4032504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5800" y="407822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10588" y="4032504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556308" y="407822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ChinaJoy主题·创作者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39741" y="4032504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85461" y="407822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揭幕→发布→快闪→专访→招商通道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74657" y="4032504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20377" y="407822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创作者、媒体、渠道、CJ内容方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" y="4325112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5800" y="437083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10588" y="4325112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556308" y="437083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ChinaJoy主题·游戏周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339741" y="4325112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385461" y="437083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赛道介绍→供需对接→展位参观→报价→建群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474657" y="4325112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520377" y="437083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游戏周边、潮玩供应链、渠道采购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" y="4617720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5800" y="4663440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510588" y="4617720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556308" y="4663440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39741" y="4617720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85461" y="4663440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政策→路演→点评→金融→看场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74657" y="4617720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20377" y="4663440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顾问、银行、基金、企业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" y="4910328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5800" y="4956048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510588" y="4910328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556308" y="4956048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339741" y="4910328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385461" y="4956048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布展→体验→交流→转正洽谈→建群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474657" y="4910328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520377" y="4956048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内容工作室、周边品牌、达人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" y="5202936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85800" y="5248656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C5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510588" y="5202936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556308" y="5248656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ChinaJoy主题·IP联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339741" y="5202936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385461" y="5248656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IP路演→联名模式→一对一→MOU→看场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474657" y="5202936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20377" y="5248656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IP方、衍生品商、渠道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" y="5495544"/>
            <a:ext cx="870508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85800" y="5541264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510588" y="5495544"/>
            <a:ext cx="2829153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556308" y="5541264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ChinaJoy主题·沉浸式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339741" y="5495544"/>
            <a:ext cx="4134916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385461" y="5541264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布展→预约观展→交流→闭幕洽谈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474657" y="5495544"/>
            <a:ext cx="3046780" cy="292608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520377" y="5541264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联合内容方、渠道、品牌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" y="5788152"/>
            <a:ext cx="870508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85800" y="5833872"/>
            <a:ext cx="797356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F5F1FF"/>
                </a:solidFill>
                <a:latin typeface="Microsoft YaHei"/>
              </a:rPr>
              <a:t>D5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510588" y="5788152"/>
            <a:ext cx="2829153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556308" y="5833872"/>
            <a:ext cx="2756001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创作者首发②·衔接WAIC2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339741" y="5788152"/>
            <a:ext cx="4134916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385461" y="5833872"/>
            <a:ext cx="4061764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发布→渠道→看场→年框→双会预热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474657" y="5788152"/>
            <a:ext cx="3046780" cy="292608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520377" y="5833872"/>
            <a:ext cx="2973628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IP方、渠道、媒体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附录 · 主体与口径一页纸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合并后统一口径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模块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3686860" y="1325880"/>
            <a:ext cx="7834579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2580" y="137160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口径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3046780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主体运营范围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86860" y="1691640"/>
            <a:ext cx="7834579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2580" y="173736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上海市云计算创新基地（国家级孵化器）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57400"/>
            <a:ext cx="3046780" cy="36576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10312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学术支持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6860" y="2057400"/>
            <a:ext cx="7834579" cy="36576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2580" y="210312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复旦大学住房政策研究中心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423160"/>
            <a:ext cx="3046780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46888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载体支持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6860" y="2423160"/>
            <a:ext cx="7834579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2580" y="246888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杨浦区科技企业联合会、科技企业服务中心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788920"/>
            <a:ext cx="3046780" cy="36576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83464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执行带客 / 销售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86860" y="2788920"/>
            <a:ext cx="7834579" cy="36576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2580" y="283464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同浦汇带客；园区负责销售部分与合同交割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154680"/>
            <a:ext cx="3046780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20040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人数 / 负责人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86860" y="3154680"/>
            <a:ext cx="7834579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2580" y="320040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每场≤30人；负责人约50%；全年约600人次+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520440"/>
            <a:ext cx="3046780" cy="36576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56616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双会原则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86860" y="3520440"/>
            <a:ext cx="7834579" cy="36576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2580" y="356616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WAIC→3F；ChinaJoy→5F；具身/AIGC叠加；只取招商切片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886200"/>
            <a:ext cx="3046780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93192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外企 / 出海 / 领事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86860" y="3886200"/>
            <a:ext cx="7834579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2580" y="393192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不承诺必带外企；出海另议；领事到访与挂牌均另计价且分性质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251960"/>
            <a:ext cx="3046780" cy="36576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29768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租金与付款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86860" y="4251960"/>
            <a:ext cx="7834579" cy="36576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2580" y="429768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不对赌；免租期1–3个月面议；付款50%+4×10%+10%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617720"/>
            <a:ext cx="3046780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663440"/>
            <a:ext cx="2973628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视觉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86860" y="4617720"/>
            <a:ext cx="7834579" cy="36576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32580" y="4663440"/>
            <a:ext cx="776142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皇家紫金主题（深紫渐变 + 蓝紫点缀 + 香槟金）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上海创智汇 × 同浦汇 · 年度活动运营方案 · 紫金版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