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589520" y="-1828800"/>
            <a:ext cx="6858000" cy="6858000"/>
          </a:xfrm>
          <a:prstGeom prst="ellipse">
            <a:avLst/>
          </a:prstGeom>
          <a:gradFill>
            <a:gsLst>
              <a:gs pos="0">
                <a:srgbClr val="8B7BFF">
                  <a:alpha val="22000"/>
                </a:srgbClr>
              </a:gs>
              <a:gs pos="100000">
                <a:srgbClr val="1A1140">
                  <a:alpha val="0"/>
                </a:srgbClr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2926080"/>
            <a:ext cx="5029200" cy="5029200"/>
          </a:xfrm>
          <a:prstGeom prst="ellipse">
            <a:avLst/>
          </a:prstGeom>
          <a:gradFill>
            <a:gsLst>
              <a:gs pos="0">
                <a:srgbClr val="C77DFF">
                  <a:alpha val="18000"/>
                </a:srgbClr>
              </a:gs>
              <a:gs pos="100000">
                <a:srgbClr val="1A1140">
                  <a:alpha val="0"/>
                </a:srgbClr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E9C27C"/>
              </a:gs>
              <a:gs pos="100000">
                <a:srgbClr val="C77DFF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96012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spc="300">
                <a:solidFill>
                  <a:srgbClr val="E9C27C"/>
                </a:solidFill>
                <a:latin typeface="Arial"/>
              </a:rPr>
              <a:t>BRIEFING · RESPONSE TO PARTNER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481328"/>
            <a:ext cx="822960" cy="3175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4000"/>
              </a:lnSpc>
            </a:pPr>
            <a:r>
              <a:rPr sz="3600" b="1">
                <a:solidFill>
                  <a:srgbClr val="F5F1FF"/>
                </a:solidFill>
                <a:latin typeface="Microsoft YaHei"/>
              </a:rPr>
              <a:t>专题汇报 · 回应中建关切
</a:t>
            </a:r>
            <a:r>
              <a:rPr sz="3600" b="1">
                <a:solidFill>
                  <a:srgbClr val="E9C27C"/>
                </a:solidFill>
                <a:latin typeface="Microsoft YaHei"/>
              </a:rPr>
              <a:t>每个收费点：逻辑 · 价值 · 怎么做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66160"/>
            <a:ext cx="1060704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C6BAEA"/>
                </a:solidFill>
                <a:latin typeface="Microsoft YaHei"/>
              </a:rPr>
              <a:t>上海创智汇 · AI+数字内容无界共创港 · 6600㎡
</a:t>
            </a:r>
            <a:r>
              <a:rPr sz="1500" b="0">
                <a:solidFill>
                  <a:srgbClr val="C6BAEA"/>
                </a:solidFill>
                <a:latin typeface="Microsoft YaHei"/>
              </a:rPr>
              <a:t>回应：收费点具象化 / 活动 30 场 30 万 / 政策能否拿到现金 / 会客厅≥80 万 / 国际英才+运营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937760"/>
            <a:ext cx="2029967" cy="475488"/>
          </a:xfrm>
          <a:prstGeom prst="roundRect">
            <a:avLst/>
          </a:prstGeom>
          <a:noFill/>
          <a:ln w="1587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37760"/>
            <a:ext cx="2029967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F5F1FF"/>
                </a:solidFill>
                <a:latin typeface="Microsoft YaHei"/>
              </a:rPr>
              <a:t>每点：逻辑·价值·怎么做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90087" y="4937760"/>
            <a:ext cx="1618487" cy="475488"/>
          </a:xfrm>
          <a:prstGeom prst="roundRect">
            <a:avLst/>
          </a:prstGeom>
          <a:noFill/>
          <a:ln w="1587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90087" y="4937760"/>
            <a:ext cx="1618487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F5F1FF"/>
                </a:solidFill>
                <a:latin typeface="Microsoft YaHei"/>
              </a:rPr>
              <a:t>政策：能否拿到现金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91454" y="4937760"/>
            <a:ext cx="2029967" cy="475488"/>
          </a:xfrm>
          <a:prstGeom prst="roundRect">
            <a:avLst/>
          </a:prstGeom>
          <a:noFill/>
          <a:ln w="1587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91454" y="4937760"/>
            <a:ext cx="2029967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F5F1FF"/>
                </a:solidFill>
                <a:latin typeface="Microsoft YaHei"/>
              </a:rPr>
              <a:t>会客厅：≥80 万如何来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04301" y="4937760"/>
            <a:ext cx="2029967" cy="475488"/>
          </a:xfrm>
          <a:prstGeom prst="roundRect">
            <a:avLst/>
          </a:prstGeom>
          <a:noFill/>
          <a:ln w="1587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04301" y="4937760"/>
            <a:ext cx="2029967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F5F1FF"/>
                </a:solidFill>
                <a:latin typeface="Microsoft YaHei"/>
              </a:rPr>
              <a:t>出海：国际英才 + 运营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5852160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961888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Microsoft YaHei"/>
              </a:rPr>
              <a:t>汇报版 v1.0</a:t>
            </a:r>
            <a:r>
              <a:rPr sz="1100" b="0">
                <a:solidFill>
                  <a:srgbClr val="9486C4"/>
                </a:solidFill>
                <a:latin typeface="Microsoft YaHei"/>
              </a:rPr>
              <a:t>    用于与中建沟通；数据为合理测算，最终以协议与执行为准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786384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4864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00">
                <a:solidFill>
                  <a:srgbClr val="E9C27C"/>
                </a:solidFill>
                <a:latin typeface="Arial"/>
              </a:rPr>
              <a:t>THE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841248"/>
            <a:ext cx="95097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5F1FF"/>
                </a:solidFill>
                <a:latin typeface="Microsoft YaHei"/>
              </a:rPr>
              <a:t>我们要回答的问题（对方关切）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0"/>
            <a:ext cx="14173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4000" b="1">
                <a:solidFill>
                  <a:srgbClr val="E9C27C"/>
                </a:solidFill>
                <a:latin typeface="Arial"/>
              </a:rPr>
              <a:t>00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61320" y="1207008"/>
            <a:ext cx="1170432" cy="254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327648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6600㎡ 专题汇报版（回应中建关切）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02</a:t>
            </a:r>
            <a:r>
              <a:rPr sz="1050" b="0">
                <a:solidFill>
                  <a:srgbClr val="9486C4"/>
                </a:solidFill>
                <a:latin typeface="Arial"/>
              </a:rPr>
              <a:t> / 09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10634472" cy="749808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783080"/>
            <a:ext cx="64008" cy="749808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1783080"/>
            <a:ext cx="1097280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9C27C"/>
                </a:solidFill>
                <a:latin typeface="Arial"/>
              </a:rPr>
              <a:t>Q1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1783080"/>
            <a:ext cx="9052560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F5F1FF"/>
                </a:solidFill>
                <a:latin typeface="Microsoft YaHei"/>
              </a:rPr>
              <a:t>每个收费点的背后逻辑与「可衡量价值」，以及具体怎么做？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679192"/>
            <a:ext cx="10634472" cy="749808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2679192"/>
            <a:ext cx="64008" cy="749808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2679192"/>
            <a:ext cx="1097280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8B7BFF"/>
                </a:solidFill>
                <a:latin typeface="Arial"/>
              </a:rPr>
              <a:t>Q2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2679192"/>
            <a:ext cx="9052560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F5F1FF"/>
                </a:solidFill>
                <a:latin typeface="Microsoft YaHei"/>
              </a:rPr>
              <a:t>活动 30 场/30 万 怎么做、什么形式、带来什么、是否带来收入？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575304"/>
            <a:ext cx="10634472" cy="749808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575304"/>
            <a:ext cx="64008" cy="749808"/>
          </a:xfrm>
          <a:prstGeom prst="rect">
            <a:avLst/>
          </a:prstGeom>
          <a:solidFill>
            <a:srgbClr val="C7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575304"/>
            <a:ext cx="1097280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C77DFF"/>
                </a:solidFill>
                <a:latin typeface="Arial"/>
              </a:rPr>
              <a:t>Q3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8840" y="3575304"/>
            <a:ext cx="9052560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F5F1FF"/>
                </a:solidFill>
                <a:latin typeface="Microsoft YaHei"/>
              </a:rPr>
              <a:t>政策凭什么你们能申报？本项目可申哪些？能带来多少（能否拿到现金）？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471416"/>
            <a:ext cx="10634472" cy="749808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4471416"/>
            <a:ext cx="64008" cy="749808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4471416"/>
            <a:ext cx="1097280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56D6B6"/>
                </a:solidFill>
                <a:latin typeface="Arial"/>
              </a:rPr>
              <a:t>Q4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48840" y="4471416"/>
            <a:ext cx="9052560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F5F1FF"/>
                </a:solidFill>
                <a:latin typeface="Microsoft YaHei"/>
              </a:rPr>
              <a:t>国际会客厅收益逻辑与合作机制是什么？如何带来 ≥80 万？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440680"/>
            <a:ext cx="10634472" cy="658368"/>
          </a:xfrm>
          <a:prstGeom prst="roundRect">
            <a:avLst/>
          </a:prstGeom>
          <a:ln w="12700">
            <a:solidFill>
              <a:srgbClr val="E9C27C"/>
            </a:solidFill>
          </a:ln>
          <a:effectLst/>
          <a:gradFill>
            <a:gsLst>
              <a:gs pos="0">
                <a:srgbClr val="3A2878"/>
              </a:gs>
              <a:gs pos="100000">
                <a:srgbClr val="2A1E5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440680"/>
            <a:ext cx="1024128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E9C27C"/>
                </a:solidFill>
                <a:latin typeface="Microsoft YaHei"/>
              </a:rPr>
              <a:t>补充　</a:t>
            </a:r>
            <a:r>
              <a:rPr sz="1250" b="0">
                <a:solidFill>
                  <a:srgbClr val="F5F1FF"/>
                </a:solidFill>
                <a:latin typeface="Microsoft YaHei"/>
              </a:rPr>
              <a:t>并把「国际英才（沪动营）+ 出海运营」补充进出海板块；本汇报逐条回应，给出逻辑、可衡量价值与落地打法。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786384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4864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00">
                <a:solidFill>
                  <a:srgbClr val="E9C27C"/>
                </a:solidFill>
                <a:latin typeface="Arial"/>
              </a:rPr>
              <a:t>VALUE JUSTIFICATION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841248"/>
            <a:ext cx="95097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5F1FF"/>
                </a:solidFill>
                <a:latin typeface="Microsoft YaHei"/>
              </a:rPr>
              <a:t>收费点价值论证 · 逻辑 / 价值 / 怎么做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0"/>
            <a:ext cx="14173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4000" b="1">
                <a:solidFill>
                  <a:srgbClr val="E9C27C"/>
                </a:solidFill>
                <a:latin typeface="Arial"/>
              </a:rPr>
              <a:t>Q1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61320" y="1207008"/>
            <a:ext cx="1170432" cy="254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327648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6600㎡ 专题汇报版（回应中建关切）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03</a:t>
            </a:r>
            <a:r>
              <a:rPr sz="1050" b="0">
                <a:solidFill>
                  <a:srgbClr val="9486C4"/>
                </a:solidFill>
                <a:latin typeface="Arial"/>
              </a:rPr>
              <a:t> / 09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536192"/>
            <a:ext cx="10634472" cy="402336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35276A"/>
              </a:gs>
              <a:gs pos="100000">
                <a:srgbClr val="2A1E5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536192"/>
            <a:ext cx="1488826" cy="402336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50" b="1">
                <a:solidFill>
                  <a:srgbClr val="E9C27C"/>
                </a:solidFill>
                <a:latin typeface="Microsoft YaHei"/>
              </a:rPr>
              <a:t>收费点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66066" y="1536192"/>
            <a:ext cx="3083996" cy="402336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50" b="1">
                <a:solidFill>
                  <a:srgbClr val="E9C27C"/>
                </a:solidFill>
                <a:latin typeface="Microsoft YaHei"/>
              </a:rPr>
              <a:t>背后逻辑（凭什么）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50062" y="1536192"/>
            <a:ext cx="3296686" cy="402336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50" b="1">
                <a:solidFill>
                  <a:srgbClr val="E9C27C"/>
                </a:solidFill>
                <a:latin typeface="Microsoft YaHei"/>
              </a:rPr>
              <a:t>给中建的可衡量价值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6748" y="1536192"/>
            <a:ext cx="2764962" cy="402336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50" b="1">
                <a:solidFill>
                  <a:srgbClr val="E9C27C"/>
                </a:solidFill>
                <a:latin typeface="Microsoft YaHei"/>
              </a:rPr>
              <a:t>怎么做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1929003"/>
            <a:ext cx="10634472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1938528"/>
            <a:ext cx="1488826" cy="47548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050" b="1">
                <a:solidFill>
                  <a:srgbClr val="E9C27C"/>
                </a:solidFill>
                <a:latin typeface="Microsoft YaHei"/>
              </a:rPr>
              <a:t>招商佣金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66066" y="1938528"/>
            <a:ext cx="3083996" cy="47548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950" b="0">
                <a:solidFill>
                  <a:srgbClr val="C6BAEA"/>
                </a:solidFill>
                <a:latin typeface="Microsoft YaHei"/>
              </a:rPr>
              <a:t>牌照+政策+社群自带客流，110:1 漏斗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50062" y="1938528"/>
            <a:ext cx="3296686" cy="47548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950" b="0">
                <a:solidFill>
                  <a:srgbClr val="C6BAEA"/>
                </a:solidFill>
                <a:latin typeface="Microsoft YaHei"/>
              </a:rPr>
              <a:t>去化提速、租金回收提前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6748" y="1938528"/>
            <a:ext cx="2764962" cy="47548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950" b="0">
                <a:solidFill>
                  <a:srgbClr val="C6BAEA"/>
                </a:solidFill>
                <a:latin typeface="Microsoft YaHei"/>
              </a:rPr>
              <a:t>牌照锚定+政策礼包+社群/活动导流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2404491"/>
            <a:ext cx="10634472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2414016"/>
            <a:ext cx="10634472" cy="475488"/>
          </a:xfrm>
          <a:prstGeom prst="rect">
            <a:avLst/>
          </a:prstGeom>
          <a:solidFill>
            <a:srgbClr val="221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414016"/>
            <a:ext cx="1488826" cy="47548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050" b="1">
                <a:solidFill>
                  <a:srgbClr val="E9C27C"/>
                </a:solidFill>
                <a:latin typeface="Microsoft YaHei"/>
              </a:rPr>
              <a:t>活动 30 场/30 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66066" y="2414016"/>
            <a:ext cx="3083996" cy="47548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950" b="0">
                <a:solidFill>
                  <a:srgbClr val="C6BAEA"/>
                </a:solidFill>
                <a:latin typeface="Microsoft YaHei"/>
              </a:rPr>
              <a:t>高频活动引流+完成载体 KPI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50062" y="2414016"/>
            <a:ext cx="3296686" cy="47548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950" b="0">
                <a:solidFill>
                  <a:srgbClr val="C6BAEA"/>
                </a:solidFill>
                <a:latin typeface="Microsoft YaHei"/>
              </a:rPr>
              <a:t>转化租客、补贴 10–20 万/年、媒体声量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6748" y="2414016"/>
            <a:ext cx="2764962" cy="47548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950" b="0">
                <a:solidFill>
                  <a:srgbClr val="C6BAEA"/>
                </a:solidFill>
                <a:latin typeface="Microsoft YaHei"/>
              </a:rPr>
              <a:t>6 类活动打包，投流引流→线下转化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2879979"/>
            <a:ext cx="10634472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2889504"/>
            <a:ext cx="1488826" cy="47548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050" b="1">
                <a:solidFill>
                  <a:srgbClr val="E9C27C"/>
                </a:solidFill>
                <a:latin typeface="Microsoft YaHei"/>
              </a:rPr>
              <a:t>媒体 10 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66066" y="2889504"/>
            <a:ext cx="3083996" cy="47548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950" b="0">
                <a:solidFill>
                  <a:srgbClr val="C6BAEA"/>
                </a:solidFill>
                <a:latin typeface="Microsoft YaHei"/>
              </a:rPr>
              <a:t>官媒背书 + 自媒体投流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50062" y="2889504"/>
            <a:ext cx="3296686" cy="47548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950" b="0">
                <a:solidFill>
                  <a:srgbClr val="C6BAEA"/>
                </a:solidFill>
                <a:latin typeface="Microsoft YaHei"/>
              </a:rPr>
              <a:t>项目背书、招商曝光 ≥150 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46748" y="2889504"/>
            <a:ext cx="2764962" cy="47548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950" b="0">
                <a:solidFill>
                  <a:srgbClr val="C6BAEA"/>
                </a:solidFill>
                <a:latin typeface="Microsoft YaHei"/>
              </a:rPr>
              <a:t>官媒 5 万 + 自媒体/投流 5 万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3355467"/>
            <a:ext cx="10634472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77240" y="3364992"/>
            <a:ext cx="10634472" cy="475488"/>
          </a:xfrm>
          <a:prstGeom prst="rect">
            <a:avLst/>
          </a:prstGeom>
          <a:solidFill>
            <a:srgbClr val="221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3364992"/>
            <a:ext cx="1488826" cy="47548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050" b="1">
                <a:solidFill>
                  <a:srgbClr val="E9C27C"/>
                </a:solidFill>
                <a:latin typeface="Microsoft YaHei"/>
              </a:rPr>
              <a:t>政策申报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66066" y="3364992"/>
            <a:ext cx="3083996" cy="47548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950" b="0">
                <a:solidFill>
                  <a:srgbClr val="C6BAEA"/>
                </a:solidFill>
                <a:latin typeface="Microsoft YaHei"/>
              </a:rPr>
              <a:t>挂牌科企服务中心+科企联+复旦系资质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50062" y="3364992"/>
            <a:ext cx="3296686" cy="47548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950" b="0">
                <a:solidFill>
                  <a:srgbClr val="C6BAEA"/>
                </a:solidFill>
                <a:latin typeface="Microsoft YaHei"/>
              </a:rPr>
              <a:t>企业补贴到账、平台服务费/分成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46748" y="3364992"/>
            <a:ext cx="2764962" cy="47548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950" b="0">
                <a:solidFill>
                  <a:srgbClr val="C6BAEA"/>
                </a:solidFill>
                <a:latin typeface="Microsoft YaHei"/>
              </a:rPr>
              <a:t>见 Q3 政策页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" y="3830955"/>
            <a:ext cx="10634472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3840480"/>
            <a:ext cx="1488826" cy="47548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050" b="1">
                <a:solidFill>
                  <a:srgbClr val="E9C27C"/>
                </a:solidFill>
                <a:latin typeface="Microsoft YaHei"/>
              </a:rPr>
              <a:t>企业服务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66066" y="3840480"/>
            <a:ext cx="3083996" cy="47548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950" b="0">
                <a:solidFill>
                  <a:srgbClr val="C6BAEA"/>
                </a:solidFill>
                <a:latin typeface="Microsoft YaHei"/>
              </a:rPr>
              <a:t>联合公司承接注册/申报/知产/财税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50062" y="3840480"/>
            <a:ext cx="3296686" cy="47548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950" b="0">
                <a:solidFill>
                  <a:srgbClr val="C6BAEA"/>
                </a:solidFill>
                <a:latin typeface="Microsoft YaHei"/>
              </a:rPr>
              <a:t>企业黏性、第二收入曲线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46748" y="3840480"/>
            <a:ext cx="2764962" cy="47548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950" b="0">
                <a:solidFill>
                  <a:srgbClr val="C6BAEA"/>
                </a:solidFill>
                <a:latin typeface="Microsoft YaHei"/>
              </a:rPr>
              <a:t>联合公司经营分成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4306443"/>
            <a:ext cx="10634472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7240" y="4315968"/>
            <a:ext cx="10634472" cy="475488"/>
          </a:xfrm>
          <a:prstGeom prst="rect">
            <a:avLst/>
          </a:prstGeom>
          <a:solidFill>
            <a:srgbClr val="221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4315968"/>
            <a:ext cx="1488826" cy="47548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050" b="1">
                <a:solidFill>
                  <a:srgbClr val="E9C27C"/>
                </a:solidFill>
                <a:latin typeface="Microsoft YaHei"/>
              </a:rPr>
              <a:t>出海撮合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66066" y="4315968"/>
            <a:ext cx="3083996" cy="47548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950" b="0">
                <a:solidFill>
                  <a:srgbClr val="C6BAEA"/>
                </a:solidFill>
                <a:latin typeface="Microsoft YaHei"/>
              </a:rPr>
              <a:t>领事/大湾区/高校/国际英才资源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50062" y="4315968"/>
            <a:ext cx="3296686" cy="47548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950" b="0">
                <a:solidFill>
                  <a:srgbClr val="C6BAEA"/>
                </a:solidFill>
                <a:latin typeface="Microsoft YaHei"/>
              </a:rPr>
              <a:t>海外订单、租金反哺、合资收益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46748" y="4315968"/>
            <a:ext cx="2764962" cy="47548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950" b="0">
                <a:solidFill>
                  <a:srgbClr val="C6BAEA"/>
                </a:solidFill>
                <a:latin typeface="Microsoft YaHei"/>
              </a:rPr>
              <a:t>全链条 + 领事路径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" y="4781931"/>
            <a:ext cx="10634472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7240" y="4791456"/>
            <a:ext cx="1488826" cy="47548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050" b="1">
                <a:solidFill>
                  <a:srgbClr val="E9C27C"/>
                </a:solidFill>
                <a:latin typeface="Microsoft YaHei"/>
              </a:rPr>
              <a:t>国际会客厅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266066" y="4791456"/>
            <a:ext cx="3083996" cy="47548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950" b="0">
                <a:solidFill>
                  <a:srgbClr val="C6BAEA"/>
                </a:solidFill>
                <a:latin typeface="Microsoft YaHei"/>
              </a:rPr>
              <a:t>领事资源合作方 + 高端背书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50062" y="4791456"/>
            <a:ext cx="3296686" cy="47548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950" b="0">
                <a:solidFill>
                  <a:srgbClr val="C6BAEA"/>
                </a:solidFill>
                <a:latin typeface="Microsoft YaHei"/>
              </a:rPr>
              <a:t>外资对接、高端招商、≥80 万收益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46748" y="4791456"/>
            <a:ext cx="2764962" cy="47548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950" b="0">
                <a:solidFill>
                  <a:srgbClr val="C6BAEA"/>
                </a:solidFill>
                <a:latin typeface="Microsoft YaHei"/>
              </a:rPr>
              <a:t>见 Q4 会客厅页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77240" y="5257419"/>
            <a:ext cx="10634472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77240" y="1536192"/>
            <a:ext cx="31750" cy="3730752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77240" y="5989320"/>
            <a:ext cx="106070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＊每个收费点＝背后逻辑（我们凭什么）+ 给中建可衡量价值 + 具体怎么做。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786384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4864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00">
                <a:solidFill>
                  <a:srgbClr val="E9C27C"/>
                </a:solidFill>
                <a:latin typeface="Arial"/>
              </a:rPr>
              <a:t>EVENT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841248"/>
            <a:ext cx="95097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5F1FF"/>
                </a:solidFill>
                <a:latin typeface="Microsoft YaHei"/>
              </a:rPr>
              <a:t>活动 30 场/30 万 · 怎么做 · 效果 · 是否带收入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0"/>
            <a:ext cx="14173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4000" b="1">
                <a:solidFill>
                  <a:srgbClr val="E9C27C"/>
                </a:solidFill>
                <a:latin typeface="Arial"/>
              </a:rPr>
              <a:t>Q2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61320" y="1207008"/>
            <a:ext cx="1170432" cy="254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327648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6600㎡ 专题汇报版（回应中建关切）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04</a:t>
            </a:r>
            <a:r>
              <a:rPr sz="1050" b="0">
                <a:solidFill>
                  <a:srgbClr val="9486C4"/>
                </a:solidFill>
                <a:latin typeface="Arial"/>
              </a:rPr>
              <a:t> / 09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600200"/>
            <a:ext cx="3456432" cy="278892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600200"/>
            <a:ext cx="64008" cy="278892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" y="1783080"/>
            <a:ext cx="299923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怎么做（形式）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" y="2167128"/>
            <a:ext cx="2907792" cy="2130552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5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50">
                <a:solidFill>
                  <a:srgbClr val="C6BAEA"/>
                </a:solidFill>
                <a:latin typeface="Microsoft YaHei"/>
              </a:rPr>
              <a:t>AI 培训 / 黑客松、政策沙龙 / 路演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5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50">
                <a:solidFill>
                  <a:srgbClr val="C6BAEA"/>
                </a:solidFill>
                <a:latin typeface="Microsoft YaHei"/>
              </a:rPr>
              <a:t>行业对接 / 撮合 / 游学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5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50">
                <a:solidFill>
                  <a:srgbClr val="C6BAEA"/>
                </a:solidFill>
                <a:latin typeface="Microsoft YaHei"/>
              </a:rPr>
              <a:t>IP 潮玩市集、漫展 / 大型活动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5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50">
                <a:solidFill>
                  <a:srgbClr val="C6BAEA"/>
                </a:solidFill>
                <a:latin typeface="Microsoft YaHei"/>
              </a:rPr>
              <a:t>领事专题 / 买家团 / 出海推介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5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50">
                <a:solidFill>
                  <a:srgbClr val="C6BAEA"/>
                </a:solidFill>
                <a:latin typeface="Microsoft YaHei"/>
              </a:rPr>
              <a:t>线上投流引流 → 线下办会 → 转化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9976" y="1600200"/>
            <a:ext cx="3456432" cy="278892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9976" y="1600200"/>
            <a:ext cx="64008" cy="278892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90872" y="1783080"/>
            <a:ext cx="299923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带来什么效果（可衡量）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0872" y="2167128"/>
            <a:ext cx="2907792" cy="2130552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5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150">
                <a:solidFill>
                  <a:srgbClr val="C6BAEA"/>
                </a:solidFill>
                <a:latin typeface="Microsoft YaHei"/>
              </a:rPr>
              <a:t>每场 ≥30 人，年触达 900+ 精准客户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5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150">
                <a:solidFill>
                  <a:srgbClr val="C6BAEA"/>
                </a:solidFill>
                <a:latin typeface="Microsoft YaHei"/>
              </a:rPr>
              <a:t>110:1 招商漏斗，转化租客/企业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5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150">
                <a:solidFill>
                  <a:srgbClr val="C6BAEA"/>
                </a:solidFill>
                <a:latin typeface="Microsoft YaHei"/>
              </a:rPr>
              <a:t>完成载体 KPI → 补贴 10–20 万/年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5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150">
                <a:solidFill>
                  <a:srgbClr val="C6BAEA"/>
                </a:solidFill>
                <a:latin typeface="Microsoft YaHei"/>
              </a:rPr>
              <a:t>媒体曝光 ≥150 万，提升声量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5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150">
                <a:solidFill>
                  <a:srgbClr val="C6BAEA"/>
                </a:solidFill>
                <a:latin typeface="Microsoft YaHei"/>
              </a:rPr>
              <a:t>为出海/撮合/会籍持续输送客源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28431" y="1600200"/>
            <a:ext cx="3383280" cy="278892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28431" y="1600200"/>
            <a:ext cx="64008" cy="278892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39327" y="1783080"/>
            <a:ext cx="29260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是否带来收入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7" y="2167128"/>
            <a:ext cx="2834640" cy="2130552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5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150">
                <a:solidFill>
                  <a:srgbClr val="C6BAEA"/>
                </a:solidFill>
                <a:latin typeface="Microsoft YaHei"/>
              </a:rPr>
              <a:t>漫展：门票 + 赞助（经营性收入）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5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150">
                <a:solidFill>
                  <a:srgbClr val="C6BAEA"/>
                </a:solidFill>
                <a:latin typeface="Microsoft YaHei"/>
              </a:rPr>
              <a:t>培训 / 训练营：按人/按场收费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5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150">
                <a:solidFill>
                  <a:srgbClr val="C6BAEA"/>
                </a:solidFill>
                <a:latin typeface="Microsoft YaHei"/>
              </a:rPr>
              <a:t>赞助商 / 展位 / 冠名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5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150">
                <a:solidFill>
                  <a:srgbClr val="C6BAEA"/>
                </a:solidFill>
                <a:latin typeface="Microsoft YaHei"/>
              </a:rPr>
              <a:t>活动转化企业服务与撮合收入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5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150">
                <a:solidFill>
                  <a:srgbClr val="C6BAEA"/>
                </a:solidFill>
                <a:latin typeface="Microsoft YaHei"/>
              </a:rPr>
              <a:t>→ 部分自造收入冲抵活动成本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572000"/>
            <a:ext cx="10634472" cy="1417320"/>
          </a:xfrm>
          <a:prstGeom prst="roundRect">
            <a:avLst/>
          </a:prstGeom>
          <a:ln w="12700">
            <a:solidFill>
              <a:srgbClr val="E9C2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4572000"/>
            <a:ext cx="64008" cy="141732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681728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9C27C"/>
                </a:solidFill>
                <a:latin typeface="Microsoft YaHei"/>
              </a:rPr>
              <a:t>给中建的价值 &amp; 费用说明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074920"/>
            <a:ext cx="5120640" cy="822960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1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价值：去化提速 + 补贴达标 + 品牌声量 + 企业转化</a:t>
            </a:r>
          </a:p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1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30 场为满足招商/载体/补贴各项要求的基线，可按招人方式调整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5074920"/>
            <a:ext cx="5029200" cy="822960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1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30 万为固定活动执行费（策划/执行/导师/物料）</a:t>
            </a:r>
          </a:p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1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门票/赞助/培训等经营性收入单独结算，可冲抵成本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786384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4864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00">
                <a:solidFill>
                  <a:srgbClr val="E9C27C"/>
                </a:solidFill>
                <a:latin typeface="Arial"/>
              </a:rPr>
              <a:t>POLICY CAPABILITY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841248"/>
            <a:ext cx="95097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5F1FF"/>
                </a:solidFill>
                <a:latin typeface="Microsoft YaHei"/>
              </a:rPr>
              <a:t>政策申报 · 凭什么我们能申 + 本项目可申清单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0"/>
            <a:ext cx="14173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4000" b="1">
                <a:solidFill>
                  <a:srgbClr val="E9C27C"/>
                </a:solidFill>
                <a:latin typeface="Arial"/>
              </a:rPr>
              <a:t>Q3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61320" y="1207008"/>
            <a:ext cx="1170432" cy="254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327648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6600㎡ 专题汇报版（回应中建关切）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05</a:t>
            </a:r>
            <a:r>
              <a:rPr sz="1050" b="0">
                <a:solidFill>
                  <a:srgbClr val="9486C4"/>
                </a:solidFill>
                <a:latin typeface="Arial"/>
              </a:rPr>
              <a:t> / 09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554480"/>
            <a:ext cx="5230368" cy="22860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554480"/>
            <a:ext cx="64008" cy="22860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" y="1737360"/>
            <a:ext cx="4773168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凭什么我们能申报（能力/资质）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" y="2121408"/>
            <a:ext cx="4681728" cy="1627632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5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050">
                <a:solidFill>
                  <a:srgbClr val="C6BAEA"/>
                </a:solidFill>
                <a:latin typeface="Microsoft YaHei"/>
              </a:rPr>
              <a:t>挂牌科企服务中心 + 依托科企联，政务快通道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5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050">
                <a:solidFill>
                  <a:srgbClr val="C6BAEA"/>
                </a:solidFill>
                <a:latin typeface="Microsoft YaHei"/>
              </a:rPr>
              <a:t>拟入驻一网通办创新券平台，作服务机构核销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5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050">
                <a:solidFill>
                  <a:srgbClr val="C6BAEA"/>
                </a:solidFill>
                <a:latin typeface="Microsoft YaHei"/>
              </a:rPr>
              <a:t>复旦系（技术转移/珠海院/成果转化中心）+ 高校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5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050">
                <a:solidFill>
                  <a:srgbClr val="C6BAEA"/>
                </a:solidFill>
                <a:latin typeface="Microsoft YaHei"/>
              </a:rPr>
              <a:t>专业申报团队 + 过往经验（高企/专精特新）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5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050">
                <a:solidFill>
                  <a:srgbClr val="C6BAEA"/>
                </a:solidFill>
                <a:latin typeface="Microsoft YaHei"/>
              </a:rPr>
              <a:t>载体认定路径：载体/成果转化平台/OPC 社区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554480"/>
            <a:ext cx="5230368" cy="22860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554480"/>
            <a:ext cx="64008" cy="228600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737360"/>
            <a:ext cx="4773168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本项目可申报清单（具体）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121408"/>
            <a:ext cx="4681728" cy="1627632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5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050">
                <a:solidFill>
                  <a:srgbClr val="C6BAEA"/>
                </a:solidFill>
                <a:latin typeface="Microsoft YaHei"/>
              </a:rPr>
              <a:t>企业侧：高企 20 万、专精特新 10/30 万、科小备案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5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050">
                <a:solidFill>
                  <a:srgbClr val="C6BAEA"/>
                </a:solidFill>
                <a:latin typeface="Microsoft YaHei"/>
              </a:rPr>
              <a:t>企业侧：AI 房租补贴 ≤100 万/年、算力 ≤50%、创新券 ≤30 万/年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5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050">
                <a:solidFill>
                  <a:srgbClr val="C6BAEA"/>
                </a:solidFill>
                <a:latin typeface="Microsoft YaHei"/>
              </a:rPr>
              <a:t>企业侧：微短剧专项（智能体/优秀剧/厂牌/出海）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5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050">
                <a:solidFill>
                  <a:srgbClr val="C6BAEA"/>
                </a:solidFill>
                <a:latin typeface="Microsoft YaHei"/>
              </a:rPr>
              <a:t>载体侧：成果转化平台运营 ≤100 万/年、服务业引导资金 ≤300 万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5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050">
                <a:solidFill>
                  <a:srgbClr val="C6BAEA"/>
                </a:solidFill>
                <a:latin typeface="Microsoft YaHei"/>
              </a:rPr>
              <a:t>载体侧：活动/载体补贴（满年 10–20 万）、载体认定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005072"/>
            <a:ext cx="10634472" cy="1874519"/>
          </a:xfrm>
          <a:prstGeom prst="roundRect">
            <a:avLst/>
          </a:prstGeom>
          <a:ln w="12700">
            <a:solidFill>
              <a:srgbClr val="E9C2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4005072"/>
            <a:ext cx="64008" cy="1874519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114800"/>
            <a:ext cx="102412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6D6B6"/>
                </a:solidFill>
                <a:latin typeface="Microsoft YaHei"/>
              </a:rPr>
              <a:t>政策 → 收入怎么算（平台可实现现金）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526280"/>
            <a:ext cx="5120640" cy="1280160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05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050">
                <a:solidFill>
                  <a:srgbClr val="C6BAEA"/>
                </a:solidFill>
                <a:latin typeface="Microsoft YaHei"/>
              </a:rPr>
              <a:t>申报服务费：科小 0.3–2 万/家；高企/专精特新 2–8 万/家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05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050">
                <a:solidFill>
                  <a:srgbClr val="C6BAEA"/>
                </a:solidFill>
                <a:latin typeface="Microsoft YaHei"/>
              </a:rPr>
              <a:t>成功分成：补贴到账额 5%–15%（以兑现为准）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05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050">
                <a:solidFill>
                  <a:srgbClr val="C6BAEA"/>
                </a:solidFill>
                <a:latin typeface="Microsoft YaHei"/>
              </a:rPr>
              <a:t>载体运营补贴：认定+满年约 10–20 万/年（直接到平台）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526280"/>
            <a:ext cx="5029200" cy="1280160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05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050">
                <a:solidFill>
                  <a:srgbClr val="C6BAEA"/>
                </a:solidFill>
                <a:latin typeface="Microsoft YaHei"/>
              </a:rPr>
              <a:t>前提：先取得相应认定（载体/服务机构），摸排已列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05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050">
                <a:solidFill>
                  <a:srgbClr val="C6BAEA"/>
                </a:solidFill>
                <a:latin typeface="Microsoft YaHei"/>
              </a:rPr>
              <a:t>口径：补贴主体到企业/载体，平台按服务费+分成取酬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05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050">
                <a:solidFill>
                  <a:srgbClr val="C6BAEA"/>
                </a:solidFill>
                <a:latin typeface="Microsoft YaHei"/>
              </a:rPr>
              <a:t>先陪 3–5 家样板跑通，形成可复制申报流水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786384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4864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00">
                <a:solidFill>
                  <a:srgbClr val="E9C27C"/>
                </a:solidFill>
                <a:latin typeface="Arial"/>
              </a:rPr>
              <a:t>POLICY → CASH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841248"/>
            <a:ext cx="95097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5F1FF"/>
                </a:solidFill>
                <a:latin typeface="Microsoft YaHei"/>
              </a:rPr>
              <a:t>政策能否拿到现金 · 变现前置条件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0"/>
            <a:ext cx="14173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4000" b="1">
                <a:solidFill>
                  <a:srgbClr val="E9C27C"/>
                </a:solidFill>
                <a:latin typeface="Arial"/>
              </a:rPr>
              <a:t>Q3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61320" y="1207008"/>
            <a:ext cx="1170432" cy="254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327648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6600㎡ 专题汇报版（回应中建关切）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06</a:t>
            </a:r>
            <a:r>
              <a:rPr sz="1050" b="0">
                <a:solidFill>
                  <a:srgbClr val="9486C4"/>
                </a:solidFill>
                <a:latin typeface="Arial"/>
              </a:rPr>
              <a:t> / 09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554480"/>
            <a:ext cx="10634472" cy="402336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35276A"/>
              </a:gs>
              <a:gs pos="100000">
                <a:srgbClr val="2A1E5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554480"/>
            <a:ext cx="2977652" cy="402336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50" b="1">
                <a:solidFill>
                  <a:srgbClr val="E9C27C"/>
                </a:solidFill>
                <a:latin typeface="Microsoft YaHei"/>
              </a:rPr>
              <a:t>政策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54892" y="1554480"/>
            <a:ext cx="2977652" cy="402336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50" b="1">
                <a:solidFill>
                  <a:srgbClr val="E9C27C"/>
                </a:solidFill>
                <a:latin typeface="Microsoft YaHei"/>
              </a:rPr>
              <a:t>金额（含单位）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32544" y="1554480"/>
            <a:ext cx="2552273" cy="402336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50" b="1">
                <a:solidFill>
                  <a:srgbClr val="E9C27C"/>
                </a:solidFill>
                <a:latin typeface="Microsoft YaHei"/>
              </a:rPr>
              <a:t>平台可实现现金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4817" y="1554480"/>
            <a:ext cx="2126894" cy="402336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50" b="1">
                <a:solidFill>
                  <a:srgbClr val="E9C27C"/>
                </a:solidFill>
                <a:latin typeface="Microsoft YaHei"/>
              </a:rPr>
              <a:t>现金确定性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1947291"/>
            <a:ext cx="10634472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1956816"/>
            <a:ext cx="2977652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050" b="1">
                <a:solidFill>
                  <a:srgbClr val="E9C27C"/>
                </a:solidFill>
                <a:latin typeface="Microsoft YaHei"/>
              </a:rPr>
              <a:t>载体运营/活动补贴（认定后）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54892" y="1956816"/>
            <a:ext cx="2977652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000" b="0">
                <a:solidFill>
                  <a:srgbClr val="C6BAEA"/>
                </a:solidFill>
                <a:latin typeface="Microsoft YaHei"/>
              </a:rPr>
              <a:t>≤100 万/年；满年约 10–20 万/年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2544" y="1956816"/>
            <a:ext cx="2552273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000" b="0">
                <a:solidFill>
                  <a:srgbClr val="C6BAEA"/>
                </a:solidFill>
                <a:latin typeface="Microsoft YaHei"/>
              </a:rPr>
              <a:t>直接到平台 10–20 万/年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4817" y="1956816"/>
            <a:ext cx="2126894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950" b="0">
                <a:solidFill>
                  <a:srgbClr val="C6BAEA"/>
                </a:solidFill>
                <a:latin typeface="Microsoft YaHei"/>
              </a:rPr>
              <a:t>现金·较确定（需认定+满年）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2404491"/>
            <a:ext cx="10634472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2414016"/>
            <a:ext cx="10634472" cy="457200"/>
          </a:xfrm>
          <a:prstGeom prst="rect">
            <a:avLst/>
          </a:prstGeom>
          <a:solidFill>
            <a:srgbClr val="221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414016"/>
            <a:ext cx="2977652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050" b="1">
                <a:solidFill>
                  <a:srgbClr val="E9C27C"/>
                </a:solidFill>
                <a:latin typeface="Microsoft YaHei"/>
              </a:rPr>
              <a:t>高企 / 专精特新 / 科小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54892" y="2414016"/>
            <a:ext cx="2977652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000" b="0">
                <a:solidFill>
                  <a:srgbClr val="C6BAEA"/>
                </a:solidFill>
                <a:latin typeface="Microsoft YaHei"/>
              </a:rPr>
              <a:t>20 万 / 10·30 万 / 资格（企业）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32544" y="2414016"/>
            <a:ext cx="2552273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000" b="0">
                <a:solidFill>
                  <a:srgbClr val="C6BAEA"/>
                </a:solidFill>
                <a:latin typeface="Microsoft YaHei"/>
              </a:rPr>
              <a:t>服务费 0.3–8 万/家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4817" y="2414016"/>
            <a:ext cx="2126894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950" b="0">
                <a:solidFill>
                  <a:srgbClr val="C6BAEA"/>
                </a:solidFill>
                <a:latin typeface="Microsoft YaHei"/>
              </a:rPr>
              <a:t>现金·确定（服务费）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2861691"/>
            <a:ext cx="10634472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2871216"/>
            <a:ext cx="2977652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050" b="1">
                <a:solidFill>
                  <a:srgbClr val="E9C27C"/>
                </a:solidFill>
                <a:latin typeface="Microsoft YaHei"/>
              </a:rPr>
              <a:t>AI 房租补贴 / 政府补贴项目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54892" y="2871216"/>
            <a:ext cx="2977652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000" b="0">
                <a:solidFill>
                  <a:srgbClr val="C6BAEA"/>
                </a:solidFill>
                <a:latin typeface="Microsoft YaHei"/>
              </a:rPr>
              <a:t>≤100 万/年 / 视项目（企业）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32544" y="2871216"/>
            <a:ext cx="2552273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000" b="0">
                <a:solidFill>
                  <a:srgbClr val="C6BAEA"/>
                </a:solidFill>
                <a:latin typeface="Microsoft YaHei"/>
              </a:rPr>
              <a:t>成功费 到账 5%–15%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4817" y="2871216"/>
            <a:ext cx="2126894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950" b="0">
                <a:solidFill>
                  <a:srgbClr val="C6BAEA"/>
                </a:solidFill>
                <a:latin typeface="Microsoft YaHei"/>
              </a:rPr>
              <a:t>现金·以兑现为准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3318891"/>
            <a:ext cx="10634472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77240" y="3328416"/>
            <a:ext cx="10634472" cy="457200"/>
          </a:xfrm>
          <a:prstGeom prst="rect">
            <a:avLst/>
          </a:prstGeom>
          <a:solidFill>
            <a:srgbClr val="221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3328416"/>
            <a:ext cx="2977652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050" b="1">
                <a:solidFill>
                  <a:srgbClr val="E9C27C"/>
                </a:solidFill>
                <a:latin typeface="Microsoft YaHei"/>
              </a:rPr>
              <a:t>创新券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54892" y="3328416"/>
            <a:ext cx="2977652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000" b="0">
                <a:solidFill>
                  <a:srgbClr val="C6BAEA"/>
                </a:solidFill>
                <a:latin typeface="Microsoft YaHei"/>
              </a:rPr>
              <a:t>企业≤30 万/年（抵付服务）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32544" y="3328416"/>
            <a:ext cx="2552273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000" b="0">
                <a:solidFill>
                  <a:srgbClr val="C6BAEA"/>
                </a:solidFill>
                <a:latin typeface="Microsoft YaHei"/>
              </a:rPr>
              <a:t>服务机构核销分成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84817" y="3328416"/>
            <a:ext cx="2126894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950" b="0">
                <a:solidFill>
                  <a:srgbClr val="C6BAEA"/>
                </a:solidFill>
                <a:latin typeface="Microsoft YaHei"/>
              </a:rPr>
              <a:t>现金·需入驻平台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" y="3776091"/>
            <a:ext cx="10634472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3785616"/>
            <a:ext cx="2977652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050" b="1">
                <a:solidFill>
                  <a:srgbClr val="E9C27C"/>
                </a:solidFill>
                <a:latin typeface="Microsoft YaHei"/>
              </a:rPr>
              <a:t>算力补贴 + 云折扣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54892" y="3785616"/>
            <a:ext cx="2977652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000" b="0">
                <a:solidFill>
                  <a:srgbClr val="C6BAEA"/>
                </a:solidFill>
                <a:latin typeface="Microsoft YaHei"/>
              </a:rPr>
              <a:t>最高 50%（企业）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32544" y="3785616"/>
            <a:ext cx="2552273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000" b="0">
                <a:solidFill>
                  <a:srgbClr val="C6BAEA"/>
                </a:solidFill>
                <a:latin typeface="Microsoft YaHei"/>
              </a:rPr>
              <a:t>招商抓手（非平台现金）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84817" y="3785616"/>
            <a:ext cx="2126894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950" b="0">
                <a:solidFill>
                  <a:srgbClr val="C6BAEA"/>
                </a:solidFill>
                <a:latin typeface="Microsoft YaHei"/>
              </a:rPr>
              <a:t>非现金（招商用）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4233291"/>
            <a:ext cx="10634472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7240" y="1554480"/>
            <a:ext cx="31750" cy="268833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77240" y="4480560"/>
            <a:ext cx="10634472" cy="1554480"/>
          </a:xfrm>
          <a:prstGeom prst="roundRect">
            <a:avLst/>
          </a:prstGeom>
          <a:ln w="15875">
            <a:solidFill>
              <a:srgbClr val="E9C27C"/>
            </a:solidFill>
          </a:ln>
          <a:effectLst/>
          <a:gradFill>
            <a:gsLst>
              <a:gs pos="0">
                <a:srgbClr val="3A2878"/>
              </a:gs>
              <a:gs pos="100000">
                <a:srgbClr val="2A1E5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5840" y="4572000"/>
            <a:ext cx="102412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9C27C"/>
                </a:solidFill>
                <a:latin typeface="Microsoft YaHei"/>
              </a:rPr>
              <a:t>政策变现前置开关（建议与中建对齐）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" y="4983480"/>
            <a:ext cx="5120640" cy="1005840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1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① 项目/平台取得「经认定载体 / 成果转化服务平台」→ 载体补贴到平台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1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② 我方入驻「一网通办创新券平台」作服务机构 → 核销分成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9360" y="4983480"/>
            <a:ext cx="5029200" cy="1005840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1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③ 首批 3–5 家样板企业申报跑通 → 形成收入流水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1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计入预算的政策收入＝平台可实现现金（服务费+分成+载体补贴）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786384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4864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00">
                <a:solidFill>
                  <a:srgbClr val="E9C27C"/>
                </a:solidFill>
                <a:latin typeface="Arial"/>
              </a:rPr>
              <a:t>SALON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841248"/>
            <a:ext cx="95097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5F1FF"/>
                </a:solidFill>
                <a:latin typeface="Microsoft YaHei"/>
              </a:rPr>
              <a:t>国际会客厅 · 收益逻辑与合作机制（≥80 万）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0"/>
            <a:ext cx="14173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4000" b="1">
                <a:solidFill>
                  <a:srgbClr val="E9C27C"/>
                </a:solidFill>
                <a:latin typeface="Arial"/>
              </a:rPr>
              <a:t>Q4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61320" y="1207008"/>
            <a:ext cx="1170432" cy="254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327648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6600㎡ 专题汇报版（回应中建关切）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07</a:t>
            </a:r>
            <a:r>
              <a:rPr sz="1050" b="0">
                <a:solidFill>
                  <a:srgbClr val="9486C4"/>
                </a:solidFill>
                <a:latin typeface="Arial"/>
              </a:rPr>
              <a:t> / 09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536192"/>
            <a:ext cx="10634472" cy="914400"/>
          </a:xfrm>
          <a:prstGeom prst="roundRect">
            <a:avLst/>
          </a:prstGeom>
          <a:ln w="15875">
            <a:solidFill>
              <a:srgbClr val="E9C27C"/>
            </a:solidFill>
          </a:ln>
          <a:effectLst/>
          <a:gradFill>
            <a:gsLst>
              <a:gs pos="0">
                <a:srgbClr val="3A2878"/>
              </a:gs>
              <a:gs pos="100000">
                <a:srgbClr val="2A1E5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536192"/>
            <a:ext cx="10241280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合作机制　</a:t>
            </a:r>
            <a:r>
              <a:rPr sz="1200" b="0">
                <a:solidFill>
                  <a:srgbClr val="F5F1FF"/>
                </a:solidFill>
                <a:latin typeface="Microsoft YaHei"/>
              </a:rPr>
              <a:t>三方协同：平台（运营策划+活动执行+出海撮合）× 领事资源合作方（领事网络+空间）× 复旦政策研究中心/科企联（背书+获客）；以「国别/北欧会客厅」为载体，按 冠名+会籍+活动+出海对接 收费，收益按项目分润。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06040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9C27C"/>
                </a:solidFill>
                <a:latin typeface="Microsoft YaHei"/>
              </a:rPr>
              <a:t>≥80 万收益如何构成（保守单一情景）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017520"/>
            <a:ext cx="10634472" cy="402336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35276A"/>
              </a:gs>
              <a:gs pos="100000">
                <a:srgbClr val="2A1E5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017520"/>
            <a:ext cx="2764962" cy="402336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50" b="1">
                <a:solidFill>
                  <a:srgbClr val="E9C27C"/>
                </a:solidFill>
                <a:latin typeface="Microsoft YaHei"/>
              </a:rPr>
              <a:t>收益项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2202" y="3017520"/>
            <a:ext cx="4891857" cy="402336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50" b="1">
                <a:solidFill>
                  <a:srgbClr val="E9C27C"/>
                </a:solidFill>
                <a:latin typeface="Microsoft YaHei"/>
              </a:rPr>
              <a:t>口径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4059" y="3017520"/>
            <a:ext cx="2977652" cy="402336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50" b="1">
                <a:solidFill>
                  <a:srgbClr val="E9C27C"/>
                </a:solidFill>
                <a:latin typeface="Microsoft YaHei"/>
              </a:rPr>
              <a:t>年收益（保守）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410331"/>
            <a:ext cx="10634472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419856"/>
            <a:ext cx="2764962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1">
                <a:solidFill>
                  <a:srgbClr val="E9C27C"/>
                </a:solidFill>
                <a:latin typeface="Microsoft YaHei"/>
              </a:rPr>
              <a:t>国家/联合冠名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2202" y="3419856"/>
            <a:ext cx="4891857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050" b="0">
                <a:solidFill>
                  <a:srgbClr val="C6BAEA"/>
                </a:solidFill>
                <a:latin typeface="Microsoft YaHei"/>
              </a:rPr>
              <a:t>1 个 × 30–80 万/年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4059" y="3419856"/>
            <a:ext cx="2977652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约 40 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867531"/>
            <a:ext cx="10634472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3877056"/>
            <a:ext cx="10634472" cy="457200"/>
          </a:xfrm>
          <a:prstGeom prst="rect">
            <a:avLst/>
          </a:prstGeom>
          <a:solidFill>
            <a:srgbClr val="221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877056"/>
            <a:ext cx="2764962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1">
                <a:solidFill>
                  <a:srgbClr val="E9C27C"/>
                </a:solidFill>
                <a:latin typeface="Microsoft YaHei"/>
              </a:rPr>
              <a:t>企业常驻会籍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42202" y="3877056"/>
            <a:ext cx="4891857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050" b="0">
                <a:solidFill>
                  <a:srgbClr val="C6BAEA"/>
                </a:solidFill>
                <a:latin typeface="Microsoft YaHei"/>
              </a:rPr>
              <a:t>3–5 家 × 10 万/家/年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4059" y="3877056"/>
            <a:ext cx="2977652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约 30–50 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324731"/>
            <a:ext cx="10634472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334256"/>
            <a:ext cx="2764962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1">
                <a:solidFill>
                  <a:srgbClr val="E9C27C"/>
                </a:solidFill>
                <a:latin typeface="Microsoft YaHei"/>
              </a:rPr>
              <a:t>单场活动（领事出席）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42202" y="4334256"/>
            <a:ext cx="4891857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050" b="0">
                <a:solidFill>
                  <a:srgbClr val="C6BAEA"/>
                </a:solidFill>
                <a:latin typeface="Microsoft YaHei"/>
              </a:rPr>
              <a:t>6–8 场 × 3–8 万/场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4059" y="4334256"/>
            <a:ext cx="2977652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约 20–40 万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781931"/>
            <a:ext cx="10634472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791456"/>
            <a:ext cx="10634472" cy="457200"/>
          </a:xfrm>
          <a:prstGeom prst="rect">
            <a:avLst/>
          </a:prstGeom>
          <a:solidFill>
            <a:srgbClr val="221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4791456"/>
            <a:ext cx="2764962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1">
                <a:solidFill>
                  <a:srgbClr val="E9C27C"/>
                </a:solidFill>
                <a:latin typeface="Microsoft YaHei"/>
              </a:rPr>
              <a:t>出海对接服务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42202" y="4791456"/>
            <a:ext cx="4891857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050" b="0">
                <a:solidFill>
                  <a:srgbClr val="C6BAEA"/>
                </a:solidFill>
                <a:latin typeface="Microsoft YaHei"/>
              </a:rPr>
              <a:t>单国服务包 20–50 万/项目 × 1–2 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4059" y="4791456"/>
            <a:ext cx="2977652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约 20–50 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5239131"/>
            <a:ext cx="10634472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5248656"/>
            <a:ext cx="2764962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1">
                <a:solidFill>
                  <a:srgbClr val="E9C27C"/>
                </a:solidFill>
                <a:latin typeface="Microsoft YaHei"/>
              </a:rPr>
              <a:t>合计（毛收益）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42202" y="5248656"/>
            <a:ext cx="4891857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050" b="0">
                <a:solidFill>
                  <a:srgbClr val="C6BAEA"/>
                </a:solidFill>
                <a:latin typeface="Microsoft YaHei"/>
              </a:rPr>
              <a:t>以上累计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34059" y="5248656"/>
            <a:ext cx="2977652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约 110–180 万 → 分润/成本后平台 ≥80 万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696331"/>
            <a:ext cx="10634472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3017520"/>
            <a:ext cx="31750" cy="268833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5943600"/>
            <a:ext cx="106070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＊给中建价值：以「国家为单位」的招商与外资对接入口、高端背书；收益为保守测算，最终以合作方协议为准。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786384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4864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00">
                <a:solidFill>
                  <a:srgbClr val="E9C27C"/>
                </a:solidFill>
                <a:latin typeface="Arial"/>
              </a:rPr>
              <a:t>GLOBAL TALENT &amp; 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841248"/>
            <a:ext cx="95097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5F1FF"/>
                </a:solidFill>
                <a:latin typeface="Microsoft YaHei"/>
              </a:rPr>
              <a:t>出海板块补充 · 国际英才 + 出海运营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0"/>
            <a:ext cx="14173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4000" b="1">
                <a:solidFill>
                  <a:srgbClr val="E9C27C"/>
                </a:solidFill>
                <a:latin typeface="Arial"/>
              </a:rPr>
              <a:t>+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61320" y="1207008"/>
            <a:ext cx="1170432" cy="254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327648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6600㎡ 专题汇报版（回应中建关切）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08</a:t>
            </a:r>
            <a:r>
              <a:rPr sz="1050" b="0">
                <a:solidFill>
                  <a:srgbClr val="9486C4"/>
                </a:solidFill>
                <a:latin typeface="Arial"/>
              </a:rPr>
              <a:t> / 09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554480"/>
            <a:ext cx="7086600" cy="4434840"/>
          </a:xfrm>
          <a:prstGeom prst="roundRect">
            <a:avLst/>
          </a:prstGeom>
          <a:ln w="15875">
            <a:solidFill>
              <a:srgbClr val="E9C2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554480"/>
            <a:ext cx="64008" cy="443484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1682496"/>
            <a:ext cx="67665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9C27C"/>
                </a:solidFill>
                <a:latin typeface="Microsoft YaHei"/>
              </a:rPr>
              <a:t>国际英才 · 沪动营（留学生丝路英才计划）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2103120"/>
            <a:ext cx="67665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B7BFF"/>
                </a:solidFill>
                <a:latin typeface="Microsoft YaHei"/>
              </a:rPr>
              <a:t>定位　</a:t>
            </a:r>
            <a:r>
              <a:rPr sz="1100" b="0">
                <a:solidFill>
                  <a:srgbClr val="C6BAEA"/>
                </a:solidFill>
                <a:latin typeface="Microsoft YaHei"/>
              </a:rPr>
              <a:t>「沪联世界·智创未来」——财大/复旦/同济三校联合，服务逾万名在校留学生，培养懂中国·通国际的一带一路桥梁人才。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788920"/>
            <a:ext cx="6858000" cy="2011680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05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050">
                <a:solidFill>
                  <a:srgbClr val="C6BAEA"/>
                </a:solidFill>
                <a:latin typeface="Microsoft YaHei"/>
              </a:rPr>
              <a:t>三大体系：思想引领（丝路青年领袖峰会）→ 能力提升（1+N 双导师·跨境电商实训）→ 实践转化（跨境贸易服务中心·全球供应链）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05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050">
                <a:solidFill>
                  <a:srgbClr val="C6BAEA"/>
                </a:solidFill>
                <a:latin typeface="Microsoft YaHei"/>
              </a:rPr>
              <a:t>出海用途：双语双市场人才、TikTok 直播选品、海外品牌孵化、连接一带一路国家母国市场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05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050">
                <a:solidFill>
                  <a:srgbClr val="C6BAEA"/>
                </a:solidFill>
                <a:latin typeface="Microsoft YaHei"/>
              </a:rPr>
              <a:t>百千万工程（3 年）：孵化 100 跨境团队 / 促成 1000 人就业 / 培养 10000 复合人才；目标 10 亿跨境贸易、30 海外品牌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05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050">
                <a:solidFill>
                  <a:srgbClr val="C6BAEA"/>
                </a:solidFill>
                <a:latin typeface="Microsoft YaHei"/>
              </a:rPr>
              <a:t>收入落点：训练营/创投大赛/跨境撮合佣金/企业结对 + 留学生政策项目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554480"/>
            <a:ext cx="3227832" cy="443484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1554480"/>
            <a:ext cx="64008" cy="4434840"/>
          </a:xfrm>
          <a:prstGeom prst="rect">
            <a:avLst/>
          </a:prstGeom>
          <a:solidFill>
            <a:srgbClr val="C7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94775" y="1737360"/>
            <a:ext cx="277063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出海运营（运营）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94775" y="2121408"/>
            <a:ext cx="2679192" cy="3776472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出海代运营：领英/谷歌/TikTok/短剧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海外账号搭建与投放代运营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出海活动运营 + 买家团/展销运营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落地陪跑：连领事→部长→洽谈→落地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团队：初期兼职 → 成熟全职约 3 人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收费：出海专项服务费 + 代运营 + 撮合佣金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786384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4864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00">
                <a:solidFill>
                  <a:srgbClr val="E9C27C"/>
                </a:solidFill>
                <a:latin typeface="Arial"/>
              </a:rPr>
              <a:t>CONCLUSION &amp;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841248"/>
            <a:ext cx="95097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5F1FF"/>
                </a:solidFill>
                <a:latin typeface="Microsoft YaHei"/>
              </a:rPr>
              <a:t>结论与下一步（与中建对齐）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0"/>
            <a:ext cx="14173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4000" b="1">
                <a:solidFill>
                  <a:srgbClr val="E9C27C"/>
                </a:solidFill>
                <a:latin typeface="Arial"/>
              </a:rPr>
              <a:t>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61320" y="1207008"/>
            <a:ext cx="1170432" cy="254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327648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6600㎡ 专题汇报版（回应中建关切）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09</a:t>
            </a:r>
            <a:r>
              <a:rPr sz="1050" b="0">
                <a:solidFill>
                  <a:srgbClr val="9486C4"/>
                </a:solidFill>
                <a:latin typeface="Arial"/>
              </a:rPr>
              <a:t> / 09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600200"/>
            <a:ext cx="5230368" cy="237744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600200"/>
            <a:ext cx="64008" cy="237744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" y="1783080"/>
            <a:ext cx="4773168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结论：每点都讲得清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" y="2167128"/>
            <a:ext cx="4681728" cy="1719072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每个收费点＝逻辑 + 可衡量价值 + 落地打法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活动：形式/效果/收入清晰，30 万为固定执行费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政策：平台现金＝服务费+成功分成+载体补贴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会客厅：机制清晰，≥80 万有构成拆解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出海：国际英才 + 运营 双支撑，非空谈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00200"/>
            <a:ext cx="5230368" cy="237744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600200"/>
            <a:ext cx="64008" cy="237744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783080"/>
            <a:ext cx="4773168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下一步：先开前置开关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167128"/>
            <a:ext cx="4681728" cy="1719072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① 推进载体/成果转化平台认定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② 我方入驻创新券平台作服务机构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③ 锁定首批 3–5 家样板企业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④ 确认会客厅合作方与分润机制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⑤ 锁定出海国家/资源与运营团队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160520"/>
            <a:ext cx="10634472" cy="1828800"/>
          </a:xfrm>
          <a:prstGeom prst="roundRect">
            <a:avLst/>
          </a:prstGeom>
          <a:ln w="15875">
            <a:solidFill>
              <a:srgbClr val="E9C27C"/>
            </a:solidFill>
          </a:ln>
          <a:effectLst/>
          <a:gradFill>
            <a:gsLst>
              <a:gs pos="0">
                <a:srgbClr val="3A2878"/>
              </a:gs>
              <a:gs pos="100000">
                <a:srgbClr val="2A1E5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279392"/>
            <a:ext cx="102412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9C27C"/>
                </a:solidFill>
                <a:latin typeface="Microsoft YaHei"/>
              </a:rPr>
              <a:t>一句话对齐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681728"/>
            <a:ext cx="10241280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F5F1FF"/>
                </a:solidFill>
                <a:latin typeface="Microsoft YaHei"/>
              </a:rPr>
              <a:t>方案不是「只有报价」——</a:t>
            </a:r>
            <a:r>
              <a:rPr sz="1250" b="0">
                <a:solidFill>
                  <a:srgbClr val="C6BAEA"/>
                </a:solidFill>
                <a:latin typeface="Microsoft YaHei"/>
              </a:rPr>
              <a:t>每个收费点背后都有明确逻辑、可衡量价值与落地打法；政策收入以「能拿到现金」口径计入（先认定、再兑现）；国际会客厅有清晰机制与 ≥80 万收益构成；出海以国际英才与运营团队落到实处。建议本周对齐三个认定/合作前置开关，即可进入预算收口与签约。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