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8B7BFF"/>
                </a:solidFill>
                <a:latin typeface="Microsoft YaHei"/>
              </a:rPr>
              <a:t>创智汇 × 同浦汇｜内部汇报框架　·　呈阅胡会长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5F1FF"/>
                </a:solidFill>
                <a:latin typeface="Microsoft YaHei"/>
              </a:rPr>
              <a:t>单场活动执行与甲乙方分工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展示「一场」怎么做　｜　档期灵活　｜　彼此分工说清楚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C6BAEA"/>
                </a:solidFill>
                <a:latin typeface="Microsoft YaHei"/>
              </a:rPr>
              <a:t>每场≤30人　·　同浦汇带客 / 园区销售　·　活动结束建群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530352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73152" cy="22860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199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本册是什么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59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不是全年30场总册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只讲「单场」执行流程与分工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可套用到任意一场活动汇报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基于胡会长初版框架修订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749039"/>
            <a:ext cx="502920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749039"/>
            <a:ext cx="73152" cy="22860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886199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相对初版的调整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251959"/>
            <a:ext cx="4617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≥30人 → 改为≤30人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「一月一场」→ 改为灵活档期示例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明确甲方=园区、乙方=同浦汇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补齐建群、回访摘要、销售促成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使用说明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这份框架怎么用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内部汇报单场活动情况；不一定一个月一场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适用场景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向会长/园区汇报某一场怎么执行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确认本场甲乙方谁做什么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活动前对齐节点与交付物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活动后对照复盘是否闭环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怎么填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先定：主题 / 档期 / 场地 / 客群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再套：T-14→D日→T+7 分工表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当场：签到、看场、建群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事后：回访摘要交园区销售跟进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角色定义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甲方园区 · 乙方同浦汇 · 一句话分工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甲方（园区）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审定主题、议程与档期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场地、物业、导视、样板间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共享在谈名单（如有）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负责销售部分与合同交割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可在活动群内发布条件促成成交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乙方（同浦汇）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策划主题与议程草案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定向邀约嘉宾与观众（带客）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主持控场、看场带队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建群 + 回访摘要主责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资料归档与复盘纪要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一句话：我们负责带客，园区负责销售部分。协同支持按需：云创基地 / 科企联 / 服中心 / 复旦住房中心。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单场时间轴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同一套打法（可套任意一场）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16736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280160"/>
            <a:ext cx="457017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16736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1" y="1280160"/>
            <a:ext cx="32644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1316736"/>
            <a:ext cx="31912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45920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82496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6860" y="1645920"/>
            <a:ext cx="4570171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2580" y="1682496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锁定主题、议程、嘉宾与物料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1" y="1645920"/>
            <a:ext cx="3264408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682496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084832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121408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084832"/>
            <a:ext cx="4570171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121408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邀约确认 + 观众名单 + 场地报备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1" y="2084832"/>
            <a:ext cx="3264408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1" y="2121408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523744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560320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86860" y="2523744"/>
            <a:ext cx="4570171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2580" y="2560320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演讲PPT与现场物料确认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57031" y="2523744"/>
            <a:ext cx="3264408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2560320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962656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999232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2962656"/>
            <a:ext cx="4570171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2999232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建活动群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1" y="2962656"/>
            <a:ext cx="3264408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1" y="2999232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01568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38144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86860" y="3401568"/>
            <a:ext cx="4570171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2580" y="3438144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彩排 + 看场动线走查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57031" y="3401568"/>
            <a:ext cx="3264408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3438144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840480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877056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D日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6860" y="3840480"/>
            <a:ext cx="4570171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2580" y="3877056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57031" y="3840480"/>
            <a:ext cx="3264408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1" y="3877056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279392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315968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T+1～7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86860" y="4279392"/>
            <a:ext cx="4570171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2580" y="4315968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带客回访 + 销售促成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57031" y="4279392"/>
            <a:ext cx="3264408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02751" y="4315968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718304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754880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活动后宣发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86860" y="4718304"/>
            <a:ext cx="4570171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32580" y="4754880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资料宣发与复盘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57031" y="4718304"/>
            <a:ext cx="3264408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2751" y="4754880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04 · 甲乙方分工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单场分工表（上）· 筹备阶段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在胡会长初版框架上补齐建群/回访/销售促成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9586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18854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8724" y="128016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4444" y="131673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4996" y="1280160"/>
            <a:ext cx="337322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0716" y="1316736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甲方（园区）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217" y="1280160"/>
            <a:ext cx="337322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937" y="1316736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乙方（同浦汇）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45920"/>
            <a:ext cx="195864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8249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T-14（活动前约2周）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8724" y="1645920"/>
            <a:ext cx="2176272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4444" y="168249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锁定主题、议程、嘉宾与物料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4996" y="164592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0716" y="168249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审定主题与档期；确认场地/样板间；共享在谈名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8217" y="164592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937" y="168249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提出主题方案与议程草案；定向邀约嘉宾；制作报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286000"/>
            <a:ext cx="195864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32257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T-7（活动前1周）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98724" y="2286000"/>
            <a:ext cx="2176272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4444" y="232257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邀约确认 + 观众名单 +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74996" y="228600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0716" y="232257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审核议程终稿；确认场地物业/导视/安保；接收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8217" y="228600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937" y="232257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按产业主题客群邀约观众（目标≤30人）；嘉宾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26080"/>
            <a:ext cx="195864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96265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T-3（活动前3天）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8724" y="2926080"/>
            <a:ext cx="2176272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4444" y="296265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演讲PPT与现场物料确认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4996" y="292608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0716" y="296265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审核嘉宾演讲PPT要点；确认桌椅/投影/话筒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8217" y="292608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937" y="296265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收集整理嘉宾PPT；确认打印物料与动线物料无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566160"/>
            <a:ext cx="195864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60273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T-2（活动前2天）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8724" y="3566160"/>
            <a:ext cx="2176272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4444" y="360273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建活动群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74996" y="356616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0716" y="360273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指定专人入群；回答地址/停车等园区侧问题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8217" y="356616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3937" y="360273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拉群、发议程与到场须知；名单分层标注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04 · 甲乙方分工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单场分工表（下）· 现场与复盘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在胡会长初版框架上补齐建群/回访/销售促成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9586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18854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8724" y="128016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4444" y="131673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4996" y="1280160"/>
            <a:ext cx="337322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0716" y="1316736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甲方（园区）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217" y="1280160"/>
            <a:ext cx="337322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937" y="1316736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乙方（同浦汇）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45920"/>
            <a:ext cx="195864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8249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T-1（活动前1天）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8724" y="1645920"/>
            <a:ext cx="2176272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4444" y="168249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彩排 + 看场动线走查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4996" y="164592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0716" y="168249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开放样板间/看场动线；物业配合彩排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8217" y="164592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937" y="168249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全流程彩排；看场带队预案；礼品/政策包就位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286000"/>
            <a:ext cx="195864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32257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D日（活动当天）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98724" y="2286000"/>
            <a:ext cx="2176272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4444" y="232257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74996" y="228600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0716" y="232257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现场项目介绍/销售支持；开放看场；可在群内发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8217" y="228600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937" y="232257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接待主持控场；签到分层；带队看场；当场建群与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26080"/>
            <a:ext cx="195864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96265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T+1～7（活动后一周）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8724" y="2926080"/>
            <a:ext cx="2176272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4444" y="296265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带客回访 + 销售促成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4996" y="292608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0716" y="296265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基于名单/群做销售跟进与成交交割（园区主责销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8217" y="292608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937" y="296265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主责带客回访；交回访摘要（知会版）；签到表/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566160"/>
            <a:ext cx="195864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60273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活动后宣发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8724" y="3566160"/>
            <a:ext cx="2176272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4444" y="360273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资料宣发与复盘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74996" y="356616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0716" y="360273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公众号/小红书等官方渠道宣发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8217" y="356616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3937" y="360273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提供通稿素材与照片；配合宣发；提交单场复盘纪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单场交付物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交给园区的、可核验的东西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74101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62456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阶段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1097" y="1325880"/>
            <a:ext cx="587593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6817" y="1362456"/>
            <a:ext cx="580278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交付物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1" y="1325880"/>
            <a:ext cx="32644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1362456"/>
            <a:ext cx="31912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责任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91640"/>
            <a:ext cx="1741017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28216"/>
            <a:ext cx="166786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活动前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1097" y="1691640"/>
            <a:ext cx="587593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6817" y="1728216"/>
            <a:ext cx="580278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主题方案、议程单、嘉宾确认、报名页/物料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1" y="1691640"/>
            <a:ext cx="3264408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728216"/>
            <a:ext cx="319125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乙方制作；甲方审定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31720"/>
            <a:ext cx="1741017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368296"/>
            <a:ext cx="166786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活动中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1097" y="2331720"/>
            <a:ext cx="587593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6817" y="2368296"/>
            <a:ext cx="580278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签到表、意向登记、活动群、看场记录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1" y="2331720"/>
            <a:ext cx="3264408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1" y="2368296"/>
            <a:ext cx="319125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乙方执行；甲方现场支持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971800"/>
            <a:ext cx="1741017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08376"/>
            <a:ext cx="166786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活动后7天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81097" y="2971800"/>
            <a:ext cx="587593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6817" y="3008376"/>
            <a:ext cx="580278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回访摘要（知会版）、照片/通稿、文字稿/AI大纲、复盘纪要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57031" y="2971800"/>
            <a:ext cx="3264408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3008376"/>
            <a:ext cx="319125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乙方归档交园区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11880"/>
            <a:ext cx="1741017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648456"/>
            <a:ext cx="166786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销售促成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1097" y="3611880"/>
            <a:ext cx="587593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6817" y="3648456"/>
            <a:ext cx="580278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房源条件、报价、合同交割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1" y="3611880"/>
            <a:ext cx="3264408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1" y="3648456"/>
            <a:ext cx="319125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甲方（园区）主责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回访摘要为知会版：方便园区销售跟进，不额外增加园区事务负担。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06 · 本场信息栏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汇报时按场填写（模板）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62456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字段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325880"/>
            <a:ext cx="783457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62456"/>
            <a:ext cx="776142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填写示例 / 留白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28216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活动名称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6860" y="1691640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2580" y="1728216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例如：创智汇项目推广日①·中介与渠道专场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30552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67128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6860" y="2130552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2580" y="2167128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____年__月__日（灵活，非强制月度）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69464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06040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场地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569464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606040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创智汇3F / 5F / 其他______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08376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044952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预计人数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6860" y="3008376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580" y="3044952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≤30人　｜　负责人约50%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47288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83864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主题一句话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6860" y="3447288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2580" y="3483864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886200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22776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目标客群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3886200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3922776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325112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361688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招商落点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6860" y="4325112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2580" y="4361688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看场 / 展位 / 入孵 / 其他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764024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800600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资源导入（如有）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86860" y="4764024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2580" y="4800600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WAIC切片 / ChinaJoy切片 / 园区自建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07 · 口径对齐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与创智汇活动总册保持一致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人数与客群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每场到场≤30人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负责人占比适度承兑约50%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产业主题定向邀约为主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弱化关联度核验表表述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不承诺必带外资企业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出海活动：另议另计价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领事到访/挂牌：另计价且分性质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本框架不含租金对赌条款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本框架不是全年排期总表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只服务「单场执行汇报」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F5F1FF"/>
                </a:solidFill>
                <a:latin typeface="Microsoft YaHei"/>
              </a:rPr>
              <a:t>谢谢审阅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E9C27C"/>
                </a:solidFill>
                <a:latin typeface="Microsoft YaHei"/>
              </a:rPr>
              <a:t>单场活动执行与甲乙方分工 · 汇报框架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C6BAEA"/>
                </a:solidFill>
                <a:latin typeface="Microsoft YaHei"/>
              </a:rPr>
              <a:t>同浦汇带客 · 园区销售 · 一场一套打法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9486C4"/>
                </a:solidFill>
                <a:latin typeface="Microsoft YaHei"/>
              </a:rPr>
              <a:t>呈阅：胡会长
编制参考：同浦汇（基于初版框架修订）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