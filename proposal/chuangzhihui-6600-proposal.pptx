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FB0D6"/>
                </a:solidFill>
                <a:latin typeface="Microsoft YaHei"/>
              </a:rPr>
              <a:t>CHUANGZHIHUI · WUJIAOCHANG URBAN RENEWAL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EAF0FF"/>
                </a:solidFill>
                <a:latin typeface="Microsoft YaHei"/>
              </a:rPr>
              <a:t>创智汇 </a:t>
            </a:r>
            <a:r>
              <a:rPr sz="3800" b="1">
                <a:solidFill>
                  <a:srgbClr val="FFCE6B"/>
                </a:solidFill>
                <a:latin typeface="Microsoft YaHei"/>
              </a:rPr>
              <a:t>6600㎡</a:t>
            </a:r>
            <a:r>
              <a:rPr sz="3800" b="1">
                <a:solidFill>
                  <a:srgbClr val="EAF0FF"/>
                </a:solidFill>
                <a:latin typeface="Microsoft YaHei"/>
              </a:rPr>
              <a:t> · AI + IP 产业创新中心</a:t>
            </a:r>
            <a:r>
              <a:rPr sz="3800" b="1">
                <a:solidFill>
                  <a:srgbClr val="EAF0FF"/>
                </a:solidFill>
                <a:latin typeface="Microsoft YaHei"/>
              </a:rPr>
              <a:t>
招商运营合作 — 谈判集中汇报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383280"/>
            <a:ext cx="146304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9FB0D6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700" b="0">
                <a:solidFill>
                  <a:srgbClr val="9FB0D6"/>
                </a:solidFill>
                <a:latin typeface="Microsoft YaHei"/>
              </a:rPr>
              <a:t>3 楼 孵化器 + 办公 ≈ </a:t>
            </a:r>
            <a:r>
              <a:rPr sz="1700" b="1">
                <a:solidFill>
                  <a:srgbClr val="FFCE6B"/>
                </a:solidFill>
                <a:latin typeface="Microsoft YaHei"/>
              </a:rPr>
              <a:t>2850㎡</a:t>
            </a:r>
            <a:r>
              <a:rPr sz="1700" b="0">
                <a:solidFill>
                  <a:srgbClr val="9FB0D6"/>
                </a:solidFill>
                <a:latin typeface="Microsoft YaHei"/>
              </a:rPr>
              <a:t>    ·    5 楼 展厅 + 贸易 ≈ </a:t>
            </a:r>
            <a:r>
              <a:rPr sz="1700" b="1">
                <a:solidFill>
                  <a:srgbClr val="FFCE6B"/>
                </a:solidFill>
                <a:latin typeface="Microsoft YaHei"/>
              </a:rPr>
              <a:t>3670㎡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46320"/>
            <a:ext cx="2606040" cy="457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26060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EAF0FF"/>
                </a:solidFill>
                <a:latin typeface="Microsoft YaHei"/>
              </a:rPr>
              <a:t>上海·杨浦·五角场·创智天地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4846320"/>
            <a:ext cx="2606040" cy="457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4846320"/>
            <a:ext cx="26060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EAF0FF"/>
                </a:solidFill>
                <a:latin typeface="Microsoft YaHei"/>
              </a:rPr>
              <a:t>环同济经济圈·超级链接器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846320"/>
            <a:ext cx="2606040" cy="457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26060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EAF0FF"/>
                </a:solidFill>
                <a:latin typeface="Microsoft YaHei"/>
              </a:rPr>
              <a:t>IP 为内容·AI 为工具·空间为载体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4846320"/>
            <a:ext cx="2606040" cy="457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4846320"/>
            <a:ext cx="26060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EAF0FF"/>
                </a:solidFill>
                <a:latin typeface="Microsoft YaHei"/>
              </a:rPr>
              <a:t>参照「森马×元谷」打法编制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v1.0 谈判稿 · 本汇报仅用于商务谈判沟通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汇报议程 · 七大板块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6974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029968"/>
            <a:ext cx="502920" cy="457200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029968"/>
            <a:ext cx="502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66544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关键信息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6060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材料浓缩为事实底盘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828800"/>
            <a:ext cx="26974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75888" y="2029968"/>
            <a:ext cx="502920" cy="457200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029968"/>
            <a:ext cx="502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66544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26060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定位/双重身份/谈判要点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828800"/>
            <a:ext cx="26974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10528" y="2029968"/>
            <a:ext cx="502920" cy="457200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029968"/>
            <a:ext cx="502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066544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26060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828800"/>
            <a:ext cx="26974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45168" y="2029968"/>
            <a:ext cx="502920" cy="457200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45168" y="2029968"/>
            <a:ext cx="502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2066544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招商方案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6060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IP+AI 双轨/楼层/漏斗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429000"/>
            <a:ext cx="26974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3630168"/>
            <a:ext cx="502920" cy="457200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630168"/>
            <a:ext cx="502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666744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42062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启动-导入-成型-提升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3429000"/>
            <a:ext cx="26974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5888" y="3630168"/>
            <a:ext cx="502920" cy="457200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75888" y="3630168"/>
            <a:ext cx="502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666744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品牌与活动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94176" y="42062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挂牌/沙龙/漫展/会客厅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3429000"/>
            <a:ext cx="26974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10528" y="3630168"/>
            <a:ext cx="502920" cy="457200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3630168"/>
            <a:ext cx="502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3666744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条款与收费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28816" y="42062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两模式+五类收费+测算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3429000"/>
            <a:ext cx="26974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45168" y="3630168"/>
            <a:ext cx="502920" cy="457200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3630168"/>
            <a:ext cx="502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666744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3456" y="42062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三问决策+30/60/90 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00 · FACT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486400" cy="2743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1667865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5105" y="1901952"/>
            <a:ext cx="3544214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内容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64740"/>
            <a:ext cx="521208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377440"/>
            <a:ext cx="521208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1667865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5105" y="2377440"/>
            <a:ext cx="354421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上海杨浦五角场·创智汇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821940"/>
            <a:ext cx="521208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1667865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合作面积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5105" y="2834640"/>
            <a:ext cx="354421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约 6600㎡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279140"/>
            <a:ext cx="521208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291840"/>
            <a:ext cx="521208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91840"/>
            <a:ext cx="1667865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3 楼 ≈2850㎡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5105" y="3291840"/>
            <a:ext cx="354421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孵化器+办公（AI/OPC 主轴）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736340"/>
            <a:ext cx="521208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49040"/>
            <a:ext cx="1667865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5105" y="3749040"/>
            <a:ext cx="354421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展厅+贸易（IP 内容主轴）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193540"/>
            <a:ext cx="521208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206240"/>
            <a:ext cx="521208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1667865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属性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5105" y="4206240"/>
            <a:ext cx="354421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产业空间+科创合作+招商运营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50740"/>
            <a:ext cx="521208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55080" y="1737360"/>
            <a:ext cx="5166360" cy="2743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19672" y="1920240"/>
            <a:ext cx="64008" cy="292608"/>
          </a:xfrm>
          <a:prstGeom prst="rect">
            <a:avLst/>
          </a:prstGeom>
          <a:solidFill>
            <a:srgbClr val="FFC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84264" y="1883664"/>
            <a:ext cx="4709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区位与资源优势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1112" y="2286000"/>
            <a:ext cx="4709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9FB0D6"/>
                </a:solidFill>
                <a:latin typeface="Microsoft YaHei"/>
              </a:rPr>
              <a:t>•  环同济：复旦/同济/财大/上理工高校群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9FB0D6"/>
                </a:solidFill>
                <a:latin typeface="Microsoft YaHei"/>
              </a:rPr>
              <a:t>•  TOD + 五角场商圈成熟，通勤配套俱佳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9FB0D6"/>
                </a:solidFill>
                <a:latin typeface="Microsoft YaHei"/>
              </a:rPr>
              <a:t>•  杨浦三区联动 + 五角场五区联动创新高地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9FB0D6"/>
                </a:solidFill>
                <a:latin typeface="Microsoft YaHei"/>
              </a:rPr>
              <a:t>•  离我方极近(20–30min)→支撑「轻驻场·高频次」运营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709160"/>
            <a:ext cx="3520440" cy="146304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" y="4892040"/>
            <a:ext cx="64008" cy="29260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4855464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定位主线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5276088"/>
            <a:ext cx="3063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超级链接器：IP 为内容、AI 为工具、空间为载体；产业筋骨·文化灵魂·商业血脉。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709160"/>
            <a:ext cx="3520440" cy="146304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62272" y="4892040"/>
            <a:ext cx="64008" cy="292608"/>
          </a:xfrm>
          <a:prstGeom prst="rect">
            <a:avLst/>
          </a:prstGeom>
          <a:solidFill>
            <a:srgbClr val="3AD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6864" y="4855464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三大集群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276088"/>
            <a:ext cx="3063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动漫 IP · 科技应用 · 交互设计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55279" y="4709160"/>
            <a:ext cx="3566160" cy="146304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19871" y="4892040"/>
            <a:ext cx="64008" cy="29260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84463" y="4855464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1" y="5276088"/>
            <a:ext cx="31089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01 · 项目与共识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44068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920240"/>
            <a:ext cx="64008" cy="29260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883664"/>
            <a:ext cx="4983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04288"/>
            <a:ext cx="4983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五角场城市更新的孵化核心与先行示范区——空间改造+产业升级+商业激活的完整落地路径。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5257800" cy="13716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28232" y="1920240"/>
            <a:ext cx="64008" cy="29260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2824" y="1883664"/>
            <a:ext cx="4800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304288"/>
            <a:ext cx="4800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AF0FF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3474720" cy="128016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3950207"/>
            <a:ext cx="457200" cy="4572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95020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986783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合作模式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498847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轻运营(不对赌) 还是 对赌运营(对赌招商)？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749039"/>
            <a:ext cx="3474720" cy="128016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98848" y="3950207"/>
            <a:ext cx="457200" cy="4572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8848" y="395020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986783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商业条款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498847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月费+招商佣金+挂牌+活动+媒体 的组合与金额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3749039"/>
            <a:ext cx="3474720" cy="128016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56447" y="3950207"/>
            <a:ext cx="457200" cy="4572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6447" y="395020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1020"/>
                </a:solidFill>
                <a:latin typeface="Microsoft Ya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19" y="3986783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启动时间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5" y="4498847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与装修/设计交付同步，尽快锁定并启动招商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57800"/>
            <a:ext cx="10881360" cy="960120"/>
          </a:xfrm>
          <a:prstGeom prst="roundRect">
            <a:avLst/>
          </a:prstGeom>
          <a:solidFill>
            <a:srgbClr val="142040"/>
          </a:solidFill>
          <a:ln w="12700">
            <a:solidFill>
              <a:srgbClr val="FFC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CE6B"/>
                </a:solidFill>
                <a:latin typeface="Microsoft YaHei"/>
              </a:rPr>
              <a:t>核心共识：</a:t>
            </a:r>
            <a:r>
              <a:rPr sz="1400" b="0">
                <a:solidFill>
                  <a:srgbClr val="EAF0FF"/>
                </a:solidFill>
                <a:latin typeface="Microsoft YaHei"/>
              </a:rPr>
              <a:t>把 6600㎡ 升级为「产业空间合作运营项目」——我方输出 政策+招商+产业资源+活动+媒体 五项能力，按「基础服务费+招商佣金+增值分成」取酬。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02 · 六大资源 → 招商引擎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资源即招商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474720" cy="1600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2011680"/>
            <a:ext cx="64008" cy="292608"/>
          </a:xfrm>
          <a:prstGeom prst="rect">
            <a:avLst/>
          </a:prstGeom>
          <a:solidFill>
            <a:srgbClr val="FFC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7510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30175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杨浦 AI/大数据补贴存量续享 + 算力补贴最高 50% + 腾讯云 85 折/免 2 月 →「创智汇专有政策包」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474720" cy="1600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011680"/>
            <a:ext cx="64008" cy="29260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97510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② 高校/协会背书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95728"/>
            <a:ext cx="30175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828800"/>
            <a:ext cx="3474720" cy="1600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1" y="2011680"/>
            <a:ext cx="64008" cy="29260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97510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395728"/>
            <a:ext cx="30175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11880"/>
            <a:ext cx="3474720" cy="1600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3794760"/>
            <a:ext cx="64008" cy="292608"/>
          </a:xfrm>
          <a:prstGeom prst="rect">
            <a:avLst/>
          </a:prstGeom>
          <a:solidFill>
            <a:srgbClr val="3AD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375818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④ AI/OPC 社群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178808"/>
            <a:ext cx="30175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自有 OPC(AI 开放社群)品牌、黑客松、AI 项目库、聚成智能 → 3 楼自带客流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611880"/>
            <a:ext cx="3474720" cy="1600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62272" y="3794760"/>
            <a:ext cx="64008" cy="29260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375818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⑤ 活动/会客厅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178808"/>
            <a:ext cx="30175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漫展(门票+赞助)、北欧会客厅(出海撮合)、沙龙、峰会借势 → 活动即招商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3611880"/>
            <a:ext cx="3474720" cy="160020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19871" y="3794760"/>
            <a:ext cx="64008" cy="292608"/>
          </a:xfrm>
          <a:prstGeom prst="rect">
            <a:avLst/>
          </a:prstGeom>
          <a:solidFill>
            <a:srgbClr val="FFC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3" y="375818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⑥ 资本/产业方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4178808"/>
            <a:ext cx="30175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江西金控基金、景德镇陶瓷版权交易中心、中建四局工程资源、奇瑞/华为外延 → 链主带动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3212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FB0D6"/>
                </a:solidFill>
                <a:latin typeface="Microsoft YaHei"/>
              </a:rPr>
              <a:t>普通园区「发广告·等上门」；六维齐发 → 客户 </a:t>
            </a:r>
            <a:r>
              <a:rPr sz="1400" b="1">
                <a:solidFill>
                  <a:srgbClr val="FFCE6B"/>
                </a:solidFill>
                <a:latin typeface="Microsoft YaHei"/>
              </a:rPr>
              <a:t>「被送进来」而非「被拉进来」。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03 · 双轨与楼层定位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3 楼孵化办公(AI 主轴) + 5 楼展厅贸易(IP 主轴)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440680" cy="420624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F8CFF"/>
                </a:solidFill>
                <a:latin typeface="Microsoft YaHei"/>
              </a:rPr>
              <a:t>3 楼 · 约 2850㎡ · 孵化+办公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1689811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产品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2771" y="2331720"/>
            <a:ext cx="1741017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面积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3788" y="2331720"/>
            <a:ext cx="1689811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客户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94508"/>
            <a:ext cx="512064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12064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07208"/>
            <a:ext cx="1689811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AF0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2771" y="2807208"/>
            <a:ext cx="1741017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3788" y="2807208"/>
            <a:ext cx="1689811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251708"/>
            <a:ext cx="512064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64408"/>
            <a:ext cx="1689811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AF0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2771" y="3264408"/>
            <a:ext cx="1741017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3788" y="3264408"/>
            <a:ext cx="1689811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708908"/>
            <a:ext cx="512064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3721608"/>
            <a:ext cx="512064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21608"/>
            <a:ext cx="1689811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AF0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2771" y="3721608"/>
            <a:ext cx="1741017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工位大区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3788" y="3721608"/>
            <a:ext cx="1689811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166108"/>
            <a:ext cx="512064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78808"/>
            <a:ext cx="1689811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AF0FF"/>
                </a:solidFill>
                <a:latin typeface="Microsoft YaHei"/>
              </a:rPr>
              <a:t>直播/AI 展示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2771" y="4178808"/>
            <a:ext cx="1741017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共享 1–2 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3788" y="4178808"/>
            <a:ext cx="1689811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按次/时段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623308"/>
            <a:ext cx="512064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63640" y="1737360"/>
            <a:ext cx="5257800" cy="420624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874519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CE6B"/>
                </a:solidFill>
                <a:latin typeface="Microsoft YaHei"/>
              </a:rPr>
              <a:t>5 楼 · 约 3670㎡ · 展厅+贸易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331720"/>
            <a:ext cx="1629460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产品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5980" y="2331720"/>
            <a:ext cx="1678838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面积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4818" y="2331720"/>
            <a:ext cx="1629460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279450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2807208"/>
            <a:ext cx="49377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2807208"/>
            <a:ext cx="162946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AF0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5980" y="2807208"/>
            <a:ext cx="1678838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700–900㎡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54818" y="2807208"/>
            <a:ext cx="162946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50+ IP 轮展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325170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3264408"/>
            <a:ext cx="162946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AF0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75980" y="3264408"/>
            <a:ext cx="1678838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54818" y="3264408"/>
            <a:ext cx="162946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370890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46520" y="3721608"/>
            <a:ext cx="49377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3721608"/>
            <a:ext cx="162946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AF0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75980" y="3721608"/>
            <a:ext cx="1678838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按摊位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4818" y="3721608"/>
            <a:ext cx="162946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46520" y="416610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4178808"/>
            <a:ext cx="162946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AF0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75980" y="4178808"/>
            <a:ext cx="1678838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120–650㎡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54818" y="4178808"/>
            <a:ext cx="162946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462330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03 · 招商漏斗与务实目标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四级漏斗 + 务实去化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606040" cy="173736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371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4F8CFF"/>
                </a:solidFill>
                <a:latin typeface="Microsoft Ya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194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牌照锚定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2240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校友会/科企联/IP/玩具协会挂牌前置，客户送进来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828800"/>
            <a:ext cx="2606040" cy="173736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011680"/>
            <a:ext cx="1371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4F8CFF"/>
                </a:solidFill>
                <a:latin typeface="Microsoft YaHei"/>
              </a:rPr>
              <a:t>L2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514600"/>
            <a:ext cx="2194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政策招商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926080"/>
            <a:ext cx="2240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AI/大数据续享+算力补贴+腾讯云作「入驻礼包」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828800"/>
            <a:ext cx="2606040" cy="173736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11680"/>
            <a:ext cx="1371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4F8CFF"/>
                </a:solidFill>
                <a:latin typeface="Microsoft YaHei"/>
              </a:rPr>
              <a:t>L3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514600"/>
            <a:ext cx="2194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社群带流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926080"/>
            <a:ext cx="2240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OPC 社群、黑客松、小红书投流、漫展、沙龙持续导流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1828800"/>
            <a:ext cx="2606040" cy="173736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011680"/>
            <a:ext cx="1371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4F8CFF"/>
                </a:solidFill>
                <a:latin typeface="Microsoft YaHe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39" y="2514600"/>
            <a:ext cx="2194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资源转化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39" y="2926080"/>
            <a:ext cx="2240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高校成果转化、IP 品牌方、链主配套、外贸玩具厂转化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23360"/>
            <a:ext cx="3474720" cy="15544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25196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CE6B"/>
                </a:solidFill>
                <a:latin typeface="Microsoft YaHei"/>
              </a:rPr>
              <a:t>2000–3000㎡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一年去化达标线(不设过高保底)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4023360"/>
            <a:ext cx="3474720" cy="15544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25196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8CFF"/>
                </a:solidFill>
                <a:latin typeface="Microsoft YaHei"/>
              </a:rPr>
              <a:t>3300–4300㎡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93776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对赌模式建议锁定对赌面积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79" y="4023360"/>
            <a:ext cx="3474720" cy="15544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9" y="425196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3AD29F"/>
                </a:solidFill>
                <a:latin typeface="Microsoft YaHei"/>
              </a:rPr>
              <a:t>5 类客群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493776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AI/潮玩玩具文创 IP/科技中小/高校转化/生产性服务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04 · 四阶段排期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从定位包装到稳定运营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305763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5843" y="1828800"/>
            <a:ext cx="1523390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时间窗口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9233" y="1828800"/>
            <a:ext cx="2176272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5505" y="1828800"/>
            <a:ext cx="5875934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重点动作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9158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04288"/>
            <a:ext cx="108813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04288"/>
            <a:ext cx="1305763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EAF0FF"/>
                </a:solidFill>
                <a:latin typeface="Microsoft YaHei"/>
              </a:rPr>
              <a:t>启动期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5843" y="2304288"/>
            <a:ext cx="152339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0–3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9233" y="230428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定位+政策+渠道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5505" y="230428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招商手册、收费标准、政策汇编、企业库、首批挂牌、1–2 家样板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74878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761488"/>
            <a:ext cx="1305763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EAF0FF"/>
                </a:solidFill>
                <a:latin typeface="Microsoft YaHei"/>
              </a:rPr>
              <a:t>导入期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45843" y="2761488"/>
            <a:ext cx="152339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3–6 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9233" y="276148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首批入驻 30–50%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5505" y="276148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集中招引 AI/IP/潮玩、首批优惠、推介路演、政策诊断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20598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218688"/>
            <a:ext cx="108813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218688"/>
            <a:ext cx="1305763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EAF0FF"/>
                </a:solidFill>
                <a:latin typeface="Microsoft YaHei"/>
              </a:rPr>
              <a:t>成型期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45843" y="3218688"/>
            <a:ext cx="152339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6–12 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9233" y="321868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提升出租率与质量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5505" y="321868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重点客户补位、专精特新/高企培育、企业服务收费、首场漫展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66318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675888"/>
            <a:ext cx="1305763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EAF0FF"/>
                </a:solidFill>
                <a:latin typeface="Microsoft YaHei"/>
              </a:rPr>
              <a:t>提升期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5843" y="3675888"/>
            <a:ext cx="1523390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12 月+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69233" y="367588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稳定收入与品牌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45505" y="367588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区级示范点、载体资质、活动 IP 化、出海撮合、模式复制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12038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05 · 品牌与活动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活动即招商，品牌即势能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520440" cy="20116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2011680"/>
            <a:ext cx="64008" cy="292608"/>
          </a:xfrm>
          <a:prstGeom prst="rect">
            <a:avLst/>
          </a:prstGeom>
          <a:solidFill>
            <a:srgbClr val="FFC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75104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挂牌 · 牌照即招商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30632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北大上海校友会(优先)、科企联/科技服务中心、IP 协会、中国玩具协会。
总包约 20–50 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520440" cy="20116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011680"/>
            <a:ext cx="64008" cy="29260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975104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活动 · 全年节奏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95728"/>
            <a:ext cx="30632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20–24 场沙龙/路演/培训/发布会。
打包约 30 万(+赞助/门票)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828800"/>
            <a:ext cx="3566160" cy="20116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1" y="2011680"/>
            <a:ext cx="64008" cy="29260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975104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漫展 · 自造流量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395728"/>
            <a:ext cx="310896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千人级，门票+赞助；10–11 月首场，对接 BW 广告商与二次元资源。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14800"/>
            <a:ext cx="10881360" cy="15544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5196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D29F"/>
                </a:solidFill>
                <a:latin typeface="Microsoft YaHei"/>
              </a:rPr>
              <a:t>北欧会客厅 · 出海撮合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10424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FB0D6"/>
                </a:solidFill>
                <a:latin typeface="Microsoft YaHei"/>
              </a:rPr>
              <a:t>复用品牌势能做海外 IP/技术入华与国内 IP 出海撮合台。取酬二选一：</a:t>
            </a:r>
            <a:r>
              <a:rPr sz="1350" b="1">
                <a:solidFill>
                  <a:srgbClr val="EAF0FF"/>
                </a:solidFill>
                <a:latin typeface="Microsoft YaHei"/>
              </a:rPr>
              <a:t>收租金则不分出海成交；不收租金、企业自费布展则在撮合成交中取分成。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06 · 两种合作模式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先定大方向：轻运营 vs 对赌运营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440680" cy="310896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AF0FF"/>
                </a:solidFill>
                <a:latin typeface="Microsoft YaHei"/>
              </a:rPr>
              <a:t>模式 A · 轻运营(不对赌招商)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9FB0D6"/>
                </a:solidFill>
                <a:latin typeface="Microsoft YaHei"/>
              </a:rPr>
              <a:t>•  不驻场、不背去化指标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9FB0D6"/>
                </a:solidFill>
                <a:latin typeface="Microsoft YaHei"/>
              </a:rPr>
              <a:t>•  收费：活动费+挂牌费+媒体策划费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9FB0D6"/>
                </a:solidFill>
                <a:latin typeface="Microsoft YaHei"/>
              </a:rPr>
              <a:t>•  适用：对方只要内容/活动/品牌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3108960"/>
          </a:xfrm>
          <a:prstGeom prst="roundRect">
            <a:avLst/>
          </a:prstGeom>
          <a:solidFill>
            <a:srgbClr val="1A2240"/>
          </a:solidFill>
          <a:ln w="12700">
            <a:solidFill>
              <a:srgbClr val="FFC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CE6B"/>
                </a:solidFill>
                <a:latin typeface="Microsoft YaHei"/>
              </a:rPr>
              <a:t>模式 B · 对赌运营(推荐)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9FB0D6"/>
                </a:solidFill>
                <a:latin typeface="Microsoft YaHei"/>
              </a:rPr>
              <a:t>•  轻驻场(1 人/接待位，离得近、可挂牌办公)+背对赌去化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9FB0D6"/>
                </a:solidFill>
                <a:latin typeface="Microsoft YaHei"/>
              </a:rPr>
              <a:t>•  收费：基础月费+招商佣金+活动+挂牌+媒体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9FB0D6"/>
                </a:solidFill>
                <a:latin typeface="Microsoft YaHei"/>
              </a:rPr>
              <a:t>•  适用：对方要招商结果、愿付运营费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FB0D6"/>
                </a:solidFill>
                <a:latin typeface="Microsoft YaHei"/>
              </a:rPr>
              <a:t>谈判原则：</a:t>
            </a:r>
            <a:r>
              <a:rPr sz="1400" b="1">
                <a:solidFill>
                  <a:srgbClr val="FFCE6B"/>
                </a:solidFill>
                <a:latin typeface="Microsoft YaHei"/>
              </a:rPr>
              <a:t>先按高位报，再让对方还价</a:t>
            </a:r>
            <a:r>
              <a:rPr sz="1400" b="0">
                <a:solidFill>
                  <a:srgbClr val="9FB0D6"/>
                </a:solidFill>
                <a:latin typeface="Microsoft YaHei"/>
              </a:rPr>
              <a:t>；收月费即对赌去化，不收月费则不背指标。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06 · 五类收费项(收费项建议)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收费清单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76272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类别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6352" y="1737360"/>
            <a:ext cx="1414576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对象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0928" y="1737360"/>
            <a:ext cx="1414576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5504" y="1737360"/>
            <a:ext cx="5875934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建议金额 / 口径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0014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12848"/>
            <a:ext cx="108813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① 基础运营月费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22128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合作方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0928" y="22128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按月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5504" y="221284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市场 10–30 万；首报 12 万；对赌版 5–6 万(对赌 3300–4300㎡)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65734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004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② 招商佣金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6700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合作方/业主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0928" y="26700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成交后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5504" y="267004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市场 2–3 月年租金；我方抽 ≤1 月，只给首月不重复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11454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127248"/>
            <a:ext cx="108813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12724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③ 挂牌费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1272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合作方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0928" y="31272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一次性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5504" y="312724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总包 20–50 万(按数量与影响力分档)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57174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58444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④ 活动执行费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35844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合作方+外部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30928" y="35844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按场/打包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45504" y="358444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20–24 场/年约 30 万 + 赞助/门票分成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02894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041648"/>
            <a:ext cx="108813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04164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⑤ 媒体流量费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16352" y="40416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合作方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30928" y="40416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按季/项目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5504" y="404164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小红书投流、OPC 内容、直播间运营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48614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498848"/>
            <a:ext cx="2176272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⑥ 企业增值服务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44988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入驻企业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0928" y="4498848"/>
            <a:ext cx="14145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按项/成功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5504" y="4498848"/>
            <a:ext cx="5875934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9FB0D6"/>
                </a:solidFill>
                <a:latin typeface="Microsoft YaHei"/>
              </a:rPr>
              <a:t>工商注册、政策申报、知识产权、财税法务、融资、出海撮合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943348"/>
            <a:ext cx="108813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06 · 打包报价 + 对方视角测算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算得过账：花一份钱，换更快去化与更优企业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440680" cy="38404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打包报价示例(谈判锚)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>
                <a:solidFill>
                  <a:srgbClr val="9FB0D6"/>
                </a:solidFill>
                <a:latin typeface="Microsoft YaHei"/>
              </a:rPr>
              <a:t>•  固定服务包：月费 5 万×12=60 万 + 活动 30 万 + 挂牌 20 万 = 约 110 万/年(可砍至~100 万)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>
                <a:solidFill>
                  <a:srgbClr val="9FB0D6"/>
                </a:solidFill>
                <a:latin typeface="Microsoft YaHei"/>
              </a:rPr>
              <a:t>•  浮动：招商佣金按去化另计(我方抽 ≤1 月)；驻场/媒体/出海分成据实另计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>
                <a:solidFill>
                  <a:srgbClr val="9FB0D6"/>
                </a:solidFill>
                <a:latin typeface="Microsoft YaHei"/>
              </a:rPr>
              <a:t>•  政策申报：普通 0.3–2 万/项；高企/专精特新 2–8 万/项；补贴类按到账 5%–15% 成功费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384048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对方视角测算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23160"/>
            <a:ext cx="1580083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维度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603" y="2423160"/>
            <a:ext cx="3357676" cy="475488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FFCE6B"/>
                </a:solidFill>
                <a:latin typeface="Microsoft YaHei"/>
              </a:rPr>
              <a:t>口径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288594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20" y="2898648"/>
            <a:ext cx="49377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898648"/>
            <a:ext cx="1580083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6603" y="2898648"/>
            <a:ext cx="33576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≈554 万/年(2.3 元/㎡/天×6600×365)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34314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1580083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我方服务包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6603" y="3355848"/>
            <a:ext cx="33576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100–120 万/年 + 招商佣金(按去化)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380034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6520" y="3813048"/>
            <a:ext cx="4937760" cy="457200"/>
          </a:xfrm>
          <a:prstGeom prst="rect">
            <a:avLst/>
          </a:prstGeom>
          <a:solidFill>
            <a:srgbClr val="12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813048"/>
            <a:ext cx="1580083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列支来源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6603" y="3813048"/>
            <a:ext cx="33576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对方利润/中建四局运营费，非纯增量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25754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270248"/>
            <a:ext cx="1580083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EAF0FF"/>
                </a:solidFill>
                <a:latin typeface="Microsoft YaHei"/>
              </a:rPr>
              <a:t>对方所得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6603" y="4270248"/>
            <a:ext cx="3357676" cy="457200"/>
          </a:xfrm>
          <a:prstGeom prst="rect">
            <a:avLst/>
          </a:prstGeom>
          <a:noFill/>
        </p:spPr>
        <p:txBody>
          <a:bodyPr wrap="square" anchor="ctr" lIns="101600" tIns="25400" bIns="25400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去化↑、企业质量↑、政策承接、品牌示范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4714748"/>
            <a:ext cx="4937760" cy="12700"/>
          </a:xfrm>
          <a:prstGeom prst="rect">
            <a:avLst/>
          </a:prstGeom>
          <a:solidFill>
            <a:srgbClr val="2A3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0D6"/>
                </a:solidFill>
                <a:latin typeface="Microsoft YaHei"/>
              </a:rPr>
              <a:t>07 · 投决建议与下一步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0FF"/>
                </a:solidFill>
                <a:latin typeface="Microsoft YaHei"/>
              </a:rPr>
              <a:t>三问 + 启动路线图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280160" cy="508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74720" cy="141732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965960"/>
            <a:ext cx="64008" cy="292608"/>
          </a:xfrm>
          <a:prstGeom prst="rect">
            <a:avLst/>
          </a:prstGeom>
          <a:solidFill>
            <a:srgbClr val="FFC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2938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Q1 合作模式？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50008"/>
            <a:ext cx="30175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建议 模式 B 轻量版：离得近→轻驻场+对赌去化，盈利性最佳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474720" cy="141732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1965960"/>
            <a:ext cx="64008" cy="29260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92938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Q2 月费档位？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50008"/>
            <a:ext cx="30175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首报 12 万/月(市场 10–30 万)，对赌版可落 5–6 万；打包年费锚 100–120 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783080"/>
            <a:ext cx="3474720" cy="141732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1" y="1965960"/>
            <a:ext cx="64008" cy="29260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929384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0FF"/>
                </a:solidFill>
                <a:latin typeface="Microsoft YaHei"/>
              </a:rPr>
              <a:t>Q3 何时启动？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350008"/>
            <a:ext cx="30175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9FB0D6"/>
                </a:solidFill>
                <a:latin typeface="Microsoft YaHei"/>
              </a:rPr>
              <a:t>与装修/设计交付同步，尽快签 MOU、先行政策梳理与挂牌筹备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3474720" cy="141732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20440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4F8CFF"/>
                </a:solidFill>
                <a:latin typeface="Microsoft YaHei"/>
              </a:rPr>
              <a:t>30</a:t>
            </a:r>
            <a:r>
              <a:rPr sz="2000" b="0">
                <a:solidFill>
                  <a:srgbClr val="9FB0D6"/>
                </a:solidFill>
                <a:latin typeface="Microsoft YaHei"/>
              </a:rPr>
              <a:t>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23360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签 MOU + 招商手册与收费方案 + 政策汇编 + 首批挂牌对接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383280"/>
            <a:ext cx="3474720" cy="141732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3520440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4F8CFF"/>
                </a:solidFill>
                <a:latin typeface="Microsoft YaHei"/>
              </a:rPr>
              <a:t>60</a:t>
            </a:r>
            <a:r>
              <a:rPr sz="2000" b="0">
                <a:solidFill>
                  <a:srgbClr val="9FB0D6"/>
                </a:solidFill>
                <a:latin typeface="Microsoft YaHei"/>
              </a:rPr>
              <a:t>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023360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9" y="3383280"/>
            <a:ext cx="3474720" cy="1417320"/>
          </a:xfrm>
          <a:prstGeom prst="roundRect">
            <a:avLst/>
          </a:prstGeom>
          <a:solidFill>
            <a:srgbClr val="16213F"/>
          </a:solidFill>
          <a:ln w="12700">
            <a:solidFill>
              <a:srgbClr val="2A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3520440"/>
            <a:ext cx="1828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4F8CFF"/>
                </a:solidFill>
                <a:latin typeface="Microsoft YaHei"/>
              </a:rPr>
              <a:t>90</a:t>
            </a:r>
            <a:r>
              <a:rPr sz="2000" b="0">
                <a:solidFill>
                  <a:srgbClr val="9FB0D6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023360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正式挂牌 + 样板企业入驻 + 去化向 30–50% 推进 + 漫展锁档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029200"/>
            <a:ext cx="10881360" cy="914400"/>
          </a:xfrm>
          <a:prstGeom prst="roundRect">
            <a:avLst/>
          </a:prstGeom>
          <a:solidFill>
            <a:srgbClr val="142040"/>
          </a:solidFill>
          <a:ln w="12700">
            <a:solidFill>
              <a:srgbClr val="FFC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120640"/>
            <a:ext cx="105156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CE6B"/>
                </a:solidFill>
                <a:latin typeface="Microsoft YaHei"/>
              </a:rPr>
              <a:t>分步策略：</a:t>
            </a:r>
            <a:r>
              <a:rPr sz="1400" b="0">
                <a:solidFill>
                  <a:srgbClr val="EAF0FF"/>
                </a:solidFill>
                <a:latin typeface="Microsoft YaHei"/>
              </a:rPr>
              <a:t>先签 6600㎡ 单项目专项(单项目单核算)，跑通后再承接体系内其他物业与外延项目。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创智汇 6600㎡ · AI+IP 产业创新中心招商运营合作 · 谈判集中汇报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D6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FB0D6"/>
                </a:solidFill>
                <a:latin typeface="Microsoft YaHei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AF0FF"/>
                </a:solidFill>
                <a:latin typeface="Microsoft YaHei"/>
              </a:rPr>
              <a:t>让创智汇成为杨浦五角场
</a:t>
            </a:r>
            <a:r>
              <a:rPr sz="3400" b="1">
                <a:solidFill>
                  <a:srgbClr val="4F8CFF"/>
                </a:solidFill>
                <a:latin typeface="Microsoft YaHei"/>
              </a:rPr>
              <a:t>AI + IP 产业与城市更新</a:t>
            </a:r>
            <a:r>
              <a:rPr sz="3400" b="1">
                <a:solidFill>
                  <a:srgbClr val="EAF0FF"/>
                </a:solidFill>
                <a:latin typeface="Microsoft YaHei"/>
              </a:rPr>
              <a:t>的超级链接器与可复制样板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FB0D6"/>
                </a:solidFill>
                <a:latin typeface="Microsoft YaHei"/>
              </a:rPr>
              <a:t>90 天启动 · 政策借势 · 闭环招商 · 内容自造流量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FB0D6"/>
                </a:solidFill>
                <a:latin typeface="Microsoft YaHei"/>
              </a:rPr>
              <a:t>谈判集中汇报 v1.0 · 期待达成合作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