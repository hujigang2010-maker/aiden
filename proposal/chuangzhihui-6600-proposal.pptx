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22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8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6B86A"/>
              </a:gs>
              <a:gs pos="100000">
                <a:srgbClr val="8A6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6B86A"/>
                </a:solidFill>
                <a:latin typeface="Arial"/>
              </a:rPr>
              <a:t>CHUANGZHIHUI · WUJIAOCHANG URBAN RENEWAL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63040"/>
            <a:ext cx="822960" cy="3175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0784"/>
            <a:ext cx="1042416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>
                <a:solidFill>
                  <a:srgbClr val="F3F6FF"/>
                </a:solidFill>
                <a:latin typeface="Microsoft YaHei"/>
              </a:rPr>
              <a:t>创智汇 </a:t>
            </a:r>
            <a:r>
              <a:rPr sz="3900" b="1">
                <a:solidFill>
                  <a:srgbClr val="E6B86A"/>
                </a:solidFill>
                <a:latin typeface="Microsoft YaHei"/>
              </a:rPr>
              <a:t>6600㎡</a:t>
            </a:r>
            <a:r>
              <a:rPr sz="3900" b="1">
                <a:solidFill>
                  <a:srgbClr val="F3F6FF"/>
                </a:solidFill>
                <a:latin typeface="Microsoft YaHei"/>
              </a:rPr>
              <a:t>
AI + IP 产业创新中心 · 招商运营合作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46704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spc="400">
                <a:solidFill>
                  <a:srgbClr val="9AA8CC"/>
                </a:solidFill>
                <a:latin typeface="Microsoft YaHei"/>
              </a:rPr>
              <a:t>谈 判 集 中 汇 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77056"/>
            <a:ext cx="104241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9AA8CC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6B86A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9AA8CC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6B86A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1792224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政策导入 · 招商闭环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5029200"/>
            <a:ext cx="1664208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5029200"/>
            <a:ext cx="1664208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三年合作 · 可复制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5029200"/>
            <a:ext cx="1920240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5029200"/>
            <a:ext cx="192024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协同周边 ≤ 2 个项目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5029200"/>
            <a:ext cx="2048256" cy="475488"/>
          </a:xfrm>
          <a:prstGeom prst="roundRect">
            <a:avLst/>
          </a:prstGeom>
          <a:noFill/>
          <a:ln w="15875">
            <a:solidFill>
              <a:srgbClr val="2C3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2552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3F6FF"/>
                </a:solidFill>
                <a:latin typeface="Microsoft YaHei"/>
              </a:rPr>
              <a:t>参照「森马 × 元谷」打法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6B86A"/>
                </a:solidFill>
                <a:latin typeface="Microsoft YaHei"/>
              </a:rPr>
              <a:t>v2.0 谈判稿</a:t>
            </a:r>
            <a:r>
              <a:rPr sz="1100" b="0">
                <a:solidFill>
                  <a:srgbClr val="6E7CA6"/>
                </a:solidFill>
                <a:latin typeface="Microsoft YaHei"/>
              </a:rPr>
              <a:t>    本汇报仅用于商务谈判沟通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02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1874520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929384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478024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材料浓缩为事实底盘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874520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1929384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2478024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8744" y="1874520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1929384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2478024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136392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136392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3319272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374136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3922776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136392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136392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54296" y="3319272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4688" y="3374136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3922776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136392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136392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38744" y="3319272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89136" y="3374136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招商方案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8744" y="3922776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IP+AI 双轨 / 漏斗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581144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581144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4764024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818888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5367528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三年 · 60/70/85%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61688" y="4581144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61688" y="4581144"/>
            <a:ext cx="64008" cy="129844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54296" y="4764024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04688" y="4818888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54296" y="5367528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46136" y="4581144"/>
            <a:ext cx="3456432" cy="129844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46136" y="4581144"/>
            <a:ext cx="64008" cy="129844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38744" y="4764024"/>
            <a:ext cx="1371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4818888"/>
            <a:ext cx="2176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8744" y="5367528"/>
            <a:ext cx="29992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规划建议 · 协同复制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03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9AA8CC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04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05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6B86A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8A6C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A0E1A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6B86A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3F6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06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3 楼平面布局 · 孵化 + 办公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07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7360920" cy="4343400"/>
          </a:xfrm>
          <a:prstGeom prst="roundRect">
            <a:avLst/>
          </a:prstGeom>
          <a:ln w="19050">
            <a:solidFill>
              <a:srgbClr val="E6B86A"/>
            </a:solidFill>
          </a:ln>
          <a:effectLst/>
          <a:gradFill>
            <a:gsLst>
              <a:gs pos="0">
                <a:srgbClr val="111830"/>
              </a:gs>
              <a:gs pos="100000">
                <a:srgbClr val="0D132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6995160" cy="1234440"/>
          </a:xfrm>
          <a:prstGeom prst="roundRect">
            <a:avLst/>
          </a:prstGeom>
          <a:gradFill>
            <a:gsLst>
              <a:gs pos="0">
                <a:srgbClr val="5B8CFF">
                  <a:alpha val="24000"/>
                </a:srgbClr>
              </a:gs>
              <a:gs pos="100000">
                <a:srgbClr val="5B8CFF">
                  <a:alpha val="7000"/>
                </a:srgbClr>
              </a:gs>
            </a:gsLst>
            <a:lin ang="7200000" scaled="1"/>
          </a:gradFill>
          <a:ln w="1587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1984248"/>
            <a:ext cx="67391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2651760"/>
            <a:ext cx="67391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8CFF"/>
                </a:solidFill>
                <a:latin typeface="Arial"/>
              </a:rPr>
              <a:t>1150㎡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2276856"/>
            <a:ext cx="67391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301 / 302 / 303 · 可分割多间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3246120"/>
            <a:ext cx="3406140" cy="1097280"/>
          </a:xfrm>
          <a:prstGeom prst="roundRect">
            <a:avLst/>
          </a:prstGeom>
          <a:gradFill>
            <a:gsLst>
              <a:gs pos="0">
                <a:srgbClr val="8A6CFF">
                  <a:alpha val="24000"/>
                </a:srgbClr>
              </a:gs>
              <a:gs pos="100000">
                <a:srgbClr val="8A6CFF">
                  <a:alpha val="7000"/>
                </a:srgbClr>
              </a:gs>
            </a:gsLst>
            <a:lin ang="7200000" scaled="1"/>
          </a:gradFill>
          <a:ln w="15875">
            <a:solidFill>
              <a:srgbClr val="8A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3355848"/>
            <a:ext cx="3150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" y="3886200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A6CFF"/>
                </a:solidFill>
                <a:latin typeface="Arial"/>
              </a:rPr>
              <a:t>700㎡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" y="3648456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304 / 305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9140" y="3246120"/>
            <a:ext cx="3406140" cy="1097280"/>
          </a:xfrm>
          <a:prstGeom prst="roundRect">
            <a:avLst/>
          </a:prstGeom>
          <a:gradFill>
            <a:gsLst>
              <a:gs pos="0">
                <a:srgbClr val="5B8CFF">
                  <a:alpha val="24000"/>
                </a:srgbClr>
              </a:gs>
              <a:gs pos="100000">
                <a:srgbClr val="5B8CFF">
                  <a:alpha val="7000"/>
                </a:srgbClr>
              </a:gs>
            </a:gsLst>
            <a:lin ang="7200000" scaled="1"/>
          </a:gradFill>
          <a:ln w="1587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5444" y="3355848"/>
            <a:ext cx="3150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5444" y="3886200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8CFF"/>
                </a:solidFill>
                <a:latin typeface="Arial"/>
              </a:rPr>
              <a:t>600㎡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5444" y="3648456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306 / 310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4480560"/>
            <a:ext cx="2209800" cy="1051560"/>
          </a:xfrm>
          <a:prstGeom prst="roundRect">
            <a:avLst/>
          </a:prstGeom>
          <a:gradFill>
            <a:gsLst>
              <a:gs pos="0">
                <a:srgbClr val="49D0A0">
                  <a:alpha val="24000"/>
                </a:srgbClr>
              </a:gs>
              <a:gs pos="100000">
                <a:srgbClr val="49D0A0">
                  <a:alpha val="7000"/>
                </a:srgbClr>
              </a:gs>
            </a:gsLst>
            <a:lin ang="7200000" scaled="1"/>
          </a:gradFill>
          <a:ln w="15875">
            <a:solidFill>
              <a:srgbClr val="49D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4590288"/>
            <a:ext cx="195376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" y="5074920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9D0A0"/>
                </a:solidFill>
                <a:latin typeface="Arial"/>
              </a:rPr>
              <a:t>250㎡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" y="4882896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2800" y="4480560"/>
            <a:ext cx="2209800" cy="1051560"/>
          </a:xfrm>
          <a:prstGeom prst="roundRect">
            <a:avLst/>
          </a:prstGeom>
          <a:gradFill>
            <a:gsLst>
              <a:gs pos="0">
                <a:srgbClr val="E6B86A">
                  <a:alpha val="24000"/>
                </a:srgbClr>
              </a:gs>
              <a:gs pos="100000">
                <a:srgbClr val="E6B86A">
                  <a:alpha val="7000"/>
                </a:srgbClr>
              </a:gs>
            </a:gsLst>
            <a:lin ang="7200000" scaled="1"/>
          </a:gradFill>
          <a:ln w="15875">
            <a:solidFill>
              <a:srgbClr val="E6B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9104" y="4590288"/>
            <a:ext cx="195376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直播间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9104" y="5074920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B86A"/>
                </a:solidFill>
                <a:latin typeface="Arial"/>
              </a:rPr>
              <a:t>150㎡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9104" y="4882896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316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45480" y="4480560"/>
            <a:ext cx="2209800" cy="1051560"/>
          </a:xfrm>
          <a:prstGeom prst="roundRect">
            <a:avLst/>
          </a:prstGeom>
          <a:gradFill>
            <a:gsLst>
              <a:gs pos="0">
                <a:srgbClr val="F07A8C">
                  <a:alpha val="24000"/>
                </a:srgbClr>
              </a:gs>
              <a:gs pos="100000">
                <a:srgbClr val="F07A8C">
                  <a:alpha val="7000"/>
                </a:srgbClr>
              </a:gs>
            </a:gsLst>
            <a:lin ang="7200000" scaled="1"/>
          </a:gradFill>
          <a:ln w="15875">
            <a:solidFill>
              <a:srgbClr val="F0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91784" y="4590288"/>
            <a:ext cx="195376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1784" y="5074920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7A8C"/>
                </a:solidFill>
                <a:latin typeface="Arial"/>
              </a:rPr>
              <a:t>配套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1691640"/>
            <a:ext cx="3044952" cy="4343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6760" y="1691640"/>
            <a:ext cx="64008" cy="43434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7656" y="1874520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楼层要点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77656" y="2258568"/>
            <a:ext cx="2496312" cy="36850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主轴：AI / OPC — 对齐「人工智能+」赛道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03504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＊平面示意，依据一期方案面积数据复原；最终以物业实测与设计院图纸为准。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5 楼平面布局 · 展厅 + 贸易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08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7360920" cy="4343400"/>
          </a:xfrm>
          <a:prstGeom prst="roundRect">
            <a:avLst/>
          </a:prstGeom>
          <a:ln w="19050">
            <a:solidFill>
              <a:srgbClr val="E6B86A"/>
            </a:solidFill>
          </a:ln>
          <a:effectLst/>
          <a:gradFill>
            <a:gsLst>
              <a:gs pos="0">
                <a:srgbClr val="111830"/>
              </a:gs>
              <a:gs pos="100000">
                <a:srgbClr val="0D132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874520"/>
            <a:ext cx="3406140" cy="1280160"/>
          </a:xfrm>
          <a:prstGeom prst="roundRect">
            <a:avLst/>
          </a:prstGeom>
          <a:gradFill>
            <a:gsLst>
              <a:gs pos="0">
                <a:srgbClr val="5B8CFF">
                  <a:alpha val="24000"/>
                </a:srgbClr>
              </a:gs>
              <a:gs pos="100000">
                <a:srgbClr val="5B8CFF">
                  <a:alpha val="7000"/>
                </a:srgbClr>
              </a:gs>
            </a:gsLst>
            <a:lin ang="7200000" scaled="1"/>
          </a:gradFill>
          <a:ln w="1587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1984248"/>
            <a:ext cx="3150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2697480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8CFF"/>
                </a:solidFill>
                <a:latin typeface="Arial"/>
              </a:rPr>
              <a:t>900㎡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2276856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50+ IP 集中展示 · 轮展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49140" y="1874520"/>
            <a:ext cx="3406140" cy="1280160"/>
          </a:xfrm>
          <a:prstGeom prst="roundRect">
            <a:avLst/>
          </a:prstGeom>
          <a:gradFill>
            <a:gsLst>
              <a:gs pos="0">
                <a:srgbClr val="E6B86A">
                  <a:alpha val="24000"/>
                </a:srgbClr>
              </a:gs>
              <a:gs pos="100000">
                <a:srgbClr val="E6B86A">
                  <a:alpha val="7000"/>
                </a:srgbClr>
              </a:gs>
            </a:gsLst>
            <a:lin ang="7200000" scaled="1"/>
          </a:gradFill>
          <a:ln w="15875">
            <a:solidFill>
              <a:srgbClr val="E6B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5444" y="1984248"/>
            <a:ext cx="3150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5444" y="2697480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B86A"/>
                </a:solidFill>
                <a:latin typeface="Arial"/>
              </a:rPr>
              <a:t>700㎡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5444" y="2276856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3291840"/>
            <a:ext cx="3406140" cy="1143000"/>
          </a:xfrm>
          <a:prstGeom prst="roundRect">
            <a:avLst/>
          </a:prstGeom>
          <a:gradFill>
            <a:gsLst>
              <a:gs pos="0">
                <a:srgbClr val="8A6CFF">
                  <a:alpha val="24000"/>
                </a:srgbClr>
              </a:gs>
              <a:gs pos="100000">
                <a:srgbClr val="8A6CFF">
                  <a:alpha val="7000"/>
                </a:srgbClr>
              </a:gs>
            </a:gsLst>
            <a:lin ang="7200000" scaled="1"/>
          </a:gradFill>
          <a:ln w="15875">
            <a:solidFill>
              <a:srgbClr val="8A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3401568"/>
            <a:ext cx="3150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玩具/毛绒/潮玩 产业集群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" y="3977640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A6CFF"/>
                </a:solidFill>
                <a:latin typeface="Arial"/>
              </a:rPr>
              <a:t>700㎡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" y="3694176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汕头玩具 · 扬州毛绒 · 东莞潮玩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9140" y="3291840"/>
            <a:ext cx="3406140" cy="1143000"/>
          </a:xfrm>
          <a:prstGeom prst="roundRect">
            <a:avLst/>
          </a:prstGeom>
          <a:gradFill>
            <a:gsLst>
              <a:gs pos="0">
                <a:srgbClr val="49D0A0">
                  <a:alpha val="24000"/>
                </a:srgbClr>
              </a:gs>
              <a:gs pos="100000">
                <a:srgbClr val="49D0A0">
                  <a:alpha val="7000"/>
                </a:srgbClr>
              </a:gs>
            </a:gsLst>
            <a:lin ang="7200000" scaled="1"/>
          </a:gradFill>
          <a:ln w="15875">
            <a:solidFill>
              <a:srgbClr val="49D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5444" y="3401568"/>
            <a:ext cx="3150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文创产业集群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5444" y="3977640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9D0A0"/>
                </a:solidFill>
                <a:latin typeface="Arial"/>
              </a:rPr>
              <a:t>650㎡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5444" y="3694176"/>
            <a:ext cx="3150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景区 + 博物馆文创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572000"/>
            <a:ext cx="2209800" cy="960120"/>
          </a:xfrm>
          <a:prstGeom prst="roundRect">
            <a:avLst/>
          </a:prstGeom>
          <a:gradFill>
            <a:gsLst>
              <a:gs pos="0">
                <a:srgbClr val="F07A8C">
                  <a:alpha val="24000"/>
                </a:srgbClr>
              </a:gs>
              <a:gs pos="100000">
                <a:srgbClr val="F07A8C">
                  <a:alpha val="7000"/>
                </a:srgbClr>
              </a:gs>
            </a:gsLst>
            <a:lin ang="7200000" scaled="1"/>
          </a:gradFill>
          <a:ln w="15875">
            <a:solidFill>
              <a:srgbClr val="F0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4681728"/>
            <a:ext cx="195376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" y="5074920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7A8C"/>
                </a:solidFill>
                <a:latin typeface="Arial"/>
              </a:rPr>
              <a:t>330㎡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52800" y="4572000"/>
            <a:ext cx="2209800" cy="960120"/>
          </a:xfrm>
          <a:prstGeom prst="roundRect">
            <a:avLst/>
          </a:prstGeom>
          <a:gradFill>
            <a:gsLst>
              <a:gs pos="0">
                <a:srgbClr val="5B8CFF">
                  <a:alpha val="24000"/>
                </a:srgbClr>
              </a:gs>
              <a:gs pos="100000">
                <a:srgbClr val="5B8CFF">
                  <a:alpha val="7000"/>
                </a:srgbClr>
              </a:gs>
            </a:gsLst>
            <a:lin ang="7200000" scaled="1"/>
          </a:gradFill>
          <a:ln w="1587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99104" y="4681728"/>
            <a:ext cx="195376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9104" y="5074920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B8CFF"/>
                </a:solidFill>
                <a:latin typeface="Arial"/>
              </a:rPr>
              <a:t>270㎡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45480" y="4572000"/>
            <a:ext cx="2209800" cy="960120"/>
          </a:xfrm>
          <a:prstGeom prst="roundRect">
            <a:avLst/>
          </a:prstGeom>
          <a:gradFill>
            <a:gsLst>
              <a:gs pos="0">
                <a:srgbClr val="F07A8C">
                  <a:alpha val="24000"/>
                </a:srgbClr>
              </a:gs>
              <a:gs pos="100000">
                <a:srgbClr val="F07A8C">
                  <a:alpha val="7000"/>
                </a:srgbClr>
              </a:gs>
            </a:gsLst>
            <a:lin ang="7200000" scaled="1"/>
          </a:gradFill>
          <a:ln w="15875">
            <a:solidFill>
              <a:srgbClr val="F0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1784" y="4681728"/>
            <a:ext cx="195376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3F6FF"/>
                </a:solidFill>
                <a:latin typeface="Microsoft YaHei"/>
              </a:rPr>
              <a:t>仓储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1784" y="5074920"/>
            <a:ext cx="19537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7A8C"/>
                </a:solidFill>
                <a:latin typeface="Arial"/>
              </a:rPr>
              <a:t>120㎡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91640"/>
            <a:ext cx="3044952" cy="4343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91640"/>
            <a:ext cx="64008" cy="43434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74520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258568"/>
            <a:ext cx="2496312" cy="36850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四大产业集群：玩具·毛绒·潮玩·文创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03504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＊平面示意，依据一期方案面积数据复原；最终以物业实测与设计院图纸为准。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09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10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0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AA8CC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6B86A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11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12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8C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6C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9D0A0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9AA8CC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23315A"/>
              </a:gs>
              <a:gs pos="100000">
                <a:srgbClr val="1A23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3F6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9AA8CC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7CA6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13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A6C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9D0A0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6B86A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0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07A8C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6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8CC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3F6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150">
                <a:solidFill>
                  <a:srgbClr val="9AA8CC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14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6B86A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3F6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15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16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B8C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3F6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B86A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3F6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17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5B8C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3F6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6B86A"/>
                </a:solidFill>
                <a:latin typeface="Microsoft YaHei"/>
              </a:rPr>
              <a:t>60% → 70% →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三年去化目标（首/次/三年）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B8C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9D0A0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三年合作 · 60% / 70% / 85% 去化目标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18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三年运营节奏 · 去化与品牌双线推进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19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5B8CFF"/>
              </a:gs>
              <a:gs pos="100000">
                <a:srgbClr val="E6B86A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5B8C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6FF"/>
                </a:solidFill>
                <a:latin typeface="Microsoft YaHei"/>
              </a:rPr>
              <a:t>去化 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A6C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6FF"/>
                </a:solidFill>
                <a:latin typeface="Microsoft YaHei"/>
              </a:rPr>
              <a:t>去化 70%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重点客户补位/专精特新·高企培育/企业服务收费/漫展与沙龙常态化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6B86A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6FF"/>
                </a:solidFill>
                <a:latin typeface="Microsoft YaHei"/>
              </a:rPr>
              <a:t>去化 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8CC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区级示范点/载体资质/补贴反哺/协同周边≤2项目/模式可复制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三年合作 · 五类收费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20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合作模式与原则 · 对赌运营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21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6B86A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B8C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A6CFF"/>
                </a:solidFill>
                <a:latin typeface="Microsoft YaHei"/>
              </a:rPr>
              <a:t>对赌运营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收基础运营费并对赌去化目标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9AA8CC"/>
                </a:solidFill>
                <a:latin typeface="Microsoft YaHei"/>
              </a:rPr>
              <a:t>人员配置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49D0A0"/>
                </a:solidFill>
                <a:latin typeface="Microsoft YaHei"/>
              </a:rPr>
              <a:t>2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9AA8CC"/>
                </a:solidFill>
                <a:latin typeface="Microsoft YaHei"/>
              </a:rPr>
              <a:t>含杨浦科技企业服务中心挂牌服务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B86A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风险收益匹配——基础运营费保障 + 增量分成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招商资源共享——双方共同推动企业导入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政策服务赋能——政策既是招商工具也是盈利工具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阶段化对赌——按 60%/70%/85% 去化考核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3F6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合作报价总表 · 五类收费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22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91420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1444" y="1572768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7922" y="1572768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0403" y="1572768"/>
            <a:ext cx="2871307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基础运营费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1444" y="1993392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60 万/年（5 万/月）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7922" y="1993392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合作方按月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03" y="1993392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支持对赌，与去化目标挂钩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22779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32304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32304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对赌去化目标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1444" y="2432304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首年 60% / 次年 70% / 三年 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2" y="2432304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0403" y="2432304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达标机制，挂钩基础费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861691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871216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招商佣金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1444" y="2871216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成交后 2–3 个月租金（首年不重复）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7922" y="2871216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03" y="2871216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参照市场价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30060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310128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310128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挂牌费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1444" y="3310128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7922" y="3310128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03" y="3310128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739515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749040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活动执行费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1444" y="3749040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7922" y="3749040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03" y="3749040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含策划执行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178427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187952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187952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媒体流量费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1444" y="4187952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5 万/年（详见媒体报价）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7922" y="4187952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合作方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0403" y="4187952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小红书/短视频/直播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626864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91444" y="4626864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工商/政策/知产/财税法务/融资/出海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7922" y="4626864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0403" y="4626864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056251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065776"/>
            <a:ext cx="10634472" cy="438912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065776"/>
            <a:ext cx="191420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91444" y="5065776"/>
            <a:ext cx="446647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9AA8CC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7922" y="5065776"/>
            <a:ext cx="13824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0403" y="5065776"/>
            <a:ext cx="287130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495163"/>
            <a:ext cx="10634472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393192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23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5B8CFF"/>
                </a:solidFill>
                <a:latin typeface="Microsoft YaHei"/>
              </a:rPr>
              <a:t>基础包 5 万/年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876348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媒体项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6468" y="2286000"/>
            <a:ext cx="3061411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小红书投流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6468" y="267004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话题/笔记投放，招募导流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062859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072384"/>
            <a:ext cx="4937760" cy="402336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07238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账号代运营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6468" y="307238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园区/IP 官方号内容运营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465195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47472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短视频/直播间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6468" y="347472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活动直播、企业专访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867531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877056"/>
            <a:ext cx="4937760" cy="402336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770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新闻通稿/软文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6468" y="38770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招商节点媒体声量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269867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2793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3F6FF"/>
                </a:solidFill>
                <a:latin typeface="Microsoft YaHei"/>
              </a:rPr>
              <a:t>专项传播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6468" y="42793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漫展/峰会/挂牌节点另计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672203"/>
            <a:ext cx="493776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0120" y="2286000"/>
            <a:ext cx="31750" cy="2395728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6B86A"/>
            </a:solidFill>
          </a:ln>
          <a:effectLst/>
          <a:gradFill>
            <a:gsLst>
              <a:gs pos="0">
                <a:srgbClr val="23315A"/>
              </a:gs>
              <a:gs pos="100000">
                <a:srgbClr val="1A234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6B86A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6B86A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6B86A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3F6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24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6B86A"/>
                </a:solidFill>
                <a:latin typeface="Microsoft YaHei"/>
              </a:rPr>
              <a:t>60 万/年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基础运营费（5 万/月）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B8CFF"/>
                </a:solidFill>
                <a:latin typeface="Microsoft YaHei"/>
              </a:rPr>
              <a:t>+ 招商佣金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2–3 月租金 · 成交计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A6C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9D0A0"/>
                </a:solidFill>
                <a:latin typeface="Microsoft YaHei"/>
              </a:rPr>
              <a:t>+ 5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媒体流量费/年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6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0294A"/>
              </a:gs>
              <a:gs pos="100000">
                <a:srgbClr val="1A224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66329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23413" y="3886200"/>
            <a:ext cx="322874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6B86A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5B8C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23413" y="42885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101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5B8CFF"/>
                </a:solidFill>
                <a:latin typeface="Microsoft YaHei"/>
              </a:rPr>
              <a:t>我方固定服务包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3413" y="47457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约 95 万/年（60+30+5）+ 佣金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5B8CFF"/>
                </a:solidFill>
                <a:latin typeface="Microsoft YaHei"/>
              </a:rPr>
              <a:t>列支来源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23413" y="52029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利润/中建四局运营费，非纯增量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去化率按 60→70→85% 逐年抬升，租金回收提速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政策/补贴回流企业与平台，企业质量更高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增值服务与联合公司形成第二增长曲线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49D0A0"/>
                </a:solidFill>
                <a:latin typeface="Microsoft YaHei"/>
              </a:rPr>
              <a:t>▪  </a:t>
            </a:r>
            <a:r>
              <a:rPr sz="1250">
                <a:solidFill>
                  <a:srgbClr val="9AA8CC"/>
                </a:solidFill>
                <a:latin typeface="Microsoft YaHei"/>
              </a:rPr>
              <a:t>比照元谷「花一份钱赚四份钱」逻辑，账面可算正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25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26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B86A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B8C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A6C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49D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9D0A0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0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07A8C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3F6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9AA8CC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B86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6B86A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6B86A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3F6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A8CC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27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6B86A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3F6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6B86A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7CA6"/>
                </a:solidFill>
                <a:latin typeface="Microsoft YaHei"/>
              </a:rPr>
              <a:t>创智汇 </a:t>
            </a:r>
            <a:r>
              <a:rPr sz="950" b="0">
                <a:solidFill>
                  <a:srgbClr val="6E7CA6"/>
                </a:solidFill>
                <a:latin typeface="Arial"/>
              </a:rPr>
              <a:t>CHUANGZHIHUI</a:t>
            </a:r>
            <a:r>
              <a:rPr sz="950" b="0">
                <a:solidFill>
                  <a:srgbClr val="6E7CA6"/>
                </a:solidFill>
                <a:latin typeface="Microsoft YaHei"/>
              </a:rPr>
              <a:t>  ·  6600㎡ AI+IP 产业创新中心 ·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6B86A"/>
                </a:solidFill>
                <a:latin typeface="Arial"/>
              </a:rPr>
              <a:t>28</a:t>
            </a:r>
            <a:r>
              <a:rPr sz="1050" b="0">
                <a:solidFill>
                  <a:srgbClr val="6E7CA6"/>
                </a:solidFill>
                <a:latin typeface="Arial"/>
              </a:rPr>
              <a:t>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6B86A"/>
                </a:solidFill>
                <a:latin typeface="Arial"/>
              </a:rPr>
              <a:t>Q1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对赌运营：基础运营费 60 万/年 + 佣金 + 增值分成，对赌 60/70/85%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B8CFF"/>
                </a:solidFill>
                <a:latin typeface="Arial"/>
              </a:rPr>
              <a:t>Q2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基础 60 万/年 + 活动 30 万 + 媒体 5 万 + 挂牌（3 万/个）+ 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8A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A6CFF"/>
                </a:solidFill>
                <a:latin typeface="Arial"/>
              </a:rPr>
              <a:t>Q3　</a:t>
            </a:r>
            <a:r>
              <a:rPr sz="1550" b="1">
                <a:solidFill>
                  <a:srgbClr val="F3F6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30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60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2C3759"/>
            </a:solidFill>
          </a:ln>
          <a:effectLst/>
          <a:gradFill>
            <a:gsLst>
              <a:gs pos="0">
                <a:srgbClr val="1A2340"/>
              </a:gs>
              <a:gs pos="100000">
                <a:srgbClr val="121A30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8CFF"/>
                </a:solidFill>
                <a:latin typeface="Arial"/>
              </a:rPr>
              <a:t>90</a:t>
            </a:r>
            <a:r>
              <a:rPr sz="2400" b="0">
                <a:solidFill>
                  <a:srgbClr val="9AA8CC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9AA8CC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6B86A"/>
            </a:solidFill>
          </a:ln>
          <a:effectLst/>
          <a:gradFill>
            <a:gsLst>
              <a:gs pos="0">
                <a:srgbClr val="1C2748"/>
              </a:gs>
              <a:gs pos="100000">
                <a:srgbClr val="16203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6B86A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3F6FF"/>
                </a:solidFill>
                <a:latin typeface="Microsoft YaHei"/>
              </a:rPr>
              <a:t>先签 6600㎡ 单项目专项（单项目单核算），三年跑通 60/70/85% 去化后，协同周边 ≤2 项目并复制模式。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0E1A"/>
              </a:gs>
              <a:gs pos="55000">
                <a:srgbClr val="151D38"/>
              </a:gs>
              <a:gs pos="100000">
                <a:srgbClr val="0A0E1A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5B8CFF">
                  <a:alpha val="20000"/>
                </a:srgbClr>
              </a:gs>
              <a:gs pos="100000">
                <a:srgbClr val="0A0E1A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A6CFF">
                  <a:alpha val="16000"/>
                </a:srgbClr>
              </a:gs>
              <a:gs pos="100000">
                <a:srgbClr val="0A0E1A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6B86A"/>
              </a:gs>
              <a:gs pos="100000">
                <a:srgbClr val="8A6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6B86A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6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3F6FF"/>
                </a:solidFill>
                <a:latin typeface="Microsoft YaHei"/>
              </a:rPr>
              <a:t>让创智汇成为杨浦五角场
</a:t>
            </a:r>
            <a:r>
              <a:rPr sz="3300" b="1">
                <a:solidFill>
                  <a:srgbClr val="E6B86A"/>
                </a:solidFill>
                <a:latin typeface="Microsoft YaHei"/>
              </a:rPr>
              <a:t>AI + IP 产业与城市更新</a:t>
            </a:r>
            <a:r>
              <a:rPr sz="3300" b="1">
                <a:solidFill>
                  <a:srgbClr val="F3F6FF"/>
                </a:solidFill>
                <a:latin typeface="Microsoft YaHei"/>
              </a:rPr>
              <a:t>的超级链接器与可复制样板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9AA8CC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2C3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6B86A"/>
                </a:solidFill>
                <a:latin typeface="Microsoft YaHei"/>
              </a:rPr>
              <a:t>谈判集中汇报 v2.0</a:t>
            </a:r>
            <a:r>
              <a:rPr sz="1200" b="0">
                <a:solidFill>
                  <a:srgbClr val="6E7CA6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