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去化看板（参考目标，招商不对赌）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招商轻运营（不对赌）· 出海为增长引擎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去化与出海双线推进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重点客户补位/专精特新·高企培育/企业服务收费/出海撮合起量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招商轻运营（不对赌）· 出海重收费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轻资产运营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轻资产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招商不对赌；月费转化为出海专项服务费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协议分层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双协议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招商轻运营协议 + 出海联合运营协议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轻资产不对赌——招商板块不背对赌，降低风险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招商佣金强化——按市场 2–3 个月租金取酬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月费转化——原月费并入出海专项服务费（换名）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出海重收费——强化国际出海职能并在此收费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招商轻运营（不对赌）+ 出海重收费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572768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199339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市场标准，作招商板块主收费；招商不对赌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59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68880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6888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6888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6888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34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4436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4436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4436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4436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1985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19856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419856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41985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1985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858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95344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95344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出海协议框架内计收（由原月费转化，非月费）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9534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合作方/合资公司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89534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2–3 人出海团队，强化国际出海职能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6130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7083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出海撮合佣金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37083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37083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合资公司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7083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国际出海收费重点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3679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84632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84632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84632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093" y="484632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3122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32180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32180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32180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32180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3093" y="532180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8777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22452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2–3 月租金 · 成交计（强化）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原月费转化 · 出海协议内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36977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9891" y="3886200"/>
            <a:ext cx="352226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29891" y="42885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招商板块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29891" y="47457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佣金 2–3 月 + 活动 30 万 + 媒体 10 万（不对赌）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出海板块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29891" y="52029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出海专项服务费 + 撮合佣金（重收费）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招商轻资产不对赌，降低双方风险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佣金强化至 2–3 月，贴合市场标准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月费转出海专项服务费，出海为增长引擎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 + 国家会客厅第二曲线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TikTok/领英/短剧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领英出海：LinkedIn B2B 海外获客 / 品牌出海 / 决策人触达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通路：TikTok / 领英 / 跨境电商（亚马逊·TikTok Shop）+ 海外展销 + 自贸港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GBA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大湾区出海资源叠加 · 复旦系 + 高校（沪穗联动）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复旦珠海创新研究院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九大公共平台（集成电路/大数据智算/工业仿真/海洋科技/物联网智慧城市/先进材料）；「手心研发·手背转化」；服务横琴粤澳深合区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27632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葡语国家科技合作平台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横琴对接葡语系（巴西/葡萄牙/安哥拉/莫桑比克）唯一国家级平台；市场调研·本地匹配·海外展会·合规咨询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27632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珠澳双循环出海窗口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澳门自由港 + 葡语商贸平台；「内地研发 + 澳门展销 + 葡语国家落地」；设海外总部/海外仓中转，规避关税壁垒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粤港澳复旦成果转化中心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复旦技术转移落地南沙；技术授权海外/国际专利/海外临床与认证；港澳跨境通道 + 粤科复旦母基金等出海基金矩阵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200400"/>
            <a:ext cx="64008" cy="14173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大湾区精准医学研究院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省市南沙复旦五方共建；南沙唯一万笼级实验动物中心；肿瘤/代谢/生殖精准诊疗、类器官、医疗器械转化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20040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深圳复旦研究院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河套深港科创合作区；AI/前沿医学/集成电路；联动香港，打通深港产学研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28032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高校出海资源　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暨南大学 · 华侨大学 · 广东外语外贸大学 · 广州大学黄埔研究院 + 复旦广州校友会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349240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广外＝出海第一梯队：小语种（东盟/葡语/西语）· 海丝国别智库 · 跨境合规 · 国际贸易 · 海外市场调研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广州大学黄埔研究院：数字经济 · 跨境新媒体 · 海外独立站 · 智能制造国际转化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STRATEGIC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战略资源探讨 · 东方枢纽 / 谷歌 / 领英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东方枢纽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国际商务合作区 + 综保区 + 空铁枢纽（临港/浦东方向）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探讨：出海企业「境内关外」通道、保税展示、国际中转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作用：为出海订单与海外仓提供口岸与政策承接点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谷歌 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探讨：Google Ads / YouTube 出海投放与海外获客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探讨：谷歌在领事馆/国别活动中的技术与流量角色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作用：叠加海外数字营销通路，服务内容与货品出海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领英 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海外决策人触达、品牌出海、海外招募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与展会/领事撮合互补，沉淀海外客户资产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作用：国际出海职能的线上主通路之一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说明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本页为战略资源探讨方向（待落实），用以强化国际出海职能并在出海板块形成收费。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38928"/>
            <a:ext cx="10058400" cy="7315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收费落点：出海专项服务费 + 撮合佣金 + 海外营销投放代运营 + 国家会客厅冠名/会籍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东方枢纽与谷歌合作以实际对接结果为准，不构成承诺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GOOGLE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谷歌合作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以园区/平台名义对接谷歌出海生态（Google Ads / YouTube / Google Cloud），为入驻企业提供海外投放开户、代运营与出海营销培训；并探讨谷歌在领事馆/国别活动中的技术与流量支持角色。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海外广告开户、充值与合规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YouTube / 搜索出海投放代运营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出海营销培训与认证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谷歌出海资源与国别活动对接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开户返点分成（平台侧）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按场/人计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账户合规/风控成本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海外营销代运营 + 返点分成。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待落实，以实际对接结果为准，不构成承诺。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LINKEDIN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领英合作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以平台名义对接领英营销解决方案，为出海企业做 B2B 品牌页、广告投放、决策人触达与海外招募；纳入出海全链条线上主通路，与展会/领事撮合互补。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企业领英账号搭建与代运营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广告投放 / 决策人触达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 KOL / 人才招募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领英出海培训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账号搭建 0.5–1 万/家（一次性）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领英资源合作分成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代运营分成。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待落实，沉淀海外客户资产为长期价值。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EAST-HUB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东方枢纽合作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对接东方枢纽（浦东综保区 / 国际商务合作区 / 空铁枢纽），为出海企业提供境内关外通道、保税展示、海外仓与国际中转、口岸与政策承接，作为出海物流与合规落地节点。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保税展示 / 展销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海外仓 / 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跨境电商 / 出口退税通道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口岸政策承接与合规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服务对接费（待定）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撮合佣金（待定）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仓储 / 中转分成（待定）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合作模式未明，成本待定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若落地：服务对接费 + 撮合佣金 + 仓储分成。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8BB8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中保区（东方枢纽）合作模式尚未明确，暂不纳入本次预算；作为加分项后补（主干先行·枝叶后补）。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出海费用清单 · 挂牌 / 代运营 / 资源导入（轻运营）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方式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出海板块以「轻运营」推进：以运营活动 + 资源对接为主，不重投入；活动场次或按招人方式后续再定。以下为出海成本项（供甲方预算）。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10634472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87168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费用项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4134" y="2487168"/>
            <a:ext cx="574261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6748" y="2487168"/>
            <a:ext cx="2764962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165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26080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① 出海挂牌费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4134" y="2926080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 / 北欧会客厅挂牌 + 领事资源背书 + 出海身份/牌照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2926080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10–20 万元（一次性 / 按牌）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7492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584448"/>
            <a:ext cx="10634472" cy="65836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84448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② 代运营费用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3584448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领英 / 谷歌 / 短剧 / 社媒 海外账号搭建与投放代运营（媒介投放费由企业承担）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6748" y="3584448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15–30 万/年（或 1–3 万/月/家）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42816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③ 资源导入费用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4134" y="4242816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大湾区 / 复旦系 / 高校 / 领事 / 买家团 / IP 资源对接与导入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6748" y="4242816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10–20 万/年（或按项目 1–5 万/次）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9165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487168"/>
            <a:ext cx="31750" cy="241401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5029200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29200"/>
            <a:ext cx="64008" cy="9601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费用合计（示意）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一次性：挂牌 10–20 万；年度：代运营 + 资源导入 约 25–50 万/年 → 首年约 35–70 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52297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C6BAEA"/>
                </a:solidFill>
                <a:latin typeface="Microsoft YaHei"/>
              </a:rPr>
              <a:t>备注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不含出海撮合佣金（平台利润 1–30 万/项目 + 落地 1%–3%，按成交另计）与海外媒介投放费（企业承担）；活动/招人方式待定后细化。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46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园区空间盘（租金/物业）＝出海反哺来源；运营平台收入＝招商佣金（强化）+ 出海专项服务费 + 撮合分成 + 经营性/补贴。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出海反哺来源）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200 万（1.0 元/㎡/天 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2–3 月租金/成交（约 60–120 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活动 + 媒体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 30 万 + 媒体 10 万 + 挂牌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原月费转化，出海协议内计收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出海撮合 + 增值分成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47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招商轻资产不对赌、佣金强化保基本盘；出海专项服务费 + 撮合为最大增长弹性，三情景净收益均为正。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政策申报收入（能否拿到现金）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48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340303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政策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271" y="1554480"/>
            <a:ext cx="2977652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3" y="1554480"/>
            <a:ext cx="255227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平台可实现现金（单位）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196" y="1554480"/>
            <a:ext cx="1701515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现金确定性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载体运营/活动补贴（科技服务业·成果转化平台）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0271" y="193852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认定后≤100 万/年；运营满年约 10–20 万/年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3" y="193852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直接到平台 10–20 万/年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0196" y="193852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现金·较确定（需认定+满年）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31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40864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4086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高新技术企业认定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0271" y="234086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首次 20 万/次（企业·一次性）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34086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申报服务费 2–8 万/家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196" y="234086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7336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74320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专精特新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0271" y="274320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市级 10 / 国家小巨人 30 万（企业·一次性）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3" y="274320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2–8 万/家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196" y="274320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1360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145536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145536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科技型中小企业备案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0271" y="3145536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资格（企业·无直接现金）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3" y="3145536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0.3–2 万/家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0196" y="3145536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5383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547872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AI/大数据房租补贴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0271" y="3547872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2 元/天/㎡·≤100 万/年（企业·3 年）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3" y="3547872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代申请成功费 到账 5%–15%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196" y="3547872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现金·依到账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9406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3950208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395020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政府补贴项目（各类）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0271" y="395020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视项目（企业）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3" y="395020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成功费 到账额 5%–15%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196" y="395020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现金·以兑现为准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343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35254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科技创新券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0271" y="435254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企业≤30 万·团队≤10 万/年（抵付服务）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3" y="435254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作服务机构核销分成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10196" y="435254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现金·需入驻创新券平台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745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54880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75488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算力补贴 + 云折扣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0271" y="475488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最高 50%（企业）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3" y="475488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— 招商抓手（非平台现金）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196" y="475488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非现金（招商用）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147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54480"/>
            <a:ext cx="31750" cy="36027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5440680"/>
            <a:ext cx="102412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关键提示　</a:t>
            </a:r>
            <a:r>
              <a:rPr sz="1050" b="0">
                <a:solidFill>
                  <a:srgbClr val="F5F1FF"/>
                </a:solidFill>
                <a:latin typeface="Microsoft YaHei"/>
              </a:rPr>
              <a:t>计入预算的政策收入＝平台可实现现金（申报服务费 + 成功分成 + 载体运营补贴）；产业补贴主体流向企业/载体，平台按约定分成或成功费取酬。未来预判：微短剧专项、模塑申城三券、YOUNG立方直播券/活动补贴（窗口开放后追加）。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国际会客厅（北欧会客厅）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49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96112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961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联合国际领事资源合作方，以「北欧/国别会客厅」为载体，在核心区高层空间做外事接待·文化展示·招商对接·企业出海；平台负责运营策划、活动执行与出海撮合，按「冠名 + 会籍 + 活动 + 出海对接」收费，与领事资源合作方分润。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收费（合理·不高估）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691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冠名/联合冠名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691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30–80 万/年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企业会籍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5691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10 万/家/年（保守 3–5 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5691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3–8 万/场（6–8 场/年）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5691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单国服务包 20–50 万/项目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578608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5515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3–5 万/场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领事/嘉宾对接接待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2–5 万/场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空间/场地分摊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5515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按次或年（合作方空间）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合作方分润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5515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领事资源方 40%–50%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7240" y="5010912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5102352"/>
            <a:ext cx="1024128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合理预估（不高估）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首年收入 ~80–120 万，平台净 ~20–40 万/年；成熟期收入 ~150–250 万，平台净 ~50–90 万/年（分润与成本后）。数据为保守测算，待与合作方最终确认。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ENTERPRISE SERVICE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企业服务（项目 / 收费 / 成本）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50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12689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554480"/>
            <a:ext cx="53172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554480"/>
            <a:ext cx="319034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1947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956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工商注册 · 代账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1956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注册引流免费；代账 3000–6000 元/年/家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1956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 + 人力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140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4140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4134" y="24140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普通 0.3–2 万/项；高企/专精特新 2–8 万/项；补贴成功费 到账 5%–15%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4140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 + 材料杂费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8712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知识产权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4134" y="28712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商标 800–2000 元/件；软著 2000–5000 元/件；专利代理 5000–1 万/件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28712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188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3284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284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财税 · 法务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4134" y="33284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顾问 1–5 万/年/家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3284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7760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融资顾问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7856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成功佣金 融资额 1%–3%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37856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2428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242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4242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242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出海团队（单列）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690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15544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7240" y="5166360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166360"/>
            <a:ext cx="64008" cy="9144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865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成本与人力（必列示）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企业服务暂不设专职，但属必做工作：按兼职/共享人力列示 约 15–30 万/年（社保+人力）。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E9C27C"/>
                </a:solidFill>
                <a:latin typeface="Microsoft YaHei"/>
              </a:rPr>
              <a:t>　　　　　　　　　　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第三方服务分成 按收入 30%–50%；系统/材料杂费 约 2–5 万/年。合理预估：首年企业服务收入(不含出海) ~30–60 万，净利 ~10–25 万。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51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52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53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54</a:t>
            </a:r>
            <a:r>
              <a:rPr sz="1050" b="0">
                <a:solidFill>
                  <a:srgbClr val="9486C4"/>
                </a:solidFill>
                <a:latin typeface="Arial"/>
              </a:rPr>
              <a:t> / 55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轻资产运营（招商不对赌）：佣金 2–3 月 + 出海专项服务费 + 增值分成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招商：佣金 2–3 月 + 活动 30 万 + 媒体 10 万 + 挂牌；出海：专项服务费 + 撮合佣金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