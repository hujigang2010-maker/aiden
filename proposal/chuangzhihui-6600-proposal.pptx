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2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8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9C27C"/>
                </a:solidFill>
                <a:latin typeface="Arial"/>
              </a:rPr>
              <a:t>SHANGHAI CHUANGZHIHUI · WUJIAOCHANG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389888"/>
            <a:ext cx="822960" cy="3175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070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F5F1FF"/>
                </a:solidFill>
                <a:latin typeface="Microsoft YaHei"/>
              </a:rPr>
              <a:t>上海创智汇</a:t>
            </a:r>
            <a:r>
              <a:rPr sz="4000" b="1">
                <a:solidFill>
                  <a:srgbClr val="E9C27C"/>
                </a:solidFill>
                <a:latin typeface="Microsoft YaHei"/>
              </a:rPr>
              <a:t>
AI + 数字内容无界共创港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6600㎡ 招商运营合作</a:t>
            </a:r>
            <a:r>
              <a:rPr sz="1600" b="0" spc="100">
                <a:solidFill>
                  <a:srgbClr val="9486C4"/>
                </a:solidFill>
                <a:latin typeface="Microsoft YaHei"/>
              </a:rPr>
              <a:t>　·　</a:t>
            </a:r>
            <a:r>
              <a:rPr sz="1600" b="0" spc="100">
                <a:solidFill>
                  <a:srgbClr val="C6BAEA"/>
                </a:solidFill>
                <a:latin typeface="Microsoft YaHei"/>
              </a:rPr>
              <a:t>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2560320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256032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以 AI + 数字内容 为产业主轴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029200"/>
            <a:ext cx="2048256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政策导入 · 政企联动闭环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51576" y="5029200"/>
            <a:ext cx="1792224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三年合作 · 协同复制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v3.0 谈判稿</a:t>
            </a:r>
            <a:r>
              <a:rPr sz="1050" b="0">
                <a:solidFill>
                  <a:srgbClr val="9486C4"/>
                </a:solidFill>
                <a:latin typeface="Microsoft YaHei"/>
              </a:rPr>
              <a:t>    项目定位（三选一）：AI+数字内容无界共创港 / AI+数据智能产业创新中心 / AI+在线新经济产业创新港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02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研判与关键信息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研判报告 · 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招商与运营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漏斗 / 运营计划 / 活动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80/85/95%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6968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出海与国际会客厅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国家会客厅 · 出海撮合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0" y="4809744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4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904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4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规划建议 · 协同复制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三问 · 30/60/90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项目定位 · 产业定位方向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03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项目命名（三选一）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10634472" cy="73152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64008" cy="731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方案一 · 推荐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65960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数字内容无界共创港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965960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最贴合「AI+数字内容」主轴与共创理念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807208"/>
            <a:ext cx="64008" cy="731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07208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方案二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807208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数据智能产业创新中心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19" y="2807208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偏 AI 数据智能与硬科技定位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648456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648456"/>
            <a:ext cx="64008" cy="731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648456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Microsoft YaHei"/>
              </a:rPr>
              <a:t>方案三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648456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在线新经济产业创新港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19" y="3648456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对齐杨浦「在线新经济」政策品牌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7365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产业定位方向　</a:t>
            </a:r>
            <a:r>
              <a:rPr sz="1350" b="0">
                <a:solidFill>
                  <a:srgbClr val="9486C4"/>
                </a:solidFill>
                <a:latin typeface="Microsoft YaHei"/>
              </a:rPr>
              <a:t>（经商讨暂定）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0640"/>
            <a:ext cx="102412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 </a:t>
            </a:r>
            <a:r>
              <a:rPr sz="1250" b="1">
                <a:solidFill>
                  <a:srgbClr val="E9C27C"/>
                </a:solidFill>
                <a:latin typeface="Microsoft YaHei"/>
              </a:rPr>
              <a:t>人工智能和数字内容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为产业主轴，重点承接 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AI 微短剧、AIGC 内容生产、数字 IP、创意设计、智能营销、在线新经济、OPC 超级个体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 等应用场景；并通过 办公空间 · 展示交易 · 订单撮合 · 政策服务 · 高校大厂资源 · IP 资源 · 出海服务，为入驻企业提供从落地到增长的综合服务。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04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市场与区位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05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区位研判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五角场城市副中心 + 环同济经济圈；创智天地正处杨浦 YOUNG立方内容集聚区核心圈，紧邻 V聚场/大学路/B站新世代产业园。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9164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市场研判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AI+ 与数字内容处政策红利期：微短剧/AIGC/数字人爆发；上海明确徐汇·杨浦·闵行建 AI 微短剧集聚区，需求侧旺盛。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26440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市区两级政策叠加（YOUNG立方/长阳秀带/人工智能+/微短剧/模塑申城/火山引擎）；载体认定 + 三券 + 补贴可形成兑现能力。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26440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客群研判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 应用/AIGC/数字人、AI 短剧、数字 IP、创意设计、智能营销、OPC 超级个体；供应链（玩具/毛绒/潮玩）与内容 IP 出海需求明确。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92040"/>
            <a:ext cx="10634472" cy="11887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1091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研判结论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需求真实、政策强、区位优——项目具备「政策引导产业落位 + 出海撮合放大」的稀缺条件。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6600㎡ 体量适中，可做「小而精」样板并向周边复制（≤2 项目）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对标魔术空间等：高频活动（约 110 场级）驱动招商与载体 KPI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 · SWOT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SWOT 与对策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06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S 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政策核心圈 + 环同济 + 高校大厂资源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AI/OPC 社群 + IP 内容 + 领事/出海资源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离运营方近，轻驻场高频次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64208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W 劣势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体量小（6600㎡），单靠租金想象空间有限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载体/OPC 社区等「经认定」资格待落实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出海撮合需自有资源与专职团队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785616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O 机会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微短剧/AIGC 政策红利与集聚区身份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 + 国家会客厅高毛利业务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沪穗联动、可复制到周边项目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85616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T 威胁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招商去化对赌压力（三年均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政策以最新文件为准，兑现有不确定性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出海行业分散、跨行业撮合难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07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08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09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3 楼平面布局 · OPC + AI + IP 创新中心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10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3937772" cy="1170432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505456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600㎡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316 (150) · 301 (175)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" y="3108960"/>
            <a:ext cx="3937772" cy="658368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218688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配套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913632"/>
            <a:ext cx="3937772" cy="184708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023360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530352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1150㎡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1596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306·305·304·303·302·310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5908" y="1792224"/>
            <a:ext cx="2947660" cy="932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2212" y="190195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直播间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2212" y="2267712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250㎡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5908" y="2871216"/>
            <a:ext cx="2947660" cy="786384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2212" y="2980944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2212" y="320040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150㎡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5908" y="3803904"/>
            <a:ext cx="2947660" cy="1956816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2212" y="391363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2212" y="530352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700㎡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主轴：AI / OPC — 对齐「人工智能+」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＊依据一期方案平面图复原（分区/房号/面积对应）；最终以物业实测与设计院图纸为准。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5 楼平面布局 · 综合集群展厅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11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1441505" cy="4105656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44068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700㎡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景区+博物馆文创 · 50+ IP 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93065" y="1792224"/>
            <a:ext cx="632856" cy="4105656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369" y="1901952"/>
            <a:ext cx="376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369" y="5440680"/>
            <a:ext cx="37682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5649" y="1792224"/>
            <a:ext cx="1582140" cy="1188720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953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东莞潮玩产业集群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1953" y="2523744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330㎡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5649" y="3090672"/>
            <a:ext cx="1582140" cy="2761488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1953" y="3200400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汕头玩具产业集群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953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900㎡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517" y="1792224"/>
            <a:ext cx="1582140" cy="102412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3821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821" y="2359152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270㎡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27517" y="2926080"/>
            <a:ext cx="1582140" cy="2926080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821" y="3035808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扬州毛绒产业集群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3821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700㎡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9385" y="1792224"/>
            <a:ext cx="1441505" cy="731520"/>
          </a:xfrm>
          <a:prstGeom prst="roundRect">
            <a:avLst/>
          </a:prstGeom>
          <a:gradFill>
            <a:gsLst>
              <a:gs pos="0">
                <a:srgbClr val="9486C4">
                  <a:alpha val="24000"/>
                </a:srgbClr>
              </a:gs>
              <a:gs pos="100000">
                <a:srgbClr val="9486C4">
                  <a:alpha val="7000"/>
                </a:srgbClr>
              </a:gs>
            </a:gsLst>
            <a:lin ang="7200000" scaled="1"/>
          </a:gradFill>
          <a:ln w="15875">
            <a:solidFill>
              <a:srgbClr val="948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5689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仓储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5689" y="2066544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486C4"/>
                </a:solidFill>
                <a:latin typeface="Arial"/>
              </a:rPr>
              <a:t>120㎡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85" y="2633472"/>
            <a:ext cx="1441505" cy="3218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5689" y="2743200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5689" y="53949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650㎡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四大集群：汕头玩具·扬州毛绒·东莞潮玩·文创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＊依据一期方案平面图复原（分区/面积对应）；最终以物业实测与设计院图纸为准。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12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13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C6BAEA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9C27C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14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15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7B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77D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6D6B6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C6BAEA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16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17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人工智能+数字内容 · 政策工具箱（三端）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18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160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· 补给企业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科技创新券：企业≤30万/年、团队≤10万/年（≤50%）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模塑申城：算力券 / 模型券 / 语料券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高企首认 20万；专精特新市级 10万 / 国家小巨人 30万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大数据房租 2.0 元/天/㎡（人均 15㎡）≤100万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经营性奖励 + 参保奖励（10–20 人给 10万，超 20 每人≤1.5万）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4160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· 强平台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科技服务业：成果转化服务平台≤100万/年运营补贴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服务业引导资金：市级≥500万投资 / 区级 500–1000万，≤300万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OPC 超级个体社区：AI 工具链 / 智能体 / Tokens券 / 大厂团队 各≤1000–2000万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未来产业试验场 / 加速器（认定后申报）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把创智汇做成「经认定载体 + 成果转化服务平台」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4160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· 造场景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微短剧集聚区（徐汇/杨浦/闵行）：智能体≤研发20%≤1000万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优秀微短剧≤300万；优质厂牌≤200万；出海≤50万；课程≤20万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标志性重大应用场景 / 创新产品市场化应用（联合≤5家采购）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消费新场景专项：补助≤30%、≥100万、累计≤2000万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5楼做「AI 数字内容高价值应用场景」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＊政策口径以各级政府最新发布文件为准；「经认定」类政策需先取得认定资格方可对外兑现。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GOV-ENTERPRISE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辅助招商定位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19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0634472" cy="8686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招商定位　</a:t>
            </a:r>
            <a:r>
              <a:rPr sz="1500" b="1">
                <a:solidFill>
                  <a:srgbClr val="F5F1FF"/>
                </a:solidFill>
                <a:latin typeface="Microsoft YaHei"/>
              </a:rPr>
              <a:t>创智汇 = 杨浦「AI + 数字内容」孵化转化载体 + 场景清单发布平台（3F 孵化转化 · 5F 场景应用与交易）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5176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→ 招什么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招「能拿补贴的优质企业」：AI/AIGC、数字人、智能体、AI 微短剧、内容生成工具、科技型中小；用三券与房租/经营奖励做入驻礼包。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5176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→ 靠什么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把创智汇做成经认定载体 / OPC 社区 / 成果转化服务平台 / 服务业园区，取得政策兑现资格与运营补贴。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51760"/>
            <a:ext cx="64008" cy="17830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→ 卖什么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5楼做 AI 数字内容高价值应用场景、AI 微短剧承接点、创新产品市场化应用撮合，形成可背书的场景清单。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6D6B6"/>
                </a:solidFill>
                <a:latin typeface="Microsoft YaHei"/>
              </a:rPr>
              <a:t>政企联动机制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138928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挂牌「杨浦科技企业服务中心」，接入政务快速通道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对接区科经委 / 发改委 / 文旅局 / 市经信委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38928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建企业「三券」适配表，联合公司承接申报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补贴归运营平台公司，反哺招商可信度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NEXT-STEP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后续摸排清单 · 政企联动落地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20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4592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3172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摸排事项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64592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对接部门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645920"/>
            <a:ext cx="319034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目的 / 判定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能否按创新创业载体 / 成果转化服务平台 / 场景清单申报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06654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区科经委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206654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确立载体端政策兑现资格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5690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578608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7860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3F 办公孵化 + 5F 展示交易能否作服务业引导资金项目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4476" y="257860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区发改委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57860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核算投资是否达 500 万门槛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0811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90672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取得 OPC 超级个体社区「认定条件」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3090672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区人民政府 / 科经委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3090672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先决条件；未认定只能做协同点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932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602736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02736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杨浦 AI 微短剧集聚区承接空间；5F 可否作展示/路演/拍摄/协同点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602736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区文旅局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602736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确立场景端承接身份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05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14800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建企业「算力/模型/语料」三券适配表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4476" y="4114800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4114800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核查合同 / 账单 / 发票 / 使用日志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626864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2686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科企联 / 服务机构是否入驻创新券平台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462686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科企联 / 服务机构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62686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打通创新券在线下单核验兑付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1294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13892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入驻企业产品进《创新产品推荐目录》→ 5F 找采购/承租联合申报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4476" y="513892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采购方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1370" y="513892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落地 5F 订单撮合机制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1645920"/>
            <a:ext cx="31750" cy="400507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ECO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生态闭环（双环驱动）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21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政府政策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YOUNG立方/长阳秀带/人工智能+/微短剧/火山引擎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1645920"/>
            <a:ext cx="64008" cy="12801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平台承接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载体认定 · 挂牌 · 成果转化服务平台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1544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1645920"/>
            <a:ext cx="64008" cy="12801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政策礼包 · 三券适配 · 场景背书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063240"/>
            <a:ext cx="64008" cy="12801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企业成长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联合公司：注册/申报/知产/融资/出海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063240"/>
            <a:ext cx="64008" cy="12801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场景与内容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微短剧/展贸/IP · 创新产品应用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82712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82712" y="306324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补贴反哺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补贴归平台 · 资质回流 · 能级提升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526280"/>
            <a:ext cx="10634472" cy="14630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64515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双环驱动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① 政企联动闭环：政府—平台—企业—场景—补贴反哺，能级持续提升；② 产业生态闭环：内容引流—产业承接—商业变现—服务成长。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政企联动：把政策转化为招商资格与兑现能力，越做越有背书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生态自进化：内容 × 产业 × 商业 × 服务相互反哺，摆脱单一租金依赖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22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23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7B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24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9C27C"/>
                </a:solidFill>
                <a:latin typeface="Microsoft YaHei"/>
              </a:rPr>
              <a:t>三年均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或 80% → 85% → 95%（首/次/三年）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8B7B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6D6B6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OPERATION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招商运营策划及计划方案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25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招商打法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牌照锚定 + 政策礼包前置，客户「送进来」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小红书投流引流 → 线下 AI 培训/活动 → 转化租客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复旦科技园导流 + 高校大厂 + IP/协会资源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64208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在地 2 人（招商 + 综合管理，均全方位）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出海撮合：初期各部门抽调兼职，成熟设全职约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挂牌杨浦科技企业服务中心，接政务通道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64208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运营节奏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月度招商目标 + 去化看板（对赌三年均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常态化活动完成载体 KPI，运营满年申请补贴（约一二十万）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企业服务收费体系逐步导入，沉淀会员/私域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阶段计划（0–3 / 3–6 / 6–12 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20640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0–3 月：定位包装 + 政策梳理 + 首批挂牌 + 样板企业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3–6 月：集中招引 + 首批优惠 + 推介路演 + 政策诊断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20640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6–12 月：重点补位 + 专精特新/高企培育 + 首场漫展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全周期：活动 IP 化 + 出海撮合 + 补贴反哺 + 复制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活动安排计划 · 年度活动日历（约 30 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26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0020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0020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600200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频次/年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615" y="1600200"/>
            <a:ext cx="446647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600200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29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2082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AI 培训 / 黑客松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134" y="202082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10 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615" y="202082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社群、AI 工具链、AIGC 实操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202082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引流转化 → 租客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8678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9631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96312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政策沙龙 / 路演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249631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615" y="2496312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政策解读、专精特新/高企培育、投融资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9631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政策兑现 + 招商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71800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行业对接 / 撮合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04134" y="297180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6615" y="2971800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供应链/IP 出海对接、产业撮合、游学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7180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出海撮合 + 会员粘性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3776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4728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IP / 潮玩活动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44728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4 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6615" y="3447288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首发、主题市集、沉浸式展览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4728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引流 + 商业变现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91325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922776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漫展 / 大型活动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392277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6615" y="3922776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千人级漫展（门票+赞助）、峰会借势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92277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声量 + 经营性收入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887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98264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9826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领事专题 / 出海活动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4134" y="439826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6615" y="439826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国家会客厅领事专题、出海推介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9826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高端背书 + 出海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6422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1600200"/>
            <a:ext cx="31750" cy="327355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＊对标魔术空间约 110 场/年：活动场次越多，招商与载体 KPI 越有利；30 场为满足各项要求的基线。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三年平均 85%（80% / 85% / 95%）去化目标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27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三年运营节奏 · 去化与品牌双线推进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28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E9C27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B7B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去化 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去化 85%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重点客户补位/专精特新·高企培育/企业服务收费/漫展与沙龙常态化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去化 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区级示范点/载体资质/补贴反哺/出海撮合放量/协同周边≤2项目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五类收费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29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合作模式与原则 · 对赌运营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30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9C27C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B7B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C77DFF"/>
                </a:solidFill>
                <a:latin typeface="Microsoft YaHei"/>
              </a:rPr>
              <a:t>对赌运营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收基础运营费并对赌去化目标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人员配置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6D6B6"/>
                </a:solidFill>
                <a:latin typeface="Microsoft YaHei"/>
              </a:rPr>
              <a:t>2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含杨浦科技企业服务中心挂牌服务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风险收益匹配——基础运营费保障 + 增量分成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招商资源共享——双方共同推动企业导入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政策服务赋能——政策既是招商工具也是盈利工具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阶段化对赌——按三年平均 85%（80/85/95）去化考核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合作报价总表 · 五类收费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31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8078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5100" y="1572768"/>
            <a:ext cx="478551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612" y="1572768"/>
            <a:ext cx="12761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6748" y="1572768"/>
            <a:ext cx="276496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基础运营费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5100" y="19933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96 万/年（8 万/月）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612" y="19933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合作方按月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6748" y="19933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 2 人在地团队，支持对赌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410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50592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505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对赌去化目标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5100" y="24505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三年平均 85%（或 首年 80%/次年 85%/三年 95%）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612" y="24505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6748" y="24505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达标机制，挂钩基础运营费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8982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077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5100" y="29077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成交后 1 个月租金（首年不重复）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612" y="29077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6748" y="29077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按进价/净值计（市场为 2–3 月）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355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364992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3649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挂牌费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5100" y="33649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0612" y="33649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6748" y="33649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126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221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活动执行费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85100" y="38221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612" y="38221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6748" y="38221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含策划执行、导师及物料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269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79392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2793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媒体流量费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85100" y="42793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612" y="42793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6748" y="42793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官媒背书 5 万 + 自媒体/投流 5 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7270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7365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85100" y="47365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工商/政策/知产/财税法务/融资/出海撮合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0612" y="47365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6748" y="47365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1842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193792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1937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5100" y="51937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612" y="51937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46748" y="51937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40782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32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8B7BFF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58008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203" y="2286000"/>
            <a:ext cx="335767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官媒背书 5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203" y="2670048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党媒/央媒/上海主流媒体宣发，项目背书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1360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145536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45536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自媒体+投流 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0203" y="3145536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小红书投流 + 账号代运营 + 短视频/直播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61149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621024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注册自有账号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0203" y="3621024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园区/IP 官方号，沉淀私域流量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08698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4096512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96512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活动协同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203" y="4096512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活动招募与内容基于活动产出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5624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2286000"/>
            <a:ext cx="31750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媒体合作报价 · 完整生态传播包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33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7635240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27632"/>
            <a:ext cx="3206800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4040" y="1627632"/>
            <a:ext cx="9925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6621" y="1627632"/>
            <a:ext cx="343585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原创内容生产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4040" y="2066544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621" y="2066544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结合品牌定位，品牌宣传稿 + 营销活动稿原创采写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3947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33472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33472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中央级/全国性/上海主流媒体宣发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4040" y="2633472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10 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6621" y="2633472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央视/人民网/新华网/第一财经/澎湃/界面等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90875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200400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全国社交平台流量投放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4040" y="3200400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6621" y="3200400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抖音 / 今日头条信息流，投放上海（不含短视频拍摄制作）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57803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767328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67328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营销策划与舆情管理咨询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040" y="3767328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≤2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6621" y="3767328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营销策划咨询 + 媒体舆情协调处理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324731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1627632"/>
            <a:ext cx="31750" cy="27066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54880"/>
            <a:ext cx="7635240" cy="12344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折后总价　</a:t>
            </a:r>
            <a:r>
              <a:rPr sz="1400" b="1">
                <a:solidFill>
                  <a:srgbClr val="E9C27C"/>
                </a:solidFill>
                <a:latin typeface="Microsoft YaHei"/>
              </a:rPr>
              <a:t>5 万元</a:t>
            </a:r>
            <a:r>
              <a:rPr sz="1400" b="1">
                <a:solidFill>
                  <a:srgbClr val="F5F1FF"/>
                </a:solidFill>
                <a:latin typeface="Microsoft YaHei"/>
              </a:rPr>
              <a:t>（官媒背书包，曝光 ≥ 150 万；为 10 万/年媒体预算之一）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4068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交付：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合作结束提供完整投放报告（发布链接证明 + 曝光量证明 + 投放分析）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1627632"/>
            <a:ext cx="2798064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13648" y="1627632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24544" y="1810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服务周期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4544" y="2231136"/>
            <a:ext cx="2249424" cy="1435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自签约起至 2026.12.31；服务期满可续，乙方享优先续约权。合作内容可按宣传需要调整。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3913632"/>
            <a:ext cx="2798064" cy="207568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3913632"/>
            <a:ext cx="64008" cy="207568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24544" y="4096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传播策略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4480560"/>
            <a:ext cx="2249424" cy="14173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主流媒体引领，权威发声定调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抖音 + 头条：广度覆盖 + 深度触达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信息流精准算法，锁定目标人群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34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9C27C"/>
                </a:solidFill>
                <a:latin typeface="Microsoft YaHei"/>
              </a:rPr>
              <a:t>96 万/年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基础运营费（8 万/月）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B7BFF"/>
                </a:solidFill>
                <a:latin typeface="Microsoft YaHei"/>
              </a:rPr>
              <a:t>+ 招商佣金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 月租金 · 成交计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C77D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6D6B6"/>
                </a:solidFill>
                <a:latin typeface="Microsoft YaHei"/>
              </a:rPr>
              <a:t>+ 10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媒体流量费（含投流）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66329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23413" y="3886200"/>
            <a:ext cx="322874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23413" y="42885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我方固定服务包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3413" y="47457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136 万/年（96+30+10）+ 佣金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列支来源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23413" y="52029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利润/合作方运营费，非纯增量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去化率按 80→85→95%（三年均 85%）逐年抬升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政策/补贴回流企业与平台，企业质量更高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 + 联合公司形成第二增长曲线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比照元谷「花一份钱赚四份钱」逻辑，账面可算正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GLOBAL &amp; CONSUL SALON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出海撮合与国际会客厅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国家会客厅 · 领事资源 · 出海撮合业务闭环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35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NATIONAL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国际会议厅 · 「国家会客厅」（旗舰载体）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36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72768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载体定位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联合国际领事资源合作方（驻沪数十国总领事网络与领团背书），依托上海核心区地标高层空间，设「国家会客厅」——外事接待 · 文化展示 · 招商对接 · 企业服务四位一体。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06040"/>
            <a:ext cx="64008" cy="30632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三方协同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复旦政策研究中心：智库背书 / 课题 / 培训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杨浦科企联：企业会员 / 获客 / 招商落地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领事资源合作方：领事网络 / 空间 / 活动落地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06040"/>
            <a:ext cx="64008" cy="3063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六大产品线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国家会客厅（旗舰，冠名 + 会籍）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领事专题活动（小 / 中 / 大三档）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高端商务出海深度游 · 企业出海对接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会员会籍 · 文化传播 / 智库 / 培训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06040"/>
            <a:ext cx="64008" cy="3063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收入来源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国家冠名 80–300 万 / 联合冠名 30–80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企业常驻会籍 10–30 万 / 单场地 + 领事出席 3–10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园区·政府招商包 30–100 万 / 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出海：单国服务包 20–50 万 / 落地佣金 1–5%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＊为商务保密，本页对合作方名称作模糊化处理；具体主体、空间与权益以正式协议为准。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出海撮合业务 · 合作模式与闭环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37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6002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展厅免租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5F 展厅对优质企业免租，约定租金标准 + 物业费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2" y="1627632"/>
            <a:ext cx="64008" cy="16002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13048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订单扣点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出海达成订单后按扣点反哺租金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627632"/>
            <a:ext cx="64008" cy="16002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超额分成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超出租金部分进入合资公司收益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7384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51976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27632"/>
            <a:ext cx="64008" cy="16002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合资分配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运营平台方与合作方按约定分配（平台方约 30%）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4290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收入模式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出海撮合平台利润：单项目 1–30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落地成功佣金：项目额 1%–3%（按行业浮动）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展厅订单扣点反哺租金 + 超额进合资公司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产业撮合会员体系：年度顾问 / 游学 / 高级专家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国家会客厅：冠名 / 会籍 / 园区政府招商包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34290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落地要点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行业聚焦：供应链（玩具/毛绒/潮玩 OEM→品牌）+ 内容（AI 短剧/IP 授权）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对接层级：连领事 → 对接所在国商务部/部长 → 洽谈落地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团队：初期各部门抽调兼职（1 人起），成熟设全职（约 3 人），单独成立公司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沪穗联动：与广州自贸港/电商出海项目协同，两地共享资源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FULL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出海全链条 · 流程与服务（运营框架）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38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集聚入驻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3F 孵化办公
5F 展贸集群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9464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9464" y="160020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内容与产品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AIGC/AI 短剧制作
IP 授权 · 选品打样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160020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海外通路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TikTok/短剧出海
跨境电商 · 展销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3912" y="160020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订单撮合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5F 展厅接单
领事/商务对接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600200"/>
            <a:ext cx="64008" cy="18288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履约交付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报关物流 · 结汇
财税合规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3952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增长复购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品牌沉淀 · 复投
反哺租金/合资收益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3657600"/>
            <a:ext cx="64008" cy="2148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内容出海服务链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AI 短剧：剧本→AIGC 制作→翻译配音→TikTok/海外短剧平台分发→广告/付费分成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数字 IP：国漫 IP 海外独家授权 → 海外手办/玩具开发 → 跨境渠道销售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智能营销：海外社媒代运营 / 达人分发 / 信息流投放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0488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0488" y="3657600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货品出海服务链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供应链：玩具/毛绒/潮玩 OEM → 设计赋能 → 品牌化 → 海外订单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通路：跨境电商（亚马逊/TikTok Shop）+ 海外展销 + 自贸港出口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配套：报关物流 · 出口退税 · 结汇 · 财税法务（联合公司承接）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＊全链条服务由运营平台 + 联合公司 + 出海合作资源共同交付；收益按撮合佣金/分成计入合资公司。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CONSULATE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领事馆路径 · 产业集聚 → 海外订单达成逻辑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39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产业集聚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各类产业企业集聚平台：
供应链 / IP 内容 / AI 应用
形成可展示的产品池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16002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4553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需求画像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按国别梳理供需清单：
企业出海意向 × 国别
市场准入与政策研判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74920" y="1600200"/>
            <a:ext cx="64008" cy="23774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领事撮合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国家会客厅 / 领事专题活动：
连领事 → 对接所在国
商务部 / 部长级洽谈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317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3760" y="1600200"/>
            <a:ext cx="64008" cy="237744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321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Arial"/>
              </a:rP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商务对接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国别推介会 / 买家团来访 /
出海考察团（B2B 配对）
展厅选品 · 样品确认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7260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1600200"/>
            <a:ext cx="64008" cy="23774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9205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Arial"/>
              </a:rP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205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订单落地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205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签约 → 履约交付 → 结算
订单扣点反哺租金
超额进合资公司分配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06240"/>
            <a:ext cx="10634472" cy="16916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31596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双向撮合方法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「走出去」与「引进来」同一套领事通路，双向取酬。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709160"/>
            <a:ext cx="512064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走出去：企业产品池 → 国别推介 → 海外买家 → 订单出口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引进来：领事引荐海外品牌/买家 → 5F 展厅落地 → 采购中国供应链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709160"/>
            <a:ext cx="502920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高频活动养通路：领事午餐会/国别论坛/买家团（纳入年度 30 场）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取酬：撮合佣金 1%–3% + 单国服务包 + 会籍 + 订单扣点反哺租金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收入结构（3F + 5F 整体）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40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收入逻辑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园区空间盘（租金/物业）＝对赌基础与出海反哺来源；运营平台收入＝固定服务 + 浮动佣金/分成 + 经营性 + 补贴。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432304"/>
            <a:ext cx="5230368" cy="33832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432304"/>
            <a:ext cx="64008" cy="33832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① 园区空间盘（甲方口径 · 对赌基础）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017520"/>
            <a:ext cx="227136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科目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3201" y="3017520"/>
            <a:ext cx="266639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4015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3F 办公租金 2850㎡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3201" y="34015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400 万（85% 去化 · ~4.5 元/㎡/天）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587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5F 展贸租金 + 物业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3201" y="38587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300 万（部分免租 · 订单扣点反哺）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3159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6600㎡ 物业费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3201" y="43159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200 万（1.0 元/㎡/天 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7731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空间盘合计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3201" y="47731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900 万/年（满租稳定期）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432304"/>
            <a:ext cx="5230368" cy="33832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432304"/>
            <a:ext cx="64008" cy="33832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7376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② 运营平台收入（乙方口径）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017520"/>
            <a:ext cx="1975104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收入类别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017520"/>
            <a:ext cx="296265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4015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固定服务费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4015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146 万（运营 96 + 活动 30 + 媒体 10 + 挂牌）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587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招商佣金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38587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 月租金/成交（约 30–50 万）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3159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增值 + 出海分成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43159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150–450 万（联合公司）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7731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经营性 + 补贴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47731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50–100 万（门票/培训/空间 + 载体奖励）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＊示意测算，用于沟通商业空间；租金/去化/分成以物业条件、签约与执行节奏为准。运营平台稳定期年收入区间约 380–740 万。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成本结构与盈亏测算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41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5230368" cy="3246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32461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682496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成本结构（运营平台 · 年化）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2139696"/>
            <a:ext cx="4937760" cy="3657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139696"/>
            <a:ext cx="3061411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成本科目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3243" y="2139696"/>
            <a:ext cx="1876348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249593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50545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团队人力（在地 2 + 出海 1–3 + 兼职）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250545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100–180 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289826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2907792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2907792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活动执行（约 30 场）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3243" y="2907792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" y="330060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310128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媒体 + 网络投流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3243" y="3310128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10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" y="370293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2" y="3712464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3712464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运营杂费 / 差旅 / 办公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3243" y="3712464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20–40 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" y="41052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4114800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硬件装修摊销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3243" y="4114800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甲方为主，乙方轻资产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" y="45076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2" y="4517136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51713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成本合计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3243" y="451713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160–260 万/年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" y="490994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" y="2139696"/>
            <a:ext cx="31750" cy="27797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81344" y="155448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554480"/>
            <a:ext cx="64008" cy="713232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155448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Microsoft YaHei"/>
              </a:rPr>
              <a:t>保守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155448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~380 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155448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~185 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155448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净 +195 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237744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1344" y="2377440"/>
            <a:ext cx="64008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237744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中性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237744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~520 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237744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~220 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237744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净 +300 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1344" y="320040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1344" y="3200400"/>
            <a:ext cx="64008" cy="713232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9088" y="320040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Microsoft YaHei"/>
              </a:rPr>
              <a:t>乐观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320040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~740 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320040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~260 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320040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Microsoft YaHei"/>
              </a:rPr>
              <a:t>净 +480 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盈亏与现金流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基础运营费 96 万/年为保底，覆盖基本盘；三情景净收益均为正，出海撮合为最大增长弹性。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5486400"/>
            <a:ext cx="10058400" cy="45720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2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轻资产：装修硬件以甲方投入为主，乙方前期投入低、回正快；补贴与增值/出海形成第二增长曲线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6053328"/>
            <a:ext cx="10607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＊三情景为示意测算区间，实际以签约、去化与出海落地为准。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42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43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44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45</a:t>
            </a:r>
            <a:r>
              <a:rPr sz="1050" b="0">
                <a:solidFill>
                  <a:srgbClr val="9486C4"/>
                </a:solidFill>
                <a:latin typeface="Arial"/>
              </a:rPr>
              <a:t> / 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Arial"/>
              </a:rPr>
              <a:t>Q1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对赌运营：基础运营费 96 万/年 + 佣金 + 增值分成，对赌三年均 85%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B7BFF"/>
                </a:solidFill>
                <a:latin typeface="Arial"/>
              </a:rPr>
              <a:t>Q2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基础 96 万/年 + 活动 30 万 + 媒体 10 万 + 挂牌（3 万/个）+ 1 月佣金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C77DFF"/>
                </a:solidFill>
                <a:latin typeface="Arial"/>
              </a:rPr>
              <a:t>Q3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30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60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90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先签 6600㎡ 单项目专项（单项目单核算），三年跑通三年均 85% 去化后，协同周边 ≤2 项目并复制模式。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0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9C27C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5F1FF"/>
                </a:solidFill>
                <a:latin typeface="Microsoft YaHei"/>
              </a:rPr>
              <a:t>让上海创智汇成为杨浦五角场
</a:t>
            </a:r>
            <a:r>
              <a:rPr sz="3200" b="1">
                <a:solidFill>
                  <a:srgbClr val="E9C27C"/>
                </a:solidFill>
                <a:latin typeface="Microsoft YaHei"/>
              </a:rPr>
              <a:t>AI + 数字内容</a:t>
            </a:r>
            <a:r>
              <a:rPr sz="3200" b="1">
                <a:solidFill>
                  <a:srgbClr val="F5F1FF"/>
                </a:solidFill>
                <a:latin typeface="Microsoft YaHei"/>
              </a:rPr>
              <a:t>的无界共创港与可复制样板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谈判集中汇报 v3.0</a:t>
            </a:r>
            <a:r>
              <a:rPr sz="1200" b="0">
                <a:solidFill>
                  <a:srgbClr val="9486C4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