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1828800"/>
            <a:ext cx="6858000" cy="6858000"/>
          </a:xfrm>
          <a:prstGeom prst="ellipse">
            <a:avLst/>
          </a:prstGeom>
          <a:gradFill>
            <a:gsLst>
              <a:gs pos="0">
                <a:srgbClr val="5B8CFF">
                  <a:alpha val="22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2926080"/>
            <a:ext cx="5029200" cy="5029200"/>
          </a:xfrm>
          <a:prstGeom prst="ellipse">
            <a:avLst/>
          </a:prstGeom>
          <a:gradFill>
            <a:gsLst>
              <a:gs pos="0">
                <a:srgbClr val="8A6CFF">
                  <a:alpha val="18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6B86A"/>
              </a:gs>
              <a:gs pos="100000">
                <a:srgbClr val="8A6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05156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300">
                <a:solidFill>
                  <a:srgbClr val="E6B86A"/>
                </a:solidFill>
                <a:latin typeface="Arial"/>
              </a:rPr>
              <a:t>CHUANGZHIHUI  ·  WUJIAOCHANG URBAN RENEWAL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72768"/>
            <a:ext cx="822960" cy="3175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1042416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F3F6FF"/>
                </a:solidFill>
                <a:latin typeface="Microsoft YaHei"/>
              </a:rPr>
              <a:t>创智汇 </a:t>
            </a:r>
            <a:r>
              <a:rPr sz="4000" b="1">
                <a:solidFill>
                  <a:srgbClr val="E6B86A"/>
                </a:solidFill>
                <a:latin typeface="Microsoft YaHei"/>
              </a:rPr>
              <a:t>6600㎡</a:t>
            </a:r>
            <a:r>
              <a:rPr sz="4000" b="1">
                <a:solidFill>
                  <a:srgbClr val="F3F6FF"/>
                </a:solidFill>
                <a:latin typeface="Microsoft YaHei"/>
              </a:rPr>
              <a:t>
AI + IP 产业创新中心 · 招商运营合作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2044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spc="400">
                <a:solidFill>
                  <a:srgbClr val="9AA8CC"/>
                </a:solidFill>
                <a:latin typeface="Microsoft YaHei"/>
              </a:rPr>
              <a:t>谈 判 集 中 汇 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14800"/>
            <a:ext cx="104241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50000"/>
              </a:lnSpc>
            </a:pPr>
            <a:r>
              <a:rPr sz="1550" b="0">
                <a:solidFill>
                  <a:srgbClr val="9AA8CC"/>
                </a:solidFill>
                <a:latin typeface="Microsoft YaHei"/>
              </a:rPr>
              <a:t>五角场片区城市更新 · 创智汇（一期）OPC + AI + IP 创新中心
</a:t>
            </a:r>
            <a:r>
              <a:rPr sz="1550" b="0">
                <a:solidFill>
                  <a:srgbClr val="9AA8CC"/>
                </a:solidFill>
                <a:latin typeface="Microsoft YaHei"/>
              </a:rPr>
              <a:t>3 楼 孵化器 + 办公 ≈ </a:t>
            </a:r>
            <a:r>
              <a:rPr sz="1550" b="1">
                <a:solidFill>
                  <a:srgbClr val="E6B86A"/>
                </a:solidFill>
                <a:latin typeface="Microsoft YaHei"/>
              </a:rPr>
              <a:t>2850㎡</a:t>
            </a:r>
            <a:r>
              <a:rPr sz="1550" b="0">
                <a:solidFill>
                  <a:srgbClr val="9AA8CC"/>
                </a:solidFill>
                <a:latin typeface="Microsoft YaHei"/>
              </a:rPr>
              <a:t>      5 楼 展厅 + 贸易 ≈ </a:t>
            </a:r>
            <a:r>
              <a:rPr sz="1550" b="1">
                <a:solidFill>
                  <a:srgbClr val="E6B86A"/>
                </a:solidFill>
                <a:latin typeface="Microsoft YaHei"/>
              </a:rPr>
              <a:t>3670㎡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257800"/>
            <a:ext cx="2852928" cy="475488"/>
          </a:xfrm>
          <a:prstGeom prst="roundRect">
            <a:avLst/>
          </a:prstGeom>
          <a:noFill/>
          <a:ln w="15875">
            <a:solidFill>
              <a:srgbClr val="2C3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257800"/>
            <a:ext cx="2852928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3F6FF"/>
                </a:solidFill>
                <a:latin typeface="Microsoft YaHei"/>
              </a:rPr>
              <a:t>上海 · 杨浦 · 五角场 · 创智天地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13048" y="5257800"/>
            <a:ext cx="2112264" cy="475488"/>
          </a:xfrm>
          <a:prstGeom prst="roundRect">
            <a:avLst/>
          </a:prstGeom>
          <a:noFill/>
          <a:ln w="15875">
            <a:solidFill>
              <a:srgbClr val="2C3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13048" y="5257800"/>
            <a:ext cx="2112264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3F6FF"/>
                </a:solidFill>
                <a:latin typeface="Microsoft YaHei"/>
              </a:rPr>
              <a:t>环同济经济圈 · 超级链接器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5257800"/>
            <a:ext cx="3223260" cy="475488"/>
          </a:xfrm>
          <a:prstGeom prst="roundRect">
            <a:avLst/>
          </a:prstGeom>
          <a:noFill/>
          <a:ln w="15875">
            <a:solidFill>
              <a:srgbClr val="2C3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08192" y="5257800"/>
            <a:ext cx="3223260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3F6FF"/>
                </a:solidFill>
                <a:latin typeface="Microsoft YaHei"/>
              </a:rPr>
              <a:t>IP 为内容 · AI 为工具 · 空间为载体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14332" y="5257800"/>
            <a:ext cx="2235708" cy="475488"/>
          </a:xfrm>
          <a:prstGeom prst="roundRect">
            <a:avLst/>
          </a:prstGeom>
          <a:noFill/>
          <a:ln w="15875">
            <a:solidFill>
              <a:srgbClr val="2C3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14332" y="5257800"/>
            <a:ext cx="2235708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3F6FF"/>
                </a:solidFill>
                <a:latin typeface="Microsoft YaHei"/>
              </a:rPr>
              <a:t>参照「森马 × 元谷」打法编制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6080760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9963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6B86A"/>
                </a:solidFill>
                <a:latin typeface="Microsoft YaHei"/>
              </a:rPr>
              <a:t>v1.0 谈判稿</a:t>
            </a:r>
            <a:r>
              <a:rPr sz="1100" b="0">
                <a:solidFill>
                  <a:srgbClr val="6E7CA6"/>
                </a:solidFill>
                <a:latin typeface="Microsoft YaHei"/>
              </a:rPr>
              <a:t>    本汇报仅用于商务谈判沟通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60120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3F6FF"/>
                </a:solidFill>
                <a:latin typeface="Microsoft YaHei"/>
              </a:rPr>
              <a:t>汇报议程 · 七大板块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02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2542032" cy="1993392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83080"/>
            <a:ext cx="64008" cy="1993392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2057400"/>
            <a:ext cx="1828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5B8CFF"/>
                </a:solidFill>
                <a:latin typeface="Arial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862072"/>
            <a:ext cx="20848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关键信息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246120"/>
            <a:ext cx="208483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材料浓缩为事实底盘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144" y="1783080"/>
            <a:ext cx="2542032" cy="1993392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38144" y="1783080"/>
            <a:ext cx="64008" cy="1993392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0" y="2057400"/>
            <a:ext cx="1828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6B86A"/>
                </a:solidFill>
                <a:latin typeface="Arial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2862072"/>
            <a:ext cx="20848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40" y="3246120"/>
            <a:ext cx="208483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定位 / 双重身份 / 谈判要点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9048" y="1783080"/>
            <a:ext cx="2542032" cy="1993392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9048" y="1783080"/>
            <a:ext cx="64008" cy="1993392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9944" y="2057400"/>
            <a:ext cx="1828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5B8CFF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862072"/>
            <a:ext cx="20848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我们带来什么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246120"/>
            <a:ext cx="208483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六大资源资产化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59952" y="1783080"/>
            <a:ext cx="2542032" cy="1993392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59952" y="1783080"/>
            <a:ext cx="64008" cy="1993392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2057400"/>
            <a:ext cx="1828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6B86A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0848" y="2862072"/>
            <a:ext cx="20848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招商方案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70848" y="3246120"/>
            <a:ext cx="208483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IP+AI 双轨 / 楼层 / 漏斗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959352"/>
            <a:ext cx="2542032" cy="1993392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959352"/>
            <a:ext cx="64008" cy="1993392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8136" y="4233672"/>
            <a:ext cx="1828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5B8CFF"/>
                </a:solidFill>
                <a:latin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" y="5038344"/>
            <a:ext cx="20848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" y="5422392"/>
            <a:ext cx="208483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启动 - 导入 - 成型 - 提升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38144" y="3959352"/>
            <a:ext cx="2542032" cy="1993392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38144" y="3959352"/>
            <a:ext cx="64008" cy="1993392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49040" y="4233672"/>
            <a:ext cx="1828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6B86A"/>
                </a:solidFill>
                <a:latin typeface="Arial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40" y="5038344"/>
            <a:ext cx="20848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品牌与活动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40" y="5422392"/>
            <a:ext cx="208483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挂牌 / 沙龙 / 漫展 / 会客厅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99048" y="3959352"/>
            <a:ext cx="2542032" cy="1993392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99048" y="3959352"/>
            <a:ext cx="64008" cy="1993392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9944" y="4233672"/>
            <a:ext cx="1828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5B8CFF"/>
                </a:solidFill>
                <a:latin typeface="Arial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9944" y="5038344"/>
            <a:ext cx="20848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条款与收费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9944" y="5422392"/>
            <a:ext cx="208483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两模式 + 五类收费 + 测算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59952" y="3959352"/>
            <a:ext cx="2542032" cy="1993392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759952" y="3959352"/>
            <a:ext cx="64008" cy="1993392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70848" y="4233672"/>
            <a:ext cx="1828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6B86A"/>
                </a:solidFill>
                <a:latin typeface="Arial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70848" y="5038344"/>
            <a:ext cx="20848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投决与下一步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70848" y="5422392"/>
            <a:ext cx="208483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三问决策 + 30/60/90 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FACT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60120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3F6FF"/>
                </a:solidFill>
                <a:latin typeface="Microsoft YaHei"/>
              </a:rPr>
              <a:t>关键信息提取 · 项目基本盘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03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532120" cy="27889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1832" y="1810512"/>
            <a:ext cx="521208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1810512"/>
            <a:ext cx="1563624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项目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1810512"/>
            <a:ext cx="364845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内容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" y="2203323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2212848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2212848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9AA8CC"/>
                </a:solidFill>
                <a:latin typeface="Microsoft YaHei"/>
              </a:rPr>
              <a:t>上海杨浦五角场 · 创智汇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" y="2623947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2" y="2633472"/>
            <a:ext cx="521208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2633472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合作面积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5456" y="2633472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9AA8CC"/>
                </a:solidFill>
                <a:latin typeface="Microsoft YaHei"/>
              </a:rPr>
              <a:t>约 6600㎡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044571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3054096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3 楼 ≈2850㎡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3054096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9AA8CC"/>
                </a:solidFill>
                <a:latin typeface="Microsoft YaHei"/>
              </a:rPr>
              <a:t>孵化器 + 办公（AI / OPC 主轴）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" y="3465195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2" y="3474720"/>
            <a:ext cx="521208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474720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5 楼 ≈3670㎡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05456" y="3474720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9AA8CC"/>
                </a:solidFill>
                <a:latin typeface="Microsoft YaHei"/>
              </a:rPr>
              <a:t>展厅 + 贸易（IP 内容主轴）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3885819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3895344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属性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05456" y="3895344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9AA8CC"/>
                </a:solidFill>
                <a:latin typeface="Microsoft YaHei"/>
              </a:rPr>
              <a:t>产业空间 + 科创合作 + 招商运营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" y="4306443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1832" y="1810512"/>
            <a:ext cx="31750" cy="2505456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37960" y="1627632"/>
            <a:ext cx="4873752" cy="27889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1627632"/>
            <a:ext cx="64008" cy="278892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6" y="1810512"/>
            <a:ext cx="4379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区位与资源优势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8856" y="2194560"/>
            <a:ext cx="4325112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环同济：复旦 / 同济 / 财大 / 上理工高校群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TOD + 五角场商圈成熟，通勤配套俱佳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杨浦三区联动 + 五角场五区联动创新高地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离我方极近（20–30min）→ 轻驻场 · 高频次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617720"/>
            <a:ext cx="3401568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4617720"/>
            <a:ext cx="64008" cy="157276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8136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定位主线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超级链接器：IP 为内容、AI 为工具、空间为载体；产业筋骨 · 文化灵魂 · 商业血脉。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70832" y="4617720"/>
            <a:ext cx="3401568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70832" y="4617720"/>
            <a:ext cx="64008" cy="1572768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1728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三大集群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1728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动漫 IP  ·  科技应用  ·  交互设计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0144" y="4617720"/>
            <a:ext cx="3401568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10144" y="4617720"/>
            <a:ext cx="64008" cy="1572768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可链接资源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北大上海校友会、同济设计创新院、科企联、IP/玩具/广告协会、混知等 IP、聚成智能、中建四局。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PROJECT &amp; CONSENSUS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86868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3F6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8229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不做二房东，做产业空间合作运营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04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PROJECT &amp; CONSENSUS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60120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3F6FF"/>
                </a:solidFill>
                <a:latin typeface="Microsoft YaHei"/>
              </a:rPr>
              <a:t>双重身份 + 三件谈判要点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05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3716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身份一 · 产业孵化核心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五角场城市更新的孵化核心与先行示范区——空间改造 + 产业升级 + 商业激活的完整落地路径。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45920"/>
            <a:ext cx="5230368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645920"/>
            <a:ext cx="64008" cy="137160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身份二 · 超级链接器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环同济经济圈资源链接平台：IP 内容 × AI 工具 × 空间载体，闭环生长。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2461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6B86A"/>
                </a:solidFill>
                <a:latin typeface="Microsoft YaHei"/>
              </a:rPr>
              <a:t>本次谈判要点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03320"/>
            <a:ext cx="3401568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703320"/>
            <a:ext cx="64008" cy="13716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88136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5B8CFF"/>
              </a:gs>
              <a:gs pos="100000">
                <a:srgbClr val="8A6C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A0E1A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合作模式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轻运营（不对赌）还是
对赌运营（对赌招商）？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9976" y="3703320"/>
            <a:ext cx="3401568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9976" y="3703320"/>
            <a:ext cx="64008" cy="13716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690872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5B8CFF"/>
              </a:gs>
              <a:gs pos="100000">
                <a:srgbClr val="8A6C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A0E1A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4376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商业条款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0872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月费 + 招商佣金 + 挂牌
+ 活动 + 媒体 的组合与金额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82712" y="3703320"/>
            <a:ext cx="3401568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82712" y="3703320"/>
            <a:ext cx="64008" cy="13716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93608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5B8CFF"/>
              </a:gs>
              <a:gs pos="100000">
                <a:srgbClr val="8A6C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A0E1A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启动时间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与装修 / 设计交付同步，
尽快锁定并启动招商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285232"/>
            <a:ext cx="10634472" cy="914400"/>
          </a:xfrm>
          <a:prstGeom prst="roundRect">
            <a:avLst/>
          </a:prstGeom>
          <a:ln w="12700">
            <a:solidFill>
              <a:srgbClr val="E6B86A"/>
            </a:solidFill>
          </a:ln>
          <a:effectLst/>
          <a:gradFill>
            <a:gsLst>
              <a:gs pos="0">
                <a:srgbClr val="1C2748"/>
              </a:gs>
              <a:gs pos="100000">
                <a:srgbClr val="16203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285232"/>
            <a:ext cx="10149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E6B86A"/>
                </a:solidFill>
                <a:latin typeface="Microsoft YaHei"/>
              </a:rPr>
              <a:t>核心共识　</a:t>
            </a:r>
            <a:r>
              <a:rPr sz="1350" b="0">
                <a:solidFill>
                  <a:srgbClr val="F3F6FF"/>
                </a:solidFill>
                <a:latin typeface="Microsoft YaHei"/>
              </a:rPr>
              <a:t>把 6600㎡ 升级为「产业空间合作运营项目」——我方输出 政策 + 招商 + 产业资源 + 活动 + 媒体 五项能力，按「基础服务费 + 招商佣金 + 增值分成」取酬。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WHAT WE BRING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86868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3F6FF"/>
                </a:solidFill>
                <a:latin typeface="Microsoft YaHei"/>
              </a:rPr>
              <a:t>我们能带来什么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8229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六大稀缺资源，全部可资产化为招商工具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06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WHAT WE BRING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60120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3F6FF"/>
                </a:solidFill>
                <a:latin typeface="Microsoft YaHei"/>
              </a:rPr>
              <a:t>资源即招商 · 六大引擎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07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72768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① 政策抓手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杨浦 AI/大数据补贴存量续享 + 算力补贴最高 50% + 腾讯云 85 折/免 2 月 →「创智汇专有政策包」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1645920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1688" y="1645920"/>
            <a:ext cx="64008" cy="157276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② 高校 / 协会背书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北大上海校友会、同济设计创新院、复旦、科企联、IP/玩具/广告协会 → 挂牌即招商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6136" y="1645920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46136" y="1645920"/>
            <a:ext cx="64008" cy="1572768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③ IP 内容资源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2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混知、观山礼玉等 IP 品牌方 + 汕头玩具/扬州毛绒/东莞潮玩/文创集群 → 5 楼自带内容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401568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401568"/>
            <a:ext cx="64008" cy="1572768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④ AI / OPC 社群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自有 OPC（AI 开放社群）品牌、黑客松、AI 项目库、聚成智能 → 3 楼自带客流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61688" y="3401568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61688" y="3401568"/>
            <a:ext cx="64008" cy="157276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2584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⑤ 活动 / 会客厅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2584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漫展（门票+赞助）、北欧会客厅（出海撮合）、沙龙、峰会借势 → 活动即招商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3401568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3401568"/>
            <a:ext cx="64008" cy="1572768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2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⑥ 资本 / 产业方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江西金控基金、景德镇陶瓷版权交易中心、中建四局工程资源、奇瑞/华为外延 → 链主带动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440680"/>
            <a:ext cx="10634472" cy="6583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C2748"/>
              </a:gs>
              <a:gs pos="100000">
                <a:srgbClr val="16203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440680"/>
            <a:ext cx="10058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AA8CC"/>
                </a:solidFill>
                <a:latin typeface="Microsoft YaHei"/>
              </a:rPr>
              <a:t>普通园区「发广告 · 等上门」；六维齐发 → 客户 </a:t>
            </a:r>
            <a:r>
              <a:rPr sz="1350" b="1">
                <a:solidFill>
                  <a:srgbClr val="E6B86A"/>
                </a:solidFill>
                <a:latin typeface="Microsoft YaHei"/>
              </a:rPr>
              <a:t>「被送进来」而非「被拉进来」。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LEASING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86868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3F6FF"/>
                </a:solidFill>
                <a:latin typeface="Microsoft YaHei"/>
              </a:rPr>
              <a:t>招商方案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8229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IP + AI 双轨 · 楼层产品化 · 务实目标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08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60120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3F6FF"/>
                </a:solidFill>
                <a:latin typeface="Microsoft YaHei"/>
              </a:rPr>
              <a:t>3 楼孵化办公（AI 主轴）+ 5 楼展厅贸易（IP 主轴）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09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230368" cy="443484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443484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5B8CFF"/>
                </a:solidFill>
                <a:latin typeface="Microsoft YaHei"/>
              </a:rPr>
              <a:t>3 楼</a:t>
            </a:r>
            <a:r>
              <a:rPr sz="1600" b="1">
                <a:solidFill>
                  <a:srgbClr val="F3F6FF"/>
                </a:solidFill>
                <a:latin typeface="Microsoft YaHei"/>
              </a:rPr>
              <a:t>　约 2850㎡　孵化 + 办公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产品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9580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面积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841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客户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2678811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标准小单元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9580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80–150㎡×8–12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841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AI 初创/设计/小微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099435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" y="3108960"/>
            <a:ext cx="493776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成长型单元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9580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200–350㎡×3–4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841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AI 应用/研发服务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3520059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OPC 联合办公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9580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工位大区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841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AI 项目/黑客松/孵化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3940683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3950208"/>
            <a:ext cx="493776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直播 / AI 展示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89580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共享 1–2 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841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按次 / 时段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361307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2286000"/>
            <a:ext cx="31750" cy="2084832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627632"/>
            <a:ext cx="5230368" cy="443484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81344" y="1627632"/>
            <a:ext cx="64008" cy="443484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6B86A"/>
                </a:solidFill>
                <a:latin typeface="Microsoft YaHei"/>
              </a:rPr>
              <a:t>5 楼</a:t>
            </a:r>
            <a:r>
              <a:rPr sz="1600" b="1">
                <a:solidFill>
                  <a:srgbClr val="F3F6FF"/>
                </a:solidFill>
                <a:latin typeface="Microsoft YaHei"/>
              </a:rPr>
              <a:t>　约 3670㎡　展厅 + 贸易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73368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产品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2828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面积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81666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内容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73368" y="2678811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综合集群展厅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2828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700–900㎡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81666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50+ IP 轮展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73368" y="3099435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73368" y="3108960"/>
            <a:ext cx="493776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7336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产业集群展位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2828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270–700㎡×4–5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81666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玩具/毛绒/潮玩/文创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73368" y="3520059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7336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IP 展销/跨境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02828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按摊位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81666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IP 零售/跨境展销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73368" y="3940683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368" y="3950208"/>
            <a:ext cx="493776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7336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培训沙龙/仓储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2828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120–650㎡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81666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OPC 培训/活动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73368" y="4361307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73368" y="2286000"/>
            <a:ext cx="31750" cy="2084832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60120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3F6FF"/>
                </a:solidFill>
                <a:latin typeface="Microsoft YaHei"/>
              </a:rPr>
              <a:t>四级招商漏斗 + 务实去化目标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10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L1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牌照锚定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816352"/>
            <a:ext cx="21488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校友会/科企联/IP/玩具协会挂牌前置，客户送进来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5576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65576" y="1691640"/>
            <a:ext cx="64008" cy="18288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6472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L2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政策招商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6472" y="2816352"/>
            <a:ext cx="21488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AI/大数据续享 + 算力补贴 + 腾讯云作「入驻礼包」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691640"/>
            <a:ext cx="64008" cy="18288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L3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社群带流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816352"/>
            <a:ext cx="21488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OPC 社群、黑客松、小红书投流、漫展、沙龙持续导流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2248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42248" y="1691640"/>
            <a:ext cx="64008" cy="18288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4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L4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资源转化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4" y="2816352"/>
            <a:ext cx="21488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高校成果转化、IP 品牌方、链主配套、外贸玩具厂转化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886200"/>
            <a:ext cx="3401568" cy="17830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886200"/>
            <a:ext cx="64008" cy="178308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6424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E6B86A"/>
                </a:solidFill>
                <a:latin typeface="Microsoft YaHei"/>
              </a:rPr>
              <a:t>2000–3000㎡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一年去化达标线（不设过高保底）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79976" y="3886200"/>
            <a:ext cx="3401568" cy="17830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9976" y="3886200"/>
            <a:ext cx="64008" cy="17830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5B8CFF"/>
                </a:solidFill>
                <a:latin typeface="Microsoft YaHei"/>
              </a:rPr>
              <a:t>3300–4300㎡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对赌模式建议锁定对赌面积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82712" y="3886200"/>
            <a:ext cx="3401568" cy="17830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82712" y="3886200"/>
            <a:ext cx="64008" cy="178308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11896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49D0A0"/>
                </a:solidFill>
                <a:latin typeface="Microsoft YaHei"/>
              </a:rPr>
              <a:t>5 类客群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AI / 潮玩玩具文创 IP / 科技中小 /
高校转化 / 生产性服务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MILESTONES &amp; SCHEDULE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86868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3F6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8229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启动 · 导入 · 成型 · 提升 四阶段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11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MILESTONES &amp;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60120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3F6FF"/>
                </a:solidFill>
                <a:latin typeface="Microsoft YaHei"/>
              </a:rPr>
              <a:t>从定位包装到稳定运营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12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874519"/>
            <a:ext cx="38100" cy="384048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5B8CFF"/>
              </a:gs>
              <a:gs pos="100000">
                <a:srgbClr val="E6B86A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1920240"/>
            <a:ext cx="310896" cy="310896"/>
          </a:xfrm>
          <a:prstGeom prst="ellipse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54480" y="1828800"/>
            <a:ext cx="9857232" cy="8686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4480" y="1828800"/>
            <a:ext cx="64008" cy="8686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1828800"/>
            <a:ext cx="15544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5B8CFF"/>
                </a:solidFill>
                <a:latin typeface="Microsoft YaHei"/>
              </a:rPr>
              <a:t>启动期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1828800"/>
            <a:ext cx="12801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0–3 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1828800"/>
            <a:ext cx="228600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3F6FF"/>
                </a:solidFill>
                <a:latin typeface="Microsoft YaHei"/>
              </a:rPr>
              <a:t>定位 + 政策 + 渠道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828800"/>
            <a:ext cx="48463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招商手册、收费标准、政策汇编、企业库、首批挂牌、1–2 家样板</a:t>
            </a:r>
          </a:p>
        </p:txBody>
      </p:sp>
      <p:sp>
        <p:nvSpPr>
          <p:cNvPr id="19" name="Oval 18"/>
          <p:cNvSpPr/>
          <p:nvPr/>
        </p:nvSpPr>
        <p:spPr>
          <a:xfrm>
            <a:off x="969264" y="2898648"/>
            <a:ext cx="310896" cy="310896"/>
          </a:xfrm>
          <a:prstGeom prst="ellipse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54480" y="2807208"/>
            <a:ext cx="9857232" cy="8686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54480" y="2807208"/>
            <a:ext cx="64008" cy="86868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2807208"/>
            <a:ext cx="15544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A6CFF"/>
                </a:solidFill>
                <a:latin typeface="Microsoft YaHei"/>
              </a:rPr>
              <a:t>导入期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807208"/>
            <a:ext cx="12801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3–6 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807208"/>
            <a:ext cx="228600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3F6FF"/>
                </a:solidFill>
                <a:latin typeface="Microsoft YaHei"/>
              </a:rPr>
              <a:t>首批入驻 30–50%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807208"/>
            <a:ext cx="48463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集中招引 AI/IP/潮玩、首批优惠、推介路演、政策诊断</a:t>
            </a:r>
          </a:p>
        </p:txBody>
      </p:sp>
      <p:sp>
        <p:nvSpPr>
          <p:cNvPr id="26" name="Oval 25"/>
          <p:cNvSpPr/>
          <p:nvPr/>
        </p:nvSpPr>
        <p:spPr>
          <a:xfrm>
            <a:off x="969264" y="3877056"/>
            <a:ext cx="310896" cy="310896"/>
          </a:xfrm>
          <a:prstGeom prst="ellipse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554480" y="3785616"/>
            <a:ext cx="9857232" cy="8686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3785616"/>
            <a:ext cx="64008" cy="86868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3785616"/>
            <a:ext cx="15544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9D0A0"/>
                </a:solidFill>
                <a:latin typeface="Microsoft YaHei"/>
              </a:rPr>
              <a:t>成型期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3785616"/>
            <a:ext cx="12801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6–12 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3785616"/>
            <a:ext cx="228600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3F6FF"/>
                </a:solidFill>
                <a:latin typeface="Microsoft YaHei"/>
              </a:rPr>
              <a:t>提升出租率与质量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785616"/>
            <a:ext cx="48463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重点客户补位、专精特新/高企培育、企业服务收费、首场漫展</a:t>
            </a:r>
          </a:p>
        </p:txBody>
      </p:sp>
      <p:sp>
        <p:nvSpPr>
          <p:cNvPr id="33" name="Oval 32"/>
          <p:cNvSpPr/>
          <p:nvPr/>
        </p:nvSpPr>
        <p:spPr>
          <a:xfrm>
            <a:off x="969264" y="4855464"/>
            <a:ext cx="310896" cy="310896"/>
          </a:xfrm>
          <a:prstGeom prst="ellipse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54480" y="4764024"/>
            <a:ext cx="9857232" cy="8686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54480" y="4764024"/>
            <a:ext cx="64008" cy="86868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28800" y="4764024"/>
            <a:ext cx="15544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6B86A"/>
                </a:solidFill>
                <a:latin typeface="Microsoft YaHei"/>
              </a:rPr>
              <a:t>提升期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4764024"/>
            <a:ext cx="12801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12 月+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4764024"/>
            <a:ext cx="228600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3F6FF"/>
                </a:solidFill>
                <a:latin typeface="Microsoft YaHei"/>
              </a:rPr>
              <a:t>稳定收入与品牌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764024"/>
            <a:ext cx="48463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区级示范点、载体资质、活动 IP 化、出海撮合、模式复制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BRAND &amp;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86868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3F6FF"/>
                </a:solidFill>
                <a:latin typeface="Microsoft YaHei"/>
              </a:rPr>
              <a:t>品牌与活动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8229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挂牌 / 沙龙 / 漫展 / 北欧会客厅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13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BRAND &amp; 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60120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3F6FF"/>
                </a:solidFill>
                <a:latin typeface="Microsoft YaHei"/>
              </a:rPr>
              <a:t>活动即招商，品牌即势能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14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56432" cy="20574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20574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挂牌 · 牌照即招商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907792" cy="1344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北大上海校友会（优先）、科企联 / 科技服务中心、IP 协会、中国玩具协会。
总包约 20–50 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1645920"/>
            <a:ext cx="3456432" cy="20574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1688" y="1645920"/>
            <a:ext cx="64008" cy="20574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活动 · 全年节奏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249424"/>
            <a:ext cx="2907792" cy="1344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20–24 场沙龙 / 路演 / 培训 / 发布会。
打包约 30 万（+赞助 / 门票）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1856" y="1645920"/>
            <a:ext cx="3419856" cy="20574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1856" y="1645920"/>
            <a:ext cx="64008" cy="205740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2752" y="1828800"/>
            <a:ext cx="2926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漫展 · 自造流量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249424"/>
            <a:ext cx="2871216" cy="1344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千人级，门票 + 赞助；10–11 月首场，对接 BW 广告商与二次元资源。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931920"/>
            <a:ext cx="10634472" cy="1874519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931920"/>
            <a:ext cx="64008" cy="1874519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49D0A0"/>
                </a:solidFill>
                <a:latin typeface="Microsoft YaHei"/>
              </a:rPr>
              <a:t>北欧会客厅 · 出海撮合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9AA8CC"/>
                </a:solidFill>
                <a:latin typeface="Microsoft YaHei"/>
              </a:rPr>
              <a:t>复用品牌势能做海外 IP / 技术入华与国内 IP 出海撮合台。取酬二选一：
</a:t>
            </a:r>
            <a:r>
              <a:rPr sz="1350" b="1">
                <a:solidFill>
                  <a:srgbClr val="F3F6FF"/>
                </a:solidFill>
                <a:latin typeface="Microsoft YaHei"/>
              </a:rPr>
              <a:t>收租金则不分出海成交；不收租金、企业自费布展，则在撮合成交中取分成。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TERMS &amp; FEES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86868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3F6FF"/>
                </a:solidFill>
                <a:latin typeface="Microsoft YaHei"/>
              </a:rPr>
              <a:t>商业条款与收费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8229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两种模式 · 五类收费 · 测算（核心）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15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TERMS &amp; FEES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60120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3F6FF"/>
                </a:solidFill>
                <a:latin typeface="Microsoft YaHei"/>
              </a:rPr>
              <a:t>先定大方向：轻运营 vs 对赌运营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16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5230368" cy="32004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3200400"/>
          </a:xfrm>
          <a:prstGeom prst="rect">
            <a:avLst/>
          </a:prstGeom>
          <a:solidFill>
            <a:srgbClr val="6E7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874519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6FF"/>
                </a:solidFill>
                <a:latin typeface="Microsoft YaHei"/>
              </a:rPr>
              <a:t>模式 A · 轻运营（不对赌招商）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23160"/>
            <a:ext cx="4846320" cy="228600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350">
                <a:solidFill>
                  <a:srgbClr val="6E7CA6"/>
                </a:solidFill>
                <a:latin typeface="Microsoft YaHei"/>
              </a:rPr>
              <a:t>▪  </a:t>
            </a:r>
            <a:r>
              <a:rPr sz="1350">
                <a:solidFill>
                  <a:srgbClr val="9AA8CC"/>
                </a:solidFill>
                <a:latin typeface="Microsoft YaHei"/>
              </a:rPr>
              <a:t>不驻场、不背去化指标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350">
                <a:solidFill>
                  <a:srgbClr val="6E7CA6"/>
                </a:solidFill>
                <a:latin typeface="Microsoft YaHei"/>
              </a:rPr>
              <a:t>▪  </a:t>
            </a:r>
            <a:r>
              <a:rPr sz="1350">
                <a:solidFill>
                  <a:srgbClr val="9AA8CC"/>
                </a:solidFill>
                <a:latin typeface="Microsoft YaHei"/>
              </a:rPr>
              <a:t>收费：活动费 + 挂牌费 + 媒体策划费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350">
                <a:solidFill>
                  <a:srgbClr val="6E7CA6"/>
                </a:solidFill>
                <a:latin typeface="Microsoft YaHei"/>
              </a:rPr>
              <a:t>▪  </a:t>
            </a:r>
            <a:r>
              <a:rPr sz="1350">
                <a:solidFill>
                  <a:srgbClr val="9AA8CC"/>
                </a:solidFill>
                <a:latin typeface="Microsoft YaHei"/>
              </a:rPr>
              <a:t>适用：对方只要内容 / 活动 / 品牌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91640"/>
            <a:ext cx="5230368" cy="3200400"/>
          </a:xfrm>
          <a:prstGeom prst="roundRect">
            <a:avLst/>
          </a:prstGeom>
          <a:ln w="15875">
            <a:solidFill>
              <a:srgbClr val="E6B86A"/>
            </a:solidFill>
          </a:ln>
          <a:effectLst/>
          <a:gradFill>
            <a:gsLst>
              <a:gs pos="0">
                <a:srgbClr val="23315A"/>
              </a:gs>
              <a:gs pos="100000">
                <a:srgbClr val="1A234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691640"/>
            <a:ext cx="64008" cy="32004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874519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6B86A"/>
                </a:solidFill>
                <a:latin typeface="Microsoft YaHei"/>
              </a:rPr>
              <a:t>模式 B · 对赌运营</a:t>
            </a:r>
            <a:r>
              <a:rPr sz="1600" b="1">
                <a:solidFill>
                  <a:srgbClr val="49D0A0"/>
                </a:solidFill>
                <a:latin typeface="Microsoft YaHei"/>
              </a:rPr>
              <a:t>（推荐）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423160"/>
            <a:ext cx="4846320" cy="228600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3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350">
                <a:solidFill>
                  <a:srgbClr val="9AA8CC"/>
                </a:solidFill>
                <a:latin typeface="Microsoft YaHei"/>
              </a:rPr>
              <a:t>轻驻场（1 人/接待位，离得近、可挂牌办公）+ 背对赌去化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3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350">
                <a:solidFill>
                  <a:srgbClr val="9AA8CC"/>
                </a:solidFill>
                <a:latin typeface="Microsoft YaHei"/>
              </a:rPr>
              <a:t>收费：基础月费 + 招商佣金 + 活动 + 挂牌 + 媒体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3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350">
                <a:solidFill>
                  <a:srgbClr val="9AA8CC"/>
                </a:solidFill>
                <a:latin typeface="Microsoft YaHei"/>
              </a:rPr>
              <a:t>适用：对方要招商结果、愿付运营费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166360"/>
            <a:ext cx="10634472" cy="8229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C2748"/>
              </a:gs>
              <a:gs pos="100000">
                <a:srgbClr val="16203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166360"/>
            <a:ext cx="1005840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6B86A"/>
                </a:solidFill>
                <a:latin typeface="Microsoft YaHei"/>
              </a:rPr>
              <a:t>谈判原则　</a:t>
            </a:r>
            <a:r>
              <a:rPr sz="1350" b="0">
                <a:solidFill>
                  <a:srgbClr val="F3F6FF"/>
                </a:solidFill>
                <a:latin typeface="Microsoft YaHei"/>
              </a:rPr>
              <a:t>先按高位报，再让对方还价；收月费即对赌去化，不收月费则不背指标。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TERMS &amp; FEES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60120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3F6FF"/>
                </a:solidFill>
                <a:latin typeface="Microsoft YaHei"/>
              </a:rPr>
              <a:t>五类收费项 · 收费清单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17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64208"/>
            <a:ext cx="10634472" cy="4572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64208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类别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4134" y="1664208"/>
            <a:ext cx="138248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对象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615" y="1664208"/>
            <a:ext cx="138248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方式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096" y="1664208"/>
            <a:ext cx="574261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建议金额 / 口径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111883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121408"/>
            <a:ext cx="2126894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① 基础运营月费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4134" y="2121408"/>
            <a:ext cx="1382481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合作方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6615" y="2121408"/>
            <a:ext cx="1382481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按月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096" y="2121408"/>
            <a:ext cx="5742614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市场 10–30 万；首报 12 万；对赌版 5–6 万（对赌 3300–4300㎡）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660523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670048"/>
            <a:ext cx="10634472" cy="548640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670048"/>
            <a:ext cx="2126894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② 招商佣金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4134" y="2670048"/>
            <a:ext cx="1382481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合作方/业主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86615" y="2670048"/>
            <a:ext cx="1382481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成交后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096" y="2670048"/>
            <a:ext cx="5742614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市场 2–3 月年租金；我方抽 ≤1 月，只给首月不重复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209163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3218688"/>
            <a:ext cx="2126894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③ 挂牌费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04134" y="3218688"/>
            <a:ext cx="1382481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合作方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6615" y="3218688"/>
            <a:ext cx="1382481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一次性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096" y="3218688"/>
            <a:ext cx="5742614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总包 20–50 万（按数量与影响力分档）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757803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767328"/>
            <a:ext cx="10634472" cy="548640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67328"/>
            <a:ext cx="2126894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④ 活动执行费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04134" y="3767328"/>
            <a:ext cx="1382481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合作方+外部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86615" y="3767328"/>
            <a:ext cx="1382481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按场/打包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096" y="3767328"/>
            <a:ext cx="5742614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20–24 场/年约 30 万 + 赞助 / 门票分成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4306443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315968"/>
            <a:ext cx="2126894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⑤ 媒体流量费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4134" y="4315968"/>
            <a:ext cx="1382481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合作方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86615" y="4315968"/>
            <a:ext cx="1382481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按季/项目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096" y="4315968"/>
            <a:ext cx="5742614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小红书投流、OPC 内容、直播间运营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855083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864608"/>
            <a:ext cx="10634472" cy="548640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864608"/>
            <a:ext cx="2126894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⑥ 企业增值服务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4134" y="4864608"/>
            <a:ext cx="1382481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入驻企业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86615" y="4864608"/>
            <a:ext cx="1382481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按项/成功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096" y="4864608"/>
            <a:ext cx="5742614" cy="54864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工商注册、政策申报、知识产权、财税法务、融资、出海撮合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403723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1664208"/>
            <a:ext cx="31750" cy="374904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TERMS &amp; FEES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60120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3F6FF"/>
                </a:solidFill>
                <a:latin typeface="Microsoft YaHei"/>
              </a:rPr>
              <a:t>打包报价 + 对方视角测算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18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64208"/>
            <a:ext cx="5230368" cy="4114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64208"/>
            <a:ext cx="64008" cy="41148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847088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打包报价示例（谈判锚）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377440"/>
            <a:ext cx="4846320" cy="329184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固定服务包：月费 5 万×12 = 60 万 + 活动 30 万 + 挂牌 20 万 = 约 110 万/年（可砍至 ~100 万）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浮动：招商佣金按去化另计（我方抽 ≤1 月）；驻场 / 媒体 / 出海分成据实另计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政策申报：普通 0.3–2 万/项；高企 / 专精特新 2–8 万/项；补贴类按到账 5%–15% 成功费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64208"/>
            <a:ext cx="5230368" cy="4114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664208"/>
            <a:ext cx="64008" cy="41148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847088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对方视角测算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73368" y="2377440"/>
            <a:ext cx="4937760" cy="4572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2377440"/>
            <a:ext cx="1481328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维度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377440"/>
            <a:ext cx="345643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口径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73368" y="2825115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2834640"/>
            <a:ext cx="148132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5B8CFF"/>
                </a:solidFill>
                <a:latin typeface="Microsoft YaHei"/>
              </a:rPr>
              <a:t>对方空间成本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4696" y="2834640"/>
            <a:ext cx="3456432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≈554 万/年（2.3 元/㎡/天×6600×365）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3368" y="3392043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3368" y="3401568"/>
            <a:ext cx="4937760" cy="566928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368" y="3401568"/>
            <a:ext cx="148132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5B8CFF"/>
                </a:solidFill>
                <a:latin typeface="Microsoft YaHei"/>
              </a:rPr>
              <a:t>我方服务包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54696" y="3401568"/>
            <a:ext cx="3456432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100–120 万/年 + 招商佣金（按去化）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73368" y="3958971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3368" y="3968496"/>
            <a:ext cx="148132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5B8CFF"/>
                </a:solidFill>
                <a:latin typeface="Microsoft YaHei"/>
              </a:rPr>
              <a:t>列支来源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54696" y="3968496"/>
            <a:ext cx="3456432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对方利润 / 中建四局运营费，非纯增量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3368" y="4525899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73368" y="4535424"/>
            <a:ext cx="4937760" cy="566928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3368" y="4535424"/>
            <a:ext cx="148132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5B8CFF"/>
                </a:solidFill>
                <a:latin typeface="Microsoft YaHei"/>
              </a:rPr>
              <a:t>对方所得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54696" y="4535424"/>
            <a:ext cx="3456432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去化↑ · 企业质量↑ · 政策承接 · 品牌示范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73368" y="5092827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73368" y="2377440"/>
            <a:ext cx="31750" cy="2724912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DECISION &amp; NEXT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86868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3F6FF"/>
                </a:solidFill>
                <a:latin typeface="Microsoft YaHei"/>
              </a:rPr>
              <a:t>投决建议与下一步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8229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三问决策 · 30 / 60 / 90 天启动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19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DECISION &amp;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60120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3F6FF"/>
                </a:solidFill>
                <a:latin typeface="Microsoft YaHei"/>
              </a:rPr>
              <a:t>三问决策 + 启动路线图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00800"/>
            <a:ext cx="13075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20</a:t>
            </a:r>
            <a:r>
              <a:rPr sz="1050" b="0">
                <a:solidFill>
                  <a:srgbClr val="6E7CA6"/>
                </a:solidFill>
                <a:latin typeface="Arial"/>
              </a:rPr>
              <a:t>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5448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6B86A"/>
                </a:solidFill>
                <a:latin typeface="Arial"/>
              </a:rPr>
              <a:t>Q1　</a:t>
            </a:r>
            <a:r>
              <a:rPr sz="1550" b="1">
                <a:solidFill>
                  <a:srgbClr val="F3F6FF"/>
                </a:solidFill>
                <a:latin typeface="Microsoft YaHei"/>
              </a:rPr>
              <a:t>合作模式？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86000"/>
            <a:ext cx="29260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建议 模式 B 轻量版：离得近 → 轻驻场 + 对赌去化，盈利性最佳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15544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5B8CFF"/>
                </a:solidFill>
                <a:latin typeface="Arial"/>
              </a:rPr>
              <a:t>Q2　</a:t>
            </a:r>
            <a:r>
              <a:rPr sz="1550" b="1">
                <a:solidFill>
                  <a:srgbClr val="F3F6FF"/>
                </a:solidFill>
                <a:latin typeface="Microsoft YaHei"/>
              </a:rPr>
              <a:t>月费档位？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86000"/>
            <a:ext cx="29260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首报 12 万/月（市场 10–30 万），对赌版可落 5–6 万；打包年费锚 100–120 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155448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A6CFF"/>
                </a:solidFill>
                <a:latin typeface="Arial"/>
              </a:rPr>
              <a:t>Q3　</a:t>
            </a:r>
            <a:r>
              <a:rPr sz="1550" b="1">
                <a:solidFill>
                  <a:srgbClr val="F3F6FF"/>
                </a:solidFill>
                <a:latin typeface="Microsoft YaHei"/>
              </a:rPr>
              <a:t>何时启动？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86000"/>
            <a:ext cx="29260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与装修 / 设计交付同步，尽快签 MOU、先行政策梳理与挂牌筹备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38328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383280"/>
            <a:ext cx="64008" cy="15544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B8CFF"/>
                </a:solidFill>
                <a:latin typeface="Arial"/>
              </a:rPr>
              <a:t>30</a:t>
            </a:r>
            <a:r>
              <a:rPr sz="2400" b="0">
                <a:solidFill>
                  <a:srgbClr val="9AA8CC"/>
                </a:solidFill>
                <a:latin typeface="Microsoft YaHei"/>
              </a:rPr>
              <a:t>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160520"/>
            <a:ext cx="292608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签 MOU + 招商手册与收费方案 + 政策汇编 + 首批挂牌对接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9976" y="338328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9976" y="3383280"/>
            <a:ext cx="64008" cy="15544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B8CFF"/>
                </a:solidFill>
                <a:latin typeface="Arial"/>
              </a:rPr>
              <a:t>60</a:t>
            </a:r>
            <a:r>
              <a:rPr sz="2400" b="0">
                <a:solidFill>
                  <a:srgbClr val="9AA8CC"/>
                </a:solidFill>
                <a:latin typeface="Microsoft YaHei"/>
              </a:rPr>
              <a:t> 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4160520"/>
            <a:ext cx="292608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首场沙龙 / 路演 + OPC 社群与投流 + 首单招商 + 漫展筹备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82712" y="338328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82712" y="3383280"/>
            <a:ext cx="64008" cy="15544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B8CFF"/>
                </a:solidFill>
                <a:latin typeface="Arial"/>
              </a:rPr>
              <a:t>90</a:t>
            </a:r>
            <a:r>
              <a:rPr sz="2400" b="0">
                <a:solidFill>
                  <a:srgbClr val="9AA8CC"/>
                </a:solidFill>
                <a:latin typeface="Microsoft YaHei"/>
              </a:rPr>
              <a:t> 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4160520"/>
            <a:ext cx="292608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正式挂牌 + 样板企业入驻 + 去化向 30–50% 推进 + 漫展锁档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166360"/>
            <a:ext cx="10634472" cy="868680"/>
          </a:xfrm>
          <a:prstGeom prst="roundRect">
            <a:avLst/>
          </a:prstGeom>
          <a:ln w="12700">
            <a:solidFill>
              <a:srgbClr val="E6B86A"/>
            </a:solidFill>
          </a:ln>
          <a:effectLst/>
          <a:gradFill>
            <a:gsLst>
              <a:gs pos="0">
                <a:srgbClr val="1C2748"/>
              </a:gs>
              <a:gs pos="100000">
                <a:srgbClr val="16203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166360"/>
            <a:ext cx="1005840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6B86A"/>
                </a:solidFill>
                <a:latin typeface="Microsoft YaHei"/>
              </a:rPr>
              <a:t>分步策略　</a:t>
            </a:r>
            <a:r>
              <a:rPr sz="1350" b="0">
                <a:solidFill>
                  <a:srgbClr val="F3F6FF"/>
                </a:solidFill>
                <a:latin typeface="Microsoft YaHei"/>
              </a:rPr>
              <a:t>先签 6600㎡ 单项目专项（单项目单核算），跑通后再承接体系内其他物业与外延项目。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0" y="-2194560"/>
            <a:ext cx="7315200" cy="7315200"/>
          </a:xfrm>
          <a:prstGeom prst="ellipse">
            <a:avLst/>
          </a:prstGeom>
          <a:gradFill>
            <a:gsLst>
              <a:gs pos="0">
                <a:srgbClr val="5B8CFF">
                  <a:alpha val="20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2743200"/>
            <a:ext cx="5943600" cy="5943600"/>
          </a:xfrm>
          <a:prstGeom prst="ellipse">
            <a:avLst/>
          </a:prstGeom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6B86A"/>
              </a:gs>
              <a:gs pos="100000">
                <a:srgbClr val="8A6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0">
                <a:solidFill>
                  <a:srgbClr val="E6B86A"/>
                </a:solidFill>
                <a:latin typeface="Arial"/>
              </a:rPr>
              <a:t>THANKS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10515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b="1">
                <a:solidFill>
                  <a:srgbClr val="F3F6FF"/>
                </a:solidFill>
                <a:latin typeface="Microsoft YaHei"/>
              </a:rPr>
              <a:t>让创智汇成为杨浦五角场
</a:t>
            </a:r>
            <a:r>
              <a:rPr sz="3300" b="1">
                <a:solidFill>
                  <a:srgbClr val="E6B86A"/>
                </a:solidFill>
                <a:latin typeface="Microsoft YaHei"/>
              </a:rPr>
              <a:t>AI + IP 产业与城市更新</a:t>
            </a:r>
            <a:r>
              <a:rPr sz="3300" b="1">
                <a:solidFill>
                  <a:srgbClr val="F3F6FF"/>
                </a:solidFill>
                <a:latin typeface="Microsoft YaHei"/>
              </a:rPr>
              <a:t>的超级链接器与可复制样板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9AA8CC"/>
                </a:solidFill>
                <a:latin typeface="Microsoft YaHei"/>
              </a:rPr>
              <a:t>90 天启动  ·  政策借势  ·  闭环招商  ·  内容自造流量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52160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9893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谈判集中汇报 v1.0</a:t>
            </a:r>
            <a:r>
              <a:rPr sz="1200" b="0">
                <a:solidFill>
                  <a:srgbClr val="6E7CA6"/>
                </a:solidFill>
                <a:latin typeface="Microsoft YaHei"/>
              </a:rPr>
              <a:t>　期待与各方达成合作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