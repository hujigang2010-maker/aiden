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Arial"/>
              </a:rPr>
              <a:t>TABLE-FIRST  ·  EVENT OPS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1FF"/>
                </a:solidFill>
                <a:latin typeface="Microsoft YaHei"/>
              </a:rPr>
              <a:t>创智汇 · 30场活动怎么做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Microsoft YaHei"/>
              </a:rPr>
              <a:t>表格说清楚：概况 · 价值 · 交付 · 分工 · 收费 · 往期案例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同步商业条款：办公3.3元/㎡/天 · 物业13.8元/㎡/月 · 待租8间 · 佣金2个月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83280"/>
            <a:ext cx="3566160" cy="26517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383280"/>
            <a:ext cx="64008" cy="26517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493008"/>
            <a:ext cx="3246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答疑① 关联度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803904"/>
            <a:ext cx="3200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邀约画像匹配 ≥90%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到场核验 ≥80%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负责人占比按档 35–60%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不是口号式100%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383280"/>
            <a:ext cx="3566160" cy="26517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3383280"/>
            <a:ext cx="64008" cy="26517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493008"/>
            <a:ext cx="3246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答疑② 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803904"/>
            <a:ext cx="3200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我方：策划邀约执行回访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园区：场地物业名单看场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联合会/服中心：政策协同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一张RACI表写死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383280"/>
            <a:ext cx="3566160" cy="26517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383280"/>
            <a:ext cx="64008" cy="26517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493008"/>
            <a:ext cx="3246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答疑③ 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803904"/>
            <a:ext cx="3200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杨数浦出海合规沙龙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AI重塑企业DNA沙龙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融见科创AI路演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含企业名+议程+现场照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COMMERCIAL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同步商业条款（与本次沟通一致）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01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7043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条款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3204" y="1143000"/>
            <a:ext cx="4249582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780" y="1170432"/>
            <a:ext cx="4194718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约定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12786" y="1143000"/>
            <a:ext cx="447324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9362" y="1170432"/>
            <a:ext cx="441838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说明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49047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1790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办公租金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63204" y="1490472"/>
            <a:ext cx="4249582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780" y="1517904"/>
            <a:ext cx="41947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1FF"/>
                </a:solidFill>
                <a:latin typeface="Microsoft YaHei"/>
              </a:rPr>
              <a:t>3.3 元/㎡/天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2786" y="1490472"/>
            <a:ext cx="447324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9362" y="1517904"/>
            <a:ext cx="44183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3F办公/孵化单元报价锚点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99339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02082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物业费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63204" y="1993392"/>
            <a:ext cx="4249582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780" y="2020824"/>
            <a:ext cx="41947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1FF"/>
                </a:solidFill>
                <a:latin typeface="Microsoft YaHei"/>
              </a:rPr>
              <a:t>13.8 元/㎡/月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12786" y="1993392"/>
            <a:ext cx="447324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9362" y="2020824"/>
            <a:ext cx="44183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按月计收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49631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252374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待租库存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3204" y="2496312"/>
            <a:ext cx="4249582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780" y="2523744"/>
            <a:ext cx="41947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1FF"/>
                </a:solidFill>
                <a:latin typeface="Microsoft YaHei"/>
              </a:rPr>
              <a:t>办公室 8 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12786" y="2496312"/>
            <a:ext cx="447324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9362" y="2523744"/>
            <a:ext cx="44183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活动优先导流看场与逼单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9923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02666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招商佣金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3204" y="2999232"/>
            <a:ext cx="4249582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780" y="3026664"/>
            <a:ext cx="41947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1FF"/>
                </a:solidFill>
                <a:latin typeface="Microsoft YaHei"/>
              </a:rPr>
              <a:t>成交首年有效净租金 × 2 个月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12786" y="2999232"/>
            <a:ext cx="447324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9362" y="3026664"/>
            <a:ext cx="44183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首年不重复；活动转化成交同样适用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50215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352958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活动收费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3204" y="3502152"/>
            <a:ext cx="4249582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780" y="3529584"/>
            <a:ext cx="41947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1FF"/>
                </a:solidFill>
                <a:latin typeface="Microsoft YaHei"/>
              </a:rPr>
              <a:t>30 场打包 30 万元/年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12786" y="3502152"/>
            <a:ext cx="447324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9362" y="3529584"/>
            <a:ext cx="44183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含策划执行、基础物料、主持协调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00507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403250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媒体（可选）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63204" y="4005072"/>
            <a:ext cx="4249582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780" y="4032504"/>
            <a:ext cx="41947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1FF"/>
                </a:solidFill>
                <a:latin typeface="Microsoft YaHei"/>
              </a:rPr>
              <a:t>约 10 万元/年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12786" y="4005072"/>
            <a:ext cx="447324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49362" y="4032504"/>
            <a:ext cx="44183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投流获客，另计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120640"/>
            <a:ext cx="11183112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活动价值最终落到：8间去化 + 租金回收 + 载体KPI/补贴 + 品牌声量；佣金按成交计，不对出租率对赌。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INCUBATOR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答疑①：嘉宾/来访者与孵化器关联度——不是口号100%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02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548640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43000"/>
            <a:ext cx="64008" cy="50292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52728"/>
            <a:ext cx="51663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明确KPI（可写进合同附件）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563624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邀约名单与孵化器画像关联度 ≥90%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到场核验关联度 ≥80%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企业负责人（法人/CEO/创始人/业务VP/采购决策人）占比按档位设定 35%–60%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核验方式：报名表行业标签 + 名片/企微 + 当场抽检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月度联席会公示关联度达成率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143000"/>
            <a:ext cx="502920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1143000"/>
            <a:ext cx="64008" cy="502920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252728"/>
            <a:ext cx="47091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为什么不是简单说100%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563624"/>
            <a:ext cx="46634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不是简单承诺“到场100%都是入孵企业”：允许约10%–15%生态角色（政府/高校/投资人/媒体），用于背书与转化；但主体客群必须是 AI/OPC/数字内容等可入驻画像企业。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若甲方要求“除官方嘉宾外，来访企业名单100%画像匹配”，可按场次书面锁定邀约名单审核。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大场（市集/嘉年华）流量属性更强，关联度下限≥75%，但看场通道仍只对画像企业开放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每场输出《关联度核验表》作为交付物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TIER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六大档位标准：人数 · 负责人占比 · 孵化器关联度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03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7043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档位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3204" y="114300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780" y="117043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场次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1515" y="1143000"/>
            <a:ext cx="313127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8091" y="1170432"/>
            <a:ext cx="307640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适配主题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2786" y="1143000"/>
            <a:ext cx="1565635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9362" y="1170432"/>
            <a:ext cx="1510771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421" y="1143000"/>
            <a:ext cx="145380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997" y="1170432"/>
            <a:ext cx="13989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负责人占比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32225" y="1143000"/>
            <a:ext cx="145380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801" y="1170432"/>
            <a:ext cx="13989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孵化器关联度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490472"/>
            <a:ext cx="246028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1517904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A.智能体/训练营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63204" y="1490472"/>
            <a:ext cx="1118311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780" y="1517904"/>
            <a:ext cx="106344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8场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1515" y="1490472"/>
            <a:ext cx="3131271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091" y="1517904"/>
            <a:ext cx="307640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Agent·多模态·算力·具身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12786" y="1490472"/>
            <a:ext cx="1565635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9362" y="1517904"/>
            <a:ext cx="1510771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40–80人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421" y="1490472"/>
            <a:ext cx="145380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14997" y="1517904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35–45%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32225" y="1490472"/>
            <a:ext cx="145380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801" y="1517904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020824"/>
            <a:ext cx="246028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2048256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B.政策/治理沙龙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3204" y="2020824"/>
            <a:ext cx="1118311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780" y="2048256"/>
            <a:ext cx="106344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81515" y="2020824"/>
            <a:ext cx="3131271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8091" y="2048256"/>
            <a:ext cx="307640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政策兑现·高企·三券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12786" y="2020824"/>
            <a:ext cx="1565635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9362" y="2048256"/>
            <a:ext cx="1510771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40–80人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421" y="2020824"/>
            <a:ext cx="145380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14997" y="2048256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50–60%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32225" y="2020824"/>
            <a:ext cx="145380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801" y="2048256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551176"/>
            <a:ext cx="246028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578608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C.产业/科学对接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63204" y="2551176"/>
            <a:ext cx="1118311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780" y="2578608"/>
            <a:ext cx="106344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1515" y="2551176"/>
            <a:ext cx="3131271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8091" y="2578608"/>
            <a:ext cx="307640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成果转化·集群对接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12786" y="2551176"/>
            <a:ext cx="1565635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49362" y="2578608"/>
            <a:ext cx="1510771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50–100人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421" y="2551176"/>
            <a:ext cx="145380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14997" y="2578608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55–65%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32225" y="2551176"/>
            <a:ext cx="145380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68801" y="2578608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081528"/>
            <a:ext cx="246028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3108960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D.内容IP活动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63204" y="3081528"/>
            <a:ext cx="1118311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9780" y="3108960"/>
            <a:ext cx="106344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81515" y="3081528"/>
            <a:ext cx="3131271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8091" y="3108960"/>
            <a:ext cx="307640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首发·市集·联展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12786" y="3081528"/>
            <a:ext cx="1565635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49362" y="3108960"/>
            <a:ext cx="1510771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80–300人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78421" y="3081528"/>
            <a:ext cx="145380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14997" y="3108960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30–40%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32225" y="3081528"/>
            <a:ext cx="145380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68801" y="3108960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≥75%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611880"/>
            <a:ext cx="246028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3639312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E.WAIC联动大场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63204" y="3611880"/>
            <a:ext cx="1118311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9780" y="3639312"/>
            <a:ext cx="106344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81515" y="3611880"/>
            <a:ext cx="3131271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8091" y="3639312"/>
            <a:ext cx="307640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开放日+双夜+嘉年华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12786" y="3611880"/>
            <a:ext cx="1565635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49362" y="3639312"/>
            <a:ext cx="1510771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100–400人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78421" y="3611880"/>
            <a:ext cx="145380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14997" y="3639312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40–55%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32225" y="3611880"/>
            <a:ext cx="145380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68801" y="3639312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≥80%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4142232"/>
            <a:ext cx="246028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6" y="4169664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F.出海/AGI/收官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63204" y="4142232"/>
            <a:ext cx="1118311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99780" y="4169664"/>
            <a:ext cx="106344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81515" y="4142232"/>
            <a:ext cx="3131271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8091" y="4169664"/>
            <a:ext cx="3076407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买家团·领事·年终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12786" y="4142232"/>
            <a:ext cx="1565635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2" y="4169664"/>
            <a:ext cx="1510771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40–120人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78421" y="4142232"/>
            <a:ext cx="145380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14997" y="4169664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50–60%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32225" y="4142232"/>
            <a:ext cx="145380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68801" y="4169664"/>
            <a:ext cx="139894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答疑②：执行分工——哪些我们做，哪些需要你们支持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04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1565635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24712"/>
            <a:ext cx="1510771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环节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8555" y="1097280"/>
            <a:ext cx="3354933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5131" y="1124712"/>
            <a:ext cx="3300069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同浦汇（我方）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3488" y="1097280"/>
            <a:ext cx="3578595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0064" y="1124712"/>
            <a:ext cx="3523731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园区/科创集团（贵方）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2083" y="1097280"/>
            <a:ext cx="2683946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8659" y="1124712"/>
            <a:ext cx="2629082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联合会/服中心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444752"/>
            <a:ext cx="156563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472184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选题定档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68555" y="1444752"/>
            <a:ext cx="3354933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5131" y="1472184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主责：年度日历与单场方案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23488" y="1444752"/>
            <a:ext cx="357859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0064" y="1472184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确认档期与禁办日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2083" y="1444752"/>
            <a:ext cx="2683946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8659" y="1472184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政策窗口协同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1565635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47672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嘉宾邀约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68555" y="1920240"/>
            <a:ext cx="3354933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5131" y="1947672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主责：企业/导师/投资人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23488" y="1920240"/>
            <a:ext cx="3578595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0064" y="1947672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共享在谈客户名单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2083" y="1920240"/>
            <a:ext cx="2683946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8659" y="1947672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会员协同邀约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395728"/>
            <a:ext cx="156563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2423160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场地物料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8555" y="2395728"/>
            <a:ext cx="3354933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5131" y="2423160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主责：活动物料/签到/主持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23488" y="2395728"/>
            <a:ext cx="357859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0064" y="2423160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主责：场地物业水电导视停车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2083" y="2395728"/>
            <a:ext cx="2683946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8659" y="2423160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领导出席协调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871216"/>
            <a:ext cx="1565635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2898648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现场执行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68555" y="2871216"/>
            <a:ext cx="3354933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5131" y="2898648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主责：流程场控建档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23488" y="2871216"/>
            <a:ext cx="3578595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60064" y="2898648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支持：1–6人（按档）+样板间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2083" y="2871216"/>
            <a:ext cx="2683946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8659" y="2898648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政策宣讲位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346704"/>
            <a:ext cx="156563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3374136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会后逼单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68555" y="3346704"/>
            <a:ext cx="3354933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05131" y="3374136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主责：7日回访报价跟进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23488" y="3346704"/>
            <a:ext cx="357859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60064" y="3374136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支持：看场会议室/决策人对接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2083" y="3346704"/>
            <a:ext cx="2683946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38659" y="3374136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申报服务接棒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822192"/>
            <a:ext cx="1565635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3849624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成交交割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8555" y="3822192"/>
            <a:ext cx="3354933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5131" y="3849624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协同：合同条款与服务包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3488" y="3822192"/>
            <a:ext cx="3578595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60064" y="3849624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主责：租赁合同/交割/开票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2083" y="3822192"/>
            <a:ext cx="2683946" cy="475488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8659" y="3849624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入驻后服务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297680"/>
            <a:ext cx="156563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4325112"/>
            <a:ext cx="151077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复盘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68555" y="4297680"/>
            <a:ext cx="3354933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5131" y="4325112"/>
            <a:ext cx="3300069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主责：单场复盘+月报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23488" y="4297680"/>
            <a:ext cx="3578595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60064" y="4325112"/>
            <a:ext cx="352373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联席确认数据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02083" y="4297680"/>
            <a:ext cx="2683946" cy="475488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38659" y="4325112"/>
            <a:ext cx="262908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政策转化统计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SUPPORT BY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分档现场人力（贵方支持上限清晰）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05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2683946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70432"/>
            <a:ext cx="2629082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场次类型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6866" y="1143000"/>
            <a:ext cx="178929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442" y="1170432"/>
            <a:ext cx="173443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同浦汇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6163" y="114300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2739" y="117043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园区支持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6447" y="114300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3023" y="117043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服中心/其他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96731" y="1143000"/>
            <a:ext cx="178929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3307" y="1170432"/>
            <a:ext cx="173443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合计约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490472"/>
            <a:ext cx="2683946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517904"/>
            <a:ext cx="262908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常规训练/沙龙（A/B）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6866" y="1490472"/>
            <a:ext cx="1789297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3442" y="151790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2–3人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6163" y="149047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2739" y="151790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1–2人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6447" y="149047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3023" y="151790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0–2人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96731" y="1490472"/>
            <a:ext cx="1789297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3307" y="151790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4–7人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993392"/>
            <a:ext cx="2683946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020824"/>
            <a:ext cx="262908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对接/撮合（C）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6866" y="1993392"/>
            <a:ext cx="1789297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3442" y="202082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3–4人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6163" y="199339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2739" y="202082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2人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6447" y="199339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3023" y="202082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0–1人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6731" y="1993392"/>
            <a:ext cx="1789297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3307" y="202082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5–7人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496312"/>
            <a:ext cx="2683946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2523744"/>
            <a:ext cx="262908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内容市集/联展（D）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86866" y="2496312"/>
            <a:ext cx="1789297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23442" y="252374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4–5人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6163" y="249631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2739" y="252374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3–4人+物业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6447" y="249631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3023" y="252374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外包可选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96731" y="2496312"/>
            <a:ext cx="1789297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3307" y="252374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8–12人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2999232"/>
            <a:ext cx="2683946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3026664"/>
            <a:ext cx="262908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WAIC开放日（E）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86866" y="2999232"/>
            <a:ext cx="1789297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23442" y="302666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6人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76163" y="299923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2739" y="302666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5人+物业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36447" y="299923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3023" y="302666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服中心2+媒体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6731" y="2999232"/>
            <a:ext cx="1789297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3307" y="302666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15人+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3502152"/>
            <a:ext cx="2683946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" y="3529584"/>
            <a:ext cx="262908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Builders/AGI夜（E）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86866" y="3502152"/>
            <a:ext cx="1789297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23442" y="352958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4–5人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76163" y="350215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12739" y="352958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2–3人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6447" y="3502152"/>
            <a:ext cx="2460284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3023" y="352958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联合会/复旦2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6731" y="3502152"/>
            <a:ext cx="1789297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33307" y="352958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8–12人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005072"/>
            <a:ext cx="2683946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4032504"/>
            <a:ext cx="262908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嘉年华级（E）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86866" y="4005072"/>
            <a:ext cx="1789297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23442" y="403250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6–8人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76163" y="400507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12739" y="403250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5–6人+安保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6447" y="4005072"/>
            <a:ext cx="2460284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73023" y="4032504"/>
            <a:ext cx="24054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外包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96731" y="4005072"/>
            <a:ext cx="1789297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33307" y="4032504"/>
            <a:ext cx="1734433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15人+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5212080"/>
            <a:ext cx="1118311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贵方最低支持清单（每场必做）：①场地报备 ②导视停车 ③样板间可看 ④在谈名单共享 ⑤会后1间逼单会议室。其余按档加配。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收费模式（活动费 + 佣金2个月 + 可选媒体）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06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539496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43000"/>
            <a:ext cx="64008" cy="50292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52728"/>
            <a:ext cx="50749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活动打包怎么收费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563624"/>
            <a:ext cx="5029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活动打包执行费：30 场 / 年 打包 30 万元（含策划执行、基础物料、主持协调）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大场（WAIC/嘉年华/联展）从包内高权重分摊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培训营可另设企业付费席位（冲抵成本，规则书面约定）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门票/赞助默认归园区经营性收入（可协商分成）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媒体投流 约 10 万元/年（另计，可冲抵活动获客）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143000"/>
            <a:ext cx="507492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143000"/>
            <a:ext cx="64008" cy="50292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1252728"/>
            <a:ext cx="47548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招商怎么收费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1563624"/>
            <a:ext cx="4709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招商佣金：成交首年有效净租金 × 2 个月（首年不重复）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办公租金 3.3 元/㎡/天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物业费 13.8 元/㎡/月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待租办公室 8 间（优先活动转化去化）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活动转化成交：同样计佣金2个月，不对出租率对赌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交付《意向→看场→报价→签约》漏斗周报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我们具体交付什么（每场标准包）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07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2012960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24712"/>
            <a:ext cx="1958096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交付物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5880" y="1097280"/>
            <a:ext cx="3802258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2456" y="1124712"/>
            <a:ext cx="3747394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138" y="1097280"/>
            <a:ext cx="1565635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4714" y="1124712"/>
            <a:ext cx="1510771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时点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3773" y="1097280"/>
            <a:ext cx="3802258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349" y="1124712"/>
            <a:ext cx="3747394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验收标准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444752"/>
            <a:ext cx="2012960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47218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单场方案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5880" y="144475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2456" y="147218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主题/议程/嘉宾/动线/预算分摊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8138" y="1444752"/>
            <a:ext cx="1565635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4714" y="147218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3773" y="144475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349" y="147218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双方书面确认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47672"/>
            <a:ext cx="2012960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7510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邀约与关联度表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5880" y="1947672"/>
            <a:ext cx="3802258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52456" y="197510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名单+画像标签+负责人标记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138" y="1947672"/>
            <a:ext cx="1565635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4714" y="197510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T-3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83773" y="1947672"/>
            <a:ext cx="3802258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349" y="197510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邀约关联度≥90%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450592"/>
            <a:ext cx="2012960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247802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现场执行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5880" y="245059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52456" y="247802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签到建档/主持场控/物料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18138" y="2450592"/>
            <a:ext cx="1565635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4714" y="247802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3773" y="245059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0349" y="247802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流程按时完成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953512"/>
            <a:ext cx="2012960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298094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意向分级表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5880" y="2953512"/>
            <a:ext cx="3802258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52456" y="298094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A/B/C级客户+跟进人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18138" y="2953512"/>
            <a:ext cx="1565635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4714" y="298094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T+1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83773" y="2953512"/>
            <a:ext cx="3802258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0349" y="298094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留资完整可回访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456432"/>
            <a:ext cx="2012960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348386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7日回访纪要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15880" y="345643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52456" y="348386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触达记录+看场预约+卡点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18138" y="3456432"/>
            <a:ext cx="1565635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4714" y="348386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T+7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83773" y="345643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20349" y="348386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触达≥3次/线索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959352"/>
            <a:ext cx="2012960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398678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单场复盘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15880" y="3959352"/>
            <a:ext cx="3802258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52456" y="398678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人数/关联度/负责人占比/转化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18138" y="3959352"/>
            <a:ext cx="1565635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4714" y="398678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T+14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3773" y="3959352"/>
            <a:ext cx="3802258" cy="502920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20349" y="398678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指标对照档位KPI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462272"/>
            <a:ext cx="2012960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4489704"/>
            <a:ext cx="195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月度联席包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15880" y="446227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52456" y="448970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漏斗看板+下月排期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18138" y="4462272"/>
            <a:ext cx="1565635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4714" y="4489704"/>
            <a:ext cx="1510771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每月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3773" y="4462272"/>
            <a:ext cx="3802258" cy="502920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20349" y="4489704"/>
            <a:ext cx="374739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联席会确认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30场活动概况总表（1–15）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08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78281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78992"/>
            <a:ext cx="72795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序号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1051560"/>
            <a:ext cx="313127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1078992"/>
            <a:ext cx="307640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主题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7008" y="1051560"/>
            <a:ext cx="1341973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584" y="1078992"/>
            <a:ext cx="1287109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8981" y="1051560"/>
            <a:ext cx="1341973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5557" y="1078992"/>
            <a:ext cx="1287109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0954" y="1051560"/>
            <a:ext cx="1230142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7530" y="1078992"/>
            <a:ext cx="1175278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1096" y="105156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7672" y="107899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负责人%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9407" y="105156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5983" y="107899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关联度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67718" y="105156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4294" y="107899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场地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399032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426464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399032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42646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智能伙伴·创智汇开年主题沙龙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008" y="139903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584" y="142646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1月下旬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8981" y="139903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5557" y="142646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主题沙龙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0954" y="1399032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7530" y="1426464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50–70人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1096" y="139903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7672" y="142646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49407" y="139903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5983" y="142646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7718" y="139903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4294" y="142646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5F沙龙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700784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1728216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5737" y="1700784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2313" y="172821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7008" y="170078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584" y="172821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2月中旬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58981" y="170078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95557" y="172821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00954" y="1700784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7530" y="1728216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1096" y="170078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7672" y="172821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49407" y="170078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5983" y="172821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7718" y="170078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4294" y="172821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 OPC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002536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2029968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2002536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202996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17008" y="200253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53584" y="202996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3月上旬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58981" y="200253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95557" y="202996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00954" y="2002536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7530" y="2029968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1096" y="200253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7672" y="202996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49407" y="200253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85983" y="202996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67718" y="200253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04294" y="202996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3F培训+直播间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2304288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" y="2331720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85737" y="2304288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22313" y="233172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17008" y="230428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53584" y="233172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3月下旬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58981" y="230428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95557" y="233172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2304288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2331720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31096" y="230428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7672" y="233172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49407" y="230428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85983" y="233172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7718" y="230428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604294" y="233172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3F+云创基地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2606040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2633472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85737" y="2606040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22313" y="263347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17008" y="260604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53584" y="263347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4月上旬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58981" y="260604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95557" y="263347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00954" y="2606040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7530" y="2633472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31096" y="260604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67672" y="263347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49407" y="260604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85983" y="263347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567718" y="260604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604294" y="263347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5F展区+3F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2907792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2935224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2907792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293522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417008" y="2907792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53584" y="293522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5月上旬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58981" y="2907792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95557" y="293522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00954" y="2907792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37530" y="2935224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331096" y="2907792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67672" y="293522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449407" y="2907792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85983" y="293522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567718" y="2907792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604294" y="293522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3F直播间+5F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2920" y="3209544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9496" y="3236976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285737" y="3209544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22313" y="323697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17008" y="3209544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53584" y="323697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5月中旬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58981" y="3209544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95557" y="323697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100954" y="3209544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137530" y="3236976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60–80人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331096" y="3209544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67672" y="323697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449407" y="3209544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485983" y="323697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567718" y="3209544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04294" y="323697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3F整层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2920" y="3511296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39496" y="3538728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85737" y="3511296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22313" y="353872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417008" y="3511296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453584" y="353872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758981" y="3511296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95557" y="353872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100954" y="3511296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137530" y="3538728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40–50人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331096" y="3511296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67672" y="353872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449407" y="3511296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485983" y="353872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67718" y="3511296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04294" y="353872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3F培训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2920" y="3813048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9496" y="3840480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285737" y="3813048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22313" y="384048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417008" y="3813048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453584" y="384048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1月中旬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758981" y="3813048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795557" y="384048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100954" y="3813048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137530" y="3840480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331096" y="3813048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367672" y="384048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449407" y="3813048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485983" y="384048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567718" y="3813048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04294" y="384048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5F沙龙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920" y="4114800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39496" y="4142232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285737" y="4114800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322313" y="414223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417008" y="4114800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453584" y="414223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2月下旬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758981" y="4114800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795557" y="414223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闭门/沙龙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100954" y="4114800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137530" y="4142232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331096" y="4114800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367672" y="414223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449407" y="4114800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485983" y="414223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67718" y="4114800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604294" y="414223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02920" y="4416552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39496" y="4443984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285737" y="4416552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322313" y="444398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417008" y="441655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453584" y="444398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3月中旬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758981" y="441655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795557" y="444398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100954" y="4416552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137530" y="4443984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331096" y="441655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367672" y="444398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60%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449407" y="441655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485983" y="444398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567718" y="441655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604294" y="444398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02920" y="4718304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39496" y="4745736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285737" y="4718304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322313" y="474573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417008" y="471830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53584" y="474573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6月上旬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758981" y="471830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795557" y="474573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100954" y="4718304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137530" y="4745736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331096" y="471830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367672" y="474573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449407" y="471830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485983" y="474573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0567718" y="471830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604294" y="474573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02920" y="5020056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39496" y="5047488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13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285737" y="5020056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322313" y="504748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417008" y="502005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453584" y="504748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58981" y="502005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795557" y="504748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100954" y="5020056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137530" y="5047488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40–70人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331096" y="502005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367672" y="504748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9449407" y="502005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485983" y="504748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0567718" y="502005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604294" y="504748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02920" y="5321808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9496" y="5349240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14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285737" y="5321808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322313" y="534924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417008" y="532180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453584" y="534924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4月中旬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758981" y="532180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795557" y="534924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100954" y="5321808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137530" y="5349240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331096" y="532180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367672" y="534924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449407" y="532180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485983" y="534924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0567718" y="532180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604294" y="534924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3F+沙龙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02920" y="5623560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539496" y="5650992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15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285737" y="5623560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322313" y="565099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汕头玩具×AIGC供应链对接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4417008" y="562356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453584" y="565099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4月下旬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758981" y="562356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795557" y="565099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100954" y="5623560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137530" y="5650992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60–100人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331096" y="562356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367672" y="565099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60%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449407" y="562356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485983" y="565099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0567718" y="562356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0604294" y="565099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5F玩具区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30场活动概况总表（16–30）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09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78281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78992"/>
            <a:ext cx="72795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序号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1051560"/>
            <a:ext cx="313127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1078992"/>
            <a:ext cx="307640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主题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7008" y="1051560"/>
            <a:ext cx="1341973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584" y="1078992"/>
            <a:ext cx="1287109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8981" y="1051560"/>
            <a:ext cx="1341973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5557" y="1078992"/>
            <a:ext cx="1287109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0954" y="1051560"/>
            <a:ext cx="1230142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7530" y="1078992"/>
            <a:ext cx="1175278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1096" y="105156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7672" y="107899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负责人%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9407" y="105156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5983" y="107899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关联度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67718" y="105156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4294" y="107899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场地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399032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426464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399032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42646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扬州毛绒×数字人联名对接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008" y="139903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584" y="142646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6月中旬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8981" y="139903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5557" y="142646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0954" y="1399032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7530" y="1426464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1096" y="139903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7672" y="142646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49407" y="139903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5983" y="142646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7718" y="139903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4294" y="142646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5F毛绒区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700784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1728216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5737" y="1700784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2313" y="172821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东莞潮玩品牌入沪推介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7008" y="170078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584" y="172821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58981" y="170078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95557" y="172821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推介会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00954" y="1700784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7530" y="1728216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1096" y="170078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7672" y="172821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49407" y="170078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5983" y="172821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7718" y="170078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4294" y="172821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5F潮玩区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002536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2029968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2002536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202996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IP授权×AI衍生交易撮合会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17008" y="200253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53584" y="202996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58981" y="200253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95557" y="202996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00954" y="2002536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7530" y="2029968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60–100人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1096" y="200253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7672" y="202996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49407" y="200253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85983" y="202996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67718" y="200253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04294" y="202996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5F展示中心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2304288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" y="2331720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85737" y="2304288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22313" y="233172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AI创作者内容首发①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17008" y="230428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53584" y="233172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5月下旬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58981" y="230428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95557" y="233172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2304288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2331720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80–150人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31096" y="230428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7672" y="233172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49407" y="230428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85983" y="233172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≥75%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7718" y="230428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604294" y="233172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5F主展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2606040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2633472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85737" y="2606040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22313" y="263347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潮玩×AIGC主题市集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17008" y="260604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53584" y="263347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6月下旬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58981" y="260604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95557" y="263347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市集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00954" y="2606040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7530" y="2633472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200–400人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31096" y="260604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67672" y="263347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49407" y="260604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85983" y="263347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≥75%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567718" y="260604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604294" y="263347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5F+公区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2907792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2935224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2907792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293522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沉浸式AI+IP联展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417008" y="2907792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53584" y="293522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58981" y="2907792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95557" y="293522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联展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00954" y="2907792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37530" y="2935224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日均80–200人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331096" y="2907792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67672" y="293522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449407" y="2907792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85983" y="293522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≥75%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567718" y="2907792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604294" y="293522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5F展示中心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2920" y="3209544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9496" y="3236976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285737" y="3209544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22313" y="323697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AI创作者内容首发②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17008" y="3209544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53584" y="323697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58981" y="3209544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95557" y="323697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100954" y="3209544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137530" y="3236976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80–150人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331096" y="3209544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67672" y="323697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449407" y="3209544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485983" y="323697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≥75%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567718" y="3209544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04294" y="323697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2920" y="3511296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39496" y="3538728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85737" y="3511296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22313" y="353872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WAIC UP! 创智汇「智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417008" y="3511296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453584" y="353872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7月17日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758981" y="3511296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95557" y="353872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开放日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100954" y="3511296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137530" y="3538728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150–300人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331096" y="3511296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67672" y="353872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45%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449407" y="3511296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485983" y="353872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≥80%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67718" y="3511296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04294" y="353872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3F+5F整区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2920" y="3813048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9496" y="3840480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285737" y="3813048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22313" y="384048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WAIC UP! AI Bu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417008" y="3813048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453584" y="384048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7月17日晚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758981" y="3813048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795557" y="384048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夜场社交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100954" y="3813048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137530" y="3840480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80–150人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331096" y="3813048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367672" y="384048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45%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449407" y="3813048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485983" y="384048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567718" y="3813048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04294" y="384048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5F主厅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920" y="4114800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39496" y="4142232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25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285737" y="4114800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322313" y="414223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WAIC UP! 通往AGI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417008" y="4114800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453584" y="414223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7月18日晚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758981" y="4114800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795557" y="414223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学术夜场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100954" y="4114800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137530" y="4142232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60–100人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331096" y="4114800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367672" y="414223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449407" y="4114800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485983" y="414223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≥85%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67718" y="4114800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604294" y="414223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5F圆桌区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02920" y="4416552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39496" y="4443984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26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285737" y="4416552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322313" y="444398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创智汇秋季潮玩×AI嘉年华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417008" y="441655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453584" y="444398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758981" y="4416552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795557" y="4443984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嘉年华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100954" y="4416552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137530" y="4443984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300–600人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331096" y="441655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367672" y="444398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449407" y="441655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485983" y="444398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≥75%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567718" y="4416552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604294" y="4443984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5F+公区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02920" y="4718304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39496" y="4745736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285737" y="4718304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322313" y="474573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AI出海推介与国际买家团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417008" y="471830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53584" y="474573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9月下旬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758981" y="4718304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795557" y="4745736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买家团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100954" y="4718304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137530" y="4745736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50–80人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331096" y="471830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367672" y="474573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449407" y="471830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485983" y="474573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0567718" y="4718304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604294" y="4745736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5F+培训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02920" y="5020056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39496" y="5047488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28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285737" y="5020056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322313" y="504748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通往AGI季度圆桌①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417008" y="502005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453584" y="504748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4月下旬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58981" y="5020056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795557" y="5047488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圆桌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100954" y="5020056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137530" y="5047488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40–60人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331096" y="502005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367672" y="504748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9449407" y="502005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485983" y="504748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0567718" y="5020056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604294" y="5047488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5F沙龙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02920" y="5321808"/>
            <a:ext cx="78281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9496" y="5349240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29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285737" y="5321808"/>
            <a:ext cx="313127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322313" y="534924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国别会客厅·AI合作领事专题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417008" y="532180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453584" y="534924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758981" y="5321808"/>
            <a:ext cx="1341973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795557" y="5349240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领事沙龙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100954" y="5321808"/>
            <a:ext cx="1230142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137530" y="5349240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40–70人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331096" y="532180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367672" y="534924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55%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449407" y="532180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485983" y="534924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0567718" y="5321808"/>
            <a:ext cx="1118311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604294" y="5349240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会客厅/5F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02920" y="5623560"/>
            <a:ext cx="78281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539496" y="5650992"/>
            <a:ext cx="72795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30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285737" y="5623560"/>
            <a:ext cx="313127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322313" y="565099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4417008" y="562356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453584" y="565099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758981" y="5623560"/>
            <a:ext cx="1341973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795557" y="5650992"/>
            <a:ext cx="1287109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100954" y="5623560"/>
            <a:ext cx="1230142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137530" y="5650992"/>
            <a:ext cx="1175278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80–150人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331096" y="562356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367672" y="565099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449407" y="562356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485983" y="565099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≥90%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0567718" y="5623560"/>
            <a:ext cx="1118311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0604294" y="5650992"/>
            <a:ext cx="106344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5F主展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VALUE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价值 · 交付 · 分工 · 收费（1–15）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10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670986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78992"/>
            <a:ext cx="616122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3906" y="1051560"/>
            <a:ext cx="3802258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482" y="1078992"/>
            <a:ext cx="3747394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活动价值（园区/招商）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6164" y="105156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2740" y="107899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我方主责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6448" y="105156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3024" y="107899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贵方支持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96732" y="1051560"/>
            <a:ext cx="178929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3308" y="1078992"/>
            <a:ext cx="173443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收费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399032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426464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3906" y="1399032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0482" y="1426464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开年定调；集中获客；8间待租首波曝光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6164" y="139903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2740" y="142646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6448" y="139903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3024" y="142646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96732" y="1399032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3308" y="1426464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打包分摊~0.8万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700784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728216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3906" y="1700784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0482" y="1728216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Agent团队入孵转化；OPC工位去化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6164" y="170078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2740" y="172821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6448" y="170078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3024" y="172821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6732" y="1700784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3308" y="1728216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002536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2029968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73906" y="2002536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0482" y="2029968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多模态应用团队入驻；内容工具链粘性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6164" y="200253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2740" y="202996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6448" y="200253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3024" y="202996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96732" y="2002536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3308" y="2029968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2304288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2331720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3906" y="2304288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0482" y="2331720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高算力消耗企业定向招商；云创协同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76164" y="230428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2740" y="233172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36448" y="230428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3024" y="233172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6732" y="2304288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3308" y="2331720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打包分摊~1.2万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2606040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" y="2633472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3906" y="2606040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0482" y="2633472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具身/机器人团队看场转化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76164" y="260604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12740" y="263347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6448" y="260604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3024" y="263347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6732" y="2606040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33308" y="2633472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打包分摊~0.9万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2907792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2935224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73906" y="2907792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10482" y="2935224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内容厂牌/工作室入驻；5F场景使用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76164" y="2907792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12740" y="293522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6448" y="2907792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73024" y="293522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96732" y="2907792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33308" y="2935224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209544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" y="3236976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73906" y="3209544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10482" y="3236976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获奖团队优先谈单元；青年创业种子库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76164" y="3209544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12740" y="323697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36448" y="3209544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3024" y="323697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96732" y="3209544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33308" y="3236976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打包分摊~1.5万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511296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3538728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73906" y="3511296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0482" y="3538728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营销型公司入驻；服务包续费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76164" y="3511296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2740" y="353872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36448" y="3511296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73024" y="353872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96732" y="3511296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33308" y="3538728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打包分摊~0.8万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3813048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9496" y="3840480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3906" y="3813048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10482" y="3840480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政策前置获客；内容/AI导入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76164" y="3813048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12740" y="384048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36448" y="3813048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73024" y="384048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96732" y="3813048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33308" y="3840480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打包分摊~0.8万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" y="4114800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9496" y="4142232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73906" y="4114800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210482" y="4142232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信任背书；合规意识型企业入驻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976164" y="4114800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12740" y="414223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36448" y="4114800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73024" y="414223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896732" y="4114800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33308" y="4142232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打包分摊~0.8万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4416552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496" y="4443984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173906" y="4416552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10482" y="4443984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外区待认定企业带政策入驻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976164" y="441655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12740" y="444398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436448" y="441655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473024" y="444398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896732" y="4416552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33308" y="4443984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打包分摊~0.9万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2920" y="4718304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9496" y="4745736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73906" y="4718304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10482" y="4745736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优质企业筛选补位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76164" y="471830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12740" y="474573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436448" y="471830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73024" y="474573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96732" y="4718304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933308" y="4745736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02920" y="5020056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9496" y="5047488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73906" y="5020056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10482" y="5047488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用券企业向园区聚集；服中心KPI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976164" y="502005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012740" y="504748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436448" y="502005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473024" y="504748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896732" y="5020056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933308" y="5047488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打包分摊~0.8万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02920" y="5321808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39496" y="5349240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73906" y="5321808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10482" y="5349240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976164" y="532180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12740" y="534924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436448" y="532180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473024" y="534924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896732" y="5321808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933308" y="5349240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02920" y="5623560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39496" y="5650992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15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73906" y="5623560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210482" y="5650992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5F玩具展位去化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976164" y="562356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12740" y="565099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436448" y="562356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73024" y="565099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896732" y="5623560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933308" y="5650992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VALUE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价值 · 交付 · 分工 · 收费（16–30）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11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670986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78992"/>
            <a:ext cx="616122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9C27C"/>
                </a:solidFill>
                <a:latin typeface="Microsoft YaHei"/>
              </a:rPr>
              <a:t>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3906" y="1051560"/>
            <a:ext cx="3802258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482" y="1078992"/>
            <a:ext cx="3747394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活动价值（园区/招商）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6164" y="105156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2740" y="107899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我方主责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6448" y="105156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3024" y="107899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贵方支持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96732" y="1051560"/>
            <a:ext cx="178929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3308" y="1078992"/>
            <a:ext cx="173443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收费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399032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426464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3906" y="1399032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0482" y="1426464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700㎡量级客户线索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6164" y="139903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2740" y="142646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6448" y="139903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3024" y="142646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96732" y="1399032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3308" y="1426464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700784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728216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3906" y="1700784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0482" y="1728216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品牌展位/快闪去化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6164" y="170078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2740" y="172821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6448" y="170078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3024" y="172821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6732" y="1700784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3308" y="1728216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打包分摊~1.0万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002536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2029968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73906" y="2002536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0482" y="2029968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IP/衍生品团队入驻；贸易成交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6164" y="200253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2740" y="202996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6448" y="200253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3024" y="202996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96732" y="2002536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3308" y="2029968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打包分摊~1.2万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2304288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2331720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19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3906" y="2304288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0482" y="2331720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内容品牌曝光；关联品牌问询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76164" y="230428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2740" y="233172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36448" y="230428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3024" y="233172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6732" y="2304288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3308" y="2331720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打包分摊~1.2万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2606040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" y="2633472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3906" y="2606040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0482" y="2633472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人气经营；摊主升级固定展位/办公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76164" y="260604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12740" y="263347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6448" y="260604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3024" y="263347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6732" y="2606040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33308" y="2633472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打包分摊~1.5万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2907792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2935224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73906" y="2907792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10482" y="2935224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长期人流；闭幕酒会集中转化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76164" y="2907792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12740" y="293522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6448" y="2907792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73024" y="293522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96732" y="2907792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33308" y="2935224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打包分摊~1.8万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209544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" y="3236976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73906" y="3209544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10482" y="3236976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旺季补位；年框意向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76164" y="3209544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12740" y="323697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36448" y="3209544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3024" y="323697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96732" y="3209544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33308" y="3236976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打包分摊~1.2万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511296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3538728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73906" y="3511296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0482" y="3538728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大会流量导入；8间待租集中看场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76164" y="3511296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2740" y="353872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36448" y="3511296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73024" y="353872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96732" y="3511296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33308" y="3538728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打包分摊~2.0万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3813048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9496" y="3840480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3906" y="3813048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10482" y="3840480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建造者当场看3F单元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76164" y="3813048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12740" y="384048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36448" y="3813048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73024" y="384048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96732" y="3813048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33308" y="3840480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打包分摊~1.8万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" y="4114800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9496" y="4142232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73906" y="4114800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210482" y="4142232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高端研究型/涉外企业入驻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976164" y="4114800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12740" y="414223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36448" y="4114800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73024" y="414223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896732" y="4114800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33308" y="4142232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打包分摊~1.8万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4416552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496" y="4443984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173906" y="4416552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10482" y="4443984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集中签约展位/办公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976164" y="441655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12740" y="444398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436448" y="4416552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473024" y="4443984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896732" y="4416552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33308" y="4443984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打包分摊~2.2万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2920" y="4718304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9496" y="4745736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73906" y="4718304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10482" y="4745736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出海需求企业入驻；撮合收入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76164" y="471830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12740" y="474573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436448" y="4718304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73024" y="4745736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96732" y="4718304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933308" y="4745736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打包分摊~1.2万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02920" y="5020056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9496" y="5047488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73906" y="5020056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10482" y="5047488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研究型/模型团队入驻线索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976164" y="502005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012740" y="504748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436448" y="5020056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473024" y="5047488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896732" y="5020056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933308" y="5047488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打包分摊~0.8万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02920" y="5321808"/>
            <a:ext cx="670986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39496" y="5349240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29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73906" y="5321808"/>
            <a:ext cx="3802258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10482" y="5349240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涉外/出海企业入驻背书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976164" y="532180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12740" y="534924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436448" y="5321808"/>
            <a:ext cx="2460284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473024" y="5349240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896732" y="5321808"/>
            <a:ext cx="1789297" cy="3017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933308" y="5349240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打包分摊~1.2万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02920" y="5623560"/>
            <a:ext cx="670986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39496" y="5650992"/>
            <a:ext cx="616122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1FF"/>
                </a:solidFill>
                <a:latin typeface="Microsoft YaHei"/>
              </a:rPr>
              <a:t>30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73906" y="5623560"/>
            <a:ext cx="3802258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210482" y="5650992"/>
            <a:ext cx="3747394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集中签约；来年预热；媒体背书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976164" y="562356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12740" y="565099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策划邀约执行回访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436448" y="5623560"/>
            <a:ext cx="2460284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73024" y="5650992"/>
            <a:ext cx="24054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场地名单看场1–N人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896732" y="5623560"/>
            <a:ext cx="1789297" cy="3017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933308" y="5650992"/>
            <a:ext cx="1734433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打包分摊~1.5万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统一执行节奏（每场通用）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12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1118311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24712"/>
            <a:ext cx="1063447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节点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1231" y="1097280"/>
            <a:ext cx="178929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7807" y="1124712"/>
            <a:ext cx="173443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动作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528" y="1097280"/>
            <a:ext cx="2683946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104" y="1124712"/>
            <a:ext cx="2629082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我方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4" y="1097280"/>
            <a:ext cx="2683946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1050" y="1124712"/>
            <a:ext cx="2629082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贵方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420" y="1097280"/>
            <a:ext cx="2907609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996" y="1124712"/>
            <a:ext cx="2852745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产出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444752"/>
            <a:ext cx="1118311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472184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1231" y="1444752"/>
            <a:ext cx="1789297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7807" y="1472184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选题定档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0528" y="1444752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104" y="1472184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出方案草稿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4" y="1444752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1050" y="1472184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确认档期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420" y="1444752"/>
            <a:ext cx="2907609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996" y="1472184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档期锁定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883664"/>
            <a:ext cx="1118311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911096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1231" y="1883664"/>
            <a:ext cx="1789297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57807" y="1911096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嘉宾物料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0528" y="1883664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104" y="1911096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邀约+物料定稿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4" y="1883664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1050" y="1911096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提供在谈名单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420" y="1883664"/>
            <a:ext cx="2907609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14996" y="1911096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方案确认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322576"/>
            <a:ext cx="1118311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2350008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T-7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21231" y="2322576"/>
            <a:ext cx="1789297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57807" y="2350008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邀约确认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10528" y="2322576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47104" y="2350008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确认到会与关联度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4474" y="2322576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1050" y="2350008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领导出席答复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420" y="2322576"/>
            <a:ext cx="2907609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14996" y="2350008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到会名单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2761488"/>
            <a:ext cx="1118311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2788920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T-1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21231" y="2761488"/>
            <a:ext cx="1789297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57807" y="2788920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彩排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10528" y="2761488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47104" y="2788920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流程彩排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4474" y="2761488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1050" y="2788920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场地物业就绪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420" y="2761488"/>
            <a:ext cx="2907609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14996" y="2788920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可执行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3200400"/>
            <a:ext cx="1118311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" y="3227832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21231" y="3200400"/>
            <a:ext cx="1789297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57807" y="3227832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执行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10528" y="3200400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7104" y="3227832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主持场控建档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4474" y="3200400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1050" y="3227832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现场支持+看场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420" y="3200400"/>
            <a:ext cx="2907609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14996" y="3227832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签到+意向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639312"/>
            <a:ext cx="1118311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3666744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T+1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21231" y="3639312"/>
            <a:ext cx="1789297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57807" y="3666744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名单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10528" y="3639312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47104" y="3666744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分级建档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94474" y="3639312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31050" y="3666744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共享CRM字段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78420" y="3639312"/>
            <a:ext cx="2907609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14996" y="3666744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意向表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078224"/>
            <a:ext cx="1118311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" y="4105656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T+7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21231" y="4078224"/>
            <a:ext cx="1789297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57807" y="4105656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逼单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10528" y="4078224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47104" y="4105656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回访报价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4474" y="4078224"/>
            <a:ext cx="2683946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1050" y="4105656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会议室/决策人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78420" y="4078224"/>
            <a:ext cx="2907609" cy="43891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14996" y="4105656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看场/报价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4517136"/>
            <a:ext cx="1118311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4544568"/>
            <a:ext cx="106344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T+14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21231" y="4517136"/>
            <a:ext cx="1789297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57807" y="4544568"/>
            <a:ext cx="1734433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复盘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10528" y="4517136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47104" y="4544568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复盘报告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4474" y="4517136"/>
            <a:ext cx="2683946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1050" y="4544568"/>
            <a:ext cx="2629082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联席确认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778420" y="4517136"/>
            <a:ext cx="2907609" cy="43891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14996" y="4544568"/>
            <a:ext cx="285274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月报入库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往期类似案例｜「杨数浦」数字经济出海合规沙龙（第三期）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13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831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2025-02-18　｜　上海人民城市实践展示馆（杨浦滨江）　｜　B/F·政策治理/出海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76072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64008" cy="23317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27048"/>
            <a:ext cx="5440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37944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杨浦区委网信办、区工商联；赛博网络安全产业创新研究院；上海社科院互联网研究中心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惠志斌（社科院）及出海合规顾问团队；数字经济企业管理层/法务/技术代表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来源：上海市杨浦区人民政府官网报道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对应创智汇：政策沙龙(B)、出海买家团/领事专题(F)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521208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417320"/>
            <a:ext cx="64008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527048"/>
            <a:ext cx="48920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当天议程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837944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主题：数字新征程，出海创未来——合规引领发展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专家分享：数据跨境与出海合规策略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圆桌：企业出海方向与合规路径抉择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授证：出海合规荣誉顾问授证仪式</a:t>
            </a:r>
          </a:p>
        </p:txBody>
      </p:sp>
      <p:pic>
        <p:nvPicPr>
          <p:cNvPr id="19" name="Picture 18" descr="case_659315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31920"/>
            <a:ext cx="3520440" cy="2148840"/>
          </a:xfrm>
          <a:prstGeom prst="rect">
            <a:avLst/>
          </a:prstGeom>
        </p:spPr>
      </p:pic>
      <p:pic>
        <p:nvPicPr>
          <p:cNvPr id="20" name="Picture 19" descr="case_40a029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931920"/>
            <a:ext cx="3520440" cy="2148840"/>
          </a:xfrm>
          <a:prstGeom prst="rect">
            <a:avLst/>
          </a:prstGeom>
        </p:spPr>
      </p:pic>
      <p:pic>
        <p:nvPicPr>
          <p:cNvPr id="21" name="Picture 20" descr="case_fb37cc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931920"/>
            <a:ext cx="3520440" cy="2148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144768"/>
            <a:ext cx="11183112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现场照片来源：杨浦区政府官网/公开报道配图（用于同类活动能力证明）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往期类似案例｜杨「数」浦数字沙龙第七期：AI如何重塑企业DNA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14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831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2025-06-30　｜　美团上海综合指挥中心　｜　B·政策/治理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76072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64008" cy="23317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27048"/>
            <a:ext cx="5440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37944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杨浦区委网信办主办；赛博院、上海市人工智能与社会发展研究会承办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美团；大众点评大模型应用团队；赛博院研究员卢虹羽等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来源：上海市杨浦区人民政府官网报道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对应创智汇：AI治理沙龙、智能伙伴政策沙龙、Agent应用营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521208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417320"/>
            <a:ext cx="64008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527048"/>
            <a:ext cx="48920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当天议程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837944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参观美团综合指挥中心数字化场景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主题分享：人机共生时代·AI重塑企业DNA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案例：大众点评AI技术应用创新与落地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政策解读：《人工智能生成合成内容标识办法》等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互动答疑</a:t>
            </a:r>
          </a:p>
        </p:txBody>
      </p:sp>
      <p:pic>
        <p:nvPicPr>
          <p:cNvPr id="19" name="Picture 18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31920"/>
            <a:ext cx="3520440" cy="2148840"/>
          </a:xfrm>
          <a:prstGeom prst="rect">
            <a:avLst/>
          </a:prstGeom>
        </p:spPr>
      </p:pic>
      <p:pic>
        <p:nvPicPr>
          <p:cNvPr id="20" name="Picture 19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931920"/>
            <a:ext cx="3520440" cy="2148840"/>
          </a:xfrm>
          <a:prstGeom prst="rect">
            <a:avLst/>
          </a:prstGeom>
        </p:spPr>
      </p:pic>
      <p:pic>
        <p:nvPicPr>
          <p:cNvPr id="21" name="Picture 20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931920"/>
            <a:ext cx="3520440" cy="2148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144768"/>
            <a:ext cx="11183112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现场照片来源：杨浦区政府官网/公开报道配图（用于同类活动能力证明）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往期类似案例｜「融见科创·智启未来」人工智能专场路演暨投融资对接会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15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831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2025-10（杨浦科创促进会）　｜　杨浦（邮储银行联合主办）　｜　B/C·路演对接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76072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64008" cy="23317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27048"/>
            <a:ext cx="5440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37944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杨浦科创促进会、邮储银行上海分行；科辰创投、智能产业创新研究院、益华资本等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复楚智能、卡房信息、一造科技、中科趋势、万笔千墨 等路演企业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来源：上海市杨浦区人民政府官网 / 青年报报道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对应创智汇：专精特新路演、Demo Day、黑客松决赛日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521208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417320"/>
            <a:ext cx="64008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527048"/>
            <a:ext cx="48920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当天议程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837944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开场致辞（促进会会长夏立城）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主办方致辞（邮储银行）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主题分享：AI行业趋势（中邮证券）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“6+6+6+1”模式路演对接（6项目+6投资人+6金融机构+1政府代表）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区投促办代表点评与招商邀请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评委总结与后续跟进</a:t>
            </a:r>
          </a:p>
        </p:txBody>
      </p:sp>
      <p:pic>
        <p:nvPicPr>
          <p:cNvPr id="19" name="Picture 18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31920"/>
            <a:ext cx="3520440" cy="2148840"/>
          </a:xfrm>
          <a:prstGeom prst="rect">
            <a:avLst/>
          </a:prstGeom>
        </p:spPr>
      </p:pic>
      <p:pic>
        <p:nvPicPr>
          <p:cNvPr id="20" name="Picture 19" descr="case_cb0a38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931920"/>
            <a:ext cx="3520440" cy="2148840"/>
          </a:xfrm>
          <a:prstGeom prst="rect">
            <a:avLst/>
          </a:prstGeom>
        </p:spPr>
      </p:pic>
      <p:pic>
        <p:nvPicPr>
          <p:cNvPr id="21" name="Picture 20" descr="case_cdfd470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931920"/>
            <a:ext cx="3520440" cy="2148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144768"/>
            <a:ext cx="11183112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现场照片来源：杨浦区政府官网/公开报道配图（用于同类活动能力证明）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CASE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各档活动 ↔ 往期案例映射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16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2460284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170432"/>
            <a:ext cx="240542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创智汇档位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3204" y="1143000"/>
            <a:ext cx="4025920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780" y="1170432"/>
            <a:ext cx="3971056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对应往期案例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89124" y="1143000"/>
            <a:ext cx="4696907" cy="347472"/>
          </a:xfrm>
          <a:prstGeom prst="rect">
            <a:avLst/>
          </a:prstGeom>
          <a:solidFill>
            <a:srgbClr val="2A1E55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5700" y="1170432"/>
            <a:ext cx="4642043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可迁移的执行要点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490472"/>
            <a:ext cx="246028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17904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A 训练营/黑客松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63204" y="1490472"/>
            <a:ext cx="4025920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780" y="1517904"/>
            <a:ext cx="3971056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融见科创路演（项目展示段）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9124" y="1490472"/>
            <a:ext cx="4696907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5700" y="1517904"/>
            <a:ext cx="4642043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路演评审机制+当场看场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20824"/>
            <a:ext cx="246028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048256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B 政策/治理沙龙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63204" y="2020824"/>
            <a:ext cx="4025920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780" y="2048256"/>
            <a:ext cx="3971056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杨数浦AI/合规沙龙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9124" y="2020824"/>
            <a:ext cx="4696907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5700" y="2048256"/>
            <a:ext cx="4642043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政策解读+案例+一对一咨询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51176"/>
            <a:ext cx="246028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2578608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C 产业对接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3204" y="2551176"/>
            <a:ext cx="4025920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780" y="2578608"/>
            <a:ext cx="3971056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融见科创6+6+6+1对接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9124" y="2551176"/>
            <a:ext cx="4696907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5700" y="2578608"/>
            <a:ext cx="4642043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供需桌+金融机构+政府代表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081528"/>
            <a:ext cx="246028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108960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D 内容活动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3204" y="3081528"/>
            <a:ext cx="4025920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780" y="3108960"/>
            <a:ext cx="3971056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创作者/市集级（待补同浦汇实拍）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89124" y="3081528"/>
            <a:ext cx="4696907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5700" y="3108960"/>
            <a:ext cx="4642043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发布+快闪+招商通道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611880"/>
            <a:ext cx="2460284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3639312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E WAIC大场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3204" y="3611880"/>
            <a:ext cx="4025920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780" y="3639312"/>
            <a:ext cx="3971056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滨江授证仪式级现场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89124" y="3611880"/>
            <a:ext cx="4696907" cy="530352"/>
          </a:xfrm>
          <a:prstGeom prst="rect">
            <a:avLst/>
          </a:prstGeom>
          <a:solidFill>
            <a:srgbClr val="241A4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5700" y="3639312"/>
            <a:ext cx="4642043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开放参观+仪式+集中洽谈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42232"/>
            <a:ext cx="2460284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4169664"/>
            <a:ext cx="240542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F 出海/领事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63204" y="4142232"/>
            <a:ext cx="4025920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780" y="4169664"/>
            <a:ext cx="3971056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杨数浦出海合规沙龙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9124" y="4142232"/>
            <a:ext cx="4696907" cy="530352"/>
          </a:xfrm>
          <a:prstGeom prst="rect">
            <a:avLst/>
          </a:prstGeom>
          <a:solidFill>
            <a:srgbClr val="1C143A"/>
          </a:solidFill>
          <a:ln w="508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25700" y="4169664"/>
            <a:ext cx="4642043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合规顾问+圆桌+授证背书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394960"/>
            <a:ext cx="11183112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说明：公开案例证明「我们能办到什么规格」；创智汇落地后，每档将沉淀本场地实拍与企业名单，替换进月度案例库。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54864" cy="640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329184"/>
            <a:ext cx="91440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66928"/>
            <a:ext cx="10058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1FF"/>
                </a:solidFill>
                <a:latin typeface="Microsoft YaHei"/>
              </a:rPr>
              <a:t>一页纸结论（可直接回复甲方三点）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2801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E9C27C"/>
                </a:solidFill>
                <a:latin typeface="Arial"/>
              </a:rPr>
              <a:t>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8311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30场表格化方案V3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17</a:t>
            </a:r>
            <a:r>
              <a:rPr sz="1000" b="0">
                <a:solidFill>
                  <a:srgbClr val="9486C4"/>
                </a:solidFill>
                <a:latin typeface="Arial"/>
              </a:rPr>
              <a:t>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365760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43000"/>
            <a:ext cx="64008" cy="50292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52728"/>
            <a:ext cx="33375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①关联度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563624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邀约≥90% / 到场≥80%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负责人占比按档35–60%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不是口号100%，可书面锁名单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每场交付关联度核验表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143000"/>
            <a:ext cx="365760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143000"/>
            <a:ext cx="64008" cy="50292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252728"/>
            <a:ext cx="33375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②分工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63624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我方：策划邀约执行回访复盘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贵方：场地物业名单看场交割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最低支持清单5项写死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分档人力表已列明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520440" cy="5029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64008" cy="50292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252728"/>
            <a:ext cx="32004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③案例+收费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563624"/>
            <a:ext cx="3154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3个公开案例含企业/议程/照片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活动30场/30万打包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佣金2个月·租金3.3·物业13.8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8间待租优先活动转化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