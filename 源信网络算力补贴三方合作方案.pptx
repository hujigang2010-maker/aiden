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2A5B"/>
              </a:gs>
              <a:gs pos="100000">
                <a:srgbClr val="125CC4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1A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75520" y="3108960"/>
            <a:ext cx="3840480" cy="3840480"/>
          </a:xfrm>
          <a:prstGeom prst="ellipse">
            <a:avLst/>
          </a:prstGeom>
          <a:solidFill>
            <a:srgbClr val="126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0B4D8"/>
                </a:solidFill>
                <a:latin typeface="Microsoft YaHei"/>
                <a:ea typeface="Microsoft YaHei"/>
              </a:rPr>
              <a:t>AI 算力普惠 · 楼宇园区赋能计划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>
                <a:solidFill>
                  <a:srgbClr val="FFFFFF"/>
                </a:solidFill>
                <a:latin typeface="Microsoft YaHei"/>
                <a:ea typeface="Microsoft YaHei"/>
              </a:rPr>
              <a:t>算力补贴三方合作方案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004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EAF2FB"/>
                </a:solidFill>
                <a:latin typeface="Microsoft YaHei"/>
                <a:ea typeface="Microsoft YaHei"/>
              </a:rPr>
              <a:t>以大厂（火山引擎 / 腾讯云）token 算力补贴，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EAF2FB"/>
                </a:solidFill>
                <a:latin typeface="Microsoft YaHei"/>
                <a:ea typeface="Microsoft YaHei"/>
              </a:rPr>
              <a:t>赋能办公楼、产业园区与科技载体内的 B 端企业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846320"/>
            <a:ext cx="3108960" cy="5029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B2A5B"/>
                </a:solidFill>
                <a:latin typeface="Microsoft YaHei"/>
                <a:ea typeface="Microsoft YaHei"/>
              </a:rPr>
              <a:t>复旦大学住房政策研究中心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0" y="4846320"/>
            <a:ext cx="3108960" cy="5029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B2A5B"/>
                </a:solidFill>
                <a:latin typeface="Microsoft YaHei"/>
                <a:ea typeface="Microsoft YaHei"/>
              </a:rPr>
              <a:t>杨浦区科技企业联合会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0" y="4846320"/>
            <a:ext cx="1828800" cy="502920"/>
          </a:xfrm>
          <a:prstGeom prst="roundRect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源信网络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AF2FB"/>
                </a:solidFill>
                <a:latin typeface="Microsoft YaHei"/>
                <a:ea typeface="Microsoft YaHei"/>
              </a:rPr>
              <a:t>汇报交流稿  ·  2026 年 6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8BE6"/>
                </a:solidFill>
                <a:latin typeface="Microsoft YaHei"/>
                <a:ea typeface="Microsoft YaHei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0B2A5B"/>
                </a:solidFill>
                <a:latin typeface="Microsoft YaHei"/>
                <a:ea typeface="Microsoft YaHei"/>
              </a:rPr>
              <a:t>目录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371600"/>
            <a:ext cx="1371600" cy="54864"/>
          </a:xfrm>
          <a:prstGeom prst="rect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  <a:ea typeface="Microsoft YaHei"/>
              </a:rPr>
              <a:t>源信网络 × 复旦大学住房政策研究中心 × 杨浦区科技企业联合会  |  算力补贴合作方案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572768"/>
            <a:ext cx="5257800" cy="896112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572768"/>
            <a:ext cx="822960" cy="896112"/>
          </a:xfrm>
          <a:prstGeom prst="round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73736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1700784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B2A5B"/>
                </a:solidFill>
                <a:latin typeface="Microsoft YaHei"/>
                <a:ea typeface="Microsoft YaHei"/>
              </a:rPr>
              <a:t>合作背景与机遇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2075688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472"/>
                </a:solidFill>
                <a:latin typeface="Microsoft YaHei"/>
                <a:ea typeface="Microsoft YaHei"/>
              </a:rPr>
              <a:t>AI 算力时代与杨浦科创生态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572768"/>
            <a:ext cx="5257800" cy="896112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1572768"/>
            <a:ext cx="822960" cy="896112"/>
          </a:xfrm>
          <a:prstGeom prst="round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73736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1700784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B2A5B"/>
                </a:solidFill>
                <a:latin typeface="Microsoft YaHei"/>
                <a:ea typeface="Microsoft YaHei"/>
              </a:rPr>
              <a:t>三方角色与定位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2075688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472"/>
                </a:solidFill>
                <a:latin typeface="Microsoft YaHei"/>
                <a:ea typeface="Microsoft YaHei"/>
              </a:rPr>
              <a:t>复旦研究中心 · 科企联合会 · 源信网络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2596896"/>
            <a:ext cx="5257800" cy="896112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1520" y="2596896"/>
            <a:ext cx="822960" cy="896112"/>
          </a:xfrm>
          <a:prstGeom prst="round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2761488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272491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B2A5B"/>
                </a:solidFill>
                <a:latin typeface="Microsoft YaHei"/>
                <a:ea typeface="Microsoft YaHei"/>
              </a:rPr>
              <a:t>合作总体框架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3099816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472"/>
                </a:solidFill>
                <a:latin typeface="Microsoft YaHei"/>
                <a:ea typeface="Microsoft YaHei"/>
              </a:rPr>
              <a:t>大厂算力补贴的传导与分发链路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2596896"/>
            <a:ext cx="5257800" cy="896112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263640" y="2596896"/>
            <a:ext cx="822960" cy="896112"/>
          </a:xfrm>
          <a:prstGeom prst="round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63640" y="2761488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272491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B2A5B"/>
                </a:solidFill>
                <a:latin typeface="Microsoft YaHei"/>
                <a:ea typeface="Microsoft YaHei"/>
              </a:rPr>
              <a:t>准入与申请条件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80" y="3099816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472"/>
                </a:solidFill>
                <a:latin typeface="Microsoft YaHei"/>
                <a:ea typeface="Microsoft YaHei"/>
              </a:rPr>
              <a:t>高端办公门槛 + 5 万元无门槛消费券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3621024"/>
            <a:ext cx="5257800" cy="896112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1520" y="3621024"/>
            <a:ext cx="822960" cy="896112"/>
          </a:xfrm>
          <a:prstGeom prst="round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3785616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37360" y="37490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B2A5B"/>
                </a:solidFill>
                <a:latin typeface="Microsoft YaHei"/>
                <a:ea typeface="Microsoft YaHei"/>
              </a:rPr>
              <a:t>补贴与优惠方式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37360" y="4123944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472"/>
                </a:solidFill>
                <a:latin typeface="Microsoft YaHei"/>
                <a:ea typeface="Microsoft YaHei"/>
              </a:rPr>
              <a:t>租金减免 · 算力补贴 · 运营产品补贴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3621024"/>
            <a:ext cx="5257800" cy="896112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263640" y="3621024"/>
            <a:ext cx="822960" cy="896112"/>
          </a:xfrm>
          <a:prstGeom prst="round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63640" y="3785616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69480" y="37490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B2A5B"/>
                </a:solidFill>
                <a:latin typeface="Microsoft YaHei"/>
                <a:ea typeface="Microsoft YaHei"/>
              </a:rPr>
              <a:t>补贴标准表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69480" y="4123944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472"/>
                </a:solidFill>
                <a:latin typeface="Microsoft YaHei"/>
                <a:ea typeface="Microsoft YaHei"/>
              </a:rPr>
              <a:t>按企业规模分档的补贴一览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1520" y="4645152"/>
            <a:ext cx="5257800" cy="896112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31520" y="4645152"/>
            <a:ext cx="822960" cy="896112"/>
          </a:xfrm>
          <a:prstGeom prst="round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4809744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37360" y="4773168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B2A5B"/>
                </a:solidFill>
                <a:latin typeface="Microsoft YaHei"/>
                <a:ea typeface="Microsoft YaHei"/>
              </a:rPr>
              <a:t>火山引擎园区独立政策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37360" y="5148072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472"/>
                </a:solidFill>
                <a:latin typeface="Microsoft YaHei"/>
                <a:ea typeface="Microsoft YaHei"/>
              </a:rPr>
              <a:t>半年费用免费 + 大客户额外折扣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63640" y="4645152"/>
            <a:ext cx="5257800" cy="896112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263640" y="4645152"/>
            <a:ext cx="822960" cy="896112"/>
          </a:xfrm>
          <a:prstGeom prst="round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4809744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69480" y="4773168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B2A5B"/>
                </a:solidFill>
                <a:latin typeface="Microsoft YaHei"/>
                <a:ea typeface="Microsoft YaHei"/>
              </a:rPr>
              <a:t>三方共赢价值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69480" y="5148072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472"/>
                </a:solidFill>
                <a:latin typeface="Microsoft YaHei"/>
                <a:ea typeface="Microsoft YaHei"/>
              </a:rPr>
              <a:t>各方收益与协同效应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1520" y="5669280"/>
            <a:ext cx="5257800" cy="896112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731520" y="5669280"/>
            <a:ext cx="822960" cy="896112"/>
          </a:xfrm>
          <a:prstGeom prst="round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31520" y="5833872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09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37360" y="5797296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B2A5B"/>
                </a:solidFill>
                <a:latin typeface="Microsoft YaHei"/>
                <a:ea typeface="Microsoft YaHei"/>
              </a:rPr>
              <a:t>开放式可复制模式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737360" y="6172200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472"/>
                </a:solidFill>
                <a:latin typeface="Microsoft YaHei"/>
                <a:ea typeface="Microsoft YaHei"/>
              </a:rPr>
              <a:t>标准化模板 · 开放接入 · 可复制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263640" y="5669280"/>
            <a:ext cx="5257800" cy="896112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263640" y="5669280"/>
            <a:ext cx="822960" cy="896112"/>
          </a:xfrm>
          <a:prstGeom prst="round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63640" y="5833872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69480" y="5797296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B2A5B"/>
                </a:solidFill>
                <a:latin typeface="Microsoft YaHei"/>
                <a:ea typeface="Microsoft YaHei"/>
              </a:rPr>
              <a:t>落地路径与下一步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69480" y="6172200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472"/>
                </a:solidFill>
                <a:latin typeface="Microsoft YaHei"/>
                <a:ea typeface="Microsoft YaHei"/>
              </a:rPr>
              <a:t>试点—推广—复制的实施计划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8BE6"/>
                </a:solidFill>
                <a:latin typeface="Microsoft YaHei"/>
                <a:ea typeface="Microsoft YaHei"/>
              </a:rPr>
              <a:t>01  合作背景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0B2A5B"/>
                </a:solidFill>
                <a:latin typeface="Microsoft YaHei"/>
                <a:ea typeface="Microsoft YaHei"/>
              </a:rPr>
              <a:t>AI 算力时代的普惠机遇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371600"/>
            <a:ext cx="1371600" cy="54864"/>
          </a:xfrm>
          <a:prstGeom prst="rect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0" y="457200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472"/>
                </a:solidFill>
                <a:latin typeface="Microsoft YaHei"/>
                <a:ea typeface="Microsoft YaHei"/>
              </a:rPr>
              <a:t>01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  <a:ea typeface="Microsoft YaHei"/>
              </a:rPr>
              <a:t>源信网络 × 复旦大学住房政策研究中心 × 杨浦区科技企业联合会  |  算力补贴合作方案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737360"/>
            <a:ext cx="10698480" cy="914400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737360"/>
            <a:ext cx="128016" cy="91440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1847088"/>
            <a:ext cx="3017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25CC4"/>
                </a:solidFill>
                <a:latin typeface="Microsoft YaHei"/>
                <a:ea typeface="Microsoft YaHei"/>
              </a:rPr>
              <a:t>AI 算力成为新基建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1828800"/>
            <a:ext cx="70408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大模型与 AI Agent 应用爆发，token 算力成为企业研发与经营的刚需，但中小企业普遍面临用云成本高、门槛高的痛点。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16352"/>
            <a:ext cx="10698480" cy="914400"/>
          </a:xfrm>
          <a:prstGeom prst="roundRect">
            <a:avLst/>
          </a:prstGeom>
          <a:solidFill>
            <a:srgbClr val="DBE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2816352"/>
            <a:ext cx="128016" cy="91440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926080"/>
            <a:ext cx="3017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25CC4"/>
                </a:solidFill>
                <a:latin typeface="Microsoft YaHei"/>
                <a:ea typeface="Microsoft YaHei"/>
              </a:rPr>
              <a:t>大厂算力红利可被引导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907792"/>
            <a:ext cx="70408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火山引擎、腾讯云等持续投入算力补贴与生态扶持，源信网络作为合作方可对接补贴资源，向楼宇 / 园区的 B 端企业精准分发。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895344"/>
            <a:ext cx="10698480" cy="914400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3895344"/>
            <a:ext cx="128016" cy="91440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005072"/>
            <a:ext cx="3017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25CC4"/>
                </a:solidFill>
                <a:latin typeface="Microsoft YaHei"/>
                <a:ea typeface="Microsoft YaHei"/>
              </a:rPr>
              <a:t>杨浦科创载体丰富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986784"/>
            <a:ext cx="70408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杨浦区甲级写字楼、产业园区、科技载体集聚，企业密度高，是算力普惠政策落地的优质试验田。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974336"/>
            <a:ext cx="10698480" cy="914400"/>
          </a:xfrm>
          <a:prstGeom prst="roundRect">
            <a:avLst/>
          </a:prstGeom>
          <a:solidFill>
            <a:srgbClr val="DBE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4974336"/>
            <a:ext cx="128016" cy="91440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5084064"/>
            <a:ext cx="3017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25CC4"/>
                </a:solidFill>
                <a:latin typeface="Microsoft YaHei"/>
                <a:ea typeface="Microsoft YaHei"/>
              </a:rPr>
              <a:t>产学研政协同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5065776"/>
            <a:ext cx="70408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复旦大学住房政策研究中心提供政策研究与评估，科技企业联合会链接企业资源，源信网络负责运营落地，形成闭环。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8BE6"/>
                </a:solidFill>
                <a:latin typeface="Microsoft YaHei"/>
                <a:ea typeface="Microsoft YaHei"/>
              </a:rPr>
              <a:t>02  合作主体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0B2A5B"/>
                </a:solidFill>
                <a:latin typeface="Microsoft YaHei"/>
                <a:ea typeface="Microsoft YaHei"/>
              </a:rPr>
              <a:t>三方角色与定位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371600"/>
            <a:ext cx="1371600" cy="54864"/>
          </a:xfrm>
          <a:prstGeom prst="rect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0" y="457200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472"/>
                </a:solidFill>
                <a:latin typeface="Microsoft YaHei"/>
                <a:ea typeface="Microsoft YaHei"/>
              </a:rPr>
              <a:t>02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  <a:ea typeface="Microsoft YaHei"/>
              </a:rPr>
              <a:t>源信网络 × 复旦大学住房政策研究中心 × 杨浦区科技企业联合会  |  算力补贴合作方案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783080"/>
            <a:ext cx="3520440" cy="4023360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1783080"/>
            <a:ext cx="3520440" cy="1051560"/>
          </a:xfrm>
          <a:prstGeom prst="round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468880"/>
            <a:ext cx="3520440" cy="365760"/>
          </a:xfrm>
          <a:prstGeom prst="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1874519"/>
            <a:ext cx="3154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</a:rPr>
              <a:t>复旦大学住房政策研究中心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487168"/>
            <a:ext cx="3154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政策智库 · 研究背书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063240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25CC4"/>
                </a:solidFill>
                <a:latin typeface="Microsoft YaHei"/>
                <a:ea typeface="Microsoft YaHei"/>
              </a:rPr>
              <a:t>● </a:t>
            </a:r>
            <a:r>
              <a:rPr sz="1300" b="0">
                <a:solidFill>
                  <a:srgbClr val="1B2433"/>
                </a:solidFill>
                <a:latin typeface="Microsoft YaHei"/>
                <a:ea typeface="Microsoft YaHei"/>
              </a:rPr>
              <a:t>政策设计与合规研究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3904488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25CC4"/>
                </a:solidFill>
                <a:latin typeface="Microsoft YaHei"/>
                <a:ea typeface="Microsoft YaHei"/>
              </a:rPr>
              <a:t>● </a:t>
            </a:r>
            <a:r>
              <a:rPr sz="1300" b="0">
                <a:solidFill>
                  <a:srgbClr val="1B2433"/>
                </a:solidFill>
                <a:latin typeface="Microsoft YaHei"/>
                <a:ea typeface="Microsoft YaHei"/>
              </a:rPr>
              <a:t>补贴成效评估与课题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745736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25CC4"/>
                </a:solidFill>
                <a:latin typeface="Microsoft YaHei"/>
                <a:ea typeface="Microsoft YaHei"/>
              </a:rPr>
              <a:t>● </a:t>
            </a:r>
            <a:r>
              <a:rPr sz="1300" b="0">
                <a:solidFill>
                  <a:srgbClr val="1B2433"/>
                </a:solidFill>
                <a:latin typeface="Microsoft YaHei"/>
                <a:ea typeface="Microsoft YaHei"/>
              </a:rPr>
              <a:t>产学研成果转化与背书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16552" y="1783080"/>
            <a:ext cx="3520440" cy="4023360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416552" y="1783080"/>
            <a:ext cx="3520440" cy="1051560"/>
          </a:xfrm>
          <a:prstGeom prst="round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16552" y="2468880"/>
            <a:ext cx="3520440" cy="36576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9432" y="1874519"/>
            <a:ext cx="3154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</a:rPr>
              <a:t>杨浦区科技企业联合会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9432" y="2487168"/>
            <a:ext cx="3154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企业资源 · 组织协调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36592" y="3063240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B4D8"/>
                </a:solidFill>
                <a:latin typeface="Microsoft YaHei"/>
                <a:ea typeface="Microsoft YaHei"/>
              </a:rPr>
              <a:t>● </a:t>
            </a:r>
            <a:r>
              <a:rPr sz="1300" b="0">
                <a:solidFill>
                  <a:srgbClr val="1B2433"/>
                </a:solidFill>
                <a:latin typeface="Microsoft YaHei"/>
                <a:ea typeface="Microsoft YaHei"/>
              </a:rPr>
              <a:t>对接区内企业与载体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36592" y="3904488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B4D8"/>
                </a:solidFill>
                <a:latin typeface="Microsoft YaHei"/>
                <a:ea typeface="Microsoft YaHei"/>
              </a:rPr>
              <a:t>● </a:t>
            </a:r>
            <a:r>
              <a:rPr sz="1300" b="0">
                <a:solidFill>
                  <a:srgbClr val="1B2433"/>
                </a:solidFill>
                <a:latin typeface="Microsoft YaHei"/>
                <a:ea typeface="Microsoft YaHei"/>
              </a:rPr>
              <a:t>组织申报与政策宣贯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36592" y="4745736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B4D8"/>
                </a:solidFill>
                <a:latin typeface="Microsoft YaHei"/>
                <a:ea typeface="Microsoft YaHei"/>
              </a:rPr>
              <a:t>● </a:t>
            </a:r>
            <a:r>
              <a:rPr sz="1300" b="0">
                <a:solidFill>
                  <a:srgbClr val="1B2433"/>
                </a:solidFill>
                <a:latin typeface="Microsoft YaHei"/>
                <a:ea typeface="Microsoft YaHei"/>
              </a:rPr>
              <a:t>汇集企业算力需求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01584" y="1783080"/>
            <a:ext cx="3520440" cy="4023360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101584" y="1783080"/>
            <a:ext cx="3520440" cy="1051560"/>
          </a:xfrm>
          <a:prstGeom prst="roundRect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01584" y="2468880"/>
            <a:ext cx="3520440" cy="365760"/>
          </a:xfrm>
          <a:prstGeom prst="rect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84464" y="1874519"/>
            <a:ext cx="3154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</a:rPr>
              <a:t>源信网络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84464" y="2487168"/>
            <a:ext cx="3154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运营落地 · 资源对接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21624" y="3063240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2A02D"/>
                </a:solidFill>
                <a:latin typeface="Microsoft YaHei"/>
                <a:ea typeface="Microsoft YaHei"/>
              </a:rPr>
              <a:t>● </a:t>
            </a:r>
            <a:r>
              <a:rPr sz="1300" b="0">
                <a:solidFill>
                  <a:srgbClr val="1B2433"/>
                </a:solidFill>
                <a:latin typeface="Microsoft YaHei"/>
                <a:ea typeface="Microsoft YaHei"/>
              </a:rPr>
              <a:t>对接大厂算力补贴资源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21624" y="3904488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2A02D"/>
                </a:solidFill>
                <a:latin typeface="Microsoft YaHei"/>
                <a:ea typeface="Microsoft YaHei"/>
              </a:rPr>
              <a:t>● </a:t>
            </a:r>
            <a:r>
              <a:rPr sz="1300" b="0">
                <a:solidFill>
                  <a:srgbClr val="1B2433"/>
                </a:solidFill>
                <a:latin typeface="Microsoft YaHei"/>
                <a:ea typeface="Microsoft YaHei"/>
              </a:rPr>
              <a:t>统筹楼宇 / 园区合作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21624" y="4745736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2A02D"/>
                </a:solidFill>
                <a:latin typeface="Microsoft YaHei"/>
                <a:ea typeface="Microsoft YaHei"/>
              </a:rPr>
              <a:t>● </a:t>
            </a:r>
            <a:r>
              <a:rPr sz="1300" b="0">
                <a:solidFill>
                  <a:srgbClr val="1B2433"/>
                </a:solidFill>
                <a:latin typeface="Microsoft YaHei"/>
                <a:ea typeface="Microsoft YaHei"/>
              </a:rPr>
              <a:t>补贴发放与运营服务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 typeface="Microsoft YaHei"/>
              </a:rPr>
              <a:t>协同闭环：研究背书 → 企业组织 → 运营落地，共同放大大厂算力补贴的政策价值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8BE6"/>
                </a:solidFill>
                <a:latin typeface="Microsoft YaHei"/>
                <a:ea typeface="Microsoft YaHei"/>
              </a:rPr>
              <a:t>03  合作框架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0B2A5B"/>
                </a:solidFill>
                <a:latin typeface="Microsoft YaHei"/>
                <a:ea typeface="Microsoft YaHei"/>
              </a:rPr>
              <a:t>算力补贴的传导与分发链路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371600"/>
            <a:ext cx="1371600" cy="54864"/>
          </a:xfrm>
          <a:prstGeom prst="rect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0" y="457200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472"/>
                </a:solidFill>
                <a:latin typeface="Microsoft YaHei"/>
                <a:ea typeface="Microsoft YaHei"/>
              </a:rPr>
              <a:t>03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  <a:ea typeface="Microsoft YaHei"/>
              </a:rPr>
              <a:t>源信网络 × 复旦大学住房政策研究中心 × 杨浦区科技企业联合会  |  算力补贴合作方案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148840"/>
            <a:ext cx="2514600" cy="1645920"/>
          </a:xfrm>
          <a:prstGeom prst="round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50008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大厂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862072"/>
            <a:ext cx="2240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Microsoft YaHei"/>
                <a:ea typeface="Microsoft YaHei"/>
              </a:rPr>
              <a:t>火山引擎 / 腾讯云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Microsoft YaHei"/>
                <a:ea typeface="Microsoft YaHei"/>
              </a:rPr>
              <a:t>提供 token 算力补贴</a:t>
            </a:r>
          </a:p>
        </p:txBody>
      </p:sp>
      <p:sp>
        <p:nvSpPr>
          <p:cNvPr id="13" name="Chevron 12"/>
          <p:cNvSpPr/>
          <p:nvPr/>
        </p:nvSpPr>
        <p:spPr>
          <a:xfrm>
            <a:off x="3310128" y="2715768"/>
            <a:ext cx="237744" cy="502920"/>
          </a:xfrm>
          <a:prstGeom prst="chevron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66160" y="2148840"/>
            <a:ext cx="2514600" cy="1645920"/>
          </a:xfrm>
          <a:prstGeom prst="roundRect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0" y="2350008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源信网络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3320" y="2862072"/>
            <a:ext cx="2240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Microsoft YaHei"/>
                <a:ea typeface="Microsoft YaHei"/>
              </a:rPr>
              <a:t>对接补贴 + 统筹运营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Microsoft YaHei"/>
                <a:ea typeface="Microsoft YaHei"/>
              </a:rPr>
              <a:t>方案设计与发放</a:t>
            </a:r>
          </a:p>
        </p:txBody>
      </p:sp>
      <p:sp>
        <p:nvSpPr>
          <p:cNvPr id="17" name="Chevron 16"/>
          <p:cNvSpPr/>
          <p:nvPr/>
        </p:nvSpPr>
        <p:spPr>
          <a:xfrm>
            <a:off x="6099048" y="2715768"/>
            <a:ext cx="237744" cy="502920"/>
          </a:xfrm>
          <a:prstGeom prst="chevron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55079" y="2148840"/>
            <a:ext cx="2514600" cy="1645920"/>
          </a:xfrm>
          <a:prstGeom prst="round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79" y="2350008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物业 / 楼宇 / 园区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39" y="2862072"/>
            <a:ext cx="2240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Microsoft YaHei"/>
                <a:ea typeface="Microsoft YaHei"/>
              </a:rPr>
              <a:t>科技载体作为渠道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Microsoft YaHei"/>
                <a:ea typeface="Microsoft YaHei"/>
              </a:rPr>
              <a:t>承接并落地政策</a:t>
            </a:r>
          </a:p>
        </p:txBody>
      </p:sp>
      <p:sp>
        <p:nvSpPr>
          <p:cNvPr id="21" name="Chevron 20"/>
          <p:cNvSpPr/>
          <p:nvPr/>
        </p:nvSpPr>
        <p:spPr>
          <a:xfrm>
            <a:off x="8887967" y="2715768"/>
            <a:ext cx="237744" cy="502920"/>
          </a:xfrm>
          <a:prstGeom prst="chevron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43999" y="2148840"/>
            <a:ext cx="2514600" cy="1645920"/>
          </a:xfrm>
          <a:prstGeom prst="round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3999" y="2350008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B 端企业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1159" y="2862072"/>
            <a:ext cx="2240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Microsoft YaHei"/>
                <a:ea typeface="Microsoft YaHei"/>
              </a:rPr>
              <a:t>园区楼宇内企业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Microsoft YaHei"/>
                <a:ea typeface="Microsoft YaHei"/>
              </a:rPr>
              <a:t>享受算力与租金福利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297680"/>
            <a:ext cx="3474720" cy="1417320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7240" y="4297680"/>
            <a:ext cx="3474720" cy="457200"/>
          </a:xfrm>
          <a:prstGeom prst="round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352544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补贴资源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84632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B2433"/>
                </a:solidFill>
                <a:latin typeface="Microsoft YaHei"/>
                <a:ea typeface="Microsoft YaHei"/>
              </a:rPr>
              <a:t>由源信网络对接大厂算力补贴与生态资源池，统一额度池管理。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89120" y="4297680"/>
            <a:ext cx="3474720" cy="1417320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389120" y="4297680"/>
            <a:ext cx="3474720" cy="457200"/>
          </a:xfrm>
          <a:prstGeom prst="round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0" y="4352544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分发渠道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484632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B2433"/>
                </a:solidFill>
                <a:latin typeface="Microsoft YaHei"/>
                <a:ea typeface="Microsoft YaHei"/>
              </a:rPr>
              <a:t>以楼宇 / 园区为载体白名单，按准入条件向企业发放。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01000" y="4297680"/>
            <a:ext cx="3474720" cy="1417320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001000" y="4297680"/>
            <a:ext cx="3474720" cy="457200"/>
          </a:xfrm>
          <a:prstGeom prst="roundRect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01000" y="4352544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政策福利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484632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B2433"/>
                </a:solidFill>
                <a:latin typeface="Microsoft YaHei"/>
                <a:ea typeface="Microsoft YaHei"/>
              </a:rPr>
              <a:t>企业端获得算力券、租金减免、云产品与运营补贴。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8BE6"/>
                </a:solidFill>
                <a:latin typeface="Microsoft YaHei"/>
                <a:ea typeface="Microsoft YaHei"/>
              </a:rPr>
              <a:t>04  准入与申请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0B2A5B"/>
                </a:solidFill>
                <a:latin typeface="Microsoft YaHei"/>
                <a:ea typeface="Microsoft YaHei"/>
              </a:rPr>
              <a:t>准入门槛与申请条件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371600"/>
            <a:ext cx="1371600" cy="54864"/>
          </a:xfrm>
          <a:prstGeom prst="rect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0" y="457200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472"/>
                </a:solidFill>
                <a:latin typeface="Microsoft YaHei"/>
                <a:ea typeface="Microsoft YaHei"/>
              </a:rPr>
              <a:t>04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  <a:ea typeface="Microsoft YaHei"/>
              </a:rPr>
              <a:t>源信网络 × 复旦大学住房政策研究中心 × 杨浦区科技企业联合会  |  算力补贴合作方案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737360"/>
            <a:ext cx="6400800" cy="4160520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1737360"/>
            <a:ext cx="6400800" cy="640080"/>
          </a:xfrm>
          <a:prstGeom prst="round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801368"/>
            <a:ext cx="6400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（一）高端办公场所 · 申请门槛（满足即可申请）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542032"/>
            <a:ext cx="1554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5CC4"/>
                </a:solidFill>
                <a:latin typeface="Microsoft YaHei"/>
                <a:ea typeface="Microsoft YaHei"/>
              </a:rPr>
              <a:t>入驻载体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2542032"/>
            <a:ext cx="43434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B2433"/>
                </a:solidFill>
                <a:latin typeface="Microsoft YaHei"/>
                <a:ea typeface="Microsoft YaHei"/>
              </a:rPr>
              <a:t>甲级写字楼 / 重点产业园 / 科技载体（园区·楼宇白名单）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200400"/>
            <a:ext cx="1554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5CC4"/>
                </a:solidFill>
                <a:latin typeface="Microsoft YaHei"/>
                <a:ea typeface="Microsoft YaHei"/>
              </a:rPr>
              <a:t>企业属性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3200400"/>
            <a:ext cx="43434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B2433"/>
                </a:solidFill>
                <a:latin typeface="Microsoft YaHei"/>
                <a:ea typeface="Microsoft YaHei"/>
              </a:rPr>
              <a:t>注册及纳税在杨浦区，科技型、AI / 数字经济相关企业优先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858768"/>
            <a:ext cx="1554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5CC4"/>
                </a:solidFill>
                <a:latin typeface="Microsoft YaHei"/>
                <a:ea typeface="Microsoft YaHei"/>
              </a:rPr>
              <a:t>租赁规模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3858768"/>
            <a:ext cx="43434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B2433"/>
                </a:solidFill>
                <a:latin typeface="Microsoft YaHei"/>
                <a:ea typeface="Microsoft YaHei"/>
              </a:rPr>
              <a:t>租赁面积 ≥ 200㎡ 或 ≥ 10 个工位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517136"/>
            <a:ext cx="1554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5CC4"/>
                </a:solidFill>
                <a:latin typeface="Microsoft YaHei"/>
                <a:ea typeface="Microsoft YaHei"/>
              </a:rPr>
              <a:t>合作期限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4517136"/>
            <a:ext cx="43434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B2433"/>
                </a:solidFill>
                <a:latin typeface="Microsoft YaHei"/>
                <a:ea typeface="Microsoft YaHei"/>
              </a:rPr>
              <a:t>签约期 ≥ 12 个月，并承诺使用大厂云算力服务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175503"/>
            <a:ext cx="1554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5CC4"/>
                </a:solidFill>
                <a:latin typeface="Microsoft YaHei"/>
                <a:ea typeface="Microsoft YaHei"/>
              </a:rPr>
              <a:t>配合事项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06040" y="5175503"/>
            <a:ext cx="43434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B2433"/>
                </a:solidFill>
                <a:latin typeface="Microsoft YaHei"/>
                <a:ea typeface="Microsoft YaHei"/>
              </a:rPr>
              <a:t>配合补贴核销、案例展示与政策研究数据采集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60920" y="1737360"/>
            <a:ext cx="4069080" cy="4160520"/>
          </a:xfrm>
          <a:prstGeom prst="round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43800" y="2011680"/>
            <a:ext cx="3703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0B4D8"/>
                </a:solidFill>
                <a:latin typeface="Microsoft YaHei"/>
                <a:ea typeface="Microsoft YaHei"/>
              </a:rPr>
              <a:t>（二）无门槛福利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43800" y="2606040"/>
            <a:ext cx="3703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Microsoft YaHei"/>
                <a:ea typeface="Microsoft YaHei"/>
              </a:rPr>
              <a:t>¥5万元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43800" y="3611880"/>
            <a:ext cx="3703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2A02D"/>
                </a:solidFill>
                <a:latin typeface="Microsoft YaHei"/>
                <a:ea typeface="Microsoft YaHei"/>
              </a:rPr>
              <a:t>免费 · 无门槛消费券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26679" y="4160520"/>
            <a:ext cx="3566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0B4D8"/>
                </a:solidFill>
                <a:latin typeface="Microsoft YaHei"/>
                <a:ea typeface="Microsoft YaHei"/>
              </a:rPr>
              <a:t>✓ </a:t>
            </a:r>
            <a:r>
              <a:rPr sz="1200" b="0">
                <a:solidFill>
                  <a:srgbClr val="EAF2FB"/>
                </a:solidFill>
                <a:latin typeface="Microsoft YaHei"/>
                <a:ea typeface="Microsoft YaHei"/>
              </a:rPr>
              <a:t>园区 / 楼宇内企业均可领取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26679" y="4617720"/>
            <a:ext cx="3566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0B4D8"/>
                </a:solidFill>
                <a:latin typeface="Microsoft YaHei"/>
                <a:ea typeface="Microsoft YaHei"/>
              </a:rPr>
              <a:t>✓ </a:t>
            </a:r>
            <a:r>
              <a:rPr sz="1200" b="0">
                <a:solidFill>
                  <a:srgbClr val="EAF2FB"/>
                </a:solidFill>
                <a:latin typeface="Microsoft YaHei"/>
                <a:ea typeface="Microsoft YaHei"/>
              </a:rPr>
              <a:t>用于抵扣大厂云产品与算力消费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79" y="5074920"/>
            <a:ext cx="3566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0B4D8"/>
                </a:solidFill>
                <a:latin typeface="Microsoft YaHei"/>
                <a:ea typeface="Microsoft YaHei"/>
              </a:rPr>
              <a:t>✓ </a:t>
            </a:r>
            <a:r>
              <a:rPr sz="1200" b="0">
                <a:solidFill>
                  <a:srgbClr val="EAF2FB"/>
                </a:solidFill>
                <a:latin typeface="Microsoft YaHei"/>
                <a:ea typeface="Microsoft YaHei"/>
              </a:rPr>
              <a:t>作为引流入口，先用起来再升级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8BE6"/>
                </a:solidFill>
                <a:latin typeface="Microsoft YaHei"/>
                <a:ea typeface="Microsoft YaHei"/>
              </a:rPr>
              <a:t>05  补贴方式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0B2A5B"/>
                </a:solidFill>
                <a:latin typeface="Microsoft YaHei"/>
                <a:ea typeface="Microsoft YaHei"/>
              </a:rPr>
              <a:t>补贴与优惠方式 · 三大支柱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371600"/>
            <a:ext cx="1371600" cy="54864"/>
          </a:xfrm>
          <a:prstGeom prst="rect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0" y="457200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472"/>
                </a:solidFill>
                <a:latin typeface="Microsoft YaHei"/>
                <a:ea typeface="Microsoft YaHei"/>
              </a:rPr>
              <a:t>05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  <a:ea typeface="Microsoft YaHei"/>
              </a:rPr>
              <a:t>源信网络 × 复旦大学住房政策研究中心 × 杨浦区科技企业联合会  |  算力补贴合作方案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783080"/>
            <a:ext cx="3520440" cy="4114800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1783080"/>
            <a:ext cx="3520440" cy="1097280"/>
          </a:xfrm>
          <a:prstGeom prst="round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514600"/>
            <a:ext cx="3520440" cy="365760"/>
          </a:xfrm>
          <a:prstGeom prst="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874519"/>
            <a:ext cx="3246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FFFFFF"/>
                </a:solidFill>
                <a:latin typeface="Microsoft YaHei"/>
                <a:ea typeface="Microsoft YaHei"/>
              </a:rPr>
              <a:t>租金减免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542032"/>
            <a:ext cx="32461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免几个月 · 补几个月</a:t>
            </a:r>
          </a:p>
        </p:txBody>
      </p:sp>
      <p:sp>
        <p:nvSpPr>
          <p:cNvPr id="15" name="Oval 14"/>
          <p:cNvSpPr/>
          <p:nvPr/>
        </p:nvSpPr>
        <p:spPr>
          <a:xfrm>
            <a:off x="1005840" y="3227832"/>
            <a:ext cx="109728" cy="109728"/>
          </a:xfrm>
          <a:prstGeom prst="ellipse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34440" y="3154680"/>
            <a:ext cx="2788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按合作规模采取“免 X 月 + 补 X 月”折扣</a:t>
            </a:r>
          </a:p>
        </p:txBody>
      </p:sp>
      <p:sp>
        <p:nvSpPr>
          <p:cNvPr id="17" name="Oval 16"/>
          <p:cNvSpPr/>
          <p:nvPr/>
        </p:nvSpPr>
        <p:spPr>
          <a:xfrm>
            <a:off x="1005840" y="4096512"/>
            <a:ext cx="109728" cy="109728"/>
          </a:xfrm>
          <a:prstGeom prst="ellipse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4023360"/>
            <a:ext cx="2788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由载体让利 + 补贴池共担</a:t>
            </a:r>
          </a:p>
        </p:txBody>
      </p:sp>
      <p:sp>
        <p:nvSpPr>
          <p:cNvPr id="19" name="Oval 18"/>
          <p:cNvSpPr/>
          <p:nvPr/>
        </p:nvSpPr>
        <p:spPr>
          <a:xfrm>
            <a:off x="1005840" y="4965192"/>
            <a:ext cx="109728" cy="109728"/>
          </a:xfrm>
          <a:prstGeom prst="ellipse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34440" y="4892040"/>
            <a:ext cx="2788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签约越长、规模越大，减免越多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16552" y="1783080"/>
            <a:ext cx="3520440" cy="4114800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416552" y="1783080"/>
            <a:ext cx="3520440" cy="1097280"/>
          </a:xfrm>
          <a:prstGeom prst="round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16552" y="2514600"/>
            <a:ext cx="3520440" cy="36576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3712" y="1874519"/>
            <a:ext cx="3246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FFFFFF"/>
                </a:solidFill>
                <a:latin typeface="Microsoft YaHei"/>
                <a:ea typeface="Microsoft YaHei"/>
              </a:rPr>
              <a:t>算力补贴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53712" y="2542032"/>
            <a:ext cx="32461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大厂算力直接补贴</a:t>
            </a:r>
          </a:p>
        </p:txBody>
      </p:sp>
      <p:sp>
        <p:nvSpPr>
          <p:cNvPr id="26" name="Oval 25"/>
          <p:cNvSpPr/>
          <p:nvPr/>
        </p:nvSpPr>
        <p:spPr>
          <a:xfrm>
            <a:off x="4690872" y="3227832"/>
            <a:ext cx="109728" cy="109728"/>
          </a:xfrm>
          <a:prstGeom prst="ellipse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19472" y="3154680"/>
            <a:ext cx="2788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发放 token 算力券 / 代金额度</a:t>
            </a:r>
          </a:p>
        </p:txBody>
      </p:sp>
      <p:sp>
        <p:nvSpPr>
          <p:cNvPr id="28" name="Oval 27"/>
          <p:cNvSpPr/>
          <p:nvPr/>
        </p:nvSpPr>
        <p:spPr>
          <a:xfrm>
            <a:off x="4690872" y="4096512"/>
            <a:ext cx="109728" cy="109728"/>
          </a:xfrm>
          <a:prstGeom prst="ellipse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19472" y="4023360"/>
            <a:ext cx="2788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对接火山引擎 / 腾讯云补贴池</a:t>
            </a:r>
          </a:p>
        </p:txBody>
      </p:sp>
      <p:sp>
        <p:nvSpPr>
          <p:cNvPr id="30" name="Oval 29"/>
          <p:cNvSpPr/>
          <p:nvPr/>
        </p:nvSpPr>
        <p:spPr>
          <a:xfrm>
            <a:off x="4690872" y="4965192"/>
            <a:ext cx="109728" cy="109728"/>
          </a:xfrm>
          <a:prstGeom prst="ellipse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19472" y="4892040"/>
            <a:ext cx="2788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按企业规模分档授信额度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1584" y="1783080"/>
            <a:ext cx="3520440" cy="4114800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101584" y="1783080"/>
            <a:ext cx="3520440" cy="1097280"/>
          </a:xfrm>
          <a:prstGeom prst="roundRect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01584" y="2514600"/>
            <a:ext cx="3520440" cy="365760"/>
          </a:xfrm>
          <a:prstGeom prst="rect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38744" y="1874519"/>
            <a:ext cx="3246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FFFFFF"/>
                </a:solidFill>
                <a:latin typeface="Microsoft YaHei"/>
                <a:ea typeface="Microsoft YaHei"/>
              </a:rPr>
              <a:t>运营与产品消费补贴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38744" y="2542032"/>
            <a:ext cx="32461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云服务 + 产品 + 运营</a:t>
            </a:r>
          </a:p>
        </p:txBody>
      </p:sp>
      <p:sp>
        <p:nvSpPr>
          <p:cNvPr id="37" name="Oval 36"/>
          <p:cNvSpPr/>
          <p:nvPr/>
        </p:nvSpPr>
        <p:spPr>
          <a:xfrm>
            <a:off x="8375904" y="3227832"/>
            <a:ext cx="109728" cy="109728"/>
          </a:xfrm>
          <a:prstGeom prst="ellipse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04504" y="3154680"/>
            <a:ext cx="2788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云产品消费折扣与返券</a:t>
            </a:r>
          </a:p>
        </p:txBody>
      </p:sp>
      <p:sp>
        <p:nvSpPr>
          <p:cNvPr id="39" name="Oval 38"/>
          <p:cNvSpPr/>
          <p:nvPr/>
        </p:nvSpPr>
        <p:spPr>
          <a:xfrm>
            <a:off x="8375904" y="4096512"/>
            <a:ext cx="109728" cy="109728"/>
          </a:xfrm>
          <a:prstGeom prst="ellipse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04504" y="4023360"/>
            <a:ext cx="2788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大厂产品采购专项补贴</a:t>
            </a:r>
          </a:p>
        </p:txBody>
      </p:sp>
      <p:sp>
        <p:nvSpPr>
          <p:cNvPr id="41" name="Oval 40"/>
          <p:cNvSpPr/>
          <p:nvPr/>
        </p:nvSpPr>
        <p:spPr>
          <a:xfrm>
            <a:off x="8375904" y="4965192"/>
            <a:ext cx="109728" cy="109728"/>
          </a:xfrm>
          <a:prstGeom prst="ellipse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04504" y="4892040"/>
            <a:ext cx="2788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运营 / 培训 / 上云服务补贴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8BE6"/>
                </a:solidFill>
                <a:latin typeface="Microsoft YaHei"/>
                <a:ea typeface="Microsoft YaHei"/>
              </a:rPr>
              <a:t>06  补贴标准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0B2A5B"/>
                </a:solidFill>
                <a:latin typeface="Microsoft YaHei"/>
                <a:ea typeface="Microsoft YaHei"/>
              </a:rPr>
              <a:t>补贴标准一览（按企业规模分档）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371600"/>
            <a:ext cx="1371600" cy="54864"/>
          </a:xfrm>
          <a:prstGeom prst="rect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0" y="457200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472"/>
                </a:solidFill>
                <a:latin typeface="Microsoft YaHei"/>
                <a:ea typeface="Microsoft YaHei"/>
              </a:rPr>
              <a:t>06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  <a:ea typeface="Microsoft YaHei"/>
              </a:rPr>
              <a:t>源信网络 × 复旦大学住房政策研究中心 × 杨浦区科技企业联合会  |  算力补贴合作方案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1520" y="1828800"/>
          <a:ext cx="10698480" cy="36850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828800"/>
                <a:gridCol w="1691640"/>
                <a:gridCol w="1463040"/>
                <a:gridCol w="1737360"/>
                <a:gridCol w="1691640"/>
              </a:tblGrid>
              <a:tr h="53035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企业规模（人）</a:t>
                      </a:r>
                    </a:p>
                  </a:txBody>
                  <a:tcPr marL="45720" marR="45720" marT="18288" marB="18288" anchor="ctr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算力补贴额度</a:t>
                      </a: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(元/年)</a:t>
                      </a:r>
                    </a:p>
                  </a:txBody>
                  <a:tcPr marL="45720" marR="45720" marT="18288" marB="18288" anchor="ctr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免费消费券</a:t>
                      </a:r>
                    </a:p>
                  </a:txBody>
                  <a:tcPr marL="45720" marR="45720" marT="18288" marB="18288" anchor="ctr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租金减免</a:t>
                      </a: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方案</a:t>
                      </a:r>
                    </a:p>
                  </a:txBody>
                  <a:tcPr marL="45720" marR="45720" marT="18288" marB="18288" anchor="ctr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云/运营</a:t>
                      </a: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消费补贴</a:t>
                      </a:r>
                    </a:p>
                  </a:txBody>
                  <a:tcPr marL="45720" marR="45720" marT="18288" marB="18288" anchor="ctr">
                    <a:solidFill>
                      <a:srgbClr val="0B2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大额签约</a:t>
                      </a: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折扣</a:t>
                      </a:r>
                    </a:p>
                  </a:txBody>
                  <a:tcPr marL="45720" marR="45720" marT="18288" marB="18288" anchor="ctr">
                    <a:solidFill>
                      <a:srgbClr val="0B2A5B"/>
                    </a:solidFill>
                  </a:tcPr>
                </a:tc>
              </a:tr>
              <a:tr h="630936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0B2A5B"/>
                          </a:solidFill>
                          <a:latin typeface="Microsoft YaHei"/>
                          <a:ea typeface="Microsoft YaHei"/>
                        </a:rPr>
                        <a:t>0–50（含）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5 万 token券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5 万元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免1补1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8.5 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9.5 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0B2A5B"/>
                          </a:solidFill>
                          <a:latin typeface="Microsoft YaHei"/>
                          <a:ea typeface="Microsoft YaHei"/>
                        </a:rPr>
                        <a:t>50–100（含）</a:t>
                      </a:r>
                    </a:p>
                  </a:txBody>
                  <a:tcPr marL="45720" marR="45720" marT="18288" marB="18288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15 万</a:t>
                      </a:r>
                    </a:p>
                  </a:txBody>
                  <a:tcPr marL="45720" marR="45720" marT="18288" marB="18288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5 万元</a:t>
                      </a:r>
                    </a:p>
                  </a:txBody>
                  <a:tcPr marL="45720" marR="45720" marT="18288" marB="18288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免2补1</a:t>
                      </a:r>
                    </a:p>
                  </a:txBody>
                  <a:tcPr marL="45720" marR="45720" marT="18288" marB="18288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8.0 折</a:t>
                      </a:r>
                    </a:p>
                  </a:txBody>
                  <a:tcPr marL="45720" marR="45720" marT="18288" marB="18288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9.0 折</a:t>
                      </a:r>
                    </a:p>
                  </a:txBody>
                  <a:tcPr marL="45720" marR="45720" marT="18288" marB="18288" anchor="ctr">
                    <a:solidFill>
                      <a:srgbClr val="EAF2FB"/>
                    </a:solidFill>
                  </a:tcPr>
                </a:tc>
              </a:tr>
              <a:tr h="630936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0B2A5B"/>
                          </a:solidFill>
                          <a:latin typeface="Microsoft YaHei"/>
                          <a:ea typeface="Microsoft YaHei"/>
                        </a:rPr>
                        <a:t>100–300（含）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30 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5 万元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免2补2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7.5 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8.5 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630936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0B2A5B"/>
                          </a:solidFill>
                          <a:latin typeface="Microsoft YaHei"/>
                          <a:ea typeface="Microsoft YaHei"/>
                        </a:rPr>
                        <a:t>300–500（含）</a:t>
                      </a:r>
                    </a:p>
                  </a:txBody>
                  <a:tcPr marL="45720" marR="45720" marT="18288" marB="18288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60 万</a:t>
                      </a:r>
                    </a:p>
                  </a:txBody>
                  <a:tcPr marL="45720" marR="45720" marT="18288" marB="18288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5 万元</a:t>
                      </a:r>
                    </a:p>
                  </a:txBody>
                  <a:tcPr marL="45720" marR="45720" marT="18288" marB="18288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免3补2</a:t>
                      </a:r>
                    </a:p>
                  </a:txBody>
                  <a:tcPr marL="45720" marR="45720" marT="18288" marB="18288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7.0 折</a:t>
                      </a:r>
                    </a:p>
                  </a:txBody>
                  <a:tcPr marL="45720" marR="45720" marT="18288" marB="18288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8.5 折</a:t>
                      </a:r>
                    </a:p>
                  </a:txBody>
                  <a:tcPr marL="45720" marR="45720" marT="18288" marB="18288" anchor="ctr">
                    <a:solidFill>
                      <a:srgbClr val="EAF2FB"/>
                    </a:solidFill>
                  </a:tcPr>
                </a:tc>
              </a:tr>
              <a:tr h="630936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0B2A5B"/>
                          </a:solidFill>
                          <a:latin typeface="Microsoft YaHei"/>
                          <a:ea typeface="Microsoft YaHei"/>
                        </a:rPr>
                        <a:t>&gt; 500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100 万 + 定制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5 万元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免3补3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6.5 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8.0 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31520" y="5715000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A02D"/>
                </a:solidFill>
                <a:latin typeface="Microsoft YaHei"/>
                <a:ea typeface="Microsoft YaHei"/>
              </a:rPr>
              <a:t>说明：</a:t>
            </a:r>
            <a:r>
              <a:rPr sz="1100" b="0">
                <a:solidFill>
                  <a:srgbClr val="5A6472"/>
                </a:solidFill>
                <a:latin typeface="Microsoft YaHei"/>
                <a:ea typeface="Microsoft YaHei"/>
              </a:rPr>
              <a:t>以上为建议方案，最终额度以大厂补贴政策及三方协议为准；“免X补X”指首年租金由载体减免与补贴池共担。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8BE6"/>
                </a:solidFill>
                <a:latin typeface="Microsoft YaHei"/>
                <a:ea typeface="Microsoft YaHei"/>
              </a:rPr>
              <a:t>07  园区政策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0B2A5B"/>
                </a:solidFill>
                <a:latin typeface="Microsoft YaHei"/>
                <a:ea typeface="Microsoft YaHei"/>
              </a:rPr>
              <a:t>火山引擎 · 园区独立政策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371600"/>
            <a:ext cx="1371600" cy="54864"/>
          </a:xfrm>
          <a:prstGeom prst="rect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0" y="457200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472"/>
                </a:solidFill>
                <a:latin typeface="Microsoft YaHei"/>
                <a:ea typeface="Microsoft YaHei"/>
              </a:rPr>
              <a:t>07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  <a:ea typeface="Microsoft YaHei"/>
              </a:rPr>
              <a:t>源信网络 × 复旦大学住房政策研究中心 × 杨浦区科技企业联合会  |  算力补贴合作方案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81328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2A02D"/>
                </a:solidFill>
                <a:latin typeface="Microsoft YaHei"/>
                <a:ea typeface="Microsoft YaHei"/>
              </a:rPr>
              <a:t>最新进展：</a:t>
            </a:r>
            <a:r>
              <a:rPr sz="1300" b="0">
                <a:solidFill>
                  <a:srgbClr val="5A6472"/>
                </a:solidFill>
                <a:latin typeface="Microsoft YaHei"/>
                <a:ea typeface="Microsoft YaHei"/>
              </a:rPr>
              <a:t>已为园区申请到火山引擎专属独立政策，以下为已沟通确认方案。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938528"/>
            <a:ext cx="10698480" cy="1078992"/>
          </a:xfrm>
          <a:prstGeom prst="round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1938528"/>
            <a:ext cx="1417320" cy="1078992"/>
          </a:xfrm>
          <a:prstGeom prst="roundRect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" y="1938528"/>
            <a:ext cx="320040" cy="1078992"/>
          </a:xfrm>
          <a:prstGeom prst="rect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938528"/>
            <a:ext cx="141732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  <a:ea typeface="Microsoft YaHei"/>
              </a:rPr>
              <a:t>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23160" y="2121408"/>
            <a:ext cx="8778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00B4D8"/>
                </a:solidFill>
                <a:latin typeface="Microsoft YaHei"/>
                <a:ea typeface="Microsoft YaHei"/>
              </a:rPr>
              <a:t>（一）无门槛 · 半年费用免费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3160" y="2578608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EAF2FB"/>
                </a:solidFill>
                <a:latin typeface="Microsoft YaHei"/>
                <a:ea typeface="Microsoft YaHei"/>
              </a:rPr>
              <a:t>按预估半年费用一次性发放代金券，园区企业 0 门槛即可享用。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218688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25CC4"/>
                </a:solidFill>
                <a:latin typeface="Microsoft YaHei"/>
                <a:ea typeface="Microsoft YaHei"/>
              </a:rPr>
              <a:t>（二）大客户额外折扣</a:t>
            </a:r>
            <a:r>
              <a:rPr sz="1250" b="0">
                <a:solidFill>
                  <a:srgbClr val="5A6472"/>
                </a:solidFill>
                <a:latin typeface="Microsoft YaHei"/>
                <a:ea typeface="Microsoft YaHei"/>
              </a:rPr>
              <a:t>（在代金券之外，可叠加；按累计消费分档）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1984248" y="3584448"/>
          <a:ext cx="822960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14800"/>
                <a:gridCol w="41148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累计消费（万元）</a:t>
                      </a:r>
                    </a:p>
                  </a:txBody>
                  <a:tcPr anchor="ctr" marT="9144" marB="9144"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额外折扣（除代金券外）</a:t>
                      </a:r>
                    </a:p>
                  </a:txBody>
                  <a:tcPr anchor="ctr" marT="9144" marB="9144">
                    <a:solidFill>
                      <a:srgbClr val="0B2A5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0 – 10</a:t>
                      </a:r>
                    </a:p>
                  </a:txBody>
                  <a:tcPr anchor="ctr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25CC4"/>
                          </a:solidFill>
                          <a:latin typeface="Microsoft YaHei"/>
                          <a:ea typeface="Microsoft YaHei"/>
                        </a:rPr>
                        <a:t>5 折 ～ 7 折</a:t>
                      </a:r>
                    </a:p>
                  </a:txBody>
                  <a:tcPr anchor="ctr" marT="9144" marB="9144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10 – 30</a:t>
                      </a:r>
                    </a:p>
                  </a:txBody>
                  <a:tcPr anchor="ctr" marT="9144" marB="9144"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25CC4"/>
                          </a:solidFill>
                          <a:latin typeface="Microsoft YaHei"/>
                          <a:ea typeface="Microsoft YaHei"/>
                        </a:rPr>
                        <a:t>4.5 折 ～ 5 折</a:t>
                      </a:r>
                    </a:p>
                  </a:txBody>
                  <a:tcPr anchor="ctr" marT="9144" marB="9144">
                    <a:solidFill>
                      <a:srgbClr val="EAF2F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30 – 50</a:t>
                      </a:r>
                    </a:p>
                  </a:txBody>
                  <a:tcPr anchor="ctr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25CC4"/>
                          </a:solidFill>
                          <a:latin typeface="Microsoft YaHei"/>
                          <a:ea typeface="Microsoft YaHei"/>
                        </a:rPr>
                        <a:t>4 折 ～ 4.5 折</a:t>
                      </a:r>
                    </a:p>
                  </a:txBody>
                  <a:tcPr anchor="ctr" marT="9144" marB="9144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50 – 100</a:t>
                      </a:r>
                    </a:p>
                  </a:txBody>
                  <a:tcPr anchor="ctr" marT="9144" marB="9144"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25CC4"/>
                          </a:solidFill>
                          <a:latin typeface="Microsoft YaHei"/>
                          <a:ea typeface="Microsoft YaHei"/>
                        </a:rPr>
                        <a:t>3.5 折 ～ 4 折</a:t>
                      </a:r>
                    </a:p>
                  </a:txBody>
                  <a:tcPr anchor="ctr" marT="9144" marB="9144">
                    <a:solidFill>
                      <a:srgbClr val="EAF2F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100 – 300</a:t>
                      </a:r>
                    </a:p>
                  </a:txBody>
                  <a:tcPr anchor="ctr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25CC4"/>
                          </a:solidFill>
                          <a:latin typeface="Microsoft YaHei"/>
                          <a:ea typeface="Microsoft YaHei"/>
                        </a:rPr>
                        <a:t>3 折 ～ 3.5 折</a:t>
                      </a:r>
                    </a:p>
                  </a:txBody>
                  <a:tcPr anchor="ctr" marT="9144" marB="9144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2433"/>
                          </a:solidFill>
                          <a:latin typeface="Microsoft YaHei"/>
                          <a:ea typeface="Microsoft YaHei"/>
                        </a:rPr>
                        <a:t>300 – 500 +</a:t>
                      </a:r>
                    </a:p>
                  </a:txBody>
                  <a:tcPr anchor="ctr" marT="9144" marB="9144"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25CC4"/>
                          </a:solidFill>
                          <a:latin typeface="Microsoft YaHei"/>
                          <a:ea typeface="Microsoft YaHei"/>
                        </a:rPr>
                        <a:t>2.5 折 ～ 3 折</a:t>
                      </a:r>
                    </a:p>
                  </a:txBody>
                  <a:tcPr anchor="ctr" marT="9144" marB="9144">
                    <a:solidFill>
                      <a:srgbClr val="EAF2FB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731520" y="6172200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A02D"/>
                </a:solidFill>
                <a:latin typeface="Microsoft YaHei"/>
                <a:ea typeface="Microsoft YaHei"/>
              </a:rPr>
              <a:t>说明：</a:t>
            </a:r>
            <a:r>
              <a:rPr sz="1100" b="0">
                <a:solidFill>
                  <a:srgbClr val="5A6472"/>
                </a:solidFill>
                <a:latin typeface="Microsoft YaHei"/>
                <a:ea typeface="Microsoft YaHei"/>
              </a:rPr>
              <a:t>折扣随累计消费提升而走低（越用越优惠），与半年免费代金券可叠加享受；具体以火山引擎最终政策为准。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8BE6"/>
                </a:solidFill>
                <a:latin typeface="Microsoft YaHei"/>
                <a:ea typeface="Microsoft YaHei"/>
              </a:rPr>
              <a:t>08  共赢价值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0B2A5B"/>
                </a:solidFill>
                <a:latin typeface="Microsoft YaHei"/>
                <a:ea typeface="Microsoft YaHei"/>
              </a:rPr>
              <a:t>三方共赢与协同价值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371600"/>
            <a:ext cx="1371600" cy="54864"/>
          </a:xfrm>
          <a:prstGeom prst="rect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0" y="457200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472"/>
                </a:solidFill>
                <a:latin typeface="Microsoft YaHei"/>
                <a:ea typeface="Microsoft YaHei"/>
              </a:rPr>
              <a:t>08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  <a:ea typeface="Microsoft YaHei"/>
              </a:rPr>
              <a:t>源信网络 × 复旦大学住房政策研究中心 × 杨浦区科技企业联合会  |  算力补贴合作方案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783080"/>
            <a:ext cx="5257800" cy="1874519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783080"/>
            <a:ext cx="146304" cy="1874519"/>
          </a:xfrm>
          <a:prstGeom prst="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1947672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25CC4"/>
                </a:solidFill>
                <a:latin typeface="Microsoft YaHei"/>
                <a:ea typeface="Microsoft YaHei"/>
              </a:rPr>
              <a:t>大厂（火山/腾讯）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441448"/>
            <a:ext cx="4617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25CC4"/>
                </a:solidFill>
                <a:latin typeface="Microsoft YaHei"/>
                <a:ea typeface="Microsoft YaHei"/>
              </a:rPr>
              <a:t>● </a:t>
            </a: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精准触达 B 端企业客户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834640"/>
            <a:ext cx="4617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25CC4"/>
                </a:solidFill>
                <a:latin typeface="Microsoft YaHei"/>
                <a:ea typeface="Microsoft YaHei"/>
              </a:rPr>
              <a:t>● </a:t>
            </a: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补贴转化为云消费与留存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227831"/>
            <a:ext cx="4617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25CC4"/>
                </a:solidFill>
                <a:latin typeface="Microsoft YaHei"/>
                <a:ea typeface="Microsoft YaHei"/>
              </a:rPr>
              <a:t>● </a:t>
            </a: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打造区域算力普惠样板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257800" cy="1874519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146304" cy="1874519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1947672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0B4D8"/>
                </a:solidFill>
                <a:latin typeface="Microsoft YaHei"/>
                <a:ea typeface="Microsoft YaHei"/>
              </a:rPr>
              <a:t>楼宇 / 园区物业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2441448"/>
            <a:ext cx="4617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0B4D8"/>
                </a:solidFill>
                <a:latin typeface="Microsoft YaHei"/>
                <a:ea typeface="Microsoft YaHei"/>
              </a:rPr>
              <a:t>● </a:t>
            </a: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差异化招商卖点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2834640"/>
            <a:ext cx="4617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0B4D8"/>
                </a:solidFill>
                <a:latin typeface="Microsoft YaHei"/>
                <a:ea typeface="Microsoft YaHei"/>
              </a:rPr>
              <a:t>● </a:t>
            </a: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提升入驻率与续约率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227831"/>
            <a:ext cx="4617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0B4D8"/>
                </a:solidFill>
                <a:latin typeface="Microsoft YaHei"/>
                <a:ea typeface="Microsoft YaHei"/>
              </a:rPr>
              <a:t>● </a:t>
            </a: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升级为“算力友好型”载体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840480"/>
            <a:ext cx="5257800" cy="1874519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3840480"/>
            <a:ext cx="146304" cy="1874519"/>
          </a:xfrm>
          <a:prstGeom prst="rect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005072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2A02D"/>
                </a:solidFill>
                <a:latin typeface="Microsoft YaHei"/>
                <a:ea typeface="Microsoft YaHei"/>
              </a:rPr>
              <a:t>入驻 B 端企业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4498848"/>
            <a:ext cx="4617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A02D"/>
                </a:solidFill>
                <a:latin typeface="Microsoft YaHei"/>
                <a:ea typeface="Microsoft YaHei"/>
              </a:rPr>
              <a:t>● </a:t>
            </a: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降低用云与租金成本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892040"/>
            <a:ext cx="4617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A02D"/>
                </a:solidFill>
                <a:latin typeface="Microsoft YaHei"/>
                <a:ea typeface="Microsoft YaHei"/>
              </a:rPr>
              <a:t>● </a:t>
            </a: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获得算力与上云支持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5285231"/>
            <a:ext cx="4617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A02D"/>
                </a:solidFill>
                <a:latin typeface="Microsoft YaHei"/>
                <a:ea typeface="Microsoft YaHei"/>
              </a:rPr>
              <a:t>● </a:t>
            </a: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加速 AI 应用落地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3840480"/>
            <a:ext cx="5257800" cy="1874519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63640" y="3840480"/>
            <a:ext cx="146304" cy="1874519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9400" y="4005072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B2A5B"/>
                </a:solidFill>
                <a:latin typeface="Microsoft YaHei"/>
                <a:ea typeface="Microsoft YaHei"/>
              </a:rPr>
              <a:t>源信网络 + 研究中心 + 联合会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4498848"/>
            <a:ext cx="4617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B2A5B"/>
                </a:solidFill>
                <a:latin typeface="Microsoft YaHei"/>
                <a:ea typeface="Microsoft YaHei"/>
              </a:rPr>
              <a:t>● </a:t>
            </a: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运营服务与生态收益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4892040"/>
            <a:ext cx="4617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B2A5B"/>
                </a:solidFill>
                <a:latin typeface="Microsoft YaHei"/>
                <a:ea typeface="Microsoft YaHei"/>
              </a:rPr>
              <a:t>● </a:t>
            </a: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政策研究与成果背书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5285231"/>
            <a:ext cx="4617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B2A5B"/>
                </a:solidFill>
                <a:latin typeface="Microsoft YaHei"/>
                <a:ea typeface="Microsoft YaHei"/>
              </a:rPr>
              <a:t>● </a:t>
            </a: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区域科创影响力提升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8BE6"/>
                </a:solidFill>
                <a:latin typeface="Microsoft YaHei"/>
                <a:ea typeface="Microsoft YaHei"/>
              </a:rPr>
              <a:t>09  可复制模式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0B2A5B"/>
                </a:solidFill>
                <a:latin typeface="Microsoft YaHei"/>
                <a:ea typeface="Microsoft YaHei"/>
              </a:rPr>
              <a:t>开放式 · 可复制合作模式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371600"/>
            <a:ext cx="1371600" cy="54864"/>
          </a:xfrm>
          <a:prstGeom prst="rect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0" y="457200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472"/>
                </a:solidFill>
                <a:latin typeface="Microsoft YaHei"/>
                <a:ea typeface="Microsoft YaHei"/>
              </a:rPr>
              <a:t>09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  <a:ea typeface="Microsoft YaHei"/>
              </a:rPr>
              <a:t>源信网络 × 复旦大学住房政策研究中心 × 杨浦区科技企业联合会  |  算力补贴合作方案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572768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A6472"/>
                </a:solidFill>
                <a:latin typeface="Microsoft YaHei"/>
                <a:ea typeface="Microsoft YaHei"/>
              </a:rPr>
              <a:t>把三方合作沉淀为“一次设计、处处可用”的开放式算力普惠样板——任何楼宇 / 园区 / 区域均可低成本接入与复制。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240280"/>
            <a:ext cx="5257800" cy="1783080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2240280"/>
            <a:ext cx="1417320" cy="1783080"/>
          </a:xfrm>
          <a:prstGeom prst="round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28800" y="2240280"/>
            <a:ext cx="365760" cy="1783080"/>
          </a:xfrm>
          <a:prstGeom prst="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240280"/>
            <a:ext cx="1234440" cy="1783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496312"/>
            <a:ext cx="3429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25CC4"/>
                </a:solidFill>
                <a:latin typeface="Microsoft YaHei"/>
                <a:ea typeface="Microsoft YaHei"/>
              </a:rPr>
              <a:t>标准化模板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3017520"/>
            <a:ext cx="338328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合作协议、准入条件、补贴标准、核销流程全部模板化，开箱即用。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240280"/>
            <a:ext cx="5257800" cy="1783080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63640" y="2240280"/>
            <a:ext cx="1417320" cy="1783080"/>
          </a:xfrm>
          <a:prstGeom prst="round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60920" y="2240280"/>
            <a:ext cx="365760" cy="178308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2240280"/>
            <a:ext cx="1234440" cy="1783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9560" y="2496312"/>
            <a:ext cx="3429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0B4D8"/>
                </a:solidFill>
                <a:latin typeface="Microsoft YaHei"/>
                <a:ea typeface="Microsoft YaHei"/>
              </a:rPr>
              <a:t>模块化组合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9560" y="3017520"/>
            <a:ext cx="338328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算力补贴 / 租金减免 / 消费补贴可按载体需求自由拼装组合。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178808"/>
            <a:ext cx="5257800" cy="1783080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1520" y="4178808"/>
            <a:ext cx="1417320" cy="1783080"/>
          </a:xfrm>
          <a:prstGeom prst="roundRect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28800" y="4178808"/>
            <a:ext cx="365760" cy="1783080"/>
          </a:xfrm>
          <a:prstGeom prst="rect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4178808"/>
            <a:ext cx="1234440" cy="1783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77440" y="4434840"/>
            <a:ext cx="3429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F2A02D"/>
                </a:solidFill>
                <a:latin typeface="Microsoft YaHei"/>
                <a:ea typeface="Microsoft YaHei"/>
              </a:rPr>
              <a:t>开放式接入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77440" y="4956048"/>
            <a:ext cx="338328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对大厂、物业、园区、企业开放，白名单动态扩容、平台化运营。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4178808"/>
            <a:ext cx="5257800" cy="1783080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263640" y="4178808"/>
            <a:ext cx="1417320" cy="1783080"/>
          </a:xfrm>
          <a:prstGeom prst="round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60920" y="4178808"/>
            <a:ext cx="365760" cy="178308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5080" y="4178808"/>
            <a:ext cx="1234440" cy="1783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09560" y="4434840"/>
            <a:ext cx="3429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B2A5B"/>
                </a:solidFill>
                <a:latin typeface="Microsoft YaHei"/>
                <a:ea typeface="Microsoft YaHei"/>
              </a:rPr>
              <a:t>可复制推广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09560" y="4956048"/>
            <a:ext cx="338328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一套打法复制到多楼宇、多园区乃至跨区域，边际成本递减。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6144768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 typeface="Microsoft YaHei"/>
              </a:rPr>
              <a:t>开放接入 · 标准复制 · 平台运营 —— 形成可持续扩张的算力普惠生态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8BE6"/>
                </a:solidFill>
                <a:latin typeface="Microsoft YaHei"/>
                <a:ea typeface="Microsoft YaHei"/>
              </a:rPr>
              <a:t>10  落地路径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0B2A5B"/>
                </a:solidFill>
                <a:latin typeface="Microsoft YaHei"/>
                <a:ea typeface="Microsoft YaHei"/>
              </a:rPr>
              <a:t>落地路径与下一步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371600"/>
            <a:ext cx="1371600" cy="54864"/>
          </a:xfrm>
          <a:prstGeom prst="rect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0" y="457200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472"/>
                </a:solidFill>
                <a:latin typeface="Microsoft YaHei"/>
                <a:ea typeface="Microsoft YaHei"/>
              </a:rPr>
              <a:t>10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472"/>
                </a:solidFill>
                <a:latin typeface="Microsoft YaHei"/>
                <a:ea typeface="Microsoft YaHei"/>
              </a:rPr>
              <a:t>源信网络 × 复旦大学住房政策研究中心 × 杨浦区科技企业联合会  |  算力补贴合作方案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828800"/>
            <a:ext cx="3474720" cy="2286000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" y="1828800"/>
            <a:ext cx="3474720" cy="868680"/>
          </a:xfrm>
          <a:prstGeom prst="roundRect">
            <a:avLst/>
          </a:prstGeom>
          <a:solidFill>
            <a:srgbClr val="125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920240"/>
            <a:ext cx="3474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第一阶段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试点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880360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选取 1–2 个标杆楼宇 / 园区，确定补贴池与白名单，落地首批企业。</a:t>
            </a:r>
          </a:p>
        </p:txBody>
      </p:sp>
      <p:sp>
        <p:nvSpPr>
          <p:cNvPr id="14" name="Chevron 13"/>
          <p:cNvSpPr/>
          <p:nvPr/>
        </p:nvSpPr>
        <p:spPr>
          <a:xfrm>
            <a:off x="4233672" y="2697480"/>
            <a:ext cx="201168" cy="548640"/>
          </a:xfrm>
          <a:prstGeom prst="chevron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89120" y="1828800"/>
            <a:ext cx="3474720" cy="2286000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89120" y="1828800"/>
            <a:ext cx="3474720" cy="868680"/>
          </a:xfrm>
          <a:prstGeom prst="round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1920240"/>
            <a:ext cx="3474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第二阶段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推广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880360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总结试点成效，由联合会组织区内载体规模化申报与宣贯。</a:t>
            </a:r>
          </a:p>
        </p:txBody>
      </p:sp>
      <p:sp>
        <p:nvSpPr>
          <p:cNvPr id="19" name="Chevron 18"/>
          <p:cNvSpPr/>
          <p:nvPr/>
        </p:nvSpPr>
        <p:spPr>
          <a:xfrm>
            <a:off x="7845552" y="2697480"/>
            <a:ext cx="201168" cy="548640"/>
          </a:xfrm>
          <a:prstGeom prst="chevron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01000" y="1828800"/>
            <a:ext cx="3474720" cy="2286000"/>
          </a:xfrm>
          <a:prstGeom prst="roundRect">
            <a:avLst/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001000" y="1828800"/>
            <a:ext cx="3474720" cy="868680"/>
          </a:xfrm>
          <a:prstGeom prst="roundRect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0" y="1920240"/>
            <a:ext cx="3474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第三阶段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复制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2880360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B2433"/>
                </a:solidFill>
                <a:latin typeface="Microsoft YaHei"/>
                <a:ea typeface="Microsoft YaHei"/>
              </a:rPr>
              <a:t>形成标准化合作模板与政策研究报告，向全区乃至更大范围复制。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526280"/>
            <a:ext cx="10652760" cy="1417320"/>
          </a:xfrm>
          <a:prstGeom prst="round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663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0B4D8"/>
                </a:solidFill>
                <a:latin typeface="Microsoft YaHei"/>
                <a:ea typeface="Microsoft YaHei"/>
              </a:rPr>
              <a:t>下一步行动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5212080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① 三方明确分工与补贴池规模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5212080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② 对接大厂确认算力补贴政策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19" y="5212080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③ 确定首批试点载体与企业名单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2A5B"/>
              </a:gs>
              <a:gs pos="100000">
                <a:srgbClr val="125CC4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3200400"/>
            <a:ext cx="4572000" cy="4572000"/>
          </a:xfrm>
          <a:prstGeom prst="ellipse">
            <a:avLst/>
          </a:prstGeom>
          <a:solidFill>
            <a:srgbClr val="126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让算力普惠，赋能每一栋楼宇与园区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EAF2FB"/>
                </a:solidFill>
                <a:latin typeface="Microsoft YaHei"/>
                <a:ea typeface="Microsoft YaHei"/>
              </a:rPr>
              <a:t>期待与各方深度合作，共建区域 AI 算力普惠样板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846320"/>
            <a:ext cx="3108960" cy="5029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B2A5B"/>
                </a:solidFill>
                <a:latin typeface="Microsoft YaHei"/>
                <a:ea typeface="Microsoft YaHei"/>
              </a:rPr>
              <a:t>复旦大学住房政策研究中心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0" y="4846320"/>
            <a:ext cx="3108960" cy="5029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B2A5B"/>
                </a:solidFill>
                <a:latin typeface="Microsoft YaHei"/>
                <a:ea typeface="Microsoft YaHei"/>
              </a:rPr>
              <a:t>杨浦区科技企业联合会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4846320"/>
            <a:ext cx="1828800" cy="502920"/>
          </a:xfrm>
          <a:prstGeom prst="roundRect">
            <a:avLst/>
          </a:prstGeom>
          <a:solidFill>
            <a:srgbClr val="F2A0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</a:rPr>
              <a:t>源信网络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