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125CC4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A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108960"/>
            <a:ext cx="3840480" cy="3840480"/>
          </a:xfrm>
          <a:prstGeom prst="ellipse">
            <a:avLst/>
          </a:prstGeom>
          <a:solidFill>
            <a:srgbClr val="126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B4D8"/>
                </a:solidFill>
                <a:latin typeface="Microsoft YaHei"/>
                <a:ea typeface="Microsoft YaHei"/>
              </a:rPr>
              <a:t>AI 算力普惠 · 楼宇园区赋能计划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</a:rPr>
              <a:t>算力补贴三方合作方案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AF2FB"/>
                </a:solidFill>
                <a:latin typeface="Microsoft YaHei"/>
                <a:ea typeface="Microsoft YaHei"/>
              </a:rPr>
              <a:t>以大厂（火山引擎 / 腾讯云）token 算力补贴，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AF2FB"/>
                </a:solidFill>
                <a:latin typeface="Microsoft YaHei"/>
                <a:ea typeface="Microsoft YaHei"/>
              </a:rPr>
              <a:t>赋能办公楼、产业园区与科技载体内的 B 端企业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复旦大学住房政策研究中心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杨浦区科技企业联合会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846320"/>
            <a:ext cx="1828800" cy="50292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源信网络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AF2FB"/>
                </a:solidFill>
                <a:latin typeface="Microsoft YaHei"/>
                <a:ea typeface="Microsoft YaHei"/>
              </a:rPr>
              <a:t>汇报交流稿  · 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72768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72768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7007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合作背景与机遇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07568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AI 算力时代与杨浦科创生态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72768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572768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3736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7007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三方角色与定位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07568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复旦研究中心 · 科企联合会 · 源信网络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96896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596896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6148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7249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合作总体框架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09981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大厂算力补贴的传导与分发链路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96896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2596896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76148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7249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准入与申请条件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09981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高端办公门槛 + 5 万元无门槛消费券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21024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621024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8561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749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补贴与优惠方式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12394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租金减免 · 算力补贴 · 运营产品补贴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621024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3621024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78561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749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补贴标准表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2394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按企业规模分档的补贴一览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645152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645152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80974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773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三方共赢价值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514807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各方收益与协同效应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645152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63640" y="4645152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0974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73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开放式可复制模式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14807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标准化模板 · 开放接入 · 可复制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669280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5669280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83387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79729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落地路径与下一步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61722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试点—推广—复制的实施计划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01  合作背景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AI 算力时代的普惠机遇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01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84708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AI 算力成为新基建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828800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大模型与 AI Agent 应用爆发，token 算力成为企业研发与经营的刚需，但中小企业普遍面临用云成本高、门槛高的痛点。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16352"/>
            <a:ext cx="10698480" cy="914400"/>
          </a:xfrm>
          <a:prstGeom prst="roundRect">
            <a:avLst/>
          </a:prstGeom>
          <a:solidFill>
            <a:srgbClr val="DB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16352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大厂算力红利可被引导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07792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火山引擎、腾讯云等持续投入算力补贴与生态扶持，源信网络作为合作方可对接补贴资源，向楼宇 / 园区的 B 端企业精准分发。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95344"/>
            <a:ext cx="10698480" cy="9144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95344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05072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杨浦科创载体丰富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986784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杨浦区甲级写字楼、产业园区、科技载体集聚，企业密度高，是算力普惠政策落地的优质试验田。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74336"/>
            <a:ext cx="10698480" cy="914400"/>
          </a:xfrm>
          <a:prstGeom prst="roundRect">
            <a:avLst/>
          </a:prstGeom>
          <a:solidFill>
            <a:srgbClr val="DB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974336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84064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产学研政协同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065776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复旦大学住房政策研究中心提供政策研究与评估，科技企业联合会链接企业资源，源信网络负责运营落地，形成闭环。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02  合作主体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三方角色与定位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02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520440" cy="40233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3520440" cy="105156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3520440" cy="36576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复旦大学住房政策研究中心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3154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政策智库 · 研究背书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政策设计与合规研究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0448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补贴成效评估与课题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45736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产学研成果转化与背书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1783080"/>
            <a:ext cx="3520440" cy="40233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6552" y="1783080"/>
            <a:ext cx="3520440" cy="10515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2468880"/>
            <a:ext cx="3520440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1874519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杨浦区科技企业联合会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487168"/>
            <a:ext cx="3154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企业资源 · 组织协调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06324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对接区内企业与载体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90448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组织申报与政策宣贯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745736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汇集企业算力需求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1783080"/>
            <a:ext cx="3520440" cy="40233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01584" y="1783080"/>
            <a:ext cx="3520440" cy="105156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1584" y="2468880"/>
            <a:ext cx="3520440" cy="365760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874519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源信网络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487168"/>
            <a:ext cx="3154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运营落地 · 资源对接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306324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对接大厂算力补贴资源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1624" y="390448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统筹楼宇 / 园区合作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4745736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补贴发放与运营服务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 typeface="Microsoft YaHei"/>
              </a:rPr>
              <a:t>协同闭环：研究背书 → 企业组织 → 运营落地，共同放大大厂算力补贴的政策价值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03  合作框架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算力补贴的传导与分发链路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03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2514600" cy="164592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大厂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火山引擎 / 腾讯云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提供 token 算力补贴</a:t>
            </a:r>
          </a:p>
        </p:txBody>
      </p:sp>
      <p:sp>
        <p:nvSpPr>
          <p:cNvPr id="13" name="Chevron 12"/>
          <p:cNvSpPr/>
          <p:nvPr/>
        </p:nvSpPr>
        <p:spPr>
          <a:xfrm>
            <a:off x="3310128" y="2715768"/>
            <a:ext cx="237744" cy="50292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148840"/>
            <a:ext cx="2514600" cy="164592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源信网络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对接补贴 + 统筹运营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方案设计与发放</a:t>
            </a:r>
          </a:p>
        </p:txBody>
      </p:sp>
      <p:sp>
        <p:nvSpPr>
          <p:cNvPr id="17" name="Chevron 16"/>
          <p:cNvSpPr/>
          <p:nvPr/>
        </p:nvSpPr>
        <p:spPr>
          <a:xfrm>
            <a:off x="6099048" y="2715768"/>
            <a:ext cx="237744" cy="50292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79" y="2148840"/>
            <a:ext cx="2514600" cy="16459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物业 / 楼宇 / 园区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科技载体作为渠道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承接并落地政策</a:t>
            </a:r>
          </a:p>
        </p:txBody>
      </p:sp>
      <p:sp>
        <p:nvSpPr>
          <p:cNvPr id="21" name="Chevron 20"/>
          <p:cNvSpPr/>
          <p:nvPr/>
        </p:nvSpPr>
        <p:spPr>
          <a:xfrm>
            <a:off x="8887967" y="2715768"/>
            <a:ext cx="237744" cy="50292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3999" y="2148840"/>
            <a:ext cx="2514600" cy="164592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3999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B 端企业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园区楼宇内企业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享受算力与租金福利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97680"/>
            <a:ext cx="3474720" cy="14173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297680"/>
            <a:ext cx="3474720" cy="45720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补贴资源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由源信网络对接大厂算力补贴与生态资源池，统一额度池管理。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297680"/>
            <a:ext cx="3474720" cy="14173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4297680"/>
            <a:ext cx="347472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分发渠道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46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以楼宇 / 园区为载体白名单，按准入条件向企业发放。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4297680"/>
            <a:ext cx="3474720" cy="14173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01000" y="4297680"/>
            <a:ext cx="3474720" cy="45720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政策福利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46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企业端获得算力券、租金减免、云产品与运营补贴。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04  准入与申请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准入门槛与申请条件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04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6400800" cy="41605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6400800" cy="64008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0136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（一）高端办公场所 · 申请门槛（满足即可申请）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42032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入驻载体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42032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甲级写字楼 / 重点产业园 / 科技载体（园区·楼宇白名单）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企业属性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00400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注册及纳税在杨浦区，科技型、AI / 数字经济相关企业优先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58768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租赁规模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858768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租赁面积 ≥ 200㎡ 或 ≥ 10 个工位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17136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合作期限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517136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签约期 ≥ 12 个月，并承诺使用大厂云算力服务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75503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配合事项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175503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配合补贴核销、案例展示与政策研究数据采集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737360"/>
            <a:ext cx="4069080" cy="416052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0116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B4D8"/>
                </a:solidFill>
                <a:latin typeface="Microsoft YaHei"/>
                <a:ea typeface="Microsoft YaHei"/>
              </a:rPr>
              <a:t>（二）无门槛福利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60604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¥5万元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6118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A02D"/>
                </a:solidFill>
                <a:latin typeface="Microsoft YaHei"/>
                <a:ea typeface="Microsoft YaHei"/>
              </a:rPr>
              <a:t>免费 · 无门槛消费券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605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Microsoft YaHei"/>
                <a:ea typeface="Microsoft YaHei"/>
              </a:rPr>
              <a:t>✓ </a:t>
            </a:r>
            <a:r>
              <a:rPr sz="1200" b="0">
                <a:solidFill>
                  <a:srgbClr val="EAF2FB"/>
                </a:solidFill>
                <a:latin typeface="Microsoft YaHei"/>
                <a:ea typeface="Microsoft YaHei"/>
              </a:rPr>
              <a:t>园区 / 楼宇内企业均可领取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6177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Microsoft YaHei"/>
                <a:ea typeface="Microsoft YaHei"/>
              </a:rPr>
              <a:t>✓ </a:t>
            </a:r>
            <a:r>
              <a:rPr sz="1200" b="0">
                <a:solidFill>
                  <a:srgbClr val="EAF2FB"/>
                </a:solidFill>
                <a:latin typeface="Microsoft YaHei"/>
                <a:ea typeface="Microsoft YaHei"/>
              </a:rPr>
              <a:t>用于抵扣大厂云产品与算力消费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0749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Microsoft YaHei"/>
                <a:ea typeface="Microsoft YaHei"/>
              </a:rPr>
              <a:t>✓ </a:t>
            </a:r>
            <a:r>
              <a:rPr sz="1200" b="0">
                <a:solidFill>
                  <a:srgbClr val="EAF2FB"/>
                </a:solidFill>
                <a:latin typeface="Microsoft YaHei"/>
                <a:ea typeface="Microsoft YaHei"/>
              </a:rPr>
              <a:t>作为引流入口，先用起来再升级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05  补贴方式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补贴与优惠方式 · 三大支柱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05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520440" cy="41148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3520440" cy="109728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3520440" cy="36576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租金减免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3246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免几个月 · 补几个月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227832"/>
            <a:ext cx="109728" cy="109728"/>
          </a:xfrm>
          <a:prstGeom prst="ellipse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1546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按合作规模采取“免 X 月 + 补 X 月”折扣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096512"/>
            <a:ext cx="109728" cy="109728"/>
          </a:xfrm>
          <a:prstGeom prst="ellipse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6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由载体让利 + 补贴池共担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965192"/>
            <a:ext cx="109728" cy="109728"/>
          </a:xfrm>
          <a:prstGeom prst="ellipse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89204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签约越长、规模越大，减免越多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1783080"/>
            <a:ext cx="3520440" cy="41148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16552" y="1783080"/>
            <a:ext cx="3520440" cy="10972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2514600"/>
            <a:ext cx="3520440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874519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算力补贴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542032"/>
            <a:ext cx="3246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大厂算力直接补贴</a:t>
            </a:r>
          </a:p>
        </p:txBody>
      </p:sp>
      <p:sp>
        <p:nvSpPr>
          <p:cNvPr id="26" name="Oval 25"/>
          <p:cNvSpPr/>
          <p:nvPr/>
        </p:nvSpPr>
        <p:spPr>
          <a:xfrm>
            <a:off x="4690872" y="322783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31546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发放 token 算力券 / 代金额度</a:t>
            </a:r>
          </a:p>
        </p:txBody>
      </p:sp>
      <p:sp>
        <p:nvSpPr>
          <p:cNvPr id="28" name="Oval 27"/>
          <p:cNvSpPr/>
          <p:nvPr/>
        </p:nvSpPr>
        <p:spPr>
          <a:xfrm>
            <a:off x="4690872" y="409651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402336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对接火山引擎 / 腾讯云补贴池</a:t>
            </a:r>
          </a:p>
        </p:txBody>
      </p:sp>
      <p:sp>
        <p:nvSpPr>
          <p:cNvPr id="30" name="Oval 29"/>
          <p:cNvSpPr/>
          <p:nvPr/>
        </p:nvSpPr>
        <p:spPr>
          <a:xfrm>
            <a:off x="4690872" y="496519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489204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按企业规模分档授信额度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1783080"/>
            <a:ext cx="3520440" cy="41148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01584" y="1783080"/>
            <a:ext cx="3520440" cy="109728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1584" y="2514600"/>
            <a:ext cx="3520440" cy="365760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1874519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运营与产品消费补贴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2542032"/>
            <a:ext cx="3246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云服务 + 产品 + 运营</a:t>
            </a:r>
          </a:p>
        </p:txBody>
      </p:sp>
      <p:sp>
        <p:nvSpPr>
          <p:cNvPr id="37" name="Oval 36"/>
          <p:cNvSpPr/>
          <p:nvPr/>
        </p:nvSpPr>
        <p:spPr>
          <a:xfrm>
            <a:off x="8375904" y="3227832"/>
            <a:ext cx="109728" cy="109728"/>
          </a:xfrm>
          <a:prstGeom prst="ellipse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4504" y="31546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云产品消费折扣与返券</a:t>
            </a:r>
          </a:p>
        </p:txBody>
      </p:sp>
      <p:sp>
        <p:nvSpPr>
          <p:cNvPr id="39" name="Oval 38"/>
          <p:cNvSpPr/>
          <p:nvPr/>
        </p:nvSpPr>
        <p:spPr>
          <a:xfrm>
            <a:off x="8375904" y="4096512"/>
            <a:ext cx="109728" cy="109728"/>
          </a:xfrm>
          <a:prstGeom prst="ellipse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402336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大厂产品采购专项补贴</a:t>
            </a:r>
          </a:p>
        </p:txBody>
      </p:sp>
      <p:sp>
        <p:nvSpPr>
          <p:cNvPr id="41" name="Oval 40"/>
          <p:cNvSpPr/>
          <p:nvPr/>
        </p:nvSpPr>
        <p:spPr>
          <a:xfrm>
            <a:off x="8375904" y="4965192"/>
            <a:ext cx="109728" cy="109728"/>
          </a:xfrm>
          <a:prstGeom prst="ellipse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489204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运营 / 培训 / 上云服务补贴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06  补贴标准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补贴标准一览（按企业规模分档）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06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28800"/>
          <a:ext cx="10698480" cy="368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828800"/>
                <a:gridCol w="1691640"/>
                <a:gridCol w="1463040"/>
                <a:gridCol w="1737360"/>
                <a:gridCol w="1691640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企业规模（人）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算力补贴额度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(元/年)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免费消费券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租金减免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云/运营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消费补贴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大额签约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折扣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0–50（含）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 token券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免1补1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9.5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50–100（含）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15 万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免2补1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8.0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9.0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100–300（含）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30 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免2补2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7.5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300–500（含）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60 万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免3补2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7.0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8.5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&gt; 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100 万 + 定制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免3补3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6.5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8.0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说明：</a:t>
            </a: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以上为建议方案，最终额度以大厂补贴政策及三方协议为准；“免X补X”指首年租金由载体减免与补贴池共担。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07  共赢价值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三方共赢与协同价值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07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146304" cy="1874519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476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大厂（火山/腾讯）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14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精准触达 B 端企业客户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346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补贴转化为云消费与留存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278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打造区域算力普惠样板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146304" cy="1874519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476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Microsoft YaHei"/>
                <a:ea typeface="Microsoft YaHei"/>
              </a:rPr>
              <a:t>楼宇 / 园区物业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414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差异化招商卖点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提升入驻率与续约率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278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升级为“算力友好型”载体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146304" cy="1874519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050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A02D"/>
                </a:solidFill>
                <a:latin typeface="Microsoft YaHei"/>
                <a:ea typeface="Microsoft YaHei"/>
              </a:rPr>
              <a:t>入驻 B 端企业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988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降低用云与租金成本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920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获得算力与上云支持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2852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加速 AI 应用落地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8404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840480"/>
            <a:ext cx="146304" cy="187451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源信网络 + 研究中心 + 联合会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988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运营服务与生态收益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8920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政策研究与成果背书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852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区域科创影响力提升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08  可复制模式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开放式 · 可复制合作模式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08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472"/>
                </a:solidFill>
                <a:latin typeface="Microsoft YaHei"/>
                <a:ea typeface="Microsoft YaHei"/>
              </a:rPr>
              <a:t>把三方合作沉淀为“一次设计、处处可用”的开放式算力普惠样板——任何楼宇 / 园区 / 区域均可低成本接入与复制。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5257800" cy="178308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240280"/>
            <a:ext cx="1417320" cy="178308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2240280"/>
            <a:ext cx="365760" cy="178308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0280"/>
            <a:ext cx="1234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9631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5CC4"/>
                </a:solidFill>
                <a:latin typeface="Microsoft YaHei"/>
                <a:ea typeface="Microsoft YaHei"/>
              </a:rPr>
              <a:t>标准化模板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0"/>
            <a:ext cx="33832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合作协议、准入条件、补贴标准、核销流程全部模板化，开箱即用。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40280"/>
            <a:ext cx="5257800" cy="178308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240280"/>
            <a:ext cx="1417320" cy="17830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2240280"/>
            <a:ext cx="365760" cy="1783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40280"/>
            <a:ext cx="1234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49631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B4D8"/>
                </a:solidFill>
                <a:latin typeface="Microsoft YaHei"/>
                <a:ea typeface="Microsoft YaHei"/>
              </a:rPr>
              <a:t>模块化组合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017520"/>
            <a:ext cx="33832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算力补贴 / 租金减免 / 消费补贴可按载体需求自由拼装组合。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78808"/>
            <a:ext cx="5257800" cy="178308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178808"/>
            <a:ext cx="1417320" cy="178308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4178808"/>
            <a:ext cx="365760" cy="1783080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78808"/>
            <a:ext cx="1234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4348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2A02D"/>
                </a:solidFill>
                <a:latin typeface="Microsoft YaHei"/>
                <a:ea typeface="Microsoft YaHei"/>
              </a:rPr>
              <a:t>开放式接入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956048"/>
            <a:ext cx="33832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对大厂、物业、园区、企业开放，白名单动态扩容、平台化运营。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78808"/>
            <a:ext cx="5257800" cy="178308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4178808"/>
            <a:ext cx="1417320" cy="178308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4178808"/>
            <a:ext cx="365760" cy="178308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178808"/>
            <a:ext cx="1234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4348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B2A5B"/>
                </a:solidFill>
                <a:latin typeface="Microsoft YaHei"/>
                <a:ea typeface="Microsoft YaHei"/>
              </a:rPr>
              <a:t>可复制推广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956048"/>
            <a:ext cx="33832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一套打法复制到多楼宇、多园区乃至跨区域，边际成本递减。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4476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 typeface="Microsoft YaHei"/>
              </a:rPr>
              <a:t>开放接入 · 标准复制 · 平台运营 —— 形成可持续扩张的算力普惠生态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09  落地路径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落地路径与下一步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09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源信网络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3474720" cy="22860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3474720" cy="86868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803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选取 1–2 个标杆楼宇 / 园区，确定补贴池与白名单，落地首批企业。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4233672" y="2697480"/>
            <a:ext cx="201168" cy="54864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474720" cy="22860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74720" cy="8686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803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总结试点成效，由联合会组织区内载体规模化申报与宣贯。</a:t>
            </a:r>
          </a:p>
        </p:txBody>
      </p:sp>
      <p:sp>
        <p:nvSpPr>
          <p:cNvPr id="19" name="Chevron 18"/>
          <p:cNvSpPr/>
          <p:nvPr/>
        </p:nvSpPr>
        <p:spPr>
          <a:xfrm>
            <a:off x="7845552" y="2697480"/>
            <a:ext cx="201168" cy="54864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74720" cy="22860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1828800"/>
            <a:ext cx="3474720" cy="86868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9202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803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形成标准化合作模板与政策研究报告，向全区乃至更大范围复制。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26280"/>
            <a:ext cx="10652760" cy="141732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① 三方明确分工与补贴池规模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12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② 对接大厂确认算力补贴政策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5212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③ 确定首批试点载体与企业名单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125CC4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26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让算力普惠，赋能每一栋楼宇与园区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AF2FB"/>
                </a:solidFill>
                <a:latin typeface="Microsoft YaHei"/>
                <a:ea typeface="Microsoft YaHei"/>
              </a:rPr>
              <a:t>期待与各方深度合作，共建区域 AI 算力普惠样板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复旦大学住房政策研究中心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杨浦区科技企业联合会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846320"/>
            <a:ext cx="1828800" cy="50292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源信网络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