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31999"/>
            <a:ext cx="12192119" cy="432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1584000"/>
            <a:ext cx="10620000" cy="16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广州黄埔区九佛TOD全球自贸区先行示范街区策划方案</a:t>
            </a:r>
          </a:p>
          <a:p>
            <a:pPr algn="ctr">
              <a:spcBef>
                <a:spcPts val="1400"/>
              </a:spcBef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数贸跨境 · 未来共赢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4248000"/>
            <a:ext cx="10620000" cy="108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EEF2F8"/>
                </a:solidFill>
                <a:latin typeface="微软雅黑"/>
                <a:ea typeface="微软雅黑"/>
              </a:rPr>
              <a:t>365天“全球共赢大买卖” · 365天“永不落幕的展销合作平台”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5616000"/>
            <a:ext cx="10620000" cy="90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中国广告协会文创与IP专委会（CGC）   秘书长 · 徐超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EEF2F8"/>
                </a:solidFill>
                <a:latin typeface="微软雅黑"/>
                <a:ea typeface="微软雅黑"/>
              </a:rPr>
              <a:t>2026年01月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40000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232000"/>
            <a:ext cx="3420000" cy="144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C79A3B"/>
                </a:solidFill>
                <a:latin typeface="微软雅黑"/>
                <a:ea typeface="微软雅黑"/>
              </a:rPr>
              <a:t>CONTENTS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6000" y="936000"/>
            <a:ext cx="3600000" cy="504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01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项目概述与核心定位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02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战略价值与政策契合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03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功能体系与空间布局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04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招商策略与目标客商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05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出口体系与赋能服务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0000" y="936000"/>
            <a:ext cx="3600000" cy="504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06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预期效益与品牌价值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07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项目运营与合作建议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08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支持与资源保障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C79A3B"/>
                </a:solidFill>
                <a:latin typeface="微软雅黑"/>
                <a:ea typeface="微软雅黑"/>
              </a:rPr>
              <a:t>09  </a:t>
            </a: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项目总结与未来方向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项目概述与核心定位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01  项目概述与核心定位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项目四大基础优势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政策基础：自贸区升级红利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依托广州黄埔综合保税区升级自贸区契机,落地海关“四自一简”监管模式、即买即退等创新政策,锁定赴港上市绿通名额。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区位基础：九佛TOD交通枢纽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20分钟直达广深双机场,衔接轻轨网络,构建“空铁联运”物流枢纽与“1小时大湾区通勤圈”,实现全球商品快速集散。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产业基础：广交会延展需求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承接广交会365天展商商务需求,联动汽车零部件(23万辆出口目标)、美妆(出口增长49.9%)等优势产业,形成产业闭环。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国企基础：国企背书实力担当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广州知识城集团项目背书,成立于1984年,资产达1000+亿元,国内AAA最高主体信用等级、惠誉BBB投资级国际评级,布局8大产业体系。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01  项目概述与核心定位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四大核心关键梳理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全球商贸进、出口双向合作平台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精准匹配进口需求与出口优势,实现“引进来”与“走出去”双向赋能,服务珠三角千亿产业集群。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珠三角全球自贸区先行示范街区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叠加综保区、自贸区、知识城三重政策红利,打造制度型开放核心载体,树立区域开放标杆。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品牌出海商贸3.0基地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融合“前店后厂”模式与数字化中台,推动传统外贸向“展示+交易+孵化+资本”全链条升级。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365天永不落幕的展销中心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承接广交会延展需求,全年无休展示广州/黄埔支柱产业及特色赛道(黄金珠宝、文创潮玩)产品。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01  项目概述与核心定位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项目四大运营抓手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轻资产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降低前期运营门槛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采用轻资产运营模式,减少固定资产投入,聚焦核心服务能力建设,降低启动与运营风险。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重交易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激活跨境新商贸3.0核心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以交易为核心,整合进出口双向资源,打造“线下体验+线上下单”跨境新商贸3.0模式。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强资源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汇聚全球资源要素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联动珠三角2.3万家外贸企业、国内外头部电商平台及港股上市绿通资源,构建全产业链资源网络。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全服务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覆盖跨境商贸全链条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提供从展示交易、通关退税、供应链金融到IP孵化、上市辅导的一站式跨境服务闭环。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01  项目概述与核心定位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项目定位及更名建议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404000"/>
            <a:ext cx="11160000" cy="1152000"/>
          </a:xfrm>
          <a:prstGeom prst="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404000"/>
            <a:ext cx="11160000" cy="1152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000" b="1">
                <a:solidFill>
                  <a:srgbClr val="0F2A4A"/>
                </a:solidFill>
                <a:latin typeface="微软雅黑"/>
                <a:ea typeface="微软雅黑"/>
              </a:rPr>
              <a:t>马头庄广场 → 知识城全球数字贸易港 · 全球自贸365街区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C79A3B"/>
                </a:solidFill>
                <a:latin typeface="微软雅黑"/>
                <a:ea typeface="微软雅黑"/>
              </a:rPr>
              <a:t>定位口号：数贸跨境 · 未来共赢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880000"/>
            <a:ext cx="11160000" cy="216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700" b="0">
                <a:solidFill>
                  <a:srgbClr val="222B35"/>
                </a:solidFill>
                <a:latin typeface="微软雅黑"/>
                <a:ea typeface="微软雅黑"/>
              </a:rPr>
              <a:t>珠三角全球自贸区先行示范街区 + 品牌出海商贸3.0基地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700" b="0">
                <a:solidFill>
                  <a:srgbClr val="222B35"/>
                </a:solidFill>
                <a:latin typeface="微软雅黑"/>
                <a:ea typeface="微软雅黑"/>
              </a:rPr>
              <a:t>365天“全球共赢大买卖” · 365天“永不落幕的展销合作平台”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战略价值与政策契合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02  战略价值与政策契合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五重赋能叠加驱动未来发展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交通赋能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构建高效物流枢纽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立足珠三角核心交通网(城轨+地铁+公交总站),10分钟直达广州、40分钟深圳机场,衔接轻轨构建“空铁联运”枢纽,实现“1小时大湾区通勤圈”。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政策赋能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叠加三重政策红利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叠加综保区、自贸区、知识城三重政策,落地海关“四自一简”监管,提供即买即退、快捷报单等创新服务,打造“离岸贸易+企业服务+人才服务”全链条。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产业赋能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形成完整闭环生态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承接广交会365天延展功能,联动汽车、新能源等支柱产业及黄金珠宝、文创潮玩特色赛道,构建“制造-展示-交易-出海”与“招商-服务-培育-上市”全链条。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平台赋能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激活外贸企业资源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引进国内外头部电商平台,构建“平台+产业带集群”联动,激活珠三角2.3万家外贸企业,完成“保税展示+跨境电商+智能配送”零售新模式。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3527998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C79A3B"/>
                </a:solidFill>
                <a:latin typeface="微软雅黑"/>
                <a:ea typeface="微软雅黑"/>
              </a:rPr>
              <a:t>资本赋能</a:t>
            </a:r>
            <a:r>
              <a:rPr sz="1200" b="1">
                <a:solidFill>
                  <a:srgbClr val="0F2A4A"/>
                </a:solidFill>
                <a:latin typeface="微软雅黑"/>
                <a:ea typeface="微软雅黑"/>
              </a:rPr>
              <a:t>  双轮驱动国企标杆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以租赁市场稳定收益为基础,通过港股上市绿通与政策扶持培育龙头,最终实现项目整体打包并购,打造“产业运营+资本运作”双轮驱动的国企标杆。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02  战略价值与政策契合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对接广州“十五五”战略方向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外贸“新质生产力”培育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提升出口产品档次、技术含量与附加值,增强全球价值链嵌入度和话语权,推动进出口平衡发展。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跨境贸易业态创新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落实《数字商务三年行动计划(2024-2026)》,以“数商兴产”推动“跨境电商+产业带集群”、“保税+”离岸贸易等新兴贸易,建设重点大宗商品资源配置枢纽。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“数字产业”出海升级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打造面向全球的高端制造分拨集拼中心,支持新兴产业开拓国际市场,做强服务贸易与数字贸易。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资本融资市场对接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支持企业赴港上市,利用香港国际金融中心优势,培育1-2家千亿市值本土跨国企业。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02  战略价值与政策契合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广州出海五大趋势（2026-2030）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00" y="2232000"/>
            <a:ext cx="2124000" cy="1872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2232000"/>
            <a:ext cx="2124000" cy="39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2232000"/>
            <a:ext cx="2124000" cy="3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C79A3B"/>
                </a:solidFill>
                <a:latin typeface="微软雅黑"/>
                <a:ea typeface="微软雅黑"/>
              </a:rPr>
              <a:t>趋势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736000"/>
            <a:ext cx="2124000" cy="12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绿色贸易加速崛起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4000" y="2232000"/>
            <a:ext cx="2124000" cy="1872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4000" y="2232000"/>
            <a:ext cx="2124000" cy="39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4000" y="2232000"/>
            <a:ext cx="2124000" cy="3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C79A3B"/>
                </a:solidFill>
                <a:latin typeface="微软雅黑"/>
                <a:ea typeface="微软雅黑"/>
              </a:rPr>
              <a:t>趋势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4000" y="2736000"/>
            <a:ext cx="2124000" cy="12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品牌化转型提速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2000" y="2232000"/>
            <a:ext cx="2124000" cy="1872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2000" y="2232000"/>
            <a:ext cx="2124000" cy="39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2000" y="2232000"/>
            <a:ext cx="2124000" cy="3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C79A3B"/>
                </a:solidFill>
                <a:latin typeface="微软雅黑"/>
                <a:ea typeface="微软雅黑"/>
              </a:rPr>
              <a:t>趋势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000" y="2736000"/>
            <a:ext cx="2124000" cy="12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跨境电商成为主流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0000" y="2232000"/>
            <a:ext cx="2124000" cy="1872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0000" y="2232000"/>
            <a:ext cx="2124000" cy="39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0000" y="2232000"/>
            <a:ext cx="2124000" cy="3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C79A3B"/>
                </a:solidFill>
                <a:latin typeface="微软雅黑"/>
                <a:ea typeface="微软雅黑"/>
              </a:rPr>
              <a:t>趋势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00" y="2736000"/>
            <a:ext cx="2124000" cy="12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特色赛道高增长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8000" y="2232000"/>
            <a:ext cx="2124000" cy="1872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48000" y="2232000"/>
            <a:ext cx="2124000" cy="396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8000" y="2232000"/>
            <a:ext cx="2124000" cy="3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C79A3B"/>
                </a:solidFill>
                <a:latin typeface="微软雅黑"/>
                <a:ea typeface="微软雅黑"/>
              </a:rPr>
              <a:t>趋势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000" y="2736000"/>
            <a:ext cx="2124000" cy="1296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服务贸易提质增效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功能体系与空间布局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03  功能体系与空间布局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五大核心功能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商贸交易功能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依托广州进出口数据,打造“精准匹配进口需求+承接出口优势”的双向平台,实现“线下体验+线上下单”新商贸3.0模式,结合联营传统代理商运营。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产业服务功能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整合保税仓、海关绿色通道、供应链金融、出海合规咨询等资源,强化智能制造、黄金珠宝保税加工、潮玩IP孵化、美妆护肤、汽车零部件跨境物流等专项服务。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448000"/>
            <a:ext cx="549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创业孵化功能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聚焦跨境电商、潮玩设计、珠宝定制赛道,为穗港澳青年提供“拎包入住”创业空间,构建“楼下拿货-楼上直播-全球发货”新直播电商场景。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448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448000"/>
            <a:ext cx="549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资本服务功能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搭建“港股上市培育-绿通申请-并购退出”全链条,依托广州上市扶持政策,推动企业高效对接香港资本市场。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448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3438000"/>
            <a:ext cx="1116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25400" tIns="114300" bIns="25400"/>
          <a:lstStyle/>
          <a:p>
            <a:pPr algn="ctr"/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平台集聚功能</a:t>
            </a:r>
          </a:p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打造国内外头部电商平台华南总部基地,联动珠三角产业带形成“平台+工厂+出海”直连模式。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3438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03  功能体系与空间布局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楼层功能定位与业态布局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3999" y="1296000"/>
          <a:ext cx="11159998" cy="453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381"/>
                <a:gridCol w="2219668"/>
                <a:gridCol w="3946077"/>
                <a:gridCol w="3082872"/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区位楼层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功能定位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核心业态 / 服务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数据支撑与参考案例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展示中心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广州+黄埔支柱产业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汽车零部件(对接23万辆出口目标)、新能源(锂电池/光伏,+30.8%)、美妆洗护(出口+49.9%)特色展厅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广州“新三样”出口+60.2%,参考广交会琶洲展馆延展模式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负一楼街区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全球进口产品、美食消费体验区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全球风格餐厅、进口海鲜、红酒雪茄品鉴馆、高端日化体验店,配套冷链仓储与海关查验点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参考上海自贸区全球商品贸易港餐饮街区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一楼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保税+免税核心进口展示体验区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离境退税商店、黄金珠宝保税体验店,设置电商平台专属提货点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参考广州南沙免税购物中心+番禺珠宝保税贸易模式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二楼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特色赛道展示区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文创潮玩IP产业基地、黄金珠宝定制中心、电商平台合作展示窗口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参考文创潮玩对接东莞99.7亿元出口,黄金珠宝对接番禺350.2亿元出口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文创潮玩基地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珠三角产业集群基地(2000㎡)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配套3D打印工坊、IP授权服务中心、交流培训、线上贸易平台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珠三角85%全国潮玩产能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街道办行政大楼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一站式出海服务中心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海关绿色报关+检验检疫窗口、跨境金融服务中心、港股上市辅导工作站、珠宝检测认证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参考深圳前海自贸区商务配套+广州开发区香港上市服务基地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5A写字楼A栋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高端商务配套区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引进国际5星酒店1家、国内4星商务酒店1家,大型活动商务宴会、餐饮娱乐配套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参考上海虹桥商务区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5A写字楼B栋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国际品牌总部/电商平台总部集聚区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亚马逊华南运营中心、阿里国际站创新基地、敦煌网广州办事处、SHEIN供应链枢纽,配套数据专线与跨境支付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参考厦门跨境电商产业园、长沙中非跨境贸易平台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轻轨旁住宅楼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跨境电商创业孵化基地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4.5米层高“直播+仓储”工位,重点孵化潮玩设计、珠宝跨境电商团队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参考前海港澳青年创业孵化器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42480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配套住宅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全球创业者社区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1000㎡共创孵化空间,可售可租人才公寓,优先保障电商平台员工、潮玩/珠宝创业团队居住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03  功能体系与空间布局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项目前瞻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584000"/>
            <a:ext cx="11160000" cy="1512000"/>
          </a:xfrm>
          <a:prstGeom prst="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584000"/>
            <a:ext cx="10584000" cy="1512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r>
              <a:rPr sz="1700" b="1">
                <a:solidFill>
                  <a:srgbClr val="0F2A4A"/>
                </a:solidFill>
                <a:latin typeface="微软雅黑"/>
                <a:ea typeface="微软雅黑"/>
              </a:rPr>
              <a:t>项目建筑面积约46万㎡,定位“知识城全球数字贸易港”自贸区TOD配套服务中心;其中2.5万㎡“全球自贸365街区”集聚珠三角头部企业,打造跨境出海先行示范区。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3456000"/>
            <a:ext cx="1116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C79A3B"/>
                </a:solidFill>
                <a:latin typeface="微软雅黑"/>
                <a:ea typeface="微软雅黑"/>
              </a:rPr>
              <a:t>365天“全球共赢大买卖” · 365天“永不落幕的展销合作平台”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招商策略与目标客商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04  招商策略与目标客商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大数据精准锁定客商（一）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核心目标电商平台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重点引进亚马逊全球开店、阿里巴巴国际站、速卖通、SHEIN、Shopee、京东全球购、天猫国际等头部平台,构建“平台+产业带集群”联动。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平台招商政策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提供3年租金补贴(首年全免、次年减半、第三年减免30%),赠送广交会优先参展名额,协助申请广州跨境电商专项扶持资金,激活珠三角2.3万家外贸企业。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广州进口优势品类企业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集成电路进口商、高端日化品牌(雅诗兰黛、兰蔻华南代理)、进口食品贸易商、进口海鲜/水果批发商及高端红酒经销商。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广州/黄埔支柱产业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广汽埃安、小鹏汽车供应链,生物医药“小巨人”(百济神州、恒瑞),美妆头部(完美日记、花西子,对接+49.9%出口)。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04  招商策略与目标客商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大数据精准锁定客商（二）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1116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黄金珠宝业态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周大福、六福珠宝保税加工基地,番禺大罗塘3000万以上产值商户及培育钻石品牌,承接番禺350.2亿元出口规模。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3999" y="2429999"/>
            <a:ext cx="1116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文创潮玩赛道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泡泡玛特、52TOYS、奥飞娱乐等,对接东莞99.7亿元出口及85%全国潮玩产能,打造“设计-打样-出口”一体化基地。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3527998"/>
            <a:ext cx="1116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核心目标服务企业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海外银行(香港/渣打)、香港券商、珠宝检测机构(GIA华南)、IP授权服务商、跨境物流巨头(中远海运、华贸物流)及涉外法务、版权交易机构。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出口体系与赋能服务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05  出口体系与赋能服务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出口体系矩阵构建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11160000" cy="774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黄埔支柱产业出口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聚焦汽车零部件(2025年23万辆出口目标)、新能源(锂电池/光伏+60.2%)、生物医药、美妆洗护(+49.9%);开通“保税加工-快速通关”专线与冷链物流配套。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774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3999" y="2286000"/>
            <a:ext cx="11160000" cy="774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知识城综合保税区集群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规划面积0.82平方公里,具备保税加工、保税物流与保税服务功能,重点招引生物医药、集成电路、智能制造、新一代信息技术、新能源新材料等战略性新兴产业。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2286000"/>
            <a:ext cx="57600" cy="774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3240000"/>
            <a:ext cx="11160000" cy="774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黄金珠宝产业出口服务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依托番禺350.2亿元出口规模,推动培育钻石、定制婚戒出口,提供保税加工、跨境电商零售出口(B2C)便利化服务。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3240000"/>
            <a:ext cx="57600" cy="774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4194000"/>
            <a:ext cx="11160000" cy="774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文创潮玩产业出口服务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对接东莞85%全国潮玩产能,实现“设计-打样-出口”一体化,支持潮玩IP跨境授权与海外直播带货。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999" y="4194000"/>
            <a:ext cx="57600" cy="774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5148000"/>
            <a:ext cx="11160000" cy="774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机电产品出口服务</a:t>
            </a:r>
          </a:p>
          <a:p>
            <a:pPr>
              <a:lnSpc>
                <a:spcPct val="112000"/>
              </a:lnSpc>
            </a:pPr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整合珠三角家电、电子元件企业资源,通过亚马逊、阿里国际站批量出海,提供出口退税“即报即退”服务。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5148000"/>
            <a:ext cx="57600" cy="774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05  出口体系与赋能服务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六大赋能服务价值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全球IP版权交易体系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国际IP引进(迪士尼、万代等)、本土IP孵化、版权交易(登记/评估/维权)及收益分层模式,构建完整知识产权价值链。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海关绿色窗口一站式服务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设立跨境贸易服务专窗,提供通关、结汇、退税服务,黄金珠宝/潮玩24小时快速查验通道。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珠三角潮玩产业供应链联盟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共建共享“365天永不落幕展销中心”,一站式选品看样下单,政府背书供应链金融配套。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“前店后厂”商贸3.0模式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前店承担展示、接单、结算,后厂联动珠三角制造基地生产发货,数字化中台实现订单/生产/物流实时协同。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4104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行业机构与电商平台资源整合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引进中国贸促会、中玩协等机构,全球B端客商及电商平台(阿里国际、TK等),构建闭环商贸生态。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4104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3999" y="4104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AIGC创意平台赋能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提供AI辅助设计、3D打印快速打样、24小时多语种数字人直播及全球化智能客服,提升出海效率。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4104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预期效益与品牌价值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06  预期效益与品牌价值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四项核心指标与内外效益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营收与就业目标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第一期五年运营后预计年营收超100亿元,带动就业岗位1万个。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企业培育与资本增值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深度陪跑培育5家公司,推动1家港股上市(市值50-80亿元),项目并购估值突破100亿元。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产业出口增长贡献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助力汽车、美妆等支柱产业出口额提升10%,推动潮玩、黄金珠宝出口额增长15%,形成千亿级跨境贸易集群。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外贸结构优化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推动高技术产品出口占比提升至15%、绿色贸易占比达10%,契合十五五外贸新质生产力方向。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06  预期效益与品牌价值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未来品牌价值及社会贡献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1116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打造示范标杆项目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</a:rPr>
              <a:t>全国首个“TOD+自贸区+广交会+电商平台+港股上市”五位一体示范项目,成为广州自贸区高水平开放核心名片。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3999" y="2448000"/>
            <a:ext cx="1116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构建产业出海新通道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</a:rPr>
              <a:t>为国企项目“产业运营+资本退出”提供可复制模式,助力广州知识产业升级。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2448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3564000"/>
            <a:ext cx="11160000" cy="93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深化穗港澳青年创业合作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5A5A5A"/>
                </a:solidFill>
                <a:latin typeface="微软雅黑"/>
                <a:ea typeface="微软雅黑"/>
              </a:rPr>
              <a:t>为广州建设国际消费中心城市与国际贸易中心提供重要支撑。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3564000"/>
            <a:ext cx="57600" cy="9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项目运营与合作建议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07  项目运营与合作建议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收益规划与运营方案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项目总收益与资本收益规划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总收益含租金收益等,溢出资本收益通过五年项目含物业整体打包溢价上市公司收购实现。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租金收益协调方式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前期让利部分租金收益,按三年租金递增结算,逐步持平至正常租金模式。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成本回收目标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8年内收回改造投资成本,15年内收回建设投资成本。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AI辅助设计与AIGC智能体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提供AI辅助设计、AI产品详情页、AI视频展示、AI多语言导购、AI数字人直播带货。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3527998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产业大脑与订单管理平台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产业大脑智能配置平台+订单大数据管理平台,联动工厂接单、供应链金融、排产、仓储物流。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3999" y="3527998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多渠道销售与离境退税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线上覆盖抖音、MCN直播、得物、小红书、京东;线下含国家代理商、渠道商、批发商;提供离境退税“即买即退集中退付点”。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支持与资源保障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08  支持与资源保障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黄埔区政府渠道与政策支持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供应链金融与投融资赋能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设立自贸区支持专项计划,引进黄埔天使引导基金、跨境电商及文创产业专项扶持基金,开展IP质押融资试点并建立风险补偿机制,为白名单企业提供低息/贴息贷款及供应链金融服务。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海关绿色窗口服务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设立跨境贸易服务专窗,提供通关、结汇、退税一站式服务及检验检疫快捷窗口,开展文创潮玩出口增值税减免试点。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法律援助及知识产权保护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设立法务服务中心,引入知识产权机构及律所、国际仲裁院,建立文创知识产权快速维权中心,实现版权登记、侵权判定、纠纷调解、版权交易“一站式”服务。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429999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人才引进奖励机制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对海外高端人才及获国家级奖项的主创团队给予奖励,配套人才住房、子女入学绿通,建立产业人才培训基地。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429999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3527998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政府奖励扶持政策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依托广州文创、科创、产业平台奖励政策,为入驻企业争取装修补贴,支持举办“全球跨境出海选品峰会”等活动。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3999" y="3527998"/>
            <a:ext cx="5490000" cy="917999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一事一议特殊政策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为项目量身定制特殊扶持政策,含广州/珠三角首店奖励、商贸3.0模式与共享展厅补贴、前期策划服务费用支持。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3527998"/>
            <a:ext cx="57600" cy="917999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08  支持与资源保障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中广协文创与IP专委会资源支持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行业头部价值资源引入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引进全球300+IP授权资源,引入抖音、B站、京东、得物、小红书、TK、敦煌网等跨境出海平台,合作无忧传媒、遥望科技、东方甄选等直播机构,联合中国动漫集团、腾讯游戏等头部企业。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3999" y="1332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行业机构入驻赋能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引进中国贸促会、中国广告协会、中国玩具协会等国家级机构及深圳文化产权交易所、50余家商协会,入驻中国广告协会文创与IP专委会并授权挂牌大湾区分会。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3999" y="1332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企业深度陪跑计划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每月开展运营培训,每季度对接10-20家考察合作,举办IP与企业对接会、沙龙、投资分享会、私董会、基金对接会。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3999" y="2718000"/>
            <a:ext cx="5490000" cy="1206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大型活动与大赛资源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组织文创/IP/授权/版权/跨境出海培训及跨境电商大会等展赛,深度参与深圳福田会展中心万人活动(深圳国际IP授权产业博览会、深圳国际文创展&amp;潮玩展、IPX世界文旅流量大会等)。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3999" y="2718000"/>
            <a:ext cx="57600" cy="120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0000" y="2880000"/>
            <a:ext cx="648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2000" y="2376000"/>
            <a:ext cx="2880000" cy="129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6000" b="1">
                <a:solidFill>
                  <a:srgbClr val="C79A3B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" y="3744000"/>
            <a:ext cx="8640000" cy="72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项目总结与未来方向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09  项目总结与未来方向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项目总结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3999" y="1332000"/>
            <a:ext cx="11160000" cy="504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400" b="0">
                <a:solidFill>
                  <a:srgbClr val="222B35"/>
                </a:solidFill>
                <a:latin typeface="微软雅黑"/>
                <a:ea typeface="微软雅黑"/>
              </a:rPr>
              <a:t>深度整合通勤、政策、产业、平台、资本五大核心优势。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400" b="0">
                <a:solidFill>
                  <a:srgbClr val="222B35"/>
                </a:solidFill>
                <a:latin typeface="微软雅黑"/>
                <a:ea typeface="微软雅黑"/>
              </a:rPr>
              <a:t>以自贸区先行示范街区+广交会外延商贸效应为跨境出海产业基础,以广州进出口商贸数据为导向精准布局业态,以港股上市绿通为抓手培育龙头,以国内外电商平台为引擎激活珠三角千亿产业集群。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400" b="0">
                <a:solidFill>
                  <a:srgbClr val="222B35"/>
                </a:solidFill>
                <a:latin typeface="微软雅黑"/>
                <a:ea typeface="微软雅黑"/>
              </a:rPr>
              <a:t>重点深耕黄金珠宝、文创潮玩等高增长赛道,紧扣广州“十五五”外贸新质生产力培育方向。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400" b="0">
                <a:solidFill>
                  <a:srgbClr val="222B35"/>
                </a:solidFill>
                <a:latin typeface="微软雅黑"/>
                <a:ea typeface="微软雅黑"/>
              </a:rPr>
              <a:t>以全链条六大赋能服务,共建共享“365天永不落幕的展销中心”,结合“前店后厂”线下+线上商贸3.0模式。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>
                <a:solidFill>
                  <a:srgbClr val="C79A3B"/>
                </a:solidFill>
                <a:latin typeface="微软雅黑"/>
                <a:ea typeface="微软雅黑"/>
              </a:rPr>
              <a:t>▍ </a:t>
            </a:r>
            <a:r>
              <a:rPr sz="1400" b="0">
                <a:solidFill>
                  <a:srgbClr val="222B35"/>
                </a:solidFill>
                <a:latin typeface="微软雅黑"/>
                <a:ea typeface="微软雅黑"/>
              </a:rPr>
              <a:t>实现商业价值、产业价值与资本价值三重丰收,助力黄埔区打造全国自贸区升级标杆,塑造珠三角出海跨境电商产业新标杆。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09  项目总结与未来方向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未来方向：CGC国际会议厅与全球贸易港建设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96000"/>
            <a:ext cx="11160000" cy="792000"/>
          </a:xfrm>
          <a:prstGeom prst="rect">
            <a:avLst/>
          </a:prstGeom>
          <a:solidFill>
            <a:srgbClr val="F6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296000"/>
            <a:ext cx="10944000" cy="7920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r>
              <a:rPr sz="1250" b="0">
                <a:solidFill>
                  <a:srgbClr val="0F2A4A"/>
                </a:solidFill>
                <a:latin typeface="微软雅黑"/>
                <a:ea typeface="微软雅黑"/>
              </a:rPr>
              <a:t>在“全球自贸365街区”落地基础上,CGC(中国广告协会文创与IP专委会)拟进一步升级承接“CGC国际会议厅”与全球贸易港建设业务,将展销街区拓展为常态化国际会议、会展与贸易服务综合体,打造大湾区面向全球的会议会展+贸易港双引擎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2232000"/>
            <a:ext cx="5490000" cy="1080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CGC国际会议厅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在项目内规划国际会议厅与多功能会展空间,常态化承办国际IP授权、跨境出海、数字贸易等主题会议、峰会与选品大会,形成“会议+会展+交易”一体化场景。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2232000"/>
            <a:ext cx="576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3999" y="2232000"/>
            <a:ext cx="5490000" cy="1080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全球贸易港建设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以自贸区先行示范街区为底座,升级为集展示、交易、通关、结算、孵化、资本于一体的全球数字贸易港,承接更多国家馆、城市会客厅与国际组织合作。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3999" y="2232000"/>
            <a:ext cx="576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3999" y="3492000"/>
            <a:ext cx="5490000" cy="1080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承接业务意向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CGC愿承接会议厅运营、国际会展策划、贸易港招商运营及配套IP与数字内容服务,并联动全球300+IP资源与国家级行业机构资源,持续导入客商与流量。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999" y="3492000"/>
            <a:ext cx="576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3999" y="3492000"/>
            <a:ext cx="5490000" cy="1080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14300" bIns="2540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2A4A"/>
                </a:solidFill>
                <a:latin typeface="微软雅黑"/>
                <a:ea typeface="微软雅黑"/>
              </a:rPr>
              <a:t>合作诉求</a:t>
            </a:r>
          </a:p>
          <a:p>
            <a:pPr>
              <a:lnSpc>
                <a:spcPct val="112000"/>
              </a:lnSpc>
            </a:pPr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恳请对方就上述方向出具《合作意向/授权(提资)证明》,以支持CGC后续对外拓展国际会议厅与贸易港相关业务,并作为资质与业绩证明使用。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3999" y="3492000"/>
            <a:ext cx="57600" cy="1080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09  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附件一：2025年广州出口TOP20品类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3999" y="1260000"/>
          <a:ext cx="11160000" cy="50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6000"/>
                <a:gridCol w="2232000"/>
                <a:gridCol w="2232000"/>
                <a:gridCol w="1860000"/>
                <a:gridCol w="4030000"/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品类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代表品牌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广州口岸交易额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核心说明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船舶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广船国际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220-240亿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全球主流船型,前11月出口同比+19.6%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电动汽车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广汽埃安/传祺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140-150亿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“新三样”之首,东南亚/中东热销,同比+59.3%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自动数据设备及零部件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视源电子/惠科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120-130亿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电视主控板卡/显示器,全球市占率高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集成电路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粤芯半导体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100-110亿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高技术产品,出口同比+88.4%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电工器材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广州南洋电缆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90-100亿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线缆/变压器,基建驱动,同比+18.1%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锂电池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鹏辉能源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80-90亿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新能源配套,储能/车规级为主,同比+27%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家用电器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美的/格兰仕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70-80亿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空调/微波炉,传统优势品类,渠道成熟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光伏产品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广州菲利斯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60-70亿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组件/储能系统,非洲/欧洲需求旺,同比+230%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手机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传音/荣耀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50-60亿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功能机+智能机,新兴市场为主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纺织服装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广州白马服饰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45-55亿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女装/针织品,市场采购贸易占比高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汽车零部件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广州汽车集团零部件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40-50亿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适配日系/自主品牌,出口稳定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音响设备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国光电器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35-45亿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蓝牙音响/电声元件,欧美高端市场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灯具及照明装置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广州欧普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30-40亿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LED照明,跨境电商+工程渠道双驱动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箱包皮具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金圣斯/奥比亚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25-35亿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狮岭皮具集群,广交会核心展品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摩托车及零部件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广州大运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20-30亿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非洲/东南亚主力,性价比优势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玩具及潮玩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名创优品/TOP TOY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18-28亿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IP出海,跨境电商热销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纸尿裤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乐舒适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15-25亿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“非洲纸尿裤之王”,森大集团旗下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电池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虎头电池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12-22亿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干电池/蓄电池,非洲市场占有率高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美妆护肤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Colorkey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10-20亿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TikTok东南亚爆款,跨境电商增速快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游戏机及配件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番禺游戏机厂商集群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8-18亿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街机/配件,全球供应基地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3999" y="6498000"/>
            <a:ext cx="11160000" cy="324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5A5A5A"/>
                </a:solidFill>
                <a:latin typeface="微软雅黑"/>
                <a:ea typeface="微软雅黑"/>
              </a:rPr>
              <a:t>2025年广州出口TOP20品类(综合一般贸易+跨境电商,含估算,单位:人民币)。结构亮点:新三样(电动车/锂电池/光伏)合计出口280-310亿,同比+60.2%,成增长主力。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3999" y="270000"/>
            <a:ext cx="2160000" cy="432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C79A3B"/>
                </a:solidFill>
                <a:latin typeface="微软雅黑"/>
                <a:ea typeface="微软雅黑"/>
              </a:rPr>
              <a:t>09  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58000"/>
            <a:ext cx="11160000" cy="57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2400" b="1">
                <a:solidFill>
                  <a:srgbClr val="0F2A4A"/>
                </a:solidFill>
                <a:latin typeface="微软雅黑"/>
                <a:ea typeface="微软雅黑"/>
              </a:rPr>
              <a:t>附件二：2025年广州消费类出口20强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34000"/>
            <a:ext cx="2340000" cy="324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3999" y="1260000"/>
          <a:ext cx="11159998" cy="50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571"/>
                <a:gridCol w="2325000"/>
                <a:gridCol w="1727142"/>
                <a:gridCol w="1328571"/>
                <a:gridCol w="2790000"/>
                <a:gridCol w="2125714"/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品类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出口额(亿元)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同比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核心出口品牌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核心市场</a:t>
                      </a:r>
                    </a:p>
                  </a:txBody>
                  <a:tcPr anchor="ctr" marL="63500" marR="63500" marT="25400" marB="25400">
                    <a:solidFill>
                      <a:srgbClr val="0F2A4A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纺织服装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420.5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22.3%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SHEIN、UR、欧时力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欧美、东南亚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家具及零件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286.7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18.9%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林氏家居、索菲亚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北美、中东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鞋靴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210.3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25.6%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百丽、达芙妮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非洲、拉美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家用电器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198.6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15.7%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美的、格兰仕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欧洲、东盟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箱包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165.2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20.1%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新秀丽(代工)、爱华仕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欧美、日韩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美妆洗护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98.5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32.1%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立白、蓝月亮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东南亚、中东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灯具及照明装置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89.4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17.8%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欧普、雷士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欧洲、澳洲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玩具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76.8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19.5%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奥飞娱乐、星辉娱乐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欧美、拉美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陶瓷餐具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68.3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21.2%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松发陶瓷、四通股份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北美、欧洲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食品饮料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55.7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23.8%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珠江啤酒、广州酒家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东南亚、非洲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手表及配件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48.9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26.3%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飞亚达、依波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中东、南美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塑料制品(日用)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42.6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16.4%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广州双桥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东南亚、非洲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自行车及零件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39.8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24.7%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五羊自行车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欧洲、东盟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体育用品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35.2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20.8%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双鱼、健力宝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欧美、中东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纸制品(日用)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31.5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14.3%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维达、洁柔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东南亚、澳洲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珠宝首饰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28.7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29.5%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周大福、六福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欧美、中东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宠物用品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25.3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35.8%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波奇网、佩蒂股份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北美、欧洲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厨具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22.6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19.7%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苏泊尔、爱仕达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欧洲、北美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羽绒制品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19.8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21.5%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雪中飞、波司登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欧洲、日韩</a:t>
                      </a:r>
                    </a:p>
                  </a:txBody>
                  <a:tcPr anchor="ctr" marL="63500" marR="63500" marT="12700" marB="12700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文具及办公用品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16.9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17.2%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齐心集团、晨光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B35"/>
                          </a:solidFill>
                          <a:latin typeface="微软雅黑"/>
                          <a:ea typeface="微软雅黑"/>
                        </a:rPr>
                        <a:t>东南亚、中东</a:t>
                      </a:r>
                    </a:p>
                  </a:txBody>
                  <a:tcPr anchor="ctr" marL="63500" marR="63500"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3999" y="6498000"/>
            <a:ext cx="11160000" cy="324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5A5A5A"/>
                </a:solidFill>
                <a:latin typeface="微软雅黑"/>
                <a:ea typeface="微软雅黑"/>
              </a:rPr>
              <a:t>2025年前10月广州消费类出口20强(广州海关,单位:亿元)。增长最快:宠物用品(35.8%)、美妆洗护(32.1%)、珠宝首饰(29.5%);出口额最大:纺织服装(420.5亿元)。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84000" y="3851999"/>
            <a:ext cx="3600000" cy="36000"/>
          </a:xfrm>
          <a:prstGeom prst="rect">
            <a:avLst/>
          </a:prstGeom>
          <a:solidFill>
            <a:srgbClr val="C7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76000"/>
            <a:ext cx="10728000" cy="108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104000"/>
            <a:ext cx="10728000" cy="900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500" b="1">
                <a:solidFill>
                  <a:srgbClr val="C79A3B"/>
                </a:solidFill>
                <a:latin typeface="微软雅黑"/>
                <a:ea typeface="微软雅黑"/>
              </a:rPr>
              <a:t>中国广告协会文创与IP专委会（CGC）   秘书长 · 徐超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EEF2F8"/>
                </a:solidFill>
                <a:latin typeface="微软雅黑"/>
                <a:ea typeface="微软雅黑"/>
              </a:rPr>
              <a:t>2026年01月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