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F8A78"/>
                </a:solidFill>
                <a:latin typeface="Microsoft YaHei"/>
              </a:rPr>
              <a:t>从松散闲聊中蒸馏结构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</a:rPr>
              <a:t>闲聊推导模型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0DCE0"/>
                </a:solidFill>
                <a:latin typeface="Microsoft YaHei"/>
              </a:rPr>
              <a:t>灵性时空 · 能量链接 · 职场接管 · 身份场域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40480"/>
            <a:ext cx="2011680" cy="54864"/>
          </a:xfrm>
          <a:prstGeom prst="rect">
            <a:avLst/>
          </a:prstGeom>
          <a:solidFill>
            <a:srgbClr val="C9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0DCE0"/>
                </a:solidFill>
                <a:latin typeface="Microsoft YaHei"/>
              </a:rPr>
              <a:t>源材料：2026-08-08 12:37–13:39 · 约 6 人 · 多人闲聊智能总结</a:t>
            </a:r>
          </a:p>
          <a:p>
            <a:pPr algn="l"/>
            <a:r>
              <a:rPr sz="1400" b="0">
                <a:solidFill>
                  <a:srgbClr val="D0DCE0"/>
                </a:solidFill>
                <a:latin typeface="Microsoft YaHei"/>
              </a:rPr>
              <a:t>方法：把叙事碎片抽象为可迁移的操作模型与隐喻方程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A70"/>
                </a:solidFill>
                <a:latin typeface="Microsoft YaHei"/>
              </a:rPr>
              <a:t>INTERNAL · 概念推演，非事实断言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核心命题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0DCE0"/>
                </a:solidFill>
                <a:latin typeface="Microsoft YaHei"/>
              </a:rPr>
              <a:t>闲聊不是噪声，而是未标注的知识矿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566160" cy="329184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566160" cy="73152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42A32"/>
                </a:solidFill>
                <a:latin typeface="Microsoft YaHei"/>
              </a:rPr>
              <a:t>表象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E2A2E"/>
                </a:solidFill>
                <a:latin typeface="Microsoft YaHei"/>
              </a:rPr>
              <a:t>话题松散穿越：</a:t>
            </a:r>
          </a:p>
          <a:p>
            <a:pPr algn="l"/>
            <a:r>
              <a:rPr sz="1600" b="0">
                <a:solidFill>
                  <a:srgbClr val="1E2A2E"/>
                </a:solidFill>
                <a:latin typeface="Microsoft YaHei"/>
              </a:rPr>
              <a:t>前世故事 / 项目接管 /</a:t>
            </a:r>
          </a:p>
          <a:p>
            <a:pPr algn="l"/>
            <a:r>
              <a:rPr sz="1600" b="0">
                <a:solidFill>
                  <a:srgbClr val="1E2A2E"/>
                </a:solidFill>
                <a:latin typeface="Microsoft YaHei"/>
              </a:rPr>
              <a:t>佛道双修 / 装修楼层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566160" cy="329184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3566160" cy="73152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54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42A32"/>
                </a:solidFill>
                <a:latin typeface="Microsoft YaHei"/>
              </a:rPr>
              <a:t>结构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8600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E2A2E"/>
                </a:solidFill>
                <a:latin typeface="Microsoft YaHei"/>
              </a:rPr>
              <a:t>反复出现的判断规则：</a:t>
            </a:r>
          </a:p>
          <a:p>
            <a:pPr algn="l"/>
            <a:r>
              <a:rPr sz="1600" b="0">
                <a:solidFill>
                  <a:srgbClr val="1E2A2E"/>
                </a:solidFill>
                <a:latin typeface="Microsoft YaHei"/>
              </a:rPr>
              <a:t>存量、配额、闭环、</a:t>
            </a:r>
          </a:p>
          <a:p>
            <a:pPr algn="l"/>
            <a:r>
              <a:rPr sz="1600" b="0">
                <a:solidFill>
                  <a:srgbClr val="1E2A2E"/>
                </a:solidFill>
                <a:latin typeface="Microsoft YaHei"/>
              </a:rPr>
              <a:t>三角验证、命名先验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80160"/>
            <a:ext cx="3566160" cy="329184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566160" cy="73152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554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42A32"/>
                </a:solidFill>
                <a:latin typeface="Microsoft YaHei"/>
              </a:rPr>
              <a:t>产物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28600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E2A2E"/>
                </a:solidFill>
                <a:latin typeface="Microsoft YaHei"/>
              </a:rPr>
              <a:t>九个可迁移模型 +</a:t>
            </a:r>
          </a:p>
          <a:p>
            <a:pPr algn="l"/>
            <a:r>
              <a:rPr sz="1600" b="0">
                <a:solidFill>
                  <a:srgbClr val="1E2A2E"/>
                </a:solidFill>
                <a:latin typeface="Microsoft YaHei"/>
              </a:rPr>
              <a:t>一套「闲聊蒸馏」方法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有意思之处：同一场对话里，灵性叙事与职场方法论共享同构逻辑——</a:t>
            </a:r>
          </a:p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「先看全量信息 → 再按自有脚本推进 → 能量/信心不足时换剧本」。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0"/>
                </a:solidFill>
                <a:latin typeface="Microsoft YaHei"/>
              </a:rPr>
              <a:t>闲聊推导模型 · 源：2026-08-08 多人线下录音总结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0"/>
                </a:solidFill>
                <a:latin typeface="Microsoft YaHei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九模型总览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0DCE0"/>
                </a:solidFill>
                <a:latin typeface="Microsoft YaHei"/>
              </a:rPr>
              <a:t>从录音总结中抽出的结构件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3657600" cy="150876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8A78"/>
                </a:solidFill>
                <a:latin typeface="Microsoft YaHei"/>
              </a:rPr>
              <a:t>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A32"/>
                </a:solidFill>
                <a:latin typeface="Microsoft YaHei"/>
              </a:rPr>
              <a:t>跨世缘分闭环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A70"/>
                </a:solidFill>
                <a:latin typeface="Microsoft YaHei"/>
              </a:rPr>
              <a:t>成全→分离→重逢→共业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657600" cy="150876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71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8A78"/>
                </a:solidFill>
                <a:latin typeface="Microsoft YaHei"/>
              </a:rPr>
              <a:t>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A32"/>
                </a:solidFill>
                <a:latin typeface="Microsoft YaHei"/>
              </a:rPr>
              <a:t>能量存量-链接方程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488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A70"/>
                </a:solidFill>
                <a:latin typeface="Microsoft YaHei"/>
              </a:rPr>
              <a:t>ΔE 取决于相对势能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143000"/>
            <a:ext cx="3657600" cy="150876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371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8A78"/>
                </a:solidFill>
                <a:latin typeface="Microsoft YaHei"/>
              </a:rPr>
              <a:t>M3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737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A32"/>
                </a:solidFill>
                <a:latin typeface="Microsoft YaHei"/>
              </a:rPr>
              <a:t>输出配额与破例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488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A70"/>
                </a:solidFill>
                <a:latin typeface="Microsoft YaHei"/>
              </a:rPr>
              <a:t>硬上限 3 + 无聊破例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834640"/>
            <a:ext cx="3657600" cy="150876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632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8A78"/>
                </a:solidFill>
                <a:latin typeface="Microsoft YaHei"/>
              </a:rPr>
              <a:t>M4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29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A32"/>
                </a:solidFill>
                <a:latin typeface="Microsoft YaHei"/>
              </a:rPr>
              <a:t>非线性并行自我场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A70"/>
                </a:solidFill>
                <a:latin typeface="Microsoft YaHei"/>
              </a:rPr>
              <a:t>时空为伪，并行在场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2834640"/>
            <a:ext cx="3657600" cy="150876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0632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8A78"/>
                </a:solidFill>
                <a:latin typeface="Microsoft YaHei"/>
              </a:rPr>
              <a:t>M5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429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A32"/>
                </a:solidFill>
                <a:latin typeface="Microsoft YaHei"/>
              </a:rPr>
              <a:t>佛道双修互补栈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8404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A70"/>
                </a:solidFill>
                <a:latin typeface="Microsoft YaHei"/>
              </a:rPr>
              <a:t>护身底座 + 洞见应用层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2834640"/>
            <a:ext cx="3657600" cy="150876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0632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8A78"/>
                </a:solidFill>
                <a:latin typeface="Microsoft YaHei"/>
              </a:rPr>
              <a:t>M6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429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A32"/>
                </a:solidFill>
                <a:latin typeface="Microsoft YaHei"/>
              </a:rPr>
              <a:t>全量验货接管法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8404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A70"/>
                </a:solidFill>
                <a:latin typeface="Microsoft YaHei"/>
              </a:rPr>
              <a:t>好坏全收再自推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526280"/>
            <a:ext cx="3657600" cy="150876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7548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8A78"/>
                </a:solidFill>
                <a:latin typeface="Microsoft YaHei"/>
              </a:rPr>
              <a:t>M7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20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A32"/>
                </a:solidFill>
                <a:latin typeface="Microsoft YaHei"/>
              </a:rPr>
              <a:t>面相-业力-职业三角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5321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A70"/>
                </a:solidFill>
                <a:latin typeface="Microsoft YaHei"/>
              </a:rPr>
              <a:t>三信号闭合验证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526280"/>
            <a:ext cx="3657600" cy="150876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7548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8A78"/>
                </a:solidFill>
                <a:latin typeface="Microsoft YaHei"/>
              </a:rPr>
              <a:t>M8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120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A32"/>
                </a:solidFill>
                <a:latin typeface="Microsoft YaHei"/>
              </a:rPr>
              <a:t>命名先验空间选择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5321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A70"/>
                </a:solidFill>
                <a:latin typeface="Microsoft YaHei"/>
              </a:rPr>
              <a:t>先定名，再选楼层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80" y="4526280"/>
            <a:ext cx="3657600" cy="150876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7548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8A78"/>
                </a:solidFill>
                <a:latin typeface="Microsoft YaHei"/>
              </a:rPr>
              <a:t>M9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120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A32"/>
                </a:solidFill>
                <a:latin typeface="Microsoft YaHei"/>
              </a:rPr>
              <a:t>身份锚点三角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5321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A70"/>
                </a:solidFill>
                <a:latin typeface="Microsoft YaHei"/>
              </a:rPr>
              <a:t>地理×机构×赛道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0"/>
                </a:solidFill>
                <a:latin typeface="Microsoft YaHei"/>
              </a:rPr>
              <a:t>闲聊推导模型 · 源：2026-08-08 多人线下录音总结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0"/>
                </a:solidFill>
                <a:latin typeface="Microsoft YaHei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M1 · 跨世缘分闭环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0DCE0"/>
                </a:solidFill>
                <a:latin typeface="Microsoft YaHei"/>
              </a:rPr>
              <a:t>古代故事的叙事骨架 → 关系动力学模型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43200" cy="228600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F8A78"/>
                </a:solidFill>
                <a:latin typeface="Microsoft YaHei"/>
              </a:rPr>
              <a:t>① 促成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促成男生婚配</a:t>
            </a:r>
          </a:p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成全之后离开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03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8B3C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34440"/>
            <a:ext cx="2743200" cy="228600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173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F8A78"/>
                </a:solidFill>
                <a:latin typeface="Microsoft YaHei"/>
              </a:rPr>
              <a:t>② 分离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1168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各自分散</a:t>
            </a:r>
          </a:p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缘未断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103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8B3C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34440"/>
            <a:ext cx="2743200" cy="228600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173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F8A78"/>
                </a:solidFill>
                <a:latin typeface="Microsoft YaHei"/>
              </a:rPr>
              <a:t>③ 重逢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家道中落语境下</a:t>
            </a:r>
          </a:p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男生自外地归来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103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8B3C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234440"/>
            <a:ext cx="2743200" cy="228600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4173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F8A78"/>
                </a:solidFill>
                <a:latin typeface="Microsoft YaHei"/>
              </a:rPr>
              <a:t>④ 共业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01168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再结合、多子</a:t>
            </a:r>
          </a:p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男生开私塾教学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40480"/>
            <a:ext cx="11247120" cy="2194560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23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F8A78"/>
                </a:solidFill>
                <a:latin typeface="Microsoft YaHei"/>
              </a:rPr>
              <a:t>可迁移推导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26280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C98B3C"/>
                </a:solidFill>
                <a:latin typeface="Microsoft Ya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YaHei"/>
              </a:rPr>
              <a:t>成全他人不等于退出系统：短暂「媒人」角色可能在下一阶段变成「伴侣」。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C98B3C"/>
                </a:solidFill>
                <a:latin typeface="Microsoft Ya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YaHei"/>
              </a:rPr>
              <a:t>落魄语境是重逢条件之一——资源下行时，旧缘更容易重新结网。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C98B3C"/>
                </a:solidFill>
                <a:latin typeface="Microsoft Ya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YaHei"/>
              </a:rPr>
              <a:t>气质连续性（今生仍高大威猛/书卷气）被当作跨剧本的身份校验码。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0"/>
                </a:solidFill>
                <a:latin typeface="Microsoft YaHei"/>
              </a:rPr>
              <a:t>闲聊推导模型 · 源：2026-08-08 多人线下录音总结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0"/>
                </a:solidFill>
                <a:latin typeface="Microsoft YaHei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M2 · 能量存量-链接方程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0DCE0"/>
                </a:solidFill>
                <a:latin typeface="Microsoft YaHei"/>
              </a:rPr>
              <a:t>网络是否耗能？取决于相对势能，而非链接本身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188720"/>
          </a:xfrm>
          <a:prstGeom prst="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A32"/>
                </a:solidFill>
                <a:latin typeface="Microsoft YaHei"/>
              </a:rPr>
              <a:t>ΔE ≈ g(存量状态 S) · sign(维度差 D)</a:t>
            </a:r>
          </a:p>
          <a:p>
            <a:pPr algn="l"/>
            <a:r>
              <a:rPr sz="1600" b="0">
                <a:solidFill>
                  <a:srgbClr val="142A32"/>
                </a:solidFill>
                <a:latin typeface="Microsoft YaHei"/>
              </a:rPr>
              <a:t>若 D &gt; 0（链接更高位）：每次链接 ΔE &gt; 0（补充）｜若 D ≤ 0 且 S 低：ΔE &lt; 0（消耗）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3657600" cy="2377440"/>
          </a:xfrm>
          <a:prstGeom prst="round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09728" cy="2377440"/>
          </a:xfrm>
          <a:prstGeom prst="rect">
            <a:avLst/>
          </a:prstGeom>
          <a:solidFill>
            <a:srgbClr val="C9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2A32"/>
                </a:solidFill>
                <a:latin typeface="Microsoft YaHei"/>
              </a:rPr>
              <a:t>低存量 × 平级链接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容易感到被抽空</a:t>
            </a:r>
          </a:p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社交/信息流耗能感强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651760"/>
            <a:ext cx="3657600" cy="2377440"/>
          </a:xfrm>
          <a:prstGeom prst="round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651760"/>
            <a:ext cx="109728" cy="237744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8803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2A32"/>
                </a:solidFill>
                <a:latin typeface="Microsoft YaHei"/>
              </a:rPr>
              <a:t>高存量 × 任意链接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65760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消耗可承受</a:t>
            </a:r>
          </a:p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或可忽略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51760"/>
            <a:ext cx="3657600" cy="2377440"/>
          </a:xfrm>
          <a:prstGeom prst="round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651760"/>
            <a:ext cx="109728" cy="237744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8803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2A32"/>
                </a:solidFill>
                <a:latin typeface="Microsoft YaHei"/>
              </a:rPr>
              <a:t>任意存量 × 高位链接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65760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每次都被补能</a:t>
            </a:r>
          </a:p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「向上连接」策略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A6A70"/>
                </a:solidFill>
                <a:latin typeface="Microsoft YaHei"/>
              </a:rPr>
              <a:t>职场隐喻：导师/高势能社群 ≈ 高位链接；无效会议/同温层抱怨 ≈ 平级低效链接。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0"/>
                </a:solidFill>
                <a:latin typeface="Microsoft YaHei"/>
              </a:rPr>
              <a:t>闲聊推导模型 · 源：2026-08-08 多人线下录音总结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0"/>
                </a:solidFill>
                <a:latin typeface="Microsoft YaHei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M3 · 灵性输出配额与破例规则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0DCE0"/>
                </a:solidFill>
                <a:latin typeface="Microsoft YaHei"/>
              </a:rPr>
              <a:t>硬约束是能量；软破例是「剧本无聊」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466344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A32"/>
                </a:solidFill>
                <a:latin typeface="Microsoft YaHei"/>
              </a:rPr>
              <a:t>默认规则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9377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500">
                <a:solidFill>
                  <a:srgbClr val="1E2A2E"/>
                </a:solidFill>
                <a:latin typeface="Microsoft YaHei"/>
              </a:rPr>
              <a:t>每人同类输出上限 ≈ 3 次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500">
                <a:solidFill>
                  <a:srgbClr val="1E2A2E"/>
                </a:solidFill>
                <a:latin typeface="Microsoft YaHei"/>
              </a:rPr>
              <a:t>限制原因：能量不够（资源约束）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500">
                <a:solidFill>
                  <a:srgbClr val="1E2A2E"/>
                </a:solidFill>
                <a:latin typeface="Microsoft YaHei"/>
              </a:rPr>
              <a:t>第 4 次属于破例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500">
                <a:solidFill>
                  <a:srgbClr val="1E2A2E"/>
                </a:solidFill>
                <a:latin typeface="Microsoft YaHei"/>
              </a:rPr>
              <a:t>破例理由：旧剧本无聊，要更换场景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500">
                <a:solidFill>
                  <a:srgbClr val="1E2A2E"/>
                </a:solidFill>
                <a:latin typeface="Microsoft YaHei"/>
              </a:rPr>
              <a:t>新场景仍校验对方气质连续性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486400" cy="4663440"/>
          </a:xfrm>
          <a:prstGeom prst="round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F8A78"/>
                </a:solidFill>
                <a:latin typeface="Microsoft YaHei"/>
              </a:rPr>
              <a:t>有意思的推导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9377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C98B3C"/>
                </a:solidFill>
                <a:latin typeface="Microsoft YaHei"/>
              </a:rPr>
              <a:t>●  </a:t>
            </a:r>
            <a:r>
              <a:rPr sz="1500">
                <a:solidFill>
                  <a:srgbClr val="FFFFFF"/>
                </a:solidFill>
                <a:latin typeface="Microsoft YaHei"/>
              </a:rPr>
              <a:t>配额制 = 稀缺资源的自我保护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C98B3C"/>
                </a:solidFill>
                <a:latin typeface="Microsoft YaHei"/>
              </a:rPr>
              <a:t>●  </a:t>
            </a:r>
            <a:r>
              <a:rPr sz="1500">
                <a:solidFill>
                  <a:srgbClr val="FFFFFF"/>
                </a:solidFill>
                <a:latin typeface="Microsoft YaHei"/>
              </a:rPr>
              <a:t>「无聊」被赋予合法破例权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C98B3C"/>
                </a:solidFill>
                <a:latin typeface="Microsoft YaHei"/>
              </a:rPr>
              <a:t>●  </a:t>
            </a:r>
            <a:r>
              <a:rPr sz="1500">
                <a:solidFill>
                  <a:srgbClr val="FFFFFF"/>
                </a:solidFill>
                <a:latin typeface="Microsoft YaHei"/>
              </a:rPr>
              <a:t>更新剧本本身是能量管理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C98B3C"/>
                </a:solidFill>
                <a:latin typeface="Microsoft YaHei"/>
              </a:rPr>
              <a:t>●  </a:t>
            </a:r>
            <a:r>
              <a:rPr sz="1500">
                <a:solidFill>
                  <a:srgbClr val="FFFFFF"/>
                </a:solidFill>
                <a:latin typeface="Microsoft YaHei"/>
              </a:rPr>
              <a:t>可映射到产品迭代：重复剧本耗能，换叙事续航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C98B3C"/>
                </a:solidFill>
                <a:latin typeface="Microsoft YaHei"/>
              </a:rPr>
              <a:t>●  </a:t>
            </a:r>
            <a:r>
              <a:rPr sz="1500">
                <a:solidFill>
                  <a:srgbClr val="FFFFFF"/>
                </a:solidFill>
                <a:latin typeface="Microsoft YaHei"/>
              </a:rPr>
              <a:t>创造性厌倦，比硬扛更理性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0"/>
                </a:solidFill>
                <a:latin typeface="Microsoft YaHei"/>
              </a:rPr>
              <a:t>闲聊推导模型 · 源：2026-08-08 多人线下录音总结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0"/>
                </a:solidFill>
                <a:latin typeface="Microsoft YaHei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M4 · 非线性并行自我场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0DCE0"/>
                </a:solidFill>
                <a:latin typeface="Microsoft YaHei"/>
              </a:rPr>
              <a:t>「时间不是线性的，时空是伪的」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A32"/>
                </a:solidFill>
                <a:latin typeface="Microsoft YaHei"/>
              </a:rPr>
              <a:t>主张：另一时空中，在场的三个人可能同时在工作。</a:t>
            </a:r>
          </a:p>
          <a:p>
            <a:pPr algn="l"/>
            <a:r>
              <a:rPr sz="1600" b="0">
                <a:solidFill>
                  <a:srgbClr val="142A32"/>
                </a:solidFill>
                <a:latin typeface="Microsoft YaHei"/>
              </a:rPr>
              <a:t>时间线不是单轨录像带，而是可并行的场；「此时此刻」只是局部切片。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657600" cy="2560320"/>
          </a:xfrm>
          <a:prstGeom prst="round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F8A78"/>
                </a:solidFill>
                <a:latin typeface="Microsoft YaHei"/>
              </a:rPr>
              <a:t>线性时间观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过去→现在→未来</a:t>
            </a:r>
          </a:p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因果单向</a:t>
            </a:r>
          </a:p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身份唯一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926080"/>
            <a:ext cx="3657600" cy="2560320"/>
          </a:xfrm>
          <a:prstGeom prst="round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F8A78"/>
                </a:solidFill>
                <a:latin typeface="Microsoft YaHei"/>
              </a:rPr>
              <a:t>并行场观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8404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多切片同时在场</a:t>
            </a:r>
          </a:p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因果可回环</a:t>
            </a:r>
          </a:p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身份可多重出演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926080"/>
            <a:ext cx="3657600" cy="2560320"/>
          </a:xfrm>
          <a:prstGeom prst="round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F8A78"/>
                </a:solidFill>
                <a:latin typeface="Microsoft YaHei"/>
              </a:rPr>
              <a:t>实用含义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404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不必等「一条线走完」</a:t>
            </a:r>
          </a:p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可同时经营多剧本</a:t>
            </a:r>
          </a:p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用气质校验连续性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0"/>
                </a:solidFill>
                <a:latin typeface="Microsoft YaHei"/>
              </a:rPr>
              <a:t>闲聊推导模型 · 源：2026-08-08 多人线下录音总结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0"/>
                </a:solidFill>
                <a:latin typeface="Microsoft YaHei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M5 · 佛道双修互补栈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0DCE0"/>
                </a:solidFill>
                <a:latin typeface="Microsoft YaHei"/>
              </a:rPr>
              <a:t>不互相排斥：底座护身，上层洞见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466344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A32"/>
                </a:solidFill>
                <a:latin typeface="Microsoft YaHei"/>
              </a:rPr>
              <a:t>道 · 护身层（Firmware）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500">
                <a:solidFill>
                  <a:srgbClr val="1E2A2E"/>
                </a:solidFill>
                <a:latin typeface="Microsoft YaHei"/>
              </a:rPr>
              <a:t>护身功法评价极高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500">
                <a:solidFill>
                  <a:srgbClr val="1E2A2E"/>
                </a:solidFill>
                <a:latin typeface="Microsoft YaHei"/>
              </a:rPr>
              <a:t>目标：延年益寿、稳住载体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500">
                <a:solidFill>
                  <a:srgbClr val="1E2A2E"/>
                </a:solidFill>
                <a:latin typeface="Microsoft YaHei"/>
              </a:rPr>
              <a:t>类比：操作系统 / 身体固件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500">
                <a:solidFill>
                  <a:srgbClr val="1E2A2E"/>
                </a:solidFill>
                <a:latin typeface="Microsoft YaHei"/>
              </a:rPr>
              <a:t>没有载体稳定，上层洞见难跑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486400" cy="466344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A32"/>
                </a:solidFill>
                <a:latin typeface="Microsoft YaHei"/>
              </a:rPr>
              <a:t>佛 · 洞见层（Runtime）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500">
                <a:solidFill>
                  <a:srgbClr val="1E2A2E"/>
                </a:solidFill>
                <a:latin typeface="Microsoft YaHei"/>
              </a:rPr>
              <a:t>金刚经等经典门槛高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500">
                <a:solidFill>
                  <a:srgbClr val="1E2A2E"/>
                </a:solidFill>
                <a:latin typeface="Microsoft YaHei"/>
              </a:rPr>
              <a:t>需要能量 + 认知基础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500">
                <a:solidFill>
                  <a:srgbClr val="1E2A2E"/>
                </a:solidFill>
                <a:latin typeface="Microsoft YaHei"/>
              </a:rPr>
              <a:t>普通人「看不懂」= 缺运行环境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500">
                <a:solidFill>
                  <a:srgbClr val="1E2A2E"/>
                </a:solidFill>
                <a:latin typeface="Microsoft YaHei"/>
              </a:rPr>
              <a:t>类比：高阶应用要足够内存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0"/>
                </a:solidFill>
                <a:latin typeface="Microsoft YaHei"/>
              </a:rPr>
              <a:t>闲聊推导模型 · 源：2026-08-08 多人线下录音总结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0"/>
                </a:solidFill>
                <a:latin typeface="Microsoft YaHei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M6 · 全量验货接管法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0DCE0"/>
                </a:solidFill>
                <a:latin typeface="Microsoft YaHei"/>
              </a:rPr>
              <a:t>失败项目多次易手后的反叙事接手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743200" cy="219456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F8A78"/>
                </a:solidFill>
                <a:latin typeface="Microsoft YaHei"/>
              </a:rPr>
              <a:t>1. 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多任项目组未成</a:t>
            </a:r>
          </a:p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团队信心耗尽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80160"/>
            <a:ext cx="2743200" cy="219456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087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F8A78"/>
                </a:solidFill>
                <a:latin typeface="Microsoft YaHei"/>
              </a:rPr>
              <a:t>2. 接手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要求好坏产品</a:t>
            </a:r>
          </a:p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全部提交查验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2743200" cy="219456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F8A78"/>
                </a:solidFill>
                <a:latin typeface="Microsoft YaHei"/>
              </a:rPr>
              <a:t>3. 推进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按自有思路</a:t>
            </a:r>
          </a:p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重写推进路径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280160"/>
            <a:ext cx="2743200" cy="219456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5087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F8A78"/>
                </a:solidFill>
                <a:latin typeface="Microsoft YaHei"/>
              </a:rPr>
              <a:t>4. 转向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14884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完成后换方向</a:t>
            </a:r>
          </a:p>
          <a:p>
            <a:pPr algn="l"/>
            <a:r>
              <a:rPr sz="1400" b="0">
                <a:solidFill>
                  <a:srgbClr val="1E2A2E"/>
                </a:solidFill>
                <a:latin typeface="Microsoft YaHei"/>
              </a:rPr>
              <a:t>进入新群体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11247120" cy="2194560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F8A78"/>
                </a:solidFill>
                <a:latin typeface="Microsoft YaHei"/>
              </a:rPr>
              <a:t>管理学蒸馏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C98B3C"/>
                </a:solidFill>
                <a:latin typeface="Microsoft Ya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YaHei"/>
              </a:rPr>
              <a:t>不要继承失败叙事：先要全量实物/数据，好坏都看。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C98B3C"/>
                </a:solidFill>
                <a:latin typeface="Microsoft Ya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YaHei"/>
              </a:rPr>
              <a:t>信心崩溃是信息与解释权失控的结果；全量验货夺回解释权。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C98B3C"/>
                </a:solidFill>
                <a:latin typeface="Microsoft Ya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YaHei"/>
              </a:rPr>
              <a:t>完成后主动换赛道：项目成功 ≠ 永久绑定旧群体。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0"/>
                </a:solidFill>
                <a:latin typeface="Microsoft YaHei"/>
              </a:rPr>
              <a:t>闲聊推导模型 · 源：2026-08-08 多人线下录音总结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0"/>
                </a:solidFill>
                <a:latin typeface="Microsoft YaHei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M7 · 面相-业力-职业三角验证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0DCE0"/>
                </a:solidFill>
                <a:latin typeface="Microsoft YaHei"/>
              </a:rPr>
              <a:t>三信号对齐时，匹配度判断上升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66160" cy="237744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A32"/>
                </a:solidFill>
                <a:latin typeface="Microsoft YaHei"/>
              </a:rPr>
              <a:t>面相信号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书卷气重</a:t>
            </a:r>
          </a:p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文静气质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566160" cy="237744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645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A32"/>
                </a:solidFill>
                <a:latin typeface="Microsoft YaHei"/>
              </a:rPr>
              <a:t>业力/前世推断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适合教育相关</a:t>
            </a:r>
          </a:p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老师型角色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566160" cy="237744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45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A32"/>
                </a:solidFill>
                <a:latin typeface="Microsoft YaHei"/>
              </a:rPr>
              <a:t>今生职业现实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工作属性类似老师</a:t>
            </a:r>
          </a:p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当场被确认匹配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模型形式：若 Face ∩ Karma_guess ∩ Job_now ≠ ∅，则「匹配度高」被强化。</a:t>
            </a:r>
          </a:p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这是一种启发式诊断，不是科学证明——但它展示了对话中如何用闭环提高确信感。</a:t>
            </a:r>
          </a:p>
          <a:p>
            <a:pPr algn="l"/>
            <a:r>
              <a:rPr sz="1500" b="0">
                <a:solidFill>
                  <a:srgbClr val="1E2A2E"/>
                </a:solidFill>
                <a:latin typeface="Microsoft YaHei"/>
              </a:rPr>
              <a:t>可迁移用法：招聘/合伙人选择时，外表气质、历史叙事、当前行为三线交叉验证。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0"/>
                </a:solidFill>
                <a:latin typeface="Microsoft YaHei"/>
              </a:rPr>
              <a:t>闲聊推导模型 · 源：2026-08-08 多人线下录音总结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0"/>
                </a:solidFill>
                <a:latin typeface="Microsoft YaHei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M8 / M9 · 命名先验与身份锚点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0DCE0"/>
                </a:solidFill>
                <a:latin typeface="Microsoft YaHei"/>
              </a:rPr>
              <a:t>先有名字与身份，再落物理与业务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466344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A32"/>
                </a:solidFill>
                <a:latin typeface="Microsoft YaHei"/>
              </a:rPr>
              <a:t>M8 命名先验空间选择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9377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E2A2E"/>
                </a:solidFill>
                <a:latin typeface="Microsoft YaHei"/>
              </a:rPr>
              <a:t>先确定名称「21」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E2A2E"/>
                </a:solidFill>
                <a:latin typeface="Microsoft YaHei"/>
              </a:rPr>
              <a:t>再选择实际 21 层场地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E2A2E"/>
                </a:solidFill>
                <a:latin typeface="Microsoft YaHei"/>
              </a:rPr>
              <a:t>意图/符号先于物理选址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E2A2E"/>
                </a:solidFill>
                <a:latin typeface="Microsoft YaHei"/>
              </a:rPr>
              <a:t>21 层及以上材料统一 10 斤规格，可做顶光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E2A2E"/>
                </a:solidFill>
                <a:latin typeface="Microsoft YaHei"/>
              </a:rPr>
              <a:t>品牌一致性向下渗透到建材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486400" cy="466344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A32"/>
                </a:solidFill>
                <a:latin typeface="Microsoft YaHei"/>
              </a:rPr>
              <a:t>M9 身份锚点三角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49377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E2A2E"/>
                </a:solidFill>
                <a:latin typeface="Microsoft YaHei"/>
              </a:rPr>
              <a:t>地理：复旦大学周边专职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E2A2E"/>
                </a:solidFill>
                <a:latin typeface="Microsoft YaHei"/>
              </a:rPr>
              <a:t>机构：杨浦区科技企业联合中心秘书长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E2A2E"/>
                </a:solidFill>
                <a:latin typeface="Microsoft YaHei"/>
              </a:rPr>
              <a:t>赛道：新级增长 / 不动产 / 人工智能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E2A2E"/>
                </a:solidFill>
                <a:latin typeface="Microsoft YaHei"/>
              </a:rPr>
              <a:t>三角稳住后，灵性社交也可落在同一场域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2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E2A2E"/>
                </a:solidFill>
                <a:latin typeface="Microsoft YaHei"/>
              </a:rPr>
              <a:t>身份不是单点头衔，是可叠加的坐标系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0"/>
                </a:solidFill>
                <a:latin typeface="Microsoft YaHei"/>
              </a:rPr>
              <a:t>闲聊推导模型 · 源：2026-08-08 多人线下录音总结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0"/>
                </a:solidFill>
                <a:latin typeface="Microsoft YaHei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跨域同构：灵性脚本 ≈ 职场脚本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0DCE0"/>
                </a:solidFill>
                <a:latin typeface="Microsoft YaHei"/>
              </a:rPr>
              <a:t>最有意思的发现不是单个模型，而是它们共享骨架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3657600" cy="731520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60520" y="1143000"/>
            <a:ext cx="3657600" cy="731520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1143000"/>
            <a:ext cx="3840480" cy="731520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灵性侧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32588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职场侧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32588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共享骨架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65960"/>
            <a:ext cx="3657600" cy="731520"/>
          </a:xfrm>
          <a:prstGeom prst="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965960"/>
            <a:ext cx="3657600" cy="731520"/>
          </a:xfrm>
          <a:prstGeom prst="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965960"/>
            <a:ext cx="3840480" cy="731520"/>
          </a:xfrm>
          <a:prstGeom prst="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14884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A2E"/>
                </a:solidFill>
                <a:latin typeface="Microsoft YaHei"/>
              </a:rPr>
              <a:t>看前世/面相，找匹配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14884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A2E"/>
                </a:solidFill>
                <a:latin typeface="Microsoft YaHei"/>
              </a:rPr>
              <a:t>全量验货，夺回解释权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1488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A2E"/>
                </a:solidFill>
                <a:latin typeface="Microsoft YaHei"/>
              </a:rPr>
              <a:t>先收集信号，再下判断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3657600" cy="73152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2788920"/>
            <a:ext cx="3657600" cy="73152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2788920"/>
            <a:ext cx="3840480" cy="73152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97180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A2E"/>
                </a:solidFill>
                <a:latin typeface="Microsoft YaHei"/>
              </a:rPr>
              <a:t>能量不足最多出三次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97180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A2E"/>
                </a:solidFill>
                <a:latin typeface="Microsoft YaHei"/>
              </a:rPr>
              <a:t>团队信心耗尽后易手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9718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A2E"/>
                </a:solidFill>
                <a:latin typeface="Microsoft YaHei"/>
              </a:rPr>
              <a:t>资源配额决定可持续输出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3657600" cy="731520"/>
          </a:xfrm>
          <a:prstGeom prst="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3611880"/>
            <a:ext cx="3657600" cy="731520"/>
          </a:xfrm>
          <a:prstGeom prst="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3611880"/>
            <a:ext cx="3840480" cy="731520"/>
          </a:xfrm>
          <a:prstGeom prst="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79476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A2E"/>
                </a:solidFill>
                <a:latin typeface="Microsoft YaHei"/>
              </a:rPr>
              <a:t>剧本无聊就换场景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79476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A2E"/>
                </a:solidFill>
                <a:latin typeface="Microsoft YaHei"/>
              </a:rPr>
              <a:t>项目完成后换赛道群体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79476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A2E"/>
                </a:solidFill>
                <a:latin typeface="Microsoft YaHei"/>
              </a:rPr>
              <a:t>厌倦是换轨信号，不是失败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34840"/>
            <a:ext cx="3657600" cy="73152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60520" y="4434840"/>
            <a:ext cx="3657600" cy="73152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63840" y="4434840"/>
            <a:ext cx="3840480" cy="731520"/>
          </a:xfrm>
          <a:prstGeom prst="rect">
            <a:avLst/>
          </a:prstGeom>
          <a:solidFill>
            <a:srgbClr val="F4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61772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A2E"/>
                </a:solidFill>
                <a:latin typeface="Microsoft YaHei"/>
              </a:rPr>
              <a:t>链接高位则补能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61772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A2E"/>
                </a:solidFill>
                <a:latin typeface="Microsoft YaHei"/>
              </a:rPr>
              <a:t>进入新势能社群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46177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A2E"/>
                </a:solidFill>
                <a:latin typeface="Microsoft YaHei"/>
              </a:rPr>
              <a:t>向上连接改变 ΔE 符号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257800"/>
            <a:ext cx="3657600" cy="731520"/>
          </a:xfrm>
          <a:prstGeom prst="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60520" y="5257800"/>
            <a:ext cx="3657600" cy="731520"/>
          </a:xfrm>
          <a:prstGeom prst="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63840" y="5257800"/>
            <a:ext cx="3840480" cy="731520"/>
          </a:xfrm>
          <a:prstGeom prst="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44068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A2E"/>
                </a:solidFill>
                <a:latin typeface="Microsoft YaHei"/>
              </a:rPr>
              <a:t>佛道双修不互斥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44068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A2E"/>
                </a:solidFill>
                <a:latin typeface="Microsoft YaHei"/>
              </a:rPr>
              <a:t>增长+不动产+AI 并行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544068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A2E"/>
                </a:solidFill>
                <a:latin typeface="Microsoft YaHei"/>
              </a:rPr>
              <a:t>多栈互补，而非二选一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0"/>
                </a:solidFill>
                <a:latin typeface="Microsoft YaHei"/>
              </a:rPr>
              <a:t>闲聊推导模型 · 源：2026-08-08 多人线下录音总结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0"/>
                </a:solidFill>
                <a:latin typeface="Microsoft YaHei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方法：闲聊知识蒸馏五步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0DCE0"/>
                </a:solidFill>
                <a:latin typeface="Microsoft YaHei"/>
              </a:rPr>
              <a:t>下次拿到松散录音总结时，可复用的抽取流程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2194560" cy="411480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1554480"/>
            <a:ext cx="640080" cy="64008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554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2A32"/>
                </a:solidFill>
                <a:latin typeface="Microsoft YaHei"/>
              </a:rPr>
              <a:t>标金句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1920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E2A2E"/>
                </a:solidFill>
                <a:latin typeface="Microsoft YaHei"/>
              </a:rPr>
              <a:t>找出带判断动词的句子</a:t>
            </a:r>
          </a:p>
          <a:p>
            <a:pPr algn="ctr"/>
            <a:r>
              <a:rPr sz="1200" b="0">
                <a:solidFill>
                  <a:srgbClr val="1E2A2E"/>
                </a:solidFill>
                <a:latin typeface="Microsoft YaHei"/>
              </a:rPr>
              <a:t>（是/不是/取决于/最多）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79" y="1280160"/>
            <a:ext cx="2194560" cy="411480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19" y="1554480"/>
            <a:ext cx="640080" cy="64008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19" y="1554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24688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2A32"/>
                </a:solidFill>
                <a:latin typeface="Microsoft YaHei"/>
              </a:rPr>
              <a:t>抽规则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3108960"/>
            <a:ext cx="1920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E2A2E"/>
                </a:solidFill>
                <a:latin typeface="Microsoft YaHei"/>
              </a:rPr>
              <a:t>把金句改写成 if-then</a:t>
            </a:r>
          </a:p>
          <a:p>
            <a:pPr algn="ctr"/>
            <a:r>
              <a:rPr sz="1200" b="0">
                <a:solidFill>
                  <a:srgbClr val="1E2A2E"/>
                </a:solidFill>
                <a:latin typeface="Microsoft YaHei"/>
              </a:rPr>
              <a:t>或上限/条件/例外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280160"/>
            <a:ext cx="2194560" cy="411480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554480"/>
            <a:ext cx="640080" cy="64008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554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4688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2A32"/>
                </a:solidFill>
                <a:latin typeface="Microsoft YaHei"/>
              </a:rPr>
              <a:t>找闭环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108960"/>
            <a:ext cx="1920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E2A2E"/>
                </a:solidFill>
                <a:latin typeface="Microsoft YaHei"/>
              </a:rPr>
              <a:t>故事是否有成-分-合</a:t>
            </a:r>
          </a:p>
          <a:p>
            <a:pPr algn="ctr"/>
            <a:r>
              <a:rPr sz="1200" b="0">
                <a:solidFill>
                  <a:srgbClr val="1E2A2E"/>
                </a:solidFill>
                <a:latin typeface="Microsoft YaHei"/>
              </a:rPr>
              <a:t>或多信号交叉验证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19" y="1280160"/>
            <a:ext cx="2194560" cy="411480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59" y="1554480"/>
            <a:ext cx="640080" cy="64008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9" y="1554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4688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2A32"/>
                </a:solidFill>
                <a:latin typeface="Microsoft YaHei"/>
              </a:rPr>
              <a:t>做映射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108960"/>
            <a:ext cx="1920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E2A2E"/>
                </a:solidFill>
                <a:latin typeface="Microsoft YaHei"/>
              </a:rPr>
              <a:t>把灵性词换成职场/</a:t>
            </a:r>
          </a:p>
          <a:p>
            <a:pPr algn="ctr"/>
            <a:r>
              <a:rPr sz="1200" b="0">
                <a:solidFill>
                  <a:srgbClr val="1E2A2E"/>
                </a:solidFill>
                <a:latin typeface="Microsoft YaHei"/>
              </a:rPr>
              <a:t>产品/关系同构词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1280160"/>
            <a:ext cx="2194560" cy="4114800"/>
          </a:xfrm>
          <a:prstGeom prst="roundRect">
            <a:avLst/>
          </a:prstGeom>
          <a:solidFill>
            <a:srgbClr val="E7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69880" y="1554480"/>
            <a:ext cx="640080" cy="64008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69880" y="1554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4688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2A32"/>
                </a:solidFill>
                <a:latin typeface="Microsoft YaHei"/>
              </a:rPr>
              <a:t>写模型名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108960"/>
            <a:ext cx="1920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E2A2E"/>
                </a:solidFill>
                <a:latin typeface="Microsoft YaHei"/>
              </a:rPr>
              <a:t>给规则起可复述的名字</a:t>
            </a:r>
          </a:p>
          <a:p>
            <a:pPr algn="ctr"/>
            <a:r>
              <a:rPr sz="1200" b="0">
                <a:solidFill>
                  <a:srgbClr val="1E2A2E"/>
                </a:solidFill>
                <a:latin typeface="Microsoft YaHei"/>
              </a:rPr>
              <a:t>便于传播与检验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A70"/>
                </a:solidFill>
                <a:latin typeface="Microsoft YaHei"/>
              </a:rPr>
              <a:t>闲聊推导模型 · 源：2026-08-08 多人线下录音总结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0"/>
                </a:solidFill>
                <a:latin typeface="Microsoft YaHei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F8A78"/>
                </a:solidFill>
                <a:latin typeface="Microsoft YaHei"/>
              </a:rPr>
              <a:t>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闲聊里最可带走的，不是前世情节本身，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而是一套关于存量、配额、闭环与向上链接的操作语法。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D0DCE0"/>
                </a:solidFill>
                <a:latin typeface="Microsoft YaHei"/>
              </a:rPr>
              <a:t>金句回响：</a:t>
            </a:r>
          </a:p>
          <a:p>
            <a:pPr algn="l"/>
            <a:r>
              <a:rPr sz="1500" b="0">
                <a:solidFill>
                  <a:srgbClr val="D0DCE0"/>
                </a:solidFill>
                <a:latin typeface="Microsoft YaHei"/>
              </a:rPr>
              <a:t>「能量消耗与否要看本身存量状态，链接高位能量每次都会给你补充能量。」</a:t>
            </a:r>
          </a:p>
          <a:p>
            <a:pPr algn="l"/>
            <a:r>
              <a:rPr sz="1500" b="0">
                <a:solidFill>
                  <a:srgbClr val="D0DCE0"/>
                </a:solidFill>
                <a:latin typeface="Microsoft YaHei"/>
              </a:rPr>
              <a:t>「时间不是线性的，时空是伪的。」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A70"/>
                </a:solidFill>
                <a:latin typeface="Microsoft YaHei"/>
              </a:rPr>
              <a:t>详见同目录白皮书 DOCX / docs 说明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