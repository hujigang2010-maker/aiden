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0" y="0"/>
            <a:ext cx="4206240" cy="6858000"/>
          </a:xfrm>
          <a:prstGeom prst="rect">
            <a:avLst/>
          </a:prstGeom>
          <a:solidFill>
            <a:srgbClr val="1E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49240"/>
            <a:ext cx="12191695" cy="36576"/>
          </a:xfrm>
          <a:prstGeom prst="rect">
            <a:avLst/>
          </a:prstGeom>
          <a:solidFill>
            <a:srgbClr val="4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C4A35A"/>
                </a:solidFill>
                <a:latin typeface="Microsoft YaHei"/>
              </a:rPr>
              <a:t>从闲聊中抽取可操作框架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灵性闲聊的可推导模型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8686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E8EFEC"/>
                </a:solidFill>
                <a:latin typeface="Microsoft YaHei"/>
              </a:rPr>
              <a:t>把「前世回溯 / 能量链接 / 佛道双修 / 职场接手」</a:t>
            </a:r>
          </a:p>
          <a:p>
            <a:pPr algn="l"/>
            <a:r>
              <a:rPr sz="1800" b="0">
                <a:solidFill>
                  <a:srgbClr val="E8EFEC"/>
                </a:solidFill>
                <a:latin typeface="Microsoft YaHei"/>
              </a:rPr>
              <a:t>压缩成 6 套可对照、可迁移的概念模型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F8A78"/>
                </a:solidFill>
                <a:latin typeface="Microsoft YaHei"/>
              </a:rPr>
              <a:t>素材 · 2026-08-08 12:37–13:39 · 约 6 人线下闲聊 · 61 分钟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A6B66"/>
                </a:solidFill>
                <a:latin typeface="Microsoft YaHei"/>
              </a:rPr>
              <a:t>方法：民间本体论 → 变量抽取 → 结构方程 → 跨域同构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56692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C4A35A"/>
                </a:solidFill>
                <a:latin typeface="Microsoft YaHei"/>
              </a:rPr>
              <a:t>MODEL STUDIO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4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六套模型总览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FEC"/>
                </a:solidFill>
                <a:latin typeface="Microsoft YaHei"/>
              </a:rPr>
              <a:t>同一场闲聊，抽出六种可并列对照的结构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B66"/>
                </a:solidFill>
                <a:latin typeface="Microsoft YaHei"/>
              </a:rPr>
              <a:t>灵性闲聊 · 可推导模型 · 2026-08-08 录音总结二次抽取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B66"/>
                </a:solidFill>
                <a:latin typeface="Microsoft YaHei"/>
              </a:rPr>
              <a:t>2/12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4300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43000"/>
            <a:ext cx="3657600" cy="73152"/>
          </a:xfrm>
          <a:prstGeom prst="rect">
            <a:avLst/>
          </a:prstGeom>
          <a:solidFill>
            <a:srgbClr val="4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6304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42824"/>
                </a:solidFill>
                <a:latin typeface="Microsoft YaHei"/>
              </a:rPr>
              <a:t>M1 能量存量—流量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5740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4A44"/>
                </a:solidFill>
                <a:latin typeface="Microsoft YaHei"/>
              </a:rPr>
              <a:t>链接是否耗能，取决于自身存量与链接维度高低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14300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143000"/>
            <a:ext cx="3657600" cy="7315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46304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42824"/>
                </a:solidFill>
                <a:latin typeface="Microsoft YaHei"/>
              </a:rPr>
              <a:t>M2 输出配额与破例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05740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4A44"/>
                </a:solidFill>
                <a:latin typeface="Microsoft YaHei"/>
              </a:rPr>
              <a:t>常规上限三次；叙事无聊可触发第四次破例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14300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143000"/>
            <a:ext cx="3657600" cy="73152"/>
          </a:xfrm>
          <a:prstGeom prst="rect">
            <a:avLst/>
          </a:prstGeom>
          <a:solidFill>
            <a:srgbClr val="4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46304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42824"/>
                </a:solidFill>
                <a:latin typeface="Microsoft YaHei"/>
              </a:rPr>
              <a:t>M3 跨世缘分图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05740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4A44"/>
                </a:solidFill>
                <a:latin typeface="Microsoft YaHei"/>
              </a:rPr>
              <a:t>促成婚配 → 离散 → 重逢生育 → 私塾教学的角色连续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1188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611880"/>
            <a:ext cx="3657600" cy="7315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93192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42824"/>
                </a:solidFill>
                <a:latin typeface="Microsoft YaHei"/>
              </a:rPr>
              <a:t>M4 非线性并行时空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52628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4A44"/>
                </a:solidFill>
                <a:latin typeface="Microsoft YaHei"/>
              </a:rPr>
              <a:t>时间非线性；另一时空中的「我」可能同步在工作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361188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3611880"/>
            <a:ext cx="3657600" cy="73152"/>
          </a:xfrm>
          <a:prstGeom prst="rect">
            <a:avLst/>
          </a:prstGeom>
          <a:solidFill>
            <a:srgbClr val="4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393192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42824"/>
                </a:solidFill>
                <a:latin typeface="Microsoft YaHei"/>
              </a:rPr>
              <a:t>M5 佛道双修互补栈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452628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4A44"/>
                </a:solidFill>
                <a:latin typeface="Microsoft YaHei"/>
              </a:rPr>
              <a:t>道重护身延寿，佛需能量与认知门槛，二者不互斥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361188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60" y="3611880"/>
            <a:ext cx="3657600" cy="7315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393192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42824"/>
                </a:solidFill>
                <a:latin typeface="Microsoft YaHei"/>
              </a:rPr>
              <a:t>M6 接手修复循环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52628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4A44"/>
                </a:solidFill>
                <a:latin typeface="Microsoft YaHei"/>
              </a:rPr>
              <a:t>多任失败 → 信心崩塌 → 全量验货 → 重建 → 转向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4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M1 · 能量存量—流量模型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FEC"/>
                </a:solidFill>
                <a:latin typeface="Microsoft YaHei"/>
              </a:rPr>
              <a:t>核心金句：「能量消耗与否要看本身存量；链接高位则每次补充」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B66"/>
                </a:solidFill>
                <a:latin typeface="Microsoft YaHei"/>
              </a:rPr>
              <a:t>灵性闲聊 · 可推导模型 · 2026-08-08 录音总结二次抽取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B66"/>
                </a:solidFill>
                <a:latin typeface="Microsoft YaHei"/>
              </a:rPr>
              <a:t>3/12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43000"/>
            <a:ext cx="676656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2588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42824"/>
                </a:solidFill>
                <a:latin typeface="Microsoft YaHei"/>
              </a:rPr>
              <a:t>形式化表达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83080"/>
            <a:ext cx="62179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Microsoft YaHei"/>
              </a:rPr>
              <a:t>设个体能量存量为 S，链接对象维度差为 ΔD。</a:t>
            </a:r>
          </a:p>
          <a:p>
            <a:pPr algn="l"/>
            <a:r>
              <a:rPr sz="1500" b="0">
                <a:solidFill>
                  <a:srgbClr val="1C1C1C"/>
                </a:solidFill>
                <a:latin typeface="Microsoft YaHei"/>
              </a:rPr>
              <a:t/>
            </a:r>
          </a:p>
          <a:p>
            <a:pPr algn="l"/>
            <a:r>
              <a:rPr sz="1500" b="0">
                <a:solidFill>
                  <a:srgbClr val="1C1C1C"/>
                </a:solidFill>
                <a:latin typeface="Microsoft YaHei"/>
              </a:rPr>
              <a:t>ΔS = g(S, ΔD)</a:t>
            </a:r>
          </a:p>
          <a:p>
            <a:pPr algn="l"/>
            <a:r>
              <a:rPr sz="1500" b="0">
                <a:solidFill>
                  <a:srgbClr val="1C1C1C"/>
                </a:solidFill>
                <a:latin typeface="Microsoft YaHei"/>
              </a:rPr>
              <a:t/>
            </a:r>
          </a:p>
          <a:p>
            <a:pPr algn="l"/>
            <a:r>
              <a:rPr sz="1500" b="0">
                <a:solidFill>
                  <a:srgbClr val="1C1C1C"/>
                </a:solidFill>
                <a:latin typeface="Microsoft YaHei"/>
              </a:rPr>
              <a:t>· 若 ΔD &gt; 0（链接更高维能量位）：ΔS ≥ 0，每次补充</a:t>
            </a:r>
          </a:p>
          <a:p>
            <a:pPr algn="l"/>
            <a:r>
              <a:rPr sz="1500" b="0">
                <a:solidFill>
                  <a:srgbClr val="1C1C1C"/>
                </a:solidFill>
                <a:latin typeface="Microsoft YaHei"/>
              </a:rPr>
              <a:t>· 若 ΔD ≤ 0：是否消耗取决于 S 是否低于阈值 θ</a:t>
            </a:r>
          </a:p>
          <a:p>
            <a:pPr algn="l"/>
            <a:r>
              <a:rPr sz="1500" b="0">
                <a:solidFill>
                  <a:srgbClr val="1C1C1C"/>
                </a:solidFill>
                <a:latin typeface="Microsoft YaHei"/>
              </a:rPr>
              <a:t>· 低存量 + 平级/低位链接 → 净消耗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62179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>
                <a:solidFill>
                  <a:srgbClr val="4F8A78"/>
                </a:solidFill>
                <a:latin typeface="Microsoft YaHei"/>
              </a:rPr>
              <a:t>●  </a:t>
            </a:r>
            <a:r>
              <a:rPr sz="1400">
                <a:solidFill>
                  <a:srgbClr val="1C1C1C"/>
                </a:solidFill>
                <a:latin typeface="Microsoft YaHei"/>
              </a:rPr>
              <a:t>可迁移：社交、信息流、上下级沟通同样适用「存量 × 维度差」</a:t>
            </a:r>
          </a:p>
          <a:p>
            <a:pPr algn="l">
              <a:lnSpc>
                <a:spcPct val="128000"/>
              </a:lnSpc>
            </a:pPr>
            <a:r>
              <a:rPr sz="1400">
                <a:solidFill>
                  <a:srgbClr val="4F8A78"/>
                </a:solidFill>
                <a:latin typeface="Microsoft YaHei"/>
              </a:rPr>
              <a:t>●  </a:t>
            </a:r>
            <a:r>
              <a:rPr sz="1400">
                <a:solidFill>
                  <a:srgbClr val="1C1C1C"/>
                </a:solidFill>
                <a:latin typeface="Microsoft YaHei"/>
              </a:rPr>
              <a:t>诊断问题从「要不要断联」变为「我的 S 是否过低、对方是否高位」</a:t>
            </a:r>
          </a:p>
          <a:p>
            <a:pPr algn="l">
              <a:lnSpc>
                <a:spcPct val="128000"/>
              </a:lnSpc>
            </a:pPr>
            <a:r>
              <a:rPr sz="1400">
                <a:solidFill>
                  <a:srgbClr val="4F8A78"/>
                </a:solidFill>
                <a:latin typeface="Microsoft YaHei"/>
              </a:rPr>
              <a:t>●  </a:t>
            </a:r>
            <a:r>
              <a:rPr sz="1400">
                <a:solidFill>
                  <a:srgbClr val="1C1C1C"/>
                </a:solidFill>
                <a:latin typeface="Microsoft YaHei"/>
              </a:rPr>
              <a:t>高位链接 = 稀缺资源；平级闲聊在低 S 时成本最高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1143000"/>
            <a:ext cx="4251960" cy="5029200"/>
          </a:xfrm>
          <a:prstGeom prst="roundRect">
            <a:avLst>
              <a:gd name="adj" fmla="val 8000"/>
            </a:avLst>
          </a:prstGeom>
          <a:solidFill>
            <a:srgbClr val="142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141732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4A35A"/>
                </a:solidFill>
                <a:latin typeface="Microsoft YaHei"/>
              </a:rPr>
              <a:t>决策矩阵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2011680"/>
            <a:ext cx="3749039" cy="777240"/>
          </a:xfrm>
          <a:prstGeom prst="roundRect">
            <a:avLst>
              <a:gd name="adj" fmla="val 8000"/>
            </a:avLst>
          </a:prstGeom>
          <a:solidFill>
            <a:srgbClr val="1E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212140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F8A78"/>
                </a:solidFill>
                <a:latin typeface="Microsoft YaHei"/>
              </a:rPr>
              <a:t>高 S × 高位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39572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净增益 · 可加深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2926080"/>
            <a:ext cx="3749039" cy="777240"/>
          </a:xfrm>
          <a:prstGeom prst="roundRect">
            <a:avLst>
              <a:gd name="adj" fmla="val 8000"/>
            </a:avLst>
          </a:prstGeom>
          <a:solidFill>
            <a:srgbClr val="1E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60" y="303580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F8A78"/>
                </a:solidFill>
                <a:latin typeface="Microsoft YaHei"/>
              </a:rPr>
              <a:t>高 S × 平级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331012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近似中性 · 可控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79" y="3840480"/>
            <a:ext cx="3749039" cy="777240"/>
          </a:xfrm>
          <a:prstGeom prst="roundRect">
            <a:avLst>
              <a:gd name="adj" fmla="val 8000"/>
            </a:avLst>
          </a:prstGeom>
          <a:solidFill>
            <a:srgbClr val="1E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395020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F8A78"/>
                </a:solidFill>
                <a:latin typeface="Microsoft YaHei"/>
              </a:rPr>
              <a:t>低 S × 高位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422452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优先补充 · 救命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26679" y="4754880"/>
            <a:ext cx="3749039" cy="777240"/>
          </a:xfrm>
          <a:prstGeom prst="roundRect">
            <a:avLst>
              <a:gd name="adj" fmla="val 8000"/>
            </a:avLst>
          </a:prstGeom>
          <a:solidFill>
            <a:srgbClr val="1E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9560" y="486460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F8A78"/>
                </a:solidFill>
                <a:latin typeface="Microsoft YaHei"/>
              </a:rPr>
              <a:t>低 S × 平级/低位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513892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易透支 · 应节流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4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M2 · 灵性输出配额与「无聊破例」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FEC"/>
                </a:solidFill>
                <a:latin typeface="Microsoft YaHei"/>
              </a:rPr>
              <a:t>常规上限 3 次；第 4 次因「剧本无聊想更换」而破例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B66"/>
                </a:solidFill>
                <a:latin typeface="Microsoft YaHei"/>
              </a:rPr>
              <a:t>灵性闲聊 · 可推导模型 · 2026-08-08 录音总结二次抽取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B66"/>
                </a:solidFill>
                <a:latin typeface="Microsoft YaHei"/>
              </a:rPr>
              <a:t>4/12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43000"/>
            <a:ext cx="548640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43000"/>
            <a:ext cx="73152" cy="5029200"/>
          </a:xfrm>
          <a:prstGeom prst="rect">
            <a:avLst/>
          </a:prstGeom>
          <a:solidFill>
            <a:srgbClr val="4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30759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42824"/>
                </a:solidFill>
                <a:latin typeface="Microsoft YaHei"/>
              </a:rPr>
              <a:t>规则层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>
                <a:solidFill>
                  <a:srgbClr val="4F8A78"/>
                </a:solidFill>
                <a:latin typeface="Microsoft YaHei"/>
              </a:rPr>
              <a:t>●  </a:t>
            </a:r>
            <a:r>
              <a:rPr sz="1300">
                <a:solidFill>
                  <a:srgbClr val="1C1C1C"/>
                </a:solidFill>
                <a:latin typeface="Microsoft YaHei"/>
              </a:rPr>
              <a:t>每人此类输出默认硬预算 n_max = 3</a:t>
            </a:r>
          </a:p>
          <a:p>
            <a:pPr algn="l">
              <a:lnSpc>
                <a:spcPct val="128000"/>
              </a:lnSpc>
            </a:pPr>
            <a:r>
              <a:rPr sz="1300">
                <a:solidFill>
                  <a:srgbClr val="4F8A78"/>
                </a:solidFill>
                <a:latin typeface="Microsoft YaHei"/>
              </a:rPr>
              <a:t>●  </a:t>
            </a:r>
            <a:r>
              <a:rPr sz="1300">
                <a:solidFill>
                  <a:srgbClr val="1C1C1C"/>
                </a:solidFill>
                <a:latin typeface="Microsoft YaHei"/>
              </a:rPr>
              <a:t>约束来源：能量不够（资源约束，非道德约束）</a:t>
            </a:r>
          </a:p>
          <a:p>
            <a:pPr algn="l">
              <a:lnSpc>
                <a:spcPct val="128000"/>
              </a:lnSpc>
            </a:pPr>
            <a:r>
              <a:rPr sz="1300">
                <a:solidFill>
                  <a:srgbClr val="4F8A78"/>
                </a:solidFill>
                <a:latin typeface="Microsoft YaHei"/>
              </a:rPr>
              <a:t>●  </a:t>
            </a:r>
            <a:r>
              <a:rPr sz="1300">
                <a:solidFill>
                  <a:srgbClr val="1C1C1C"/>
                </a:solidFill>
                <a:latin typeface="Microsoft YaHei"/>
              </a:rPr>
              <a:t>本次已是第 4 次 = 预算外特例</a:t>
            </a:r>
          </a:p>
          <a:p>
            <a:pPr algn="l">
              <a:lnSpc>
                <a:spcPct val="128000"/>
              </a:lnSpc>
            </a:pPr>
            <a:r>
              <a:rPr sz="1300">
                <a:solidFill>
                  <a:srgbClr val="4F8A78"/>
                </a:solidFill>
                <a:latin typeface="Microsoft YaHei"/>
              </a:rPr>
              <a:t>●  </a:t>
            </a:r>
            <a:r>
              <a:rPr sz="1300">
                <a:solidFill>
                  <a:srgbClr val="1C1C1C"/>
                </a:solidFill>
                <a:latin typeface="Microsoft YaHei"/>
              </a:rPr>
              <a:t>触发条件：讲述者对既有「剧本」感到无聊</a:t>
            </a:r>
          </a:p>
          <a:p>
            <a:pPr algn="l">
              <a:lnSpc>
                <a:spcPct val="128000"/>
              </a:lnSpc>
            </a:pPr>
            <a:r>
              <a:rPr sz="1300">
                <a:solidFill>
                  <a:srgbClr val="4F8A78"/>
                </a:solidFill>
                <a:latin typeface="Microsoft YaHei"/>
              </a:rPr>
              <a:t>●  </a:t>
            </a:r>
            <a:r>
              <a:rPr sz="1300">
                <a:solidFill>
                  <a:srgbClr val="1C1C1C"/>
                </a:solidFill>
                <a:latin typeface="Microsoft YaHei"/>
              </a:rPr>
              <a:t>破例功能：刷新叙事场景，而非单纯加量</a:t>
            </a:r>
          </a:p>
          <a:p>
            <a:pPr algn="l">
              <a:lnSpc>
                <a:spcPct val="128000"/>
              </a:lnSpc>
            </a:pPr>
            <a:r>
              <a:rPr sz="1300">
                <a:solidFill>
                  <a:srgbClr val="4F8A78"/>
                </a:solidFill>
                <a:latin typeface="Microsoft YaHei"/>
              </a:rPr>
              <a:t>●  </a:t>
            </a:r>
            <a:r>
              <a:rPr sz="1300">
                <a:solidFill>
                  <a:srgbClr val="1C1C1C"/>
                </a:solidFill>
                <a:latin typeface="Microsoft YaHei"/>
              </a:rPr>
              <a:t>新场景仍保持气质连续（高大威猛、气质一致）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143000"/>
            <a:ext cx="548640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143000"/>
            <a:ext cx="73152" cy="502920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30759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42824"/>
                </a:solidFill>
                <a:latin typeface="Microsoft YaHei"/>
              </a:rPr>
              <a:t>有意思的推论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64592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>
                <a:solidFill>
                  <a:srgbClr val="4F8A78"/>
                </a:solidFill>
                <a:latin typeface="Microsoft YaHei"/>
              </a:rPr>
              <a:t>●  </a:t>
            </a:r>
            <a:r>
              <a:rPr sz="1300">
                <a:solidFill>
                  <a:srgbClr val="1C1C1C"/>
                </a:solidFill>
                <a:latin typeface="Microsoft YaHei"/>
              </a:rPr>
              <a:t>能量预算可被「叙事质量」推翻</a:t>
            </a:r>
          </a:p>
          <a:p>
            <a:pPr algn="l">
              <a:lnSpc>
                <a:spcPct val="128000"/>
              </a:lnSpc>
            </a:pPr>
            <a:r>
              <a:rPr sz="1300">
                <a:solidFill>
                  <a:srgbClr val="4F8A78"/>
                </a:solidFill>
                <a:latin typeface="Microsoft YaHei"/>
              </a:rPr>
              <a:t>●  </a:t>
            </a:r>
            <a:r>
              <a:rPr sz="1300">
                <a:solidFill>
                  <a:srgbClr val="1C1C1C"/>
                </a:solidFill>
                <a:latin typeface="Microsoft YaHei"/>
              </a:rPr>
              <a:t>无聊 = 一种系统级纠错信号</a:t>
            </a:r>
          </a:p>
          <a:p>
            <a:pPr algn="l">
              <a:lnSpc>
                <a:spcPct val="128000"/>
              </a:lnSpc>
            </a:pPr>
            <a:r>
              <a:rPr sz="1300">
                <a:solidFill>
                  <a:srgbClr val="4F8A78"/>
                </a:solidFill>
                <a:latin typeface="Microsoft YaHei"/>
              </a:rPr>
              <a:t>●  </a:t>
            </a:r>
            <a:r>
              <a:rPr sz="1300">
                <a:solidFill>
                  <a:srgbClr val="1C1C1C"/>
                </a:solidFill>
                <a:latin typeface="Microsoft YaHei"/>
              </a:rPr>
              <a:t>破例不是无限透支，而是换剧本降熵</a:t>
            </a:r>
          </a:p>
          <a:p>
            <a:pPr algn="l">
              <a:lnSpc>
                <a:spcPct val="128000"/>
              </a:lnSpc>
            </a:pPr>
            <a:r>
              <a:rPr sz="1300">
                <a:solidFill>
                  <a:srgbClr val="4F8A78"/>
                </a:solidFill>
                <a:latin typeface="Microsoft YaHei"/>
              </a:rPr>
              <a:t>●  </a:t>
            </a:r>
            <a:r>
              <a:rPr sz="1300">
                <a:solidFill>
                  <a:srgbClr val="1C1C1C"/>
                </a:solidFill>
                <a:latin typeface="Microsoft YaHei"/>
              </a:rPr>
              <a:t>同构于产品：第三版无聊 → 允许第四版重构</a:t>
            </a:r>
          </a:p>
          <a:p>
            <a:pPr algn="l">
              <a:lnSpc>
                <a:spcPct val="128000"/>
              </a:lnSpc>
            </a:pPr>
            <a:r>
              <a:rPr sz="1300">
                <a:solidFill>
                  <a:srgbClr val="4F8A78"/>
                </a:solidFill>
                <a:latin typeface="Microsoft YaHei"/>
              </a:rPr>
              <a:t>●  </a:t>
            </a:r>
            <a:r>
              <a:rPr sz="1300">
                <a:solidFill>
                  <a:srgbClr val="1C1C1C"/>
                </a:solidFill>
                <a:latin typeface="Microsoft YaHei"/>
              </a:rPr>
              <a:t>同构于研究：重复实验无新意 → 允许改设问</a:t>
            </a:r>
          </a:p>
          <a:p>
            <a:pPr algn="l">
              <a:lnSpc>
                <a:spcPct val="128000"/>
              </a:lnSpc>
            </a:pPr>
            <a:r>
              <a:rPr sz="1300">
                <a:solidFill>
                  <a:srgbClr val="4F8A78"/>
                </a:solidFill>
                <a:latin typeface="Microsoft YaHei"/>
              </a:rPr>
              <a:t>●  </a:t>
            </a:r>
            <a:r>
              <a:rPr sz="1300">
                <a:solidFill>
                  <a:srgbClr val="1C1C1C"/>
                </a:solidFill>
                <a:latin typeface="Microsoft YaHei"/>
              </a:rPr>
              <a:t>关键指标：不是次数本身，而是边际新颖度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4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M3 · 跨世缘分图（角色连续）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FEC"/>
                </a:solidFill>
                <a:latin typeface="Microsoft YaHei"/>
              </a:rPr>
              <a:t>两段古代人生 + 面相读前世 → 今生教育属性匹配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B66"/>
                </a:solidFill>
                <a:latin typeface="Microsoft YaHei"/>
              </a:rPr>
              <a:t>灵性闲聊 · 可推导模型 · 2026-08-08 录音总结二次抽取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B66"/>
                </a:solidFill>
                <a:latin typeface="Microsoft YaHei"/>
              </a:rPr>
              <a:t>5/12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80160"/>
            <a:ext cx="265176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280160"/>
            <a:ext cx="2651760" cy="502920"/>
          </a:xfrm>
          <a:prstGeom prst="rect">
            <a:avLst/>
          </a:prstGeom>
          <a:solidFill>
            <a:srgbClr val="4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5331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世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11680"/>
            <a:ext cx="22860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C1C1C"/>
                </a:solidFill>
                <a:latin typeface="Microsoft YaHei"/>
              </a:rPr>
              <a:t>促成男生结婚</a:t>
            </a:r>
          </a:p>
          <a:p>
            <a:pPr algn="ctr"/>
            <a:r>
              <a:rPr sz="1400" b="0">
                <a:solidFill>
                  <a:srgbClr val="1C1C1C"/>
                </a:solidFill>
                <a:latin typeface="Microsoft YaHei"/>
              </a:rPr>
              <a:t>之后分散离开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377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4F8A78"/>
                </a:solidFill>
                <a:latin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280160"/>
            <a:ext cx="265176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1280160"/>
            <a:ext cx="2651760" cy="502920"/>
          </a:xfrm>
          <a:prstGeom prst="rect">
            <a:avLst/>
          </a:prstGeom>
          <a:solidFill>
            <a:srgbClr val="4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135331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世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011680"/>
            <a:ext cx="22860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C1C1C"/>
                </a:solidFill>
                <a:latin typeface="Microsoft YaHei"/>
              </a:rPr>
              <a:t>家道中落姑娘</a:t>
            </a:r>
          </a:p>
          <a:p>
            <a:pPr algn="ctr"/>
            <a:r>
              <a:rPr sz="1400" b="0">
                <a:solidFill>
                  <a:srgbClr val="1C1C1C"/>
                </a:solidFill>
                <a:latin typeface="Microsoft YaHei"/>
              </a:rPr>
              <a:t>重逢 · 多子女</a:t>
            </a:r>
          </a:p>
          <a:p>
            <a:pPr algn="ctr"/>
            <a:r>
              <a:rPr sz="1400" b="0">
                <a:solidFill>
                  <a:srgbClr val="1C1C1C"/>
                </a:solidFill>
                <a:latin typeface="Microsoft YaHei"/>
              </a:rPr>
              <a:t>男生开私塾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377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4F8A78"/>
                </a:solidFill>
                <a:latin typeface="Microsoft YaHe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280160"/>
            <a:ext cx="265176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1280160"/>
            <a:ext cx="2651760" cy="502920"/>
          </a:xfrm>
          <a:prstGeom prst="rect">
            <a:avLst/>
          </a:prstGeom>
          <a:solidFill>
            <a:srgbClr val="4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35331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面相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011680"/>
            <a:ext cx="22860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C1C1C"/>
                </a:solidFill>
                <a:latin typeface="Microsoft YaHei"/>
              </a:rPr>
              <a:t>书卷气重</a:t>
            </a:r>
          </a:p>
          <a:p>
            <a:pPr algn="ctr"/>
            <a:r>
              <a:rPr sz="1400" b="0">
                <a:solidFill>
                  <a:srgbClr val="1C1C1C"/>
                </a:solidFill>
                <a:latin typeface="Microsoft YaHei"/>
              </a:rPr>
              <a:t>适合教育业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377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4F8A78"/>
                </a:solidFill>
                <a:latin typeface="Microsoft YaHe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1280160"/>
            <a:ext cx="265176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0" y="1280160"/>
            <a:ext cx="2651760" cy="50292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135331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今生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011680"/>
            <a:ext cx="22860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C1C1C"/>
                </a:solidFill>
                <a:latin typeface="Microsoft YaHei"/>
              </a:rPr>
              <a:t>工作属性</a:t>
            </a:r>
          </a:p>
          <a:p>
            <a:pPr algn="ctr"/>
            <a:r>
              <a:rPr sz="1400" b="0">
                <a:solidFill>
                  <a:srgbClr val="1C1C1C"/>
                </a:solidFill>
                <a:latin typeface="Microsoft YaHei"/>
              </a:rPr>
              <a:t>类似老师</a:t>
            </a:r>
          </a:p>
          <a:p>
            <a:pPr algn="ctr"/>
            <a:r>
              <a:rPr sz="1400" b="0">
                <a:solidFill>
                  <a:srgbClr val="1C1C1C"/>
                </a:solidFill>
                <a:latin typeface="Microsoft YaHei"/>
              </a:rPr>
              <a:t>匹配度高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480560"/>
            <a:ext cx="1115568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66344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42824"/>
                </a:solidFill>
                <a:latin typeface="Microsoft YaHei"/>
              </a:rPr>
              <a:t>结构洞见：气质连续 + 功能连续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07492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4A44"/>
                </a:solidFill>
                <a:latin typeface="Microsoft YaHei"/>
              </a:rPr>
              <a:t>故事核不是「前世浪漫」，而是「教育者角色跨世复现」：促成婚配者 → 私塾配偶场域 → 面相书卷气 → 今生类教师工作。</a:t>
            </a:r>
          </a:p>
          <a:p>
            <a:pPr algn="l"/>
            <a:r>
              <a:rPr sz="1400" b="0">
                <a:solidFill>
                  <a:srgbClr val="2F4A44"/>
                </a:solidFill>
                <a:latin typeface="Microsoft YaHei"/>
              </a:rPr>
              <a:t>可抽象为：PastRole ≈ FaceFeature ≈ PresentOccupation。匹配成功被当作验证信号。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4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M4 · 非线性并行时空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FEC"/>
                </a:solidFill>
                <a:latin typeface="Microsoft YaHei"/>
              </a:rPr>
              <a:t>「时间不是线性的，时空是伪的」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B66"/>
                </a:solidFill>
                <a:latin typeface="Microsoft YaHei"/>
              </a:rPr>
              <a:t>灵性闲聊 · 可推导模型 · 2026-08-08 录音总结二次抽取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B66"/>
                </a:solidFill>
                <a:latin typeface="Microsoft YaHei"/>
              </a:rPr>
              <a:t>6/12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43000"/>
            <a:ext cx="3657600" cy="5029200"/>
          </a:xfrm>
          <a:prstGeom prst="roundRect">
            <a:avLst>
              <a:gd name="adj" fmla="val 8000"/>
            </a:avLst>
          </a:prstGeom>
          <a:solidFill>
            <a:srgbClr val="142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4A35A"/>
                </a:solidFill>
                <a:latin typeface="Microsoft YaHei"/>
              </a:rPr>
              <a:t>命题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11680"/>
            <a:ext cx="31089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>
                <a:solidFill>
                  <a:srgbClr val="C4A35A"/>
                </a:solidFill>
                <a:latin typeface="Microsoft YaHei"/>
              </a:rPr>
              <a:t>●  </a:t>
            </a:r>
            <a:r>
              <a:rPr sz="1400">
                <a:solidFill>
                  <a:srgbClr val="FFFFFF"/>
                </a:solidFill>
                <a:latin typeface="Microsoft YaHei"/>
              </a:rPr>
              <a:t>时间非线性</a:t>
            </a:r>
          </a:p>
          <a:p>
            <a:pPr algn="l">
              <a:lnSpc>
                <a:spcPct val="128000"/>
              </a:lnSpc>
            </a:pPr>
            <a:r>
              <a:rPr sz="1400">
                <a:solidFill>
                  <a:srgbClr val="C4A35A"/>
                </a:solidFill>
                <a:latin typeface="Microsoft YaHei"/>
              </a:rPr>
              <a:t>●  </a:t>
            </a:r>
            <a:r>
              <a:rPr sz="1400">
                <a:solidFill>
                  <a:srgbClr val="FFFFFF"/>
                </a:solidFill>
                <a:latin typeface="Microsoft YaHei"/>
              </a:rPr>
              <a:t>时空概念本身虚假</a:t>
            </a:r>
          </a:p>
          <a:p>
            <a:pPr algn="l">
              <a:lnSpc>
                <a:spcPct val="128000"/>
              </a:lnSpc>
            </a:pPr>
            <a:r>
              <a:rPr sz="1400">
                <a:solidFill>
                  <a:srgbClr val="C4A35A"/>
                </a:solidFill>
                <a:latin typeface="Microsoft YaHei"/>
              </a:rPr>
              <a:t>●  </a:t>
            </a:r>
            <a:r>
              <a:rPr sz="1400">
                <a:solidFill>
                  <a:srgbClr val="FFFFFF"/>
                </a:solidFill>
                <a:latin typeface="Microsoft YaHei"/>
              </a:rPr>
              <a:t>另一时空中，在场三人可能同步在工作</a:t>
            </a:r>
          </a:p>
          <a:p>
            <a:pPr algn="l">
              <a:lnSpc>
                <a:spcPct val="128000"/>
              </a:lnSpc>
            </a:pPr>
            <a:r>
              <a:rPr sz="1400">
                <a:solidFill>
                  <a:srgbClr val="C4A35A"/>
                </a:solidFill>
                <a:latin typeface="Microsoft YaHei"/>
              </a:rPr>
              <a:t>●  </a:t>
            </a:r>
            <a:r>
              <a:rPr sz="1400">
                <a:solidFill>
                  <a:srgbClr val="FFFFFF"/>
                </a:solidFill>
                <a:latin typeface="Microsoft YaHei"/>
              </a:rPr>
              <a:t>当下自我只是多投影之一</a:t>
            </a:r>
          </a:p>
          <a:p>
            <a:pPr algn="l">
              <a:lnSpc>
                <a:spcPct val="128000"/>
              </a:lnSpc>
            </a:pPr>
            <a:r>
              <a:rPr sz="1400">
                <a:solidFill>
                  <a:srgbClr val="C4A35A"/>
                </a:solidFill>
                <a:latin typeface="Microsoft YaHei"/>
              </a:rPr>
              <a:t>●  </a:t>
            </a:r>
            <a:r>
              <a:rPr sz="1400">
                <a:solidFill>
                  <a:srgbClr val="FFFFFF"/>
                </a:solidFill>
                <a:latin typeface="Microsoft YaHei"/>
              </a:rPr>
              <a:t>「还没吃饭」与「彼岸在上班」可并存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143000"/>
            <a:ext cx="722376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41732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42824"/>
                </a:solidFill>
                <a:latin typeface="Microsoft YaHei"/>
              </a:rPr>
              <a:t>可推导的有趣结构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011680"/>
            <a:ext cx="65836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>
                <a:solidFill>
                  <a:srgbClr val="4F8A78"/>
                </a:solidFill>
                <a:latin typeface="Microsoft YaHei"/>
              </a:rPr>
              <a:t>●  </a:t>
            </a:r>
            <a:r>
              <a:rPr sz="1400">
                <a:solidFill>
                  <a:srgbClr val="1C1C1C"/>
                </a:solidFill>
                <a:latin typeface="Microsoft YaHei"/>
              </a:rPr>
              <a:t>并行自我 = 多线程进程：本地闲聊线程与远端工作线程同时运行</a:t>
            </a:r>
          </a:p>
          <a:p>
            <a:pPr algn="l">
              <a:lnSpc>
                <a:spcPct val="128000"/>
              </a:lnSpc>
            </a:pPr>
            <a:r>
              <a:rPr sz="1400">
                <a:solidFill>
                  <a:srgbClr val="4F8A78"/>
                </a:solidFill>
                <a:latin typeface="Microsoft YaHei"/>
              </a:rPr>
              <a:t>●  </a:t>
            </a:r>
            <a:r>
              <a:rPr sz="1400">
                <a:solidFill>
                  <a:srgbClr val="1C1C1C"/>
                </a:solidFill>
                <a:latin typeface="Microsoft YaHei"/>
              </a:rPr>
              <a:t>「伪时空」≈ 把线性时钟降级为本地坐标系，而非本体论实在</a:t>
            </a:r>
          </a:p>
          <a:p>
            <a:pPr algn="l">
              <a:lnSpc>
                <a:spcPct val="128000"/>
              </a:lnSpc>
            </a:pPr>
            <a:r>
              <a:rPr sz="1400">
                <a:solidFill>
                  <a:srgbClr val="4F8A78"/>
                </a:solidFill>
                <a:latin typeface="Microsoft YaHei"/>
              </a:rPr>
              <a:t>●  </a:t>
            </a:r>
            <a:r>
              <a:rPr sz="1400">
                <a:solidFill>
                  <a:srgbClr val="1C1C1C"/>
                </a:solidFill>
                <a:latin typeface="Microsoft YaHei"/>
              </a:rPr>
              <a:t>与 M1 联立：高维链接 = 跨线程 RPC，可能回灌能量</a:t>
            </a:r>
          </a:p>
          <a:p>
            <a:pPr algn="l">
              <a:lnSpc>
                <a:spcPct val="128000"/>
              </a:lnSpc>
            </a:pPr>
            <a:r>
              <a:rPr sz="1400">
                <a:solidFill>
                  <a:srgbClr val="4F8A78"/>
                </a:solidFill>
                <a:latin typeface="Microsoft YaHei"/>
              </a:rPr>
              <a:t>●  </a:t>
            </a:r>
            <a:r>
              <a:rPr sz="1400">
                <a:solidFill>
                  <a:srgbClr val="1C1C1C"/>
                </a:solidFill>
                <a:latin typeface="Microsoft YaHei"/>
              </a:rPr>
              <a:t>与 M2 联立：换剧本 = 切换到另一条叙事时间线</a:t>
            </a:r>
          </a:p>
          <a:p>
            <a:pPr algn="l">
              <a:lnSpc>
                <a:spcPct val="128000"/>
              </a:lnSpc>
            </a:pPr>
            <a:r>
              <a:rPr sz="1400">
                <a:solidFill>
                  <a:srgbClr val="4F8A78"/>
                </a:solidFill>
                <a:latin typeface="Microsoft YaHei"/>
              </a:rPr>
              <a:t>●  </a:t>
            </a:r>
            <a:r>
              <a:rPr sz="1400">
                <a:solidFill>
                  <a:srgbClr val="1C1C1C"/>
                </a:solidFill>
                <a:latin typeface="Microsoft YaHei"/>
              </a:rPr>
              <a:t>与职场故事同构：接手失败项目 = 切入被放弃的时间线分支并修复</a:t>
            </a:r>
          </a:p>
          <a:p>
            <a:pPr algn="l">
              <a:lnSpc>
                <a:spcPct val="128000"/>
              </a:lnSpc>
            </a:pPr>
            <a:r>
              <a:rPr sz="1400">
                <a:solidFill>
                  <a:srgbClr val="4F8A78"/>
                </a:solidFill>
                <a:latin typeface="Microsoft YaHei"/>
              </a:rPr>
              <a:t>●  </a:t>
            </a:r>
            <a:r>
              <a:rPr sz="1400">
                <a:solidFill>
                  <a:srgbClr val="1C1C1C"/>
                </a:solidFill>
                <a:latin typeface="Microsoft YaHei"/>
              </a:rPr>
              <a:t>实用隐喻：决策时假设「另一版本的我已在推进」，降低拖延焦虑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4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M5 · 佛道双修互补栈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FEC"/>
                </a:solidFill>
                <a:latin typeface="Microsoft YaHei"/>
              </a:rPr>
              <a:t>各有精华，不必互相排斥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B66"/>
                </a:solidFill>
                <a:latin typeface="Microsoft YaHei"/>
              </a:rPr>
              <a:t>灵性闲聊 · 可推导模型 · 2026-08-08 录音总结二次抽取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B66"/>
                </a:solidFill>
                <a:latin typeface="Microsoft YaHei"/>
              </a:rPr>
              <a:t>7/12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43000"/>
            <a:ext cx="548640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43000"/>
            <a:ext cx="73152" cy="3291840"/>
          </a:xfrm>
          <a:prstGeom prst="rect">
            <a:avLst/>
          </a:prstGeom>
          <a:solidFill>
            <a:srgbClr val="4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30759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42824"/>
                </a:solidFill>
                <a:latin typeface="Microsoft YaHei"/>
              </a:rPr>
              <a:t>道家层 · 护身与延寿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645920"/>
            <a:ext cx="51206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>
                <a:solidFill>
                  <a:srgbClr val="4F8A78"/>
                </a:solidFill>
                <a:latin typeface="Microsoft YaHei"/>
              </a:rPr>
              <a:t>●  </a:t>
            </a:r>
            <a:r>
              <a:rPr sz="1300">
                <a:solidFill>
                  <a:srgbClr val="1C1C1C"/>
                </a:solidFill>
                <a:latin typeface="Microsoft YaHei"/>
              </a:rPr>
              <a:t>护身功法被评价为「非常好」</a:t>
            </a:r>
          </a:p>
          <a:p>
            <a:pPr algn="l">
              <a:lnSpc>
                <a:spcPct val="128000"/>
              </a:lnSpc>
            </a:pPr>
            <a:r>
              <a:rPr sz="1300">
                <a:solidFill>
                  <a:srgbClr val="4F8A78"/>
                </a:solidFill>
                <a:latin typeface="Microsoft YaHei"/>
              </a:rPr>
              <a:t>●  </a:t>
            </a:r>
            <a:r>
              <a:rPr sz="1300">
                <a:solidFill>
                  <a:srgbClr val="1C1C1C"/>
                </a:solidFill>
                <a:latin typeface="Microsoft YaHei"/>
              </a:rPr>
              <a:t>功能定位：身体保全、延年益寿</a:t>
            </a:r>
          </a:p>
          <a:p>
            <a:pPr algn="l">
              <a:lnSpc>
                <a:spcPct val="128000"/>
              </a:lnSpc>
            </a:pPr>
            <a:r>
              <a:rPr sz="1300">
                <a:solidFill>
                  <a:srgbClr val="4F8A78"/>
                </a:solidFill>
                <a:latin typeface="Microsoft YaHei"/>
              </a:rPr>
              <a:t>●  </a:t>
            </a:r>
            <a:r>
              <a:rPr sz="1300">
                <a:solidFill>
                  <a:srgbClr val="1C1C1C"/>
                </a:solidFill>
                <a:latin typeface="Microsoft YaHei"/>
              </a:rPr>
              <a:t>偏工程：可练习、可体感、可日常化</a:t>
            </a:r>
          </a:p>
          <a:p>
            <a:pPr algn="l">
              <a:lnSpc>
                <a:spcPct val="128000"/>
              </a:lnSpc>
            </a:pPr>
            <a:r>
              <a:rPr sz="1300">
                <a:solidFill>
                  <a:srgbClr val="4F8A78"/>
                </a:solidFill>
                <a:latin typeface="Microsoft YaHei"/>
              </a:rPr>
              <a:t>●  </a:t>
            </a:r>
            <a:r>
              <a:rPr sz="1300">
                <a:solidFill>
                  <a:srgbClr val="1C1C1C"/>
                </a:solidFill>
                <a:latin typeface="Microsoft YaHei"/>
              </a:rPr>
              <a:t>适合作为底座层 / 操作系统层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143000"/>
            <a:ext cx="548640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143000"/>
            <a:ext cx="73152" cy="329184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30759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42824"/>
                </a:solidFill>
                <a:latin typeface="Microsoft YaHei"/>
              </a:rPr>
              <a:t>佛家层 · 认知门槛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645920"/>
            <a:ext cx="51206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>
                <a:solidFill>
                  <a:srgbClr val="4F8A78"/>
                </a:solidFill>
                <a:latin typeface="Microsoft YaHei"/>
              </a:rPr>
              <a:t>●  </a:t>
            </a:r>
            <a:r>
              <a:rPr sz="1300">
                <a:solidFill>
                  <a:srgbClr val="1C1C1C"/>
                </a:solidFill>
                <a:latin typeface="Microsoft YaHei"/>
              </a:rPr>
              <a:t>金刚经等经典难真正看懂</a:t>
            </a:r>
          </a:p>
          <a:p>
            <a:pPr algn="l">
              <a:lnSpc>
                <a:spcPct val="128000"/>
              </a:lnSpc>
            </a:pPr>
            <a:r>
              <a:rPr sz="1300">
                <a:solidFill>
                  <a:srgbClr val="4F8A78"/>
                </a:solidFill>
                <a:latin typeface="Microsoft YaHei"/>
              </a:rPr>
              <a:t>●  </a:t>
            </a:r>
            <a:r>
              <a:rPr sz="1300">
                <a:solidFill>
                  <a:srgbClr val="1C1C1C"/>
                </a:solidFill>
                <a:latin typeface="Microsoft YaHei"/>
              </a:rPr>
              <a:t>障碍 = 能量不足 + 认知基础不足</a:t>
            </a:r>
          </a:p>
          <a:p>
            <a:pPr algn="l">
              <a:lnSpc>
                <a:spcPct val="128000"/>
              </a:lnSpc>
            </a:pPr>
            <a:r>
              <a:rPr sz="1300">
                <a:solidFill>
                  <a:srgbClr val="4F8A78"/>
                </a:solidFill>
                <a:latin typeface="Microsoft YaHei"/>
              </a:rPr>
              <a:t>●  </a:t>
            </a:r>
            <a:r>
              <a:rPr sz="1300">
                <a:solidFill>
                  <a:srgbClr val="1C1C1C"/>
                </a:solidFill>
                <a:latin typeface="Microsoft YaHei"/>
              </a:rPr>
              <a:t>偏理论：高门槛应用层</a:t>
            </a:r>
          </a:p>
          <a:p>
            <a:pPr algn="l">
              <a:lnSpc>
                <a:spcPct val="128000"/>
              </a:lnSpc>
            </a:pPr>
            <a:r>
              <a:rPr sz="1300">
                <a:solidFill>
                  <a:srgbClr val="4F8A78"/>
                </a:solidFill>
                <a:latin typeface="Microsoft YaHei"/>
              </a:rPr>
              <a:t>●  </a:t>
            </a:r>
            <a:r>
              <a:rPr sz="1300">
                <a:solidFill>
                  <a:srgbClr val="1C1C1C"/>
                </a:solidFill>
                <a:latin typeface="Microsoft YaHei"/>
              </a:rPr>
              <a:t>需先有底座能量，再进入深度文本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663440"/>
            <a:ext cx="112471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84632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42824"/>
                </a:solidFill>
                <a:latin typeface="Microsoft YaHei"/>
              </a:rPr>
              <a:t>栈式理解：先护身（道）再读经（佛）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578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4A44"/>
                </a:solidFill>
                <a:latin typeface="Microsoft YaHei"/>
              </a:rPr>
              <a:t>这不是宗教裁判，而是学习路径模型：低层稳定生理/能量，高层才承载抽象经典。</a:t>
            </a:r>
          </a:p>
          <a:p>
            <a:pPr algn="l"/>
            <a:r>
              <a:rPr sz="1400" b="0">
                <a:solidFill>
                  <a:srgbClr val="2F4A44"/>
                </a:solidFill>
                <a:latin typeface="Microsoft YaHei"/>
              </a:rPr>
              <a:t>同构于技术栈：先把基础设施跑稳，再上复杂业务语义。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4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M6 · 失败项目接手修复循环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FEC"/>
                </a:solidFill>
                <a:latin typeface="Microsoft YaHei"/>
              </a:rPr>
              <a:t>多任失败 → 信心崩塌 → 全量验货 → 按自己的思路推进 → 转向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B66"/>
                </a:solidFill>
                <a:latin typeface="Microsoft YaHei"/>
              </a:rPr>
              <a:t>灵性闲聊 · 可推导模型 · 2026-08-08 录音总结二次抽取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B66"/>
                </a:solidFill>
                <a:latin typeface="Microsoft YaHei"/>
              </a:rPr>
              <a:t>8/12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34440"/>
            <a:ext cx="214884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42824"/>
                </a:solidFill>
                <a:latin typeface="Microsoft YaHei"/>
              </a:rPr>
              <a:t>1 崩塌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1874519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C1C1C"/>
                </a:solidFill>
                <a:latin typeface="Microsoft YaHei"/>
              </a:rPr>
              <a:t>多任项目组</a:t>
            </a:r>
          </a:p>
          <a:p>
            <a:pPr algn="ctr"/>
            <a:r>
              <a:rPr sz="1400" b="0">
                <a:solidFill>
                  <a:srgbClr val="1C1C1C"/>
                </a:solidFill>
                <a:latin typeface="Microsoft YaHei"/>
              </a:rPr>
              <a:t>做不成</a:t>
            </a:r>
          </a:p>
          <a:p>
            <a:pPr algn="ctr"/>
            <a:r>
              <a:rPr sz="1400" b="0">
                <a:solidFill>
                  <a:srgbClr val="1C1C1C"/>
                </a:solidFill>
                <a:latin typeface="Microsoft YaHei"/>
              </a:rPr>
              <a:t>团队失信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234440"/>
            <a:ext cx="214884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141732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42824"/>
                </a:solidFill>
                <a:latin typeface="Microsoft YaHei"/>
              </a:rPr>
              <a:t>2 接手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011680"/>
            <a:ext cx="1874519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C1C1C"/>
                </a:solidFill>
                <a:latin typeface="Microsoft YaHei"/>
              </a:rPr>
              <a:t>项目转交</a:t>
            </a:r>
          </a:p>
          <a:p>
            <a:pPr algn="ctr"/>
            <a:r>
              <a:rPr sz="1400" b="0">
                <a:solidFill>
                  <a:srgbClr val="1C1C1C"/>
                </a:solidFill>
                <a:latin typeface="Microsoft YaHei"/>
              </a:rPr>
              <a:t>责任下沉</a:t>
            </a:r>
          </a:p>
          <a:p>
            <a:pPr algn="ctr"/>
            <a:r>
              <a:rPr sz="1400" b="0">
                <a:solidFill>
                  <a:srgbClr val="1C1C1C"/>
                </a:solidFill>
                <a:latin typeface="Microsoft YaHei"/>
              </a:rPr>
              <a:t>到讲述者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1234440"/>
            <a:ext cx="2148840" cy="3108960"/>
          </a:xfrm>
          <a:prstGeom prst="roundRect">
            <a:avLst>
              <a:gd name="adj" fmla="val 8000"/>
            </a:avLst>
          </a:prstGeom>
          <a:solidFill>
            <a:srgbClr val="142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141732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C4A35A"/>
                </a:solidFill>
                <a:latin typeface="Microsoft YaHei"/>
              </a:rPr>
              <a:t>3 验货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011680"/>
            <a:ext cx="1874519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好产品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坏产品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全部查验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1234440"/>
            <a:ext cx="214884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141732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42824"/>
                </a:solidFill>
                <a:latin typeface="Microsoft YaHei"/>
              </a:rPr>
              <a:t>4 重建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011680"/>
            <a:ext cx="1874519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C1C1C"/>
                </a:solidFill>
                <a:latin typeface="Microsoft YaHei"/>
              </a:rPr>
              <a:t>按自己</a:t>
            </a:r>
          </a:p>
          <a:p>
            <a:pPr algn="ctr"/>
            <a:r>
              <a:rPr sz="1400" b="0">
                <a:solidFill>
                  <a:srgbClr val="1C1C1C"/>
                </a:solidFill>
                <a:latin typeface="Microsoft YaHei"/>
              </a:rPr>
              <a:t>思路推进</a:t>
            </a:r>
          </a:p>
          <a:p>
            <a:pPr algn="ctr"/>
            <a:r>
              <a:rPr sz="1400" b="0">
                <a:solidFill>
                  <a:srgbClr val="1C1C1C"/>
                </a:solidFill>
                <a:latin typeface="Microsoft YaHei"/>
              </a:rPr>
              <a:t>完成交付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38360" y="1234440"/>
            <a:ext cx="214884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0" y="141732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42824"/>
                </a:solidFill>
                <a:latin typeface="Microsoft YaHei"/>
              </a:rPr>
              <a:t>5 转向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2011680"/>
            <a:ext cx="1874519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C1C1C"/>
                </a:solidFill>
                <a:latin typeface="Microsoft YaHei"/>
              </a:rPr>
              <a:t>进入新群体</a:t>
            </a:r>
          </a:p>
          <a:p>
            <a:pPr algn="ctr"/>
            <a:r>
              <a:rPr sz="1400" b="0">
                <a:solidFill>
                  <a:srgbClr val="1C1C1C"/>
                </a:solidFill>
                <a:latin typeface="Microsoft YaHei"/>
              </a:rPr>
              <a:t>选适合的路</a:t>
            </a:r>
          </a:p>
          <a:p>
            <a:pPr algn="ctr"/>
            <a:r>
              <a:rPr sz="1400" b="0">
                <a:solidFill>
                  <a:srgbClr val="1C1C1C"/>
                </a:solidFill>
                <a:latin typeface="Microsoft YaHei"/>
              </a:rPr>
              <a:t>换发展方向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4617720"/>
            <a:ext cx="1133856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80060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42824"/>
                </a:solidFill>
                <a:latin typeface="Microsoft YaHei"/>
              </a:rPr>
              <a:t>与灵性模型的同构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21208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4A44"/>
                </a:solidFill>
                <a:latin typeface="Microsoft YaHei"/>
              </a:rPr>
              <a:t>「全量验货」≈ 对好坏剧本/好坏业力不做过滤；「换思路」≈ M2 换剧本；「转向新群体」≈ 切到更高维场域。</a:t>
            </a:r>
          </a:p>
          <a:p>
            <a:pPr algn="l"/>
            <a:r>
              <a:rPr sz="1400" b="0">
                <a:solidFill>
                  <a:srgbClr val="2F4A44"/>
                </a:solidFill>
                <a:latin typeface="Microsoft YaHei"/>
              </a:rPr>
              <a:t>关键动作不是鸡汤鼓励，而是先拿到完整信息集，再重建局部秩序。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4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附加模型 · 身份场域与「命名先于空间」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FEC"/>
                </a:solidFill>
                <a:latin typeface="Microsoft YaHei"/>
              </a:rPr>
              <a:t>从自我介绍与 21 层装修闲聊中抽出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B66"/>
                </a:solidFill>
                <a:latin typeface="Microsoft YaHei"/>
              </a:rPr>
              <a:t>灵性闲聊 · 可推导模型 · 2026-08-08 录音总结二次抽取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B66"/>
                </a:solidFill>
                <a:latin typeface="Microsoft YaHei"/>
              </a:rPr>
              <a:t>9/12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43000"/>
            <a:ext cx="548640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43000"/>
            <a:ext cx="73152" cy="5029200"/>
          </a:xfrm>
          <a:prstGeom prst="rect">
            <a:avLst/>
          </a:prstGeom>
          <a:solidFill>
            <a:srgbClr val="4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30759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42824"/>
                </a:solidFill>
                <a:latin typeface="Microsoft YaHei"/>
              </a:rPr>
              <a:t>身份三角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>
                <a:solidFill>
                  <a:srgbClr val="4F8A78"/>
                </a:solidFill>
                <a:latin typeface="Microsoft YaHei"/>
              </a:rPr>
              <a:t>●  </a:t>
            </a:r>
            <a:r>
              <a:rPr sz="1300">
                <a:solidFill>
                  <a:srgbClr val="1C1C1C"/>
                </a:solidFill>
                <a:latin typeface="Microsoft YaHei"/>
              </a:rPr>
              <a:t>地理锚点：复旦大学周边专职工作</a:t>
            </a:r>
          </a:p>
          <a:p>
            <a:pPr algn="l">
              <a:lnSpc>
                <a:spcPct val="128000"/>
              </a:lnSpc>
            </a:pPr>
            <a:r>
              <a:rPr sz="1300">
                <a:solidFill>
                  <a:srgbClr val="4F8A78"/>
                </a:solidFill>
                <a:latin typeface="Microsoft YaHei"/>
              </a:rPr>
              <a:t>●  </a:t>
            </a:r>
            <a:r>
              <a:rPr sz="1300">
                <a:solidFill>
                  <a:srgbClr val="1C1C1C"/>
                </a:solidFill>
                <a:latin typeface="Microsoft YaHei"/>
              </a:rPr>
              <a:t>组织锚点：杨浦区科技企业联合中心秘书长</a:t>
            </a:r>
          </a:p>
          <a:p>
            <a:pPr algn="l">
              <a:lnSpc>
                <a:spcPct val="128000"/>
              </a:lnSpc>
            </a:pPr>
            <a:r>
              <a:rPr sz="1300">
                <a:solidFill>
                  <a:srgbClr val="4F8A78"/>
                </a:solidFill>
                <a:latin typeface="Microsoft YaHei"/>
              </a:rPr>
              <a:t>●  </a:t>
            </a:r>
            <a:r>
              <a:rPr sz="1300">
                <a:solidFill>
                  <a:srgbClr val="1C1C1C"/>
                </a:solidFill>
                <a:latin typeface="Microsoft YaHei"/>
              </a:rPr>
              <a:t>业务三角：新级增长 / 不动产 / 人工智能</a:t>
            </a:r>
          </a:p>
          <a:p>
            <a:pPr algn="l">
              <a:lnSpc>
                <a:spcPct val="128000"/>
              </a:lnSpc>
            </a:pPr>
            <a:r>
              <a:rPr sz="1300">
                <a:solidFill>
                  <a:srgbClr val="4F8A78"/>
                </a:solidFill>
                <a:latin typeface="Microsoft YaHei"/>
              </a:rPr>
              <a:t>●  </a:t>
            </a:r>
            <a:r>
              <a:rPr sz="1300">
                <a:solidFill>
                  <a:srgbClr val="1C1C1C"/>
                </a:solidFill>
                <a:latin typeface="Microsoft YaHei"/>
              </a:rPr>
              <a:t>灵性意识被定义为「类似小孩的敏感度」</a:t>
            </a:r>
          </a:p>
          <a:p>
            <a:pPr algn="l">
              <a:lnSpc>
                <a:spcPct val="128000"/>
              </a:lnSpc>
            </a:pPr>
            <a:r>
              <a:rPr sz="1300">
                <a:solidFill>
                  <a:srgbClr val="4F8A78"/>
                </a:solidFill>
                <a:latin typeface="Microsoft YaHei"/>
              </a:rPr>
              <a:t>●  </a:t>
            </a:r>
            <a:r>
              <a:rPr sz="1300">
                <a:solidFill>
                  <a:srgbClr val="1C1C1C"/>
                </a:solidFill>
                <a:latin typeface="Microsoft YaHei"/>
              </a:rPr>
              <a:t>在场评价：对话对象灵性意识状态不错</a:t>
            </a:r>
          </a:p>
          <a:p>
            <a:pPr algn="l">
              <a:lnSpc>
                <a:spcPct val="128000"/>
              </a:lnSpc>
            </a:pPr>
            <a:r>
              <a:rPr sz="1300">
                <a:solidFill>
                  <a:srgbClr val="4F8A78"/>
                </a:solidFill>
                <a:latin typeface="Microsoft YaHei"/>
              </a:rPr>
              <a:t>●  </a:t>
            </a:r>
            <a:r>
              <a:rPr sz="1300">
                <a:solidFill>
                  <a:srgbClr val="1C1C1C"/>
                </a:solidFill>
                <a:latin typeface="Microsoft YaHei"/>
              </a:rPr>
              <a:t>推论：专业身份与灵性场域并行不冲突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143000"/>
            <a:ext cx="548640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143000"/>
            <a:ext cx="73152" cy="502920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30759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42824"/>
                </a:solidFill>
                <a:latin typeface="Microsoft YaHei"/>
              </a:rPr>
              <a:t>命名先于楼层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64592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>
                <a:solidFill>
                  <a:srgbClr val="4F8A78"/>
                </a:solidFill>
                <a:latin typeface="Microsoft YaHei"/>
              </a:rPr>
              <a:t>●  </a:t>
            </a:r>
            <a:r>
              <a:rPr sz="1300">
                <a:solidFill>
                  <a:srgbClr val="1C1C1C"/>
                </a:solidFill>
                <a:latin typeface="Microsoft YaHei"/>
              </a:rPr>
              <a:t>先定名称「21」，后选 21 层场地</a:t>
            </a:r>
          </a:p>
          <a:p>
            <a:pPr algn="l">
              <a:lnSpc>
                <a:spcPct val="128000"/>
              </a:lnSpc>
            </a:pPr>
            <a:r>
              <a:rPr sz="1300">
                <a:solidFill>
                  <a:srgbClr val="4F8A78"/>
                </a:solidFill>
                <a:latin typeface="Microsoft YaHei"/>
              </a:rPr>
              <a:t>●  </a:t>
            </a:r>
            <a:r>
              <a:rPr sz="1300">
                <a:solidFill>
                  <a:srgbClr val="1C1C1C"/>
                </a:solidFill>
                <a:latin typeface="Microsoft YaHei"/>
              </a:rPr>
              <a:t>意向 → 命名 → 物理落位</a:t>
            </a:r>
          </a:p>
          <a:p>
            <a:pPr algn="l">
              <a:lnSpc>
                <a:spcPct val="128000"/>
              </a:lnSpc>
            </a:pPr>
            <a:r>
              <a:rPr sz="1300">
                <a:solidFill>
                  <a:srgbClr val="4F8A78"/>
                </a:solidFill>
                <a:latin typeface="Microsoft YaHei"/>
              </a:rPr>
              <a:t>●  </a:t>
            </a:r>
            <a:r>
              <a:rPr sz="1300">
                <a:solidFill>
                  <a:srgbClr val="1C1C1C"/>
                </a:solidFill>
                <a:latin typeface="Microsoft YaHei"/>
              </a:rPr>
              <a:t>材料：21 层及以上统一 10 斤规格</a:t>
            </a:r>
          </a:p>
          <a:p>
            <a:pPr algn="l">
              <a:lnSpc>
                <a:spcPct val="128000"/>
              </a:lnSpc>
            </a:pPr>
            <a:r>
              <a:rPr sz="1300">
                <a:solidFill>
                  <a:srgbClr val="4F8A78"/>
                </a:solidFill>
                <a:latin typeface="Microsoft YaHei"/>
              </a:rPr>
              <a:t>●  </a:t>
            </a:r>
            <a:r>
              <a:rPr sz="1300">
                <a:solidFill>
                  <a:srgbClr val="1C1C1C"/>
                </a:solidFill>
                <a:latin typeface="Microsoft YaHei"/>
              </a:rPr>
              <a:t>可做顶光；上下规格一致</a:t>
            </a:r>
          </a:p>
          <a:p>
            <a:pPr algn="l">
              <a:lnSpc>
                <a:spcPct val="128000"/>
              </a:lnSpc>
            </a:pPr>
            <a:r>
              <a:rPr sz="1300">
                <a:solidFill>
                  <a:srgbClr val="4F8A78"/>
                </a:solidFill>
                <a:latin typeface="Microsoft YaHei"/>
              </a:rPr>
              <a:t>●  </a:t>
            </a:r>
            <a:r>
              <a:rPr sz="1300">
                <a:solidFill>
                  <a:srgbClr val="1C1C1C"/>
                </a:solidFill>
                <a:latin typeface="Microsoft YaHei"/>
              </a:rPr>
              <a:t>隐喻：品牌/数字先于选址</a:t>
            </a:r>
          </a:p>
          <a:p>
            <a:pPr algn="l">
              <a:lnSpc>
                <a:spcPct val="128000"/>
              </a:lnSpc>
            </a:pPr>
            <a:r>
              <a:rPr sz="1300">
                <a:solidFill>
                  <a:srgbClr val="4F8A78"/>
                </a:solidFill>
                <a:latin typeface="Microsoft YaHei"/>
              </a:rPr>
              <a:t>●  </a:t>
            </a:r>
            <a:r>
              <a:rPr sz="1300">
                <a:solidFill>
                  <a:srgbClr val="1C1C1C"/>
                </a:solidFill>
                <a:latin typeface="Microsoft YaHei"/>
              </a:rPr>
              <a:t>同构于创业：先定符号，再找承载空间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4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六模型联立：一张「闲聊操作系统」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FEC"/>
                </a:solidFill>
                <a:latin typeface="Microsoft YaHei"/>
              </a:rPr>
              <a:t>把松散话题压成可运行的心智 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B66"/>
                </a:solidFill>
                <a:latin typeface="Microsoft YaHei"/>
              </a:rPr>
              <a:t>灵性闲聊 · 可推导模型 · 2026-08-08 录音总结二次抽取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B66"/>
                </a:solidFill>
                <a:latin typeface="Microsoft YaHei"/>
              </a:rPr>
              <a:t>10/12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43000"/>
            <a:ext cx="1124712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371600"/>
            <a:ext cx="2194560" cy="594360"/>
          </a:xfrm>
          <a:prstGeom prst="rect">
            <a:avLst/>
          </a:prstGeom>
          <a:solidFill>
            <a:srgbClr val="4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371600"/>
            <a:ext cx="21945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感知层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371600"/>
            <a:ext cx="80467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Microsoft YaHei"/>
              </a:rPr>
              <a:t>小孩式敏感度 · 面相/气质读取 · 当场匹配验证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103120"/>
            <a:ext cx="2194560" cy="594360"/>
          </a:xfrm>
          <a:prstGeom prst="rect">
            <a:avLst/>
          </a:prstGeom>
          <a:solidFill>
            <a:srgbClr val="142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103120"/>
            <a:ext cx="21945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叙事层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103120"/>
            <a:ext cx="80467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Microsoft YaHei"/>
              </a:rPr>
              <a:t>跨世缘分图 · 剧本质量监控 · 无聊则换剧本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834640"/>
            <a:ext cx="2194560" cy="594360"/>
          </a:xfrm>
          <a:prstGeom prst="rect">
            <a:avLst/>
          </a:prstGeom>
          <a:solidFill>
            <a:srgbClr val="4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834640"/>
            <a:ext cx="21945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能量层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834640"/>
            <a:ext cx="80467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Microsoft YaHei"/>
              </a:rPr>
              <a:t>存量 S · 维度差 ΔD · 高位补充 / 低位节流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566160"/>
            <a:ext cx="2194560" cy="594360"/>
          </a:xfrm>
          <a:prstGeom prst="rect">
            <a:avLst/>
          </a:prstGeom>
          <a:solidFill>
            <a:srgbClr val="142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566160"/>
            <a:ext cx="21945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修持层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566160"/>
            <a:ext cx="80467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Microsoft YaHei"/>
              </a:rPr>
              <a:t>道：护身延寿底座 · 佛：高门槛语义层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297680"/>
            <a:ext cx="2194560" cy="594360"/>
          </a:xfrm>
          <a:prstGeom prst="rect">
            <a:avLst/>
          </a:prstGeom>
          <a:solidFill>
            <a:srgbClr val="4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297680"/>
            <a:ext cx="21945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行动层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297680"/>
            <a:ext cx="80467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Microsoft YaHei"/>
              </a:rPr>
              <a:t>全量验货接手 · 重建局部秩序 · 完成后转向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5029200"/>
            <a:ext cx="2194560" cy="594360"/>
          </a:xfrm>
          <a:prstGeom prst="rect">
            <a:avLst/>
          </a:prstGeom>
          <a:solidFill>
            <a:srgbClr val="142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029200"/>
            <a:ext cx="21945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场域层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029200"/>
            <a:ext cx="80467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Microsoft YaHei"/>
              </a:rPr>
              <a:t>命名先于空间 · 身份三角并行 · 物理规格统一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4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有意思的迁移：把它当成设计工具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FEC"/>
                </a:solidFill>
                <a:latin typeface="Microsoft YaHei"/>
              </a:rPr>
              <a:t>不争论真假，先榨取结构价值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B66"/>
                </a:solidFill>
                <a:latin typeface="Microsoft YaHei"/>
              </a:rPr>
              <a:t>灵性闲聊 · 可推导模型 · 2026-08-08 录音总结二次抽取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B66"/>
                </a:solidFill>
                <a:latin typeface="Microsoft YaHei"/>
              </a:rPr>
              <a:t>11/12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8872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08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42824"/>
                </a:solidFill>
                <a:latin typeface="Microsoft YaHei"/>
              </a:rPr>
              <a:t>产品设计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0312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4A44"/>
                </a:solidFill>
                <a:latin typeface="Microsoft YaHei"/>
              </a:rPr>
              <a:t>给功能设「三次常规输出」；第四次必须换剧本才允许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18872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508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42824"/>
                </a:solidFill>
                <a:latin typeface="Microsoft YaHei"/>
              </a:rPr>
              <a:t>团队管理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10312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4A44"/>
                </a:solidFill>
                <a:latin typeface="Microsoft YaHei"/>
              </a:rPr>
              <a:t>接手烂摊子先全量验货，禁止只看成功样例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18872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508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42824"/>
                </a:solidFill>
                <a:latin typeface="Microsoft YaHei"/>
              </a:rPr>
              <a:t>个人精力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10312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4A44"/>
                </a:solidFill>
                <a:latin typeface="Microsoft YaHei"/>
              </a:rPr>
              <a:t>用 S×ΔD 矩阵管理社交与信息输入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65760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77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42824"/>
                </a:solidFill>
                <a:latin typeface="Microsoft YaHei"/>
              </a:rPr>
              <a:t>学习路径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57200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4A44"/>
                </a:solidFill>
                <a:latin typeface="Microsoft YaHei"/>
              </a:rPr>
              <a:t>先建护身/作息底座，再碰高门槛经典或理论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65760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3977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42824"/>
                </a:solidFill>
                <a:latin typeface="Microsoft YaHei"/>
              </a:rPr>
              <a:t>品牌选址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57200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4A44"/>
                </a:solidFill>
                <a:latin typeface="Microsoft YaHei"/>
              </a:rPr>
              <a:t>先锁定符号与名称，再反推物理空间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65760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3977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42824"/>
                </a:solidFill>
                <a:latin typeface="Microsoft YaHei"/>
              </a:rPr>
              <a:t>叙事疗愈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57200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4A44"/>
                </a:solidFill>
                <a:latin typeface="Microsoft YaHei"/>
              </a:rPr>
              <a:t>把重复故事标为「无聊」，主动触发场景刷新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36576"/>
          </a:xfrm>
          <a:prstGeom prst="rect">
            <a:avLst/>
          </a:prstGeom>
          <a:solidFill>
            <a:srgbClr val="4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C4A35A"/>
                </a:solidFill>
                <a:latin typeface="Microsoft YaHei"/>
              </a:rPr>
              <a:t>一句话收束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这场闲聊表面松散，内里其实在谈：</a:t>
            </a:r>
          </a:p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如何管理能量、刷新叙事、跨世/跨项目修复，以及如何把传统双修当成学习栈。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8EFEC"/>
                </a:solidFill>
                <a:latin typeface="Microsoft YaHei"/>
              </a:rPr>
              <a:t>最有意思的不是「信或不信」，而是这些民间说法已经自带变量、阈值、破例条件和跨域同构。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A6B66"/>
                </a:solidFill>
                <a:latin typeface="Microsoft YaHei"/>
              </a:rPr>
              <a:t>交付物 · outputs/灵性闲聊_可推导模型.pptx · 脚本 scripts/build_spiritual_models_deck.py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