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48640"/>
            <a:ext cx="91440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6035040"/>
            <a:ext cx="91440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Microsoft YaHei"/>
              </a:rPr>
              <a:t>穿透赛道 · 把握溢价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说话人1 投资观点纪要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5F1E6"/>
                </a:solidFill>
                <a:latin typeface="Microsoft YaHei"/>
              </a:rPr>
              <a:t>Speaker 1 · Investment Insights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icrosoft YaHei"/>
              </a:rPr>
              <a:t>关注股票 · 投资逻辑 · 方法论体系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1E6"/>
                </a:solidFill>
                <a:latin typeface="Microsoft YaHei"/>
              </a:rPr>
              <a:t>—— 来源:2026-05-17 投资领域交流探讨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720"/>
            <a:ext cx="237744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B1F3A"/>
                </a:solidFill>
                <a:latin typeface="Microsoft YaHei"/>
              </a:rPr>
              <a:t>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目录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本份纪要的结构与导览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1704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宏观判断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00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特朗普访华 · 美股 · A股 · 牛市判断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18872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188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11704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核心方法论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1600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赛道价值 · 四重溢价 · 四次穿透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774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35915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主线 + 七大赛道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7889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算力 → 电力 · 新增创新药赛道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37744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3774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35915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重点股票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278892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买入清单 + 回避清单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54787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特斯拉四大赛道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776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机器人 / 无人驾驶 / 太空 / 消灭银行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356616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5661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79" y="354787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老登行业八大贬值领域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79" y="397764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房地产 / 知识 / 学历 / 软件 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5488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73659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AI · 外资 · 香港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166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智能体 · 代币市场 · 资本回流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4754880"/>
            <a:ext cx="82296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475488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0B1F3A"/>
                </a:solidFill>
                <a:latin typeface="Microsoft YaHe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79" y="473659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操作纪要与金句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79" y="51663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可执行清单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01 · 宏观判断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特朗普访华三大成果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566160" cy="2011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37160" cy="2011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关税战基本结束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1E6"/>
                </a:solidFill>
                <a:latin typeface="Microsoft YaHei"/>
              </a:rPr>
              <a:t>进入震荡期</a:t>
            </a:r>
          </a:p>
          <a:p>
            <a:pPr algn="l"/>
            <a:r>
              <a:rPr sz="1500" b="0">
                <a:solidFill>
                  <a:srgbClr val="F5F1E6"/>
                </a:solidFill>
                <a:latin typeface="Microsoft YaHei"/>
              </a:rPr>
              <a:t>已作为案例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3566160" cy="2011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137160" cy="2011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600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企业 &gt; 国家外交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286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1E6"/>
                </a:solidFill>
                <a:latin typeface="Microsoft YaHei"/>
              </a:rPr>
              <a:t>新时代开启</a:t>
            </a:r>
          </a:p>
          <a:p>
            <a:pPr algn="l"/>
            <a:r>
              <a:rPr sz="1500" b="0">
                <a:solidFill>
                  <a:srgbClr val="F5F1E6"/>
                </a:solidFill>
                <a:latin typeface="Microsoft YaHei"/>
              </a:rPr>
              <a:t>给中国带来巨大机会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371600"/>
            <a:ext cx="3566160" cy="2011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371600"/>
            <a:ext cx="137160" cy="20116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1600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帮扶选举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28600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5F1E6"/>
                </a:solidFill>
                <a:latin typeface="Microsoft YaHei"/>
              </a:rPr>
              <a:t>美联储换帅</a:t>
            </a:r>
          </a:p>
          <a:p>
            <a:pPr algn="l"/>
            <a:r>
              <a:rPr sz="1500" b="0">
                <a:solidFill>
                  <a:srgbClr val="F5F1E6"/>
                </a:solidFill>
                <a:latin typeface="Microsoft YaHei"/>
              </a:rPr>
              <a:t>QE → QT,通胀高企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49039"/>
            <a:ext cx="10972800" cy="24688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对市场的传导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10607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美股进入 QT 周期:开始下跌,但跌幅小于上次,不会转向。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周一调整传导到 A 股 → 第三次「倒车接人」机会(此前两次点位 3800)。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关键判断:本轮不会跌破 4000,4000 = 再次起跳的起点。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牛市未结束:「小牛拉货车」—— 小牛 = 美国科技三巨头。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02 · 核心方法论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反对传统巴菲特派 —— 价值 = 赛道价值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Microsoft YaHei"/>
              </a:rPr>
              <a:t>在风险中寻找机会,在泡沫中兑现财富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四重溢价模型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2651760" cy="155448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基本面价值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底层钢筋,≤20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2834640"/>
            <a:ext cx="2651760" cy="1554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3474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赛道价值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3886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20 → 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834640"/>
            <a:ext cx="2651760" cy="15544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74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成长/创新/领先/海外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86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30 → 60(核心收益区)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39" y="2834640"/>
            <a:ext cx="2651760" cy="155448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39" y="29260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39" y="347472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情绪价值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39" y="38862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YaHei"/>
              </a:rPr>
              <a:t>60 →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Microsoft YaHei"/>
              </a:rPr>
              <a:t>持仓与节奏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短线干不过量化,长线干不过国家队 → 只做中间 3–5 个月。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5500 只 A 股只跟踪 200 只(一半以上为美国三巨头中国生态伙伴);历史涨幅 1× ~ 46×。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含科率:25% 以下=垃圾;30% 第一里程碑;40% A 股七巨头登场。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02 · 核心方法论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四次穿透:跟踪标准的逻辑链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60604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穿透股价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514600"/>
            <a:ext cx="16916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1E6"/>
                </a:solidFill>
                <a:latin typeface="Microsoft YaHei"/>
              </a:rPr>
              <a:t>看企业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80" y="2194560"/>
            <a:ext cx="164592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45920"/>
            <a:ext cx="260604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穿透产业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2514600"/>
            <a:ext cx="16916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6060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1E6"/>
                </a:solidFill>
                <a:latin typeface="Microsoft YaHei"/>
              </a:rPr>
              <a:t>看创新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3600" y="2194560"/>
            <a:ext cx="164592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1645920"/>
            <a:ext cx="260604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穿透创新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79" y="2514600"/>
            <a:ext cx="16916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6060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1E6"/>
                </a:solidFill>
                <a:latin typeface="Microsoft YaHei"/>
              </a:rPr>
              <a:t>看企业家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2519" y="2194560"/>
            <a:ext cx="164592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399" y="1645920"/>
            <a:ext cx="260604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399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穿透企业家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599" y="2514600"/>
            <a:ext cx="1691640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399" y="260604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1E6"/>
                </a:solidFill>
                <a:latin typeface="Microsoft YaHei"/>
              </a:rPr>
              <a:t>看中国生态伙伴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20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为什么这样穿透?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023360"/>
            <a:ext cx="10607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企业家的「中国生态伙伴选择」—— 就是我们的跟踪标准。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美国 7 巨头 → 已分化为「三辆车」(三家公司),只看这 3 家。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200 只跟踪池一半以上来自三巨头供应链/生态。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搭对生态:过去最少翻 1 倍,最多翻 46 倍。</a:t>
            </a:r>
          </a:p>
          <a:p>
            <a:pPr algn="l">
              <a:lnSpc>
                <a:spcPct val="125000"/>
              </a:lnSpc>
            </a:pPr>
            <a:r>
              <a:rPr sz="14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400">
                <a:solidFill>
                  <a:srgbClr val="222222"/>
                </a:solidFill>
                <a:latin typeface="Microsoft YaHei"/>
              </a:rPr>
              <a:t>搭错生态(如华为)→ 平台压榨,反向被收割。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03 · 主线 + 七大赛道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主线:算力 → 电力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822960" cy="6400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280160"/>
            <a:ext cx="10241280" cy="6400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3258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算力芯片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3258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几连法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3258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听过这词才入门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93391"/>
            <a:ext cx="8229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93391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993391"/>
            <a:ext cx="10241280" cy="6400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0391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光芯片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039111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东光华(东山精密+光迅科技+华工科技);原:易中天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03911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电信号→光信号大趋势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06624"/>
            <a:ext cx="8229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0662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706624"/>
            <a:ext cx="10241280" cy="6400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2752344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可控核聚变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75234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尚西安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752344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未来能源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19856"/>
            <a:ext cx="8229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19856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3419856"/>
            <a:ext cx="10241280" cy="6400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465576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存储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465576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明德 / 阳光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465576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33087"/>
            <a:ext cx="8229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133087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4133087"/>
            <a:ext cx="10241280" cy="6400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4178807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电力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4178807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阳光电源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178807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电力设备更新最看好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46320"/>
            <a:ext cx="8229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4632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4846320"/>
            <a:ext cx="10241280" cy="6400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新材料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0" y="48920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云南锗业 / 力量钻石 / 黄河旋风 / 玻璃/PCB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8920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天天出爆款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59552"/>
            <a:ext cx="82296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5955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5559552"/>
            <a:ext cx="10241280" cy="6400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5605272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储能 · 固态电池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560527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宁德时代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5605272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钠电池替代锂电池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03 · 主线 + 七大赛道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新增第 9 条赛道:创新药 · 3 项严苛限定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Microsoft YaHei"/>
              </a:rPr>
              <a:t>整条赛道不「整体起」,只取符合 3 项条件的个股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3383280" cy="210312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68880"/>
            <a:ext cx="3383280" cy="1828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① 出口占比 ≥ 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并且持续上升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468880"/>
            <a:ext cx="3383280" cy="210312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383280" cy="1828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788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② 不受美国制裁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美国对中国创新药专门「特别舒服」豁免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468880"/>
            <a:ext cx="3383280" cy="210312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468880"/>
            <a:ext cx="3383280" cy="1828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788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③ 万物五巨头的中国生态伙伴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566160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Microsoft YaHei"/>
              </a:rPr>
              <a:t>美国医药五巨头亲自挑选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  <a:latin typeface="Microsoft YaHei"/>
              </a:rPr>
              <a:t>目标池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icrosoft YaHei"/>
              </a:rPr>
              <a:t>全中国(含港股)仅 10 家公司符合上述 3 项条件。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04 · 重点股票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买入清单 · 投资逻辑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623560" cy="162763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64592" cy="1627632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三安光电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417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B01F24"/>
                </a:solidFill>
                <a:latin typeface="Microsoft YaHei"/>
              </a:rPr>
              <a:t>周一买入·勿等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磷化铟芯片;8个万亿级市场领袖;产业缺口30%;中国仅8家;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董事长/CEO被留置创造机会;福建国资委想抢。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280160"/>
            <a:ext cx="5623560" cy="162763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80160"/>
            <a:ext cx="164592" cy="1627632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9" y="13716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阳光电源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9" y="141732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B01F24"/>
                </a:solidFill>
                <a:latin typeface="Microsoft YaHei"/>
              </a:rPr>
              <a:t>重仓 · 目标170-230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399" y="1874520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全球电力设备更新最看好;海外占比4%→全球18国;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下月香港上市;昨涨13%;从200调到120是上车机会。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35808"/>
            <a:ext cx="5623560" cy="162763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35808"/>
            <a:ext cx="164592" cy="1627632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272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宁德时代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17296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B01F24"/>
                </a:solidFill>
                <a:latin typeface="Microsoft YaHei"/>
              </a:rPr>
              <a:t>继续买 · 高位也买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30168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「消灭汽车的杀手」;钠电池6个月内取代锂电池;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进入电力设备更新市场。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3035808"/>
            <a:ext cx="5623560" cy="162763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3035808"/>
            <a:ext cx="164592" cy="1627632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399" y="3127248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云南锗业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59" y="3172968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B01F24"/>
                </a:solidFill>
                <a:latin typeface="Microsoft YaHei"/>
              </a:rPr>
              <a:t>跌至90是买点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399" y="3630168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锗=银化锌正极;新材料赛道资源类龙头;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中国排名第一;现价突破102后回撤。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91456"/>
            <a:ext cx="5623560" cy="162763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791456"/>
            <a:ext cx="164592" cy="1627632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8828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黄河旋风/力量钻石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92861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B01F24"/>
                </a:solidFill>
                <a:latin typeface="Microsoft YaHei"/>
              </a:rPr>
              <a:t>新材料黑马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85816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河南人造钻石;意外发现是光通信液冷载体/光模块新材料。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59" y="4791456"/>
            <a:ext cx="5623560" cy="162763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59" y="4791456"/>
            <a:ext cx="164592" cy="1627632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399" y="48828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长飞光纤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59" y="4928616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B01F24"/>
                </a:solidFill>
                <a:latin typeface="Microsoft YaHei"/>
              </a:rPr>
              <a:t>10年翻10倍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399" y="5385816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英伟达美国建3厂;先进制造业回流标的;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电信号→光信号大趋势。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04 · 重点股票 · 案例深读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三安光电(600703):为什么在「三重打击」下还要买?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  <a:latin typeface="Microsoft YaHei"/>
              </a:rPr>
              <a:t>近期股价低迷的根源 = 治理 + 股权 + 业绩 三重打击集中爆发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3611880" cy="24688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3611880" cy="6400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🌪️ 第一重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管理层动荡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2918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2026年3–4月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实控人林秀成、副董事长林科闯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相继被监委留置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林科闯主导重庆碳化硅项目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057400"/>
            <a:ext cx="3611880" cy="24688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2057400"/>
            <a:ext cx="3611880" cy="6400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103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🔗 第二重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股权危机·被动减持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834640"/>
            <a:ext cx="32918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控股股东及一致行动人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100%股份司法冻结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4月中起15天内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5972万股司法强卖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套现约8.45亿元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057400"/>
            <a:ext cx="3611880" cy="24688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057400"/>
            <a:ext cx="3611880" cy="6400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210312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📉 第三重</a:t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Microsoft YaHei"/>
              </a:rPr>
              <a:t>业绩首亏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834640"/>
            <a:ext cx="32918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2025归母净利润 -3.53亿元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(2006上市18年来首亏)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2026 Q1 营收-32.59%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归母净利润-68.15%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Lumileds收购被CFIUS否决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40"/>
            <a:ext cx="11064240" cy="1600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9A227"/>
                </a:solidFill>
                <a:latin typeface="Microsoft YaHei"/>
              </a:rPr>
              <a:t>为什么老师在「三重打击」下还要买?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10789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200">
                <a:solidFill>
                  <a:srgbClr val="FFFFFF"/>
                </a:solidFill>
                <a:latin typeface="Microsoft YaHei"/>
              </a:rPr>
              <a:t>① 利空已充分定价 + 刚回撤,正是上车机会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200">
                <a:solidFill>
                  <a:srgbClr val="FFFFFF"/>
                </a:solidFill>
                <a:latin typeface="Microsoft YaHei"/>
              </a:rPr>
              <a:t>② 磷化铟卡光通信「咽喉材料」;后面8个万亿赛道(SiC/InP/Mini-Micro LED/滤波器…)都是领袖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200">
                <a:solidFill>
                  <a:srgbClr val="FFFFFF"/>
                </a:solidFill>
                <a:latin typeface="Microsoft YaHei"/>
              </a:rPr>
              <a:t>③ 治理崩塌 ≠ 资产基本面崩塌:福建国资委想抢这块「肥肉」→ 国资接盘预期</a:t>
            </a:r>
          </a:p>
          <a:p>
            <a:pPr algn="l">
              <a:lnSpc>
                <a:spcPct val="125000"/>
              </a:lnSpc>
            </a:pPr>
            <a:r>
              <a:rPr sz="12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200">
                <a:solidFill>
                  <a:srgbClr val="FFFFFF"/>
                </a:solidFill>
                <a:latin typeface="Microsoft YaHei"/>
              </a:rPr>
              <a:t>④ 被动减持 = 出清信号;15天卖完后筹码集中度反而上升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04 · 重点股票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回避清单 · 看空逻辑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234440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27101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华为及关联平台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27101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中国最无耻的公司;压榨供应链(同芯片国内2000元/欧洲2000欧元);赛力斯卖一辆车给华为14万;机柜90%仍是电信号→被光模块时代淘汰;AI迭代落后阿里/腾讯。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37944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37944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837944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1874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比亚迪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18745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事实上已破产;拖欠/压榨供应商,业内口碑差;钠电池替代锂电池后冲击最大。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41448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41448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441448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4780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银行业(整体)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478024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「玩银行的时代彻底结束」;特斯拉版微信(年息6%)进一步消灭银行。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44952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44952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044952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08152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传统汽车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081528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房地产之后下一个全线崩溃赛道;特斯拉无人驾驶/机器人化将摧毁传统车企。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648456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48456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3648456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368503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房地产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685032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「50年起不来」;万科类大窟窿太多;商铺99%必死无疑。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51960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51960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4251960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428853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国企(整体)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4288536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三光:赔光/偷光/抢光;万科即深圳国资委窟窿;基本都是烂账。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55464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55464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4855464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892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东山精密(谨慎)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489204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唯一不太确定项;华西村出身;财报水分大;卖不动产59亿、有600亿债。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458968"/>
            <a:ext cx="457200" cy="530352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458968"/>
            <a:ext cx="4572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" y="5458968"/>
            <a:ext cx="10607040" cy="530352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88720" y="549554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Microsoft YaHei"/>
              </a:rPr>
              <a:t>青龙行者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23360" y="5495544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icrosoft YaHei"/>
              </a:rPr>
              <a:t>15种品种中3种被淘汰,不要碰。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05 · 特斯拉四大赛道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引领全球商业的「四辆车」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Microsoft YaHei"/>
              </a:rPr>
              <a:t>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Optimus 持续迭代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48640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Microsoft YaHei"/>
              </a:rPr>
              <a:t>无人驾驶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即将全线铺开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486400" cy="1828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Microsoft YaHei"/>
              </a:rPr>
              <a:t>太空法律 / 太空经济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马上开放;芯片厂量产 7nm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474720"/>
            <a:ext cx="5486400" cy="182880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70332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227"/>
                </a:solidFill>
                <a:latin typeface="Microsoft YaHei"/>
              </a:rPr>
              <a:t>消灭银行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3434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特斯拉版微信·年息 6%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Microsoft YaHei"/>
              </a:rPr>
              <a:t>随时转换为任意股票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Microsoft YaHei"/>
              </a:rPr>
              <a:t>未来同时是:全球最大金融公司 · 芯片公司 · 太空公司 · 机器人公司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06 · 「老登」行业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八大资产/领域贬值清单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71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房地产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99% 必死,仅约 1% 可活;50 年起不来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79" y="1280160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1280160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79" y="1280160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19" y="13716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商铺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182880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99% 必死无疑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14600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514600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知识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06324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中低档大模型 &gt; 90% 大专院校教授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79" y="2514600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2514600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79" y="2514600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60604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学历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19" y="306324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美国改招高中生;个案出现 1 亿美金薪酬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749039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84047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软件 / 码农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297679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AI 出代码;五大行/地产软件开源后无价值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79" y="3749039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79" y="3749039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3749039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3840479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传统车企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19" y="4297679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下一个全线崩溃的赛道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83480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983480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983480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0749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银行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5321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玩银行的时代彻底结束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79" y="4983480"/>
            <a:ext cx="5577840" cy="109728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79" y="4983480"/>
            <a:ext cx="822960" cy="1097280"/>
          </a:xfrm>
          <a:prstGeom prst="rect">
            <a:avLst/>
          </a:prstGeom>
          <a:solidFill>
            <a:srgbClr val="B0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79" y="4983480"/>
            <a:ext cx="822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19" y="50749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Microsoft YaHei"/>
              </a:rPr>
              <a:t>国企(普遍)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19" y="55321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icrosoft YaHei"/>
              </a:rPr>
              <a:t>三光:赔光/偷光/抢光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07 · AI · 外资 · 香港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其他重要趋势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532120" cy="4937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303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Microsoft YaHei"/>
              </a:rPr>
              <a:t>AI 智能体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YaHei"/>
              </a:rPr>
              <a:t>「看不见的智能体」= 真正的爆发点(指节盖大小)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YaHei"/>
              </a:rPr>
              <a:t>看得见的机器人(酒店/产线)= 低价值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YaHei"/>
              </a:rPr>
              <a:t>看不见的智能体 = 看得见的 × 10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YaHei"/>
              </a:rPr>
              <a:t>AI 时代中文重新重要:提示词越精准,完成度越高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YaHei"/>
              </a:rPr>
              <a:t>可用模型:DeepSeek、Kimi 2.6、赤浦、Cursor、Cloud 4.7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YaHei"/>
              </a:rPr>
              <a:t>豆包基本不能用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FFFFFF"/>
                </a:solidFill>
                <a:latin typeface="Microsoft YaHei"/>
              </a:rPr>
              <a:t>大芯片新趋势:美国公司直接做「盘子那么大」芯片挑战英伟达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80160"/>
            <a:ext cx="5440680" cy="237744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外资回流 · 四大主流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美国:贝莱德(14万亿)·重仓宁德/阳光电源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瑞士:欧洲钱通过瑞士进入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中东:阿布扎比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中国回流:含潘石屹等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794760"/>
            <a:ext cx="5440680" cy="2423160"/>
          </a:xfrm>
          <a:prstGeom prst="rect">
            <a:avLst/>
          </a:prstGeom>
          <a:solidFill>
            <a:srgbClr val="F5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8862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Microsoft YaHei"/>
              </a:rPr>
              <a:t>香港 · 全球资本市场枢纽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由「金融自由港」升格为「全球资本枢纽」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下半年大量代币入场,代币市场爆发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代币资产起点 = 6%</a:t>
            </a: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300">
                <a:solidFill>
                  <a:srgbClr val="222222"/>
                </a:solidFill>
                <a:latin typeface="Microsoft YaHei"/>
              </a:rPr>
              <a:t>马斯克代币基本一周抢完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08 · 操作纪要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1E6"/>
                </a:solidFill>
                <a:latin typeface="Microsoft YaHei"/>
              </a:rPr>
              <a:t>可执行金句 · 行动清单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Microsoft YaHei"/>
              </a:rPr>
              <a:t>周一一只票:三安光电。不要问为什么,先上车。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9728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现在站在光里 —— 只有三安光电还能站在光里。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现在只买行业龙头。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回撤即上车。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便宜没好货:低市盈率股票多是垃圾或陷阱。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在风险中寻找机会,在泡沫中兑现财富。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短线干不过量化,长线干不过国家队,只做中间一段。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创造性毁灭:关注「创造」,远离「毁灭」。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穿透股价看企业,穿透产业看创新,穿透创新看企业家,穿透企业家看中国生态伙伴。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5500只票只跟踪200只;一年内,3个月内不翻倍几乎不可能。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C9A227"/>
                </a:solidFill>
                <a:latin typeface="Microsoft YaHei"/>
              </a:rPr>
              <a:t>●  </a:t>
            </a:r>
            <a:r>
              <a:rPr sz="1500">
                <a:solidFill>
                  <a:srgbClr val="222222"/>
                </a:solidFill>
                <a:latin typeface="Microsoft YaHei"/>
              </a:rPr>
              <a:t>能上链的就上链;不能上链的回避(传统行业未来没机会)。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Microsoft YaHei"/>
              </a:rPr>
              <a:t>说话人1 投资观点 · 2026-05-17 投资领域交流探讨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B6B6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3657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9A227"/>
                </a:solidFill>
                <a:latin typeface="Microsoft YaHei"/>
              </a:rPr>
              <a:t>穿透赛道,把握溢价。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1E6"/>
                </a:solidFill>
                <a:latin typeface="Microsoft YaHei"/>
              </a:rPr>
              <a:t>—— 说话人1 投资观点纪要 · 2026-05-17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