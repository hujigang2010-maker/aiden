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36576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515600" y="548640"/>
            <a:ext cx="914400" cy="36576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6035040"/>
            <a:ext cx="914400" cy="36576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698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C9A227"/>
                </a:solidFill>
                <a:latin typeface="Microsoft YaHei"/>
              </a:rPr>
              <a:t>穿透赛道 · 把握溢价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011680"/>
            <a:ext cx="106984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Microsoft YaHei"/>
              </a:rPr>
              <a:t>说话人1 投资观点纪要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291840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F5F1E6"/>
                </a:solidFill>
                <a:latin typeface="Microsoft YaHei"/>
              </a:rPr>
              <a:t>Speaker 1 · Investment Insights Brief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2062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Microsoft YaHei"/>
              </a:rPr>
              <a:t>关注股票 · 投资逻辑 · 方法论体系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75488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F5F1E6"/>
                </a:solidFill>
                <a:latin typeface="Microsoft YaHei"/>
              </a:rPr>
              <a:t>—— 来源:2026-05-17 投资领域交流探讨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5760720"/>
            <a:ext cx="2377440" cy="4572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576072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0B1F3A"/>
                </a:solidFill>
                <a:latin typeface="Microsoft YaHei"/>
              </a:rPr>
              <a:t>INTERNAL USE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Microsoft YaHei"/>
              </a:rPr>
              <a:t>目录 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5F1E6"/>
                </a:solidFill>
                <a:latin typeface="Microsoft YaHei"/>
              </a:rPr>
              <a:t>本份纪要的结构与导览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88720"/>
            <a:ext cx="822960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188720"/>
            <a:ext cx="82296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400" b="1">
                <a:solidFill>
                  <a:srgbClr val="0B1F3A"/>
                </a:solidFill>
                <a:latin typeface="Microsoft YaHe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1170432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0B1F3A"/>
                </a:solidFill>
                <a:latin typeface="Microsoft YaHei"/>
              </a:rPr>
              <a:t>宏观判断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160020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Microsoft YaHei"/>
              </a:rPr>
              <a:t>特朗普访华 · 美股 · A股 · 牛市判断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59" y="1188720"/>
            <a:ext cx="822960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59" y="1188720"/>
            <a:ext cx="82296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400" b="1">
                <a:solidFill>
                  <a:srgbClr val="0B1F3A"/>
                </a:solidFill>
                <a:latin typeface="Microsoft YaHei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69479" y="1170432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0B1F3A"/>
                </a:solidFill>
                <a:latin typeface="Microsoft YaHei"/>
              </a:rPr>
              <a:t>核心方法论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69479" y="160020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Microsoft YaHei"/>
              </a:rPr>
              <a:t>赛道价值 · 四重溢价 · 四次穿透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377440"/>
            <a:ext cx="822960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2377440"/>
            <a:ext cx="82296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400" b="1">
                <a:solidFill>
                  <a:srgbClr val="0B1F3A"/>
                </a:solidFill>
                <a:latin typeface="Microsoft YaHei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2359152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0B1F3A"/>
                </a:solidFill>
                <a:latin typeface="Microsoft YaHei"/>
              </a:rPr>
              <a:t>主线 + 七大赛道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8760" y="278892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Microsoft YaHei"/>
              </a:rPr>
              <a:t>算力 → 电力 · 新增创新药赛道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9359" y="2377440"/>
            <a:ext cx="822960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59" y="2377440"/>
            <a:ext cx="82296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400" b="1">
                <a:solidFill>
                  <a:srgbClr val="0B1F3A"/>
                </a:solidFill>
                <a:latin typeface="Microsoft YaHei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69479" y="2359152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0B1F3A"/>
                </a:solidFill>
                <a:latin typeface="Microsoft YaHei"/>
              </a:rPr>
              <a:t>重点股票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69479" y="278892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Microsoft YaHei"/>
              </a:rPr>
              <a:t>买入清单 + 回避清单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3566160"/>
            <a:ext cx="822960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3566160"/>
            <a:ext cx="82296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400" b="1">
                <a:solidFill>
                  <a:srgbClr val="0B1F3A"/>
                </a:solidFill>
                <a:latin typeface="Microsoft YaHei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3547872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0B1F3A"/>
                </a:solidFill>
                <a:latin typeface="Microsoft YaHei"/>
              </a:rPr>
              <a:t>特斯拉四大赛道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08760" y="397764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Microsoft YaHei"/>
              </a:rPr>
              <a:t>机器人 / 无人驾驶 / 太空 / 消灭银行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09359" y="3566160"/>
            <a:ext cx="822960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09359" y="3566160"/>
            <a:ext cx="82296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400" b="1">
                <a:solidFill>
                  <a:srgbClr val="0B1F3A"/>
                </a:solidFill>
                <a:latin typeface="Microsoft YaHei"/>
              </a:rPr>
              <a:t>06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69479" y="3547872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0B1F3A"/>
                </a:solidFill>
                <a:latin typeface="Microsoft YaHei"/>
              </a:rPr>
              <a:t>老登行业八大贬值领域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69479" y="397764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Microsoft YaHei"/>
              </a:rPr>
              <a:t>房地产 / 知识 / 学历 / 软件 ...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4754880"/>
            <a:ext cx="822960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8640" y="4754880"/>
            <a:ext cx="82296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400" b="1">
                <a:solidFill>
                  <a:srgbClr val="0B1F3A"/>
                </a:solidFill>
                <a:latin typeface="Microsoft YaHei"/>
              </a:rPr>
              <a:t>07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08760" y="4736592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0B1F3A"/>
                </a:solidFill>
                <a:latin typeface="Microsoft YaHei"/>
              </a:rPr>
              <a:t>AI · 外资 · 香港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08760" y="516636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Microsoft YaHei"/>
              </a:rPr>
              <a:t>智能体 · 代币市场 · 资本回流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309359" y="4754880"/>
            <a:ext cx="822960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09359" y="4754880"/>
            <a:ext cx="82296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400" b="1">
                <a:solidFill>
                  <a:srgbClr val="0B1F3A"/>
                </a:solidFill>
                <a:latin typeface="Microsoft YaHei"/>
              </a:rPr>
              <a:t>08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69479" y="4736592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0B1F3A"/>
                </a:solidFill>
                <a:latin typeface="Microsoft YaHei"/>
              </a:rPr>
              <a:t>操作纪要与金句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69479" y="516636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Microsoft YaHei"/>
              </a:rPr>
              <a:t>可执行清单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</a:rPr>
              <a:t>说话人1 投资观点 · 2026-05-17 投资领域交流探讨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B6B6B"/>
                </a:solidFill>
                <a:latin typeface="Microsoft YaHe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Microsoft YaHei"/>
              </a:rPr>
              <a:t>01 · 宏观判断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5F1E6"/>
                </a:solidFill>
                <a:latin typeface="Microsoft YaHei"/>
              </a:rPr>
              <a:t>特朗普访华三大成果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371600"/>
            <a:ext cx="3566160" cy="201168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371600"/>
            <a:ext cx="137160" cy="201168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00200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YaHei"/>
              </a:rPr>
              <a:t>关税战基本结束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286000"/>
            <a:ext cx="3200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F5F1E6"/>
                </a:solidFill>
                <a:latin typeface="Microsoft YaHei"/>
              </a:rPr>
              <a:t>进入震荡期</a:t>
            </a:r>
          </a:p>
          <a:p>
            <a:pPr algn="l"/>
            <a:r>
              <a:rPr sz="1500" b="0">
                <a:solidFill>
                  <a:srgbClr val="F5F1E6"/>
                </a:solidFill>
                <a:latin typeface="Microsoft YaHei"/>
              </a:rPr>
              <a:t>已作为案例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80560" y="1371600"/>
            <a:ext cx="3566160" cy="201168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80560" y="1371600"/>
            <a:ext cx="137160" cy="201168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00600" y="1600200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YaHei"/>
              </a:rPr>
              <a:t>企业 &gt; 国家外交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00600" y="2286000"/>
            <a:ext cx="3200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F5F1E6"/>
                </a:solidFill>
                <a:latin typeface="Microsoft YaHei"/>
              </a:rPr>
              <a:t>新时代开启</a:t>
            </a:r>
          </a:p>
          <a:p>
            <a:pPr algn="l"/>
            <a:r>
              <a:rPr sz="1500" b="0">
                <a:solidFill>
                  <a:srgbClr val="F5F1E6"/>
                </a:solidFill>
                <a:latin typeface="Microsoft YaHei"/>
              </a:rPr>
              <a:t>给中国带来巨大机会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21040" y="1371600"/>
            <a:ext cx="3566160" cy="201168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321040" y="1371600"/>
            <a:ext cx="137160" cy="201168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41080" y="1600200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YaHei"/>
              </a:rPr>
              <a:t>帮扶选举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41080" y="2286000"/>
            <a:ext cx="3200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F5F1E6"/>
                </a:solidFill>
                <a:latin typeface="Microsoft YaHei"/>
              </a:rPr>
              <a:t>美联储换帅</a:t>
            </a:r>
          </a:p>
          <a:p>
            <a:pPr algn="l"/>
            <a:r>
              <a:rPr sz="1500" b="0">
                <a:solidFill>
                  <a:srgbClr val="F5F1E6"/>
                </a:solidFill>
                <a:latin typeface="Microsoft YaHei"/>
              </a:rPr>
              <a:t>QE → QT,通胀高企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3749039"/>
            <a:ext cx="10972800" cy="2468880"/>
          </a:xfrm>
          <a:prstGeom prst="rect">
            <a:avLst/>
          </a:prstGeom>
          <a:solidFill>
            <a:srgbClr val="F5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88620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0B1F3A"/>
                </a:solidFill>
                <a:latin typeface="Microsoft YaHei"/>
              </a:rPr>
              <a:t>对市场的传导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4389120"/>
            <a:ext cx="1060704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C9A227"/>
                </a:solidFill>
                <a:latin typeface="Microsoft YaHei"/>
              </a:rPr>
              <a:t>●  </a:t>
            </a:r>
            <a:r>
              <a:rPr sz="1500">
                <a:solidFill>
                  <a:srgbClr val="222222"/>
                </a:solidFill>
                <a:latin typeface="Microsoft YaHei"/>
              </a:rPr>
              <a:t>美股进入 QT 周期:开始下跌,但跌幅小于上次,不会转向。</a:t>
            </a:r>
          </a:p>
          <a:p>
            <a:pPr algn="l">
              <a:lnSpc>
                <a:spcPct val="125000"/>
              </a:lnSpc>
            </a:pPr>
            <a:r>
              <a:rPr sz="1500">
                <a:solidFill>
                  <a:srgbClr val="C9A227"/>
                </a:solidFill>
                <a:latin typeface="Microsoft YaHei"/>
              </a:rPr>
              <a:t>●  </a:t>
            </a:r>
            <a:r>
              <a:rPr sz="1500">
                <a:solidFill>
                  <a:srgbClr val="222222"/>
                </a:solidFill>
                <a:latin typeface="Microsoft YaHei"/>
              </a:rPr>
              <a:t>周一调整传导到 A 股 → 第三次「倒车接人」机会(此前两次点位 3800)。</a:t>
            </a:r>
          </a:p>
          <a:p>
            <a:pPr algn="l">
              <a:lnSpc>
                <a:spcPct val="125000"/>
              </a:lnSpc>
            </a:pPr>
            <a:r>
              <a:rPr sz="1500">
                <a:solidFill>
                  <a:srgbClr val="C9A227"/>
                </a:solidFill>
                <a:latin typeface="Microsoft YaHei"/>
              </a:rPr>
              <a:t>●  </a:t>
            </a:r>
            <a:r>
              <a:rPr sz="1500">
                <a:solidFill>
                  <a:srgbClr val="222222"/>
                </a:solidFill>
                <a:latin typeface="Microsoft YaHei"/>
              </a:rPr>
              <a:t>关键判断:本轮不会跌破 4000,4000 = 再次起跳的起点。</a:t>
            </a:r>
          </a:p>
          <a:p>
            <a:pPr algn="l">
              <a:lnSpc>
                <a:spcPct val="125000"/>
              </a:lnSpc>
            </a:pPr>
            <a:r>
              <a:rPr sz="1500">
                <a:solidFill>
                  <a:srgbClr val="C9A227"/>
                </a:solidFill>
                <a:latin typeface="Microsoft YaHei"/>
              </a:rPr>
              <a:t>●  </a:t>
            </a:r>
            <a:r>
              <a:rPr sz="1500">
                <a:solidFill>
                  <a:srgbClr val="222222"/>
                </a:solidFill>
                <a:latin typeface="Microsoft YaHei"/>
              </a:rPr>
              <a:t>牛市未结束:「小牛拉货车」—— 小牛 = 美国科技三巨头。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</a:rPr>
              <a:t>说话人1 投资观点 · 2026-05-17 投资领域交流探讨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B6B6B"/>
                </a:solidFill>
                <a:latin typeface="Microsoft YaHe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Microsoft YaHei"/>
              </a:rPr>
              <a:t>02 · 核心方法论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5F1E6"/>
                </a:solidFill>
                <a:latin typeface="Microsoft YaHei"/>
              </a:rPr>
              <a:t>反对传统巴菲特派 —— 价值 = 赛道价值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80160"/>
            <a:ext cx="10972800" cy="8229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417320"/>
            <a:ext cx="106070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C9A227"/>
                </a:solidFill>
                <a:latin typeface="Microsoft YaHei"/>
              </a:rPr>
              <a:t>在风险中寻找机会,在泡沫中兑现财富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860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0B1F3A"/>
                </a:solidFill>
                <a:latin typeface="Microsoft YaHei"/>
              </a:rPr>
              <a:t>四重溢价模型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834640"/>
            <a:ext cx="2651760" cy="1554480"/>
          </a:xfrm>
          <a:prstGeom prst="rect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92608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Microsoft YaHei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47472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</a:rPr>
              <a:t>基本面价值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88620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icrosoft YaHei"/>
              </a:rPr>
              <a:t>底层钢筋,≤20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29000" y="2834640"/>
            <a:ext cx="2651760" cy="155448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9000" y="292608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Microsoft YaHei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9000" y="347472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</a:rPr>
              <a:t>赛道价值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9000" y="388620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icrosoft YaHei"/>
              </a:rPr>
              <a:t>20 → 30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0" y="2834640"/>
            <a:ext cx="2651760" cy="1554480"/>
          </a:xfrm>
          <a:prstGeom prst="rect">
            <a:avLst/>
          </a:prstGeom>
          <a:solidFill>
            <a:srgbClr val="B01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0" y="292608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Microsoft YaHei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347472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</a:rPr>
              <a:t>成长/创新/领先/海外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388620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icrosoft YaHei"/>
              </a:rPr>
              <a:t>30 → 60(核心收益区)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06839" y="2834640"/>
            <a:ext cx="2651760" cy="155448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06839" y="292608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Microsoft YaHei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06839" y="347472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</a:rPr>
              <a:t>情绪价值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06839" y="388620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icrosoft YaHei"/>
              </a:rPr>
              <a:t>60 → 100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461772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0B1F3A"/>
                </a:solidFill>
                <a:latin typeface="Microsoft YaHei"/>
              </a:rPr>
              <a:t>持仓与节奏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074920"/>
            <a:ext cx="109728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>
                <a:solidFill>
                  <a:srgbClr val="C9A227"/>
                </a:solidFill>
                <a:latin typeface="Microsoft YaHei"/>
              </a:rPr>
              <a:t>●  </a:t>
            </a:r>
            <a:r>
              <a:rPr sz="1400">
                <a:solidFill>
                  <a:srgbClr val="222222"/>
                </a:solidFill>
                <a:latin typeface="Microsoft YaHei"/>
              </a:rPr>
              <a:t>短线干不过量化,长线干不过国家队 → 只做中间 3–5 个月。</a:t>
            </a:r>
          </a:p>
          <a:p>
            <a:pPr algn="l">
              <a:lnSpc>
                <a:spcPct val="125000"/>
              </a:lnSpc>
            </a:pPr>
            <a:r>
              <a:rPr sz="1400">
                <a:solidFill>
                  <a:srgbClr val="C9A227"/>
                </a:solidFill>
                <a:latin typeface="Microsoft YaHei"/>
              </a:rPr>
              <a:t>●  </a:t>
            </a:r>
            <a:r>
              <a:rPr sz="1400">
                <a:solidFill>
                  <a:srgbClr val="222222"/>
                </a:solidFill>
                <a:latin typeface="Microsoft YaHei"/>
              </a:rPr>
              <a:t>5500 只 A 股只跟踪 200 只(一半以上为美国三巨头中国生态伙伴);历史涨幅 1× ~ 46×。</a:t>
            </a:r>
          </a:p>
          <a:p>
            <a:pPr algn="l">
              <a:lnSpc>
                <a:spcPct val="125000"/>
              </a:lnSpc>
            </a:pPr>
            <a:r>
              <a:rPr sz="1400">
                <a:solidFill>
                  <a:srgbClr val="C9A227"/>
                </a:solidFill>
                <a:latin typeface="Microsoft YaHei"/>
              </a:rPr>
              <a:t>●  </a:t>
            </a:r>
            <a:r>
              <a:rPr sz="1400">
                <a:solidFill>
                  <a:srgbClr val="222222"/>
                </a:solidFill>
                <a:latin typeface="Microsoft YaHei"/>
              </a:rPr>
              <a:t>含科率:25% 以下=垃圾;30% 第一里程碑;40% A 股七巨头登场。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</a:rPr>
              <a:t>说话人1 投资观点 · 2026-05-17 投资领域交流探讨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B6B6B"/>
                </a:solidFill>
                <a:latin typeface="Microsoft YaHe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Microsoft YaHei"/>
              </a:rPr>
              <a:t>02 · 核心方法论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5F1E6"/>
                </a:solidFill>
                <a:latin typeface="Microsoft YaHei"/>
              </a:rPr>
              <a:t>四次穿透:跟踪标准的逻辑链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45920"/>
            <a:ext cx="2606040" cy="146304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20"/>
            <a:ext cx="2606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穿透股价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5840" y="2514600"/>
            <a:ext cx="1691640" cy="36576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606040"/>
            <a:ext cx="2606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F5F1E6"/>
                </a:solidFill>
                <a:latin typeface="Microsoft YaHei"/>
              </a:rPr>
              <a:t>看企业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154680" y="2194560"/>
            <a:ext cx="164592" cy="365760"/>
          </a:xfrm>
          <a:prstGeom prst="rightArrow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37560" y="1645920"/>
            <a:ext cx="2606040" cy="146304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37560" y="1874520"/>
            <a:ext cx="2606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穿透产业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794760" y="2514600"/>
            <a:ext cx="1691640" cy="36576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37560" y="2606040"/>
            <a:ext cx="2606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F5F1E6"/>
                </a:solidFill>
                <a:latin typeface="Microsoft YaHei"/>
              </a:rPr>
              <a:t>看创新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943600" y="2194560"/>
            <a:ext cx="164592" cy="365760"/>
          </a:xfrm>
          <a:prstGeom prst="rightArrow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26479" y="1645920"/>
            <a:ext cx="2606040" cy="146304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26479" y="1874520"/>
            <a:ext cx="2606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穿透创新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79" y="2514600"/>
            <a:ext cx="1691640" cy="36576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26479" y="2606040"/>
            <a:ext cx="2606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F5F1E6"/>
                </a:solidFill>
                <a:latin typeface="Microsoft YaHei"/>
              </a:rPr>
              <a:t>看企业家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732519" y="2194560"/>
            <a:ext cx="164592" cy="365760"/>
          </a:xfrm>
          <a:prstGeom prst="rightArrow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915399" y="1645920"/>
            <a:ext cx="2606040" cy="146304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15399" y="1874520"/>
            <a:ext cx="2606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穿透企业家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372599" y="2514600"/>
            <a:ext cx="1691640" cy="36576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15399" y="2606040"/>
            <a:ext cx="2606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F5F1E6"/>
                </a:solidFill>
                <a:latin typeface="Microsoft YaHei"/>
              </a:rPr>
              <a:t>看中国生态伙伴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3383280"/>
            <a:ext cx="11064240" cy="2743200"/>
          </a:xfrm>
          <a:prstGeom prst="rect">
            <a:avLst/>
          </a:prstGeom>
          <a:solidFill>
            <a:srgbClr val="F5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35204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B1F3A"/>
                </a:solidFill>
                <a:latin typeface="Microsoft YaHei"/>
              </a:rPr>
              <a:t>为什么这样穿透?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4023360"/>
            <a:ext cx="10607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>
                <a:solidFill>
                  <a:srgbClr val="C9A227"/>
                </a:solidFill>
                <a:latin typeface="Microsoft YaHei"/>
              </a:rPr>
              <a:t>●  </a:t>
            </a:r>
            <a:r>
              <a:rPr sz="1400">
                <a:solidFill>
                  <a:srgbClr val="222222"/>
                </a:solidFill>
                <a:latin typeface="Microsoft YaHei"/>
              </a:rPr>
              <a:t>企业家的「中国生态伙伴选择」—— 就是我们的跟踪标准。</a:t>
            </a:r>
          </a:p>
          <a:p>
            <a:pPr algn="l">
              <a:lnSpc>
                <a:spcPct val="125000"/>
              </a:lnSpc>
            </a:pPr>
            <a:r>
              <a:rPr sz="1400">
                <a:solidFill>
                  <a:srgbClr val="C9A227"/>
                </a:solidFill>
                <a:latin typeface="Microsoft YaHei"/>
              </a:rPr>
              <a:t>●  </a:t>
            </a:r>
            <a:r>
              <a:rPr sz="1400">
                <a:solidFill>
                  <a:srgbClr val="222222"/>
                </a:solidFill>
                <a:latin typeface="Microsoft YaHei"/>
              </a:rPr>
              <a:t>美国 7 巨头 → 已分化为「三辆车」(三家公司),只看这 3 家。</a:t>
            </a:r>
          </a:p>
          <a:p>
            <a:pPr algn="l">
              <a:lnSpc>
                <a:spcPct val="125000"/>
              </a:lnSpc>
            </a:pPr>
            <a:r>
              <a:rPr sz="1400">
                <a:solidFill>
                  <a:srgbClr val="C9A227"/>
                </a:solidFill>
                <a:latin typeface="Microsoft YaHei"/>
              </a:rPr>
              <a:t>●  </a:t>
            </a:r>
            <a:r>
              <a:rPr sz="1400">
                <a:solidFill>
                  <a:srgbClr val="222222"/>
                </a:solidFill>
                <a:latin typeface="Microsoft YaHei"/>
              </a:rPr>
              <a:t>200 只跟踪池一半以上来自三巨头供应链/生态。</a:t>
            </a:r>
          </a:p>
          <a:p>
            <a:pPr algn="l">
              <a:lnSpc>
                <a:spcPct val="125000"/>
              </a:lnSpc>
            </a:pPr>
            <a:r>
              <a:rPr sz="1400">
                <a:solidFill>
                  <a:srgbClr val="C9A227"/>
                </a:solidFill>
                <a:latin typeface="Microsoft YaHei"/>
              </a:rPr>
              <a:t>●  </a:t>
            </a:r>
            <a:r>
              <a:rPr sz="1400">
                <a:solidFill>
                  <a:srgbClr val="222222"/>
                </a:solidFill>
                <a:latin typeface="Microsoft YaHei"/>
              </a:rPr>
              <a:t>搭对生态:过去最少翻 1 倍,最多翻 46 倍。</a:t>
            </a:r>
          </a:p>
          <a:p>
            <a:pPr algn="l">
              <a:lnSpc>
                <a:spcPct val="125000"/>
              </a:lnSpc>
            </a:pPr>
            <a:r>
              <a:rPr sz="1400">
                <a:solidFill>
                  <a:srgbClr val="C9A227"/>
                </a:solidFill>
                <a:latin typeface="Microsoft YaHei"/>
              </a:rPr>
              <a:t>●  </a:t>
            </a:r>
            <a:r>
              <a:rPr sz="1400">
                <a:solidFill>
                  <a:srgbClr val="222222"/>
                </a:solidFill>
                <a:latin typeface="Microsoft YaHei"/>
              </a:rPr>
              <a:t>搭错生态(如华为)→ 平台压榨,反向被收割。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</a:rPr>
              <a:t>说话人1 投资观点 · 2026-05-17 投资领域交流探讨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B6B6B"/>
                </a:solidFill>
                <a:latin typeface="Microsoft YaHe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Microsoft YaHei"/>
              </a:rPr>
              <a:t>03 · 主线 + 七大赛道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5F1E6"/>
                </a:solidFill>
                <a:latin typeface="Microsoft YaHei"/>
              </a:rPr>
              <a:t>主线:算力 → 电力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80160"/>
            <a:ext cx="822960" cy="640080"/>
          </a:xfrm>
          <a:prstGeom prst="rect">
            <a:avLst/>
          </a:prstGeom>
          <a:solidFill>
            <a:srgbClr val="B01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280160"/>
            <a:ext cx="8229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1371600" y="1280160"/>
            <a:ext cx="10241280" cy="640080"/>
          </a:xfrm>
          <a:prstGeom prst="rect">
            <a:avLst/>
          </a:prstGeom>
          <a:solidFill>
            <a:srgbClr val="F5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554480" y="1325880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B1F3A"/>
                </a:solidFill>
                <a:latin typeface="Microsoft YaHei"/>
              </a:rPr>
              <a:t>算力芯片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1325880"/>
            <a:ext cx="50292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Microsoft YaHei"/>
              </a:rPr>
              <a:t>几连法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0" y="132588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Microsoft YaHei"/>
              </a:rPr>
              <a:t>听过这词才入门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993391"/>
            <a:ext cx="822960" cy="64008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993391"/>
            <a:ext cx="8229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02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71600" y="1993391"/>
            <a:ext cx="10241280" cy="640080"/>
          </a:xfrm>
          <a:prstGeom prst="rect">
            <a:avLst/>
          </a:prstGeom>
          <a:solidFill>
            <a:srgbClr val="F5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554480" y="2039111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B1F3A"/>
                </a:solidFill>
                <a:latin typeface="Microsoft YaHei"/>
              </a:rPr>
              <a:t>光芯片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2039111"/>
            <a:ext cx="50292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Microsoft YaHei"/>
              </a:rPr>
              <a:t>东光华(东山精密+光迅科技+华工科技);原:易中天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52560" y="2039111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Microsoft YaHei"/>
              </a:rPr>
              <a:t>电信号→光信号大趋势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2706624"/>
            <a:ext cx="822960" cy="64008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2706624"/>
            <a:ext cx="8229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03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371600" y="2706624"/>
            <a:ext cx="10241280" cy="640080"/>
          </a:xfrm>
          <a:prstGeom prst="rect">
            <a:avLst/>
          </a:prstGeom>
          <a:solidFill>
            <a:srgbClr val="F5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554480" y="2752344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B1F3A"/>
                </a:solidFill>
                <a:latin typeface="Microsoft YaHei"/>
              </a:rPr>
              <a:t>可控核聚变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31920" y="2752344"/>
            <a:ext cx="50292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Microsoft YaHei"/>
              </a:rPr>
              <a:t>尚西安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52560" y="2752344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Microsoft YaHei"/>
              </a:rPr>
              <a:t>未来能源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3419856"/>
            <a:ext cx="822960" cy="64008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3419856"/>
            <a:ext cx="8229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04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371600" y="3419856"/>
            <a:ext cx="10241280" cy="640080"/>
          </a:xfrm>
          <a:prstGeom prst="rect">
            <a:avLst/>
          </a:prstGeom>
          <a:solidFill>
            <a:srgbClr val="F5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554480" y="3465576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B1F3A"/>
                </a:solidFill>
                <a:latin typeface="Microsoft YaHei"/>
              </a:rPr>
              <a:t>存储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931920" y="3465576"/>
            <a:ext cx="50292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Microsoft YaHei"/>
              </a:rPr>
              <a:t>明德 / 阳光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52560" y="3465576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Microsoft YaHei"/>
              </a:rPr>
              <a:t>—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4133087"/>
            <a:ext cx="822960" cy="64008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8640" y="4133087"/>
            <a:ext cx="8229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05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0" y="4133087"/>
            <a:ext cx="10241280" cy="640080"/>
          </a:xfrm>
          <a:prstGeom prst="rect">
            <a:avLst/>
          </a:prstGeom>
          <a:solidFill>
            <a:srgbClr val="F5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554480" y="4178807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B1F3A"/>
                </a:solidFill>
                <a:latin typeface="Microsoft YaHei"/>
              </a:rPr>
              <a:t>电力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931920" y="4178807"/>
            <a:ext cx="50292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Microsoft YaHei"/>
              </a:rPr>
              <a:t>阳光电源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52560" y="4178807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Microsoft YaHei"/>
              </a:rPr>
              <a:t>电力设备更新最看好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8640" y="4846320"/>
            <a:ext cx="822960" cy="64008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4846320"/>
            <a:ext cx="8229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06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371600" y="4846320"/>
            <a:ext cx="10241280" cy="640080"/>
          </a:xfrm>
          <a:prstGeom prst="rect">
            <a:avLst/>
          </a:prstGeom>
          <a:solidFill>
            <a:srgbClr val="F5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554480" y="4892040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B1F3A"/>
                </a:solidFill>
                <a:latin typeface="Microsoft YaHei"/>
              </a:rPr>
              <a:t>新材料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31920" y="4892040"/>
            <a:ext cx="50292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Microsoft YaHei"/>
              </a:rPr>
              <a:t>云南锗业 / 力量钻石 / 黄河旋风 / 玻璃/PCB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052560" y="489204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Microsoft YaHei"/>
              </a:rPr>
              <a:t>天天出爆款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48640" y="5559552"/>
            <a:ext cx="822960" cy="64008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48640" y="5559552"/>
            <a:ext cx="8229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07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371600" y="5559552"/>
            <a:ext cx="10241280" cy="640080"/>
          </a:xfrm>
          <a:prstGeom prst="rect">
            <a:avLst/>
          </a:prstGeom>
          <a:solidFill>
            <a:srgbClr val="F5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554480" y="5605272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B1F3A"/>
                </a:solidFill>
                <a:latin typeface="Microsoft YaHei"/>
              </a:rPr>
              <a:t>储能 · 固态电池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931920" y="5605272"/>
            <a:ext cx="50292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Microsoft YaHei"/>
              </a:rPr>
              <a:t>宁德时代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052560" y="5605272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Microsoft YaHei"/>
              </a:rPr>
              <a:t>钠电池替代锂电池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</a:rPr>
              <a:t>说话人1 投资观点 · 2026-05-17 投资领域交流探讨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B6B6B"/>
                </a:solidFill>
                <a:latin typeface="Microsoft YaHe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Microsoft YaHei"/>
              </a:rPr>
              <a:t>03 · 主线 + 七大赛道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5F1E6"/>
                </a:solidFill>
                <a:latin typeface="Microsoft YaHei"/>
              </a:rPr>
              <a:t>新增第 9 条赛道:创新药 · 3 项严苛限定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80160"/>
            <a:ext cx="10972800" cy="9144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417320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C9A227"/>
                </a:solidFill>
                <a:latin typeface="Microsoft YaHei"/>
              </a:rPr>
              <a:t>整条赛道不「整体起」,只取符合 3 项条件的个股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468880"/>
            <a:ext cx="3383280" cy="2103120"/>
          </a:xfrm>
          <a:prstGeom prst="rect">
            <a:avLst/>
          </a:prstGeom>
          <a:solidFill>
            <a:srgbClr val="F5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468880"/>
            <a:ext cx="3383280" cy="18288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788920"/>
            <a:ext cx="30175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0B1F3A"/>
                </a:solidFill>
                <a:latin typeface="Microsoft YaHei"/>
              </a:rPr>
              <a:t>① 出口占比 ≥ 50%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566160"/>
            <a:ext cx="30175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Microsoft YaHei"/>
              </a:rPr>
              <a:t>并且持续上升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97680" y="2468880"/>
            <a:ext cx="3383280" cy="2103120"/>
          </a:xfrm>
          <a:prstGeom prst="rect">
            <a:avLst/>
          </a:prstGeom>
          <a:solidFill>
            <a:srgbClr val="F5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97680" y="2468880"/>
            <a:ext cx="3383280" cy="18288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26280" y="2788920"/>
            <a:ext cx="30175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0B1F3A"/>
                </a:solidFill>
                <a:latin typeface="Microsoft YaHei"/>
              </a:rPr>
              <a:t>② 不受美国制裁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80" y="3566160"/>
            <a:ext cx="30175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Microsoft YaHei"/>
              </a:rPr>
              <a:t>美国对中国创新药专门「特别舒服」豁免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55279" y="2468880"/>
            <a:ext cx="3383280" cy="2103120"/>
          </a:xfrm>
          <a:prstGeom prst="rect">
            <a:avLst/>
          </a:prstGeom>
          <a:solidFill>
            <a:srgbClr val="F5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55279" y="2468880"/>
            <a:ext cx="3383280" cy="18288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83879" y="2788920"/>
            <a:ext cx="30175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0B1F3A"/>
                </a:solidFill>
                <a:latin typeface="Microsoft YaHei"/>
              </a:rPr>
              <a:t>③ 万物五巨头的中国生态伙伴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83879" y="3566160"/>
            <a:ext cx="30175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Microsoft YaHei"/>
              </a:rPr>
              <a:t>美国医药五巨头亲自挑选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4754880"/>
            <a:ext cx="10972800" cy="146304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4937760"/>
            <a:ext cx="106070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C9A227"/>
                </a:solidFill>
                <a:latin typeface="Microsoft YaHei"/>
              </a:rPr>
              <a:t>目标池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5394960"/>
            <a:ext cx="106070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Microsoft YaHei"/>
              </a:rPr>
              <a:t>全中国(含港股)仅 10 家公司符合上述 3 项条件。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</a:rPr>
              <a:t>说话人1 投资观点 · 2026-05-17 投资领域交流探讨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B6B6B"/>
                </a:solidFill>
                <a:latin typeface="Microsoft YaHe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Microsoft YaHei"/>
              </a:rPr>
              <a:t>04 · 重点股票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5F1E6"/>
                </a:solidFill>
                <a:latin typeface="Microsoft YaHei"/>
              </a:rPr>
              <a:t>买入清单 · 投资逻辑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80160"/>
            <a:ext cx="5623560" cy="1627632"/>
          </a:xfrm>
          <a:prstGeom prst="rect">
            <a:avLst/>
          </a:prstGeom>
          <a:solidFill>
            <a:srgbClr val="F5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80160"/>
            <a:ext cx="164592" cy="1627632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37160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B1F3A"/>
                </a:solidFill>
                <a:latin typeface="Microsoft YaHei"/>
              </a:rPr>
              <a:t>三安光电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60520" y="1417320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B01F24"/>
                </a:solidFill>
                <a:latin typeface="Microsoft YaHei"/>
              </a:rPr>
              <a:t>周一买入·勿等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874520"/>
            <a:ext cx="52120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Microsoft YaHei"/>
              </a:rPr>
              <a:t>磷化铟芯片;8个万亿级市场领袖;产业缺口30%;中国仅8家;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Microsoft YaHei"/>
              </a:rPr>
              <a:t>董事长/CEO被留置创造机会;福建国资委想抢。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59" y="1280160"/>
            <a:ext cx="5623560" cy="1627632"/>
          </a:xfrm>
          <a:prstGeom prst="rect">
            <a:avLst/>
          </a:prstGeom>
          <a:solidFill>
            <a:srgbClr val="F5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09359" y="1280160"/>
            <a:ext cx="164592" cy="1627632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29399" y="137160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B1F3A"/>
                </a:solidFill>
                <a:latin typeface="Microsoft YaHei"/>
              </a:rPr>
              <a:t>阳光电源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59" y="1417320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B01F24"/>
                </a:solidFill>
                <a:latin typeface="Microsoft YaHei"/>
              </a:rPr>
              <a:t>重仓 · 目标170-230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399" y="1874520"/>
            <a:ext cx="52120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Microsoft YaHei"/>
              </a:rPr>
              <a:t>全球电力设备更新最看好;海外占比4%→全球18国;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Microsoft YaHei"/>
              </a:rPr>
              <a:t>下月香港上市;昨涨13%;从200调到120是上车机会。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035808"/>
            <a:ext cx="5623560" cy="1627632"/>
          </a:xfrm>
          <a:prstGeom prst="rect">
            <a:avLst/>
          </a:prstGeom>
          <a:solidFill>
            <a:srgbClr val="F5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3035808"/>
            <a:ext cx="164592" cy="1627632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127248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B1F3A"/>
                </a:solidFill>
                <a:latin typeface="Microsoft YaHei"/>
              </a:rPr>
              <a:t>宁德时代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60520" y="3172968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B01F24"/>
                </a:solidFill>
                <a:latin typeface="Microsoft YaHei"/>
              </a:rPr>
              <a:t>继续买 · 高位也买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3630168"/>
            <a:ext cx="52120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Microsoft YaHei"/>
              </a:rPr>
              <a:t>「消灭汽车的杀手」;钠电池6个月内取代锂电池;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Microsoft YaHei"/>
              </a:rPr>
              <a:t>进入电力设备更新市场。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9359" y="3035808"/>
            <a:ext cx="5623560" cy="1627632"/>
          </a:xfrm>
          <a:prstGeom prst="rect">
            <a:avLst/>
          </a:prstGeom>
          <a:solidFill>
            <a:srgbClr val="F5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09359" y="3035808"/>
            <a:ext cx="164592" cy="1627632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29399" y="3127248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B1F3A"/>
                </a:solidFill>
                <a:latin typeface="Microsoft YaHei"/>
              </a:rPr>
              <a:t>云南锗业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66959" y="3172968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B01F24"/>
                </a:solidFill>
                <a:latin typeface="Microsoft YaHei"/>
              </a:rPr>
              <a:t>跌至90是买点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399" y="3630168"/>
            <a:ext cx="52120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Microsoft YaHei"/>
              </a:rPr>
              <a:t>锗=银化锌正极;新材料赛道资源类龙头;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Microsoft YaHei"/>
              </a:rPr>
              <a:t>中国排名第一;现价突破102后回撤。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4791456"/>
            <a:ext cx="5623560" cy="1627632"/>
          </a:xfrm>
          <a:prstGeom prst="rect">
            <a:avLst/>
          </a:prstGeom>
          <a:solidFill>
            <a:srgbClr val="F5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02920" y="4791456"/>
            <a:ext cx="164592" cy="1627632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4882896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B1F3A"/>
                </a:solidFill>
                <a:latin typeface="Microsoft YaHei"/>
              </a:rPr>
              <a:t>黄河旋风/力量钻石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60520" y="4928616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B01F24"/>
                </a:solidFill>
                <a:latin typeface="Microsoft YaHei"/>
              </a:rPr>
              <a:t>新材料黑马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5385816"/>
            <a:ext cx="52120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Microsoft YaHei"/>
              </a:rPr>
              <a:t>河南人造钻石;意外发现是光通信液冷载体/光模块新材料。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09359" y="4791456"/>
            <a:ext cx="5623560" cy="1627632"/>
          </a:xfrm>
          <a:prstGeom prst="rect">
            <a:avLst/>
          </a:prstGeom>
          <a:solidFill>
            <a:srgbClr val="F5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309359" y="4791456"/>
            <a:ext cx="164592" cy="1627632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629399" y="4882896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B1F3A"/>
                </a:solidFill>
                <a:latin typeface="Microsoft YaHei"/>
              </a:rPr>
              <a:t>长飞光纤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66959" y="4928616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B01F24"/>
                </a:solidFill>
                <a:latin typeface="Microsoft YaHei"/>
              </a:rPr>
              <a:t>10年翻10倍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29399" y="5385816"/>
            <a:ext cx="52120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Microsoft YaHei"/>
              </a:rPr>
              <a:t>英伟达美国建3厂;先进制造业回流标的;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Microsoft YaHei"/>
              </a:rPr>
              <a:t>电信号→光信号大趋势。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</a:rPr>
              <a:t>说话人1 投资观点 · 2026-05-17 投资领域交流探讨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B6B6B"/>
                </a:solidFill>
                <a:latin typeface="Microsoft YaHe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Microsoft YaHei"/>
              </a:rPr>
              <a:t>04 · 重点股票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5F1E6"/>
                </a:solidFill>
                <a:latin typeface="Microsoft YaHei"/>
              </a:rPr>
              <a:t>回避清单 · 看空逻辑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34440"/>
            <a:ext cx="457200" cy="530352"/>
          </a:xfrm>
          <a:prstGeom prst="rect">
            <a:avLst/>
          </a:prstGeom>
          <a:solidFill>
            <a:srgbClr val="B01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234440"/>
            <a:ext cx="45720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5840" y="1234440"/>
            <a:ext cx="10607040" cy="530352"/>
          </a:xfrm>
          <a:prstGeom prst="rect">
            <a:avLst/>
          </a:prstGeom>
          <a:solidFill>
            <a:srgbClr val="F5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1271016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0B1F3A"/>
                </a:solidFill>
                <a:latin typeface="Microsoft YaHei"/>
              </a:rPr>
              <a:t>华为及关联平台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0" y="1271016"/>
            <a:ext cx="749807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Microsoft YaHei"/>
              </a:rPr>
              <a:t>中国最无耻的公司;压榨供应链(同芯片国内2000元/欧洲2000欧元);赛力斯卖一辆车给华为14万;机柜90%仍是电信号→被光模块时代淘汰;AI迭代落后阿里/腾讯。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1837944"/>
            <a:ext cx="457200" cy="530352"/>
          </a:xfrm>
          <a:prstGeom prst="rect">
            <a:avLst/>
          </a:prstGeom>
          <a:solidFill>
            <a:srgbClr val="B01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837944"/>
            <a:ext cx="45720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5840" y="1837944"/>
            <a:ext cx="10607040" cy="530352"/>
          </a:xfrm>
          <a:prstGeom prst="rect">
            <a:avLst/>
          </a:prstGeom>
          <a:solidFill>
            <a:srgbClr val="F5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88720" y="187452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0B1F3A"/>
                </a:solidFill>
                <a:latin typeface="Microsoft YaHei"/>
              </a:rPr>
              <a:t>比亚迪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23360" y="1874520"/>
            <a:ext cx="749807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Microsoft YaHei"/>
              </a:rPr>
              <a:t>事实上已破产;拖欠/压榨供应商,业内口碑差;钠电池替代锂电池后冲击最大。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2441448"/>
            <a:ext cx="457200" cy="530352"/>
          </a:xfrm>
          <a:prstGeom prst="rect">
            <a:avLst/>
          </a:prstGeom>
          <a:solidFill>
            <a:srgbClr val="B01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2441448"/>
            <a:ext cx="45720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05840" y="2441448"/>
            <a:ext cx="10607040" cy="530352"/>
          </a:xfrm>
          <a:prstGeom prst="rect">
            <a:avLst/>
          </a:prstGeom>
          <a:solidFill>
            <a:srgbClr val="F5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88720" y="2478024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0B1F3A"/>
                </a:solidFill>
                <a:latin typeface="Microsoft YaHei"/>
              </a:rPr>
              <a:t>银行业(整体)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23360" y="2478024"/>
            <a:ext cx="749807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Microsoft YaHei"/>
              </a:rPr>
              <a:t>「玩银行的时代彻底结束」;特斯拉版微信(年息6%)进一步消灭银行。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044952"/>
            <a:ext cx="457200" cy="530352"/>
          </a:xfrm>
          <a:prstGeom prst="rect">
            <a:avLst/>
          </a:prstGeom>
          <a:solidFill>
            <a:srgbClr val="B01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3044952"/>
            <a:ext cx="45720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05840" y="3044952"/>
            <a:ext cx="10607040" cy="530352"/>
          </a:xfrm>
          <a:prstGeom prst="rect">
            <a:avLst/>
          </a:prstGeom>
          <a:solidFill>
            <a:srgbClr val="F5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88720" y="3081528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0B1F3A"/>
                </a:solidFill>
                <a:latin typeface="Microsoft YaHei"/>
              </a:rPr>
              <a:t>传统汽车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23360" y="3081528"/>
            <a:ext cx="749807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Microsoft YaHei"/>
              </a:rPr>
              <a:t>房地产之后下一个全线崩溃赛道;特斯拉无人驾驶/机器人化将摧毁传统车企。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3648456"/>
            <a:ext cx="457200" cy="530352"/>
          </a:xfrm>
          <a:prstGeom prst="rect">
            <a:avLst/>
          </a:prstGeom>
          <a:solidFill>
            <a:srgbClr val="B01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3648456"/>
            <a:ext cx="45720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05840" y="3648456"/>
            <a:ext cx="10607040" cy="530352"/>
          </a:xfrm>
          <a:prstGeom prst="rect">
            <a:avLst/>
          </a:prstGeom>
          <a:solidFill>
            <a:srgbClr val="F5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88720" y="3685032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0B1F3A"/>
                </a:solidFill>
                <a:latin typeface="Microsoft YaHei"/>
              </a:rPr>
              <a:t>房地产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023360" y="3685032"/>
            <a:ext cx="749807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Microsoft YaHei"/>
              </a:rPr>
              <a:t>「50年起不来」;万科类大窟窿太多;商铺99%必死无疑。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4251960"/>
            <a:ext cx="457200" cy="530352"/>
          </a:xfrm>
          <a:prstGeom prst="rect">
            <a:avLst/>
          </a:prstGeom>
          <a:solidFill>
            <a:srgbClr val="B01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4251960"/>
            <a:ext cx="45720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05840" y="4251960"/>
            <a:ext cx="10607040" cy="530352"/>
          </a:xfrm>
          <a:prstGeom prst="rect">
            <a:avLst/>
          </a:prstGeom>
          <a:solidFill>
            <a:srgbClr val="F5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88720" y="4288536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0B1F3A"/>
                </a:solidFill>
                <a:latin typeface="Microsoft YaHei"/>
              </a:rPr>
              <a:t>国企(整体)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023360" y="4288536"/>
            <a:ext cx="749807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Microsoft YaHei"/>
              </a:rPr>
              <a:t>三光:赔光/偷光/抢光;万科即深圳国资委窟窿;基本都是烂账。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8640" y="4855464"/>
            <a:ext cx="457200" cy="530352"/>
          </a:xfrm>
          <a:prstGeom prst="rect">
            <a:avLst/>
          </a:prstGeom>
          <a:solidFill>
            <a:srgbClr val="B01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4855464"/>
            <a:ext cx="45720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05840" y="4855464"/>
            <a:ext cx="10607040" cy="530352"/>
          </a:xfrm>
          <a:prstGeom prst="rect">
            <a:avLst/>
          </a:prstGeom>
          <a:solidFill>
            <a:srgbClr val="F5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188720" y="489204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0B1F3A"/>
                </a:solidFill>
                <a:latin typeface="Microsoft YaHei"/>
              </a:rPr>
              <a:t>东山精密(谨慎)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023360" y="4892040"/>
            <a:ext cx="749807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Microsoft YaHei"/>
              </a:rPr>
              <a:t>唯一不太确定项;华西村出身;财报水分大;卖不动产59亿、有600亿债。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48640" y="5458968"/>
            <a:ext cx="457200" cy="530352"/>
          </a:xfrm>
          <a:prstGeom prst="rect">
            <a:avLst/>
          </a:prstGeom>
          <a:solidFill>
            <a:srgbClr val="B01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48640" y="5458968"/>
            <a:ext cx="45720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05840" y="5458968"/>
            <a:ext cx="10607040" cy="530352"/>
          </a:xfrm>
          <a:prstGeom prst="rect">
            <a:avLst/>
          </a:prstGeom>
          <a:solidFill>
            <a:srgbClr val="F5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188720" y="5495544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0B1F3A"/>
                </a:solidFill>
                <a:latin typeface="Microsoft YaHei"/>
              </a:rPr>
              <a:t>青龙行者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023360" y="5495544"/>
            <a:ext cx="749807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Microsoft YaHei"/>
              </a:rPr>
              <a:t>15种品种中3种被淘汰,不要碰。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</a:rPr>
              <a:t>说话人1 投资观点 · 2026-05-17 投资领域交流探讨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B6B6B"/>
                </a:solidFill>
                <a:latin typeface="Microsoft YaHe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Microsoft YaHei"/>
              </a:rPr>
              <a:t>05 · 特斯拉四大赛道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5F1E6"/>
                </a:solidFill>
                <a:latin typeface="Microsoft YaHei"/>
              </a:rPr>
              <a:t>引领全球商业的「四辆车」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371600"/>
            <a:ext cx="5486400" cy="18288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5029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C9A227"/>
                </a:solidFill>
                <a:latin typeface="Microsoft YaHei"/>
              </a:rPr>
              <a:t>机器人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240280"/>
            <a:ext cx="5029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Microsoft YaHei"/>
              </a:rPr>
              <a:t>Optimus 持续迭代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371600"/>
            <a:ext cx="5486400" cy="18288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0" y="1600200"/>
            <a:ext cx="5029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C9A227"/>
                </a:solidFill>
                <a:latin typeface="Microsoft YaHei"/>
              </a:rPr>
              <a:t>无人驾驶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2240280"/>
            <a:ext cx="5029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Microsoft YaHei"/>
              </a:rPr>
              <a:t>即将全线铺开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474720"/>
            <a:ext cx="5486400" cy="18288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3703320"/>
            <a:ext cx="5029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C9A227"/>
                </a:solidFill>
                <a:latin typeface="Microsoft YaHei"/>
              </a:rPr>
              <a:t>太空法律 / 太空经济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343400"/>
            <a:ext cx="5029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Microsoft YaHei"/>
              </a:rPr>
              <a:t>马上开放;芯片厂量产 7nm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3474720"/>
            <a:ext cx="5486400" cy="1828800"/>
          </a:xfrm>
          <a:prstGeom prst="rect">
            <a:avLst/>
          </a:prstGeom>
          <a:solidFill>
            <a:srgbClr val="B01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5120" y="3703320"/>
            <a:ext cx="5029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C9A227"/>
                </a:solidFill>
                <a:latin typeface="Microsoft YaHei"/>
              </a:rPr>
              <a:t>消灭银行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4343400"/>
            <a:ext cx="5029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Microsoft YaHei"/>
              </a:rPr>
              <a:t>特斯拉版微信·年息 6%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Microsoft YaHei"/>
              </a:rPr>
              <a:t>随时转换为任意股票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5669280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B1F3A"/>
                </a:solidFill>
                <a:latin typeface="Microsoft YaHei"/>
              </a:rPr>
              <a:t>未来同时是:全球最大金融公司 · 芯片公司 · 太空公司 · 机器人公司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</a:rPr>
              <a:t>说话人1 投资观点 · 2026-05-17 投资领域交流探讨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B6B6B"/>
                </a:solidFill>
                <a:latin typeface="Microsoft YaHe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Microsoft YaHei"/>
              </a:rPr>
              <a:t>06 · 「老登」行业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5F1E6"/>
                </a:solidFill>
                <a:latin typeface="Microsoft YaHei"/>
              </a:rPr>
              <a:t>八大资产/领域贬值清单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80160"/>
            <a:ext cx="5577840" cy="1097280"/>
          </a:xfrm>
          <a:prstGeom prst="rect">
            <a:avLst/>
          </a:prstGeom>
          <a:solidFill>
            <a:srgbClr val="F5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280160"/>
            <a:ext cx="822960" cy="1097280"/>
          </a:xfrm>
          <a:prstGeom prst="rect">
            <a:avLst/>
          </a:prstGeom>
          <a:solidFill>
            <a:srgbClr val="B01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280160"/>
            <a:ext cx="82296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37160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0B1F3A"/>
                </a:solidFill>
                <a:latin typeface="Microsoft YaHei"/>
              </a:rPr>
              <a:t>房地产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28800"/>
            <a:ext cx="4480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Microsoft YaHei"/>
              </a:rPr>
              <a:t>99% 必死,仅约 1% 可活;50 年起不来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55079" y="1280160"/>
            <a:ext cx="5577840" cy="1097280"/>
          </a:xfrm>
          <a:prstGeom prst="rect">
            <a:avLst/>
          </a:prstGeom>
          <a:solidFill>
            <a:srgbClr val="F5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79" y="1280160"/>
            <a:ext cx="822960" cy="1097280"/>
          </a:xfrm>
          <a:prstGeom prst="rect">
            <a:avLst/>
          </a:prstGeom>
          <a:solidFill>
            <a:srgbClr val="B01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5079" y="1280160"/>
            <a:ext cx="82296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Microsoft YaHe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19" y="137160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0B1F3A"/>
                </a:solidFill>
                <a:latin typeface="Microsoft YaHei"/>
              </a:rPr>
              <a:t>商铺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60919" y="1828800"/>
            <a:ext cx="4480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Microsoft YaHei"/>
              </a:rPr>
              <a:t>99% 必死无疑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2514600"/>
            <a:ext cx="5577840" cy="1097280"/>
          </a:xfrm>
          <a:prstGeom prst="rect">
            <a:avLst/>
          </a:prstGeom>
          <a:solidFill>
            <a:srgbClr val="F5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2514600"/>
            <a:ext cx="822960" cy="1097280"/>
          </a:xfrm>
          <a:prstGeom prst="rect">
            <a:avLst/>
          </a:prstGeom>
          <a:solidFill>
            <a:srgbClr val="B01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2514600"/>
            <a:ext cx="82296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Microsoft YaHe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260604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0B1F3A"/>
                </a:solidFill>
                <a:latin typeface="Microsoft YaHei"/>
              </a:rPr>
              <a:t>知识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3063240"/>
            <a:ext cx="4480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Microsoft YaHei"/>
              </a:rPr>
              <a:t>中低档大模型 &gt; 90% 大专院校教授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55079" y="2514600"/>
            <a:ext cx="5577840" cy="1097280"/>
          </a:xfrm>
          <a:prstGeom prst="rect">
            <a:avLst/>
          </a:prstGeom>
          <a:solidFill>
            <a:srgbClr val="F5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55079" y="2514600"/>
            <a:ext cx="822960" cy="1097280"/>
          </a:xfrm>
          <a:prstGeom prst="rect">
            <a:avLst/>
          </a:prstGeom>
          <a:solidFill>
            <a:srgbClr val="B01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5079" y="2514600"/>
            <a:ext cx="82296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Microsoft YaHei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60919" y="260604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0B1F3A"/>
                </a:solidFill>
                <a:latin typeface="Microsoft YaHei"/>
              </a:rPr>
              <a:t>学历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60919" y="3063240"/>
            <a:ext cx="4480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Microsoft YaHei"/>
              </a:rPr>
              <a:t>美国改招高中生;个案出现 1 亿美金薪酬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3749039"/>
            <a:ext cx="5577840" cy="1097280"/>
          </a:xfrm>
          <a:prstGeom prst="rect">
            <a:avLst/>
          </a:prstGeom>
          <a:solidFill>
            <a:srgbClr val="F5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48640" y="3749039"/>
            <a:ext cx="822960" cy="1097280"/>
          </a:xfrm>
          <a:prstGeom prst="rect">
            <a:avLst/>
          </a:prstGeom>
          <a:solidFill>
            <a:srgbClr val="B01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3749039"/>
            <a:ext cx="82296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Microsoft YaHei"/>
              </a:rP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54480" y="3840479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0B1F3A"/>
                </a:solidFill>
                <a:latin typeface="Microsoft YaHei"/>
              </a:rPr>
              <a:t>软件 / 码农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54480" y="4297679"/>
            <a:ext cx="4480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Microsoft YaHei"/>
              </a:rPr>
              <a:t>AI 出代码;五大行/地产软件开源后无价值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55079" y="3749039"/>
            <a:ext cx="5577840" cy="1097280"/>
          </a:xfrm>
          <a:prstGeom prst="rect">
            <a:avLst/>
          </a:prstGeom>
          <a:solidFill>
            <a:srgbClr val="F5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355079" y="3749039"/>
            <a:ext cx="822960" cy="1097280"/>
          </a:xfrm>
          <a:prstGeom prst="rect">
            <a:avLst/>
          </a:prstGeom>
          <a:solidFill>
            <a:srgbClr val="B01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55079" y="3749039"/>
            <a:ext cx="82296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Microsoft YaHei"/>
              </a:rPr>
              <a:t>06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60919" y="3840479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0B1F3A"/>
                </a:solidFill>
                <a:latin typeface="Microsoft YaHei"/>
              </a:rPr>
              <a:t>传统车企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60919" y="4297679"/>
            <a:ext cx="4480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Microsoft YaHei"/>
              </a:rPr>
              <a:t>下一个全线崩溃的赛道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8640" y="4983480"/>
            <a:ext cx="5577840" cy="1097280"/>
          </a:xfrm>
          <a:prstGeom prst="rect">
            <a:avLst/>
          </a:prstGeom>
          <a:solidFill>
            <a:srgbClr val="F5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48640" y="4983480"/>
            <a:ext cx="822960" cy="1097280"/>
          </a:xfrm>
          <a:prstGeom prst="rect">
            <a:avLst/>
          </a:prstGeom>
          <a:solidFill>
            <a:srgbClr val="B01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4983480"/>
            <a:ext cx="82296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Microsoft YaHei"/>
              </a:rPr>
              <a:t>07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554480" y="507492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0B1F3A"/>
                </a:solidFill>
                <a:latin typeface="Microsoft YaHei"/>
              </a:rPr>
              <a:t>银行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554480" y="5532120"/>
            <a:ext cx="4480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Microsoft YaHei"/>
              </a:rPr>
              <a:t>玩银行的时代彻底结束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55079" y="4983480"/>
            <a:ext cx="5577840" cy="1097280"/>
          </a:xfrm>
          <a:prstGeom prst="rect">
            <a:avLst/>
          </a:prstGeom>
          <a:solidFill>
            <a:srgbClr val="F5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355079" y="4983480"/>
            <a:ext cx="822960" cy="1097280"/>
          </a:xfrm>
          <a:prstGeom prst="rect">
            <a:avLst/>
          </a:prstGeom>
          <a:solidFill>
            <a:srgbClr val="B01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55079" y="4983480"/>
            <a:ext cx="82296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Microsoft YaHei"/>
              </a:rPr>
              <a:t>08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60919" y="507492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0B1F3A"/>
                </a:solidFill>
                <a:latin typeface="Microsoft YaHei"/>
              </a:rPr>
              <a:t>国企(普遍)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60919" y="5532120"/>
            <a:ext cx="4480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Microsoft YaHei"/>
              </a:rPr>
              <a:t>三光:赔光/偷光/抢光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</a:rPr>
              <a:t>说话人1 投资观点 · 2026-05-17 投资领域交流探讨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B6B6B"/>
                </a:solidFill>
                <a:latin typeface="Microsoft YaHe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Microsoft YaHei"/>
              </a:rPr>
              <a:t>07 · AI · 外资 · 香港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5F1E6"/>
                </a:solidFill>
                <a:latin typeface="Microsoft YaHei"/>
              </a:rPr>
              <a:t>其他重要趋势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80160"/>
            <a:ext cx="5532120" cy="49377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417320"/>
            <a:ext cx="5303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C9A227"/>
                </a:solidFill>
                <a:latin typeface="Microsoft YaHei"/>
              </a:rPr>
              <a:t>AI 智能体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965960"/>
            <a:ext cx="521208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>
                <a:solidFill>
                  <a:srgbClr val="C9A227"/>
                </a:solidFill>
                <a:latin typeface="Microsoft YaHei"/>
              </a:rPr>
              <a:t>●  </a:t>
            </a:r>
            <a:r>
              <a:rPr sz="1300">
                <a:solidFill>
                  <a:srgbClr val="FFFFFF"/>
                </a:solidFill>
                <a:latin typeface="Microsoft YaHei"/>
              </a:rPr>
              <a:t>「看不见的智能体」= 真正的爆发点(指节盖大小)</a:t>
            </a:r>
          </a:p>
          <a:p>
            <a:pPr algn="l">
              <a:lnSpc>
                <a:spcPct val="125000"/>
              </a:lnSpc>
            </a:pPr>
            <a:r>
              <a:rPr sz="1300">
                <a:solidFill>
                  <a:srgbClr val="C9A227"/>
                </a:solidFill>
                <a:latin typeface="Microsoft YaHei"/>
              </a:rPr>
              <a:t>●  </a:t>
            </a:r>
            <a:r>
              <a:rPr sz="1300">
                <a:solidFill>
                  <a:srgbClr val="FFFFFF"/>
                </a:solidFill>
                <a:latin typeface="Microsoft YaHei"/>
              </a:rPr>
              <a:t>看得见的机器人(酒店/产线)= 低价值</a:t>
            </a:r>
          </a:p>
          <a:p>
            <a:pPr algn="l">
              <a:lnSpc>
                <a:spcPct val="125000"/>
              </a:lnSpc>
            </a:pPr>
            <a:r>
              <a:rPr sz="1300">
                <a:solidFill>
                  <a:srgbClr val="C9A227"/>
                </a:solidFill>
                <a:latin typeface="Microsoft YaHei"/>
              </a:rPr>
              <a:t>●  </a:t>
            </a:r>
            <a:r>
              <a:rPr sz="1300">
                <a:solidFill>
                  <a:srgbClr val="FFFFFF"/>
                </a:solidFill>
                <a:latin typeface="Microsoft YaHei"/>
              </a:rPr>
              <a:t>看不见的智能体 = 看得见的 × 10</a:t>
            </a:r>
          </a:p>
          <a:p>
            <a:pPr algn="l">
              <a:lnSpc>
                <a:spcPct val="125000"/>
              </a:lnSpc>
            </a:pPr>
            <a:r>
              <a:rPr sz="1300">
                <a:solidFill>
                  <a:srgbClr val="C9A227"/>
                </a:solidFill>
                <a:latin typeface="Microsoft YaHei"/>
              </a:rPr>
              <a:t>●  </a:t>
            </a:r>
            <a:r>
              <a:rPr sz="1300">
                <a:solidFill>
                  <a:srgbClr val="FFFFFF"/>
                </a:solidFill>
                <a:latin typeface="Microsoft YaHei"/>
              </a:rPr>
              <a:t>AI 时代中文重新重要:提示词越精准,完成度越高</a:t>
            </a:r>
          </a:p>
          <a:p>
            <a:pPr algn="l">
              <a:lnSpc>
                <a:spcPct val="125000"/>
              </a:lnSpc>
            </a:pPr>
            <a:r>
              <a:rPr sz="1300">
                <a:solidFill>
                  <a:srgbClr val="C9A227"/>
                </a:solidFill>
                <a:latin typeface="Microsoft YaHei"/>
              </a:rPr>
              <a:t>●  </a:t>
            </a:r>
            <a:r>
              <a:rPr sz="1300">
                <a:solidFill>
                  <a:srgbClr val="FFFFFF"/>
                </a:solidFill>
                <a:latin typeface="Microsoft YaHei"/>
              </a:rPr>
              <a:t>可用模型:DeepSeek、Kimi 2.6、赤浦、Cursor、Cloud 4.7</a:t>
            </a:r>
          </a:p>
          <a:p>
            <a:pPr algn="l">
              <a:lnSpc>
                <a:spcPct val="125000"/>
              </a:lnSpc>
            </a:pPr>
            <a:r>
              <a:rPr sz="1300">
                <a:solidFill>
                  <a:srgbClr val="C9A227"/>
                </a:solidFill>
                <a:latin typeface="Microsoft YaHei"/>
              </a:rPr>
              <a:t>●  </a:t>
            </a:r>
            <a:r>
              <a:rPr sz="1300">
                <a:solidFill>
                  <a:srgbClr val="FFFFFF"/>
                </a:solidFill>
                <a:latin typeface="Microsoft YaHei"/>
              </a:rPr>
              <a:t>豆包基本不能用</a:t>
            </a:r>
          </a:p>
          <a:p>
            <a:pPr algn="l">
              <a:lnSpc>
                <a:spcPct val="125000"/>
              </a:lnSpc>
            </a:pPr>
            <a:r>
              <a:rPr sz="1300">
                <a:solidFill>
                  <a:srgbClr val="C9A227"/>
                </a:solidFill>
                <a:latin typeface="Microsoft YaHei"/>
              </a:rPr>
              <a:t>●  </a:t>
            </a:r>
            <a:r>
              <a:rPr sz="1300">
                <a:solidFill>
                  <a:srgbClr val="FFFFFF"/>
                </a:solidFill>
                <a:latin typeface="Microsoft YaHei"/>
              </a:rPr>
              <a:t>大芯片新趋势:美国公司直接做「盘子那么大」芯片挑战英伟达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1280160"/>
            <a:ext cx="5440680" cy="2377440"/>
          </a:xfrm>
          <a:prstGeom prst="rect">
            <a:avLst/>
          </a:prstGeom>
          <a:solidFill>
            <a:srgbClr val="F5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1371600"/>
            <a:ext cx="5212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B1F3A"/>
                </a:solidFill>
                <a:latin typeface="Microsoft YaHei"/>
              </a:rPr>
              <a:t>外资回流 · 四大主流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874519"/>
            <a:ext cx="512064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>
                <a:solidFill>
                  <a:srgbClr val="C9A227"/>
                </a:solidFill>
                <a:latin typeface="Microsoft YaHei"/>
              </a:rPr>
              <a:t>●  </a:t>
            </a:r>
            <a:r>
              <a:rPr sz="1300">
                <a:solidFill>
                  <a:srgbClr val="222222"/>
                </a:solidFill>
                <a:latin typeface="Microsoft YaHei"/>
              </a:rPr>
              <a:t>美国:贝莱德(14万亿)·重仓宁德/阳光电源</a:t>
            </a:r>
          </a:p>
          <a:p>
            <a:pPr algn="l">
              <a:lnSpc>
                <a:spcPct val="125000"/>
              </a:lnSpc>
            </a:pPr>
            <a:r>
              <a:rPr sz="1300">
                <a:solidFill>
                  <a:srgbClr val="C9A227"/>
                </a:solidFill>
                <a:latin typeface="Microsoft YaHei"/>
              </a:rPr>
              <a:t>●  </a:t>
            </a:r>
            <a:r>
              <a:rPr sz="1300">
                <a:solidFill>
                  <a:srgbClr val="222222"/>
                </a:solidFill>
                <a:latin typeface="Microsoft YaHei"/>
              </a:rPr>
              <a:t>瑞士:欧洲钱通过瑞士进入</a:t>
            </a:r>
          </a:p>
          <a:p>
            <a:pPr algn="l">
              <a:lnSpc>
                <a:spcPct val="125000"/>
              </a:lnSpc>
            </a:pPr>
            <a:r>
              <a:rPr sz="1300">
                <a:solidFill>
                  <a:srgbClr val="C9A227"/>
                </a:solidFill>
                <a:latin typeface="Microsoft YaHei"/>
              </a:rPr>
              <a:t>●  </a:t>
            </a:r>
            <a:r>
              <a:rPr sz="1300">
                <a:solidFill>
                  <a:srgbClr val="222222"/>
                </a:solidFill>
                <a:latin typeface="Microsoft YaHei"/>
              </a:rPr>
              <a:t>中东:阿布扎比</a:t>
            </a:r>
          </a:p>
          <a:p>
            <a:pPr algn="l">
              <a:lnSpc>
                <a:spcPct val="125000"/>
              </a:lnSpc>
            </a:pPr>
            <a:r>
              <a:rPr sz="1300">
                <a:solidFill>
                  <a:srgbClr val="C9A227"/>
                </a:solidFill>
                <a:latin typeface="Microsoft YaHei"/>
              </a:rPr>
              <a:t>●  </a:t>
            </a:r>
            <a:r>
              <a:rPr sz="1300">
                <a:solidFill>
                  <a:srgbClr val="222222"/>
                </a:solidFill>
                <a:latin typeface="Microsoft YaHei"/>
              </a:rPr>
              <a:t>中国回流:含潘石屹等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3794760"/>
            <a:ext cx="5440680" cy="2423160"/>
          </a:xfrm>
          <a:prstGeom prst="rect">
            <a:avLst/>
          </a:prstGeom>
          <a:solidFill>
            <a:srgbClr val="F5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5080" y="3886200"/>
            <a:ext cx="5212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B1F3A"/>
                </a:solidFill>
                <a:latin typeface="Microsoft YaHei"/>
              </a:rPr>
              <a:t>香港 · 全球资本市场枢纽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389120"/>
            <a:ext cx="512064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>
                <a:solidFill>
                  <a:srgbClr val="C9A227"/>
                </a:solidFill>
                <a:latin typeface="Microsoft YaHei"/>
              </a:rPr>
              <a:t>●  </a:t>
            </a:r>
            <a:r>
              <a:rPr sz="1300">
                <a:solidFill>
                  <a:srgbClr val="222222"/>
                </a:solidFill>
                <a:latin typeface="Microsoft YaHei"/>
              </a:rPr>
              <a:t>由「金融自由港」升格为「全球资本枢纽」</a:t>
            </a:r>
          </a:p>
          <a:p>
            <a:pPr algn="l">
              <a:lnSpc>
                <a:spcPct val="125000"/>
              </a:lnSpc>
            </a:pPr>
            <a:r>
              <a:rPr sz="1300">
                <a:solidFill>
                  <a:srgbClr val="C9A227"/>
                </a:solidFill>
                <a:latin typeface="Microsoft YaHei"/>
              </a:rPr>
              <a:t>●  </a:t>
            </a:r>
            <a:r>
              <a:rPr sz="1300">
                <a:solidFill>
                  <a:srgbClr val="222222"/>
                </a:solidFill>
                <a:latin typeface="Microsoft YaHei"/>
              </a:rPr>
              <a:t>下半年大量代币入场,代币市场爆发</a:t>
            </a:r>
          </a:p>
          <a:p>
            <a:pPr algn="l">
              <a:lnSpc>
                <a:spcPct val="125000"/>
              </a:lnSpc>
            </a:pPr>
            <a:r>
              <a:rPr sz="1300">
                <a:solidFill>
                  <a:srgbClr val="C9A227"/>
                </a:solidFill>
                <a:latin typeface="Microsoft YaHei"/>
              </a:rPr>
              <a:t>●  </a:t>
            </a:r>
            <a:r>
              <a:rPr sz="1300">
                <a:solidFill>
                  <a:srgbClr val="222222"/>
                </a:solidFill>
                <a:latin typeface="Microsoft YaHei"/>
              </a:rPr>
              <a:t>代币资产起点 = 6%</a:t>
            </a:r>
          </a:p>
          <a:p>
            <a:pPr algn="l">
              <a:lnSpc>
                <a:spcPct val="125000"/>
              </a:lnSpc>
            </a:pPr>
            <a:r>
              <a:rPr sz="1300">
                <a:solidFill>
                  <a:srgbClr val="C9A227"/>
                </a:solidFill>
                <a:latin typeface="Microsoft YaHei"/>
              </a:rPr>
              <a:t>●  </a:t>
            </a:r>
            <a:r>
              <a:rPr sz="1300">
                <a:solidFill>
                  <a:srgbClr val="222222"/>
                </a:solidFill>
                <a:latin typeface="Microsoft YaHei"/>
              </a:rPr>
              <a:t>马斯克代币基本一周抢完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</a:rPr>
              <a:t>说话人1 投资观点 · 2026-05-17 投资领域交流探讨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B6B6B"/>
                </a:solidFill>
                <a:latin typeface="Microsoft YaHe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Microsoft YaHei"/>
              </a:rPr>
              <a:t>08 · 操作纪要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5F1E6"/>
                </a:solidFill>
                <a:latin typeface="Microsoft YaHei"/>
              </a:rPr>
              <a:t>可执行金句 · 行动清单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80160"/>
            <a:ext cx="11064240" cy="7315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280160"/>
            <a:ext cx="1069848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>
                <a:solidFill>
                  <a:srgbClr val="0B1F3A"/>
                </a:solidFill>
                <a:latin typeface="Microsoft YaHei"/>
              </a:rPr>
              <a:t>周一一只票:三安光电。不要问为什么,先上车。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286000"/>
            <a:ext cx="1097280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C9A227"/>
                </a:solidFill>
                <a:latin typeface="Microsoft YaHei"/>
              </a:rPr>
              <a:t>●  </a:t>
            </a:r>
            <a:r>
              <a:rPr sz="1500">
                <a:solidFill>
                  <a:srgbClr val="222222"/>
                </a:solidFill>
                <a:latin typeface="Microsoft YaHei"/>
              </a:rPr>
              <a:t>现在站在光里 —— 只有三安光电还能站在光里。</a:t>
            </a:r>
          </a:p>
          <a:p>
            <a:pPr algn="l">
              <a:lnSpc>
                <a:spcPct val="125000"/>
              </a:lnSpc>
            </a:pPr>
            <a:r>
              <a:rPr sz="1500">
                <a:solidFill>
                  <a:srgbClr val="C9A227"/>
                </a:solidFill>
                <a:latin typeface="Microsoft YaHei"/>
              </a:rPr>
              <a:t>●  </a:t>
            </a:r>
            <a:r>
              <a:rPr sz="1500">
                <a:solidFill>
                  <a:srgbClr val="222222"/>
                </a:solidFill>
                <a:latin typeface="Microsoft YaHei"/>
              </a:rPr>
              <a:t>现在只买行业龙头。</a:t>
            </a:r>
          </a:p>
          <a:p>
            <a:pPr algn="l">
              <a:lnSpc>
                <a:spcPct val="125000"/>
              </a:lnSpc>
            </a:pPr>
            <a:r>
              <a:rPr sz="1500">
                <a:solidFill>
                  <a:srgbClr val="C9A227"/>
                </a:solidFill>
                <a:latin typeface="Microsoft YaHei"/>
              </a:rPr>
              <a:t>●  </a:t>
            </a:r>
            <a:r>
              <a:rPr sz="1500">
                <a:solidFill>
                  <a:srgbClr val="222222"/>
                </a:solidFill>
                <a:latin typeface="Microsoft YaHei"/>
              </a:rPr>
              <a:t>回撤即上车。</a:t>
            </a:r>
          </a:p>
          <a:p>
            <a:pPr algn="l">
              <a:lnSpc>
                <a:spcPct val="125000"/>
              </a:lnSpc>
            </a:pPr>
            <a:r>
              <a:rPr sz="1500">
                <a:solidFill>
                  <a:srgbClr val="C9A227"/>
                </a:solidFill>
                <a:latin typeface="Microsoft YaHei"/>
              </a:rPr>
              <a:t>●  </a:t>
            </a:r>
            <a:r>
              <a:rPr sz="1500">
                <a:solidFill>
                  <a:srgbClr val="222222"/>
                </a:solidFill>
                <a:latin typeface="Microsoft YaHei"/>
              </a:rPr>
              <a:t>便宜没好货:低市盈率股票多是垃圾或陷阱。</a:t>
            </a:r>
          </a:p>
          <a:p>
            <a:pPr algn="l">
              <a:lnSpc>
                <a:spcPct val="125000"/>
              </a:lnSpc>
            </a:pPr>
            <a:r>
              <a:rPr sz="1500">
                <a:solidFill>
                  <a:srgbClr val="C9A227"/>
                </a:solidFill>
                <a:latin typeface="Microsoft YaHei"/>
              </a:rPr>
              <a:t>●  </a:t>
            </a:r>
            <a:r>
              <a:rPr sz="1500">
                <a:solidFill>
                  <a:srgbClr val="222222"/>
                </a:solidFill>
                <a:latin typeface="Microsoft YaHei"/>
              </a:rPr>
              <a:t>在风险中寻找机会,在泡沫中兑现财富。</a:t>
            </a:r>
          </a:p>
          <a:p>
            <a:pPr algn="l">
              <a:lnSpc>
                <a:spcPct val="125000"/>
              </a:lnSpc>
            </a:pPr>
            <a:r>
              <a:rPr sz="1500">
                <a:solidFill>
                  <a:srgbClr val="C9A227"/>
                </a:solidFill>
                <a:latin typeface="Microsoft YaHei"/>
              </a:rPr>
              <a:t>●  </a:t>
            </a:r>
            <a:r>
              <a:rPr sz="1500">
                <a:solidFill>
                  <a:srgbClr val="222222"/>
                </a:solidFill>
                <a:latin typeface="Microsoft YaHei"/>
              </a:rPr>
              <a:t>短线干不过量化,长线干不过国家队,只做中间一段。</a:t>
            </a:r>
          </a:p>
          <a:p>
            <a:pPr algn="l">
              <a:lnSpc>
                <a:spcPct val="125000"/>
              </a:lnSpc>
            </a:pPr>
            <a:r>
              <a:rPr sz="1500">
                <a:solidFill>
                  <a:srgbClr val="C9A227"/>
                </a:solidFill>
                <a:latin typeface="Microsoft YaHei"/>
              </a:rPr>
              <a:t>●  </a:t>
            </a:r>
            <a:r>
              <a:rPr sz="1500">
                <a:solidFill>
                  <a:srgbClr val="222222"/>
                </a:solidFill>
                <a:latin typeface="Microsoft YaHei"/>
              </a:rPr>
              <a:t>创造性毁灭:关注「创造」,远离「毁灭」。</a:t>
            </a:r>
          </a:p>
          <a:p>
            <a:pPr algn="l">
              <a:lnSpc>
                <a:spcPct val="125000"/>
              </a:lnSpc>
            </a:pPr>
            <a:r>
              <a:rPr sz="1500">
                <a:solidFill>
                  <a:srgbClr val="C9A227"/>
                </a:solidFill>
                <a:latin typeface="Microsoft YaHei"/>
              </a:rPr>
              <a:t>●  </a:t>
            </a:r>
            <a:r>
              <a:rPr sz="1500">
                <a:solidFill>
                  <a:srgbClr val="222222"/>
                </a:solidFill>
                <a:latin typeface="Microsoft YaHei"/>
              </a:rPr>
              <a:t>穿透股价看企业,穿透产业看创新,穿透创新看企业家,穿透企业家看中国生态伙伴。</a:t>
            </a:r>
          </a:p>
          <a:p>
            <a:pPr algn="l">
              <a:lnSpc>
                <a:spcPct val="125000"/>
              </a:lnSpc>
            </a:pPr>
            <a:r>
              <a:rPr sz="1500">
                <a:solidFill>
                  <a:srgbClr val="C9A227"/>
                </a:solidFill>
                <a:latin typeface="Microsoft YaHei"/>
              </a:rPr>
              <a:t>●  </a:t>
            </a:r>
            <a:r>
              <a:rPr sz="1500">
                <a:solidFill>
                  <a:srgbClr val="222222"/>
                </a:solidFill>
                <a:latin typeface="Microsoft YaHei"/>
              </a:rPr>
              <a:t>5500只票只跟踪200只;一年内,3个月内不翻倍几乎不可能。</a:t>
            </a:r>
          </a:p>
          <a:p>
            <a:pPr algn="l">
              <a:lnSpc>
                <a:spcPct val="125000"/>
              </a:lnSpc>
            </a:pPr>
            <a:r>
              <a:rPr sz="1500">
                <a:solidFill>
                  <a:srgbClr val="C9A227"/>
                </a:solidFill>
                <a:latin typeface="Microsoft YaHei"/>
              </a:rPr>
              <a:t>●  </a:t>
            </a:r>
            <a:r>
              <a:rPr sz="1500">
                <a:solidFill>
                  <a:srgbClr val="222222"/>
                </a:solidFill>
                <a:latin typeface="Microsoft YaHei"/>
              </a:rPr>
              <a:t>能上链的就上链;不能上链的回避(传统行业未来没机会)。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</a:rPr>
              <a:t>说话人1 投资观点 · 2026-05-17 投资领域交流探讨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B6B6B"/>
                </a:solidFill>
                <a:latin typeface="Microsoft YaHe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08960"/>
            <a:ext cx="12191695" cy="36576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194560"/>
            <a:ext cx="10698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Microsoft YaHei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2918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C9A227"/>
                </a:solidFill>
                <a:latin typeface="Microsoft YaHei"/>
              </a:rPr>
              <a:t>穿透赛道,把握溢价。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84048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F5F1E6"/>
                </a:solidFill>
                <a:latin typeface="Microsoft YaHei"/>
              </a:rPr>
              <a:t>—— 说话人1 投资观点纪要 · 2026-05-17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