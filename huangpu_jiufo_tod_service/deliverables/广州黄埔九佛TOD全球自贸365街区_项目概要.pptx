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872000"/>
            <a:ext cx="10368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</a:pPr>
            <a:r>
              <a:rPr sz="3400" b="1">
                <a:solidFill>
                  <a:srgbClr val="FFFFFF"/>
                </a:solidFill>
                <a:latin typeface="微软雅黑"/>
              </a:rPr>
              <a:t>广州黄埔区九佛TOD“全球自贸365街区”项目</a:t>
            </a:r>
          </a:p>
          <a:p>
            <a:pPr algn="ctr">
              <a:spcAft>
                <a:spcPts val="2800"/>
              </a:spcAft>
            </a:pPr>
            <a:r>
              <a:rPr sz="4800" b="1">
                <a:solidFill>
                  <a:srgbClr val="FFFFFF"/>
                </a:solidFill>
                <a:latin typeface="微软雅黑"/>
              </a:rPr>
              <a:t>项目概要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9E2F3"/>
                </a:solidFill>
                <a:latin typeface="微软雅黑"/>
              </a:rPr>
              <a:t>提供方:复旦大学住房政策研究中心、上海市杨浦区科技企业联合会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D9E2F3"/>
                </a:solidFill>
                <a:latin typeface="微软雅黑"/>
              </a:rP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微软雅黑"/>
              </a:rPr>
              <a:t>一、“全球自贸365街区”概念与项目定位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152000"/>
            <a:ext cx="10908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0">
                <a:solidFill>
                  <a:srgbClr val="262626"/>
                </a:solidFill>
                <a:latin typeface="微软雅黑"/>
              </a:rPr>
              <a:t>■ 依托九佛TOD交通枢纽、广州黄埔综合保税区升级自贸区契机与广交会365天延展需求,打造“珠三角全球自贸区先行示范街区+品牌出海商贸3.0基地”,建设知识城全球数字贸易港。</a:t>
            </a:r>
          </a:p>
          <a:p>
            <a:pPr>
              <a:spcAft>
                <a:spcPts val="1800"/>
              </a:spcAft>
            </a:pPr>
            <a:r>
              <a:rPr sz="1900" b="0">
                <a:solidFill>
                  <a:srgbClr val="262626"/>
                </a:solidFill>
                <a:latin typeface="微软雅黑"/>
              </a:rPr>
              <a:t>■ 核心内容围绕国家馆/城市会客厅、海外展品与进口体验、支柱产业与特色赛道展示交易、保税+免税核心区、跨境电商总部与创业孵化等展开,形成365天永不落幕的展销中心。</a:t>
            </a:r>
          </a:p>
          <a:p>
            <a:pPr>
              <a:spcAft>
                <a:spcPts val="1800"/>
              </a:spcAft>
            </a:pPr>
            <a:r>
              <a:rPr sz="1900" b="0">
                <a:solidFill>
                  <a:srgbClr val="262626"/>
                </a:solidFill>
                <a:latin typeface="微软雅黑"/>
              </a:rPr>
              <a:t>■ 关键资源在于海关、综合保税区/自贸区政策、商务局/商务委、领事馆等;须优先打通海关“四自一简”监管、即买即退、免税/关税与进出口合规路径,否则难以形成真正的自贸区/贸易港效果。</a:t>
            </a:r>
          </a:p>
          <a:p>
            <a:pPr>
              <a:spcAft>
                <a:spcPts val="1800"/>
              </a:spcAft>
            </a:pPr>
            <a:r>
              <a:rPr sz="1900" b="0">
                <a:solidFill>
                  <a:srgbClr val="262626"/>
                </a:solidFill>
                <a:latin typeface="微软雅黑"/>
              </a:rPr>
              <a:t>■ 起步策略:采用轻资产运营,以快闪店、小型城市中心展示、线上线下联动等轻量模式切入,分期推进,不宜一开始做得过大。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微软雅黑"/>
              </a:rPr>
              <a:t>二、产业方向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080000"/>
            <a:ext cx="1090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95959"/>
                </a:solidFill>
                <a:latin typeface="微软雅黑"/>
              </a:rPr>
              <a:t>在潮玩、文创和IP基础上,叠加黄埔/广州出口优势品类与高科技产业方向: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55999"/>
            <a:ext cx="10908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1">
                <a:solidFill>
                  <a:srgbClr val="1F4E79"/>
                </a:solidFill>
                <a:latin typeface="微软雅黑"/>
              </a:rPr>
              <a:t>■ 出海新三样:</a:t>
            </a:r>
            <a:r>
              <a:rPr sz="1900" b="0">
                <a:solidFill>
                  <a:srgbClr val="262626"/>
                </a:solidFill>
                <a:latin typeface="微软雅黑"/>
              </a:rPr>
              <a:t>新能源汽车、锂电池、太阳能光伏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1F4E79"/>
                </a:solidFill>
                <a:latin typeface="微软雅黑"/>
              </a:rPr>
              <a:t>■ 黄埔支柱产业:</a:t>
            </a:r>
            <a:r>
              <a:rPr sz="1900" b="0">
                <a:solidFill>
                  <a:srgbClr val="262626"/>
                </a:solidFill>
                <a:latin typeface="微软雅黑"/>
              </a:rPr>
              <a:t>汽车零部件、生物医药、集成电路、机电产品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1F4E79"/>
                </a:solidFill>
                <a:latin typeface="微软雅黑"/>
              </a:rPr>
              <a:t>■ 特色高增长赛道:</a:t>
            </a:r>
            <a:r>
              <a:rPr sz="1900" b="0">
                <a:solidFill>
                  <a:srgbClr val="262626"/>
                </a:solidFill>
                <a:latin typeface="微软雅黑"/>
              </a:rPr>
              <a:t>黄金珠宝、文创潮玩IP、美妆洗护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1F4E79"/>
                </a:solidFill>
                <a:latin typeface="微软雅黑"/>
              </a:rPr>
              <a:t>■ 高科技与具身智能:</a:t>
            </a:r>
            <a:r>
              <a:rPr sz="1900" b="0">
                <a:solidFill>
                  <a:srgbClr val="262626"/>
                </a:solidFill>
                <a:latin typeface="微软雅黑"/>
              </a:rPr>
              <a:t>具身智能、人工智能产品、创新生物医药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1F4E79"/>
                </a:solidFill>
                <a:latin typeface="微软雅黑"/>
              </a:rPr>
              <a:t>■ 数字内容与AI应用:</a:t>
            </a:r>
            <a:r>
              <a:rPr sz="1900" b="0">
                <a:solidFill>
                  <a:srgbClr val="262626"/>
                </a:solidFill>
                <a:latin typeface="微软雅黑"/>
              </a:rPr>
              <a:t>内容出海、数字内容、微短剧、AIGC出海应用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1F4E79"/>
                </a:solidFill>
                <a:latin typeface="微软雅黑"/>
              </a:rPr>
              <a:t>■ 跨境贸易:</a:t>
            </a:r>
            <a:r>
              <a:rPr sz="1900" b="0">
                <a:solidFill>
                  <a:srgbClr val="262626"/>
                </a:solidFill>
                <a:latin typeface="微软雅黑"/>
              </a:rPr>
              <a:t>跨境电商、国际电商平台(亚马逊/阿里国际/SHEIN等)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微软雅黑"/>
              </a:rPr>
              <a:t>三、下阶段重点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152000"/>
            <a:ext cx="1090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62626"/>
                </a:solidFill>
                <a:latin typeface="微软雅黑"/>
              </a:rPr>
              <a:t>以策划服务为主,围绕调研、政策研究、项目定位、资源整合、功能布局、出海路径、产业资源组织和后续运营思路,形成正式策划服务方案,支撑项目分期落地与招商运营。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2232000"/>
            <a:ext cx="109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微软雅黑"/>
              </a:rPr>
              <a:t>策划服务八大模块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736000"/>
            <a:ext cx="5400000" cy="3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  <a:latin typeface="微软雅黑"/>
              </a:rPr>
              <a:t>1. 现状调研与对标研究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  <a:latin typeface="微软雅黑"/>
              </a:rPr>
              <a:t>2. 政策研究与合规路径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  <a:latin typeface="微软雅黑"/>
              </a:rPr>
              <a:t>3. 项目定位与主题策划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  <a:latin typeface="微软雅黑"/>
              </a:rPr>
              <a:t>4. 功能布局与业态组合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8000" y="2736000"/>
            <a:ext cx="5400000" cy="3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  <a:latin typeface="微软雅黑"/>
              </a:rPr>
              <a:t>5. 产业方向与招商建议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  <a:latin typeface="微软雅黑"/>
              </a:rPr>
              <a:t>6. 出海路径与线上线下联动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  <a:latin typeface="微软雅黑"/>
              </a:rPr>
              <a:t>7. 资源整合与合作机制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  <a:latin typeface="微软雅黑"/>
              </a:rPr>
              <a:t>8. 运营思路与实施计划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微软雅黑"/>
              </a:rPr>
              <a:t>四、成果交付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152000"/>
            <a:ext cx="10908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0">
                <a:solidFill>
                  <a:srgbClr val="262626"/>
                </a:solidFill>
                <a:latin typeface="微软雅黑"/>
              </a:rPr>
              <a:t>■ 《广州黄埔区九佛TOD“全球自贸365街区”项目策划服务方案》(正式报告,Word/PDF)</a:t>
            </a:r>
          </a:p>
          <a:p>
            <a:pPr>
              <a:spcAft>
                <a:spcPts val="1800"/>
              </a:spcAft>
            </a:pPr>
            <a:r>
              <a:rPr sz="1900" b="0">
                <a:solidFill>
                  <a:srgbClr val="262626"/>
                </a:solidFill>
                <a:latin typeface="微软雅黑"/>
              </a:rPr>
              <a:t>■ 项目定位与功能布局专题汇报(PPT)</a:t>
            </a:r>
          </a:p>
          <a:p>
            <a:pPr>
              <a:spcAft>
                <a:spcPts val="1800"/>
              </a:spcAft>
            </a:pPr>
            <a:r>
              <a:rPr sz="1900" b="0">
                <a:solidFill>
                  <a:srgbClr val="262626"/>
                </a:solidFill>
                <a:latin typeface="微软雅黑"/>
              </a:rPr>
              <a:t>■ 政策研究与合规路径专题报告(综保区/自贸区/海关监管)</a:t>
            </a:r>
          </a:p>
          <a:p>
            <a:pPr>
              <a:spcAft>
                <a:spcPts val="1800"/>
              </a:spcAft>
            </a:pPr>
            <a:r>
              <a:rPr sz="1900" b="0">
                <a:solidFill>
                  <a:srgbClr val="262626"/>
                </a:solidFill>
                <a:latin typeface="微软雅黑"/>
              </a:rPr>
              <a:t>■ 产业资源清单与招商建议书(目标客商+招商政策)</a:t>
            </a:r>
          </a:p>
          <a:p>
            <a:pPr>
              <a:spcAft>
                <a:spcPts val="1800"/>
              </a:spcAft>
            </a:pPr>
            <a:r>
              <a:rPr sz="1900" b="0">
                <a:solidFill>
                  <a:srgbClr val="262626"/>
                </a:solidFill>
                <a:latin typeface="微软雅黑"/>
              </a:rPr>
              <a:t>■ 运营思路、收益测算框架与分阶段实施计划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微软雅黑"/>
              </a:rPr>
              <a:t>五、提资清单(摘要)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080000"/>
            <a:ext cx="109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微软雅黑"/>
              </a:rPr>
              <a:t>完整清单详见 Excel《提资清单与报价》。高优先级资料如下: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584000"/>
            <a:ext cx="5400000" cy="4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</a:rPr>
              <a:t>■ [项目基础资料] </a:t>
            </a:r>
            <a:r>
              <a:rPr sz="1600" b="0">
                <a:solidFill>
                  <a:srgbClr val="262626"/>
                </a:solidFill>
                <a:latin typeface="微软雅黑"/>
              </a:rPr>
              <a:t>九佛TOD地块红线图及权属资料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</a:rPr>
              <a:t>■ [项目基础资料] </a:t>
            </a:r>
            <a:r>
              <a:rPr sz="1600" b="0">
                <a:solidFill>
                  <a:srgbClr val="262626"/>
                </a:solidFill>
                <a:latin typeface="微软雅黑"/>
              </a:rPr>
              <a:t>地块及周边现状资料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</a:rPr>
              <a:t>■ [规划文件] </a:t>
            </a:r>
            <a:r>
              <a:rPr sz="1600" b="0">
                <a:solidFill>
                  <a:srgbClr val="262626"/>
                </a:solidFill>
                <a:latin typeface="微软雅黑"/>
              </a:rPr>
              <a:t>片区控规及TOD一体化规划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</a:rPr>
              <a:t>■ [政策文件] </a:t>
            </a:r>
            <a:r>
              <a:rPr sz="1600" b="0">
                <a:solidFill>
                  <a:srgbClr val="262626"/>
                </a:solidFill>
                <a:latin typeface="微软雅黑"/>
              </a:rPr>
              <a:t>综合保税区/自贸区相关政策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</a:rPr>
              <a:t>■ [政策文件] </a:t>
            </a:r>
            <a:r>
              <a:rPr sz="1600" b="0">
                <a:solidFill>
                  <a:srgbClr val="262626"/>
                </a:solidFill>
                <a:latin typeface="微软雅黑"/>
              </a:rPr>
              <a:t>免税/保税展示交易及跨境电商政策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28000" y="1584000"/>
            <a:ext cx="5400000" cy="4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</a:rPr>
              <a:t>■ [前期成果] </a:t>
            </a:r>
            <a:r>
              <a:rPr sz="1600" b="0">
                <a:solidFill>
                  <a:srgbClr val="262626"/>
                </a:solidFill>
                <a:latin typeface="微软雅黑"/>
              </a:rPr>
              <a:t>项目前期策划、可研或概念方案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</a:rPr>
              <a:t>■ [资源信息] </a:t>
            </a:r>
            <a:r>
              <a:rPr sz="1600" b="0">
                <a:solidFill>
                  <a:srgbClr val="262626"/>
                </a:solidFill>
                <a:latin typeface="微软雅黑"/>
              </a:rPr>
              <a:t>已对接的领事馆、商协会及企业资源清单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</a:rPr>
              <a:t>■ [资源信息] </a:t>
            </a:r>
            <a:r>
              <a:rPr sz="1600" b="0">
                <a:solidFill>
                  <a:srgbClr val="262626"/>
                </a:solidFill>
                <a:latin typeface="微软雅黑"/>
              </a:rPr>
              <a:t>海关、商务局/商务委等部门对接渠道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</a:rPr>
              <a:t>■ [工作机制] </a:t>
            </a:r>
            <a:r>
              <a:rPr sz="1600" b="0">
                <a:solidFill>
                  <a:srgbClr val="262626"/>
                </a:solidFill>
                <a:latin typeface="微软雅黑"/>
              </a:rPr>
              <a:t>项目对接人及决策机制说明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微软雅黑"/>
              </a:rPr>
              <a:t>六、服务报价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8000" y="1152000"/>
          <a:ext cx="10908000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5508000"/>
                <a:gridCol w="1980000"/>
              </a:tblGrid>
              <a:tr h="57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工作阶段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主要工作内容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报价(万元)</a:t>
                      </a:r>
                    </a:p>
                  </a:txBody>
                  <a:tcPr/>
                </a:tc>
              </a:tr>
              <a:tr h="57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</a:rPr>
                        <a:t>阶段一:调研与政策研究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</a:rPr>
                        <a:t>现状调研、案例对标、综保区/自贸区/海关监管与免税政策研究、合规路径梳理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</a:rPr>
                        <a:t>38</a:t>
                      </a:r>
                    </a:p>
                  </a:txBody>
                  <a:tcPr/>
                </a:tc>
              </a:tr>
              <a:tr h="57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</a:rPr>
                        <a:t>阶段二:定位与功能布局策划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</a:rPr>
                        <a:t>项目定位、主题策划、约46万㎡功能布局与业态组合、轻资产启动模式论证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</a:rPr>
                        <a:t>48</a:t>
                      </a:r>
                    </a:p>
                  </a:txBody>
                  <a:tcPr/>
                </a:tc>
              </a:tr>
              <a:tr h="57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</a:rPr>
                        <a:t>阶段三:产业资源整合与出海路径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</a:rPr>
                        <a:t>产业方向细化、目标客商与招商政策、资源整合、出海路径与线上线下联动设计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</a:rPr>
                        <a:t>42</a:t>
                      </a:r>
                    </a:p>
                  </a:txBody>
                  <a:tcPr/>
                </a:tc>
              </a:tr>
              <a:tr h="57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</a:rPr>
                        <a:t>阶段四:运营思路与实施计划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</a:rPr>
                        <a:t>运营模式、组织架构、收益测算框架(租金+资本溢出)、分阶段实施与成本回收计划、方案整合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</a:tr>
              <a:tr h="57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62626"/>
                          </a:solidFill>
                          <a:latin typeface="微软雅黑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4E79"/>
                          </a:solidFill>
                          <a:latin typeface="微软雅黑"/>
                        </a:rPr>
                        <a:t>160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8000" y="4752000"/>
            <a:ext cx="10908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微软雅黑"/>
              </a:rPr>
              <a:t>• 以上报价为含税参考价(人民币),最终价格以双方商务洽谈及合同为准。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微软雅黑"/>
              </a:rPr>
              <a:t>• 服务周期:合同签订并收到首笔款项及主要提资材料后约5个月(可按委托方需求调整)。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微软雅黑"/>
              </a:rPr>
              <a:t>• 付款建议:合同签订后支付40%,中期成果(阶段二)通过评审后支付30%,最终成果验收后支付30%。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微软雅黑"/>
              </a:rPr>
              <a:t>• 差旅费用:上海—广州往返差旅按实报销或包干另议。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2520000"/>
            <a:ext cx="10368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</a:pPr>
            <a:r>
              <a:rPr sz="4000" b="1">
                <a:solidFill>
                  <a:srgbClr val="FFFFFF"/>
                </a:solidFill>
                <a:latin typeface="微软雅黑"/>
              </a:rPr>
              <a:t>期待与您的合作</a:t>
            </a:r>
          </a:p>
          <a:p>
            <a:pPr algn="ctr">
              <a:spcAft>
                <a:spcPts val="800"/>
              </a:spcAft>
            </a:pPr>
            <a:r>
              <a:rPr sz="1800" b="0">
                <a:solidFill>
                  <a:srgbClr val="D9E2F3"/>
                </a:solidFill>
                <a:latin typeface="微软雅黑"/>
              </a:rPr>
              <a:t>复旦大学住房政策研究中心、上海市杨浦区科技企业联合会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