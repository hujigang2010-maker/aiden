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E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0000"/>
            <a:ext cx="144000" cy="504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24000" y="900000"/>
            <a:ext cx="144000" cy="504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080000"/>
            <a:ext cx="10800000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Microsoft YaHei"/>
              </a:rPr>
              <a:t>重构与突围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980000"/>
            <a:ext cx="10800000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600" b="1">
                <a:solidFill>
                  <a:srgbClr val="C9A227"/>
                </a:solidFill>
                <a:latin typeface="Microsoft YaHei"/>
              </a:rPr>
              <a:t>2026 人工智能商业化落地与硬核投资破局峰会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664000"/>
            <a:ext cx="1080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Microsoft YaHei"/>
              </a:rPr>
              <a:t>Sponsorship Prospectus  ·  招商赞助方案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3960000" y="3311999"/>
            <a:ext cx="4320000" cy="1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3456000"/>
            <a:ext cx="10800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YaHei"/>
              </a:rPr>
              <a:t>寻找 AI 时代的超级个体、新质资产与资本新风口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5544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主办：北京大学经济学院上海校友会  ·  复旦大学住房政策研究中心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5903999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>
                <a:solidFill>
                  <a:srgbClr val="C9A227"/>
                </a:solidFill>
                <a:latin typeface="Microsoft YaHei"/>
              </a:rPr>
              <a:t>席位倒计时：剩余 30 席深度合作 + 1 席独家总冠名  ·  截止 5 月 18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0E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2000" y="162000"/>
            <a:ext cx="144000" cy="251999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125999"/>
            <a:ext cx="7200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重构与突围 · 2026 AI 商业化峰会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125999"/>
            <a:ext cx="900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P01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720000"/>
            <a:ext cx="10800000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E1F44"/>
                </a:solidFill>
                <a:latin typeface="Microsoft YaHei"/>
              </a:rPr>
              <a:t>大会概览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224000"/>
            <a:ext cx="1080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Microsoft YaHei"/>
              </a:rPr>
              <a:t>Event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278000"/>
            <a:ext cx="900000" cy="28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0000" y="1872000"/>
            <a:ext cx="2736000" cy="115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0000" y="1872000"/>
            <a:ext cx="54000" cy="1152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1980000"/>
            <a:ext cx="255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Microsoft YaHei"/>
              </a:rPr>
              <a:t>规模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2268000"/>
            <a:ext cx="2556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E1F44"/>
                </a:solidFill>
                <a:latin typeface="Microsoft YaHei"/>
              </a:rPr>
              <a:t>500 位高净值嘉宾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0000" y="1872000"/>
            <a:ext cx="2736000" cy="115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0000" y="1872000"/>
            <a:ext cx="54000" cy="1152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4000" y="1980000"/>
            <a:ext cx="255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Microsoft YaHei"/>
              </a:rPr>
              <a:t>时长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4000" y="2268000"/>
            <a:ext cx="2556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E1F44"/>
                </a:solidFill>
                <a:latin typeface="Microsoft YaHei"/>
              </a:rPr>
              <a:t>8 小时议程 + 2.5 小时 VIP 闭门晚宴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1872000"/>
            <a:ext cx="2736000" cy="115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0000" y="1872000"/>
            <a:ext cx="54000" cy="1152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4000" y="1980000"/>
            <a:ext cx="255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Microsoft YaHei"/>
              </a:rPr>
              <a:t>城市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4000" y="2268000"/>
            <a:ext cx="2556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E1F44"/>
                </a:solidFill>
                <a:latin typeface="Microsoft YaHei"/>
              </a:rPr>
              <a:t>上海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0000" y="1872000"/>
            <a:ext cx="2736000" cy="115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0000" y="1872000"/>
            <a:ext cx="54000" cy="1152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4000" y="1980000"/>
            <a:ext cx="255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Microsoft YaHei"/>
              </a:rPr>
              <a:t>时间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4000" y="2268000"/>
            <a:ext cx="2556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E1F44"/>
                </a:solidFill>
                <a:latin typeface="Microsoft YaHei"/>
              </a:rPr>
              <a:t>2026 年 5 月（具体以邀请函为准）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000" y="3311999"/>
            <a:ext cx="1080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0E1F44"/>
                </a:solidFill>
                <a:latin typeface="Microsoft YaHei"/>
              </a:rPr>
              <a:t>主办与协办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0000" y="3671999"/>
            <a:ext cx="10800000" cy="180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4A4A4A"/>
                </a:solidFill>
                <a:latin typeface="Microsoft YaHei"/>
              </a:rPr>
              <a:t>•  主办：北京大学经济学院上海校友会、复旦大学住房政策研究中心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4A4A4A"/>
                </a:solidFill>
                <a:latin typeface="Microsoft YaHei"/>
              </a:rPr>
              <a:t>•  协办：上海市科技企业联合会  ·  上海市杨浦区科技企业联合会  ·  上海市虹口区科技企业联合会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4A4A4A"/>
                </a:solidFill>
                <a:latin typeface="Microsoft YaHei"/>
              </a:rPr>
              <a:t>•  协办：中东投资联盟  ·  中国商业文化研究会长三角分会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0E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2000" y="162000"/>
            <a:ext cx="144000" cy="251999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125999"/>
            <a:ext cx="7200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重构与突围 · 2026 AI 商业化峰会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125999"/>
            <a:ext cx="900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P02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720000"/>
            <a:ext cx="10800000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E1F44"/>
                </a:solidFill>
                <a:latin typeface="Microsoft YaHei"/>
              </a:rPr>
              <a:t>为什么赞助本次峰会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224000"/>
            <a:ext cx="1080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Microsoft YaHei"/>
              </a:rPr>
              <a:t>Why Sponsor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278000"/>
            <a:ext cx="900000" cy="28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0000" y="1800000"/>
            <a:ext cx="2736000" cy="3960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0000" y="1800000"/>
            <a:ext cx="2736000" cy="720000"/>
          </a:xfrm>
          <a:prstGeom prst="rect">
            <a:avLst/>
          </a:prstGeom>
          <a:solidFill>
            <a:srgbClr val="0E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000" y="1835999"/>
            <a:ext cx="72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000" y="1944000"/>
            <a:ext cx="1836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顶级嘉宾矩阵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000" y="2664000"/>
            <a:ext cx="2484001" cy="25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4A4A4A"/>
                </a:solidFill>
                <a:latin typeface="Microsoft YaHei"/>
              </a:rPr>
              <a:t>•  腾讯云 / 阿里云 / 火山引擎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4A4A4A"/>
                </a:solidFill>
                <a:latin typeface="Microsoft YaHei"/>
              </a:rPr>
              <a:t>•  白硕、夏春、孔华威、张露瑶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4A4A4A"/>
                </a:solidFill>
                <a:latin typeface="Microsoft YaHei"/>
              </a:rPr>
              <a:t>•  招商银行 / 长江证券 / 金浦投资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0000" y="1800000"/>
            <a:ext cx="2736000" cy="3960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0000" y="1800000"/>
            <a:ext cx="2736000" cy="720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0" y="1835999"/>
            <a:ext cx="72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0000" y="1944000"/>
            <a:ext cx="1836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高净值受众触达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4000" y="2664000"/>
            <a:ext cx="2484001" cy="25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4A4A4A"/>
                </a:solidFill>
                <a:latin typeface="Microsoft YaHei"/>
              </a:rPr>
              <a:t>•  上市公司董事长、独角兽高管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4A4A4A"/>
                </a:solidFill>
                <a:latin typeface="Microsoft YaHei"/>
              </a:rPr>
              <a:t>•  一二级市场基金合伙人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4A4A4A"/>
                </a:solidFill>
                <a:latin typeface="Microsoft YaHei"/>
              </a:rPr>
              <a:t>•  AI / 算力 / 大模型创始团队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0000" y="1800000"/>
            <a:ext cx="2736000" cy="3960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0000" y="1800000"/>
            <a:ext cx="2736000" cy="72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0000" y="1835999"/>
            <a:ext cx="72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0" y="1944000"/>
            <a:ext cx="1836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全场景品牌渗透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4000" y="2664000"/>
            <a:ext cx="2484001" cy="25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4A4A4A"/>
                </a:solidFill>
                <a:latin typeface="Microsoft YaHei"/>
              </a:rPr>
              <a:t>•  主视觉 → 易拉宝 → 议程手册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4A4A4A"/>
                </a:solidFill>
                <a:latin typeface="Microsoft YaHei"/>
              </a:rPr>
              <a:t>•  主舞台口播 → 晚宴主桌植入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4A4A4A"/>
                </a:solidFill>
                <a:latin typeface="Microsoft YaHei"/>
              </a:rPr>
              <a:t>•  白皮书 → 媒体通稿 → 朋友圈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0000" y="1800000"/>
            <a:ext cx="2736000" cy="3960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80000" y="1800000"/>
            <a:ext cx="2736000" cy="720000"/>
          </a:xfrm>
          <a:prstGeom prst="rect">
            <a:avLst/>
          </a:prstGeom>
          <a:solidFill>
            <a:srgbClr val="E34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60000" y="1835999"/>
            <a:ext cx="72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80000" y="1944000"/>
            <a:ext cx="1836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长效圈层沉淀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4000" y="2664000"/>
            <a:ext cx="2484001" cy="25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4A4A4A"/>
                </a:solidFill>
                <a:latin typeface="Microsoft YaHei"/>
              </a:rPr>
              <a:t>•  双校长三角校友产业联盟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4A4A4A"/>
                </a:solidFill>
                <a:latin typeface="Microsoft YaHei"/>
              </a:rPr>
              <a:t>•  杨浦区科技企业联合会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4A4A4A"/>
                </a:solidFill>
                <a:latin typeface="Microsoft YaHei"/>
              </a:rPr>
              <a:t>•  1V1 闭门嘉宾对接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0E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2000" y="162000"/>
            <a:ext cx="144000" cy="251999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125999"/>
            <a:ext cx="7200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重构与突围 · 2026 AI 商业化峰会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125999"/>
            <a:ext cx="900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P03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720000"/>
            <a:ext cx="10800000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E1F44"/>
                </a:solidFill>
                <a:latin typeface="Microsoft YaHei"/>
              </a:rPr>
              <a:t>受众画像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224000"/>
            <a:ext cx="1080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Microsoft YaHei"/>
              </a:rPr>
              <a:t>Audience Profile · 500 人高净值矩阵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278000"/>
            <a:ext cx="900000" cy="28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1980000"/>
            <a:ext cx="4680000" cy="503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Microsoft YaHei"/>
              </a:rPr>
              <a:t>上市公司 / 独角兽高管、董事长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0" y="1980000"/>
            <a:ext cx="5400000" cy="503999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00000" y="1980000"/>
            <a:ext cx="1350000" cy="503999"/>
          </a:xfrm>
          <a:prstGeom prst="rect">
            <a:avLst/>
          </a:prstGeom>
          <a:solidFill>
            <a:srgbClr val="0E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44000" y="1980000"/>
            <a:ext cx="900000" cy="503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600" b="1">
                <a:solidFill>
                  <a:srgbClr val="0E1F44"/>
                </a:solidFill>
                <a:latin typeface="Microsoft YaHei"/>
              </a:rPr>
              <a:t>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" y="2627999"/>
            <a:ext cx="4680000" cy="503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Microsoft YaHei"/>
              </a:rPr>
              <a:t>一二级市场基金合伙人、首席分析师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0" y="2627999"/>
            <a:ext cx="5400000" cy="503999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00000" y="2627999"/>
            <a:ext cx="1080000" cy="503999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44000" y="2627999"/>
            <a:ext cx="900000" cy="503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600" b="1">
                <a:solidFill>
                  <a:srgbClr val="0E1F44"/>
                </a:solidFill>
                <a:latin typeface="Microsoft YaHei"/>
              </a:rPr>
              <a:t>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" y="3275998"/>
            <a:ext cx="4680000" cy="503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Microsoft YaHei"/>
              </a:rPr>
              <a:t>AI / 算力 / 大模型创业团队创始人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0" y="3275998"/>
            <a:ext cx="5400000" cy="503999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00000" y="3275998"/>
            <a:ext cx="1350000" cy="503999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44000" y="3275998"/>
            <a:ext cx="900000" cy="503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600" b="1">
                <a:solidFill>
                  <a:srgbClr val="0E1F44"/>
                </a:solidFill>
                <a:latin typeface="Microsoft YaHei"/>
              </a:rPr>
              <a:t>25%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000" y="3923997"/>
            <a:ext cx="4680000" cy="503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Microsoft YaHei"/>
              </a:rPr>
              <a:t>北大、复旦双校核心校友与联盟会员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00000" y="3923997"/>
            <a:ext cx="5400000" cy="503999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00000" y="3923997"/>
            <a:ext cx="1080000" cy="503999"/>
          </a:xfrm>
          <a:prstGeom prst="rect">
            <a:avLst/>
          </a:prstGeom>
          <a:solidFill>
            <a:srgbClr val="E34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44000" y="3923997"/>
            <a:ext cx="900000" cy="503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600" b="1">
                <a:solidFill>
                  <a:srgbClr val="0E1F44"/>
                </a:solidFill>
                <a:latin typeface="Microsoft YaHei"/>
              </a:rPr>
              <a:t>20%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000" y="4571996"/>
            <a:ext cx="4680000" cy="503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Microsoft YaHei"/>
              </a:rPr>
              <a:t>政府、产业园区、媒体合作伙伴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00000" y="4571996"/>
            <a:ext cx="5400000" cy="503999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00000" y="4571996"/>
            <a:ext cx="540000" cy="503999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44000" y="4571996"/>
            <a:ext cx="900000" cy="503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600" b="1">
                <a:solidFill>
                  <a:srgbClr val="0E1F44"/>
                </a:solidFill>
                <a:latin typeface="Microsoft YaHei"/>
              </a:rPr>
              <a:t>10%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0E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2000" y="162000"/>
            <a:ext cx="144000" cy="251999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125999"/>
            <a:ext cx="7200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重构与突围 · 2026 AI 商业化峰会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125999"/>
            <a:ext cx="900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P04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720000"/>
            <a:ext cx="10800000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E1F44"/>
                </a:solidFill>
                <a:latin typeface="Microsoft YaHei"/>
              </a:rPr>
              <a:t>核心嘉宾阵容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224000"/>
            <a:ext cx="1080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Microsoft YaHei"/>
              </a:rPr>
              <a:t>Featured Speakers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278000"/>
            <a:ext cx="900000" cy="28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0000" y="1800000"/>
            <a:ext cx="2736000" cy="1224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0000" y="1800000"/>
            <a:ext cx="54000" cy="1224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1944000"/>
            <a:ext cx="2556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0E1F44"/>
                </a:solidFill>
                <a:latin typeface="Microsoft YaHei"/>
              </a:rPr>
              <a:t>白硕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2303999"/>
            <a:ext cx="2556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Microsoft YaHei"/>
              </a:rPr>
              <a:t>恒生研究院院长 / 前上交所总工程师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0000" y="1800000"/>
            <a:ext cx="2736000" cy="1224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0000" y="1800000"/>
            <a:ext cx="54000" cy="1224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4000" y="1944000"/>
            <a:ext cx="2556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0E1F44"/>
                </a:solidFill>
                <a:latin typeface="Microsoft YaHei"/>
              </a:rPr>
              <a:t>夏春 博士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4000" y="2303999"/>
            <a:ext cx="2556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Microsoft YaHei"/>
              </a:rPr>
              <a:t>香港国际金融学会副会长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1800000"/>
            <a:ext cx="2736000" cy="1224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0000" y="1800000"/>
            <a:ext cx="54000" cy="1224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4000" y="1944000"/>
            <a:ext cx="2556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0E1F44"/>
                </a:solidFill>
                <a:latin typeface="Microsoft YaHei"/>
              </a:rPr>
              <a:t>徐永泽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4000" y="2303999"/>
            <a:ext cx="2556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Microsoft YaHei"/>
              </a:rPr>
              <a:t>腾讯云副总裁、华东渠道生态总经理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0000" y="1800000"/>
            <a:ext cx="2736000" cy="1224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0000" y="1800000"/>
            <a:ext cx="54000" cy="1224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4000" y="1944000"/>
            <a:ext cx="2556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0E1F44"/>
                </a:solidFill>
                <a:latin typeface="Microsoft YaHei"/>
              </a:rPr>
              <a:t>吴晓东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4000" y="2303999"/>
            <a:ext cx="2556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Microsoft YaHei"/>
              </a:rPr>
              <a:t>阿里云华东大区总经理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0" y="3168000"/>
            <a:ext cx="2736000" cy="1224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0000" y="3168000"/>
            <a:ext cx="54000" cy="1224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4000" y="3312000"/>
            <a:ext cx="2556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0E1F44"/>
                </a:solidFill>
                <a:latin typeface="Microsoft YaHei"/>
              </a:rPr>
              <a:t>邵凝光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4000" y="3671999"/>
            <a:ext cx="2556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Microsoft YaHei"/>
              </a:rPr>
              <a:t>火山引擎华东生态渠道总经理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20000" y="3168000"/>
            <a:ext cx="2736000" cy="1224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0000" y="3168000"/>
            <a:ext cx="54000" cy="1224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4000" y="3312000"/>
            <a:ext cx="2556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0E1F44"/>
                </a:solidFill>
                <a:latin typeface="Microsoft YaHei"/>
              </a:rPr>
              <a:t>姚志勇 教授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4000" y="3671999"/>
            <a:ext cx="2556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Microsoft YaHei"/>
              </a:rPr>
              <a:t>复旦管院 / 北大经院上海校友会会长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0000" y="3168000"/>
            <a:ext cx="2736000" cy="1224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0000" y="3168000"/>
            <a:ext cx="54000" cy="1224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4000" y="3312000"/>
            <a:ext cx="2556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0E1F44"/>
                </a:solidFill>
                <a:latin typeface="Microsoft YaHei"/>
              </a:rPr>
              <a:t>王维军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4000" y="3671999"/>
            <a:ext cx="2556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Microsoft YaHei"/>
              </a:rPr>
              <a:t>泓塬资产董事长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80000" y="3168000"/>
            <a:ext cx="2736000" cy="1224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80000" y="3168000"/>
            <a:ext cx="54000" cy="1224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4000" y="3312000"/>
            <a:ext cx="2556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0E1F44"/>
                </a:solidFill>
                <a:latin typeface="Microsoft YaHei"/>
              </a:rPr>
              <a:t>张露瑶 博士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4000" y="3671999"/>
            <a:ext cx="2556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Microsoft YaHei"/>
              </a:rPr>
              <a:t>昆山杜克大学助理教授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0000" y="4536000"/>
            <a:ext cx="2736000" cy="1224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0000" y="4536000"/>
            <a:ext cx="54000" cy="1224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4000" y="4680000"/>
            <a:ext cx="2556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0E1F44"/>
                </a:solidFill>
                <a:latin typeface="Microsoft YaHei"/>
              </a:rPr>
              <a:t>孔华威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4000" y="5039999"/>
            <a:ext cx="2556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Microsoft YaHei"/>
              </a:rPr>
              <a:t>张江科创首席专家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20000" y="4536000"/>
            <a:ext cx="2736000" cy="1224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20000" y="4536000"/>
            <a:ext cx="54000" cy="1224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64000" y="4680000"/>
            <a:ext cx="2556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0E1F44"/>
                </a:solidFill>
                <a:latin typeface="Microsoft YaHei"/>
              </a:rPr>
              <a:t>曲承东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64000" y="5039999"/>
            <a:ext cx="2556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Microsoft YaHei"/>
              </a:rPr>
              <a:t>招商银行资金运营中心总经理助理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0000" y="4536000"/>
            <a:ext cx="2736000" cy="1224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00000" y="4536000"/>
            <a:ext cx="54000" cy="1224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4000" y="4680000"/>
            <a:ext cx="2556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0E1F44"/>
                </a:solidFill>
                <a:latin typeface="Microsoft YaHei"/>
              </a:rPr>
              <a:t>刘胜利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4000" y="5039999"/>
            <a:ext cx="2556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Microsoft YaHei"/>
              </a:rPr>
              <a:t>长江证券研究所金融工程首席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80000" y="4536000"/>
            <a:ext cx="2736000" cy="1224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80000" y="4536000"/>
            <a:ext cx="54000" cy="1224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24000" y="4680000"/>
            <a:ext cx="2556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0E1F44"/>
                </a:solidFill>
                <a:latin typeface="Microsoft YaHei"/>
              </a:rPr>
              <a:t>饶雪莹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24000" y="5039999"/>
            <a:ext cx="2556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Microsoft YaHei"/>
              </a:rPr>
              <a:t>金浦投资金融科技基金合伙人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0E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2000" y="162000"/>
            <a:ext cx="144000" cy="251999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125999"/>
            <a:ext cx="7200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重构与突围 · 2026 AI 商业化峰会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125999"/>
            <a:ext cx="900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P05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720000"/>
            <a:ext cx="10800000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E1F44"/>
                </a:solidFill>
                <a:latin typeface="Microsoft YaHei"/>
              </a:rPr>
              <a:t>全天议程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224000"/>
            <a:ext cx="1080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Microsoft YaHei"/>
              </a:rPr>
              <a:t>Full-Day 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278000"/>
            <a:ext cx="900000" cy="28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0000" y="1728000"/>
            <a:ext cx="11088000" cy="34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000" y="1728000"/>
            <a:ext cx="198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0E1F44"/>
                </a:solidFill>
                <a:latin typeface="Microsoft YaHei"/>
              </a:rPr>
              <a:t>13:30–13:35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8000" y="1728000"/>
            <a:ext cx="900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Microsoft YaHei"/>
              </a:rPr>
              <a:t>开幕致辞 · 姚志勇教授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2070000"/>
            <a:ext cx="11088000" cy="34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000" y="2070000"/>
            <a:ext cx="198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0E1F44"/>
                </a:solidFill>
                <a:latin typeface="Microsoft YaHei"/>
              </a:rPr>
              <a:t>13:35–14:00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8000" y="2070000"/>
            <a:ext cx="900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Microsoft YaHei"/>
              </a:rPr>
              <a:t>主旨演讲 1 · 白硕《大模型时代的底层架构突围与商业闭环》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2412000"/>
            <a:ext cx="11088000" cy="34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000" y="2412000"/>
            <a:ext cx="198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0E1F44"/>
                </a:solidFill>
                <a:latin typeface="Microsoft YaHei"/>
              </a:rPr>
              <a:t>14:00–14:25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8000" y="2412000"/>
            <a:ext cx="900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Microsoft YaHei"/>
              </a:rPr>
              <a:t>主旨演讲 2 · 夏春博士《AI 如何改变我们的生活与投资》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" y="2754000"/>
            <a:ext cx="11088000" cy="34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000" y="2754000"/>
            <a:ext cx="198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0E1F44"/>
                </a:solidFill>
                <a:latin typeface="Microsoft YaHei"/>
              </a:rPr>
              <a:t>14:25–15:00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28000" y="2754000"/>
            <a:ext cx="900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Microsoft YaHei"/>
              </a:rPr>
              <a:t>圆桌一 · AI 硬核圆桌：技术突围与新质生产力落地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0" y="3096000"/>
            <a:ext cx="11088000" cy="34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000" y="3096000"/>
            <a:ext cx="198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0E1F44"/>
                </a:solidFill>
                <a:latin typeface="Microsoft YaHei"/>
              </a:rPr>
              <a:t>15:00–15:30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28000" y="3096000"/>
            <a:ext cx="900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Microsoft YaHei"/>
              </a:rPr>
              <a:t>巅峰对话 · 云端生态与 AI 商业化“天花板”（腾讯/阿里/字节）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0000" y="3438000"/>
            <a:ext cx="11088000" cy="34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000" y="3438000"/>
            <a:ext cx="198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0E1F44"/>
                </a:solidFill>
                <a:latin typeface="Microsoft YaHei"/>
              </a:rPr>
              <a:t>15:30–16:20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28000" y="3438000"/>
            <a:ext cx="900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Microsoft YaHei"/>
              </a:rPr>
              <a:t>中场 · 陆家嘴金融城管弦乐团 · 时光音乐会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0000" y="3780000"/>
            <a:ext cx="11088000" cy="34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8000" y="3780000"/>
            <a:ext cx="198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0E1F44"/>
                </a:solidFill>
                <a:latin typeface="Microsoft YaHei"/>
              </a:rPr>
              <a:t>16:20–16:40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28000" y="3780000"/>
            <a:ext cx="900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Microsoft YaHei"/>
              </a:rPr>
              <a:t>主旨演讲 3 · 王维军《特殊机遇/不良资产投资的新机遇》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0000" y="4122000"/>
            <a:ext cx="11088000" cy="34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000" y="4122000"/>
            <a:ext cx="198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0E1F44"/>
                </a:solidFill>
                <a:latin typeface="Microsoft YaHei"/>
              </a:rPr>
              <a:t>16:40–17:00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28000" y="4122000"/>
            <a:ext cx="900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Microsoft YaHei"/>
              </a:rPr>
              <a:t>主旨演讲 4 · 寇文红《从自然利率下降到 K 型经济》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0" y="4464000"/>
            <a:ext cx="11088000" cy="34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000" y="4464000"/>
            <a:ext cx="198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0E1F44"/>
                </a:solidFill>
                <a:latin typeface="Microsoft YaHei"/>
              </a:rPr>
              <a:t>17:00–17:20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28000" y="4464000"/>
            <a:ext cx="900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Microsoft YaHei"/>
              </a:rPr>
              <a:t>主旨演讲 5 · 张露瑶博士《当经济学遇见 AI 与量子计算》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0000" y="4806000"/>
            <a:ext cx="11088000" cy="34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000" y="4806000"/>
            <a:ext cx="198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0E1F44"/>
                </a:solidFill>
                <a:latin typeface="Microsoft YaHei"/>
              </a:rPr>
              <a:t>17:20–17:55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28000" y="4806000"/>
            <a:ext cx="900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Microsoft YaHei"/>
              </a:rPr>
              <a:t>圆桌二 · 投资大圆桌：寻找新质资产风口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0000" y="5148000"/>
            <a:ext cx="11088000" cy="34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8000" y="5148000"/>
            <a:ext cx="198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0E1F44"/>
                </a:solidFill>
                <a:latin typeface="Microsoft YaHei"/>
              </a:rPr>
              <a:t>17:55–18:10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28000" y="5148000"/>
            <a:ext cx="900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Microsoft YaHei"/>
              </a:rPr>
              <a:t>第三届 2026 人工智能商业化落地颁奖典礼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0000" y="5490000"/>
            <a:ext cx="11088000" cy="34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8000" y="5490000"/>
            <a:ext cx="198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0E1F44"/>
                </a:solidFill>
                <a:latin typeface="Microsoft YaHei"/>
              </a:rPr>
              <a:t>18:10–20:30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28000" y="5490000"/>
            <a:ext cx="900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Microsoft YaHei"/>
              </a:rPr>
              <a:t>VIP 高端闭门晚宴（500 人圈层社交）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0E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2000" y="162000"/>
            <a:ext cx="144000" cy="251999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125999"/>
            <a:ext cx="7200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重构与突围 · 2026 AI 商业化峰会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125999"/>
            <a:ext cx="900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P06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720000"/>
            <a:ext cx="10800000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E1F44"/>
                </a:solidFill>
                <a:latin typeface="Microsoft YaHei"/>
              </a:rPr>
              <a:t>赞助方案总览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224000"/>
            <a:ext cx="1080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Microsoft YaHei"/>
              </a:rPr>
              <a:t>Sponsorship Tiers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278000"/>
            <a:ext cx="900000" cy="28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0000" y="1728000"/>
            <a:ext cx="3708000" cy="223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0000" y="1728000"/>
            <a:ext cx="3708000" cy="54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000" y="1836000"/>
            <a:ext cx="3348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独家总冠名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2376000"/>
            <a:ext cx="3348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0E1F44"/>
                </a:solidFill>
                <a:latin typeface="Microsoft YaHei"/>
              </a:rPr>
              <a:t>面议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2916000"/>
            <a:ext cx="3348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Microsoft YaHei"/>
              </a:rPr>
              <a:t>名额：1 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3240000"/>
            <a:ext cx="3348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Microsoft YaHei"/>
              </a:rPr>
              <a:t>大会冠名 + 主旨演讲 + 晚宴主桌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2000" y="1728000"/>
            <a:ext cx="3708000" cy="223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2000" y="1728000"/>
            <a:ext cx="3708000" cy="540000"/>
          </a:xfrm>
          <a:prstGeom prst="rect">
            <a:avLst/>
          </a:prstGeom>
          <a:solidFill>
            <a:srgbClr val="0E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836000"/>
            <a:ext cx="3348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钻石赞助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376000"/>
            <a:ext cx="3348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0E1F44"/>
                </a:solidFill>
                <a:latin typeface="Microsoft YaHei"/>
              </a:rPr>
              <a:t>￥50,000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916000"/>
            <a:ext cx="3348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Microsoft YaHei"/>
              </a:rPr>
              <a:t>名额：3 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240000"/>
            <a:ext cx="3348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Microsoft YaHei"/>
              </a:rPr>
              <a:t>圆桌席位 + 颁奖 + 5 张晚宴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44000" y="1728000"/>
            <a:ext cx="3708000" cy="223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44000" y="1728000"/>
            <a:ext cx="3708000" cy="540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24000" y="1836000"/>
            <a:ext cx="3348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铂金赞助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4000" y="2376000"/>
            <a:ext cx="3348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0E1F44"/>
                </a:solidFill>
                <a:latin typeface="Microsoft YaHei"/>
              </a:rPr>
              <a:t>￥30,000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4000" y="2916000"/>
            <a:ext cx="3348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Microsoft YaHei"/>
              </a:rPr>
              <a:t>名额：5 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4000" y="3240000"/>
            <a:ext cx="3348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Microsoft YaHei"/>
              </a:rPr>
              <a:t>音乐会鸣谢 + 专属展位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0000" y="4104000"/>
            <a:ext cx="3708000" cy="223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0000" y="4104000"/>
            <a:ext cx="3708000" cy="540000"/>
          </a:xfrm>
          <a:prstGeom prst="rect">
            <a:avLst/>
          </a:prstGeom>
          <a:solidFill>
            <a:srgbClr val="E34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0000" y="4212000"/>
            <a:ext cx="3348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黄金赞助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000" y="4752000"/>
            <a:ext cx="3348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0E1F44"/>
                </a:solidFill>
                <a:latin typeface="Microsoft YaHei"/>
              </a:rPr>
              <a:t>￥10,000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0000" y="5292000"/>
            <a:ext cx="3348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Microsoft YaHei"/>
              </a:rPr>
              <a:t>名额：8 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000" y="5616000"/>
            <a:ext cx="3348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Microsoft YaHei"/>
              </a:rPr>
              <a:t>官网/大屏滚动 + 手册广告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92000" y="4104000"/>
            <a:ext cx="3708000" cy="223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92000" y="4104000"/>
            <a:ext cx="3708000" cy="54000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0" y="4212000"/>
            <a:ext cx="3348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资源置换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752000"/>
            <a:ext cx="3348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0E1F44"/>
                </a:solidFill>
                <a:latin typeface="Microsoft YaHei"/>
              </a:rPr>
              <a:t>实物 / 服务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5292000"/>
            <a:ext cx="3348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Microsoft YaHei"/>
              </a:rPr>
              <a:t>名额：限定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5616000"/>
            <a:ext cx="3348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Microsoft YaHei"/>
              </a:rPr>
              <a:t>用酒 / 伴手礼 / 影像 / 出行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44000" y="4104000"/>
            <a:ext cx="3708000" cy="223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44000" y="4104000"/>
            <a:ext cx="3708000" cy="540000"/>
          </a:xfrm>
          <a:prstGeom prst="rect">
            <a:avLst/>
          </a:prstGeom>
          <a:solidFill>
            <a:srgbClr val="5C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24000" y="4212000"/>
            <a:ext cx="3348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基础曝光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24000" y="4752000"/>
            <a:ext cx="3348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0E1F44"/>
                </a:solidFill>
                <a:latin typeface="Microsoft YaHei"/>
              </a:rPr>
              <a:t>￥1,500/位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24000" y="5292000"/>
            <a:ext cx="3348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Microsoft YaHei"/>
              </a:rPr>
              <a:t>名额：不限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24000" y="5616000"/>
            <a:ext cx="3348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Microsoft YaHei"/>
              </a:rPr>
              <a:t>核心动线易拉宝 1 个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0E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2000" y="162000"/>
            <a:ext cx="144000" cy="251999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125999"/>
            <a:ext cx="7200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重构与突围 · 2026 AI 商业化峰会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125999"/>
            <a:ext cx="900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P07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720000"/>
            <a:ext cx="10800000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E1F44"/>
                </a:solidFill>
                <a:latin typeface="Microsoft YaHei"/>
              </a:rPr>
              <a:t>独家总冠名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224000"/>
            <a:ext cx="1080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Microsoft YaHei"/>
              </a:rPr>
              <a:t>Title Sponsor · 仅 1 席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278000"/>
            <a:ext cx="900000" cy="28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0000" y="1728000"/>
            <a:ext cx="2520000" cy="414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80000"/>
            <a:ext cx="2520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000" b="0">
                <a:solidFill>
                  <a:srgbClr val="FFFFFF"/>
                </a:solidFill>
                <a:latin typeface="Microsoft YaHei"/>
              </a:rPr>
              <a:t>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3600000"/>
            <a:ext cx="2520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TITLE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SPONSOR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4968000"/>
            <a:ext cx="2520000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仅 1 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1999" y="1800000"/>
            <a:ext cx="8280000" cy="576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1999" y="1800000"/>
            <a:ext cx="54000" cy="576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0000" y="1800000"/>
            <a:ext cx="1620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600" b="1">
                <a:solidFill>
                  <a:srgbClr val="0E1F44"/>
                </a:solidFill>
                <a:latin typeface="Microsoft YaHei"/>
              </a:rPr>
              <a:t>品牌冠名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0000" y="1800000"/>
            <a:ext cx="6480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Microsoft YaHei"/>
              </a:rPr>
              <a:t>大会全称升级为「【您的品牌】· 重构与突围 — 2026 AI 商业化峰会」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1999" y="2466000"/>
            <a:ext cx="8280000" cy="576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11999" y="2466000"/>
            <a:ext cx="54000" cy="576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0000" y="2466000"/>
            <a:ext cx="1620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600" b="1">
                <a:solidFill>
                  <a:srgbClr val="0E1F44"/>
                </a:solidFill>
                <a:latin typeface="Microsoft YaHei"/>
              </a:rPr>
              <a:t>主旨发声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0000" y="2466000"/>
            <a:ext cx="6480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Microsoft YaHei"/>
              </a:rPr>
              <a:t>第一篇章 15 分钟独立主旨演讲席位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1999" y="3132000"/>
            <a:ext cx="8280000" cy="576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11999" y="3132000"/>
            <a:ext cx="54000" cy="576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0000" y="3132000"/>
            <a:ext cx="1620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600" b="1">
                <a:solidFill>
                  <a:srgbClr val="0E1F44"/>
                </a:solidFill>
                <a:latin typeface="Microsoft YaHei"/>
              </a:rPr>
              <a:t>圆桌定制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0000" y="3132000"/>
            <a:ext cx="6480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Microsoft YaHei"/>
              </a:rPr>
              <a:t>独家指派 1 名高管进入 AI 硬核 / 投资大圆桌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1999" y="3798000"/>
            <a:ext cx="8280000" cy="576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11999" y="3798000"/>
            <a:ext cx="54000" cy="576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0000" y="3798000"/>
            <a:ext cx="1620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600" b="1">
                <a:solidFill>
                  <a:srgbClr val="0E1F44"/>
                </a:solidFill>
                <a:latin typeface="Microsoft YaHei"/>
              </a:rPr>
              <a:t>晚宴主场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0000" y="3798000"/>
            <a:ext cx="6480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Microsoft YaHei"/>
              </a:rPr>
              <a:t>VIP 闭门晚宴主桌核心席位 3 人 + 联合主办方致祝酒辞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11999" y="4464000"/>
            <a:ext cx="8280000" cy="576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11999" y="4464000"/>
            <a:ext cx="54000" cy="576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0000" y="4464000"/>
            <a:ext cx="1620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600" b="1">
                <a:solidFill>
                  <a:srgbClr val="0E1F44"/>
                </a:solidFill>
                <a:latin typeface="Microsoft YaHei"/>
              </a:rPr>
              <a:t>全域霸屏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0000" y="4464000"/>
            <a:ext cx="6480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Microsoft YaHei"/>
              </a:rPr>
              <a:t>主背景板顶级 Logo + 白皮书扉页 + 媒体通稿标题级露出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11999" y="5130000"/>
            <a:ext cx="8280000" cy="576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11999" y="5130000"/>
            <a:ext cx="54000" cy="576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20000" y="5130000"/>
            <a:ext cx="1620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600" b="1">
                <a:solidFill>
                  <a:srgbClr val="0E1F44"/>
                </a:solidFill>
                <a:latin typeface="Microsoft YaHei"/>
              </a:rPr>
              <a:t>资源沉淀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0000" y="5130000"/>
            <a:ext cx="6480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Microsoft YaHei"/>
              </a:rPr>
              <a:t>双校长三角校友产业联盟战略合作伙伴永久入册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0E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2000" y="162000"/>
            <a:ext cx="144000" cy="251999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125999"/>
            <a:ext cx="7200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重构与突围 · 2026 AI 商业化峰会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125999"/>
            <a:ext cx="900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P08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720000"/>
            <a:ext cx="10800000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E1F44"/>
                </a:solidFill>
                <a:latin typeface="Microsoft YaHei"/>
              </a:rPr>
              <a:t>权益对比矩阵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224000"/>
            <a:ext cx="1080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Microsoft YaHei"/>
              </a:rPr>
              <a:t>Rights Comparison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278000"/>
            <a:ext cx="900000" cy="28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0000" y="1728000"/>
            <a:ext cx="2880000" cy="342000"/>
          </a:xfrm>
          <a:prstGeom prst="rect">
            <a:avLst/>
          </a:prstGeom>
          <a:solidFill>
            <a:srgbClr val="0E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728000"/>
            <a:ext cx="288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权益项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0000" y="1728000"/>
            <a:ext cx="1692000" cy="342000"/>
          </a:xfrm>
          <a:prstGeom prst="rect">
            <a:avLst/>
          </a:prstGeom>
          <a:solidFill>
            <a:srgbClr val="0E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0000" y="1728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总冠名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12000" y="1728000"/>
            <a:ext cx="1692000" cy="342000"/>
          </a:xfrm>
          <a:prstGeom prst="rect">
            <a:avLst/>
          </a:prstGeom>
          <a:solidFill>
            <a:srgbClr val="0E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12000" y="1728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钻石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04000" y="1728000"/>
            <a:ext cx="1692000" cy="342000"/>
          </a:xfrm>
          <a:prstGeom prst="rect">
            <a:avLst/>
          </a:prstGeom>
          <a:solidFill>
            <a:srgbClr val="0E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4000" y="1728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铂金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96000" y="1728000"/>
            <a:ext cx="1692000" cy="342000"/>
          </a:xfrm>
          <a:prstGeom prst="rect">
            <a:avLst/>
          </a:prstGeom>
          <a:solidFill>
            <a:srgbClr val="0E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96000" y="1728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黄金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88000" y="1728000"/>
            <a:ext cx="1440000" cy="342000"/>
          </a:xfrm>
          <a:prstGeom prst="rect">
            <a:avLst/>
          </a:prstGeom>
          <a:solidFill>
            <a:srgbClr val="0E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88000" y="1728000"/>
            <a:ext cx="144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基础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0" y="2070000"/>
            <a:ext cx="2880000" cy="34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000" y="2070000"/>
            <a:ext cx="288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0E1F44"/>
                </a:solidFill>
                <a:latin typeface="Microsoft YaHei"/>
              </a:rPr>
              <a:t>大会冠名权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20000" y="2070000"/>
            <a:ext cx="1692000" cy="34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0000" y="2070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C9A227"/>
                </a:solidFill>
                <a:latin typeface="Microsoft YaHei"/>
              </a:rPr>
              <a:t>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12000" y="2070000"/>
            <a:ext cx="1692000" cy="34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12000" y="2070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04000" y="2070000"/>
            <a:ext cx="1692000" cy="34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04000" y="2070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96000" y="2070000"/>
            <a:ext cx="1692000" cy="34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96000" y="2070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88000" y="2070000"/>
            <a:ext cx="1440000" cy="34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88000" y="2070000"/>
            <a:ext cx="144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0" y="2412000"/>
            <a:ext cx="2880000" cy="34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000" y="2412000"/>
            <a:ext cx="288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0E1F44"/>
                </a:solidFill>
                <a:latin typeface="Microsoft YaHei"/>
              </a:rPr>
              <a:t>独立主旨演讲（15 min）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20000" y="2412000"/>
            <a:ext cx="1692000" cy="34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20000" y="2412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C9A227"/>
                </a:solidFill>
                <a:latin typeface="Microsoft YaHei"/>
              </a:rPr>
              <a:t>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12000" y="2412000"/>
            <a:ext cx="1692000" cy="34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12000" y="2412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04000" y="2412000"/>
            <a:ext cx="1692000" cy="34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04000" y="2412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96000" y="2412000"/>
            <a:ext cx="1692000" cy="34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96000" y="2412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88000" y="2412000"/>
            <a:ext cx="1440000" cy="34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88000" y="2412000"/>
            <a:ext cx="144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0000" y="2754000"/>
            <a:ext cx="2880000" cy="34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8000" y="2754000"/>
            <a:ext cx="288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0E1F44"/>
                </a:solidFill>
                <a:latin typeface="Microsoft YaHei"/>
              </a:rPr>
              <a:t>圆桌论坛对话席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20000" y="2754000"/>
            <a:ext cx="1692000" cy="34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20000" y="2754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C9A227"/>
                </a:solidFill>
                <a:latin typeface="Microsoft YaHei"/>
              </a:rPr>
              <a:t>●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12000" y="2754000"/>
            <a:ext cx="1692000" cy="34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12000" y="2754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● 限 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04000" y="2754000"/>
            <a:ext cx="1692000" cy="34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04000" y="2754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96000" y="2754000"/>
            <a:ext cx="1692000" cy="34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96000" y="2754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188000" y="2754000"/>
            <a:ext cx="1440000" cy="34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188000" y="2754000"/>
            <a:ext cx="144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0000" y="3096000"/>
            <a:ext cx="2880000" cy="34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8000" y="3096000"/>
            <a:ext cx="288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0E1F44"/>
                </a:solidFill>
                <a:latin typeface="Microsoft YaHei"/>
              </a:rPr>
              <a:t>年度颁奖授牌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420000" y="3096000"/>
            <a:ext cx="1692000" cy="34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420000" y="3096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C9A227"/>
                </a:solidFill>
                <a:latin typeface="Microsoft YaHei"/>
              </a:rPr>
              <a:t>●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12000" y="3096000"/>
            <a:ext cx="1692000" cy="34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12000" y="3096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C9A227"/>
                </a:solidFill>
                <a:latin typeface="Microsoft YaHei"/>
              </a:rPr>
              <a:t>●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04000" y="3096000"/>
            <a:ext cx="1692000" cy="34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04000" y="3096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96000" y="3096000"/>
            <a:ext cx="1692000" cy="34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96000" y="3096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188000" y="3096000"/>
            <a:ext cx="1440000" cy="34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188000" y="3096000"/>
            <a:ext cx="144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—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0000" y="3438000"/>
            <a:ext cx="2880000" cy="34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8000" y="3438000"/>
            <a:ext cx="288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0E1F44"/>
                </a:solidFill>
                <a:latin typeface="Microsoft YaHei"/>
              </a:rPr>
              <a:t>音乐会环节鸣谢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420000" y="3438000"/>
            <a:ext cx="1692000" cy="34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420000" y="3438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C9A227"/>
                </a:solidFill>
                <a:latin typeface="Microsoft YaHei"/>
              </a:rPr>
              <a:t>●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112000" y="3438000"/>
            <a:ext cx="1692000" cy="34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112000" y="3438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C9A227"/>
                </a:solidFill>
                <a:latin typeface="Microsoft YaHei"/>
              </a:rPr>
              <a:t>●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804000" y="3438000"/>
            <a:ext cx="1692000" cy="34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804000" y="3438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C9A227"/>
                </a:solidFill>
                <a:latin typeface="Microsoft YaHei"/>
              </a:rPr>
              <a:t>●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496000" y="3438000"/>
            <a:ext cx="1692000" cy="34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96000" y="3438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—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188000" y="3438000"/>
            <a:ext cx="1440000" cy="34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188000" y="3438000"/>
            <a:ext cx="144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—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40000" y="3780000"/>
            <a:ext cx="2880000" cy="34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8000" y="3780000"/>
            <a:ext cx="288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0E1F44"/>
                </a:solidFill>
                <a:latin typeface="Microsoft YaHei"/>
              </a:rPr>
              <a:t>主背景板 Logo 等级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420000" y="3780000"/>
            <a:ext cx="1692000" cy="34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420000" y="3780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顶级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112000" y="3780000"/>
            <a:ext cx="1692000" cy="34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112000" y="3780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钻石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804000" y="3780000"/>
            <a:ext cx="1692000" cy="34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804000" y="3780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铂金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496000" y="3780000"/>
            <a:ext cx="1692000" cy="34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496000" y="3780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黄金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188000" y="3780000"/>
            <a:ext cx="1440000" cy="34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188000" y="3780000"/>
            <a:ext cx="144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—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40000" y="4122000"/>
            <a:ext cx="2880000" cy="34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48000" y="4122000"/>
            <a:ext cx="288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0E1F44"/>
                </a:solidFill>
                <a:latin typeface="Microsoft YaHei"/>
              </a:rPr>
              <a:t>议程手册广告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420000" y="4122000"/>
            <a:ext cx="1692000" cy="34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420000" y="4122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扉页整版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112000" y="4122000"/>
            <a:ext cx="1692000" cy="34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112000" y="4122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整版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804000" y="4122000"/>
            <a:ext cx="1692000" cy="34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804000" y="4122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半版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496000" y="4122000"/>
            <a:ext cx="1692000" cy="34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496000" y="4122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1/4 版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188000" y="4122000"/>
            <a:ext cx="1440000" cy="34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188000" y="4122000"/>
            <a:ext cx="144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尾页鸣谢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40000" y="4464000"/>
            <a:ext cx="2880000" cy="34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48000" y="4464000"/>
            <a:ext cx="288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0E1F44"/>
                </a:solidFill>
                <a:latin typeface="Microsoft YaHei"/>
              </a:rPr>
              <a:t>白皮书署名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420000" y="4464000"/>
            <a:ext cx="1692000" cy="34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420000" y="4464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封面+扉页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112000" y="4464000"/>
            <a:ext cx="1692000" cy="34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112000" y="4464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1/2 版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804000" y="4464000"/>
            <a:ext cx="1692000" cy="34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804000" y="4464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1/4 版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496000" y="4464000"/>
            <a:ext cx="1692000" cy="34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496000" y="4464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—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188000" y="4464000"/>
            <a:ext cx="1440000" cy="34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188000" y="4464000"/>
            <a:ext cx="144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—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40000" y="4806000"/>
            <a:ext cx="2880000" cy="34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48000" y="4806000"/>
            <a:ext cx="288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0E1F44"/>
                </a:solidFill>
                <a:latin typeface="Microsoft YaHei"/>
              </a:rPr>
              <a:t>VIP 晚宴入场券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420000" y="4806000"/>
            <a:ext cx="1692000" cy="34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420000" y="4806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主桌 3 人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112000" y="4806000"/>
            <a:ext cx="1692000" cy="34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112000" y="4806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5 张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804000" y="4806000"/>
            <a:ext cx="1692000" cy="34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804000" y="4806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3 张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496000" y="4806000"/>
            <a:ext cx="1692000" cy="34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496000" y="4806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1 张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0188000" y="4806000"/>
            <a:ext cx="1440000" cy="34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0188000" y="4806000"/>
            <a:ext cx="144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—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40000" y="5148000"/>
            <a:ext cx="2880000" cy="34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48000" y="5148000"/>
            <a:ext cx="288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0E1F44"/>
                </a:solidFill>
                <a:latin typeface="Microsoft YaHei"/>
              </a:rPr>
              <a:t>重量级嘉宾 1V1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420000" y="5148000"/>
            <a:ext cx="1692000" cy="34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420000" y="5148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全程定制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5112000" y="5148000"/>
            <a:ext cx="1692000" cy="34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112000" y="5148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2 位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804000" y="5148000"/>
            <a:ext cx="1692000" cy="34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804000" y="5148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1 位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8496000" y="5148000"/>
            <a:ext cx="1692000" cy="34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496000" y="5148000"/>
            <a:ext cx="1692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—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0188000" y="5148000"/>
            <a:ext cx="1440000" cy="34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0188000" y="5148000"/>
            <a:ext cx="1440000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icrosoft YaHei"/>
              </a:rPr>
              <a:t>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0E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2000" y="162000"/>
            <a:ext cx="144000" cy="251999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125999"/>
            <a:ext cx="7200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重构与突围 · 2026 AI 商业化峰会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125999"/>
            <a:ext cx="900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P09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720000"/>
            <a:ext cx="10800000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E1F44"/>
                </a:solidFill>
                <a:latin typeface="Microsoft YaHei"/>
              </a:rPr>
              <a:t>资源置换合伙人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224000"/>
            <a:ext cx="1080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Microsoft YaHei"/>
              </a:rPr>
              <a:t>Barter Partnerships · 零现金 · 精准置换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278000"/>
            <a:ext cx="900000" cy="28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0000" y="1728000"/>
            <a:ext cx="11088000" cy="756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0000" y="1728000"/>
            <a:ext cx="900000" cy="756000"/>
          </a:xfrm>
          <a:prstGeom prst="rect">
            <a:avLst/>
          </a:prstGeom>
          <a:solidFill>
            <a:srgbClr val="0E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0000" y="1728000"/>
            <a:ext cx="900000" cy="75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Microsoft YaHei"/>
              </a:rPr>
              <a:t>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2000" y="1800000"/>
            <a:ext cx="288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>
                <a:solidFill>
                  <a:srgbClr val="0E1F44"/>
                </a:solidFill>
                <a:latin typeface="Microsoft YaHei"/>
              </a:rPr>
              <a:t>晚宴指定用酒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2000" y="2124000"/>
            <a:ext cx="288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Microsoft YaHei"/>
              </a:rPr>
              <a:t>投入：30 瓶起高端红酒 / 白酒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0000" y="1908000"/>
            <a:ext cx="6840000" cy="5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Microsoft YaHei"/>
              </a:rPr>
              <a:t>权益：主桌 VIP 席位 1 个 + 晚宴专属品鉴介绍 + 主背景板鸣谢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2538000"/>
            <a:ext cx="11088000" cy="756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0000" y="2538000"/>
            <a:ext cx="900000" cy="756000"/>
          </a:xfrm>
          <a:prstGeom prst="rect">
            <a:avLst/>
          </a:prstGeom>
          <a:solidFill>
            <a:srgbClr val="0E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000" y="2538000"/>
            <a:ext cx="900000" cy="75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Microsoft YaHei"/>
              </a:rPr>
              <a:t>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2610000"/>
            <a:ext cx="288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>
                <a:solidFill>
                  <a:srgbClr val="0E1F44"/>
                </a:solidFill>
                <a:latin typeface="Microsoft YaHei"/>
              </a:rPr>
              <a:t>官方伴手礼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2934000"/>
            <a:ext cx="288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Microsoft YaHei"/>
              </a:rPr>
              <a:t>投入：全场 500 份 / VIP 精装 50 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0000" y="2718000"/>
            <a:ext cx="6840000" cy="5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Microsoft YaHei"/>
              </a:rPr>
              <a:t>权益：企业定制福袋全场植入 + 定向意向客户数据回传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0" y="3348000"/>
            <a:ext cx="11088000" cy="756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0000" y="3348000"/>
            <a:ext cx="900000" cy="756000"/>
          </a:xfrm>
          <a:prstGeom prst="rect">
            <a:avLst/>
          </a:prstGeom>
          <a:solidFill>
            <a:srgbClr val="0E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0" y="3348000"/>
            <a:ext cx="900000" cy="75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Microsoft YaHei"/>
              </a:rPr>
              <a:t>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000" y="3420000"/>
            <a:ext cx="288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>
                <a:solidFill>
                  <a:srgbClr val="0E1F44"/>
                </a:solidFill>
                <a:latin typeface="Microsoft YaHei"/>
              </a:rPr>
              <a:t>独家影像服务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12000" y="3744000"/>
            <a:ext cx="288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Microsoft YaHei"/>
              </a:rPr>
              <a:t>投入：双机位拍摄 + 后期精修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0000" y="3528000"/>
            <a:ext cx="6840000" cy="5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Microsoft YaHei"/>
              </a:rPr>
              <a:t>权益：暖场环节宣传片轮播 + 联合署名「官方影像合作伙伴」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0000" y="4158000"/>
            <a:ext cx="11088000" cy="756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0000" y="4158000"/>
            <a:ext cx="900000" cy="756000"/>
          </a:xfrm>
          <a:prstGeom prst="rect">
            <a:avLst/>
          </a:prstGeom>
          <a:solidFill>
            <a:srgbClr val="0E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0000" y="4158000"/>
            <a:ext cx="900000" cy="75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Microsoft YaHei"/>
              </a:rPr>
              <a:t>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2000" y="4230000"/>
            <a:ext cx="288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>
                <a:solidFill>
                  <a:srgbClr val="0E1F44"/>
                </a:solidFill>
                <a:latin typeface="Microsoft YaHei"/>
              </a:rPr>
              <a:t>官方指定出行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2000" y="4554000"/>
            <a:ext cx="288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Microsoft YaHei"/>
              </a:rPr>
              <a:t>投入：VIP 接送 / 用车 ≥ 10 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0000" y="4338000"/>
            <a:ext cx="6840000" cy="5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Microsoft YaHei"/>
              </a:rPr>
              <a:t>权益：「官方指定出行」标识 + 主背景板鸣谢 + 晚宴入场券 2 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0" y="4968000"/>
            <a:ext cx="11088000" cy="756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0000" y="4968000"/>
            <a:ext cx="900000" cy="756000"/>
          </a:xfrm>
          <a:prstGeom prst="rect">
            <a:avLst/>
          </a:prstGeom>
          <a:solidFill>
            <a:srgbClr val="0E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0" y="4968000"/>
            <a:ext cx="900000" cy="75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Microsoft YaHei"/>
              </a:rPr>
              <a:t>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12000" y="5040000"/>
            <a:ext cx="288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>
                <a:solidFill>
                  <a:srgbClr val="0E1F44"/>
                </a:solidFill>
                <a:latin typeface="Microsoft YaHei"/>
              </a:rPr>
              <a:t>媒体 / 渠道合作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12000" y="5364000"/>
            <a:ext cx="288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Microsoft YaHei"/>
              </a:rPr>
              <a:t>投入：头部媒体通稿 / 流量包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80000" y="5148000"/>
            <a:ext cx="6840000" cy="5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Microsoft YaHei"/>
              </a:rPr>
              <a:t>权益：「战略媒体合作伙伴」标识 + 媒体合作专区露出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0E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2000" y="162000"/>
            <a:ext cx="144000" cy="251999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125999"/>
            <a:ext cx="7200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重构与突围 · 2026 AI 商业化峰会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125999"/>
            <a:ext cx="900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P10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720000"/>
            <a:ext cx="10800000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E1F44"/>
                </a:solidFill>
                <a:latin typeface="Microsoft YaHei"/>
              </a:rPr>
              <a:t>合作时间线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224000"/>
            <a:ext cx="1080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Microsoft YaHei"/>
              </a:rPr>
              <a:t>Cooperation Timeline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278000"/>
            <a:ext cx="900000" cy="28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00000" y="3816000"/>
            <a:ext cx="10620000" cy="36000"/>
          </a:xfrm>
          <a:prstGeom prst="rect">
            <a:avLst/>
          </a:prstGeom>
          <a:solidFill>
            <a:srgbClr val="0E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48000" y="3744000"/>
            <a:ext cx="360000" cy="360000"/>
          </a:xfrm>
          <a:prstGeom prst="ellipse">
            <a:avLst/>
          </a:prstGeom>
          <a:solidFill>
            <a:srgbClr val="C9A227"/>
          </a:solidFill>
          <a:ln>
            <a:solidFill>
              <a:srgbClr val="0E1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48000" y="3744000"/>
            <a:ext cx="36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8000" y="3060000"/>
            <a:ext cx="2160000" cy="576000"/>
          </a:xfrm>
          <a:prstGeom prst="rect">
            <a:avLst/>
          </a:prstGeom>
          <a:solidFill>
            <a:srgbClr val="0E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000" y="3060000"/>
            <a:ext cx="2160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即日起 – 5/18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8000" y="4248000"/>
            <a:ext cx="2160000" cy="115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000" y="4320000"/>
            <a:ext cx="1944000" cy="1007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0">
                <a:solidFill>
                  <a:srgbClr val="4A4A4A"/>
                </a:solidFill>
                <a:latin typeface="Microsoft YaHei"/>
              </a:rPr>
              <a:t>意向确认 · 合同 · 物料</a:t>
            </a:r>
          </a:p>
        </p:txBody>
      </p:sp>
      <p:sp>
        <p:nvSpPr>
          <p:cNvPr id="17" name="Oval 16"/>
          <p:cNvSpPr/>
          <p:nvPr/>
        </p:nvSpPr>
        <p:spPr>
          <a:xfrm>
            <a:off x="3888000" y="3744000"/>
            <a:ext cx="360000" cy="360000"/>
          </a:xfrm>
          <a:prstGeom prst="ellipse">
            <a:avLst/>
          </a:prstGeom>
          <a:solidFill>
            <a:srgbClr val="C9A227"/>
          </a:solidFill>
          <a:ln>
            <a:solidFill>
              <a:srgbClr val="0E1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8000" y="3744000"/>
            <a:ext cx="36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88000" y="3060000"/>
            <a:ext cx="2160000" cy="576000"/>
          </a:xfrm>
          <a:prstGeom prst="rect">
            <a:avLst/>
          </a:prstGeom>
          <a:solidFill>
            <a:srgbClr val="0E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88000" y="3060000"/>
            <a:ext cx="2160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5/19 – 5/25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88000" y="4248000"/>
            <a:ext cx="2160000" cy="115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96000" y="4320000"/>
            <a:ext cx="1944000" cy="1007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0">
                <a:solidFill>
                  <a:srgbClr val="4A4A4A"/>
                </a:solidFill>
                <a:latin typeface="Microsoft YaHei"/>
              </a:rPr>
              <a:t>物料制作 · 议程定稿 · 媒体预热</a:t>
            </a:r>
          </a:p>
        </p:txBody>
      </p:sp>
      <p:sp>
        <p:nvSpPr>
          <p:cNvPr id="23" name="Oval 22"/>
          <p:cNvSpPr/>
          <p:nvPr/>
        </p:nvSpPr>
        <p:spPr>
          <a:xfrm>
            <a:off x="6228000" y="3744000"/>
            <a:ext cx="360000" cy="360000"/>
          </a:xfrm>
          <a:prstGeom prst="ellipse">
            <a:avLst/>
          </a:prstGeom>
          <a:solidFill>
            <a:srgbClr val="C9A227"/>
          </a:solidFill>
          <a:ln>
            <a:solidFill>
              <a:srgbClr val="0E1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28000" y="3744000"/>
            <a:ext cx="36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28000" y="3060000"/>
            <a:ext cx="2160000" cy="576000"/>
          </a:xfrm>
          <a:prstGeom prst="rect">
            <a:avLst/>
          </a:prstGeom>
          <a:solidFill>
            <a:srgbClr val="0E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28000" y="3060000"/>
            <a:ext cx="2160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5 月底 – 大会前 3 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28000" y="4248000"/>
            <a:ext cx="2160000" cy="115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36000" y="4320000"/>
            <a:ext cx="1944000" cy="1007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0">
                <a:solidFill>
                  <a:srgbClr val="4A4A4A"/>
                </a:solidFill>
                <a:latin typeface="Microsoft YaHei"/>
              </a:rPr>
              <a:t>主视觉 / 大屏 / 邀请函上线 · 锁定桌签</a:t>
            </a:r>
          </a:p>
        </p:txBody>
      </p:sp>
      <p:sp>
        <p:nvSpPr>
          <p:cNvPr id="29" name="Oval 28"/>
          <p:cNvSpPr/>
          <p:nvPr/>
        </p:nvSpPr>
        <p:spPr>
          <a:xfrm>
            <a:off x="8568000" y="3744000"/>
            <a:ext cx="360000" cy="360000"/>
          </a:xfrm>
          <a:prstGeom prst="ellipse">
            <a:avLst/>
          </a:prstGeom>
          <a:solidFill>
            <a:srgbClr val="C9A227"/>
          </a:solidFill>
          <a:ln>
            <a:solidFill>
              <a:srgbClr val="0E1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68000" y="3744000"/>
            <a:ext cx="36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68000" y="3060000"/>
            <a:ext cx="2160000" cy="576000"/>
          </a:xfrm>
          <a:prstGeom prst="rect">
            <a:avLst/>
          </a:prstGeom>
          <a:solidFill>
            <a:srgbClr val="0E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68000" y="3060000"/>
            <a:ext cx="2160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峰会当日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68000" y="4248000"/>
            <a:ext cx="2160000" cy="115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6000" y="4320000"/>
            <a:ext cx="1944000" cy="1007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0">
                <a:solidFill>
                  <a:srgbClr val="4A4A4A"/>
                </a:solidFill>
                <a:latin typeface="Microsoft YaHei"/>
              </a:rPr>
              <a:t>8h 全场曝光 + 500 人 VIP 晚宴</a:t>
            </a:r>
          </a:p>
        </p:txBody>
      </p:sp>
      <p:sp>
        <p:nvSpPr>
          <p:cNvPr id="35" name="Oval 34"/>
          <p:cNvSpPr/>
          <p:nvPr/>
        </p:nvSpPr>
        <p:spPr>
          <a:xfrm>
            <a:off x="10908000" y="3744000"/>
            <a:ext cx="360000" cy="360000"/>
          </a:xfrm>
          <a:prstGeom prst="ellipse">
            <a:avLst/>
          </a:prstGeom>
          <a:solidFill>
            <a:srgbClr val="C9A227"/>
          </a:solidFill>
          <a:ln>
            <a:solidFill>
              <a:srgbClr val="0E1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08000" y="3744000"/>
            <a:ext cx="36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08000" y="3060000"/>
            <a:ext cx="2160000" cy="576000"/>
          </a:xfrm>
          <a:prstGeom prst="rect">
            <a:avLst/>
          </a:prstGeom>
          <a:solidFill>
            <a:srgbClr val="0E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08000" y="3060000"/>
            <a:ext cx="2160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大会后 7 日内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08000" y="4248000"/>
            <a:ext cx="2160000" cy="115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16000" y="4320000"/>
            <a:ext cx="1944000" cy="1007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0">
                <a:solidFill>
                  <a:srgbClr val="4A4A4A"/>
                </a:solidFill>
                <a:latin typeface="Microsoft YaHei"/>
              </a:rPr>
              <a:t>媒体通稿 · 白皮书 · 数据回传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E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000"/>
            <a:ext cx="12192119" cy="36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260000"/>
            <a:ext cx="10800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Microsoft YaHei"/>
              </a:rPr>
              <a:t>立即锁定席位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160000"/>
            <a:ext cx="10800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0">
                <a:solidFill>
                  <a:srgbClr val="C9A227"/>
                </a:solidFill>
                <a:latin typeface="Microsoft YaHei"/>
              </a:rPr>
              <a:t>Lock Your Seat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3420000"/>
            <a:ext cx="10800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Microsoft YaHei"/>
              </a:rPr>
              <a:t>席位倒计时   ·   仅余 30 个深度合作席位 + 1 席独家总冠名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960000"/>
            <a:ext cx="10800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C9A227"/>
                </a:solidFill>
                <a:latin typeface="Microsoft YaHei"/>
              </a:rPr>
              <a:t>确认截止：2026 年 5 月 18 日</a:t>
            </a:r>
          </a:p>
        </p:txBody>
      </p:sp>
      <p:sp>
        <p:nvSpPr>
          <p:cNvPr id="8" name="Rectangle 7"/>
          <p:cNvSpPr/>
          <p:nvPr/>
        </p:nvSpPr>
        <p:spPr>
          <a:xfrm>
            <a:off x="1224000" y="4860000"/>
            <a:ext cx="3240000" cy="1260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24000" y="4860000"/>
            <a:ext cx="54000" cy="126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4000" y="5004000"/>
            <a:ext cx="28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C9A227"/>
                </a:solidFill>
                <a:latin typeface="Microsoft YaHei"/>
              </a:rPr>
              <a:t>赞助合作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4000" y="5363999"/>
            <a:ext cx="2880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组委会招商组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44000" y="4860000"/>
            <a:ext cx="3240000" cy="1260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44000" y="4860000"/>
            <a:ext cx="54000" cy="126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4000" y="5004000"/>
            <a:ext cx="28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C9A227"/>
                </a:solidFill>
                <a:latin typeface="Microsoft YaHei"/>
              </a:rPr>
              <a:t>联系电话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4000" y="5363999"/>
            <a:ext cx="2880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64000" y="4860000"/>
            <a:ext cx="3240000" cy="1260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4000" y="4860000"/>
            <a:ext cx="54000" cy="126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4000" y="5004000"/>
            <a:ext cx="28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C9A227"/>
                </a:solidFill>
                <a:latin typeface="Microsoft YaHei"/>
              </a:rPr>
              <a:t>官方邮箱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000" y="5363999"/>
            <a:ext cx="2880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________________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