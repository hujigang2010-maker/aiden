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udan_hp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5669280" cy="12532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40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16B"/>
                </a:solidFill>
                <a:latin typeface="微软雅黑"/>
              </a:rPr>
              <a:t>中心研究文稿 · 第三号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E4E9B"/>
                </a:solidFill>
                <a:latin typeface="微软雅黑"/>
              </a:rPr>
              <a:t>2026 Google 开发者大会观察白皮书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16B"/>
                </a:solidFill>
                <a:latin typeface="微软雅黑"/>
              </a:rPr>
              <a:t>从灵感火花到产品跨海出圈：智能体时代的全球开发者网络与城市空间含义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FDU-HPRC-WP-2026-03    二〇二六年八月 · 上海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4E9B"/>
                </a:solidFill>
                <a:latin typeface="微软雅黑"/>
              </a:rPr>
              <a:t>五项核心判断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1.  上海站是 I/O 2026 之后全球开发者巡回的中国节点，不是孤立发布会。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2.  技术重心从更强聊天模型转向可行动的全栈智能体。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3.  “跨海出圈”把大会写成全球化生产组织问题，上海是物理接口。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4.  Gemma 4 黑客松把适老化、医疗、教育、端侧隐私带进主会场。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5.  住房与空间的新变量是开发者角色重组：会展峰值、青年租赁、一人公司、端侧入户。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大会全景：可核验事实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914400"/>
            <a:ext cx="2103120" cy="640080"/>
          </a:xfrm>
          <a:prstGeom prst="round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0241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2026 Google 开发者大会 / Google I/O Connect China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2103120" cy="640080"/>
          </a:xfrm>
          <a:prstGeom prst="round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时间地点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013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2026 年 8 月 12—13 日 · 上海世博中心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2103120" cy="640080"/>
          </a:xfrm>
          <a:prstGeom prst="round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口号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从灵感火花到产品跨海出圈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2103120" cy="640080"/>
          </a:xfrm>
          <a:prstGeom prst="round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公开规模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355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近 2,000 名开发者（官方博客）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2103120" cy="640080"/>
          </a:xfrm>
          <a:prstGeom prst="round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四大板块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1330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AI · Chrome · Cloud · Android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00600"/>
            <a:ext cx="2103120" cy="640080"/>
          </a:xfrm>
          <a:prstGeom prst="round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全球网络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9103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I/O Connect 巡回：柏林 / 班加罗尔 / 上海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2026 年关键节点</a:t>
            </a:r>
          </a:p>
        </p:txBody>
      </p:sp>
      <p:pic>
        <p:nvPicPr>
          <p:cNvPr id="7" name="Picture 6" descr="chart01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11247120" cy="53490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技术风向：全栈智能体</a:t>
            </a:r>
          </a:p>
        </p:txBody>
      </p:sp>
      <p:pic>
        <p:nvPicPr>
          <p:cNvPr id="7" name="Picture 6" descr="chart03_full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85800"/>
            <a:ext cx="10789920" cy="62074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部署三层与 Android 工具更新</a:t>
            </a:r>
          </a:p>
        </p:txBody>
      </p:sp>
      <p:pic>
        <p:nvPicPr>
          <p:cNvPr id="7" name="Picture 6" descr="chart12_deploy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5852160" cy="2993029"/>
          </a:xfrm>
          <a:prstGeom prst="rect">
            <a:avLst/>
          </a:prstGeom>
        </p:spPr>
      </p:pic>
      <p:pic>
        <p:nvPicPr>
          <p:cNvPr id="8" name="Picture 7" descr="chart04_andro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640080"/>
            <a:ext cx="5669280" cy="30669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Gemma 4 黑客松：社会场景进入主会场</a:t>
            </a:r>
          </a:p>
        </p:txBody>
      </p:sp>
      <p:pic>
        <p:nvPicPr>
          <p:cNvPr id="7" name="Picture 6" descr="chart05_hackathon_tr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5120640" cy="4444976"/>
          </a:xfrm>
          <a:prstGeom prst="rect">
            <a:avLst/>
          </a:prstGeom>
        </p:spPr>
      </p:pic>
      <p:pic>
        <p:nvPicPr>
          <p:cNvPr id="8" name="Picture 7" descr="chart06_finalist_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51560"/>
            <a:ext cx="6309360" cy="35837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同一世博片区的两种全球功能</a:t>
            </a:r>
          </a:p>
        </p:txBody>
      </p:sp>
      <p:pic>
        <p:nvPicPr>
          <p:cNvPr id="7" name="Picture 6" descr="chart09_expo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"/>
            <a:ext cx="11155680" cy="52434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从写代码到管理智能体，再接到全球规模</a:t>
            </a:r>
          </a:p>
        </p:txBody>
      </p:sp>
      <p:pic>
        <p:nvPicPr>
          <p:cNvPr id="7" name="Picture 6" descr="chart08_rol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94360"/>
            <a:ext cx="11338560" cy="5371700"/>
          </a:xfrm>
          <a:prstGeom prst="rect">
            <a:avLst/>
          </a:prstGeom>
        </p:spPr>
      </p:pic>
      <p:pic>
        <p:nvPicPr>
          <p:cNvPr id="8" name="Picture 7" descr="chart10_four_pill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246120"/>
            <a:ext cx="9692640" cy="52318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对住房与城市空间的含义</a:t>
            </a:r>
          </a:p>
        </p:txBody>
      </p:sp>
      <p:pic>
        <p:nvPicPr>
          <p:cNvPr id="7" name="Picture 6" descr="chart11_spac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2920"/>
            <a:ext cx="5760720" cy="5054952"/>
          </a:xfrm>
          <a:prstGeom prst="rect">
            <a:avLst/>
          </a:prstGeom>
        </p:spPr>
      </p:pic>
      <p:pic>
        <p:nvPicPr>
          <p:cNvPr id="8" name="Picture 7" descr="chart14_housing_prio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960120"/>
            <a:ext cx="6035040" cy="33211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六条政策建议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1.  把“全球开发者接口”写成世博片区正式功能，配置实验室型会展空间。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2.  补上中价位、可合规的 7—30 天服务式公寓，承接会展峰值。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3.  青年人才住房认定增加“出海技术团队”类别。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4.  杨浦环高校承接日常开发者网络，浦东世博承接年度全球接口。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5.  启动端侧智能体入户的住宅与社区标准预研。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6.  把可被智能体调用的城市服务接口纳入数字化前瞻议题。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udan_hp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5486400" cy="1212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E4E9B"/>
                </a:solidFill>
                <a:latin typeface="微软雅黑"/>
              </a:rPr>
              <a:t>会场灯光熄灭之后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人才是否住得下来，团队是否找得到日常协作的房间，社区是否接得住已经在决赛台上跑通过的智能体——这才是住房政策需要提前回答的问题。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4E9B"/>
                </a:solidFill>
                <a:latin typeface="微软雅黑"/>
              </a:rPr>
              <a:t>复旦大学住房政策研究中心  ·  FDU-HPRC-WP-2026-03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资料截至 2026 年 8 月 14 日公开网页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