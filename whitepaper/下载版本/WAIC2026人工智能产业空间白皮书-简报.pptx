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rchp_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5669280" cy="27068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16B"/>
                </a:solidFill>
                <a:latin typeface="微软雅黑"/>
              </a:rPr>
              <a:t>中心研究文稿 · 第二号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4E9B"/>
                </a:solidFill>
                <a:latin typeface="微软雅黑"/>
              </a:rPr>
              <a:t>WAIC2026 人工智能产业空间白皮书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16B"/>
                </a:solidFill>
                <a:latin typeface="微软雅黑"/>
              </a:rPr>
              <a:t>AI 与产业空间融合的趋势、格局与新范式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16B"/>
                </a:solidFill>
                <a:latin typeface="微软雅黑"/>
              </a:rPr>
              <a:t>FDU-HPRC-WP-2026-02    二〇二六年八月 · 上海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E4E9B"/>
                </a:solidFill>
                <a:latin typeface="微软雅黑"/>
              </a:rPr>
              <a:t>五个核心判断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52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1.  硬科技占半壁江山：机器人 24.2% + 算力 23.5% = 47.7%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11064240" cy="8229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1284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2.  国产大模型并跑且更便宜：Top20 占 13 席，价差逾 4 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11064240" cy="8229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729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3.  青年把 AI 驯化为生活伙伴：搭子化、情绪外包、meme 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11064240" cy="8229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33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4.  空间成为新的竞争变量：算力密度 / 场景开放度 / 空间柔性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093207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5.  中美欧三条不可互换路径：中国优势在硬件、性价比与园区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WAIC 2026 产业结构：硬科技占半壁江山</a:t>
            </a:r>
          </a:p>
        </p:txBody>
      </p:sp>
      <p:pic>
        <p:nvPicPr>
          <p:cNvPr id="4" name="Picture 3" descr="chart01_exhibitor_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6766560" cy="3713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963 家参展商
第一细分：具身智能 93 家
第二细分：AI Agent 87 家
基础大模型仅 20 家——
增量已转向模型之上的应用
与模型之下的硬件。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中美欧三条路径：中国优势在空间与硬件</a:t>
            </a:r>
          </a:p>
        </p:txBody>
      </p:sp>
      <p:pic>
        <p:nvPicPr>
          <p:cNvPr id="4" name="Picture 3" descr="chart22_cn_us_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6035040" cy="5659295"/>
          </a:xfrm>
          <a:prstGeom prst="rect">
            <a:avLst/>
          </a:prstGeom>
        </p:spPr>
      </p:pic>
      <p:pic>
        <p:nvPicPr>
          <p:cNvPr id="5" name="Picture 4" descr="chart10_llm_cn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2714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4E9B"/>
                </a:solidFill>
                <a:latin typeface="微软雅黑"/>
              </a:rPr>
              <a:t>国内四极分工：上海均衡、北京算力、广东硬件、浙江机器人</a:t>
            </a:r>
          </a:p>
        </p:txBody>
      </p:sp>
      <p:pic>
        <p:nvPicPr>
          <p:cNvPr id="4" name="Picture 3" descr="chart16_regional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77240"/>
            <a:ext cx="11155680" cy="6180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4E9B"/>
                </a:solidFill>
                <a:latin typeface="微软雅黑"/>
              </a:rPr>
              <a:t>展馆即产业地图：张江=底座，西岸=体验，世博=首发</a:t>
            </a:r>
          </a:p>
        </p:txBody>
      </p:sp>
      <p:pic>
        <p:nvPicPr>
          <p:cNvPr id="4" name="Picture 3" descr="chart15_hall_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521440" cy="6203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大模型格局：同样聪明，谁更便宜</a:t>
            </a:r>
          </a:p>
        </p:txBody>
      </p:sp>
      <p:pic>
        <p:nvPicPr>
          <p:cNvPr id="4" name="Picture 3" descr="chart07_llm_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943600" cy="4051705"/>
          </a:xfrm>
          <a:prstGeom prst="rect">
            <a:avLst/>
          </a:prstGeom>
        </p:spPr>
      </p:pic>
      <p:pic>
        <p:nvPicPr>
          <p:cNvPr id="5" name="Picture 4" descr="chart08_llm_price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777240"/>
            <a:ext cx="5760720" cy="36655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青年视角：效率打底，情感与身份增值</a:t>
            </a:r>
          </a:p>
        </p:txBody>
      </p:sp>
      <p:pic>
        <p:nvPicPr>
          <p:cNvPr id="4" name="Picture 3" descr="chart12_watcha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5943600" cy="3616374"/>
          </a:xfrm>
          <a:prstGeom prst="rect">
            <a:avLst/>
          </a:prstGeom>
        </p:spPr>
      </p:pic>
      <p:pic>
        <p:nvPicPr>
          <p:cNvPr id="5" name="Picture 4" descr="chart13_watcha_to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731520"/>
            <a:ext cx="5760720" cy="33197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具身智能：零售是中间地带，工业最拥挤</a:t>
            </a:r>
          </a:p>
        </p:txBody>
      </p:sp>
      <p:pic>
        <p:nvPicPr>
          <p:cNvPr id="4" name="Picture 3" descr="chart11_embodied_sce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155680" cy="46820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银河通用便利店、穹彻药房/洗衣、擎朗具身社区、智元半导体产线、乐聚 1:1 工厂——场景成为新的竞争货币。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AI 原生园区：六要素与四步转型</a:t>
            </a:r>
          </a:p>
        </p:txBody>
      </p:sp>
      <p:pic>
        <p:nvPicPr>
          <p:cNvPr id="4" name="Picture 3" descr="chart14_park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852160" cy="54838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四步转型
1. 底座化：插电即训练
2. 场景化：公区即试验场
3. 智能体化：用 AI 管园区
4. 资本化：算力 REITs / 场景入股
办公新范式
人机共生单元 · 四象限场景
柔性冗余 · 环境即服务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4E9B"/>
                </a:solidFill>
                <a:latin typeface="微软雅黑"/>
              </a:rPr>
              <a:t>杨浦实证：AI 企业为大学与社群支付租金溢价</a:t>
            </a:r>
          </a:p>
        </p:txBody>
      </p:sp>
      <p:pic>
        <p:nvPicPr>
          <p:cNvPr id="4" name="Picture 3" descr="chart19_yangpu_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31520"/>
            <a:ext cx="5943600" cy="3100808"/>
          </a:xfrm>
          <a:prstGeom prst="rect">
            <a:avLst/>
          </a:prstGeom>
        </p:spPr>
      </p:pic>
      <p:pic>
        <p:nvPicPr>
          <p:cNvPr id="5" name="Picture 4" descr="chart20_yangpu_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640080"/>
            <a:ext cx="5943600" cy="331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E4E9B"/>
                </a:solidFill>
                <a:latin typeface="微软雅黑"/>
              </a:rPr>
              <a:t>上海四个 AI 产业空间原型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2743200" cy="48463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4E9B"/>
                </a:solidFill>
                <a:latin typeface="微软雅黑"/>
              </a:rPr>
              <a:t>底座型 · 张江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微软雅黑"/>
              </a:rPr>
              <a:t>算力芯片馆
114 家展商中 80 家是基础设施
产品：液冷 / 绿电 / 超节点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097280"/>
            <a:ext cx="2743200" cy="48463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280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4E9B"/>
                </a:solidFill>
                <a:latin typeface="微软雅黑"/>
              </a:rPr>
              <a:t>体验型 · 西岸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28600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微软雅黑"/>
              </a:rPr>
              <a:t>终端与内容体验
25 场论坛 + 大模型 22 家
产品：展示层 + 消费硬件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97280"/>
            <a:ext cx="2743200" cy="48463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4E9B"/>
                </a:solidFill>
                <a:latin typeface="微软雅黑"/>
              </a:rPr>
              <a:t>试验型 · 杨浦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微软雅黑"/>
              </a:rPr>
              <a:t>大创智 24 家 AI 企业
复兴岛空间智能论坛
产品：中试 + 场景开放协议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097280"/>
            <a:ext cx="2743200" cy="48463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2801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E4E9B"/>
                </a:solidFill>
                <a:latin typeface="微软雅黑"/>
              </a:rPr>
              <a:t>制度型 · 世博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2468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微软雅黑"/>
              </a:rPr>
              <a:t>52% 论坛 + 治理主场
世界人工智能合作组织
产品：首发经济与标准发布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E4E9B"/>
                </a:solidFill>
                <a:latin typeface="微软雅黑"/>
              </a:rPr>
              <a:t>给园区的三条操作清单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64240" cy="13716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微软雅黑"/>
              </a:rPr>
              <a:t>1. 给机器人留路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层高 ≥4.5m 中试层、货运电梯、充电消毒间、楼宇 5G/边缘节点，写入机器人友好楼宇评级。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11064240" cy="13716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微软雅黑"/>
              </a:rPr>
              <a:t>2. 给模型留电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变压器与楼层配电按训练/推理峰值预留 30% 冗余，提供可计量绿电套餐。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06240"/>
            <a:ext cx="11064240" cy="13716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微软雅黑"/>
              </a:rPr>
              <a:t>3. 给年轻人留夜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微软雅黑"/>
              </a:rPr>
              <a:t>24 小时创作者工位、无人零售与具身社区商业——年轻人聚集处才是 AI 产品第一验证场。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16B"/>
                </a:solidFill>
                <a:latin typeface="微软雅黑"/>
              </a:rPr>
              <a:t>复旦大学住房政策研究中心 · 研究文稿第二号  FDU-HPRC-WP-2026-02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37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16B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4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E4E9B"/>
                </a:solidFill>
                <a:latin typeface="微软雅黑"/>
              </a:rPr>
              <a:t>空间将成为 AI 时代最诚实的计分板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微软雅黑"/>
              </a:rPr>
              <a:t>哪座城市、哪个园区能让智能体安全地跑起来、让年轻人愿意留下来，
产业就会在哪里生长。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16B"/>
                </a:solidFill>
                <a:latin typeface="微软雅黑"/>
              </a:rPr>
              <a:t>复旦大学住房政策研究中心  ·  FDU-HPRC-WP-2026-02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