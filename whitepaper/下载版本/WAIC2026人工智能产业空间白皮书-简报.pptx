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fudan_hpr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11480"/>
            <a:ext cx="5669280" cy="125320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2286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B616B"/>
                </a:solidFill>
                <a:latin typeface="微软雅黑"/>
              </a:rPr>
              <a:t>中心研究文稿 · 第二号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80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E4E9B"/>
                </a:solidFill>
                <a:latin typeface="微软雅黑"/>
              </a:rPr>
              <a:t>WAIC2026 人工智能产业空间白皮书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931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B616B"/>
                </a:solidFill>
                <a:latin typeface="微软雅黑"/>
              </a:rPr>
              <a:t>AI 与产业空间融合的趋势、格局与新范式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B616B"/>
                </a:solidFill>
                <a:latin typeface="微软雅黑"/>
              </a:rPr>
              <a:t>FDU-HPRC-WP-2026-02    二〇二六年八月 · 上海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E4E9B"/>
                </a:solidFill>
                <a:latin typeface="微软雅黑"/>
              </a:rPr>
              <a:t>五个核心判断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52728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微软雅黑"/>
              </a:rPr>
              <a:t>1.  硬科技占半壁江山：机器人 24.2% + 算力 23.5% = 47.7%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11064240" cy="82296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12848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微软雅黑"/>
              </a:rPr>
              <a:t>2.  国产大模型并跑且更便宜：Top20 占 13 席，价差逾 4 倍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971800"/>
            <a:ext cx="11064240" cy="82296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172968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微软雅黑"/>
              </a:rPr>
              <a:t>3.  青年把 AI 驯化为生活伙伴：搭子化、情绪外包、meme 化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931920"/>
            <a:ext cx="11064240" cy="82296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133088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微软雅黑"/>
              </a:rPr>
              <a:t>4.  空间成为新的竞争变量：算力密度 / 场景开放度 / 空间柔性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892040"/>
            <a:ext cx="11064240" cy="82296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5093207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微软雅黑"/>
              </a:rPr>
              <a:t>5.  中美欧三条不可互换路径：中国优势在硬件、性价比与园区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53796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16B"/>
                </a:solidFill>
                <a:latin typeface="微软雅黑"/>
              </a:rPr>
              <a:t>复旦大学住房政策研究中心 · 研究文稿第二号  FDU-HPRC-WP-2026-02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53796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16B"/>
                </a:solidFill>
                <a:latin typeface="微软雅黑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E4E9B"/>
                </a:solidFill>
                <a:latin typeface="微软雅黑"/>
              </a:rPr>
              <a:t>WAIC 2026 产业结构：硬科技占半壁江山</a:t>
            </a:r>
          </a:p>
        </p:txBody>
      </p:sp>
      <p:pic>
        <p:nvPicPr>
          <p:cNvPr id="4" name="Picture 3" descr="chart01_exhibitor_indus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77240"/>
            <a:ext cx="6766560" cy="37136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0" y="1280160"/>
            <a:ext cx="4389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微软雅黑"/>
              </a:rPr>
              <a:t>963 家参展商
第一细分：具身智能 93 家
第二细分：AI Agent 87 家
基础大模型仅 20 家——
增量已转向模型之上的应用
与模型之下的硬件。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16B"/>
                </a:solidFill>
                <a:latin typeface="微软雅黑"/>
              </a:rPr>
              <a:t>复旦大学住房政策研究中心 · 研究文稿第二号  FDU-HPRC-WP-2026-02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53796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16B"/>
                </a:solidFill>
                <a:latin typeface="微软雅黑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E4E9B"/>
                </a:solidFill>
                <a:latin typeface="微软雅黑"/>
              </a:rPr>
              <a:t>中美欧三条路径：中国优势在空间与硬件</a:t>
            </a:r>
          </a:p>
        </p:txBody>
      </p:sp>
      <p:pic>
        <p:nvPicPr>
          <p:cNvPr id="4" name="Picture 3" descr="chart22_cn_us_e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31520"/>
            <a:ext cx="6035040" cy="5659295"/>
          </a:xfrm>
          <a:prstGeom prst="rect">
            <a:avLst/>
          </a:prstGeom>
        </p:spPr>
      </p:pic>
      <p:pic>
        <p:nvPicPr>
          <p:cNvPr id="5" name="Picture 4" descr="chart10_llm_cn_vs_glob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005840"/>
            <a:ext cx="5760720" cy="271499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53796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16B"/>
                </a:solidFill>
                <a:latin typeface="微软雅黑"/>
              </a:rPr>
              <a:t>复旦大学住房政策研究中心 · 研究文稿第二号  FDU-HPRC-WP-2026-02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53796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16B"/>
                </a:solidFill>
                <a:latin typeface="微软雅黑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E4E9B"/>
                </a:solidFill>
                <a:latin typeface="微软雅黑"/>
              </a:rPr>
              <a:t>国内四极分工：上海均衡、北京算力、广东硬件、浙江机器人</a:t>
            </a:r>
          </a:p>
        </p:txBody>
      </p:sp>
      <p:pic>
        <p:nvPicPr>
          <p:cNvPr id="4" name="Picture 3" descr="chart16_regional_m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77240"/>
            <a:ext cx="11155680" cy="61808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3796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16B"/>
                </a:solidFill>
                <a:latin typeface="微软雅黑"/>
              </a:rPr>
              <a:t>复旦大学住房政策研究中心 · 研究文稿第二号  FDU-HPRC-WP-2026-02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53796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16B"/>
                </a:solidFill>
                <a:latin typeface="微软雅黑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E4E9B"/>
                </a:solidFill>
                <a:latin typeface="微软雅黑"/>
              </a:rPr>
              <a:t>展馆即产业地图：张江=底座，西岸=体验，世博=首发</a:t>
            </a:r>
          </a:p>
        </p:txBody>
      </p:sp>
      <p:pic>
        <p:nvPicPr>
          <p:cNvPr id="4" name="Picture 3" descr="chart15_hall_indus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77240"/>
            <a:ext cx="11521440" cy="62038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3796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16B"/>
                </a:solidFill>
                <a:latin typeface="微软雅黑"/>
              </a:rPr>
              <a:t>复旦大学住房政策研究中心 · 研究文稿第二号  FDU-HPRC-WP-2026-02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53796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16B"/>
                </a:solidFill>
                <a:latin typeface="微软雅黑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E4E9B"/>
                </a:solidFill>
                <a:latin typeface="微软雅黑"/>
              </a:rPr>
              <a:t>大模型格局：同样聪明，谁更便宜</a:t>
            </a:r>
          </a:p>
        </p:txBody>
      </p:sp>
      <p:pic>
        <p:nvPicPr>
          <p:cNvPr id="4" name="Picture 3" descr="chart07_llm_top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40080"/>
            <a:ext cx="5943600" cy="4051705"/>
          </a:xfrm>
          <a:prstGeom prst="rect">
            <a:avLst/>
          </a:prstGeom>
        </p:spPr>
      </p:pic>
      <p:pic>
        <p:nvPicPr>
          <p:cNvPr id="5" name="Picture 4" descr="chart08_llm_price_per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777240"/>
            <a:ext cx="5760720" cy="366553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53796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16B"/>
                </a:solidFill>
                <a:latin typeface="微软雅黑"/>
              </a:rPr>
              <a:t>复旦大学住房政策研究中心 · 研究文稿第二号  FDU-HPRC-WP-2026-02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53796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16B"/>
                </a:solidFill>
                <a:latin typeface="微软雅黑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E4E9B"/>
                </a:solidFill>
                <a:latin typeface="微软雅黑"/>
              </a:rPr>
              <a:t>青年视角：效率打底，情感与身份增值</a:t>
            </a:r>
          </a:p>
        </p:txBody>
      </p:sp>
      <p:pic>
        <p:nvPicPr>
          <p:cNvPr id="4" name="Picture 3" descr="chart12_watcha_catego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31520"/>
            <a:ext cx="5943600" cy="3616374"/>
          </a:xfrm>
          <a:prstGeom prst="rect">
            <a:avLst/>
          </a:prstGeom>
        </p:spPr>
      </p:pic>
      <p:pic>
        <p:nvPicPr>
          <p:cNvPr id="5" name="Picture 4" descr="chart13_watcha_top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731520"/>
            <a:ext cx="5760720" cy="331973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53796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16B"/>
                </a:solidFill>
                <a:latin typeface="微软雅黑"/>
              </a:rPr>
              <a:t>复旦大学住房政策研究中心 · 研究文稿第二号  FDU-HPRC-WP-2026-02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53796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16B"/>
                </a:solidFill>
                <a:latin typeface="微软雅黑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E4E9B"/>
                </a:solidFill>
                <a:latin typeface="微软雅黑"/>
              </a:rPr>
              <a:t>具身智能：零售是中间地带，工业最拥挤</a:t>
            </a:r>
          </a:p>
        </p:txBody>
      </p:sp>
      <p:pic>
        <p:nvPicPr>
          <p:cNvPr id="4" name="Picture 3" descr="chart11_embodied_sce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1155680" cy="468209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8463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微软雅黑"/>
              </a:rPr>
              <a:t>银河通用便利店、穹彻药房/洗衣、擎朗具身社区、智元半导体产线、乐聚 1:1 工厂——场景成为新的竞争货币。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16B"/>
                </a:solidFill>
                <a:latin typeface="微软雅黑"/>
              </a:rPr>
              <a:t>复旦大学住房政策研究中心 · 研究文稿第二号  FDU-HPRC-WP-2026-02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53796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16B"/>
                </a:solidFill>
                <a:latin typeface="微软雅黑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E4E9B"/>
                </a:solidFill>
                <a:latin typeface="微软雅黑"/>
              </a:rPr>
              <a:t>AI 原生园区：六要素与四步转型</a:t>
            </a:r>
          </a:p>
        </p:txBody>
      </p:sp>
      <p:pic>
        <p:nvPicPr>
          <p:cNvPr id="4" name="Picture 3" descr="chart14_park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40080"/>
            <a:ext cx="5852160" cy="548388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17920" y="118872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微软雅黑"/>
              </a:rPr>
              <a:t>四步转型
1. 底座化：插电即训练
2. 场景化：公区即试验场
3. 智能体化：用 AI 管园区
4. 资本化：算力 REITs / 场景入股
办公新范式
人机共生单元 · 四象限场景
柔性冗余 · 环境即服务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16B"/>
                </a:solidFill>
                <a:latin typeface="微软雅黑"/>
              </a:rPr>
              <a:t>复旦大学住房政策研究中心 · 研究文稿第二号  FDU-HPRC-WP-2026-02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53796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16B"/>
                </a:solidFill>
                <a:latin typeface="微软雅黑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E4E9B"/>
                </a:solidFill>
                <a:latin typeface="微软雅黑"/>
              </a:rPr>
              <a:t>杨浦实证：AI 企业为大学与社群支付租金溢价</a:t>
            </a:r>
          </a:p>
        </p:txBody>
      </p:sp>
      <p:pic>
        <p:nvPicPr>
          <p:cNvPr id="4" name="Picture 3" descr="chart19_yangpu_indus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731520"/>
            <a:ext cx="5943600" cy="3100808"/>
          </a:xfrm>
          <a:prstGeom prst="rect">
            <a:avLst/>
          </a:prstGeom>
        </p:spPr>
      </p:pic>
      <p:pic>
        <p:nvPicPr>
          <p:cNvPr id="5" name="Picture 4" descr="chart20_yangpu_pla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640080"/>
            <a:ext cx="5943600" cy="3311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53796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16B"/>
                </a:solidFill>
                <a:latin typeface="微软雅黑"/>
              </a:rPr>
              <a:t>复旦大学住房政策研究中心 · 研究文稿第二号  FDU-HPRC-WP-2026-02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53796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16B"/>
                </a:solidFill>
                <a:latin typeface="微软雅黑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E4E9B"/>
                </a:solidFill>
                <a:latin typeface="微软雅黑"/>
              </a:rPr>
              <a:t>上海四个 AI 产业空间原型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2743200" cy="484632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E4E9B"/>
                </a:solidFill>
                <a:latin typeface="微软雅黑"/>
              </a:rPr>
              <a:t>底座型 · 张江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24688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微软雅黑"/>
              </a:rPr>
              <a:t>算力芯片馆
114 家展商中 80 家是基础设施
产品：液冷 / 绿电 / 超节点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3337560" y="1097280"/>
            <a:ext cx="2743200" cy="484632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0" y="128016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E4E9B"/>
                </a:solidFill>
                <a:latin typeface="微软雅黑"/>
              </a:rPr>
              <a:t>体验型 · 西岸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286000"/>
            <a:ext cx="24688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微软雅黑"/>
              </a:rPr>
              <a:t>终端与内容体验
25 场论坛 + 大模型 22 家
产品：展示层 + 消费硬件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097280"/>
            <a:ext cx="2743200" cy="484632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28016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E4E9B"/>
                </a:solidFill>
                <a:latin typeface="微软雅黑"/>
              </a:rPr>
              <a:t>试验型 · 杨浦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286000"/>
            <a:ext cx="24688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微软雅黑"/>
              </a:rPr>
              <a:t>大创智 24 家 AI 企业
复兴岛空间智能论坛
产品：中试 + 场景开放协议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89720" y="1097280"/>
            <a:ext cx="2743200" cy="484632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0" y="128016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E4E9B"/>
                </a:solidFill>
                <a:latin typeface="微软雅黑"/>
              </a:rPr>
              <a:t>制度型 · 世博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2286000"/>
            <a:ext cx="24688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微软雅黑"/>
              </a:rPr>
              <a:t>52% 论坛 + 治理主场
世界人工智能合作组织
产品：首发经济与标准发布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53796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16B"/>
                </a:solidFill>
                <a:latin typeface="微软雅黑"/>
              </a:rPr>
              <a:t>复旦大学住房政策研究中心 · 研究文稿第二号  FDU-HPRC-WP-2026-02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53796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16B"/>
                </a:solidFill>
                <a:latin typeface="微软雅黑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E4E9B"/>
                </a:solidFill>
                <a:latin typeface="微软雅黑"/>
              </a:rPr>
              <a:t>给园区的三条操作清单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1064240" cy="13716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C8102E"/>
                </a:solidFill>
                <a:latin typeface="微软雅黑"/>
              </a:rPr>
              <a:t>1. 给机器人留路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微软雅黑"/>
              </a:rPr>
              <a:t>层高 ≥4.5m 中试层、货运电梯、充电消毒间、楼宇 5G/边缘节点，写入机器人友好楼宇评级。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651760"/>
            <a:ext cx="11064240" cy="13716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8346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C8102E"/>
                </a:solidFill>
                <a:latin typeface="微软雅黑"/>
              </a:rPr>
              <a:t>2. 给模型留电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91839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微软雅黑"/>
              </a:rPr>
              <a:t>变压器与楼层配电按训练/推理峰值预留 30% 冗余，提供可计量绿电套餐。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206240"/>
            <a:ext cx="11064240" cy="13716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389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C8102E"/>
                </a:solidFill>
                <a:latin typeface="微软雅黑"/>
              </a:rPr>
              <a:t>3. 给年轻人留夜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846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微软雅黑"/>
              </a:rPr>
              <a:t>24 小时创作者工位、无人零售与具身社区商业——年轻人聚集处才是 AI 产品第一验证场。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53796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16B"/>
                </a:solidFill>
                <a:latin typeface="微软雅黑"/>
              </a:rPr>
              <a:t>复旦大学住房政策研究中心 · 研究文稿第二号  FDU-HPRC-WP-2026-02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53796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16B"/>
                </a:solidFill>
                <a:latin typeface="微软雅黑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E4E9B"/>
                </a:solidFill>
                <a:latin typeface="微软雅黑"/>
              </a:rPr>
              <a:t>空间将成为 AI 时代最诚实的计分板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微软雅黑"/>
              </a:rPr>
              <a:t>哪座城市、哪个园区能让智能体安全地跑起来、让年轻人愿意留下来，
产业就会在哪里生长。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03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B616B"/>
                </a:solidFill>
                <a:latin typeface="微软雅黑"/>
              </a:rPr>
              <a:t>复旦大学住房政策研究中心  ·  FDU-HPRC-WP-2026-02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