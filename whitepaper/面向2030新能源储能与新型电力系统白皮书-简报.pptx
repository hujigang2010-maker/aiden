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6035040" cy="1207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研究会研究文稿 · 第一号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616B"/>
                </a:solidFill>
                <a:latin typeface="微软雅黑"/>
              </a:rPr>
              <a:t>面向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4E9B"/>
                </a:solidFill>
                <a:latin typeface="微软雅黑"/>
              </a:rPr>
              <a:t>新能源、储能与新型电力系统白皮书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16B"/>
                </a:solidFill>
                <a:latin typeface="微软雅黑"/>
              </a:rPr>
              <a:t>住房、社区与城市空间如何成为能源转型的关键节点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FDU-HPRS-WP-2026-01    二〇二六年八月 · 上海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4E9B"/>
                </a:solidFill>
                <a:latin typeface="微软雅黑"/>
              </a:rPr>
              <a:t>核心命题：住房即能源节点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16B"/>
                </a:solidFill>
                <a:latin typeface="微软雅黑"/>
              </a:rPr>
              <a:t>新能源提供电量，储能提供时间，电力系统提供秩序，住房提供最后一公里的空间与同意。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微软雅黑"/>
              </a:rPr>
              <a:t>•  2026年6月《新型能源体系建设“十五五”规划》、8月《新型电力系统建设“十五五”规划》把2030年钉死为“初步建成”验收年。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微软雅黑"/>
              </a:rPr>
              <a:t>•  约束已从“能不能装得上”转向“能不能用得稳、调得动、分得清、住得起”。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微软雅黑"/>
              </a:rPr>
              <a:t>•  屋顶产权、车位充电权、物业运营权、保障房绿色溢价、居民电费可负担性，已与电力系统重构深度咬合。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1A1A1A"/>
                </a:solidFill>
                <a:latin typeface="微软雅黑"/>
              </a:rPr>
              <a:t>•  本白皮书从住房政策视角给出十项判断、五类空间路径与十二条建议。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面向 2030 的十项核心判断（1—5）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07899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2030是初步建成，不是碳中和完成年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3055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装机已绿，电量与调节结构尚未切换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79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182111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项目竞争力取决于系统价值而非资源禀赋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78807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3367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储能从配建义务转向可交易调节资产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28523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电网投资必须补上相对电源的欠账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面向 2030 的十项核心判断（6—10）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07899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用电侧协同升级为与电源、电网并列的第三支柱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3055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住房是分布式能源最大未充分开发资产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79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182111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电动汽车进入居住区，本质是移动储能入户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78807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3367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算力是增速最快、也最适合源网荷储一体的新负荷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微软雅黑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28523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/>
              </a:rPr>
              <a:t>社会可接受性最终在电费、住房品质与社区安全上兑现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2030 年验收清单：必须同时完成的目标</a:t>
            </a:r>
          </a:p>
        </p:txBody>
      </p:sp>
      <p:pic>
        <p:nvPicPr>
          <p:cNvPr id="4" name="Picture 3" descr="chart01_capacity_2025_2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7589520" cy="4086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0058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风光装机 28 亿千瓦以上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非化石电量占比 50%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新型储能 3 亿千瓦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抽水蓄能约 1.6 亿千瓦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西电东送超过 4.2 亿千瓦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配电网支撑 9 亿千瓦分布式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虚拟电厂调节 &gt;5000 万千瓦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充电网络支撑 1.1 亿辆以上电动汽车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•  全国统一电力市场基本建成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新能源：电量主体如何成为可调节主力</a:t>
            </a:r>
          </a:p>
        </p:txBody>
      </p:sp>
      <p:pic>
        <p:nvPicPr>
          <p:cNvPr id="4" name="Picture 3" descr="chart03_wind_solar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949440" cy="35277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91440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2025 年风光装机 18.4 亿千瓦，历史性超过火电。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可再生能源电量约 38%，距 50% 仍差约 12 个百分点。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分布式光伏 5.3 亿千瓦，已近光伏一半。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利用率分档：地区 85%—95%，全国约 90%。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主题词从“规模替代”转为“可靠替代”。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储能：从强制配建到系统压舱石</a:t>
            </a:r>
          </a:p>
        </p:txBody>
      </p:sp>
      <p:pic>
        <p:nvPicPr>
          <p:cNvPr id="4" name="Picture 3" descr="chart04_storage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6035040" cy="3468469"/>
          </a:xfrm>
          <a:prstGeom prst="rect">
            <a:avLst/>
          </a:prstGeom>
        </p:spPr>
      </p:pic>
      <p:pic>
        <p:nvPicPr>
          <p:cNvPr id="5" name="Picture 4" descr="chart05_storage_d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777240"/>
            <a:ext cx="5669280" cy="29385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电力系统：主配微协同，配网才是住房侧主战场</a:t>
            </a:r>
          </a:p>
        </p:txBody>
      </p:sp>
      <p:pic>
        <p:nvPicPr>
          <p:cNvPr id="4" name="Picture 3" descr="chart06_west_to_e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852160" cy="34576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86868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主网：西电东送超 4.2 亿千瓦，东部不能把保供外包给西部。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配网：支撑 9 亿千瓦分布式接入；老旧小区、单电源高层、城中村是底线工程。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微网：医院、保障房、防灾中心“能孤岛”。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市场：给小而散的住房侧资源留入口，避免统一市场变成大用户市场。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住房即能源节点：四层结构</a:t>
            </a:r>
          </a:p>
        </p:txBody>
      </p:sp>
      <p:pic>
        <p:nvPicPr>
          <p:cNvPr id="4" name="Picture 3" descr="chart07_housing_energy_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85800"/>
            <a:ext cx="10789920" cy="6186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五类住房空间，五条差异化路径</a:t>
            </a:r>
          </a:p>
        </p:txBody>
      </p:sp>
      <p:pic>
        <p:nvPicPr>
          <p:cNvPr id="4" name="Picture 3" descr="chart08_housing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"/>
            <a:ext cx="6858000" cy="36878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86868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新建商品房：能源就绪交付。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存量小区：公共屋顶收益进业主账户。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老旧/城中村/单电源：先配电与安全，再光伏。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保障房：政府业主，最适合制度试验。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农村：从屋顶租赁升级为光储直柔农宅。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新业态：虚拟电厂 · 车网互动 · 绿电直连 · 算电协同</a:t>
            </a:r>
          </a:p>
        </p:txBody>
      </p:sp>
      <p:pic>
        <p:nvPicPr>
          <p:cNvPr id="4" name="Picture 3" descr="chart09_new_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"/>
            <a:ext cx="6766560" cy="3717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8040" y="8686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虚拟电厂投资约为传统电厂 10%—20%。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居住区慢充才是可调度容量的主力。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有序充电默认开通，V2G 自愿加入。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绿电直连须支付系统备用，防止专线特权。</a:t>
            </a:r>
          </a:p>
          <a:p>
            <a:pPr algn="l"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•  算力与电力、住房配套同单元规划。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三条时间线：2026—2030</a:t>
            </a:r>
          </a:p>
        </p:txBody>
      </p:sp>
      <p:pic>
        <p:nvPicPr>
          <p:cNvPr id="4" name="Picture 3" descr="chart10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"/>
            <a:ext cx="11155680" cy="6006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十二条政策建议（1—6）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1. 系统价值作为新能源核准首要判据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2. 容量电价不向低收入居民无差别传导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3. 按调节时长付费，打开长时储能闭环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4. 配电网更新列入城市更新基础清单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5. 立法明确屋顶等公共部位能源使用权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6. 保障房率先成为光储直柔与虚拟电厂样板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十二条政策建议（7—12）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7. 居住区充电：有序充电默认开通、V2G 自愿加入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8. 虚拟电厂与住房侧聚合资源获得对等市场入口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9. 绿电直连必须支付系统备用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10. 算力设施与电力、住房配套同单元规划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11. 社区储能安全准入与保险强制挂钩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•  12. 建立住房能源账单与极端天气对冲机制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复旦大学住房政策研究会 · 研究文稿第一号  FDU-HPRS-WP-2026-01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16B"/>
                </a:solidFill>
                <a:latin typeface="微软雅黑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E4E9B"/>
                </a:solidFill>
                <a:latin typeface="微软雅黑"/>
              </a:rPr>
              <a:t>2030 年的验收，在变压器，也在电梯。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远望 2030，不是远望一个更绿的装机表，而是远望一套更公平、更安全、可负担的居住与用能秩序。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复旦大学住房政策研究会  ·  FDU-HPRS-WP-2026-01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