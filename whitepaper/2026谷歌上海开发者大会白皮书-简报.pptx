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5669280" cy="1253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40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中心研究文稿 · 第三号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E4E9B"/>
                </a:solidFill>
                <a:latin typeface="微软雅黑"/>
              </a:rPr>
              <a:t>2026 谷歌上海开发者大会白皮书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智能体时代的中国开发者生态、出海接口与城市空间含义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FDU-HPRC-WP-2026-03    二〇二六年八月 ·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4E9B"/>
                </a:solidFill>
                <a:latin typeface="微软雅黑"/>
              </a:rPr>
              <a:t>五个核心判断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64240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612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1.  上海已是 Google 在中国的开发者主场：四年三届落沪，近 2,000 名开发者齐聚世博中心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2.  技术主轴从大模型展示切到智能体交付：Android / Chrome / Cloud 全栈跑通工作流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64240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3.  中国开发者被定位为全球规模的供给方：社区、导师、加速器、中文文档四大支柱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40"/>
            <a:ext cx="11064240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7880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4.  开源端侧把 AI 拉回住宅与社区：养老防诈、急救、教育成为 Gemma 4 决赛高频场景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11064240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8464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5.  世博片区成为全球技术发布走廊：与 WAIC 同馆相继，接口型空间需求被低估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上海主场：I/O Connect China 四年三届</a:t>
            </a:r>
          </a:p>
        </p:txBody>
      </p:sp>
      <p:pic>
        <p:nvPicPr>
          <p:cNvPr id="4" name="Picture 3" descr="chart01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972800" cy="4251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2026 上海：从 WAIC 到 DevFest 的人才日历</a:t>
            </a:r>
          </a:p>
        </p:txBody>
      </p:sp>
      <p:pic>
        <p:nvPicPr>
          <p:cNvPr id="4" name="Picture 3" descr="chart02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10972800" cy="4456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全球底盘：I/O 2026 披露的智能体规模</a:t>
            </a:r>
          </a:p>
        </p:txBody>
      </p:sp>
      <p:pic>
        <p:nvPicPr>
          <p:cNvPr id="4" name="Picture 3" descr="chart03_io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5270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全栈 AI：从 TPU 到 Spark，中国站是翻译器</a:t>
            </a:r>
          </a:p>
        </p:txBody>
      </p:sp>
      <p:pic>
        <p:nvPicPr>
          <p:cNvPr id="4" name="Picture 3" descr="chart04_full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972800" cy="51768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出海接口：官方四大支柱</a:t>
            </a:r>
          </a:p>
        </p:txBody>
      </p:sp>
      <p:pic>
        <p:nvPicPr>
          <p:cNvPr id="4" name="Picture 3" descr="chart06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42056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为真实而构建：Gemma 4 总决赛 15 支队伍的场景</a:t>
            </a:r>
          </a:p>
        </p:txBody>
      </p:sp>
      <p:pic>
        <p:nvPicPr>
          <p:cNvPr id="4" name="Picture 3" descr="chart08_gemma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6766560" cy="3388550"/>
          </a:xfrm>
          <a:prstGeom prst="rect">
            <a:avLst/>
          </a:prstGeom>
        </p:spPr>
      </p:pic>
      <p:pic>
        <p:nvPicPr>
          <p:cNvPr id="5" name="Picture 4" descr="chart07_gemma_tr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777240"/>
            <a:ext cx="4846320" cy="22778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同城双截面：产业博览 vs 开发者接口</a:t>
            </a:r>
          </a:p>
        </p:txBody>
      </p:sp>
      <p:pic>
        <p:nvPicPr>
          <p:cNvPr id="4" name="Picture 3" descr="chart10_waic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5365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城市空间：六类可操作含义</a:t>
            </a:r>
          </a:p>
        </p:txBody>
      </p:sp>
      <p:pic>
        <p:nvPicPr>
          <p:cNvPr id="4" name="Picture 3" descr="chart12_space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5467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4E9B"/>
                </a:solidFill>
                <a:latin typeface="微软雅黑"/>
              </a:rPr>
              <a:t>对上海与浦东的六条建议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987552"/>
            <a:ext cx="384048" cy="384048"/>
          </a:xfrm>
          <a:prstGeom prst="ellipse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914400"/>
            <a:ext cx="10424160" cy="71323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07899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把世博片区明确为「全球技术发布走廊」，保护档期与双语服务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2880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755648"/>
            <a:ext cx="10424160" cy="71323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9202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试点 7—30 天技术活动友好型短租，对接大会、黑客松、加速器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670048"/>
            <a:ext cx="384048" cy="384048"/>
          </a:xfrm>
          <a:prstGeom prst="ellipse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0662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596896"/>
            <a:ext cx="10424160" cy="71323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76148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为 GDG 等独立社区提供常设 Workshop 空间，而不是一次性场租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511296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438144"/>
            <a:ext cx="10424160" cy="71323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602736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开放养老、社区卫生、学校作为开源智能体合规试点场景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4352544"/>
            <a:ext cx="384048" cy="384048"/>
          </a:xfrm>
          <a:prstGeom prst="ellipse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3891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279392"/>
            <a:ext cx="10424160" cy="71323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443983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出海楼宇增加「接口密度」指标：短租工位、隔音舱、国际法务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" y="5193792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303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5120640"/>
            <a:ext cx="10424160" cy="71323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28523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与北京、深圳错位：上海巩固主场会展与国际社区，不复制总部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Housing Policy Research Center, Fudan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研究文稿第三号  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本简报为学术讨论性质，不代表复旦大学或 Google 官方立场。
完整论证、出处与方法见白皮书正文。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二〇二六年八月 · 上海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