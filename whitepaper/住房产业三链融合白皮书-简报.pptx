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fudan_hp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5760"/>
            <a:ext cx="5852160" cy="1293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中心研究文稿 · 第三号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E4E9B"/>
                </a:solidFill>
                <a:latin typeface="微软雅黑"/>
              </a:rPr>
              <a:t>住房产业“三链融合”白皮书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B616B"/>
                </a:solidFill>
                <a:latin typeface="微软雅黑"/>
              </a:rPr>
              <a:t>供应链、硬件与软件协同的 2030 图景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微软雅黑"/>
              </a:rPr>
              <a:t>从“造房子”到“造产品、管资产、服务生活”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FDU-HPRC-WP-2026-03    二〇二六年八月 · 上海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E4E9B"/>
                </a:solidFill>
                <a:latin typeface="微软雅黑"/>
              </a:rPr>
              <a:t>五个核心判断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144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7043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1.  政策已把房子重新定义为可制造的工业品与可治理的数据资产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2.  供应链从项目采购清单升级为“像造汽车一样造房子”的产品体系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260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821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3.  硬件把工地、房屋与家庭同时变成可感知、可执行的物理系统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319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8795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4.  软件成为三链的操作系统：一模到底、一房一档、一生可管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3776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93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微软雅黑"/>
              </a:rPr>
              <a:t>5.  2030 年主线：保障房先行、更新场规模化、家庭智能体化、安全档案化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分析框架：供应链 · 硬件 · 软件必须长在一起</a:t>
            </a:r>
          </a:p>
        </p:txBody>
      </p:sp>
      <p:pic>
        <p:nvPicPr>
          <p:cNvPr id="4" name="Picture 3" descr="chart01_thre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521440" cy="695821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六年制度升级：从推广技术到培育产业链</a:t>
            </a:r>
          </a:p>
        </p:txBody>
      </p:sp>
      <p:pic>
        <p:nvPicPr>
          <p:cNvPr id="4" name="Picture 3" descr="chart02_polic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11430000" cy="620405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4E9B"/>
                </a:solidFill>
                <a:latin typeface="微软雅黑"/>
              </a:rPr>
              <a:t>试点已经够用，缺的是验收、结算、保险与档案互认</a:t>
            </a:r>
          </a:p>
        </p:txBody>
      </p:sp>
      <p:pic>
        <p:nvPicPr>
          <p:cNvPr id="4" name="Picture 3" descr="chart03_pilot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94360"/>
            <a:ext cx="5943600" cy="3156704"/>
          </a:xfrm>
          <a:prstGeom prst="rect">
            <a:avLst/>
          </a:prstGeom>
        </p:spPr>
      </p:pic>
      <p:pic>
        <p:nvPicPr>
          <p:cNvPr id="5" name="Picture 4" descr="chart04_three_sys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5852160" cy="31677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供应链现场：田林路交付 + 华南 CMC 产线</a:t>
            </a:r>
          </a:p>
        </p:txBody>
      </p:sp>
      <p:pic>
        <p:nvPicPr>
          <p:cNvPr id="4" name="Picture 3" descr="chart05_mic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6035040" cy="34206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86868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</a:rPr>
              <a:t>2026 年 6 月 17 日
上海徐汇田林路 65 弄交付
全国最大模块化城市更新
1044 户 · 2725 个混凝土模块
2026 年 8 月 6 日
华南首条 CMC 智能产线下线
用于深圳原拆原建试点
土地规则一旦写入装配式/
模块化比例，供应链就必须
按产品而不是按项目投资产线。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硬件三条验收尺子：工地 · 房屋 · 家庭</a:t>
            </a:r>
          </a:p>
        </p:txBody>
      </p:sp>
      <p:pic>
        <p:nvPicPr>
          <p:cNvPr id="4" name="Picture 3" descr="chart06_smarthom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612880" cy="53493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软件：从图纸工具到住房操作系统</a:t>
            </a:r>
          </a:p>
        </p:txBody>
      </p:sp>
      <p:pic>
        <p:nvPicPr>
          <p:cNvPr id="4" name="Picture 3" descr="chart07_software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11521440" cy="64384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融合发生在场景：全生命周期嵌入三链</a:t>
            </a:r>
          </a:p>
        </p:txBody>
      </p:sp>
      <p:pic>
        <p:nvPicPr>
          <p:cNvPr id="4" name="Picture 3" descr="chart08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94360"/>
            <a:ext cx="11704320" cy="579457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上海样本：超大城市的政策实验室</a:t>
            </a:r>
          </a:p>
        </p:txBody>
      </p:sp>
      <p:pic>
        <p:nvPicPr>
          <p:cNvPr id="4" name="Picture 3" descr="chart09_shanghai_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11430000" cy="62650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4E9B"/>
                </a:solidFill>
                <a:latin typeface="微软雅黑"/>
              </a:rPr>
              <a:t>2030 图景：四条主线（情景判断，非官方预测）</a:t>
            </a:r>
          </a:p>
        </p:txBody>
      </p:sp>
      <p:pic>
        <p:nvPicPr>
          <p:cNvPr id="4" name="Picture 3" descr="chart10_2030_outl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66928"/>
            <a:ext cx="11704320" cy="62630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成功标志是体验指标，而不是展示馆</a:t>
            </a:r>
          </a:p>
        </p:txBody>
      </p:sp>
      <p:pic>
        <p:nvPicPr>
          <p:cNvPr id="4" name="Picture 3" descr="chart11_good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94360"/>
            <a:ext cx="11430000" cy="62650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政策建议：先接口、再场景、后产业</a:t>
            </a:r>
          </a:p>
        </p:txBody>
      </p:sp>
      <p:pic>
        <p:nvPicPr>
          <p:cNvPr id="4" name="Picture 3" descr="chart12_polic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30352"/>
            <a:ext cx="6675120" cy="39504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777240"/>
            <a:ext cx="4846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微软雅黑"/>
              </a:rPr>
              <a:t>政府最不该做的：
指定某一品牌机器人或音箱
政府最该做的：
规定住房作为工业品和
数据资产时必须具备的
接口、档案和可核查性能
12 条建议覆盖：
身份 / 互联 / 安全接口
保障房头雁与更新工具箱
集成商与供应链金融
CIM 开放与三链人才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16B"/>
                </a:solidFill>
                <a:latin typeface="微软雅黑"/>
              </a:rPr>
              <a:t>复旦大学住房政策研究中心 · 研究文稿第三号  FDU-HPRC-WP-2026-03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1052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16B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4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16B"/>
                </a:solidFill>
                <a:latin typeface="微软雅黑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4E9B"/>
                </a:solidFill>
                <a:latin typeface="微软雅黑"/>
              </a:rPr>
              <a:t>2030 年并不遥远。真正决定那一年住房面貌的，
不是又一次概念更新，而是我们此刻是否把
标准、档案、产线和人的接口写清楚。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B616B"/>
                </a:solidFill>
                <a:latin typeface="微软雅黑"/>
              </a:rPr>
              <a:t>复旦大学住房政策研究中心
Housing Policy Research Center, Fudan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16B"/>
                </a:solidFill>
                <a:latin typeface="微软雅黑"/>
              </a:rPr>
              <a:t>FDU-HPRC-WP-2026-03  ·  2026 年 8 月  ·  上海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