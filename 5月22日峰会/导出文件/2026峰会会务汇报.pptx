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45720"/>
          </a:xfrm>
          <a:prstGeom prst="rect">
            <a:avLst/>
          </a:prstGeom>
          <a:solidFill>
            <a:srgbClr val="BF9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WenQuanYi Micro Hei"/>
              </a:rPr>
              <a:t>2026 人工智能商业化落地与硬核投资破局峰会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D9E1F2"/>
                </a:solidFill>
                <a:latin typeface="WenQuanYi Micro Hei"/>
              </a:rPr>
              <a:t>重构与突围 · 寻找 AI 时代的超级个体、新质资产与资本新风口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9D37"/>
                </a:solidFill>
                <a:latin typeface="WenQuanYi Micro Hei"/>
              </a:rPr>
              <a:t>5 月 22 日会务执行汇报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WenQuanYi Micro Hei"/>
              </a:rPr>
              <a:t>时间：2026 年 5 月 22 日 13:00-20:30   |   地点：上海·北外滩·一滴水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D9E1F2"/>
                </a:solidFill>
                <a:latin typeface="WenQuanYi Micro Hei"/>
              </a:rPr>
              <a:t>主办：北京大学经济学院上海校友会 · 复旦大学住房政策研究中心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BF9D37"/>
                </a:solidFill>
                <a:latin typeface="WenQuanYi Micro Hei"/>
              </a:rPr>
              <a:t>晚宴冠名战略合作伙伴：绿城中国 |【绿城·潮鸣】星耀北外滩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汇报目录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28600"/>
            <a:ext cx="2926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D9E1F2"/>
                </a:solidFill>
                <a:latin typeface="WenQuanYi Micro Hei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371600"/>
            <a:ext cx="4572000" cy="6400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1417320"/>
            <a:ext cx="4389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WenQuanYi Micro Hei"/>
              </a:rPr>
              <a:t>01  活动总览与组织架构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371600"/>
            <a:ext cx="4572000" cy="6400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417320"/>
            <a:ext cx="4389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WenQuanYi Micro Hei"/>
              </a:rPr>
              <a:t>02  议程与流程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240280"/>
            <a:ext cx="4572000" cy="6400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2286000"/>
            <a:ext cx="4389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WenQuanYi Micro Hei"/>
              </a:rPr>
              <a:t>03  VIP 出席嘉宾胸卡名单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240280"/>
            <a:ext cx="4572000" cy="6400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286000"/>
            <a:ext cx="4389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WenQuanYi Micro Hei"/>
              </a:rPr>
              <a:t>04  晚宴 · 圆桌分桌（每桌 12 人）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3108960"/>
            <a:ext cx="4572000" cy="6400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3154680"/>
            <a:ext cx="4389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WenQuanYi Micro Hei"/>
              </a:rPr>
              <a:t>05  论坛 / 主席台台卡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108960"/>
            <a:ext cx="4572000" cy="6400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154680"/>
            <a:ext cx="4389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WenQuanYi Micro Hei"/>
              </a:rPr>
              <a:t>06  理事接龙与志愿者分组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3977639"/>
            <a:ext cx="4572000" cy="6400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59"/>
            <a:ext cx="4389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WenQuanYi Micro Hei"/>
              </a:rPr>
              <a:t>07  赞助方对接与物资清单（9-11 点入场）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977639"/>
            <a:ext cx="4572000" cy="6400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023359"/>
            <a:ext cx="4389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WenQuanYi Micro Hei"/>
              </a:rPr>
              <a:t>08  赞助商口播脚本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846320"/>
            <a:ext cx="4572000" cy="6400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54480" y="4892040"/>
            <a:ext cx="4389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WenQuanYi Micro Hei"/>
              </a:rPr>
              <a:t>09  现场摄影特写需求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4846320"/>
            <a:ext cx="4572000" cy="6400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4892040"/>
            <a:ext cx="4389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WenQuanYi Micro Hei"/>
              </a:rPr>
              <a:t>10  关键时间节点 &amp; 待补事项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0" y="5715000"/>
            <a:ext cx="4572000" cy="6400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54480" y="5760720"/>
            <a:ext cx="4389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WenQuanYi Micro Hei"/>
              </a:rPr>
              <a:t>11  ★ 颁奖典礼推荐名单（新增）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5715000"/>
            <a:ext cx="4572000" cy="6400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5760720"/>
            <a:ext cx="4389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WenQuanYi Micro Hei"/>
              </a:rPr>
              <a:t>12  ★ 物资摆放顺序图（新增）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01 / 活动总览与组织架构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97280"/>
          <a:ext cx="11247119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9308"/>
                <a:gridCol w="8547811"/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项目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内容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活动主题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重构与突围 — 寻找 AI 时代的超级个体、新质资产与资本新风口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活动时间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2026 年 5 月 22 日 13:00 - 20:30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活动地点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上海·北外滩·一滴水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主办单位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北京大学经济学院上海校友会、复旦大学住房政策研究中心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协办单位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复旦未来信息创新学院、上海云计算创新基地、杨浦/虹口科企联、中东投资联盟、红瓦共创中心 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战略合作伙伴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腾讯云（福布斯中国 AI 评选委员会已退出）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晚宴冠名战略合作伙伴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绿城中国（【绿城·潮鸣】星耀北外滩 · 凭专属邀请码 · 每桌 12 人 + 绿城每桌 1 人）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特约赞助商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蔚来汽车（不展车）、★ 华为鸿蒙汽车（新增，展车）、泰隆银行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赞助方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茶活力（孟高举）、美年大健康（鲁菲菲）、复金汇（袁一栋）、古井贡酒·年份原浆（李旭欢）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媒体支持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新华网 / 人民网 / 央视网 / 上海证券报 / 财联社 / SMG / 左明右理 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组委会核心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胡继刚 13262607888 · 王胜（VIP）13083003003 · 韦佳玉（总协调）17301836967 · 陈潇 Kelly（统筹）15021307893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02 / 议程与流程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05840"/>
          <a:ext cx="114300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040880"/>
                <a:gridCol w="2743200"/>
              </a:tblGrid>
              <a:tr h="38535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时间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环节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主持 / 主讲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13:00-13:30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嘉宾签到与入场（凭邀请码核验）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13:30-13:35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开幕致辞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姚志勇 教授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13:35-14:00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 1 · 大模型时代的底层架构突围与商业闭环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白硕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14:00-14:25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 2 · AI 如何改变我们的生活与投资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夏春 博士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14:25-14:40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第四届 2026 人工智能商业化落地颁奖典礼（高光启幕）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14:40-15:20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圆桌一 · AI 硬核圆桌——技术突围与新质生产力落地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主持：王珏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15:20-16:00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圆桌二 · 巅峰对话——从算力引擎到新质资产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主持：胡继刚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16:00-16:50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陆家嘴交响乐团 · 时光音乐会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16:50-17:10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 3 · 特殊机遇/不良资产投资的新机遇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王维军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17:10-17:30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 4 · 从自然利率下降到 K 型经济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寇文红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17:30-17:50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 5 · 从致用之学到量子智能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张露瑶 博士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17:50-18:30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圆桌三 · 投资大圆桌——寻找新质资产风口与闭幕仪式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主持：黄欣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3853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18:30-20:30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【绿城·潮鸣】星耀北外滩——AI 领袖定制晚宴（凭专属邀请码入场）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冠名：绿城中国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03 / VIP 出席嘉宾胸卡 — 按角色色标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05840"/>
          <a:ext cx="1143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1371600"/>
                <a:gridCol w="5943600"/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类别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数量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色标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代表嘉宾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主席团 / 致辞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深红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姚志勇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主旨演讲嘉宾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金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白硕、夏春、王维军、寇文红、张露瑶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圆桌一 / 二 / 三 主持+嘉宾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● 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王珏 / 胡继刚 / 黄欣 + 三组嘉宾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出席理事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6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● 紫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王珏、王维军、何杭、童长征、冯旭南、张景瑞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战略 / 冠名 / 赞助 VIP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约 25-30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● 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绿城、腾讯云、泰隆、复金汇 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一般出席嘉宾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60+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● 绿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投资 / 银行 / 产业 / 学术 / 媒体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志愿者 / 工作人员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● 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A-G 7 个分组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34747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  <a:latin typeface="WenQuanYi Micro Hei"/>
              </a:rPr>
              <a:t>建议规格：90×130mm 横版；正面 姓名 + 公司 + 职务 + 角色色标；背面流程二维码 + 紧急联系电话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F7F7F"/>
                </a:solidFill>
                <a:latin typeface="WenQuanYi Micro Hei"/>
              </a:rPr>
              <a:t>胸卡总数：约 500 张（含 30 张备用），由 张蒙（F 组）负责印刷，安淑娟 校对，5/21 18:00 前完成。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7200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0392B"/>
                </a:solidFill>
                <a:latin typeface="WenQuanYi Micro Hei"/>
              </a:rPr>
              <a:t>待补：绿城 5 席名单（已知缪川/笪浩+3 位）、华为鸿蒙汽车 / 蔚来李睿 / 茶活力孟高举 / 美年大健康鲁菲菲 / 古井贡酒李旭欢 出席嘉宾。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04 / 晚宴 · 圆桌分桌（T01-T10 重点桌）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05840"/>
          <a:ext cx="114300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931920"/>
                <a:gridCol w="6400800"/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桌号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主题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核心嘉宾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VIP 主桌（12 人）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姚志勇、白硕、夏春、王维军、寇文红、张露瑶、缪川、笪浩、胡继刚、黄欣、徐泳泽、李睿/华为代表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T02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圆桌一 + 圆桌二嘉宾桌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王珏、李龙、齐宝鑫、刘文平、刘帅华、黎远、刘剑英、于敬、孔华威、朱震、绿城代表、王晓明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圆桌三 + 理事桌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曲承东、刘胜利、饶雪莹、马俊杰、张景瑞、何杭、童长征、冯旭南、葛九明、乐琪文、绿城代表、唐忠敏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T04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腾讯云 / 上海云基地 联合桌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周昭、孙总、李海洋、高歆、顾炯亮、陈艳、绿城代表 + 5 位协办单位代表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泰隆银行虹口支行桌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林骁、阎晓华、徐至柔、毛瑞香 + 6 位客户 + 绿城代表 + 客户（⚠️ 取消 杨红江/汤梦薇）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T06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泰隆银行杨浦支行桌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陈煜、赵逸飞、晋嘉乐 + 7 家科企客户 + 绿城代表 + 李柳阳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投资机构桌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李莺莺、王梦雅、郭紫奇、林雪、李克勤、刘中原、罗晓、邵彩霞、苏燕春、王金珂、绿城代表、杨峰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T08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银行 / 金融机构桌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赵梓翔、陈颖芳、冯浩然、潘健慧、张涌、张稳、魏军、唐亮、王泓渊、蔡建华、绿城代表、待补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产业 / 科技企业桌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张蒙、谈英豪、张戟、王梦、黄勇、田甜、唐伟、邱诗灵、姜逸斐、马月、绿城代表、待补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T10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学术 / 政府 / 媒体桌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周舟、杨知予、任广焕、刘晓、媒体 ×5、洪小燕、绿城代表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T11-T42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待排（每桌 12 人 + 绿城每桌 1 人，共 ~42 桌）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5/21 22:00 前由 王珏 / 陈潇 / 安淑娟 定稿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05 / 论坛 · 主席台 台卡名单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05840"/>
          <a:ext cx="114300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286000"/>
                <a:gridCol w="2286000"/>
                <a:gridCol w="3200400"/>
                <a:gridCol w="2377440"/>
              </a:tblGrid>
              <a:tr h="47382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时间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环节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摆位 / 角色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姓名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单位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13:30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开幕致辞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主席台中央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姚志勇 教授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复旦管院 / 北大经院上海校友会会长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13:35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 1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演讲台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白硕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恒生电子研究院院长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14:00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演讲台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夏春 博士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香港国际金融学会副会长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14:25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颁奖典礼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主礼 + 9 位颁奖嘉宾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姚志勇 + 胡继刚 + 缪川/笪浩、徐泳泽、白硕、夏春、王维军、高歆、林骁/陈煜、李睿/华为代表、袁一栋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黄欣不参加 / 福布斯退出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14:40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主持 + 嘉宾 ×4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王珏 + 白硕、李龙、齐宝鑫、刘文平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AI 硬核圆桌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15:20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圆桌二（巅峰对话）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主持 + 嘉宾 ×5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胡继刚 + 刘帅华、徐泳泽、黎远、刘剑英、于敬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16:50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演讲台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王维军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泓塬资产董事长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17:10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 4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演讲台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寇文红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17:30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演讲台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张露瑶 博士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昆山杜克大学助理教授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3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17:50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圆桌三 + 闭幕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主持 + 嘉宾 ×4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黄欣 + 曲承东、刘胜利、饶雪莹、马俊杰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投资大圆桌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263640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  <a:latin typeface="WenQuanYi Micro Hei"/>
              </a:rPr>
              <a:t>输出总数：38 张（含备用 5 张）；★ 颁奖典礼前移至 14:25-14:40，由组委会主办（无福布斯 LOGO）。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06 / 理事接龙 + 志愿者分组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WenQuanYi Micro Hei"/>
              </a:rPr>
              <a:t>出席理事（5/22 一滴水二楼论坛 6 位）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17320"/>
          <a:ext cx="114300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7250"/>
                <a:gridCol w="2143125"/>
                <a:gridCol w="2571750"/>
                <a:gridCol w="3571875"/>
                <a:gridCol w="2286000"/>
              </a:tblGrid>
              <a:tr h="22206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#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姓名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校友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到场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全程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2220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开场前 1 小时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全程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20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2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王维军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93 国经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正常出席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全程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2220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何杭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03 国贸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开场前 1 小时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全程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20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4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童长征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99 金融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正常出席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全程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2220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冯旭南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02 硕士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正常出席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全程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207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6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张景瑞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98 硕士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正常出席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全程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06324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WenQuanYi Micro Hei"/>
              </a:rPr>
              <a:t>组委会核心岗位 + 志愿者分组（A-G + 外部协作）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47472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286000"/>
                <a:gridCol w="804672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组 / 岗位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职责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成员（含主联系人）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核心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组委会核心岗位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胡继刚 13262607888（总联系）/ 王胜 13083003003（VIP 接待）/ 韦佳玉 17301836967（现场总协调）/ 陈潇 Kelly 15021307893（会务统筹）/ 洪小燕 15021488859（摄影）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签到引导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韦佳玉、李振春（原'李政春'）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台卡 / 物料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王胜、朱铭喆、蔡杰、江梳桐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VIP 接待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陈潇 Kelly、王珏、冯墨、黄露、吕志翔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圆桌对接 / 物资签收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葛九明、李正超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E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晚宴布置 / 席卡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张卓、高辰辰、随圣博、安淑娟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印刷 / 物料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朱俊峰、彭常丽、张蒙（席卡责任人）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G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现场调度 / 摄影支援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刘严、李兵、蔡萍、马磊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外部协作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参照分工表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WenQuanYi Micro Hei"/>
                        </a:rPr>
                        <a:t>皮尔德小C、江江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07 / 赞助方对接与物资清单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05840"/>
          <a:ext cx="114300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286000"/>
                <a:gridCol w="3200400"/>
                <a:gridCol w="1463040"/>
                <a:gridCol w="2560320"/>
                <a:gridCol w="1463040"/>
              </a:tblGrid>
              <a:tr h="47382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#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赞助方（级别）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品名 / 数量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时间窗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对接人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签收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绿城中国（冠名）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品宣产品（KT 板 / 易拉宝 / 宣传册）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09:00-10:00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缪川 / 笪浩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葛九明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2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绿城中国（冠名）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定制礼品 500 份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09:00-11:00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缪川 / 笪浩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张蒙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腾讯云（战略）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易拉宝 + 礼品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09:00-11:00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徐泳泽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葛九明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4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华为鸿蒙汽车（特约·新增）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展车 + 易拉宝 + 礼品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09:00-10:00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待补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葛九明、李正超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蔚来汽车（特约）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易拉宝 + 礼品（不展车）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09:00-11:00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李睿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葛九明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6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泰隆银行（特约）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易拉宝 + 礼品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09:00-11:00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林骁 13058861308 / 陈煜 13671896951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葛九明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茶活力（赞助）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茶饮 / 体验台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09:00-11:00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孟高举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蔡萍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8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美年大健康（赞助）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健康检测 / 礼品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09:00-11:00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鲁菲菲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蔡萍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复金汇（赞助）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礼品 / 易拉宝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09:00-11:00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袁一栋 15995991077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马磊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3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古井贡酒（赞助）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晚宴用酒 2 瓶 × 10 桌 = 20 瓶 + 礼盒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09:00-11:00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李旭欢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张蒙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355080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  <a:latin typeface="WenQuanYi Micro Hei"/>
              </a:rPr>
              <a:t>★ 统一入场时间窗 5/22 09:00-11:00，按摆放顺序图分区就位；福布斯中国 AI 评选委员会已退出。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08 / 赞助商口播脚本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WenQuanYi Micro Hei"/>
              </a:rPr>
              <a:t>A · 开场总致谢（13:30 姚志勇 致辞中嵌入）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11430000" cy="8686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81328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WenQuanYi Micro Hei"/>
              </a:rPr>
              <a:t>本届峰会得以呈现，特别感谢——晚宴冠名战略合作伙伴 绿城中国；战略合作伙伴 腾讯云；特约赞助商 蔚来汽车、华为鸿蒙汽车、泰隆银行；赞助方 茶活力、美年大健康、复金汇、古井贡酒·年份原浆。让我们再次以掌声致谢。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WenQuanYi Micro Hei"/>
              </a:rPr>
              <a:t>B · 分时段定点口播（按官方最终定稿议程）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88920"/>
          <a:ext cx="114300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377440"/>
                <a:gridCol w="6492240"/>
                <a:gridCol w="1371600"/>
              </a:tblGrid>
              <a:tr h="44577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时间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环节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口播内容（节选）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口播人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14:25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颁奖典礼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本届颁奖典礼共同表彰行业领军机构，为全天硬核产业博弈奠定荣誉基调。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姚志勇 / 胡继刚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14:40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圆桌一前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感谢战略合作伙伴 腾讯云 的鼎力支持。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王珏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15:20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圆桌二（巅峰对话）前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巅峰对话【从算力引擎到新质资产】由 腾讯云 联合呈现。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胡继刚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16:00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中场前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中场由 茶活力 与 美年大健康 共同支持。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主持人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16:50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 3 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感谢特约赞助商 泰隆银行；感谢 蔚来汽车、华为鸿蒙汽车（华为展车在入口外）。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主持人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17:50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圆桌三 + 闭幕前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投资大圆桌由 复金汇 战略支持，本环节同时为闭幕仪式。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黄欣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18:30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【绿城·潮鸣】晚宴开场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晚宴由 绿城中国 冠名，古井贡酒 为晚宴用酒，蔚来汽车 + 华为鸿蒙汽车 为出行合作伙伴。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王珏 / 胡继刚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09 / 现场摄影特写需求（洪小燕 15021488859）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05840"/>
          <a:ext cx="1143000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194560"/>
                <a:gridCol w="5029200"/>
                <a:gridCol w="2286000"/>
                <a:gridCol w="1371600"/>
              </a:tblGrid>
              <a:tr h="48213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#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赞助方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特写镜头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触发节点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输出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绿城中国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【绿城·潮鸣】LOGO、冠名牌、邀请码核验入场、缪川/笪浩 致辞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18:00 / 18:30 / 致辞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横竖各 5 + 视频 30s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2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腾讯云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LOGO 墙、徐泳泽圆桌二发言 ≥6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13:00 / 15:20-16:00 / 闭幕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嘉宾 6 + 物料 4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华为鸿蒙汽车（新增）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展车 360° + 内饰 + 车标 LOGO + 嘉宾试车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09:00 / 全天 / 中场 16:00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展车 ≥10 + 视频 30s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4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蔚来汽车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大厅易拉宝 + 礼品 + 嘉宾领取；李睿镜头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13:00 / 中场 16:00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≥6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泰隆 虹口 / 杨浦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T05/T06 双桌全景 + 行长致辞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18:30-19:30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每支行各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6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茶活力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茶歇区品茶 + 体验台 + 孟高举镜头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16:00-16:50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≥6 + 15s 视频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美年大健康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健康检测 + 鲁菲菲镜头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全天展位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≥6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8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复金汇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签到礼品台 + 嘉宾领取 + 袁一栋 + 圆桌三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13:00 / 17:50-18:30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≥6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古井贡酒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T01-T10 餐桌酒瓶 + 举杯；李旭欢镜头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18:30 / 19:00 / 19:30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≥10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21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全体合作伙伴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闭幕大合影 + LOGO 墙合影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18:30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1-2 张高清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10 / 关键时间节点 &amp; 待补事项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0584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6858000"/>
                <a:gridCol w="2286000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时间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事项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责任人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5/21 12:00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赞助商口播 / 对接人 / 物资清单回收；颁奖嘉宾确认；绿城晚宴邀请码机制确认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胡继刚 / 王珏 / 陈潇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5/21 18:00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圆桌桌号牌、圆桌大卡、席卡（每桌 12 人）、胸卡 完成印刷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F 组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5/21 22:00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T11-T42 晚宴桌名单最终确认（每桌 12 人 + 绿城每桌 1 人）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王珏 / 陈潇 / 安淑娟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5/22 09:00-11:00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所有赞助方物资统一到场签收 + 按摆放顺序图就位（含华为展车 09:00-10:00）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D / G 组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5/22 12:00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台卡、主席台陈列就位（无福布斯物料）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B 组 / 张蒙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5/22 13:00-13:30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嘉宾签到与入场（凭邀请码核验）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A 组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5/22 13:30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峰会开幕（姚志勇 致辞）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5/22 14:25-14:40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第四届颁奖典礼（高光启幕 · 黄欣不参加 / 福布斯不参与）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姚志勇 + 胡继刚 + 9 位颁奖嘉宾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5/22 18:30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【绿城·潮鸣】星耀北外滩——AI 领袖定制晚宴 开始（每桌 12 人）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394960"/>
            <a:ext cx="11430000" cy="10972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WenQuanYi Micro Hei"/>
              </a:rPr>
              <a:t>5/21 前需各方回填的“待补”事项（红色 = 急）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C0392B"/>
                </a:solidFill>
                <a:latin typeface="WenQuanYi Micro Hei"/>
              </a:rPr>
              <a:t>1) 绿城中国：5 席（缪川/笪浩 + 3 位）+ 42 位“每桌 1 人”代表 + 邀请码机制 + 致辞嘉宾；   2) 华为鸿蒙汽车：展车型号 / 对接人 / 09:00-10:00 通道；   3) 蔚来汽车 / 李睿：物料；   4) 茶活力孟高举 / 美年鲁菲菲 / 古井李旭欢：物资 / 出席；   5) 缺号志愿者手机号（韦佳玉回收，李政春→李振春）。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11 / ★ 颁奖典礼推荐名单（14:25-14:40）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  <a:latin typeface="WenQuanYi Micro Hei"/>
              </a:rPr>
              <a:t>黄欣不参加 / 福布斯不参与 · 主礼：姚志勇 + 胡继刚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1143000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4114800"/>
                <a:gridCol w="3200400"/>
                <a:gridCol w="3200400"/>
              </a:tblGrid>
              <a:tr h="692331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奖项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建议奖项名称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颁奖嘉宾 1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颁奖嘉宾 2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年度 AI 商业化落地·领军企业奖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白硕（主旨 1）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缪川 / 笪浩（绿城中国）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二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年度 AI 投资破局·领军机构奖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夏春 博士（主旨 2）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袁一栋（复金汇）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年度算力底座·战略生态奖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徐泳泽（腾讯云）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高歆（上海云基地，协办）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四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年度新质资产创新奖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王维军（理事 / 主旨 3）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张露瑶 博士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年度产业落地·标杆案例奖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李龙（龙旗 / 机器人）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于敬（达观数据）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23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六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年度科技金融服务奖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林骁 / 陈煜（泰隆）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李睿（蔚来）/ 华为鸿蒙汽车-代表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6263640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WenQuanYi Micro Hei"/>
              </a:rPr>
              <a:t>全场合影：所有颁奖嘉宾 + 获奖代表 + 主礼 共同合影 1 张。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12 / ★ 物资摆放顺序图（5/22 09:00-11:00 统一入场）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3017520" cy="77724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2834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  <a:latin typeface="WenQuanYi Micro Hei"/>
              </a:rPr>
              <a:t>入口外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1097280"/>
            <a:ext cx="8046720" cy="777240"/>
          </a:xfrm>
          <a:prstGeom prst="rect">
            <a:avLst/>
          </a:prstGeom>
          <a:solidFill>
            <a:srgbClr val="FFFFFF"/>
          </a:solidFill>
          <a:ln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4760" y="1143000"/>
            <a:ext cx="78638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WenQuanYi Micro Hei"/>
              </a:rPr>
              <a:t>★ 华为鸿蒙汽车 展车（09:00-10:00 先到位）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57400"/>
            <a:ext cx="3017520" cy="77724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103120"/>
            <a:ext cx="2834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WenQuanYi Micro Hei"/>
              </a:rPr>
              <a:t>① 一滴水正门 / 签到处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2057400"/>
            <a:ext cx="8046720" cy="777240"/>
          </a:xfrm>
          <a:prstGeom prst="rect">
            <a:avLst/>
          </a:prstGeom>
          <a:solidFill>
            <a:srgbClr val="FFFFFF"/>
          </a:solidFill>
          <a:ln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2103120"/>
            <a:ext cx="78638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WenQuanYi Micro Hei"/>
              </a:rPr>
              <a:t>绿城品宣 KT 板 + 蔚来汽车 + 泰隆 + 复金汇 易拉宝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3017520" cy="77724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063239"/>
            <a:ext cx="2834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WenQuanYi Micro Hei"/>
              </a:rPr>
              <a:t>② 大厅展区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0" y="3017520"/>
            <a:ext cx="8046720" cy="777240"/>
          </a:xfrm>
          <a:prstGeom prst="rect">
            <a:avLst/>
          </a:prstGeom>
          <a:solidFill>
            <a:srgbClr val="FFFFFF"/>
          </a:solidFill>
          <a:ln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4760" y="3063239"/>
            <a:ext cx="78638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WenQuanYi Micro Hei"/>
              </a:rPr>
              <a:t>茶活力 中场茶歇区 + 美年大健康 健康检测台 + 蔚来易拉宝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977640"/>
            <a:ext cx="3017520" cy="77724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23360"/>
            <a:ext cx="2834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WenQuanYi Micro Hei"/>
              </a:rPr>
              <a:t>③ 主舞台 / 论坛厅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0" y="3977640"/>
            <a:ext cx="8046720" cy="777240"/>
          </a:xfrm>
          <a:prstGeom prst="rect">
            <a:avLst/>
          </a:prstGeom>
          <a:solidFill>
            <a:srgbClr val="FFFFFF"/>
          </a:solidFill>
          <a:ln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94760" y="4023360"/>
            <a:ext cx="78638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WenQuanYi Micro Hei"/>
              </a:rPr>
              <a:t>腾讯云 LOGO 墙 + 易拉宝 + 绿城品宣 + 颁奖区台面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937760"/>
            <a:ext cx="3017520" cy="77724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983480"/>
            <a:ext cx="2834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WenQuanYi Micro Hei"/>
              </a:rPr>
              <a:t>④ 晚宴厅（二楼）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4937760"/>
            <a:ext cx="8046720" cy="777240"/>
          </a:xfrm>
          <a:prstGeom prst="rect">
            <a:avLst/>
          </a:prstGeom>
          <a:solidFill>
            <a:srgbClr val="FFFFFF"/>
          </a:solidFill>
          <a:ln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94760" y="4983480"/>
            <a:ext cx="78638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WenQuanYi Micro Hei"/>
              </a:rPr>
              <a:t>绿城【绿城·潮鸣】KT 板 + 绿城礼品 500 份 + 古井贡酒 20 瓶（T01-T10）+ 泰隆物料（T05/T06）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WenQuanYi Micro Hei"/>
              </a:rPr>
              <a:t>签收：葛九明、李正超（D 组）+ 蔡萍、马磊（G 组）；统筹：陈潇 Kelly 15021307893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400" b="1">
                <a:solidFill>
                  <a:srgbClr val="BF9D37"/>
                </a:solidFill>
                <a:latin typeface="WenQuanYi Micro Hei"/>
              </a:rPr>
              <a:t>感谢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WenQuanYi Micro Hei"/>
              </a:rPr>
              <a:t>期待 2026 年 5 月 22 日 · 上海北外滩 · 一滴水 现场相会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D9E1F2"/>
                </a:solidFill>
                <a:latin typeface="WenQuanYi Micro Hei"/>
              </a:rPr>
              <a:t>北大经院上海校友会 · 复旦大学住房政策研究中心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WenQuanYi Micro Hei"/>
              </a:rPr>
              <a:t>组委会总联系：胡继刚 13262607888 · 王珏 13817642219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