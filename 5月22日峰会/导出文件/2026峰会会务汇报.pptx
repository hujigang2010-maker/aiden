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91695" cy="45720"/>
          </a:xfrm>
          <a:prstGeom prst="rect">
            <a:avLst/>
          </a:prstGeom>
          <a:solidFill>
            <a:srgbClr val="BF9D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47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WenQuanYi Micro Hei"/>
              </a:rPr>
              <a:t>2026 人工智能商业化落地与硬核投资破局峰会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D9E1F2"/>
                </a:solidFill>
                <a:latin typeface="WenQuanYi Micro Hei"/>
              </a:rPr>
              <a:t>重构与突围 · 寻找 AI 时代的超级个体、新质资产与资本新风口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BF9D37"/>
                </a:solidFill>
                <a:latin typeface="WenQuanYi Micro Hei"/>
              </a:rPr>
              <a:t>5 月 22 日会务执行汇报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30352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WenQuanYi Micro Hei"/>
              </a:rPr>
              <a:t>时间：2026 年 5 月 22 日 13:00-20:30   |   地点：上海·北外滩·一滴水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76072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D9E1F2"/>
                </a:solidFill>
                <a:latin typeface="WenQuanYi Micro Hei"/>
              </a:rPr>
              <a:t>主办：北大经院上海校友会 · 复旦大学住房政策研究中心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BF9D37"/>
                </a:solidFill>
                <a:latin typeface="WenQuanYi Micro Hei"/>
              </a:rPr>
              <a:t>晚宴冠名战略合作伙伴：绿城中国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WenQuanYi Micro Hei"/>
              </a:rPr>
              <a:t>汇报目录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28600"/>
            <a:ext cx="2926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0">
                <a:solidFill>
                  <a:srgbClr val="D9E1F2"/>
                </a:solidFill>
                <a:latin typeface="WenQuanYi Micro Hei"/>
              </a:rPr>
              <a:t>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30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WenQuanYi Micro Hei"/>
              </a:rPr>
              <a:t>2026 AI 商业化落地与硬核投资破局峰会 · 5/22 一滴水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371600"/>
            <a:ext cx="4572000" cy="64008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417320"/>
            <a:ext cx="4389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WenQuanYi Micro Hei"/>
              </a:rPr>
              <a:t>01  活动总览与组织架构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371600"/>
            <a:ext cx="4572000" cy="64008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417320"/>
            <a:ext cx="4389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WenQuanYi Micro Hei"/>
              </a:rPr>
              <a:t>02  议程与流程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2240280"/>
            <a:ext cx="4572000" cy="64008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2286000"/>
            <a:ext cx="4389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WenQuanYi Micro Hei"/>
              </a:rPr>
              <a:t>03  VIP 出席嘉宾胸卡名单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240280"/>
            <a:ext cx="4572000" cy="64008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286000"/>
            <a:ext cx="4389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WenQuanYi Micro Hei"/>
              </a:rPr>
              <a:t>04  晚宴 · 圆桌分桌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3108960"/>
            <a:ext cx="4572000" cy="64008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54480" y="3154680"/>
            <a:ext cx="4389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WenQuanYi Micro Hei"/>
              </a:rPr>
              <a:t>05  论坛 / 主席台台卡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3108960"/>
            <a:ext cx="4572000" cy="64008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3154680"/>
            <a:ext cx="4389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WenQuanYi Micro Hei"/>
              </a:rPr>
              <a:t>06  理事接龙与志愿者分组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0" y="3977639"/>
            <a:ext cx="4572000" cy="64008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54480" y="4023359"/>
            <a:ext cx="4389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WenQuanYi Micro Hei"/>
              </a:rPr>
              <a:t>07  赞助方对接与物资清单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3977639"/>
            <a:ext cx="4572000" cy="64008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4023359"/>
            <a:ext cx="4389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WenQuanYi Micro Hei"/>
              </a:rPr>
              <a:t>08  赞助商口播脚本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71600" y="4846320"/>
            <a:ext cx="4572000" cy="64008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54480" y="4892040"/>
            <a:ext cx="4389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WenQuanYi Micro Hei"/>
              </a:rPr>
              <a:t>09  现场摄影特写需求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4846320"/>
            <a:ext cx="4572000" cy="64008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4892040"/>
            <a:ext cx="4389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WenQuanYi Micro Hei"/>
              </a:rPr>
              <a:t>10  关键时间节点 &amp; 待补事项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WenQuanYi Micro Hei"/>
              </a:rPr>
              <a:t>01 / 活动总览与组织架构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30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WenQuanYi Micro Hei"/>
              </a:rPr>
              <a:t>2026 AI 商业化落地与硬核投资破局峰会 · 5/22 一滴水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97280"/>
          <a:ext cx="11247119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9308"/>
                <a:gridCol w="8547811"/>
              </a:tblGrid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项目</a:t>
                      </a:r>
                    </a:p>
                  </a:txBody>
                  <a:tcPr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内容</a:t>
                      </a:r>
                    </a:p>
                  </a:txBody>
                  <a:tcPr>
                    <a:solidFill>
                      <a:srgbClr val="305496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WenQuanYi Micro Hei"/>
                        </a:rPr>
                        <a:t>活动主题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WenQuanYi Micro Hei"/>
                        </a:rPr>
                        <a:t>重构与突围 — 寻找 AI 时代的超级个体、新质资产与资本新风口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WenQuanYi Micro Hei"/>
                        </a:rPr>
                        <a:t>活动时间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WenQuanYi Micro Hei"/>
                        </a:rPr>
                        <a:t>2026 年 5 月 22 日 13:00 - 20:30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WenQuanYi Micro Hei"/>
                        </a:rPr>
                        <a:t>活动地点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WenQuanYi Micro Hei"/>
                        </a:rPr>
                        <a:t>上海·北外滩·一滴水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WenQuanYi Micro Hei"/>
                        </a:rPr>
                        <a:t>主办单位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WenQuanYi Micro Hei"/>
                        </a:rPr>
                        <a:t>北大经院上海校友会、复旦大学住房政策研究中心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WenQuanYi Micro Hei"/>
                        </a:rPr>
                        <a:t>协办单位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WenQuanYi Micro Hei"/>
                        </a:rPr>
                        <a:t>复旦大学未来信息创新学院、上海云计算创新基地、杨浦/虹口科企联、东投资联盟 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WenQuanYi Micro Hei"/>
                        </a:rPr>
                        <a:t>战略合作伙伴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WenQuanYi Micro Hei"/>
                        </a:rPr>
                        <a:t>腾讯云、福布斯中国人工智能科技企业评选委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WenQuanYi Micro Hei"/>
                        </a:rPr>
                        <a:t>晚宴冠名战略合作伙伴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WenQuanYi Micro Hei"/>
                        </a:rPr>
                        <a:t>绿城中国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WenQuanYi Micro Hei"/>
                        </a:rPr>
                        <a:t>特约赞助商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WenQuanYi Micro Hei"/>
                        </a:rPr>
                        <a:t>蔚来、泰隆银行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WenQuanYi Micro Hei"/>
                        </a:rPr>
                        <a:t>赞助方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WenQuanYi Micro Hei"/>
                        </a:rPr>
                        <a:t>茶活力、美年大健康、复金汇、古井贡酒·年份原浆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WenQuanYi Micro Hei"/>
                        </a:rPr>
                        <a:t>媒体支持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WenQuanYi Micro Hei"/>
                        </a:rPr>
                        <a:t>新华网 / 人民网 / 央视网 / 上海证券报 / 财联社 / SMG / 左明右理 等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WenQuanYi Micro Hei"/>
                        </a:rPr>
                        <a:t>总联系人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WenQuanYi Micro Hei"/>
                        </a:rPr>
                        <a:t>胡继刚 13262607888 · 王珏 13817642219 · 安淑娟 13661612711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WenQuanYi Micro Hei"/>
              </a:rPr>
              <a:t>02 / 议程与流程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30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WenQuanYi Micro Hei"/>
              </a:rPr>
              <a:t>2026 AI 商业化落地与硬核投资破局峰会 · 5/22 一滴水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05840"/>
          <a:ext cx="1143000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6400800"/>
                <a:gridCol w="3200400"/>
              </a:tblGrid>
              <a:tr h="38535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时间</a:t>
                      </a:r>
                    </a:p>
                  </a:txBody>
                  <a:tcPr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环节</a:t>
                      </a:r>
                    </a:p>
                  </a:txBody>
                  <a:tcPr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主持 / 主讲</a:t>
                      </a:r>
                    </a:p>
                  </a:txBody>
                  <a:tcPr>
                    <a:solidFill>
                      <a:srgbClr val="305496"/>
                    </a:solidFill>
                  </a:tcPr>
                </a:tc>
              </a:tr>
              <a:tr h="38535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13:00-13:30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嘉宾签到与入场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535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13:30-13:35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开幕致辞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姚志勇 教授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</a:tr>
              <a:tr h="38535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13:35-14:00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主旨 1 · 大模型时代的底层架构突围与商业闭环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白硕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535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14:00-14:25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主旨 2 · AI 如何改变我们的生活与投资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夏春 博士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</a:tr>
              <a:tr h="38535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14:25-15:05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圆桌一 · AI 硬核圆桌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主持：王珏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535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15:05-15:45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巅峰对话 · 云端生态与 AI 商业化天花板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主持：胡继刚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</a:tr>
              <a:tr h="38535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15:45-16:35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陆家嘴交响乐团 · 时光音乐会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535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16:35-16:55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主旨 3 · 特殊机遇/不良资产投资的新机遇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王维军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</a:tr>
              <a:tr h="38535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16:55-17:15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主旨 4 · 从自然利率下降到 K 型经济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寇文红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535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17:15-17:35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主旨 5 · 从致用之学到量子智能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张露瑶 博士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</a:tr>
              <a:tr h="38535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17:35-18:15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圆桌二 · 投资大圆桌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主持：黄欣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535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18:15-18:30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颁奖典礼暨闭幕仪式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—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</a:tr>
              <a:tr h="38535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18:30-20:30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VIP 高端闭门晚宴（500 人）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冠名：绿城中国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WenQuanYi Micro Hei"/>
              </a:rPr>
              <a:t>03 / VIP 出席嘉宾胸卡 — 按角色色标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30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WenQuanYi Micro Hei"/>
              </a:rPr>
              <a:t>2026 AI 商业化落地与硬核投资破局峰会 · 5/22 一滴水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05840"/>
          <a:ext cx="11430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371600"/>
                <a:gridCol w="1371600"/>
                <a:gridCol w="5943600"/>
              </a:tblGrid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类别</a:t>
                      </a:r>
                    </a:p>
                  </a:txBody>
                  <a:tcPr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数量</a:t>
                      </a:r>
                    </a:p>
                  </a:txBody>
                  <a:tcPr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色标</a:t>
                      </a:r>
                    </a:p>
                  </a:txBody>
                  <a:tcPr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代表嘉宾</a:t>
                      </a:r>
                    </a:p>
                  </a:txBody>
                  <a:tcPr>
                    <a:solidFill>
                      <a:srgbClr val="305496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主席团 / 致辞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★ 深红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姚志勇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主旨演讲嘉宾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5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★ 金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白硕、夏春、王维军、寇文红、张露瑶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圆桌 + 巅峰对话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● 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王珏 / 胡继刚 / 黄欣 + 三组嘉宾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出席理事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6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● 紫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王珏、王维军、何杭、童长征、冯旭南、张景瑞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战略 / 冠名 / 赞助 VIP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约 25-30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● 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绿城、腾讯云、泰隆、复金汇 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一般出席嘉宾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60+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● 绿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投资 / 银行 / 产业 / 学术 / 媒体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志愿者 / 工作人员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● 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A-G 7 个分组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3474720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WenQuanYi Micro Hei"/>
              </a:rPr>
              <a:t>建议规格：90×130mm 横版；正面 姓名 + 公司 + 职务 + 角色色标；背面流程二维码 + 紧急联系电话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023360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7F7F7F"/>
                </a:solidFill>
                <a:latin typeface="WenQuanYi Micro Hei"/>
              </a:rPr>
              <a:t>胸卡总数：约 500 张（含 30 张备用），由 张蒙（F 组）负责印刷，安淑娟 校对，5/21 18:00 前完成。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572000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0392B"/>
                </a:solidFill>
                <a:latin typeface="WenQuanYi Micro Hei"/>
              </a:rPr>
              <a:t>待补：绿城 5 席名单；福布斯、蔚来、茶活力、美年大健康、古井贡酒 出席嘉宾名单。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WenQuanYi Micro Hei"/>
              </a:rPr>
              <a:t>04 / 晚宴 · 圆桌分桌（T01-T10 重点桌）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30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WenQuanYi Micro Hei"/>
              </a:rPr>
              <a:t>2026 AI 商业化落地与硬核投资破局峰会 · 5/22 一滴水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05840"/>
          <a:ext cx="1143000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3931920"/>
                <a:gridCol w="6400800"/>
              </a:tblGrid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桌号</a:t>
                      </a:r>
                    </a:p>
                  </a:txBody>
                  <a:tcPr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主题</a:t>
                      </a:r>
                    </a:p>
                  </a:txBody>
                  <a:tcPr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核心嘉宾</a:t>
                      </a:r>
                    </a:p>
                  </a:txBody>
                  <a:tcPr>
                    <a:solidFill>
                      <a:srgbClr val="305496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T01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VIP 主桌（主席团 / 主旨 / 冠名）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姚志勇、白硕、夏春、王维军、寇文红、张露瑶、绿城×2、胡继刚、黄欣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T02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圆桌一 + 巅峰对话嘉宾桌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王珏、李龙、齐宝鑫、刘文平、刘帅华、徐泳泽、黎远、刘剑英、于敬、孔华威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T03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圆桌二 + 理事桌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曲承东、刘胜利、饶雪莹、马俊杰 + 张景瑞、何杭、童长征、冯旭南、葛九明、朱震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T04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腾讯云 / 上海云基地 / 绿城联合桌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周昭、孙总、李海洋、高歆、顾炯亮、陈艳 + 绿城预留 4 席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T05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泰隆银行虹口支行桌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林骁、杨红江、汤梦薇、阎晓华、徐至柔、毛瑞香 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T06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泰隆银行杨浦支行桌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陈煜、赵逸飞、晋嘉乐 + 7 家科企客户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T07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投资机构桌 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李莺莺、王梦雅、郭紫奇、林雪、李克勤、刘中原、罗晓、邵彩霞 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T08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银行 / 金融机构桌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赵梓翔、陈颖芳、冯浩然、潘健慧、张涌、张稳、魏军、唐亮 等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T09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产业 / 科技企业桌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张蒙、谈英豪、张戟、王梦、黄勇、田甜、唐伟、邱诗灵、姜逸斐、杨峰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T10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学术 / 政府 / 媒体桌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周舟、杨知予、任广焕、刘晓、李柳阳 + 其余嘉宾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T11-T50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待排（北大校友 / 律所 / 媒体 / 家办 / 普通晚宴桌）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5/21 22:00 前由 王珏 / 黄欣 / 安淑娟 定稿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WenQuanYi Micro Hei"/>
              </a:rPr>
              <a:t>05 / 论坛 · 主席台 台卡名单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30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WenQuanYi Micro Hei"/>
              </a:rPr>
              <a:t>2026 AI 商业化落地与硬核投资破局峰会 · 5/22 一滴水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05840"/>
          <a:ext cx="1143000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86000"/>
                <a:gridCol w="4114800"/>
                <a:gridCol w="3017520"/>
              </a:tblGrid>
              <a:tr h="372291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环节</a:t>
                      </a:r>
                    </a:p>
                  </a:txBody>
                  <a:tcPr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摆位 / 角色</a:t>
                      </a:r>
                    </a:p>
                  </a:txBody>
                  <a:tcPr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姓名</a:t>
                      </a:r>
                    </a:p>
                  </a:txBody>
                  <a:tcPr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单位</a:t>
                      </a:r>
                    </a:p>
                  </a:txBody>
                  <a:tcPr>
                    <a:solidFill>
                      <a:srgbClr val="305496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开幕致辞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主席台中央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姚志勇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复旦管院教授 / 北大经院上海校友会会长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主旨 1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演讲台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白硕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恒生研究院院长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主旨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演讲台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夏春 博士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香港国际金融学会副会长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圆桌一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主持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王珏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北大经院上海校友会理事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圆桌一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嘉宾 ×4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白硕、李龙、齐宝鑫、刘文平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巅峰对话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主持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胡继刚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杨浦科企联执行会长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巅峰对话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嘉宾 ×5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刘帅华、徐泳泽、黎远、刘剑英、于敬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主旨 3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演讲台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王维军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泓塬资产董事长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主旨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演讲台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寇文红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《跨越自然利率陷阱》作者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主旨 5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演讲台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张露瑶 博士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昆山杜克大学助理教授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圆桌二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主持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黄欣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北大经院上海校友会秘书长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圆桌二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嘉宾 ×4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曲承东、刘胜利、饶雪莹、马俊杰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—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</a:tr>
              <a:tr h="37229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颁奖典礼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颁奖嘉宾 ×4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姚志勇、胡继刚、黄欣、绿城-代表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6263640"/>
            <a:ext cx="11430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WenQuanYi Micro Hei"/>
              </a:rPr>
              <a:t>输出总数：30 张（含 5 张备用），A4 折立式双面；蔡杰、朱铭喆（B组）5/22 12:00 前完成主席台陈列。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WenQuanYi Micro Hei"/>
              </a:rPr>
              <a:t>06 / 理事接龙 + 志愿者分组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30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WenQuanYi Micro Hei"/>
              </a:rPr>
              <a:t>2026 AI 商业化落地与硬核投资破局峰会 · 5/22 一滴水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WenQuanYi Micro Hei"/>
              </a:rPr>
              <a:t>出席理事（5/22 一滴水二楼论坛 6 位）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417320"/>
          <a:ext cx="114300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7250"/>
                <a:gridCol w="2143125"/>
                <a:gridCol w="2571750"/>
                <a:gridCol w="3571875"/>
                <a:gridCol w="2286000"/>
              </a:tblGrid>
              <a:tr h="22206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#</a:t>
                      </a:r>
                    </a:p>
                  </a:txBody>
                  <a:tcPr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姓名</a:t>
                      </a:r>
                    </a:p>
                  </a:txBody>
                  <a:tcPr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校友</a:t>
                      </a:r>
                    </a:p>
                  </a:txBody>
                  <a:tcPr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到场</a:t>
                      </a:r>
                    </a:p>
                  </a:txBody>
                  <a:tcPr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全程</a:t>
                      </a:r>
                    </a:p>
                  </a:txBody>
                  <a:tcPr>
                    <a:solidFill>
                      <a:srgbClr val="305496"/>
                    </a:solidFill>
                  </a:tcPr>
                </a:tc>
              </a:tr>
              <a:tr h="22206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王珏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开场前 1 小时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全程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206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2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王维军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93 国经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正常出席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全程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</a:tr>
              <a:tr h="22206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何杭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03 国贸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开场前 1 小时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全程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206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4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童长征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99 金融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正常出席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全程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</a:tr>
              <a:tr h="22206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冯旭南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02 硕士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正常出席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全程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207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6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张景瑞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98 硕士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正常出席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全程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3063240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WenQuanYi Micro Hei"/>
              </a:rPr>
              <a:t>志愿者分组（A-G + 外部协作，共 23 人）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3474720"/>
          <a:ext cx="1142999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743200"/>
                <a:gridCol w="7955279"/>
              </a:tblGrid>
              <a:tr h="32512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组</a:t>
                      </a:r>
                    </a:p>
                  </a:txBody>
                  <a:tcPr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职责</a:t>
                      </a:r>
                    </a:p>
                  </a:txBody>
                  <a:tcPr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成员（含主联系人）</a:t>
                      </a:r>
                    </a:p>
                  </a:txBody>
                  <a:tcPr>
                    <a:solidFill>
                      <a:srgbClr val="305496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签到引导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韦佳玉 17301836967、李政春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B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台卡 / 物料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王胜、朱铭喆、蔡杰、江梳桐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VIP 接待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陈潇 Kelly、王珏（组长）、冯墨、黄露、吕志翔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D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圆桌对接 / 上下场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葛九明、李正超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晚宴布置 / 席卡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张卓、高辰辰、随圣博、安淑娟（13661612711 总校对）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F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印刷 / 物料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朱俊峰、彭常丽、张蒙（席卡责任人）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现场调度 / 摄影支援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刘严、李兵、蔡萍、马磊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外部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总联系 / 摄影 / 协作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胡继刚 13262607888、洪小燕（摄影）15021488859、江江、皮尔德小C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WenQuanYi Micro Hei"/>
              </a:rPr>
              <a:t>07 / 赞助方对接与物资清单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30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WenQuanYi Micro Hei"/>
              </a:rPr>
              <a:t>2026 AI 商业化落地与硬核投资破局峰会 · 5/22 一滴水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05840"/>
          <a:ext cx="1143000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2286000"/>
                <a:gridCol w="2743200"/>
                <a:gridCol w="1645920"/>
                <a:gridCol w="2926080"/>
                <a:gridCol w="1280160"/>
              </a:tblGrid>
              <a:tr h="473825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#</a:t>
                      </a:r>
                    </a:p>
                  </a:txBody>
                  <a:tcPr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赞助方（级别）</a:t>
                      </a:r>
                    </a:p>
                  </a:txBody>
                  <a:tcPr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品名 / 数量</a:t>
                      </a:r>
                    </a:p>
                  </a:txBody>
                  <a:tcPr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送达</a:t>
                      </a:r>
                    </a:p>
                  </a:txBody>
                  <a:tcPr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对接人</a:t>
                      </a:r>
                    </a:p>
                  </a:txBody>
                  <a:tcPr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签收</a:t>
                      </a:r>
                    </a:p>
                  </a:txBody>
                  <a:tcPr>
                    <a:solidFill>
                      <a:srgbClr val="305496"/>
                    </a:solidFill>
                  </a:tcPr>
                </a:tc>
              </a:tr>
              <a:tr h="47382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绿城中国（冠名）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晚宴背景 KT 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5/22 09:00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待补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葛九明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382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2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绿城中国（冠名）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晚宴礼品 500 份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5/22 14:00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待补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张蒙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</a:tr>
              <a:tr h="47382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腾讯云（战略）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易拉宝 / 礼品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5/22 10:00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徐泳泽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葛九明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382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4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福布斯中国（战略）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颁奖物料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5/22 12:00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待补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张蒙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</a:tr>
              <a:tr h="47382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蔚来（特约）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展车 / 易拉宝 / 礼品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5/22 08:00 / 10:00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待补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葛九明、李正超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382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6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泰隆银行（特约）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易拉宝 / 客户伴手礼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5/22 10:00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林骁 13058861308 / 陈煜 13671896951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葛九明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</a:tr>
              <a:tr h="47382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茶活力（赞助）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茶饮 / 体验台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5/22 09:00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待补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蔡萍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382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8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美年大健康（赞助）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健康检测 / 礼品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5/22 09:00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待补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蔡萍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</a:tr>
              <a:tr h="47382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复金汇（赞助）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礼品 / 易拉宝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5/22 10:00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袁一栋 15995991077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马磊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383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10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古井贡酒·年份原浆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晚宴用酒 50 桌×2 + 礼盒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5/22 14:00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待补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张蒙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WenQuanYi Micro Hei"/>
              </a:rPr>
              <a:t>08 / 赞助商口播脚本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30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WenQuanYi Micro Hei"/>
              </a:rPr>
              <a:t>2026 AI 商业化落地与硬核投资破局峰会 · 5/22 一滴水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WenQuanYi Micro Hei"/>
              </a:rPr>
              <a:t>A · 开场总致谢（13:30 姚志勇 致辞中嵌入）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11430000" cy="86868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81328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WenQuanYi Micro Hei"/>
              </a:rPr>
              <a:t>本届峰会得以呈现，特别感谢——晚宴冠名战略合作伙伴 绿城中国；战略合作伙伴 腾讯云、福布斯中国；特约赞助商 蔚来、泰隆银行；赞助方 茶活力、美年大健康、复金汇、古井贡酒·年份原浆。让我们再次以掌声致谢。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77440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WenQuanYi Micro Hei"/>
              </a:rPr>
              <a:t>B · 分时段定点口播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2788920"/>
          <a:ext cx="114300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011680"/>
                <a:gridCol w="6675120"/>
                <a:gridCol w="1371600"/>
              </a:tblGrid>
              <a:tr h="44577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时间</a:t>
                      </a:r>
                    </a:p>
                  </a:txBody>
                  <a:tcPr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环节</a:t>
                      </a:r>
                    </a:p>
                  </a:txBody>
                  <a:tcPr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口播内容（节选）</a:t>
                      </a:r>
                    </a:p>
                  </a:txBody>
                  <a:tcPr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口播人</a:t>
                      </a:r>
                    </a:p>
                  </a:txBody>
                  <a:tcPr>
                    <a:solidFill>
                      <a:srgbClr val="305496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14:25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圆桌一前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感谢战略合作伙伴 腾讯云 的鼎力支持。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王珏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15:05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巅峰对话前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巅峰对话由 腾讯云 联合呈现，福布斯中国共同发布评选成果。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胡继刚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15:45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中场前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中场由 茶活力 与 美年大健康 共同支持。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主持人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16:35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主旨 3 前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感谢特约赞助商 泰隆银行，深耕科技金融。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主持人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17:35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投资圆桌前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投资大圆桌由 复金汇 战略支持。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黄欣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18:15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颁奖典礼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感谢福布斯中国 联合颁布年度领军机构。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姚志勇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18:30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晚宴开场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晚宴由 绿城中国 冠名，古井贡酒 为晚宴用酒，蔚来 为出行合作伙伴。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王珏 / 胡继刚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WenQuanYi Micro Hei"/>
              </a:rPr>
              <a:t>09 / 现场摄影特写需求（洪小燕 15021488859）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30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WenQuanYi Micro Hei"/>
              </a:rPr>
              <a:t>2026 AI 商业化落地与硬核投资破局峰会 · 5/22 一滴水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05840"/>
          <a:ext cx="1143000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2011680"/>
                <a:gridCol w="5212080"/>
                <a:gridCol w="2286000"/>
                <a:gridCol w="1371600"/>
              </a:tblGrid>
              <a:tr h="48213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#</a:t>
                      </a:r>
                    </a:p>
                  </a:txBody>
                  <a:tcPr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赞助方</a:t>
                      </a:r>
                    </a:p>
                  </a:txBody>
                  <a:tcPr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特写镜头</a:t>
                      </a:r>
                    </a:p>
                  </a:txBody>
                  <a:tcPr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触发节点</a:t>
                      </a:r>
                    </a:p>
                  </a:txBody>
                  <a:tcPr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输出</a:t>
                      </a:r>
                    </a:p>
                  </a:txBody>
                  <a:tcPr>
                    <a:solidFill>
                      <a:srgbClr val="305496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绿城中国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晚宴背景板 LOGO 全景、冠名牌特写、致辞特写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18:00 / 18:30 / 致辞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横竖各 5 + 视频 30s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2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腾讯云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LOGO 墙、徐泳泽演讲 / 圆桌镜头 ≥6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13:00 / 15:05 / 闭幕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嘉宾 6 + 物料 4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福布斯中国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奖杯 / 证书、颁奖瞬间合影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18:15 颁奖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合影 ≥3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4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蔚来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展车 + 内饰 + 嘉宾驻足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13:00 / 中场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展车 ≥8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泰隆 虹口 / 杨浦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T05/T06 双桌全景 + 行长致辞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18:30-19:30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每支行各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6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茶活力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茶歇区品茶 + 体验台特写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15:45-16:35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≥6 + 15s 视频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美年大健康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健康检测 + 嘉宾参与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全天展位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≥6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8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复金汇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签到礼品台 + 嘉宾领取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13:00-13:30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≥4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古井贡酒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餐桌酒瓶 + 嘉宾举杯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18:30 / 19:00 / 19:30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≥8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21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10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全体合作伙伴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闭幕大合影 + LOGO 墙合影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18:30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1-2 张高清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WenQuanYi Micro Hei"/>
              </a:rPr>
              <a:t>10 / 关键时间节点 &amp; 待补事项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30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WenQuanYi Micro Hei"/>
              </a:rPr>
              <a:t>2026 AI 商业化落地与硬核投资破局峰会 · 5/22 一滴水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05840"/>
          <a:ext cx="114300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6400800"/>
                <a:gridCol w="2468880"/>
              </a:tblGrid>
              <a:tr h="49149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时间</a:t>
                      </a:r>
                    </a:p>
                  </a:txBody>
                  <a:tcPr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事项</a:t>
                      </a:r>
                    </a:p>
                  </a:txBody>
                  <a:tcPr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责任人</a:t>
                      </a:r>
                    </a:p>
                  </a:txBody>
                  <a:tcPr>
                    <a:solidFill>
                      <a:srgbClr val="305496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WenQuanYi Micro Hei"/>
                        </a:rPr>
                        <a:t>5/21 12:00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WenQuanYi Micro Hei"/>
                        </a:rPr>
                        <a:t>赞助商口播文案、对接人、物资清单回收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WenQuanYi Micro Hei"/>
                        </a:rPr>
                        <a:t>胡继刚 / 王珏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WenQuanYi Micro Hei"/>
                        </a:rPr>
                        <a:t>5/21 18:00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WenQuanYi Micro Hei"/>
                        </a:rPr>
                        <a:t>圆桌桌号牌、圆桌大卡、席卡、胸卡 完成印刷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WenQuanYi Micro Hei"/>
                        </a:rPr>
                        <a:t>F 组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WenQuanYi Micro Hei"/>
                        </a:rPr>
                        <a:t>5/21 22:00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WenQuanYi Micro Hei"/>
                        </a:rPr>
                        <a:t>T11-T50 晚宴桌名单最终确认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WenQuanYi Micro Hei"/>
                        </a:rPr>
                        <a:t>王珏 / 黄欣 / 安淑娟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WenQuanYi Micro Hei"/>
                        </a:rPr>
                        <a:t>5/22 08:00-10:00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WenQuanYi Micro Hei"/>
                        </a:rPr>
                        <a:t>各赞助方物资陆续到场签收 / 上架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WenQuanYi Micro Hei"/>
                        </a:rPr>
                        <a:t>D / G 组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WenQuanYi Micro Hei"/>
                        </a:rPr>
                        <a:t>5/22 12:00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WenQuanYi Micro Hei"/>
                        </a:rPr>
                        <a:t>台卡、主席台陈列就位 / 福布斯颁奖物料到位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WenQuanYi Micro Hei"/>
                        </a:rPr>
                        <a:t>B 组 / 张蒙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WenQuanYi Micro Hei"/>
                        </a:rPr>
                        <a:t>5/22 13:00-13:30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WenQuanYi Micro Hei"/>
                        </a:rPr>
                        <a:t>嘉宾签到与入场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WenQuanYi Micro Hei"/>
                        </a:rPr>
                        <a:t>A 组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WenQuanYi Micro Hei"/>
                        </a:rPr>
                        <a:t>5/22 13:30 / 18:30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WenQuanYi Micro Hei"/>
                        </a:rPr>
                        <a:t>峰会开幕 / 闭门晚宴开始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WenQuanYi Micro 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65760" y="5120640"/>
            <a:ext cx="11430000" cy="128016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16636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WenQuanYi Micro Hei"/>
              </a:rPr>
              <a:t>5/21 前需各方回填的“待补”事项（红色 = 急）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53212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C0392B"/>
                </a:solidFill>
                <a:latin typeface="WenQuanYi Micro Hei"/>
              </a:rPr>
              <a:t>1) 绿城中国：到场 5 席名单、物资清单、对接人；   2) 福布斯中国：颁奖物料、对接人；   3) 蔚来：展车 / 礼品、对接人；   4) 茶活力 / 美年大健康 / 古井贡酒：物资 / 对接人；   5) A / B / D / E / F 组缺号志愿者手机号（韦佳玉回收）。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400" b="1">
                <a:solidFill>
                  <a:srgbClr val="BF9D37"/>
                </a:solidFill>
                <a:latin typeface="WenQuanYi Micro Hei"/>
              </a:rPr>
              <a:t>感谢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WenQuanYi Micro Hei"/>
              </a:rPr>
              <a:t>期待 2026 年 5 月 22 日 · 上海北外滩 · 一滴水 现场相会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D9E1F2"/>
                </a:solidFill>
                <a:latin typeface="WenQuanYi Micro Hei"/>
              </a:rPr>
              <a:t>北大经院上海校友会 · 复旦大学住房政策研究中心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4632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WenQuanYi Micro Hei"/>
              </a:rPr>
              <a:t>组委会总联系：胡继刚 13262607888 · 王珏 13817642219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