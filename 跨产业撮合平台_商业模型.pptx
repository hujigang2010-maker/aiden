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6949440" y="0"/>
            <a:ext cx="5239512" cy="6858000"/>
          </a:xfrm>
          <a:prstGeom prst="parallelogram">
            <a:avLst>
              <a:gd name="adj" fmla="val 50000"/>
            </a:avLst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45720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164592" cy="1097280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86868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0CB6B"/>
                </a:solidFill>
                <a:latin typeface="微软雅黑"/>
                <a:ea typeface="微软雅黑"/>
              </a:rPr>
              <a:t>跨产业撮合与游学转化平台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1033272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5000" b="1">
                <a:solidFill>
                  <a:srgbClr val="FFFFFF"/>
                </a:solidFill>
                <a:latin typeface="微软雅黑"/>
                <a:ea typeface="微软雅黑"/>
              </a:rPr>
              <a:t>钢铁 × 地产 × 产业园区</a:t>
            </a:r>
          </a:p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跨产业撮合与游学转化平台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9AA7B8"/>
                </a:solidFill>
                <a:latin typeface="微软雅黑"/>
                <a:ea typeface="微软雅黑"/>
              </a:rPr>
              <a:t>—— 可收费的产业服务系统（控盘版模型稿）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93776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● 需求入口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93776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● 撮合规则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493776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● 收费权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9893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7B8"/>
                </a:solidFill>
                <a:latin typeface="微软雅黑"/>
                <a:ea typeface="微软雅黑"/>
              </a:rPr>
              <a:t>复旦大学住房政策研究中心 · 杨浦区科技企业联合会  主导  |  中钢协流通分会  协同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640080" cy="640080"/>
          </a:xfrm>
          <a:prstGeom prst="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项目定位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789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9A82B"/>
                </a:solidFill>
                <a:latin typeface="微软雅黑"/>
                <a:ea typeface="微软雅黑"/>
              </a:rPr>
              <a:t>以“产业需求驱动”为核心的跨产业对接平台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构建一个以“产业需求驱动”为核心的跨产业对接平台，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0CB6B"/>
                </a:solidFill>
                <a:latin typeface="微软雅黑"/>
                <a:ea typeface="微软雅黑"/>
              </a:rPr>
              <a:t>形成“考察 + 对接 + 项目转化”的闭环机制。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3246120" cy="1737360"/>
          </a:xfrm>
          <a:prstGeom prst="roundRect">
            <a:avLst>
              <a:gd name="adj" fmla="val 6000"/>
            </a:avLst>
          </a:prstGeom>
          <a:solidFill>
            <a:srgbClr val="162A45"/>
          </a:solidFill>
          <a:ln w="19050">
            <a:solidFill>
              <a:srgbClr val="2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108960"/>
            <a:ext cx="3246120" cy="109728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3246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B7AA6"/>
                </a:solidFill>
                <a:latin typeface="微软雅黑"/>
                <a:ea typeface="微软雅黑"/>
              </a:rPr>
              <a:t>供给端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32461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钢铁产业链企业</a:t>
            </a:r>
          </a:p>
        </p:txBody>
      </p:sp>
      <p:sp>
        <p:nvSpPr>
          <p:cNvPr id="12" name="Chevron 11"/>
          <p:cNvSpPr/>
          <p:nvPr/>
        </p:nvSpPr>
        <p:spPr>
          <a:xfrm>
            <a:off x="4155948" y="3813048"/>
            <a:ext cx="365760" cy="365760"/>
          </a:xfrm>
          <a:prstGeom prst="chevron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B2D"/>
                </a:solidFill>
                <a:latin typeface="微软雅黑"/>
                <a:ea typeface="微软雅黑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108960"/>
            <a:ext cx="3246120" cy="1737360"/>
          </a:xfrm>
          <a:prstGeom prst="roundRect">
            <a:avLst>
              <a:gd name="adj" fmla="val 6000"/>
            </a:avLst>
          </a:prstGeom>
          <a:solidFill>
            <a:srgbClr val="162A45"/>
          </a:solidFill>
          <a:ln w="19050">
            <a:solidFill>
              <a:srgbClr val="2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3108960"/>
            <a:ext cx="3246120" cy="109728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520440"/>
            <a:ext cx="3246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B7AA6"/>
                </a:solidFill>
                <a:latin typeface="微软雅黑"/>
                <a:ea typeface="微软雅黑"/>
              </a:rPr>
              <a:t>需求端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77640"/>
            <a:ext cx="32461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房地产 / 园区 / 制造业</a:t>
            </a:r>
          </a:p>
        </p:txBody>
      </p:sp>
      <p:sp>
        <p:nvSpPr>
          <p:cNvPr id="17" name="Chevron 16"/>
          <p:cNvSpPr/>
          <p:nvPr/>
        </p:nvSpPr>
        <p:spPr>
          <a:xfrm>
            <a:off x="7904988" y="3813048"/>
            <a:ext cx="365760" cy="365760"/>
          </a:xfrm>
          <a:prstGeom prst="chevron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B2D"/>
                </a:solidFill>
                <a:latin typeface="微软雅黑"/>
                <a:ea typeface="微软雅黑"/>
              </a:rPr>
              <a:t>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108960"/>
            <a:ext cx="3246120" cy="1737360"/>
          </a:xfrm>
          <a:prstGeom prst="roundRect">
            <a:avLst>
              <a:gd name="adj" fmla="val 6000"/>
            </a:avLst>
          </a:prstGeom>
          <a:solidFill>
            <a:srgbClr val="162A45"/>
          </a:solidFill>
          <a:ln w="19050">
            <a:solidFill>
              <a:srgbClr val="D9A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3108960"/>
            <a:ext cx="3246120" cy="109728"/>
          </a:xfrm>
          <a:prstGeom prst="round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520440"/>
            <a:ext cx="3246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D9A82B"/>
                </a:solidFill>
                <a:latin typeface="微软雅黑"/>
                <a:ea typeface="微软雅黑"/>
              </a:rPr>
              <a:t>闭环机制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77640"/>
            <a:ext cx="32461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</a:rPr>
              <a:t>考察 + 对接 + 项目转化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8"/>
                </a:solidFill>
                <a:latin typeface="微软雅黑"/>
                <a:ea typeface="微软雅黑"/>
              </a:rPr>
              <a:t>连接供给端与需求端，把分散的产业资源沉淀为可运营、可收费的对接通道。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7B8"/>
                </a:solidFill>
                <a:latin typeface="微软雅黑"/>
                <a:ea typeface="微软雅黑"/>
              </a:rPr>
              <a:t>钢铁 × 地产 × 产业园区 · 跨产业撮合与游学转化平台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0080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7B8"/>
                </a:solidFill>
                <a:latin typeface="微软雅黑"/>
                <a:ea typeface="微软雅黑"/>
              </a:rPr>
              <a:t>模型稿 · 控盘版本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640080" cy="6400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微软雅黑"/>
                <a:ea typeface="微软雅黑"/>
              </a:rPr>
              <a:t>核心价值结构 · 商业闭环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789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E4A6E"/>
                </a:solidFill>
                <a:latin typeface="微软雅黑"/>
                <a:ea typeface="微软雅黑"/>
              </a:rPr>
              <a:t>流量入口 → 核心变现 → 收益核心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6118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640080" y="1737360"/>
            <a:ext cx="3611880" cy="822960"/>
          </a:xfrm>
          <a:prstGeom prst="round2Same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93852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E4A6E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83664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产业游学模块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0CB6B"/>
                </a:solidFill>
                <a:latin typeface="微软雅黑"/>
                <a:ea typeface="微软雅黑"/>
              </a:rPr>
              <a:t>流量入口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• 标杆企业参访（钢铁/制造/地产/园区）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93592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• 小规模高质量闭门交流（10–15人）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06824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• 产业趋势 / 政策 / 应用场景解读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3154680" cy="64008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31546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E4A6E"/>
                </a:solidFill>
                <a:latin typeface="微软雅黑"/>
                <a:ea typeface="微软雅黑"/>
              </a:rPr>
              <a:t>作用 · 获取高质量企业决策人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737360"/>
            <a:ext cx="36118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4453128" y="1737360"/>
            <a:ext cx="3611880" cy="822960"/>
          </a:xfrm>
          <a:prstGeom prst="round2Same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27448" y="193852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B2D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1883664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产业撮合模块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0CB6B"/>
                </a:solidFill>
                <a:latin typeface="微软雅黑"/>
                <a:ea typeface="微软雅黑"/>
              </a:rPr>
              <a:t>核心变现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2880360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• 钢铁企业 → 地产/基建/园区采购需求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593592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• 房地产/园区 → 材料/供应链/技术需求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306824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• 一对一闭门撮合会议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4983480"/>
            <a:ext cx="3154680" cy="64008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4983480"/>
            <a:ext cx="31546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1B2D"/>
                </a:solidFill>
                <a:latin typeface="微软雅黑"/>
                <a:ea typeface="微软雅黑"/>
              </a:rPr>
              <a:t>作用 · 形成交易机会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6" y="1737360"/>
            <a:ext cx="36118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8266176" y="1737360"/>
            <a:ext cx="3611880" cy="822960"/>
          </a:xfrm>
          <a:prstGeom prst="round2Same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40496" y="193852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B2D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1883664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项目转化模块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B2D"/>
                </a:solidFill>
                <a:latin typeface="微软雅黑"/>
                <a:ea typeface="微软雅黑"/>
              </a:rPr>
              <a:t>收益核心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880360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• 重点项目推进（采购/合作开发/试点）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496" y="3593592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• 可落地合作跟踪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4306824"/>
            <a:ext cx="3154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• 项目制服务支持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94776" y="4983480"/>
            <a:ext cx="3154680" cy="64008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4776" y="4983480"/>
            <a:ext cx="31546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B08610"/>
                </a:solidFill>
                <a:latin typeface="微软雅黑"/>
                <a:ea typeface="微软雅黑"/>
              </a:rPr>
              <a:t>作用 · 产生可收费结果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钢铁 × 地产 × 产业园区 · 跨产业撮合与游学转化平台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0080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模型稿 · 控盘版本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640080" cy="640080"/>
          </a:xfrm>
          <a:prstGeom prst="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组织结构 · 必须你控盘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789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9A82B"/>
                </a:solidFill>
                <a:latin typeface="微软雅黑"/>
                <a:ea typeface="微软雅黑"/>
              </a:rPr>
              <a:t>主导方设计规则与收费，渠道方提供资源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212080" cy="2194560"/>
          </a:xfrm>
          <a:prstGeom prst="roundRect">
            <a:avLst/>
          </a:prstGeom>
          <a:solidFill>
            <a:srgbClr val="162A45"/>
          </a:solidFill>
          <a:ln w="25400">
            <a:solidFill>
              <a:srgbClr val="D9A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9A82B"/>
                </a:solidFill>
                <a:latin typeface="微软雅黑"/>
                <a:ea typeface="微软雅黑"/>
              </a:rPr>
              <a:t>主导方（控盘方）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8463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复旦大学住房政策研究中心  ·  品牌 + 规则制定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杨浦区科技企业联合会  ·  政府与产业资源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48463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0CB6B"/>
                </a:solidFill>
                <a:latin typeface="微软雅黑"/>
                <a:ea typeface="微软雅黑"/>
              </a:rPr>
              <a:t>职责：设计规则 · 控制内容 · 控制收费 · 控制对外口径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212080" cy="1051560"/>
          </a:xfrm>
          <a:prstGeom prst="roundRect">
            <a:avLst/>
          </a:prstGeom>
          <a:solidFill>
            <a:srgbClr val="162A45"/>
          </a:solidFill>
          <a:ln w="19050">
            <a:solidFill>
              <a:srgbClr val="5B7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B7AA6"/>
                </a:solidFill>
                <a:latin typeface="微软雅黑"/>
                <a:ea typeface="微软雅黑"/>
              </a:rPr>
              <a:t>协同方（渠道方）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84632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中钢协流通分会 · 提供钢铁企业资源 / 组织参与 / 协助邀约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743200"/>
            <a:ext cx="5212080" cy="1051560"/>
          </a:xfrm>
          <a:prstGeom prst="roundRect">
            <a:avLst/>
          </a:prstGeom>
          <a:solidFill>
            <a:srgbClr val="162A45"/>
          </a:solidFill>
          <a:ln w="19050">
            <a:solidFill>
              <a:srgbClr val="2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B7AA6"/>
                </a:solidFill>
                <a:latin typeface="微软雅黑"/>
                <a:ea typeface="微软雅黑"/>
              </a:rPr>
              <a:t>执行支持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4612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项目运营团队 · 行程 / 会务 / 内容执行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控盘核心：谁掌握这三件事，谁就掌控全局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80"/>
            <a:ext cx="3474720" cy="123444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64608"/>
            <a:ext cx="3474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0CB6B"/>
                </a:solidFill>
                <a:latin typeface="微软雅黑"/>
                <a:ea typeface="微软雅黑"/>
              </a:rPr>
              <a:t>需求入口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3474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EF1F6"/>
                </a:solidFill>
                <a:latin typeface="微软雅黑"/>
                <a:ea typeface="微软雅黑"/>
              </a:rPr>
              <a:t>掌握供需两端的进出口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754880"/>
            <a:ext cx="3474720" cy="123444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4864608"/>
            <a:ext cx="3474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0CB6B"/>
                </a:solidFill>
                <a:latin typeface="微软雅黑"/>
                <a:ea typeface="微软雅黑"/>
              </a:rPr>
              <a:t>撮合规则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349240"/>
            <a:ext cx="3474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EF1F6"/>
                </a:solidFill>
                <a:latin typeface="微软雅黑"/>
                <a:ea typeface="微软雅黑"/>
              </a:rPr>
              <a:t>定义对接与成交的规则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4754880"/>
            <a:ext cx="3474720" cy="123444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4864608"/>
            <a:ext cx="3474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0CB6B"/>
                </a:solidFill>
                <a:latin typeface="微软雅黑"/>
                <a:ea typeface="微软雅黑"/>
              </a:rPr>
              <a:t>收费权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5349240"/>
            <a:ext cx="3474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EEF1F6"/>
                </a:solidFill>
                <a:latin typeface="微软雅黑"/>
                <a:ea typeface="微软雅黑"/>
              </a:rPr>
              <a:t>占据交易中的收费位置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7B8"/>
                </a:solidFill>
                <a:latin typeface="微软雅黑"/>
                <a:ea typeface="微软雅黑"/>
              </a:rPr>
              <a:t>钢铁 × 地产 × 产业园区 · 跨产业撮合与游学转化平台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7B8"/>
                </a:solidFill>
                <a:latin typeface="微软雅黑"/>
                <a:ea typeface="微软雅黑"/>
              </a:rPr>
              <a:t>模型稿 · 控盘版本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640080" cy="6400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微软雅黑"/>
                <a:ea typeface="微软雅黑"/>
              </a:rPr>
              <a:t>运行机制 · 三段式闭环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789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E4A6E"/>
                </a:solidFill>
                <a:latin typeface="微软雅黑"/>
                <a:ea typeface="微软雅黑"/>
              </a:rPr>
              <a:t>需求收集 → 线下撮合 → 项目跟踪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3832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2423160"/>
            <a:ext cx="1005840" cy="1005840"/>
          </a:xfrm>
          <a:prstGeom prst="ellipse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B2A3A"/>
                </a:solidFill>
                <a:latin typeface="微软雅黑"/>
                <a:ea typeface="微软雅黑"/>
              </a:rPr>
              <a:t>需求收集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05060"/>
                </a:solidFill>
                <a:latin typeface="微软雅黑"/>
                <a:ea typeface="微软雅黑"/>
              </a:rPr>
              <a:t>• 钢铁企业需求（产品/渠道/场景）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44568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05060"/>
                </a:solidFill>
                <a:latin typeface="微软雅黑"/>
                <a:ea typeface="微软雅黑"/>
              </a:rPr>
              <a:t>• 房地产/园区需求（材料/合作/采购）</a:t>
            </a:r>
          </a:p>
        </p:txBody>
      </p:sp>
      <p:sp>
        <p:nvSpPr>
          <p:cNvPr id="12" name="Chevron 11"/>
          <p:cNvSpPr/>
          <p:nvPr/>
        </p:nvSpPr>
        <p:spPr>
          <a:xfrm>
            <a:off x="4119372" y="3227832"/>
            <a:ext cx="411480" cy="411480"/>
          </a:xfrm>
          <a:prstGeom prst="chevron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2103120"/>
            <a:ext cx="33832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06440" y="2423160"/>
            <a:ext cx="1005840" cy="1005840"/>
          </a:xfrm>
          <a:prstGeom prst="ellipse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65760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B2A3A"/>
                </a:solidFill>
                <a:latin typeface="微软雅黑"/>
                <a:ea typeface="微软雅黑"/>
              </a:rPr>
              <a:t>线下撮合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160520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05060"/>
                </a:solidFill>
                <a:latin typeface="微软雅黑"/>
                <a:ea typeface="微软雅黑"/>
              </a:rPr>
              <a:t>• 游学 + 闭门会议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544568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05060"/>
                </a:solidFill>
                <a:latin typeface="微软雅黑"/>
                <a:ea typeface="微软雅黑"/>
              </a:rPr>
              <a:t>• 1v1 对接机制</a:t>
            </a:r>
          </a:p>
        </p:txBody>
      </p:sp>
      <p:sp>
        <p:nvSpPr>
          <p:cNvPr id="18" name="Chevron 17"/>
          <p:cNvSpPr/>
          <p:nvPr/>
        </p:nvSpPr>
        <p:spPr>
          <a:xfrm>
            <a:off x="8097012" y="3227832"/>
            <a:ext cx="411480" cy="411480"/>
          </a:xfrm>
          <a:prstGeom prst="chevron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103120"/>
            <a:ext cx="338328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84080" y="2423160"/>
            <a:ext cx="1005840" cy="1005840"/>
          </a:xfrm>
          <a:prstGeom prst="ellipse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0F1B2D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5760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B2A3A"/>
                </a:solidFill>
                <a:latin typeface="微软雅黑"/>
                <a:ea typeface="微软雅黑"/>
              </a:rPr>
              <a:t>项目跟踪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160520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05060"/>
                </a:solidFill>
                <a:latin typeface="微软雅黑"/>
                <a:ea typeface="微软雅黑"/>
              </a:rPr>
              <a:t>• 建立项目池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544568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405060"/>
                </a:solidFill>
                <a:latin typeface="微软雅黑"/>
                <a:ea typeface="微软雅黑"/>
              </a:rPr>
              <a:t>• 转入服务或撮合收费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74920"/>
            <a:ext cx="10881360" cy="54864"/>
          </a:xfrm>
          <a:prstGeom prst="rect">
            <a:avLst/>
          </a:prstGeom>
          <a:solidFill>
            <a:srgbClr val="5B7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E4A6E"/>
                </a:solidFill>
                <a:latin typeface="微软雅黑"/>
                <a:ea typeface="微软雅黑"/>
              </a:rPr>
              <a:t>项目池持续回流：成交线索沉淀为可复用资产，反哺下一轮游学与撮合，形成可持续闭环。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钢铁 × 地产 × 产业园区 · 跨产业撮合与游学转化平台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0080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模型稿 · 控盘版本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640080" cy="640080"/>
          </a:xfrm>
          <a:prstGeom prst="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对外报价逻辑 · 核心武器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789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9A82B"/>
                </a:solidFill>
                <a:latin typeface="微软雅黑"/>
                <a:ea typeface="微软雅黑"/>
              </a:rPr>
              <a:t>你的收费不是“活动费”，而是“产业撮合服务费”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606040" cy="3108960"/>
          </a:xfrm>
          <a:prstGeom prst="roundRect">
            <a:avLst>
              <a:gd name="adj" fmla="val 5000"/>
            </a:avLst>
          </a:prstGeom>
          <a:solidFill>
            <a:srgbClr val="162A45"/>
          </a:solidFill>
          <a:ln w="12700">
            <a:solidFill>
              <a:srgbClr val="2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399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E4A6E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199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基础游学套餐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39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CB6B"/>
                </a:solidFill>
                <a:latin typeface="微软雅黑"/>
                <a:ea typeface="微软雅黑"/>
              </a:rPr>
              <a:t>入口层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931919"/>
            <a:ext cx="2148840" cy="82296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31919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9,800 – 16,800 元/人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74519"/>
            <a:ext cx="2606040" cy="3108960"/>
          </a:xfrm>
          <a:prstGeom prst="roundRect">
            <a:avLst>
              <a:gd name="adj" fmla="val 5000"/>
            </a:avLst>
          </a:prstGeom>
          <a:solidFill>
            <a:srgbClr val="162A45"/>
          </a:solidFill>
          <a:ln w="25400">
            <a:solidFill>
              <a:srgbClr val="D9A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057399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743199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产业撮合服务费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291839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CB6B"/>
                </a:solidFill>
                <a:latin typeface="微软雅黑"/>
                <a:ea typeface="微软雅黑"/>
              </a:rPr>
              <a:t>核心利润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931919"/>
            <a:ext cx="2148840" cy="822960"/>
          </a:xfrm>
          <a:prstGeom prst="round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3931919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1B2D"/>
                </a:solidFill>
                <a:latin typeface="微软雅黑"/>
                <a:ea typeface="微软雅黑"/>
              </a:rPr>
              <a:t>5万–30万/项目 或 1%–3%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74519"/>
            <a:ext cx="2606040" cy="3108960"/>
          </a:xfrm>
          <a:prstGeom prst="roundRect">
            <a:avLst>
              <a:gd name="adj" fmla="val 5000"/>
            </a:avLst>
          </a:prstGeom>
          <a:solidFill>
            <a:srgbClr val="162A45"/>
          </a:solidFill>
          <a:ln w="12700">
            <a:solidFill>
              <a:srgbClr val="2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057399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E4A6E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43199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企业年度会员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291839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CB6B"/>
                </a:solidFill>
                <a:latin typeface="微软雅黑"/>
                <a:ea typeface="微软雅黑"/>
              </a:rPr>
              <a:t>稳定现金流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3931919"/>
            <a:ext cx="2148840" cy="82296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931919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10万 / 30万 每年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874519"/>
            <a:ext cx="2606040" cy="3108960"/>
          </a:xfrm>
          <a:prstGeom prst="roundRect">
            <a:avLst>
              <a:gd name="adj" fmla="val 5000"/>
            </a:avLst>
          </a:prstGeom>
          <a:solidFill>
            <a:srgbClr val="162A45"/>
          </a:solidFill>
          <a:ln w="12700">
            <a:solidFill>
              <a:srgbClr val="2E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057399"/>
            <a:ext cx="26060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E4A6E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743199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高阶专项项目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291839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CB6B"/>
                </a:solidFill>
                <a:latin typeface="微软雅黑"/>
                <a:ea typeface="微软雅黑"/>
              </a:rPr>
              <a:t>利润放大器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3931919"/>
            <a:ext cx="2148840" cy="82296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3931919"/>
            <a:ext cx="21488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咨询费 + 成交分成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8"/>
                </a:solidFill>
                <a:latin typeface="微软雅黑"/>
                <a:ea typeface="微软雅黑"/>
              </a:rPr>
              <a:t>逻辑主线：游学筛客 → 撮合变现 → 会员锁定现金流 → 专项项目放大利润。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7B8"/>
                </a:solidFill>
                <a:latin typeface="微软雅黑"/>
                <a:ea typeface="微软雅黑"/>
              </a:rPr>
              <a:t>钢铁 × 地产 × 产业园区 · 跨产业撮合与游学转化平台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0080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7B8"/>
                </a:solidFill>
                <a:latin typeface="微软雅黑"/>
                <a:ea typeface="微软雅黑"/>
              </a:rPr>
              <a:t>模型稿 · 控盘版本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640080" cy="6400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微软雅黑"/>
                <a:ea typeface="微软雅黑"/>
              </a:rPr>
              <a:t>基础游学套餐 · 入口层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789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E4A6E"/>
                </a:solidFill>
                <a:latin typeface="微软雅黑"/>
                <a:ea typeface="微软雅黑"/>
              </a:rPr>
              <a:t>《产业标杆游学（2.5天）》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640080" y="1737360"/>
            <a:ext cx="5394960" cy="640080"/>
          </a:xfrm>
          <a:prstGeom prst="round2Same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9377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套餐内容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493776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1B2A3A"/>
                </a:solidFill>
                <a:latin typeface="微软雅黑"/>
                <a:ea typeface="微软雅黑"/>
              </a:rPr>
              <a:t>标准规模：10–15 人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405060"/>
                </a:solidFill>
                <a:latin typeface="微软雅黑"/>
                <a:ea typeface="微软雅黑"/>
              </a:rPr>
              <a:t>• 标杆企业参访（钢铁/制造/地产/园区）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405060"/>
                </a:solidFill>
                <a:latin typeface="微软雅黑"/>
                <a:ea typeface="微软雅黑"/>
              </a:rPr>
              <a:t>• 主题交流：产业趋势 / 政策 / 场景解读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405060"/>
                </a:solidFill>
                <a:latin typeface="微软雅黑"/>
                <a:ea typeface="微软雅黑"/>
              </a:rPr>
              <a:t>• 闭门对接：高质量决策人面对面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405060"/>
                </a:solidFill>
                <a:latin typeface="微软雅黑"/>
                <a:ea typeface="微软雅黑"/>
              </a:rPr>
              <a:t>• 周期：2.5 天高密度行程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2578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6263640" y="1737360"/>
            <a:ext cx="5257800" cy="640080"/>
          </a:xfrm>
          <a:prstGeom prst="round2Same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B2D"/>
                </a:solidFill>
                <a:latin typeface="微软雅黑"/>
                <a:ea typeface="微软雅黑"/>
              </a:rPr>
              <a:t>分层报名费（筛选机制）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606040"/>
            <a:ext cx="4800600" cy="777240"/>
          </a:xfrm>
          <a:prstGeom prst="roundRect">
            <a:avLst/>
          </a:prstGeom>
          <a:solidFill>
            <a:srgbClr val="5B7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606040"/>
            <a:ext cx="22860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标准票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06040"/>
            <a:ext cx="2606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>
                <a:solidFill>
                  <a:srgbClr val="F0CB6B"/>
                </a:solidFill>
                <a:latin typeface="微软雅黑"/>
                <a:ea typeface="微软雅黑"/>
              </a:rPr>
              <a:t>9,800 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566160"/>
            <a:ext cx="4800600" cy="77724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566160"/>
            <a:ext cx="22860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进阶票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566160"/>
            <a:ext cx="2606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>
                <a:solidFill>
                  <a:srgbClr val="F0CB6B"/>
                </a:solidFill>
                <a:latin typeface="微软雅黑"/>
                <a:ea typeface="微软雅黑"/>
              </a:rPr>
              <a:t>12,800 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526280"/>
            <a:ext cx="4800600" cy="77724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526280"/>
            <a:ext cx="22860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尊享票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80"/>
            <a:ext cx="26060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>
                <a:solidFill>
                  <a:srgbClr val="F0CB6B"/>
                </a:solidFill>
                <a:latin typeface="微软雅黑"/>
                <a:ea typeface="微软雅黑"/>
              </a:rPr>
              <a:t>16,800 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8640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4A6E"/>
                </a:solidFill>
                <a:latin typeface="微软雅黑"/>
                <a:ea typeface="微软雅黑"/>
              </a:rPr>
              <a:t>用途：覆盖组织成本 + 筛掉低质量客户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钢铁 × 地产 × 产业园区 · 跨产业撮合与游学转化平台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0080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模型稿 · 控盘版本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640080" cy="640080"/>
          </a:xfrm>
          <a:prstGeom prst="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产业撮合服务费 · 核心利润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789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9A82B"/>
                </a:solidFill>
                <a:latin typeface="微软雅黑"/>
                <a:ea typeface="微软雅黑"/>
              </a:rPr>
              <a:t>只要产生交易，就必须有你的位置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适用：钢铁企业 vs 房地产/园区采购 · 制造企业 vs 场景合作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349240" cy="3108960"/>
          </a:xfrm>
          <a:prstGeom prst="roundRect">
            <a:avLst/>
          </a:prstGeom>
          <a:solidFill>
            <a:srgbClr val="162A45"/>
          </a:solidFill>
          <a:ln w="19050">
            <a:solidFill>
              <a:srgbClr val="5B7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方案 A · 项目制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7B8"/>
                </a:solidFill>
                <a:latin typeface="微软雅黑"/>
                <a:ea typeface="微软雅黑"/>
              </a:rPr>
              <a:t>适合单笔、可界定的撮合项目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11880"/>
            <a:ext cx="4800600" cy="91440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48006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0CB6B"/>
                </a:solidFill>
                <a:latin typeface="微软雅黑"/>
                <a:ea typeface="微软雅黑"/>
              </a:rPr>
              <a:t>5 万 – 30 万 / 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F1F6"/>
                </a:solidFill>
                <a:latin typeface="微软雅黑"/>
                <a:ea typeface="微软雅黑"/>
              </a:rPr>
              <a:t>✓ 现金流清晰，启动门槛低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94560"/>
            <a:ext cx="5349240" cy="3108960"/>
          </a:xfrm>
          <a:prstGeom prst="roundRect">
            <a:avLst/>
          </a:prstGeom>
          <a:solidFill>
            <a:srgbClr val="162A45"/>
          </a:solidFill>
          <a:ln w="25400">
            <a:solidFill>
              <a:srgbClr val="D9A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9A82B"/>
                </a:solidFill>
                <a:latin typeface="微软雅黑"/>
                <a:ea typeface="微软雅黑"/>
              </a:rPr>
              <a:t>方案 B · 比例制（更高级）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7180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7B8"/>
                </a:solidFill>
                <a:latin typeface="微软雅黑"/>
                <a:ea typeface="微软雅黑"/>
              </a:rPr>
              <a:t>与成交金额绑定，上不封顶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611880"/>
            <a:ext cx="4800600" cy="914400"/>
          </a:xfrm>
          <a:prstGeom prst="round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611880"/>
            <a:ext cx="48006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0F1B2D"/>
                </a:solidFill>
                <a:latin typeface="微软雅黑"/>
                <a:ea typeface="微软雅黑"/>
              </a:rPr>
              <a:t>成交金额的 1% – 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66344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EF1F6"/>
                </a:solidFill>
                <a:latin typeface="微软雅黑"/>
                <a:ea typeface="微软雅黑"/>
              </a:rPr>
              <a:t>✓ 绑定大额交易，利润弹性最大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核心逻辑：把“撮合位置”写进规则——你是交易的必经节点，而非可选环节。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7B8"/>
                </a:solidFill>
                <a:latin typeface="微软雅黑"/>
                <a:ea typeface="微软雅黑"/>
              </a:rPr>
              <a:t>钢铁 × 地产 × 产业园区 · 跨产业撮合与游学转化平台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0080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7B8"/>
                </a:solidFill>
                <a:latin typeface="微软雅黑"/>
                <a:ea typeface="微软雅黑"/>
              </a:rPr>
              <a:t>模型稿 · 控盘版本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640080" cy="6400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微软雅黑"/>
                <a:ea typeface="微软雅黑"/>
              </a:rPr>
              <a:t>产业协同会员体系 · 稳定现金流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789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E4A6E"/>
                </a:solidFill>
                <a:latin typeface="微软雅黑"/>
                <a:ea typeface="微软雅黑"/>
              </a:rPr>
              <a:t>用年度机制把客户锁进系统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777240" y="1828800"/>
            <a:ext cx="5212080" cy="1143000"/>
          </a:xfrm>
          <a:prstGeom prst="round2Same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93392"/>
            <a:ext cx="4480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基础会员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95728"/>
            <a:ext cx="44805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0CB6B"/>
                </a:solidFill>
                <a:latin typeface="微软雅黑"/>
                <a:ea typeface="微软雅黑"/>
              </a:rPr>
              <a:t>10 万 / 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91840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54558"/>
                </a:solidFill>
                <a:latin typeface="微软雅黑"/>
                <a:ea typeface="微软雅黑"/>
              </a:rPr>
              <a:t>✓  参与闭门会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58768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54558"/>
                </a:solidFill>
                <a:latin typeface="微软雅黑"/>
                <a:ea typeface="微软雅黑"/>
              </a:rPr>
              <a:t>✓  常规资源对接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25696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54558"/>
                </a:solidFill>
                <a:latin typeface="微软雅黑"/>
                <a:ea typeface="微软雅黑"/>
              </a:rPr>
              <a:t>✓  游学优先报名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828800"/>
            <a:ext cx="521208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A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6537960" y="1828800"/>
            <a:ext cx="5212080" cy="1143000"/>
          </a:xfrm>
          <a:prstGeom prst="round2Same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993392"/>
            <a:ext cx="44805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高级会员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395728"/>
            <a:ext cx="44805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0CB6B"/>
                </a:solidFill>
                <a:latin typeface="微软雅黑"/>
                <a:ea typeface="微软雅黑"/>
              </a:rPr>
              <a:t>30 万 /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91840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54558"/>
                </a:solidFill>
                <a:latin typeface="微软雅黑"/>
                <a:ea typeface="微软雅黑"/>
              </a:rPr>
              <a:t>✓  优先撮合机会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858768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54558"/>
                </a:solidFill>
                <a:latin typeface="微软雅黑"/>
                <a:ea typeface="微软雅黑"/>
              </a:rPr>
              <a:t>✓  定向资源对接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425696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54558"/>
                </a:solidFill>
                <a:latin typeface="微软雅黑"/>
                <a:ea typeface="微软雅黑"/>
              </a:rPr>
              <a:t>✓  深度参与闭门会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992624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54558"/>
                </a:solidFill>
                <a:latin typeface="微软雅黑"/>
                <a:ea typeface="微软雅黑"/>
              </a:rPr>
              <a:t>✓  专项项目优先权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钢铁 × 地产 × 产业园区 · 跨产业撮合与游学转化平台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模型稿 · 控盘版本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640080" cy="640080"/>
          </a:xfrm>
          <a:prstGeom prst="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专项产业项目 · 利润放大器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789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9A82B"/>
                </a:solidFill>
                <a:latin typeface="微软雅黑"/>
                <a:ea typeface="微软雅黑"/>
              </a:rPr>
              <a:t>把撮合升级为可落地的产业项目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2331720"/>
          </a:xfrm>
          <a:prstGeom prst="roundRect">
            <a:avLst/>
          </a:prstGeom>
          <a:solidFill>
            <a:srgbClr val="162A45"/>
          </a:solidFill>
          <a:ln w="19050">
            <a:solidFill>
              <a:srgbClr val="5B7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28016" cy="2331720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29718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钢铁材料 地产项目试点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7B8"/>
                </a:solidFill>
                <a:latin typeface="微软雅黑"/>
                <a:ea typeface="微软雅黑"/>
              </a:rPr>
              <a:t>新材料进入地产应用场景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783080"/>
            <a:ext cx="3520440" cy="2331720"/>
          </a:xfrm>
          <a:prstGeom prst="roundRect">
            <a:avLst/>
          </a:prstGeom>
          <a:solidFill>
            <a:srgbClr val="162A45"/>
          </a:solidFill>
          <a:ln w="19050">
            <a:solidFill>
              <a:srgbClr val="5B7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783080"/>
            <a:ext cx="128016" cy="2331720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148840"/>
            <a:ext cx="29718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园区绿色 材料改造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383280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7B8"/>
                </a:solidFill>
                <a:latin typeface="微软雅黑"/>
                <a:ea typeface="微软雅黑"/>
              </a:rPr>
              <a:t>存量园区的低碳升级改造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783080"/>
            <a:ext cx="3520440" cy="2331720"/>
          </a:xfrm>
          <a:prstGeom prst="roundRect">
            <a:avLst/>
          </a:prstGeom>
          <a:solidFill>
            <a:srgbClr val="162A45"/>
          </a:solidFill>
          <a:ln w="19050">
            <a:solidFill>
              <a:srgbClr val="5B7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1783080"/>
            <a:ext cx="128016" cy="2331720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4" y="2148840"/>
            <a:ext cx="29718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智能制造 导入地产场景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3383280"/>
            <a:ext cx="2971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7B8"/>
                </a:solidFill>
                <a:latin typeface="微软雅黑"/>
                <a:ea typeface="微软雅黑"/>
              </a:rPr>
              <a:t>制造能力对接地产需求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26280"/>
            <a:ext cx="10881360" cy="118872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100584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收费结构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83480"/>
            <a:ext cx="100584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项目咨询费  +  成交分成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AA7B8"/>
                </a:solidFill>
                <a:latin typeface="微软雅黑"/>
                <a:ea typeface="微软雅黑"/>
              </a:rPr>
              <a:t>钢铁 × 地产 × 产业园区 · 跨产业撮合与游学转化平台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0080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AA7B8"/>
                </a:solidFill>
                <a:latin typeface="微软雅黑"/>
                <a:ea typeface="微软雅黑"/>
              </a:rPr>
              <a:t>模型稿 · 控盘版本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640080" cy="6400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微软雅黑"/>
                <a:ea typeface="微软雅黑"/>
              </a:rPr>
              <a:t>分工收益结构 · 你必须掌控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789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E4A6E"/>
                </a:solidFill>
                <a:latin typeface="微软雅黑"/>
                <a:ea typeface="微软雅黑"/>
              </a:rPr>
              <a:t>收费权 + 撮合费 + 项目费 始终在主办方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10607040" cy="64008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2926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920240"/>
            <a:ext cx="45720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收益内容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920240"/>
            <a:ext cx="292608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分成 / 占比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97480"/>
            <a:ext cx="10607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109728" cy="914400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697480"/>
            <a:ext cx="29260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3A"/>
                </a:solidFill>
                <a:latin typeface="微软雅黑"/>
                <a:ea typeface="微软雅黑"/>
              </a:rPr>
              <a:t>你（主办方）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697480"/>
            <a:ext cx="45720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5060"/>
                </a:solidFill>
                <a:latin typeface="微软雅黑"/>
                <a:ea typeface="微软雅黑"/>
              </a:rPr>
              <a:t>收费权 + 撮合费 + 项目费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697480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9A82B"/>
                </a:solidFill>
                <a:latin typeface="微软雅黑"/>
                <a:ea typeface="微软雅黑"/>
              </a:rPr>
              <a:t>100% 控盘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49040"/>
            <a:ext cx="10607040" cy="914400"/>
          </a:xfrm>
          <a:prstGeom prst="roundRect">
            <a:avLst/>
          </a:prstGeom>
          <a:solidFill>
            <a:srgbClr val="ECF0F6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49040"/>
            <a:ext cx="109728" cy="914400"/>
          </a:xfrm>
          <a:prstGeom prst="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749040"/>
            <a:ext cx="29260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3A"/>
                </a:solidFill>
                <a:latin typeface="微软雅黑"/>
                <a:ea typeface="微软雅黑"/>
              </a:rPr>
              <a:t>中钢协分会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749040"/>
            <a:ext cx="45720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5060"/>
                </a:solidFill>
                <a:latin typeface="微软雅黑"/>
                <a:ea typeface="微软雅黑"/>
              </a:rPr>
              <a:t>渠道分成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749040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4A6E"/>
                </a:solidFill>
                <a:latin typeface="微软雅黑"/>
                <a:ea typeface="微软雅黑"/>
              </a:rPr>
              <a:t>20% – 30%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00600"/>
            <a:ext cx="10607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00600"/>
            <a:ext cx="109728" cy="914400"/>
          </a:xfrm>
          <a:prstGeom prst="rect">
            <a:avLst/>
          </a:prstGeom>
          <a:solidFill>
            <a:srgbClr val="5B7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800600"/>
            <a:ext cx="29260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3A"/>
                </a:solidFill>
                <a:latin typeface="微软雅黑"/>
                <a:ea typeface="微软雅黑"/>
              </a:rPr>
              <a:t>企业参与方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800600"/>
            <a:ext cx="45720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05060"/>
                </a:solidFill>
                <a:latin typeface="微软雅黑"/>
                <a:ea typeface="微软雅黑"/>
              </a:rPr>
              <a:t>获得资源对接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4800600"/>
            <a:ext cx="21945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4A6E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E4A6E"/>
                </a:solidFill>
                <a:latin typeface="微软雅黑"/>
                <a:ea typeface="微软雅黑"/>
              </a:rPr>
              <a:t>底线：渠道方拿渠道分成，但需求入口、撮合规则与收费权不外放。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钢铁 × 地产 × 产业园区 · 跨产业撮合与游学转化平台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模型稿 · 控盘版本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45720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45720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9A82B"/>
                </a:solidFill>
                <a:latin typeface="微软雅黑"/>
                <a:ea typeface="微软雅黑"/>
              </a:rPr>
              <a:t>对外统一口径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3272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我们不是做游学活动，</a:t>
            </a:r>
          </a:p>
          <a:p>
            <a:pPr algn="ctr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而是做“钢铁产业与地产/园区之间的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0CB6B"/>
                </a:solidFill>
                <a:latin typeface="微软雅黑"/>
                <a:ea typeface="微软雅黑"/>
              </a:rPr>
              <a:t>需求撮合与项目转化平台”。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9AA7B8"/>
                </a:solidFill>
                <a:latin typeface="微软雅黑"/>
                <a:ea typeface="微软雅黑"/>
              </a:rPr>
              <a:t>本质：建立一个“产业交易入口 + 收费规则系统”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5669280"/>
            <a:ext cx="2834640" cy="64008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5669280"/>
            <a:ext cx="28346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● 需求入口（你）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669280"/>
            <a:ext cx="2834640" cy="64008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5669280"/>
            <a:ext cx="28346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● 撮合规则（你）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5669280"/>
            <a:ext cx="2834640" cy="640080"/>
          </a:xfrm>
          <a:prstGeom prst="roundRect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5669280"/>
            <a:ext cx="28346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0CB6B"/>
                </a:solidFill>
                <a:latin typeface="微软雅黑"/>
                <a:ea typeface="微软雅黑"/>
              </a:rPr>
              <a:t>● 收费权（你）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566928"/>
          </a:xfrm>
          <a:prstGeom prst="rect">
            <a:avLst/>
          </a:prstGeom>
          <a:solidFill>
            <a:srgbClr val="D9A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640080" cy="6400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D9A82B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114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微软雅黑"/>
                <a:ea typeface="微软雅黑"/>
              </a:rPr>
              <a:t>下一步 · 锁死主动权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078992"/>
            <a:ext cx="9601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E4A6E"/>
                </a:solidFill>
                <a:latin typeface="微软雅黑"/>
                <a:ea typeface="微软雅黑"/>
              </a:rPr>
              <a:t>把规则与收费权彻底握在手里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2240280"/>
            <a:ext cx="822960" cy="822960"/>
          </a:xfrm>
          <a:prstGeom prst="ellipse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0CB6B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94560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3A"/>
                </a:solidFill>
                <a:latin typeface="微软雅黑"/>
                <a:ea typeface="微软雅黑"/>
              </a:rPr>
              <a:t>对中钢协分会谈判话术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743200"/>
            <a:ext cx="37033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455566"/>
                </a:solidFill>
                <a:latin typeface="微软雅黑"/>
                <a:ea typeface="微软雅黑"/>
              </a:rPr>
              <a:t>明确合作边界与对外口径，避免资源被反向拿走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92024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79" y="2240280"/>
            <a:ext cx="822960" cy="822960"/>
          </a:xfrm>
          <a:prstGeom prst="ellipse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0CB6B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2194560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3A"/>
                </a:solidFill>
                <a:latin typeface="微软雅黑"/>
                <a:ea typeface="微软雅黑"/>
              </a:rPr>
              <a:t>分成底线模型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39" y="2743200"/>
            <a:ext cx="37033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455566"/>
                </a:solidFill>
                <a:latin typeface="微软雅黑"/>
                <a:ea typeface="微软雅黑"/>
              </a:rPr>
              <a:t>设定渠道分成上限（20%–30%）与不可让渡条款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8620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4206240"/>
            <a:ext cx="822960" cy="822960"/>
          </a:xfrm>
          <a:prstGeom prst="ellipse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0CB6B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160520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3A"/>
                </a:solidFill>
                <a:latin typeface="微软雅黑"/>
                <a:ea typeface="微软雅黑"/>
              </a:rPr>
              <a:t>需求入口锁定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709160"/>
            <a:ext cx="37033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455566"/>
                </a:solidFill>
                <a:latin typeface="微软雅黑"/>
                <a:ea typeface="微软雅黑"/>
              </a:rPr>
              <a:t>需求登记与撮合流程统一由主办方归集与分发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88620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79" y="4206240"/>
            <a:ext cx="822960" cy="822960"/>
          </a:xfrm>
          <a:prstGeom prst="ellipse">
            <a:avLst/>
          </a:prstGeom>
          <a:solidFill>
            <a:srgbClr val="2E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0CB6B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39" y="4160520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A3A"/>
                </a:solidFill>
                <a:latin typeface="微软雅黑"/>
                <a:ea typeface="微软雅黑"/>
              </a:rPr>
              <a:t>收费规则固化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39" y="4709160"/>
            <a:ext cx="37033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455566"/>
                </a:solidFill>
                <a:latin typeface="微软雅黑"/>
                <a:ea typeface="微软雅黑"/>
              </a:rPr>
              <a:t>游学 / 撮合 / 会员 / 项目四类收费写入标准协议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钢铁 × 地产 × 产业园区 · 跨产业撮合与游学转化平台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0080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B7AA6"/>
                </a:solidFill>
                <a:latin typeface="微软雅黑"/>
                <a:ea typeface="微软雅黑"/>
              </a:rPr>
              <a:t>模型稿 · 控盘版本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