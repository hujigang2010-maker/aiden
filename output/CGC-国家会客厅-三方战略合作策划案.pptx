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480560"/>
            <a:ext cx="12191695" cy="3810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C9A24B"/>
                </a:solidFill>
                <a:latin typeface="Microsoft YaHei"/>
                <a:ea typeface="Microsoft YaHei"/>
              </a:rPr>
              <a:t>复旦政策研究中心 × 杨浦科技企业联合会 × 郡邦·总领事俱乐部(CGC)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9456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600" b="1">
                <a:solidFill>
                  <a:srgbClr val="FFFFFF"/>
                </a:solidFill>
                <a:latin typeface="Microsoft YaHei"/>
                <a:ea typeface="Microsoft YaHei"/>
              </a:rPr>
              <a:t>CGC · 国家会客厅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338328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F4F6F9"/>
                </a:solidFill>
                <a:latin typeface="Microsoft YaHei"/>
                <a:ea typeface="Microsoft YaHei"/>
              </a:rPr>
              <a:t>总领事俱乐部 × 长三角：城市开放与企业出海合作计划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470916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C9A24B"/>
                </a:solidFill>
                <a:latin typeface="Microsoft YaHei"/>
                <a:ea typeface="Microsoft YaHei"/>
              </a:rPr>
              <a:t>三方战略合作策划案（建议稿）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603504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B6B7B"/>
                </a:solidFill>
                <a:latin typeface="Microsoft YaHei"/>
                <a:ea typeface="Microsoft YaHei"/>
              </a:rPr>
              <a:t>地标空间：上海·金茂大厦86楼　|　V2.0 · 建议稿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377440"/>
            <a:ext cx="1463040" cy="5080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651760"/>
            <a:ext cx="27432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600" b="1">
                <a:solidFill>
                  <a:srgbClr val="C9A24B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08960" y="2788920"/>
            <a:ext cx="822960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Microsoft YaHei"/>
                <a:ea typeface="Microsoft YaHei"/>
              </a:rPr>
              <a:t>背景与机遇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54680" y="3886200"/>
            <a:ext cx="8229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F4F6F9"/>
                </a:solidFill>
                <a:latin typeface="Microsoft YaHei"/>
                <a:ea typeface="Microsoft YaHei"/>
              </a:rPr>
              <a:t>CGC 总领事俱乐部 · 长三角领区 · 稀缺资源叠加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810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</a:rPr>
              <a:t>一、合作对象：总领事俱乐部（CGC）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109728"/>
            <a:ext cx="11887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C9A24B"/>
                </a:solidFill>
                <a:latin typeface="Microsoft YaHei"/>
                <a:ea typeface="Microsoft YaHei"/>
              </a:rPr>
              <a:t>01/20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8813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350" b="1">
                <a:solidFill>
                  <a:srgbClr val="C9A24B"/>
                </a:solidFill>
                <a:latin typeface="Microsoft YaHei"/>
                <a:ea typeface="Microsoft YaHei"/>
              </a:rPr>
              <a:t>●  </a:t>
            </a:r>
            <a:r>
              <a:rPr sz="1550" b="0">
                <a:solidFill>
                  <a:srgbClr val="1E2933"/>
                </a:solidFill>
                <a:latin typeface="Microsoft YaHei"/>
                <a:ea typeface="Microsoft YaHei"/>
              </a:rPr>
              <a:t>组织：总领事俱乐部（CGC, Shanghai Consul Generals Club），驻沪 70 多国总领事支持、领团团长主导的非正式组织。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350" b="1">
                <a:solidFill>
                  <a:srgbClr val="C9A24B"/>
                </a:solidFill>
                <a:latin typeface="Microsoft YaHei"/>
                <a:ea typeface="Microsoft YaHei"/>
              </a:rPr>
              <a:t>●  </a:t>
            </a:r>
            <a:r>
              <a:rPr sz="1550" b="0">
                <a:solidFill>
                  <a:srgbClr val="1E2933"/>
                </a:solidFill>
                <a:latin typeface="Microsoft YaHei"/>
                <a:ea typeface="Microsoft YaHei"/>
              </a:rPr>
              <a:t>选址：2023 年正式落户上海·金茂大厦 86 层，设领事接待与俱乐部空间。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350" b="1">
                <a:solidFill>
                  <a:srgbClr val="C9A24B"/>
                </a:solidFill>
                <a:latin typeface="Microsoft YaHei"/>
                <a:ea typeface="Microsoft YaHei"/>
              </a:rPr>
              <a:t>●  </a:t>
            </a:r>
            <a:r>
              <a:rPr sz="1550" b="0">
                <a:solidFill>
                  <a:srgbClr val="1E2933"/>
                </a:solidFill>
                <a:latin typeface="Microsoft YaHei"/>
                <a:ea typeface="Microsoft YaHei"/>
              </a:rPr>
              <a:t>领导：现任驻沪领团团长为斐济驻沪总领事陈玉茹博士，具高公信力与号召力。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350" b="1">
                <a:solidFill>
                  <a:srgbClr val="C9A24B"/>
                </a:solidFill>
                <a:latin typeface="Microsoft YaHei"/>
                <a:ea typeface="Microsoft YaHei"/>
              </a:rPr>
              <a:t>●  </a:t>
            </a:r>
            <a:r>
              <a:rPr sz="1550" b="0">
                <a:solidFill>
                  <a:srgbClr val="1E2933"/>
                </a:solidFill>
                <a:latin typeface="Microsoft YaHei"/>
                <a:ea typeface="Microsoft YaHei"/>
              </a:rPr>
              <a:t>运营：由郡邦（上海）文化交流发展有限公司承办，具备活动落地与传播能力。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350" b="1">
                <a:solidFill>
                  <a:srgbClr val="C9A24B"/>
                </a:solidFill>
                <a:latin typeface="Microsoft YaHei"/>
                <a:ea typeface="Microsoft YaHei"/>
              </a:rPr>
              <a:t>●  </a:t>
            </a:r>
            <a:r>
              <a:rPr sz="1550" b="0">
                <a:solidFill>
                  <a:srgbClr val="1E2933"/>
                </a:solidFill>
                <a:latin typeface="Microsoft YaHei"/>
                <a:ea typeface="Microsoft YaHei"/>
              </a:rPr>
              <a:t>领区：覆盖长三角——上海、江苏、浙江、安徽，是天然的‘对外开放 + 招商’纽带。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4251960"/>
            <a:ext cx="11274552" cy="54864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4251960"/>
            <a:ext cx="109728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0B2A4A"/>
                </a:solidFill>
                <a:latin typeface="Microsoft YaHei"/>
                <a:ea typeface="Microsoft YaHei"/>
              </a:rPr>
              <a:t>宗旨：促进成员交流合作 · 推动各国与领区双边关系、经贸与旅游 · 发展国际文化与友好关系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9834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B6B7B"/>
                </a:solidFill>
                <a:latin typeface="Microsoft YaHei"/>
                <a:ea typeface="Microsoft YaHei"/>
              </a:rPr>
              <a:t>运营承办：郡邦（上海）文化交流发展有限公司　|　公众号：gh_79ebe44ac3d2（CGC）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B6B7B"/>
                </a:solidFill>
                <a:latin typeface="Microsoft YaHei"/>
                <a:ea typeface="Microsoft YaHei"/>
              </a:rPr>
              <a:t>CGC · 国家会客厅 · 三方战略合作策划案（建议稿）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810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</a:rPr>
              <a:t>一、背景与机遇：稀缺资源的叠加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109728"/>
            <a:ext cx="11887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C9A24B"/>
                </a:solidFill>
                <a:latin typeface="Microsoft YaHei"/>
                <a:ea typeface="Microsoft YaHei"/>
              </a:rPr>
              <a:t>02/20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B2A4A"/>
                </a:solidFill>
                <a:latin typeface="Microsoft YaHei"/>
                <a:ea typeface="Microsoft YaHei"/>
              </a:rPr>
              <a:t>资源现状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8308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300" b="1">
                <a:solidFill>
                  <a:srgbClr val="C9A24B"/>
                </a:solidFill>
                <a:latin typeface="Microsoft YaHei"/>
                <a:ea typeface="Microsoft YaHei"/>
              </a:rPr>
              <a:t>●  </a:t>
            </a:r>
            <a:r>
              <a:rPr sz="1500" b="0">
                <a:solidFill>
                  <a:srgbClr val="1E2933"/>
                </a:solidFill>
                <a:latin typeface="Microsoft YaHei"/>
                <a:ea typeface="Microsoft YaHei"/>
              </a:rPr>
              <a:t>稀缺资源叠加：70+ 国领事人脉 + 金茂 86 层地标空间 + 高校政策背书。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300" b="1">
                <a:solidFill>
                  <a:srgbClr val="C9A24B"/>
                </a:solidFill>
                <a:latin typeface="Microsoft YaHei"/>
                <a:ea typeface="Microsoft YaHei"/>
              </a:rPr>
              <a:t>●  </a:t>
            </a:r>
            <a:r>
              <a:rPr sz="1500" b="0">
                <a:solidFill>
                  <a:srgbClr val="1E2933"/>
                </a:solidFill>
                <a:latin typeface="Microsoft YaHei"/>
                <a:ea typeface="Microsoft YaHei"/>
              </a:rPr>
              <a:t>区域纵深：领区覆盖上海、江苏、浙江、安徽，可服务长三角招商与外资落地。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300" b="1">
                <a:solidFill>
                  <a:srgbClr val="C9A24B"/>
                </a:solidFill>
                <a:latin typeface="Microsoft YaHei"/>
                <a:ea typeface="Microsoft YaHei"/>
              </a:rPr>
              <a:t>●  </a:t>
            </a:r>
            <a:r>
              <a:rPr sz="1500" b="0">
                <a:solidFill>
                  <a:srgbClr val="1E2933"/>
                </a:solidFill>
                <a:latin typeface="Microsoft YaHei"/>
                <a:ea typeface="Microsoft YaHei"/>
              </a:rPr>
              <a:t>已有品牌与公信力：CGC 既有活动与领团团长背书，无需从零启动。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300" b="1">
                <a:solidFill>
                  <a:srgbClr val="C9A24B"/>
                </a:solidFill>
                <a:latin typeface="Microsoft YaHei"/>
                <a:ea typeface="Microsoft YaHei"/>
              </a:rPr>
              <a:t>●  </a:t>
            </a:r>
            <a:r>
              <a:rPr sz="1500" b="0">
                <a:solidFill>
                  <a:srgbClr val="1E2933"/>
                </a:solidFill>
                <a:latin typeface="Microsoft YaHei"/>
                <a:ea typeface="Microsoft YaHei"/>
              </a:rPr>
              <a:t>政府友好生态：与市/区外办、区级招商保持良性互动，便于资源对接。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5080" y="1325880"/>
            <a:ext cx="5303520" cy="45720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46304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B2A4A"/>
                </a:solidFill>
                <a:latin typeface="Microsoft YaHei"/>
                <a:ea typeface="Microsoft YaHei"/>
              </a:rPr>
              <a:t>机遇与思路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011680"/>
            <a:ext cx="4937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300" b="1">
                <a:solidFill>
                  <a:srgbClr val="C9A24B"/>
                </a:solidFill>
                <a:latin typeface="Microsoft YaHei"/>
                <a:ea typeface="Microsoft YaHei"/>
              </a:rPr>
              <a:t>●  </a:t>
            </a:r>
            <a:r>
              <a:rPr sz="1500" b="0">
                <a:solidFill>
                  <a:srgbClr val="1E2933"/>
                </a:solidFill>
                <a:latin typeface="Microsoft YaHei"/>
                <a:ea typeface="Microsoft YaHei"/>
              </a:rPr>
              <a:t>把‘领事关系 + CGC 品牌’沉淀为可复制、可收费的产品与服务体系。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300" b="1">
                <a:solidFill>
                  <a:srgbClr val="C9A24B"/>
                </a:solidFill>
                <a:latin typeface="Microsoft YaHei"/>
                <a:ea typeface="Microsoft YaHei"/>
              </a:rPr>
              <a:t>●  </a:t>
            </a:r>
            <a:r>
              <a:rPr sz="1500" b="0">
                <a:solidFill>
                  <a:srgbClr val="1E2933"/>
                </a:solidFill>
                <a:latin typeface="Microsoft YaHei"/>
                <a:ea typeface="Microsoft YaHei"/>
              </a:rPr>
              <a:t>用‘小道大道’：先以小型高频活动深化链接，再放大为长三角级开放平台。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300" b="1">
                <a:solidFill>
                  <a:srgbClr val="C9A24B"/>
                </a:solidFill>
                <a:latin typeface="Microsoft YaHei"/>
                <a:ea typeface="Microsoft YaHei"/>
              </a:rPr>
              <a:t>●  </a:t>
            </a:r>
            <a:r>
              <a:rPr sz="1500" b="0">
                <a:solidFill>
                  <a:srgbClr val="1E2933"/>
                </a:solidFill>
                <a:latin typeface="Microsoft YaHei"/>
                <a:ea typeface="Microsoft YaHei"/>
              </a:rPr>
              <a:t>以‘国家会客厅’为旗舰载体，帮助企业、园区与政府对接外资与海外市场。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300" b="1">
                <a:solidFill>
                  <a:srgbClr val="C9A24B"/>
                </a:solidFill>
                <a:latin typeface="Microsoft YaHei"/>
                <a:ea typeface="Microsoft YaHei"/>
              </a:rPr>
              <a:t>●  </a:t>
            </a:r>
            <a:r>
              <a:rPr sz="1500" b="0">
                <a:solidFill>
                  <a:srgbClr val="1E2933"/>
                </a:solidFill>
                <a:latin typeface="Microsoft YaHei"/>
                <a:ea typeface="Microsoft YaHei"/>
              </a:rPr>
              <a:t>把既有活动（午餐会/慈善之夜/对话会）升级为冠名、赞助、会籍等现金流。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B6B7B"/>
                </a:solidFill>
                <a:latin typeface="Microsoft YaHei"/>
                <a:ea typeface="Microsoft YaHei"/>
              </a:rPr>
              <a:t>CGC · 国家会客厅 · 三方战略合作策划案（建议稿）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810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</a:rPr>
              <a:t>二、CGC 既有品牌资产：在已有基础上升级变现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109728"/>
            <a:ext cx="11887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C9A24B"/>
                </a:solidFill>
                <a:latin typeface="Microsoft YaHei"/>
                <a:ea typeface="Microsoft YaHei"/>
              </a:rPr>
              <a:t>03/20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B2A4A"/>
                </a:solidFill>
                <a:latin typeface="Microsoft YaHei"/>
                <a:ea typeface="Microsoft YaHei"/>
              </a:rPr>
              <a:t>不必从零启动——CGC 已沉淀一批可直接升级为收入的品牌活动：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108813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350" b="1">
                <a:solidFill>
                  <a:srgbClr val="C9A24B"/>
                </a:solidFill>
                <a:latin typeface="Microsoft YaHei"/>
                <a:ea typeface="Microsoft YaHei"/>
              </a:rPr>
              <a:t>●  </a:t>
            </a:r>
            <a:r>
              <a:rPr sz="1550" b="0">
                <a:solidFill>
                  <a:srgbClr val="1E2933"/>
                </a:solidFill>
                <a:latin typeface="Microsoft YaHei"/>
                <a:ea typeface="Microsoft YaHei"/>
              </a:rPr>
              <a:t>总领事午餐会：领团定期交流活动，关系维护的高频载体。</a:t>
            </a:r>
          </a:p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350" b="1">
                <a:solidFill>
                  <a:srgbClr val="C9A24B"/>
                </a:solidFill>
                <a:latin typeface="Microsoft YaHei"/>
                <a:ea typeface="Microsoft YaHei"/>
              </a:rPr>
              <a:t>●  </a:t>
            </a:r>
            <a:r>
              <a:rPr sz="1550" b="0">
                <a:solidFill>
                  <a:srgbClr val="1E2933"/>
                </a:solidFill>
                <a:latin typeface="Microsoft YaHei"/>
                <a:ea typeface="Microsoft YaHei"/>
              </a:rPr>
              <a:t>总领事文化慈善之夜：2023 首届汇聚 60+ 国总领事、300+ 嘉宾，义拍善款 40 万+。</a:t>
            </a:r>
          </a:p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350" b="1">
                <a:solidFill>
                  <a:srgbClr val="C9A24B"/>
                </a:solidFill>
                <a:latin typeface="Microsoft YaHei"/>
                <a:ea typeface="Microsoft YaHei"/>
              </a:rPr>
              <a:t>●  </a:t>
            </a:r>
            <a:r>
              <a:rPr sz="1550" b="0">
                <a:solidFill>
                  <a:srgbClr val="1E2933"/>
                </a:solidFill>
                <a:latin typeface="Microsoft YaHei"/>
                <a:ea typeface="Microsoft YaHei"/>
              </a:rPr>
              <a:t>总领事与企业家对话会：政商对话品牌，天然连接领事与企业。</a:t>
            </a:r>
          </a:p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350" b="1">
                <a:solidFill>
                  <a:srgbClr val="C9A24B"/>
                </a:solidFill>
                <a:latin typeface="Microsoft YaHei"/>
                <a:ea typeface="Microsoft YaHei"/>
              </a:rPr>
              <a:t>●  </a:t>
            </a:r>
            <a:r>
              <a:rPr sz="1550" b="0">
                <a:solidFill>
                  <a:srgbClr val="1E2933"/>
                </a:solidFill>
                <a:latin typeface="Microsoft YaHei"/>
                <a:ea typeface="Microsoft YaHei"/>
              </a:rPr>
              <a:t>CG Band（总领事乐队）与美爱艺术团：文化演出 IP，强化会客厅文化体验。</a:t>
            </a:r>
          </a:p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350" b="1">
                <a:solidFill>
                  <a:srgbClr val="C9A24B"/>
                </a:solidFill>
                <a:latin typeface="Microsoft YaHei"/>
                <a:ea typeface="Microsoft YaHei"/>
              </a:rPr>
              <a:t>●  </a:t>
            </a:r>
            <a:r>
              <a:rPr sz="1550" b="0">
                <a:solidFill>
                  <a:srgbClr val="1E2933"/>
                </a:solidFill>
                <a:latin typeface="Microsoft YaHei"/>
                <a:ea typeface="Microsoft YaHei"/>
              </a:rPr>
              <a:t>CGC 双语专访与公众号：国别推介与传播能力，可承载企业品牌内容。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B6B7B"/>
                </a:solidFill>
                <a:latin typeface="Microsoft YaHei"/>
                <a:ea typeface="Microsoft YaHei"/>
              </a:rPr>
              <a:t>CGC · 国家会客厅 · 三方战略合作策划案（建议稿）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810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</a:rPr>
              <a:t>二、合作三方与定位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109728"/>
            <a:ext cx="11887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C9A24B"/>
                </a:solidFill>
                <a:latin typeface="Microsoft YaHei"/>
                <a:ea typeface="Microsoft YaHei"/>
              </a:rPr>
              <a:t>04/20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3657600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3657600" cy="123444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481328"/>
            <a:ext cx="338328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</a:rPr>
              <a:t>复旦大学政党建设研究中心
（或相关政策研究中心）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2743200"/>
            <a:ext cx="2743200" cy="50292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743200"/>
            <a:ext cx="2743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0B2A4A"/>
                </a:solidFill>
                <a:latin typeface="Microsoft YaHei"/>
                <a:ea typeface="Microsoft YaHei"/>
              </a:rPr>
              <a:t>学术与政策背书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47472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000" b="1">
                <a:solidFill>
                  <a:srgbClr val="C9A24B"/>
                </a:solidFill>
                <a:latin typeface="Microsoft YaHei"/>
                <a:ea typeface="Microsoft YaHei"/>
              </a:rPr>
              <a:t>·  </a:t>
            </a:r>
            <a:r>
              <a:rPr sz="1200" b="0">
                <a:solidFill>
                  <a:srgbClr val="1E2933"/>
                </a:solidFill>
                <a:latin typeface="Microsoft YaHei"/>
                <a:ea typeface="Microsoft YaHei"/>
              </a:rPr>
              <a:t>提供智库背书与课题研究，提升活动权威性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000" b="1">
                <a:solidFill>
                  <a:srgbClr val="C9A24B"/>
                </a:solidFill>
                <a:latin typeface="Microsoft YaHei"/>
                <a:ea typeface="Microsoft YaHei"/>
              </a:rPr>
              <a:t>·  </a:t>
            </a:r>
            <a:r>
              <a:rPr sz="1200" b="0">
                <a:solidFill>
                  <a:srgbClr val="1E2933"/>
                </a:solidFill>
                <a:latin typeface="Microsoft YaHei"/>
                <a:ea typeface="Microsoft YaHei"/>
              </a:rPr>
              <a:t>主办政商对话、国别营商环境与政策研究报告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000" b="1">
                <a:solidFill>
                  <a:srgbClr val="C9A24B"/>
                </a:solidFill>
                <a:latin typeface="Microsoft YaHei"/>
                <a:ea typeface="Microsoft YaHei"/>
              </a:rPr>
              <a:t>·  </a:t>
            </a:r>
            <a:r>
              <a:rPr sz="1200" b="0">
                <a:solidFill>
                  <a:srgbClr val="1E2933"/>
                </a:solidFill>
                <a:latin typeface="Microsoft YaHei"/>
                <a:ea typeface="Microsoft YaHei"/>
              </a:rPr>
              <a:t>承接领导力研修、干部/企业家培训课程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000" b="1">
                <a:solidFill>
                  <a:srgbClr val="C9A24B"/>
                </a:solidFill>
                <a:latin typeface="Microsoft YaHei"/>
                <a:ea typeface="Microsoft YaHei"/>
              </a:rPr>
              <a:t>·  </a:t>
            </a:r>
            <a:r>
              <a:rPr sz="1200" b="0">
                <a:solidFill>
                  <a:srgbClr val="1E2933"/>
                </a:solidFill>
                <a:latin typeface="Microsoft YaHei"/>
                <a:ea typeface="Microsoft YaHei"/>
              </a:rPr>
              <a:t>保障内容中立、合规与学术品质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61688" y="1371600"/>
            <a:ext cx="3657600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61688" y="1371600"/>
            <a:ext cx="3657600" cy="123444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98848" y="1481328"/>
            <a:ext cx="338328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</a:rPr>
              <a:t>上海市杨浦区
科技企业联合会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18888" y="2743200"/>
            <a:ext cx="2743200" cy="50292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18888" y="2743200"/>
            <a:ext cx="2743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0B2A4A"/>
                </a:solidFill>
                <a:latin typeface="Microsoft YaHei"/>
                <a:ea typeface="Microsoft YaHei"/>
              </a:rPr>
              <a:t>企业资源与产业落地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0288" y="347472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000" b="1">
                <a:solidFill>
                  <a:srgbClr val="C9A24B"/>
                </a:solidFill>
                <a:latin typeface="Microsoft YaHei"/>
                <a:ea typeface="Microsoft YaHei"/>
              </a:rPr>
              <a:t>·  </a:t>
            </a:r>
            <a:r>
              <a:rPr sz="1200" b="0">
                <a:solidFill>
                  <a:srgbClr val="1E2933"/>
                </a:solidFill>
                <a:latin typeface="Microsoft YaHei"/>
                <a:ea typeface="Microsoft YaHei"/>
              </a:rPr>
              <a:t>导入企业会员池，组织付费方与赞助方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000" b="1">
                <a:solidFill>
                  <a:srgbClr val="C9A24B"/>
                </a:solidFill>
                <a:latin typeface="Microsoft YaHei"/>
                <a:ea typeface="Microsoft YaHei"/>
              </a:rPr>
              <a:t>·  </a:t>
            </a:r>
            <a:r>
              <a:rPr sz="1200" b="0">
                <a:solidFill>
                  <a:srgbClr val="1E2933"/>
                </a:solidFill>
                <a:latin typeface="Microsoft YaHei"/>
                <a:ea typeface="Microsoft YaHei"/>
              </a:rPr>
              <a:t>对接杨浦区及长三角园区、政府招商与外资落地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000" b="1">
                <a:solidFill>
                  <a:srgbClr val="C9A24B"/>
                </a:solidFill>
                <a:latin typeface="Microsoft YaHei"/>
                <a:ea typeface="Microsoft YaHei"/>
              </a:rPr>
              <a:t>·  </a:t>
            </a:r>
            <a:r>
              <a:rPr sz="1200" b="0">
                <a:solidFill>
                  <a:srgbClr val="1E2933"/>
                </a:solidFill>
                <a:latin typeface="Microsoft YaHei"/>
                <a:ea typeface="Microsoft YaHei"/>
              </a:rPr>
              <a:t>承接企业出海、商务对接的需求侧组织工作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000" b="1">
                <a:solidFill>
                  <a:srgbClr val="C9A24B"/>
                </a:solidFill>
                <a:latin typeface="Microsoft YaHei"/>
                <a:ea typeface="Microsoft YaHei"/>
              </a:rPr>
              <a:t>·  </a:t>
            </a:r>
            <a:r>
              <a:rPr sz="1200" b="0">
                <a:solidFill>
                  <a:srgbClr val="1E2933"/>
                </a:solidFill>
                <a:latin typeface="Microsoft YaHei"/>
                <a:ea typeface="Microsoft YaHei"/>
              </a:rPr>
              <a:t>联动区域科创资源（如巴西创新中心等既有合作）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66176" y="1371600"/>
            <a:ext cx="3657600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66176" y="1371600"/>
            <a:ext cx="3657600" cy="123444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03336" y="1481328"/>
            <a:ext cx="338328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</a:rPr>
              <a:t>郡邦（上海）文化交流发展有限公司
（总领事俱乐部 CGC 运营方）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723376" y="2743200"/>
            <a:ext cx="2743200" cy="50292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23376" y="2743200"/>
            <a:ext cx="2743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0B2A4A"/>
                </a:solidFill>
                <a:latin typeface="Microsoft YaHei"/>
                <a:ea typeface="Microsoft YaHei"/>
              </a:rPr>
              <a:t>领事资源与活动落地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94776" y="347472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000" b="1">
                <a:solidFill>
                  <a:srgbClr val="C9A24B"/>
                </a:solidFill>
                <a:latin typeface="Microsoft YaHei"/>
                <a:ea typeface="Microsoft YaHei"/>
              </a:rPr>
              <a:t>·  </a:t>
            </a:r>
            <a:r>
              <a:rPr sz="1200" b="0">
                <a:solidFill>
                  <a:srgbClr val="1E2933"/>
                </a:solidFill>
                <a:latin typeface="Microsoft YaHei"/>
                <a:ea typeface="Microsoft YaHei"/>
              </a:rPr>
              <a:t>承办 CGC（70+ 国总领事）系列活动与海外接待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000" b="1">
                <a:solidFill>
                  <a:srgbClr val="C9A24B"/>
                </a:solidFill>
                <a:latin typeface="Microsoft YaHei"/>
                <a:ea typeface="Microsoft YaHei"/>
              </a:rPr>
              <a:t>·  </a:t>
            </a:r>
            <a:r>
              <a:rPr sz="1200" b="0">
                <a:solidFill>
                  <a:srgbClr val="1E2933"/>
                </a:solidFill>
                <a:latin typeface="Microsoft YaHei"/>
                <a:ea typeface="Microsoft YaHei"/>
              </a:rPr>
              <a:t>金茂大厦 86 层总领事俱乐部空间与接待办公区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000" b="1">
                <a:solidFill>
                  <a:srgbClr val="C9A24B"/>
                </a:solidFill>
                <a:latin typeface="Microsoft YaHei"/>
                <a:ea typeface="Microsoft YaHei"/>
              </a:rPr>
              <a:t>·  </a:t>
            </a:r>
            <a:r>
              <a:rPr sz="1200" b="0">
                <a:solidFill>
                  <a:srgbClr val="1E2933"/>
                </a:solidFill>
                <a:latin typeface="Microsoft YaHei"/>
                <a:ea typeface="Microsoft YaHei"/>
              </a:rPr>
              <a:t>领团团长（斐济驻沪总领事陈玉茹博士）主导的关系网络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000" b="1">
                <a:solidFill>
                  <a:srgbClr val="C9A24B"/>
                </a:solidFill>
                <a:latin typeface="Microsoft YaHei"/>
                <a:ea typeface="Microsoft YaHei"/>
              </a:rPr>
              <a:t>·  </a:t>
            </a:r>
            <a:r>
              <a:rPr sz="1200" b="0">
                <a:solidFill>
                  <a:srgbClr val="1E2933"/>
                </a:solidFill>
                <a:latin typeface="Microsoft YaHei"/>
                <a:ea typeface="Microsoft YaHei"/>
              </a:rPr>
              <a:t>既有品牌资产：午餐会、文化慈善之夜、企业家对话会、CG Band、公众号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B6B7B"/>
                </a:solidFill>
                <a:latin typeface="Microsoft YaHei"/>
                <a:ea typeface="Microsoft YaHei"/>
              </a:rPr>
              <a:t>CGC · 国家会客厅 · 三方战略合作策划案（建议稿）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810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</a:rPr>
              <a:t>三、长三角领区：把领事资源变成招商抓手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109728"/>
            <a:ext cx="11887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C9A24B"/>
                </a:solidFill>
                <a:latin typeface="Microsoft YaHei"/>
                <a:ea typeface="Microsoft YaHei"/>
              </a:rPr>
              <a:t>05/20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11274552" cy="77724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972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驻沪总领事领区普遍覆盖上海、江苏、浙江、安徽，CGC 可作为长三角对外开放的统一接口。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331720"/>
            <a:ext cx="2606040" cy="86868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331720"/>
            <a:ext cx="26060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1">
                <a:solidFill>
                  <a:srgbClr val="0B2A4A"/>
                </a:solidFill>
                <a:latin typeface="Microsoft YaHei"/>
                <a:ea typeface="Microsoft YaHei"/>
              </a:rPr>
              <a:t>上海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56432" y="2331720"/>
            <a:ext cx="2606040" cy="86868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56432" y="2331720"/>
            <a:ext cx="26060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1">
                <a:solidFill>
                  <a:srgbClr val="0B2A4A"/>
                </a:solidFill>
                <a:latin typeface="Microsoft YaHei"/>
                <a:ea typeface="Microsoft YaHei"/>
              </a:rPr>
              <a:t>江苏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64224" y="2331720"/>
            <a:ext cx="2606040" cy="86868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64224" y="2331720"/>
            <a:ext cx="26060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1">
                <a:solidFill>
                  <a:srgbClr val="0B2A4A"/>
                </a:solidFill>
                <a:latin typeface="Microsoft YaHei"/>
                <a:ea typeface="Microsoft YaHei"/>
              </a:rPr>
              <a:t>浙江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272016" y="2331720"/>
            <a:ext cx="2606040" cy="86868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72016" y="2331720"/>
            <a:ext cx="26060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1">
                <a:solidFill>
                  <a:srgbClr val="0B2A4A"/>
                </a:solidFill>
                <a:latin typeface="Microsoft YaHei"/>
                <a:ea typeface="Microsoft YaHei"/>
              </a:rPr>
              <a:t>安徽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4290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B2A4A"/>
                </a:solidFill>
                <a:latin typeface="Microsoft YaHei"/>
                <a:ea typeface="Microsoft YaHei"/>
              </a:rPr>
              <a:t>四大应用方向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886200"/>
            <a:ext cx="108813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300" b="1">
                <a:solidFill>
                  <a:srgbClr val="C9A24B"/>
                </a:solidFill>
                <a:latin typeface="Microsoft YaHei"/>
                <a:ea typeface="Microsoft YaHei"/>
              </a:rPr>
              <a:t>●  </a:t>
            </a:r>
            <a:r>
              <a:rPr sz="1500" b="0">
                <a:solidFill>
                  <a:srgbClr val="1E2933"/>
                </a:solidFill>
                <a:latin typeface="Microsoft YaHei"/>
                <a:ea typeface="Microsoft YaHei"/>
              </a:rPr>
              <a:t>招商引资：以‘国家会客厅’为单位，为四省市园区/政府引进外资项目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300" b="1">
                <a:solidFill>
                  <a:srgbClr val="C9A24B"/>
                </a:solidFill>
                <a:latin typeface="Microsoft YaHei"/>
                <a:ea typeface="Microsoft YaHei"/>
              </a:rPr>
              <a:t>●  </a:t>
            </a:r>
            <a:r>
              <a:rPr sz="1500" b="0">
                <a:solidFill>
                  <a:srgbClr val="1E2933"/>
                </a:solidFill>
                <a:latin typeface="Microsoft YaHei"/>
                <a:ea typeface="Microsoft YaHei"/>
              </a:rPr>
              <a:t>经贸对接：组织国别经贸论坛、推介会与企业出海对接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300" b="1">
                <a:solidFill>
                  <a:srgbClr val="C9A24B"/>
                </a:solidFill>
                <a:latin typeface="Microsoft YaHei"/>
                <a:ea typeface="Microsoft YaHei"/>
              </a:rPr>
              <a:t>●  </a:t>
            </a:r>
            <a:r>
              <a:rPr sz="1500" b="0">
                <a:solidFill>
                  <a:srgbClr val="1E2933"/>
                </a:solidFill>
                <a:latin typeface="Microsoft YaHei"/>
                <a:ea typeface="Microsoft YaHei"/>
              </a:rPr>
              <a:t>旅游推广：双向旅游推介，承接国别文旅与高端商务深度游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300" b="1">
                <a:solidFill>
                  <a:srgbClr val="C9A24B"/>
                </a:solidFill>
                <a:latin typeface="Microsoft YaHei"/>
                <a:ea typeface="Microsoft YaHei"/>
              </a:rPr>
              <a:t>●  </a:t>
            </a:r>
            <a:r>
              <a:rPr sz="1500" b="0">
                <a:solidFill>
                  <a:srgbClr val="1E2933"/>
                </a:solidFill>
                <a:latin typeface="Microsoft YaHei"/>
                <a:ea typeface="Microsoft YaHei"/>
              </a:rPr>
              <a:t>城市开放：服务城市国际化形象与营商环境提升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B6B7B"/>
                </a:solidFill>
                <a:latin typeface="Microsoft YaHei"/>
                <a:ea typeface="Microsoft YaHei"/>
              </a:rPr>
              <a:t>CGC · 国家会客厅 · 三方战略合作策划案（建议稿）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810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</a:rPr>
              <a:t>三、价值闭环：活动—会籍—出海—招商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109728"/>
            <a:ext cx="11887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C9A24B"/>
                </a:solidFill>
                <a:latin typeface="Microsoft YaHei"/>
                <a:ea typeface="Microsoft YaHei"/>
              </a:rPr>
              <a:t>06/20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2377440"/>
            <a:ext cx="2468880" cy="210312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606040"/>
            <a:ext cx="2468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</a:rPr>
              <a:t>活动获客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337560"/>
            <a:ext cx="21031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F4F6F9"/>
                </a:solidFill>
                <a:latin typeface="Microsoft YaHei"/>
                <a:ea typeface="Microsoft YaHei"/>
              </a:rPr>
              <a:t>小/中/大型领事活动
建立深度链接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3063240"/>
            <a:ext cx="5486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C9A24B"/>
                </a:solidFill>
                <a:latin typeface="Microsoft YaHei"/>
                <a:ea typeface="Microsoft YaHei"/>
              </a:rPr>
              <a:t>➜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29000" y="2377440"/>
            <a:ext cx="2468880" cy="2103120"/>
          </a:xfrm>
          <a:prstGeom prst="rect">
            <a:avLst/>
          </a:prstGeom>
          <a:solidFill>
            <a:srgbClr val="123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29000" y="2606040"/>
            <a:ext cx="2468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</a:rPr>
              <a:t>会籍沉淀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3337560"/>
            <a:ext cx="21031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F4F6F9"/>
                </a:solidFill>
                <a:latin typeface="Microsoft YaHei"/>
                <a:ea typeface="Microsoft YaHei"/>
              </a:rPr>
              <a:t>个人/企业/园区会籍
形成稳定预收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3063240"/>
            <a:ext cx="5486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C9A24B"/>
                </a:solidFill>
                <a:latin typeface="Microsoft YaHei"/>
                <a:ea typeface="Microsoft YaHei"/>
              </a:rPr>
              <a:t>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5080" y="2377440"/>
            <a:ext cx="2468880" cy="210312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606040"/>
            <a:ext cx="2468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0B2A4A"/>
                </a:solidFill>
                <a:latin typeface="Microsoft YaHei"/>
                <a:ea typeface="Microsoft YaHei"/>
              </a:rPr>
              <a:t>出海·招商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3337560"/>
            <a:ext cx="21031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0B2A4A"/>
                </a:solidFill>
                <a:latin typeface="Microsoft YaHei"/>
                <a:ea typeface="Microsoft YaHei"/>
              </a:rPr>
              <a:t>企业出海对接
国家会客厅招商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0" y="3063240"/>
            <a:ext cx="5486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C9A24B"/>
                </a:solidFill>
                <a:latin typeface="Microsoft YaHei"/>
                <a:ea typeface="Microsoft YaHei"/>
              </a:rPr>
              <a:t>➜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281160" y="2377440"/>
            <a:ext cx="2468880" cy="210312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81160" y="2606040"/>
            <a:ext cx="2468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</a:rPr>
              <a:t>政企复购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64040" y="3337560"/>
            <a:ext cx="21031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F4F6F9"/>
                </a:solidFill>
                <a:latin typeface="Microsoft YaHei"/>
                <a:ea typeface="Microsoft YaHei"/>
              </a:rPr>
              <a:t>长期合作复购
城市级平台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137160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B2A4A"/>
                </a:solidFill>
                <a:latin typeface="Microsoft YaHei"/>
                <a:ea typeface="Microsoft YaHei"/>
              </a:rPr>
              <a:t>以领事为纽带，三方联合，把稀缺连接沉淀为可复制、可收费的产品与现金流闭环。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93776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B6B7B"/>
                </a:solidFill>
                <a:latin typeface="Microsoft YaHei"/>
                <a:ea typeface="Microsoft YaHei"/>
              </a:rPr>
              <a:t>‘小道大道’：先以小型高频活动建立链接（小道），再放大为城市级开放平台与变现体系（大道）。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B6B7B"/>
                </a:solidFill>
                <a:latin typeface="Microsoft YaHei"/>
                <a:ea typeface="Microsoft YaHei"/>
              </a:rPr>
              <a:t>CGC · 国家会客厅 · 三方战略合作策划案（建议稿）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810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</a:rPr>
              <a:t>四、总体战略：以领事为纽带的引领模式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109728"/>
            <a:ext cx="11887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C9A24B"/>
                </a:solidFill>
                <a:latin typeface="Microsoft YaHei"/>
                <a:ea typeface="Microsoft YaHei"/>
              </a:rPr>
              <a:t>07/20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2011680" cy="877824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2011680" cy="8778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C9A24B"/>
                </a:solidFill>
                <a:latin typeface="Microsoft YaHei"/>
                <a:ea typeface="Microsoft YaHei"/>
              </a:rPr>
              <a:t>纽带</a:t>
            </a:r>
          </a:p>
        </p:txBody>
      </p:sp>
      <p:sp>
        <p:nvSpPr>
          <p:cNvPr id="8" name="Rectangle 7"/>
          <p:cNvSpPr/>
          <p:nvPr/>
        </p:nvSpPr>
        <p:spPr>
          <a:xfrm>
            <a:off x="2697480" y="1463040"/>
            <a:ext cx="8961120" cy="877824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26080" y="1463040"/>
            <a:ext cx="8595360" cy="8778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E2933"/>
                </a:solidFill>
                <a:latin typeface="Microsoft YaHei"/>
                <a:ea typeface="Microsoft YaHei"/>
              </a:rPr>
              <a:t>以 CGC 领事/领团团长为核心连接，建立长期、稳定、可信的关系网络。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450592"/>
            <a:ext cx="2011680" cy="877824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450592"/>
            <a:ext cx="2011680" cy="8778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C9A24B"/>
                </a:solidFill>
                <a:latin typeface="Microsoft YaHei"/>
                <a:ea typeface="Microsoft YaHei"/>
              </a:rPr>
              <a:t>区域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97480" y="2450592"/>
            <a:ext cx="8961120" cy="877824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80" y="2450592"/>
            <a:ext cx="8595360" cy="8778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E2933"/>
                </a:solidFill>
                <a:latin typeface="Microsoft YaHei"/>
                <a:ea typeface="Microsoft YaHei"/>
              </a:rPr>
              <a:t>立足长三角（沪苏浙皖）领区，把领事资源转化为招商与开放抓手。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438144"/>
            <a:ext cx="2011680" cy="877824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438144"/>
            <a:ext cx="2011680" cy="8778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C9A24B"/>
                </a:solidFill>
                <a:latin typeface="Microsoft YaHei"/>
                <a:ea typeface="Microsoft YaHei"/>
              </a:rPr>
              <a:t>会客厅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97480" y="3438144"/>
            <a:ext cx="8961120" cy="877824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26080" y="3438144"/>
            <a:ext cx="8595360" cy="8778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E2933"/>
                </a:solidFill>
                <a:latin typeface="Microsoft YaHei"/>
                <a:ea typeface="Microsoft YaHei"/>
              </a:rPr>
              <a:t>以‘某某国家会客厅’为旗舰产品，空间即流量、命名即收入。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425696"/>
            <a:ext cx="2011680" cy="877824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425696"/>
            <a:ext cx="2011680" cy="8778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C9A24B"/>
                </a:solidFill>
                <a:latin typeface="Microsoft YaHei"/>
                <a:ea typeface="Microsoft YaHei"/>
              </a:rPr>
              <a:t>出海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697480" y="4425696"/>
            <a:ext cx="8961120" cy="877824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26080" y="4425696"/>
            <a:ext cx="8595360" cy="8778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E2933"/>
                </a:solidFill>
                <a:latin typeface="Microsoft YaHei"/>
                <a:ea typeface="Microsoft YaHei"/>
              </a:rPr>
              <a:t>企业出海 + 高端商务深度游 + 高僧大德人生智慧交流，差异化变现。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5413248"/>
            <a:ext cx="2011680" cy="877824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5413248"/>
            <a:ext cx="2011680" cy="8778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C9A24B"/>
                </a:solidFill>
                <a:latin typeface="Microsoft YaHei"/>
                <a:ea typeface="Microsoft YaHei"/>
              </a:rPr>
              <a:t>闭环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697480" y="5413248"/>
            <a:ext cx="8961120" cy="877824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926080" y="5413248"/>
            <a:ext cx="8595360" cy="8778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E2933"/>
                </a:solidFill>
                <a:latin typeface="Microsoft YaHei"/>
                <a:ea typeface="Microsoft YaHei"/>
              </a:rPr>
              <a:t>活动获客 → 会籍沉淀 → 出海与招商 → 政企复购，形成现金流闭环。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465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B6B7B"/>
                </a:solidFill>
                <a:latin typeface="Microsoft YaHei"/>
                <a:ea typeface="Microsoft YaHei"/>
              </a:rPr>
              <a:t>CGC · 国家会客厅 · 三方战略合作策划案（建议稿）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377440"/>
            <a:ext cx="1463040" cy="5080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651760"/>
            <a:ext cx="27432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600" b="1">
                <a:solidFill>
                  <a:srgbClr val="C9A24B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08960" y="2788920"/>
            <a:ext cx="822960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Microsoft YaHei"/>
                <a:ea typeface="Microsoft YaHei"/>
              </a:rPr>
              <a:t>产品与变现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54680" y="3886200"/>
            <a:ext cx="8229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F4F6F9"/>
                </a:solidFill>
                <a:latin typeface="Microsoft YaHei"/>
                <a:ea typeface="Microsoft YaHei"/>
              </a:rPr>
              <a:t>六大产品线 · 国家会客厅 · 出海与人文特色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810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</a:rPr>
              <a:t>五、产品矩阵：六大产品线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109728"/>
            <a:ext cx="11887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C9A24B"/>
                </a:solidFill>
                <a:latin typeface="Microsoft YaHei"/>
                <a:ea typeface="Microsoft YaHei"/>
              </a:rPr>
              <a:t>08/20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370332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25880"/>
            <a:ext cx="109728" cy="233172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05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C9A24B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435608"/>
            <a:ext cx="2697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0B2A4A"/>
                </a:solidFill>
                <a:latin typeface="Microsoft YaHei"/>
                <a:ea typeface="Microsoft YaHei"/>
              </a:rPr>
              <a:t>国家会客厅（旗舰）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892808"/>
            <a:ext cx="3337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C9A24B"/>
                </a:solidFill>
                <a:latin typeface="Microsoft YaHei"/>
                <a:ea typeface="Microsoft YaHei"/>
              </a:rPr>
              <a:t>空间即流量 · 命名即收入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24028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850" b="1">
                <a:solidFill>
                  <a:srgbClr val="C9A24B"/>
                </a:solidFill>
                <a:latin typeface="Microsoft YaHei"/>
                <a:ea typeface="Microsoft YaHei"/>
              </a:rPr>
              <a:t>·  </a:t>
            </a:r>
            <a:r>
              <a:rPr sz="1050" b="0">
                <a:solidFill>
                  <a:srgbClr val="1E2933"/>
                </a:solidFill>
                <a:latin typeface="Microsoft YaHei"/>
                <a:ea typeface="Microsoft YaHei"/>
              </a:rPr>
              <a:t>在金茂 86 层打造‘某某国家会客厅’主题国别空间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850" b="1">
                <a:solidFill>
                  <a:srgbClr val="C9A24B"/>
                </a:solidFill>
                <a:latin typeface="Microsoft YaHei"/>
                <a:ea typeface="Microsoft YaHei"/>
              </a:rPr>
              <a:t>·  </a:t>
            </a:r>
            <a:r>
              <a:rPr sz="1050" b="0">
                <a:solidFill>
                  <a:srgbClr val="1E2933"/>
                </a:solidFill>
                <a:latin typeface="Microsoft YaHei"/>
                <a:ea typeface="Microsoft YaHei"/>
              </a:rPr>
              <a:t>国家冠名/联合冠名、企业常驻会籍、单次场地+领事出席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850" b="1">
                <a:solidFill>
                  <a:srgbClr val="C9A24B"/>
                </a:solidFill>
                <a:latin typeface="Microsoft YaHei"/>
                <a:ea typeface="Microsoft YaHei"/>
              </a:rPr>
              <a:t>·  </a:t>
            </a:r>
            <a:r>
              <a:rPr sz="1050" b="0">
                <a:solidFill>
                  <a:srgbClr val="1E2933"/>
                </a:solidFill>
                <a:latin typeface="Microsoft YaHei"/>
                <a:ea typeface="Microsoft YaHei"/>
              </a:rPr>
              <a:t>为长三角园区、政府提供招商与外资对接的‘国家窗口’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79392" y="1325880"/>
            <a:ext cx="370332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79392" y="1325880"/>
            <a:ext cx="109728" cy="233172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07992" y="1417320"/>
            <a:ext cx="1005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C9A24B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93792" y="1435608"/>
            <a:ext cx="2697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0B2A4A"/>
                </a:solidFill>
                <a:latin typeface="Microsoft YaHei"/>
                <a:ea typeface="Microsoft YaHei"/>
              </a:rPr>
              <a:t>领事专题活动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07992" y="1892808"/>
            <a:ext cx="3337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C9A24B"/>
                </a:solidFill>
                <a:latin typeface="Microsoft YaHei"/>
                <a:ea typeface="Microsoft YaHei"/>
              </a:rPr>
              <a:t>小 / 中 / 大型 三档矩阵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07992" y="224028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850" b="1">
                <a:solidFill>
                  <a:srgbClr val="C9A24B"/>
                </a:solidFill>
                <a:latin typeface="Microsoft YaHei"/>
                <a:ea typeface="Microsoft YaHei"/>
              </a:rPr>
              <a:t>·  </a:t>
            </a:r>
            <a:r>
              <a:rPr sz="1050" b="0">
                <a:solidFill>
                  <a:srgbClr val="1E2933"/>
                </a:solidFill>
                <a:latin typeface="Microsoft YaHei"/>
                <a:ea typeface="Microsoft YaHei"/>
              </a:rPr>
              <a:t>小型：总领事午餐会、领事下午茶、闭门沙龙（10–30人）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850" b="1">
                <a:solidFill>
                  <a:srgbClr val="C9A24B"/>
                </a:solidFill>
                <a:latin typeface="Microsoft YaHei"/>
                <a:ea typeface="Microsoft YaHei"/>
              </a:rPr>
              <a:t>·  </a:t>
            </a:r>
            <a:r>
              <a:rPr sz="1050" b="0">
                <a:solidFill>
                  <a:srgbClr val="1E2933"/>
                </a:solidFill>
                <a:latin typeface="Microsoft YaHei"/>
                <a:ea typeface="Microsoft YaHei"/>
              </a:rPr>
              <a:t>中型：总领事与企业家对话会、国别商务论坛（50–150人）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850" b="1">
                <a:solidFill>
                  <a:srgbClr val="C9A24B"/>
                </a:solidFill>
                <a:latin typeface="Microsoft YaHei"/>
                <a:ea typeface="Microsoft YaHei"/>
              </a:rPr>
              <a:t>·  </a:t>
            </a:r>
            <a:r>
              <a:rPr sz="1050" b="0">
                <a:solidFill>
                  <a:srgbClr val="1E2933"/>
                </a:solidFill>
                <a:latin typeface="Microsoft YaHei"/>
                <a:ea typeface="Microsoft YaHei"/>
              </a:rPr>
              <a:t>大型：总领事文化慈善之夜、多国领事节（300–800人）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01584" y="1325880"/>
            <a:ext cx="370332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01584" y="1325880"/>
            <a:ext cx="109728" cy="233172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30184" y="1417320"/>
            <a:ext cx="1005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C9A24B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15984" y="1435608"/>
            <a:ext cx="2697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0B2A4A"/>
                </a:solidFill>
                <a:latin typeface="Microsoft YaHei"/>
                <a:ea typeface="Microsoft YaHei"/>
              </a:rPr>
              <a:t>高端商务出海深度游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30184" y="1892808"/>
            <a:ext cx="3337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C9A24B"/>
                </a:solidFill>
                <a:latin typeface="Microsoft YaHei"/>
                <a:ea typeface="Microsoft YaHei"/>
              </a:rPr>
              <a:t>部长/总理级接待 · 特色人文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30184" y="224028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850" b="1">
                <a:solidFill>
                  <a:srgbClr val="C9A24B"/>
                </a:solidFill>
                <a:latin typeface="Microsoft YaHei"/>
                <a:ea typeface="Microsoft YaHei"/>
              </a:rPr>
              <a:t>·  </a:t>
            </a:r>
            <a:r>
              <a:rPr sz="1050" b="0">
                <a:solidFill>
                  <a:srgbClr val="1E2933"/>
                </a:solidFill>
                <a:latin typeface="Microsoft YaHei"/>
                <a:ea typeface="Microsoft YaHei"/>
              </a:rPr>
              <a:t>每月1–2国，现任部长/总理/总统级出面接待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850" b="1">
                <a:solidFill>
                  <a:srgbClr val="C9A24B"/>
                </a:solidFill>
                <a:latin typeface="Microsoft YaHei"/>
                <a:ea typeface="Microsoft YaHei"/>
              </a:rPr>
              <a:t>·  </a:t>
            </a:r>
            <a:r>
              <a:rPr sz="1050" b="0">
                <a:solidFill>
                  <a:srgbClr val="1E2933"/>
                </a:solidFill>
                <a:latin typeface="Microsoft YaHei"/>
                <a:ea typeface="Microsoft YaHei"/>
              </a:rPr>
              <a:t>按企业家需求定制国别高端旅游与商务接待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850" b="1">
                <a:solidFill>
                  <a:srgbClr val="C9A24B"/>
                </a:solidFill>
                <a:latin typeface="Microsoft YaHei"/>
                <a:ea typeface="Microsoft YaHei"/>
              </a:rPr>
              <a:t>·  </a:t>
            </a:r>
            <a:r>
              <a:rPr sz="1050" b="0">
                <a:solidFill>
                  <a:srgbClr val="1E2933"/>
                </a:solidFill>
                <a:latin typeface="Microsoft YaHei"/>
                <a:ea typeface="Microsoft YaHei"/>
              </a:rPr>
              <a:t>特色：与当地高僧大德面对面的人生智慧交流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840480"/>
            <a:ext cx="370332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3840480"/>
            <a:ext cx="109728" cy="233172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3931920"/>
            <a:ext cx="1005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C9A24B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3950208"/>
            <a:ext cx="2697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0B2A4A"/>
                </a:solidFill>
                <a:latin typeface="Microsoft YaHei"/>
                <a:ea typeface="Microsoft YaHei"/>
              </a:rPr>
              <a:t>企业出海对接服务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4407408"/>
            <a:ext cx="3337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C9A24B"/>
                </a:solidFill>
                <a:latin typeface="Microsoft YaHei"/>
                <a:ea typeface="Microsoft YaHei"/>
              </a:rPr>
              <a:t>连领事 → 对接部长 → 落地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475488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850" b="1">
                <a:solidFill>
                  <a:srgbClr val="C9A24B"/>
                </a:solidFill>
                <a:latin typeface="Microsoft YaHei"/>
                <a:ea typeface="Microsoft YaHei"/>
              </a:rPr>
              <a:t>·  </a:t>
            </a:r>
            <a:r>
              <a:rPr sz="1050" b="0">
                <a:solidFill>
                  <a:srgbClr val="1E2933"/>
                </a:solidFill>
                <a:latin typeface="Microsoft YaHei"/>
                <a:ea typeface="Microsoft YaHei"/>
              </a:rPr>
              <a:t>我方负责连接总领事、对接当地部长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850" b="1">
                <a:solidFill>
                  <a:srgbClr val="C9A24B"/>
                </a:solidFill>
                <a:latin typeface="Microsoft YaHei"/>
                <a:ea typeface="Microsoft YaHei"/>
              </a:rPr>
              <a:t>·  </a:t>
            </a:r>
            <a:r>
              <a:rPr sz="1050" b="0">
                <a:solidFill>
                  <a:srgbClr val="1E2933"/>
                </a:solidFill>
                <a:latin typeface="Microsoft YaHei"/>
                <a:ea typeface="Microsoft YaHei"/>
              </a:rPr>
              <a:t>业务洽谈、商务对接与项目落地陪跑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850" b="1">
                <a:solidFill>
                  <a:srgbClr val="C9A24B"/>
                </a:solidFill>
                <a:latin typeface="Microsoft YaHei"/>
                <a:ea typeface="Microsoft YaHei"/>
              </a:rPr>
              <a:t>·  </a:t>
            </a:r>
            <a:r>
              <a:rPr sz="1050" b="0">
                <a:solidFill>
                  <a:srgbClr val="1E2933"/>
                </a:solidFill>
                <a:latin typeface="Microsoft YaHei"/>
                <a:ea typeface="Microsoft YaHei"/>
              </a:rPr>
              <a:t>单国服务包 / 年度顾问 / 落地成功佣金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79392" y="3840480"/>
            <a:ext cx="370332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279392" y="3840480"/>
            <a:ext cx="109728" cy="233172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07992" y="3931920"/>
            <a:ext cx="1005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C9A24B"/>
                </a:solidFill>
                <a:latin typeface="Microsoft YaHei"/>
                <a:ea typeface="Microsoft YaHei"/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93792" y="3950208"/>
            <a:ext cx="2697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0B2A4A"/>
                </a:solidFill>
                <a:latin typeface="Microsoft YaHei"/>
                <a:ea typeface="Microsoft YaHei"/>
              </a:rPr>
              <a:t>会员与会籍体系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07992" y="4407408"/>
            <a:ext cx="3337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C9A24B"/>
                </a:solidFill>
                <a:latin typeface="Microsoft YaHei"/>
                <a:ea typeface="Microsoft YaHei"/>
              </a:rPr>
              <a:t>个人 / 企业 / 园区·城市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07992" y="475488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850" b="1">
                <a:solidFill>
                  <a:srgbClr val="C9A24B"/>
                </a:solidFill>
                <a:latin typeface="Microsoft YaHei"/>
                <a:ea typeface="Microsoft YaHei"/>
              </a:rPr>
              <a:t>·  </a:t>
            </a:r>
            <a:r>
              <a:rPr sz="1050" b="0">
                <a:solidFill>
                  <a:srgbClr val="1E2933"/>
                </a:solidFill>
                <a:latin typeface="Microsoft YaHei"/>
                <a:ea typeface="Microsoft YaHei"/>
              </a:rPr>
              <a:t>个人荣誉会员、企业会员、企业理事(VIP)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850" b="1">
                <a:solidFill>
                  <a:srgbClr val="C9A24B"/>
                </a:solidFill>
                <a:latin typeface="Microsoft YaHei"/>
                <a:ea typeface="Microsoft YaHei"/>
              </a:rPr>
              <a:t>·  </a:t>
            </a:r>
            <a:r>
              <a:rPr sz="1050" b="0">
                <a:solidFill>
                  <a:srgbClr val="1E2933"/>
                </a:solidFill>
                <a:latin typeface="Microsoft YaHei"/>
                <a:ea typeface="Microsoft YaHei"/>
              </a:rPr>
              <a:t>园区/城市战略会员，绑定长期权益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850" b="1">
                <a:solidFill>
                  <a:srgbClr val="C9A24B"/>
                </a:solidFill>
                <a:latin typeface="Microsoft YaHei"/>
                <a:ea typeface="Microsoft YaHei"/>
              </a:rPr>
              <a:t>·  </a:t>
            </a:r>
            <a:r>
              <a:rPr sz="1050" b="0">
                <a:solidFill>
                  <a:srgbClr val="1E2933"/>
                </a:solidFill>
                <a:latin typeface="Microsoft YaHei"/>
                <a:ea typeface="Microsoft YaHei"/>
              </a:rPr>
              <a:t>会籍权益与各产品线打通，提升复购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101584" y="3840480"/>
            <a:ext cx="370332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101584" y="3840480"/>
            <a:ext cx="109728" cy="233172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30184" y="3931920"/>
            <a:ext cx="1005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C9A24B"/>
                </a:solidFill>
                <a:latin typeface="Microsoft YaHei"/>
                <a:ea typeface="Microsoft YaHei"/>
              </a:rPr>
              <a:t>06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15984" y="3950208"/>
            <a:ext cx="2697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0B2A4A"/>
                </a:solidFill>
                <a:latin typeface="Microsoft YaHei"/>
                <a:ea typeface="Microsoft YaHei"/>
              </a:rPr>
              <a:t>文化传播·智库·培训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30184" y="4407408"/>
            <a:ext cx="3337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C9A24B"/>
                </a:solidFill>
                <a:latin typeface="Microsoft YaHei"/>
                <a:ea typeface="Microsoft YaHei"/>
              </a:rPr>
              <a:t>CGC公众号 + 复旦背书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30184" y="475488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850" b="1">
                <a:solidFill>
                  <a:srgbClr val="C9A24B"/>
                </a:solidFill>
                <a:latin typeface="Microsoft YaHei"/>
                <a:ea typeface="Microsoft YaHei"/>
              </a:rPr>
              <a:t>·  </a:t>
            </a:r>
            <a:r>
              <a:rPr sz="1050" b="0">
                <a:solidFill>
                  <a:srgbClr val="1E2933"/>
                </a:solidFill>
                <a:latin typeface="Microsoft YaHei"/>
                <a:ea typeface="Microsoft YaHei"/>
              </a:rPr>
              <a:t>CGC 双语专访、国别推介与企业品牌内容传播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850" b="1">
                <a:solidFill>
                  <a:srgbClr val="C9A24B"/>
                </a:solidFill>
                <a:latin typeface="Microsoft YaHei"/>
                <a:ea typeface="Microsoft YaHei"/>
              </a:rPr>
              <a:t>·  </a:t>
            </a:r>
            <a:r>
              <a:rPr sz="1050" b="0">
                <a:solidFill>
                  <a:srgbClr val="1E2933"/>
                </a:solidFill>
                <a:latin typeface="Microsoft YaHei"/>
                <a:ea typeface="Microsoft YaHei"/>
              </a:rPr>
              <a:t>政商对话、国别营商环境与政策研究报告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850" b="1">
                <a:solidFill>
                  <a:srgbClr val="C9A24B"/>
                </a:solidFill>
                <a:latin typeface="Microsoft YaHei"/>
                <a:ea typeface="Microsoft YaHei"/>
              </a:rPr>
              <a:t>·  </a:t>
            </a:r>
            <a:r>
              <a:rPr sz="1050" b="0">
                <a:solidFill>
                  <a:srgbClr val="1E2933"/>
                </a:solidFill>
                <a:latin typeface="Microsoft YaHei"/>
                <a:ea typeface="Microsoft YaHei"/>
              </a:rPr>
              <a:t>领导力研修、企业家/干部培训课程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64465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B6B7B"/>
                </a:solidFill>
                <a:latin typeface="Microsoft YaHei"/>
                <a:ea typeface="Microsoft YaHei"/>
              </a:rPr>
              <a:t>CGC · 国家会客厅 · 三方战略合作策划案（建议稿）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810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</a:rPr>
              <a:t>六、旗舰产品：国家会客厅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109728"/>
            <a:ext cx="11887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C9A24B"/>
                </a:solidFill>
                <a:latin typeface="Microsoft YaHei"/>
                <a:ea typeface="Microsoft YaHei"/>
              </a:rPr>
              <a:t>09/20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11274552" cy="86868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0B2A4A"/>
                </a:solidFill>
                <a:latin typeface="Microsoft YaHei"/>
                <a:ea typeface="Microsoft YaHei"/>
              </a:rPr>
              <a:t>定位：以金茂 86 层 CGC 空间为载体，按国别打造‘某某国家会客厅’，既是领事接待与文化展示窗口，也是长三角企业、园区与政府对接外资的常态化平台。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423160"/>
            <a:ext cx="3657600" cy="54864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423160"/>
            <a:ext cx="3657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</a:rPr>
              <a:t>四大功能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108960"/>
            <a:ext cx="33375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050" b="1">
                <a:solidFill>
                  <a:srgbClr val="C9A24B"/>
                </a:solidFill>
                <a:latin typeface="Microsoft YaHei"/>
                <a:ea typeface="Microsoft YaHei"/>
              </a:rPr>
              <a:t>·  </a:t>
            </a:r>
            <a:r>
              <a:rPr sz="1250" b="0">
                <a:solidFill>
                  <a:srgbClr val="1E2933"/>
                </a:solidFill>
                <a:latin typeface="Microsoft YaHei"/>
                <a:ea typeface="Microsoft YaHei"/>
              </a:rPr>
              <a:t>外事接待：领事、海外政要的常态化接待与会面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050" b="1">
                <a:solidFill>
                  <a:srgbClr val="C9A24B"/>
                </a:solidFill>
                <a:latin typeface="Microsoft YaHei"/>
                <a:ea typeface="Microsoft YaHei"/>
              </a:rPr>
              <a:t>·  </a:t>
            </a:r>
            <a:r>
              <a:rPr sz="1250" b="0">
                <a:solidFill>
                  <a:srgbClr val="1E2933"/>
                </a:solidFill>
                <a:latin typeface="Microsoft YaHei"/>
                <a:ea typeface="Microsoft YaHei"/>
              </a:rPr>
              <a:t>文化展示：国别文化、美食、演出（CG Band）、艺术与商品体验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050" b="1">
                <a:solidFill>
                  <a:srgbClr val="C9A24B"/>
                </a:solidFill>
                <a:latin typeface="Microsoft YaHei"/>
                <a:ea typeface="Microsoft YaHei"/>
              </a:rPr>
              <a:t>·  </a:t>
            </a:r>
            <a:r>
              <a:rPr sz="1250" b="0">
                <a:solidFill>
                  <a:srgbClr val="1E2933"/>
                </a:solidFill>
                <a:latin typeface="Microsoft YaHei"/>
                <a:ea typeface="Microsoft YaHei"/>
              </a:rPr>
              <a:t>招商对接：为沪苏浙皖园区/政府引进外资项目与国别合作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050" b="1">
                <a:solidFill>
                  <a:srgbClr val="C9A24B"/>
                </a:solidFill>
                <a:latin typeface="Microsoft YaHei"/>
                <a:ea typeface="Microsoft YaHei"/>
              </a:rPr>
              <a:t>·  </a:t>
            </a:r>
            <a:r>
              <a:rPr sz="1250" b="0">
                <a:solidFill>
                  <a:srgbClr val="1E2933"/>
                </a:solidFill>
                <a:latin typeface="Microsoft YaHei"/>
                <a:ea typeface="Microsoft YaHei"/>
              </a:rPr>
              <a:t>企业服务：会员企业在‘国家窗口’获取出海与对接资源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61104" y="2423160"/>
            <a:ext cx="3657600" cy="54864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61104" y="2423160"/>
            <a:ext cx="3657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0B2A4A"/>
                </a:solidFill>
                <a:latin typeface="Microsoft YaHei"/>
                <a:ea typeface="Microsoft YaHei"/>
              </a:rPr>
              <a:t>收入来源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43984" y="3108960"/>
            <a:ext cx="33375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050" b="1">
                <a:solidFill>
                  <a:srgbClr val="C9A24B"/>
                </a:solidFill>
                <a:latin typeface="Microsoft YaHei"/>
                <a:ea typeface="Microsoft YaHei"/>
              </a:rPr>
              <a:t>·  </a:t>
            </a:r>
            <a:r>
              <a:rPr sz="1250" b="0">
                <a:solidFill>
                  <a:srgbClr val="1E2933"/>
                </a:solidFill>
                <a:latin typeface="Microsoft YaHei"/>
                <a:ea typeface="Microsoft YaHei"/>
              </a:rPr>
              <a:t>国家会客厅独家年度冠名费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050" b="1">
                <a:solidFill>
                  <a:srgbClr val="C9A24B"/>
                </a:solidFill>
                <a:latin typeface="Microsoft YaHei"/>
                <a:ea typeface="Microsoft YaHei"/>
              </a:rPr>
              <a:t>·  </a:t>
            </a:r>
            <a:r>
              <a:rPr sz="1250" b="0">
                <a:solidFill>
                  <a:srgbClr val="1E2933"/>
                </a:solidFill>
                <a:latin typeface="Microsoft YaHei"/>
                <a:ea typeface="Microsoft YaHei"/>
              </a:rPr>
              <a:t>联合冠名 / 主题季冠名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050" b="1">
                <a:solidFill>
                  <a:srgbClr val="C9A24B"/>
                </a:solidFill>
                <a:latin typeface="Microsoft YaHei"/>
                <a:ea typeface="Microsoft YaHei"/>
              </a:rPr>
              <a:t>·  </a:t>
            </a:r>
            <a:r>
              <a:rPr sz="1250" b="0">
                <a:solidFill>
                  <a:srgbClr val="1E2933"/>
                </a:solidFill>
                <a:latin typeface="Microsoft YaHei"/>
                <a:ea typeface="Microsoft YaHei"/>
              </a:rPr>
              <a:t>企业常驻会籍（入驻会客厅）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050" b="1">
                <a:solidFill>
                  <a:srgbClr val="C9A24B"/>
                </a:solidFill>
                <a:latin typeface="Microsoft YaHei"/>
                <a:ea typeface="Microsoft YaHei"/>
              </a:rPr>
              <a:t>·  </a:t>
            </a:r>
            <a:r>
              <a:rPr sz="1250" b="0">
                <a:solidFill>
                  <a:srgbClr val="1E2933"/>
                </a:solidFill>
                <a:latin typeface="Microsoft YaHei"/>
                <a:ea typeface="Microsoft YaHei"/>
              </a:rPr>
              <a:t>单次场地租赁 + 领事/政要出席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050" b="1">
                <a:solidFill>
                  <a:srgbClr val="C9A24B"/>
                </a:solidFill>
                <a:latin typeface="Microsoft YaHei"/>
                <a:ea typeface="Microsoft YaHei"/>
              </a:rPr>
              <a:t>·  </a:t>
            </a:r>
            <a:r>
              <a:rPr sz="1250" b="0">
                <a:solidFill>
                  <a:srgbClr val="1E2933"/>
                </a:solidFill>
                <a:latin typeface="Microsoft YaHei"/>
                <a:ea typeface="Microsoft YaHei"/>
              </a:rPr>
              <a:t>园区·政府招商服务费 / 项目落地佣金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050" b="1">
                <a:solidFill>
                  <a:srgbClr val="C9A24B"/>
                </a:solidFill>
                <a:latin typeface="Microsoft YaHei"/>
                <a:ea typeface="Microsoft YaHei"/>
              </a:rPr>
              <a:t>·  </a:t>
            </a:r>
            <a:r>
              <a:rPr sz="1250" b="0">
                <a:solidFill>
                  <a:srgbClr val="1E2933"/>
                </a:solidFill>
                <a:latin typeface="Microsoft YaHei"/>
                <a:ea typeface="Microsoft YaHei"/>
              </a:rPr>
              <a:t>文化体验（餐饮、演出、购物）分成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65008" y="2423160"/>
            <a:ext cx="3657600" cy="548640"/>
          </a:xfrm>
          <a:prstGeom prst="rect">
            <a:avLst/>
          </a:prstGeom>
          <a:solidFill>
            <a:srgbClr val="123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65008" y="2423160"/>
            <a:ext cx="3657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</a:rPr>
              <a:t>政府/园区价值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7888" y="3108960"/>
            <a:ext cx="33375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050" b="1">
                <a:solidFill>
                  <a:srgbClr val="C9A24B"/>
                </a:solidFill>
                <a:latin typeface="Microsoft YaHei"/>
                <a:ea typeface="Microsoft YaHei"/>
              </a:rPr>
              <a:t>·  </a:t>
            </a:r>
            <a:r>
              <a:rPr sz="1250" b="0">
                <a:solidFill>
                  <a:srgbClr val="1E2933"/>
                </a:solidFill>
                <a:latin typeface="Microsoft YaHei"/>
                <a:ea typeface="Microsoft YaHei"/>
              </a:rPr>
              <a:t>为政府提供‘以国家为单位’的招商抓手与外资入口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050" b="1">
                <a:solidFill>
                  <a:srgbClr val="C9A24B"/>
                </a:solidFill>
                <a:latin typeface="Microsoft YaHei"/>
                <a:ea typeface="Microsoft YaHei"/>
              </a:rPr>
              <a:t>·  </a:t>
            </a:r>
            <a:r>
              <a:rPr sz="1250" b="0">
                <a:solidFill>
                  <a:srgbClr val="1E2933"/>
                </a:solidFill>
                <a:latin typeface="Microsoft YaHei"/>
                <a:ea typeface="Microsoft YaHei"/>
              </a:rPr>
              <a:t>为长三角产业园区提供国别项目对接与外资引进通道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050" b="1">
                <a:solidFill>
                  <a:srgbClr val="C9A24B"/>
                </a:solidFill>
                <a:latin typeface="Microsoft YaHei"/>
                <a:ea typeface="Microsoft YaHei"/>
              </a:rPr>
              <a:t>·  </a:t>
            </a:r>
            <a:r>
              <a:rPr sz="1250" b="0">
                <a:solidFill>
                  <a:srgbClr val="1E2933"/>
                </a:solidFill>
                <a:latin typeface="Microsoft YaHei"/>
                <a:ea typeface="Microsoft YaHei"/>
              </a:rPr>
              <a:t>提升区域开放形象，服务城市外事与营商环境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465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B6B7B"/>
                </a:solidFill>
                <a:latin typeface="Microsoft YaHei"/>
                <a:ea typeface="Microsoft YaHei"/>
              </a:rPr>
              <a:t>CGC · 国家会客厅 · 三方战略合作策划案（建议稿）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810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</a:rPr>
              <a:t>七、高端商务出海 + 人文特色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109728"/>
            <a:ext cx="11887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C9A24B"/>
                </a:solidFill>
                <a:latin typeface="Microsoft YaHei"/>
                <a:ea typeface="Microsoft YaHei"/>
              </a:rPr>
              <a:t>10/20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11274552" cy="82296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72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</a:rPr>
              <a:t>节奏：每月组织 1–2 个国家的高端商务深度游，现任部长/总理/总统级出面接待。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560320"/>
            <a:ext cx="107899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800"/>
              </a:spcAft>
            </a:pPr>
            <a:r>
              <a:rPr sz="1500" b="1">
                <a:solidFill>
                  <a:srgbClr val="C9A24B"/>
                </a:solidFill>
                <a:latin typeface="Microsoft YaHei"/>
                <a:ea typeface="Microsoft YaHei"/>
              </a:rPr>
              <a:t>●  </a:t>
            </a:r>
            <a:r>
              <a:rPr sz="1700" b="0">
                <a:solidFill>
                  <a:srgbClr val="1E2933"/>
                </a:solidFill>
                <a:latin typeface="Microsoft YaHei"/>
                <a:ea typeface="Microsoft YaHei"/>
              </a:rPr>
              <a:t>政要接待：当地现任部长/总理/总统级别礼遇</a:t>
            </a:r>
          </a:p>
          <a:p>
            <a:pPr>
              <a:lnSpc>
                <a:spcPct val="112000"/>
              </a:lnSpc>
              <a:spcAft>
                <a:spcPts val="1800"/>
              </a:spcAft>
            </a:pPr>
            <a:r>
              <a:rPr sz="1500" b="1">
                <a:solidFill>
                  <a:srgbClr val="C9A24B"/>
                </a:solidFill>
                <a:latin typeface="Microsoft YaHei"/>
                <a:ea typeface="Microsoft YaHei"/>
              </a:rPr>
              <a:t>●  </a:t>
            </a:r>
            <a:r>
              <a:rPr sz="1700" b="0">
                <a:solidFill>
                  <a:srgbClr val="1E2933"/>
                </a:solidFill>
                <a:latin typeface="Microsoft YaHei"/>
                <a:ea typeface="Microsoft YaHei"/>
              </a:rPr>
              <a:t>商务对接：连接领事→当地部长→业务洽谈→落地</a:t>
            </a:r>
          </a:p>
          <a:p>
            <a:pPr>
              <a:lnSpc>
                <a:spcPct val="112000"/>
              </a:lnSpc>
              <a:spcAft>
                <a:spcPts val="1800"/>
              </a:spcAft>
            </a:pPr>
            <a:r>
              <a:rPr sz="1500" b="1">
                <a:solidFill>
                  <a:srgbClr val="C9A24B"/>
                </a:solidFill>
                <a:latin typeface="Microsoft YaHei"/>
                <a:ea typeface="Microsoft YaHei"/>
              </a:rPr>
              <a:t>●  </a:t>
            </a:r>
            <a:r>
              <a:rPr sz="1700" b="0">
                <a:solidFill>
                  <a:srgbClr val="1E2933"/>
                </a:solidFill>
                <a:latin typeface="Microsoft YaHei"/>
                <a:ea typeface="Microsoft YaHei"/>
              </a:rPr>
              <a:t>定制行程：按企业家需求定制国别高端旅游与接待</a:t>
            </a:r>
          </a:p>
          <a:p>
            <a:pPr>
              <a:lnSpc>
                <a:spcPct val="112000"/>
              </a:lnSpc>
              <a:spcAft>
                <a:spcPts val="1800"/>
              </a:spcAft>
            </a:pPr>
            <a:r>
              <a:rPr sz="1500" b="1">
                <a:solidFill>
                  <a:srgbClr val="C9A24B"/>
                </a:solidFill>
                <a:latin typeface="Microsoft YaHei"/>
                <a:ea typeface="Microsoft YaHei"/>
              </a:rPr>
              <a:t>●  </a:t>
            </a:r>
            <a:r>
              <a:rPr sz="1700" b="0">
                <a:solidFill>
                  <a:srgbClr val="1E2933"/>
                </a:solidFill>
                <a:latin typeface="Microsoft YaHei"/>
                <a:ea typeface="Microsoft YaHei"/>
              </a:rPr>
              <a:t>人文特色：与当地高僧大德面对面的人生智慧交流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5394960"/>
            <a:ext cx="11274552" cy="77724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5394960"/>
            <a:ext cx="10972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0B2A4A"/>
                </a:solidFill>
                <a:latin typeface="Microsoft YaHei"/>
                <a:ea typeface="Microsoft YaHei"/>
              </a:rPr>
              <a:t>差异化亮点：与当地高僧大德面对面的人生智慧交流 —— 商务之外的精神价值，高复购、强口碑。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B6B7B"/>
                </a:solidFill>
                <a:latin typeface="Microsoft YaHei"/>
                <a:ea typeface="Microsoft YaHei"/>
              </a:rPr>
              <a:t>CGC · 国家会客厅 · 三方战略合作策划案（建议稿）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810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</a:rPr>
              <a:t>表一 · CGC 既有品牌活动升级为可变现产品（示意）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109728"/>
            <a:ext cx="11887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C9A24B"/>
                </a:solidFill>
                <a:latin typeface="Microsoft YaHei"/>
                <a:ea typeface="Microsoft YaHei"/>
              </a:rPr>
              <a:t>11/20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25880"/>
          <a:ext cx="11274552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8638"/>
                <a:gridCol w="2818638"/>
                <a:gridCol w="2818638"/>
                <a:gridCol w="2818638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既有活动</a:t>
                      </a:r>
                    </a:p>
                  </a:txBody>
                  <a:tcPr anchor="ctr" marL="54864" marR="54864"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现状</a:t>
                      </a:r>
                    </a:p>
                  </a:txBody>
                  <a:tcPr anchor="ctr" marL="54864" marR="54864"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升级方向</a:t>
                      </a:r>
                    </a:p>
                  </a:txBody>
                  <a:tcPr anchor="ctr" marL="54864" marR="54864"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变现方式</a:t>
                      </a:r>
                    </a:p>
                  </a:txBody>
                  <a:tcPr anchor="ctr" marL="54864" marR="54864">
                    <a:solidFill>
                      <a:srgbClr val="0B2A4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总领事午餐会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领团定期内部交流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开放企业家席位 / 主题赞助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席位费、赞助、会籍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总领事文化慈善之夜</a:t>
                      </a:r>
                    </a:p>
                  </a:txBody>
                  <a:tcPr anchor="ctr" marL="54864" marR="54864" marT="18288" marB="18288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年度慈善盛典(60+国/300+人)</a:t>
                      </a:r>
                    </a:p>
                  </a:txBody>
                  <a:tcPr anchor="ctr" marL="54864" marR="54864" marT="18288" marB="18288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升级为年度旗舰 IP + 冠名</a:t>
                      </a:r>
                    </a:p>
                  </a:txBody>
                  <a:tcPr anchor="ctr" marL="54864" marR="54864" marT="18288" marB="18288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冠名、赞助、义拍、票务</a:t>
                      </a:r>
                    </a:p>
                  </a:txBody>
                  <a:tcPr anchor="ctr" marL="54864" marR="54864" marT="18288" marB="18288">
                    <a:solidFill>
                      <a:srgbClr val="F4F6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总领事与企业家对话会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政商对话品牌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国别专场 + 出海对接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对话会赞助、对接服务费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CG Band / 美爱艺术团</a:t>
                      </a:r>
                    </a:p>
                  </a:txBody>
                  <a:tcPr anchor="ctr" marL="54864" marR="54864" marT="18288" marB="18288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文化演出 IP</a:t>
                      </a:r>
                    </a:p>
                  </a:txBody>
                  <a:tcPr anchor="ctr" marL="54864" marR="54864" marT="18288" marB="18288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会客厅常驻文化体验</a:t>
                      </a:r>
                    </a:p>
                  </a:txBody>
                  <a:tcPr anchor="ctr" marL="54864" marR="54864" marT="18288" marB="18288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演出植入、文化体验收入</a:t>
                      </a:r>
                    </a:p>
                  </a:txBody>
                  <a:tcPr anchor="ctr" marL="54864" marR="54864" marT="18288" marB="18288">
                    <a:solidFill>
                      <a:srgbClr val="F4F6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CGC 双语专访 / 公众号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国别推介与传播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企业品牌内容 + 国别推广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内容植入、传播套餐、会籍权益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领事午餐 / 参访</a:t>
                      </a:r>
                    </a:p>
                  </a:txBody>
                  <a:tcPr anchor="ctr" marL="54864" marR="54864" marT="18288" marB="18288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关系维护</a:t>
                      </a:r>
                    </a:p>
                  </a:txBody>
                  <a:tcPr anchor="ctr" marL="54864" marR="54864" marT="18288" marB="18288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国家会客厅常态化接待</a:t>
                      </a:r>
                    </a:p>
                  </a:txBody>
                  <a:tcPr anchor="ctr" marL="54864" marR="54864" marT="18288" marB="18288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会客厅会籍、场地、接待费</a:t>
                      </a:r>
                    </a:p>
                  </a:txBody>
                  <a:tcPr anchor="ctr" marL="54864" marR="54864" marT="18288" marB="18288"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4343400"/>
            <a:ext cx="11274552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B6B7B"/>
                </a:solidFill>
                <a:latin typeface="Microsoft YaHei"/>
                <a:ea typeface="Microsoft YaHei"/>
              </a:rPr>
              <a:t>说明：在 CGC 既有品牌与公信力上‘升级变现’，延续性强、启动成本低、对外更具说服力。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B6B7B"/>
                </a:solidFill>
                <a:latin typeface="Microsoft YaHei"/>
                <a:ea typeface="Microsoft YaHei"/>
              </a:rPr>
              <a:t>CGC · 国家会客厅 · 三方战略合作策划案（建议稿）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810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</a:rPr>
              <a:t>表二 · 领事专题活动产品与定价（示意）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109728"/>
            <a:ext cx="11887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C9A24B"/>
                </a:solidFill>
                <a:latin typeface="Microsoft YaHei"/>
                <a:ea typeface="Microsoft YaHei"/>
              </a:rPr>
              <a:t>12/20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25880"/>
          <a:ext cx="11274552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9092"/>
                <a:gridCol w="1879092"/>
                <a:gridCol w="1879092"/>
                <a:gridCol w="1879092"/>
                <a:gridCol w="1879092"/>
                <a:gridCol w="1879092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规模</a:t>
                      </a:r>
                    </a:p>
                  </a:txBody>
                  <a:tcPr anchor="ctr" marL="54864" marR="54864"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活动形式</a:t>
                      </a:r>
                    </a:p>
                  </a:txBody>
                  <a:tcPr anchor="ctr" marL="54864" marR="54864"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人数</a:t>
                      </a:r>
                    </a:p>
                  </a:txBody>
                  <a:tcPr anchor="ctr" marL="54864" marR="54864"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单场收费(万元)</a:t>
                      </a:r>
                    </a:p>
                  </a:txBody>
                  <a:tcPr anchor="ctr" marL="54864" marR="54864"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席位/赞助(元)</a:t>
                      </a:r>
                    </a:p>
                  </a:txBody>
                  <a:tcPr anchor="ctr" marL="54864" marR="54864"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主要收入来源</a:t>
                      </a:r>
                    </a:p>
                  </a:txBody>
                  <a:tcPr anchor="ctr" marL="54864" marR="54864">
                    <a:solidFill>
                      <a:srgbClr val="0B2A4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小型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总领事午餐会 / 闭门沙龙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10–30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8–15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5,000–12,000/位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席位费、赞助、场地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小型</a:t>
                      </a:r>
                    </a:p>
                  </a:txBody>
                  <a:tcPr anchor="ctr" marL="54864" marR="54864" marT="18288" marB="18288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领事私享晚宴</a:t>
                      </a:r>
                    </a:p>
                  </a:txBody>
                  <a:tcPr anchor="ctr" marL="54864" marR="54864" marT="18288" marB="18288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10–30</a:t>
                      </a:r>
                    </a:p>
                  </a:txBody>
                  <a:tcPr anchor="ctr" marL="54864" marR="54864" marT="18288" marB="18288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15–30</a:t>
                      </a:r>
                    </a:p>
                  </a:txBody>
                  <a:tcPr anchor="ctr" marL="54864" marR="54864" marT="18288" marB="18288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12,000–30,000/位</a:t>
                      </a:r>
                    </a:p>
                  </a:txBody>
                  <a:tcPr anchor="ctr" marL="54864" marR="54864" marT="18288" marB="18288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席位费、品牌赞助</a:t>
                      </a:r>
                    </a:p>
                  </a:txBody>
                  <a:tcPr anchor="ctr" marL="54864" marR="54864" marT="18288" marB="18288">
                    <a:solidFill>
                      <a:srgbClr val="F4F6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中型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总领事与企业家对话会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50–150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30–80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赞助包 5万–30万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赞助、对接费、门票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中型</a:t>
                      </a:r>
                    </a:p>
                  </a:txBody>
                  <a:tcPr anchor="ctr" marL="54864" marR="54864" marT="18288" marB="18288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国别商务论坛 / 推介会</a:t>
                      </a:r>
                    </a:p>
                  </a:txBody>
                  <a:tcPr anchor="ctr" marL="54864" marR="54864" marT="18288" marB="18288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50–150</a:t>
                      </a:r>
                    </a:p>
                  </a:txBody>
                  <a:tcPr anchor="ctr" marL="54864" marR="54864" marT="18288" marB="18288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50–100</a:t>
                      </a:r>
                    </a:p>
                  </a:txBody>
                  <a:tcPr anchor="ctr" marL="54864" marR="54864" marT="18288" marB="18288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冠名 20万–50万</a:t>
                      </a:r>
                    </a:p>
                  </a:txBody>
                  <a:tcPr anchor="ctr" marL="54864" marR="54864" marT="18288" marB="18288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冠名、赞助、对接费</a:t>
                      </a:r>
                    </a:p>
                  </a:txBody>
                  <a:tcPr anchor="ctr" marL="54864" marR="54864" marT="18288" marB="18288">
                    <a:solidFill>
                      <a:srgbClr val="F4F6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大型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总领事文化慈善之夜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300–800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200–400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冠名 50万–200万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冠名、赞助、义拍、票务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大型</a:t>
                      </a:r>
                    </a:p>
                  </a:txBody>
                  <a:tcPr anchor="ctr" marL="54864" marR="54864" marT="18288" marB="18288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多国领事节 / 城市论坛</a:t>
                      </a:r>
                    </a:p>
                  </a:txBody>
                  <a:tcPr anchor="ctr" marL="54864" marR="54864" marT="18288" marB="18288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300–800</a:t>
                      </a:r>
                    </a:p>
                  </a:txBody>
                  <a:tcPr anchor="ctr" marL="54864" marR="54864" marT="18288" marB="18288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200–500</a:t>
                      </a:r>
                    </a:p>
                  </a:txBody>
                  <a:tcPr anchor="ctr" marL="54864" marR="54864" marT="18288" marB="18288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冠名 80万–300万</a:t>
                      </a:r>
                    </a:p>
                  </a:txBody>
                  <a:tcPr anchor="ctr" marL="54864" marR="54864" marT="18288" marB="18288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冠名、赞助、票务、转播</a:t>
                      </a:r>
                    </a:p>
                  </a:txBody>
                  <a:tcPr anchor="ctr" marL="54864" marR="54864" marT="18288" marB="18288"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4343400"/>
            <a:ext cx="11274552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B6B7B"/>
                </a:solidFill>
                <a:latin typeface="Microsoft YaHei"/>
                <a:ea typeface="Microsoft YaHei"/>
              </a:rPr>
              <a:t>说明：小型主打高频深度链接；中大型主打品牌势能与规模化赞助；慈善之夜兼具公益与冠名收入。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B6B7B"/>
                </a:solidFill>
                <a:latin typeface="Microsoft YaHei"/>
                <a:ea typeface="Microsoft YaHei"/>
              </a:rPr>
              <a:t>CGC · 国家会客厅 · 三方战略合作策划案（建议稿）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810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</a:rPr>
              <a:t>表三 · 国家会客厅冠名与会籍（示意）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109728"/>
            <a:ext cx="11887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C9A24B"/>
                </a:solidFill>
                <a:latin typeface="Microsoft YaHei"/>
                <a:ea typeface="Microsoft YaHei"/>
              </a:rPr>
              <a:t>13/20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25880"/>
          <a:ext cx="1127455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4910"/>
                <a:gridCol w="2254910"/>
                <a:gridCol w="2254910"/>
                <a:gridCol w="2254910"/>
                <a:gridCol w="2254910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产品</a:t>
                      </a:r>
                    </a:p>
                  </a:txBody>
                  <a:tcPr anchor="ctr" marL="54864" marR="54864"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形式</a:t>
                      </a:r>
                    </a:p>
                  </a:txBody>
                  <a:tcPr anchor="ctr" marL="54864" marR="54864"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周期</a:t>
                      </a:r>
                    </a:p>
                  </a:txBody>
                  <a:tcPr anchor="ctr" marL="54864" marR="54864"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价格(万元)</a:t>
                      </a:r>
                    </a:p>
                  </a:txBody>
                  <a:tcPr anchor="ctr" marL="54864" marR="54864"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核心权益</a:t>
                      </a:r>
                    </a:p>
                  </a:txBody>
                  <a:tcPr anchor="ctr" marL="54864" marR="54864">
                    <a:solidFill>
                      <a:srgbClr val="0B2A4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独家国家冠名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某某国家会客厅独家命名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年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80–300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独家命名、领事资源优先、招商对接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联合冠名</a:t>
                      </a:r>
                    </a:p>
                  </a:txBody>
                  <a:tcPr anchor="ctr" marL="54864" marR="54864" marT="18288" marB="18288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主题季 / 联合命名</a:t>
                      </a:r>
                    </a:p>
                  </a:txBody>
                  <a:tcPr anchor="ctr" marL="54864" marR="54864" marT="18288" marB="18288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季/年</a:t>
                      </a:r>
                    </a:p>
                  </a:txBody>
                  <a:tcPr anchor="ctr" marL="54864" marR="54864" marT="18288" marB="18288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30–80</a:t>
                      </a:r>
                    </a:p>
                  </a:txBody>
                  <a:tcPr anchor="ctr" marL="54864" marR="54864" marT="18288" marB="18288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联合露出、活动优先、品牌权益</a:t>
                      </a:r>
                    </a:p>
                  </a:txBody>
                  <a:tcPr anchor="ctr" marL="54864" marR="54864" marT="18288" marB="18288">
                    <a:solidFill>
                      <a:srgbClr val="F4F6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企业常驻会籍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入驻会客厅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年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10–30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常驻席位、出海与对接优先、活动权益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单次场地+领事出席</a:t>
                      </a:r>
                    </a:p>
                  </a:txBody>
                  <a:tcPr anchor="ctr" marL="54864" marR="54864" marT="18288" marB="18288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活动/接待单场</a:t>
                      </a:r>
                    </a:p>
                  </a:txBody>
                  <a:tcPr anchor="ctr" marL="54864" marR="54864" marT="18288" marB="18288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次</a:t>
                      </a:r>
                    </a:p>
                  </a:txBody>
                  <a:tcPr anchor="ctr" marL="54864" marR="54864" marT="18288" marB="18288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3–10</a:t>
                      </a:r>
                    </a:p>
                  </a:txBody>
                  <a:tcPr anchor="ctr" marL="54864" marR="54864" marT="18288" marB="18288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场地、领事/政要出席、文化体验</a:t>
                      </a:r>
                    </a:p>
                  </a:txBody>
                  <a:tcPr anchor="ctr" marL="54864" marR="54864" marT="18288" marB="18288">
                    <a:solidFill>
                      <a:srgbClr val="F4F6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园区·政府招商包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国别招商对接服务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项目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30–100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外资项目对接、国别窗口、落地协助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3931920"/>
            <a:ext cx="11274552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B6B7B"/>
                </a:solidFill>
                <a:latin typeface="Microsoft YaHei"/>
                <a:ea typeface="Microsoft YaHei"/>
              </a:rPr>
              <a:t>说明：国家会客厅为旗舰现金流：冠名+会籍为长期稳定收入，招商包为高价值项目收入。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B6B7B"/>
                </a:solidFill>
                <a:latin typeface="Microsoft YaHei"/>
                <a:ea typeface="Microsoft YaHei"/>
              </a:rPr>
              <a:t>CGC · 国家会客厅 · 三方战略合作策划案（建议稿）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810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</a:rPr>
              <a:t>表四 · 出海深度游与企业出海服务（示意）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109728"/>
            <a:ext cx="11887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C9A24B"/>
                </a:solidFill>
                <a:latin typeface="Microsoft YaHei"/>
                <a:ea typeface="Microsoft YaHei"/>
              </a:rPr>
              <a:t>14/20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25880"/>
          <a:ext cx="1127455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4910"/>
                <a:gridCol w="2254910"/>
                <a:gridCol w="2254910"/>
                <a:gridCol w="2254910"/>
                <a:gridCol w="2254910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产品</a:t>
                      </a:r>
                    </a:p>
                  </a:txBody>
                  <a:tcPr anchor="ctr" marL="54864" marR="54864"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对象/规格</a:t>
                      </a:r>
                    </a:p>
                  </a:txBody>
                  <a:tcPr anchor="ctr" marL="54864" marR="54864"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周期</a:t>
                      </a:r>
                    </a:p>
                  </a:txBody>
                  <a:tcPr anchor="ctr" marL="54864" marR="54864"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价格</a:t>
                      </a:r>
                    </a:p>
                  </a:txBody>
                  <a:tcPr anchor="ctr" marL="54864" marR="54864"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收入说明</a:t>
                      </a:r>
                    </a:p>
                  </a:txBody>
                  <a:tcPr anchor="ctr" marL="54864" marR="54864">
                    <a:solidFill>
                      <a:srgbClr val="0B2A4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高端商务深度游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部长级接待 / 团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7–10天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8万–20万/人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团费、商务对接、文化体验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元首级定制团</a:t>
                      </a:r>
                    </a:p>
                  </a:txBody>
                  <a:tcPr anchor="ctr" marL="54864" marR="54864" marT="18288" marB="18288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总理/总统级接待</a:t>
                      </a:r>
                    </a:p>
                  </a:txBody>
                  <a:tcPr anchor="ctr" marL="54864" marR="54864" marT="18288" marB="18288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定制</a:t>
                      </a:r>
                    </a:p>
                  </a:txBody>
                  <a:tcPr anchor="ctr" marL="54864" marR="54864" marT="18288" marB="18288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30万–80万/人</a:t>
                      </a:r>
                    </a:p>
                  </a:txBody>
                  <a:tcPr anchor="ctr" marL="54864" marR="54864" marT="18288" marB="18288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高端定制、整团300万元起</a:t>
                      </a:r>
                    </a:p>
                  </a:txBody>
                  <a:tcPr anchor="ctr" marL="54864" marR="54864" marT="18288" marB="18288">
                    <a:solidFill>
                      <a:srgbClr val="F4F6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高僧大德人文专线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人生智慧交流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5–8天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6万–15万/人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差异化人文产品、复购高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企业出海·单国服务包</a:t>
                      </a:r>
                    </a:p>
                  </a:txBody>
                  <a:tcPr anchor="ctr" marL="54864" marR="54864" marT="18288" marB="18288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连领事→对接部长</a:t>
                      </a:r>
                    </a:p>
                  </a:txBody>
                  <a:tcPr anchor="ctr" marL="54864" marR="54864" marT="18288" marB="18288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项目</a:t>
                      </a:r>
                    </a:p>
                  </a:txBody>
                  <a:tcPr anchor="ctr" marL="54864" marR="54864" marT="18288" marB="18288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20万–50万/项目</a:t>
                      </a:r>
                    </a:p>
                  </a:txBody>
                  <a:tcPr anchor="ctr" marL="54864" marR="54864" marT="18288" marB="18288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对接服务费</a:t>
                      </a:r>
                    </a:p>
                  </a:txBody>
                  <a:tcPr anchor="ctr" marL="54864" marR="54864" marT="18288" marB="18288">
                    <a:solidFill>
                      <a:srgbClr val="F4F6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企业出海·年度顾问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全年陪跑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年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50万–150万/年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顾问年费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落地成功佣金</a:t>
                      </a:r>
                    </a:p>
                  </a:txBody>
                  <a:tcPr anchor="ctr" marL="54864" marR="54864" marT="18288" marB="18288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项目落地分成</a:t>
                      </a:r>
                    </a:p>
                  </a:txBody>
                  <a:tcPr anchor="ctr" marL="54864" marR="54864" marT="18288" marB="18288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项目</a:t>
                      </a:r>
                    </a:p>
                  </a:txBody>
                  <a:tcPr anchor="ctr" marL="54864" marR="54864" marT="18288" marB="18288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项目额 1%–5%</a:t>
                      </a:r>
                    </a:p>
                  </a:txBody>
                  <a:tcPr anchor="ctr" marL="54864" marR="54864" marT="18288" marB="18288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成交佣金</a:t>
                      </a:r>
                    </a:p>
                  </a:txBody>
                  <a:tcPr anchor="ctr" marL="54864" marR="54864" marT="18288" marB="18288"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4343400"/>
            <a:ext cx="11274552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B6B7B"/>
                </a:solidFill>
                <a:latin typeface="Microsoft YaHei"/>
                <a:ea typeface="Microsoft YaHei"/>
              </a:rPr>
              <a:t>说明：出海产品兼具高客单价与人文差异化；企业服务以顾问费+佣金形成长期收益。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B6B7B"/>
                </a:solidFill>
                <a:latin typeface="Microsoft YaHei"/>
                <a:ea typeface="Microsoft YaHei"/>
              </a:rPr>
              <a:t>CGC · 国家会客厅 · 三方战略合作策划案（建议稿）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810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</a:rPr>
              <a:t>表五 · 会员与会籍分层（示意）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109728"/>
            <a:ext cx="11887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C9A24B"/>
                </a:solidFill>
                <a:latin typeface="Microsoft YaHei"/>
                <a:ea typeface="Microsoft YaHei"/>
              </a:rPr>
              <a:t>15/20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25880"/>
          <a:ext cx="11274552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8638"/>
                <a:gridCol w="2818638"/>
                <a:gridCol w="2818638"/>
                <a:gridCol w="2818638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层级</a:t>
                      </a:r>
                    </a:p>
                  </a:txBody>
                  <a:tcPr anchor="ctr" marL="54864" marR="54864"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对象</a:t>
                      </a:r>
                    </a:p>
                  </a:txBody>
                  <a:tcPr anchor="ctr" marL="54864" marR="54864"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年费(万元)</a:t>
                      </a:r>
                    </a:p>
                  </a:txBody>
                  <a:tcPr anchor="ctr" marL="54864" marR="54864"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核心权益</a:t>
                      </a:r>
                    </a:p>
                  </a:txBody>
                  <a:tcPr anchor="ctr" marL="54864" marR="54864">
                    <a:solidFill>
                      <a:srgbClr val="0B2A4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个人荣誉会员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企业家/个人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3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活动参与、领事沙龙、社群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企业会员</a:t>
                      </a:r>
                    </a:p>
                  </a:txBody>
                  <a:tcPr anchor="ctr" marL="54864" marR="54864" marT="18288" marB="18288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中小企业</a:t>
                      </a:r>
                    </a:p>
                  </a:txBody>
                  <a:tcPr anchor="ctr" marL="54864" marR="54864" marT="18288" marB="18288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10</a:t>
                      </a:r>
                    </a:p>
                  </a:txBody>
                  <a:tcPr anchor="ctr" marL="54864" marR="54864" marT="18288" marB="18288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出海对接、活动优先、会客厅权益</a:t>
                      </a:r>
                    </a:p>
                  </a:txBody>
                  <a:tcPr anchor="ctr" marL="54864" marR="54864" marT="18288" marB="18288">
                    <a:solidFill>
                      <a:srgbClr val="F4F6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企业理事(VIP)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重点企业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30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深度对接、专属接待、品牌露出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园区·城市战略会员</a:t>
                      </a:r>
                    </a:p>
                  </a:txBody>
                  <a:tcPr anchor="ctr" marL="54864" marR="54864" marT="18288" marB="18288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园区/政府/平台</a:t>
                      </a:r>
                    </a:p>
                  </a:txBody>
                  <a:tcPr anchor="ctr" marL="54864" marR="54864" marT="18288" marB="18288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100+</a:t>
                      </a:r>
                    </a:p>
                  </a:txBody>
                  <a:tcPr anchor="ctr" marL="54864" marR="54864" marT="18288" marB="18288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招商通道、国家窗口、定制服务</a:t>
                      </a:r>
                    </a:p>
                  </a:txBody>
                  <a:tcPr anchor="ctr" marL="54864" marR="54864" marT="18288" marB="18288"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3520440"/>
            <a:ext cx="11274552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B6B7B"/>
                </a:solidFill>
                <a:latin typeface="Microsoft YaHei"/>
                <a:ea typeface="Microsoft YaHei"/>
              </a:rPr>
              <a:t>说明：会籍体系与各产品线权益打通，形成稳定的预收与复购。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B6B7B"/>
                </a:solidFill>
                <a:latin typeface="Microsoft YaHei"/>
                <a:ea typeface="Microsoft YaHei"/>
              </a:rPr>
              <a:t>CGC · 国家会客厅 · 三方战略合作策划案（建议稿）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377440"/>
            <a:ext cx="1463040" cy="5080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651760"/>
            <a:ext cx="27432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600" b="1">
                <a:solidFill>
                  <a:srgbClr val="C9A24B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08960" y="2788920"/>
            <a:ext cx="822960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Microsoft YaHei"/>
                <a:ea typeface="Microsoft YaHei"/>
              </a:rPr>
              <a:t>机制与落地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54680" y="3886200"/>
            <a:ext cx="8229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F4F6F9"/>
                </a:solidFill>
                <a:latin typeface="Microsoft YaHei"/>
                <a:ea typeface="Microsoft YaHei"/>
              </a:rPr>
              <a:t>分润机制 · 路线图 · 收入测算 · 合规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810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</a:rPr>
              <a:t>表六 · 三方分工与分润机制（示意）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109728"/>
            <a:ext cx="11887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C9A24B"/>
                </a:solidFill>
                <a:latin typeface="Microsoft YaHei"/>
                <a:ea typeface="Microsoft YaHei"/>
              </a:rPr>
              <a:t>16/20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25880"/>
          <a:ext cx="11274552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8638"/>
                <a:gridCol w="2818638"/>
                <a:gridCol w="2818638"/>
                <a:gridCol w="2818638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主体</a:t>
                      </a:r>
                    </a:p>
                  </a:txBody>
                  <a:tcPr anchor="ctr" marL="54864" marR="54864"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核心贡献</a:t>
                      </a:r>
                    </a:p>
                  </a:txBody>
                  <a:tcPr anchor="ctr" marL="54864" marR="54864"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建议分润区间</a:t>
                      </a:r>
                    </a:p>
                  </a:txBody>
                  <a:tcPr anchor="ctr" marL="54864" marR="54864"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结算方式</a:t>
                      </a:r>
                    </a:p>
                  </a:txBody>
                  <a:tcPr anchor="ctr" marL="54864" marR="54864">
                    <a:solidFill>
                      <a:srgbClr val="0B2A4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郡邦 / CGC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领事资源、空间、落地执行、海外接待、品牌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40%–50%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按项目结算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杨浦科技企业联合会</a:t>
                      </a:r>
                    </a:p>
                  </a:txBody>
                  <a:tcPr anchor="ctr" marL="54864" marR="54864" marT="18288" marB="18288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企业会员、获客、产业与招商资源</a:t>
                      </a:r>
                    </a:p>
                  </a:txBody>
                  <a:tcPr anchor="ctr" marL="54864" marR="54864" marT="18288" marB="18288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25%–35%</a:t>
                      </a:r>
                    </a:p>
                  </a:txBody>
                  <a:tcPr anchor="ctr" marL="54864" marR="54864" marT="18288" marB="18288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按项目结算</a:t>
                      </a:r>
                    </a:p>
                  </a:txBody>
                  <a:tcPr anchor="ctr" marL="54864" marR="54864" marT="18288" marB="18288">
                    <a:solidFill>
                      <a:srgbClr val="F4F6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复旦政策研究中心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智库背书、课题、培训、内容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15%–25%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按项目/课题结算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3108960"/>
            <a:ext cx="11274552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B6B7B"/>
                </a:solidFill>
                <a:latin typeface="Microsoft YaHei"/>
                <a:ea typeface="Microsoft YaHei"/>
              </a:rPr>
              <a:t>说明：分润区间按项目类型浮动：活动/出海类郡邦权重高，课题/培训类复旦权重高，获客类企联权重高。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B6B7B"/>
                </a:solidFill>
                <a:latin typeface="Microsoft YaHei"/>
                <a:ea typeface="Microsoft YaHei"/>
              </a:rPr>
              <a:t>CGC · 国家会客厅 · 三方战略合作策划案（建议稿）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810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</a:rPr>
              <a:t>表七 · 12个月落地路线图（示意）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109728"/>
            <a:ext cx="11887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C9A24B"/>
                </a:solidFill>
                <a:latin typeface="Microsoft YaHei"/>
                <a:ea typeface="Microsoft YaHei"/>
              </a:rPr>
              <a:t>17/20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25880"/>
          <a:ext cx="11274552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8184"/>
                <a:gridCol w="3758184"/>
                <a:gridCol w="3758184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阶段</a:t>
                      </a:r>
                    </a:p>
                  </a:txBody>
                  <a:tcPr anchor="ctr" marL="54864" marR="54864"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关键动作</a:t>
                      </a:r>
                    </a:p>
                  </a:txBody>
                  <a:tcPr anchor="ctr" marL="54864" marR="54864"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里程碑/产出</a:t>
                      </a:r>
                    </a:p>
                  </a:txBody>
                  <a:tcPr anchor="ctr" marL="54864" marR="54864">
                    <a:solidFill>
                      <a:srgbClr val="0B2A4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Q1 启动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签三方框架协议；首个国家会客厅试点(1–2国)；2场总领事午餐会/沙龙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框架协议、首个会客厅样板、首批付费会员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Q2 扩张</a:t>
                      </a:r>
                    </a:p>
                  </a:txBody>
                  <a:tcPr anchor="ctr" marL="54864" marR="54864" marT="18288" marB="18288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新增3–4个国家会客厅；首场总领事与企业家对话会；首发1国出海团</a:t>
                      </a:r>
                    </a:p>
                  </a:txBody>
                  <a:tcPr anchor="ctr" marL="54864" marR="54864" marT="18288" marB="18288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4+会客厅、首场对话会、首团出海</a:t>
                      </a:r>
                    </a:p>
                  </a:txBody>
                  <a:tcPr anchor="ctr" marL="54864" marR="54864" marT="18288" marB="18288">
                    <a:solidFill>
                      <a:srgbClr val="F4F6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Q3 规模化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多国领事节(大型)；出海团2–3国；长三角招商对接签约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大型活动品牌、出海复购、招商订单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Q4 平台化</a:t>
                      </a:r>
                    </a:p>
                  </a:txBody>
                  <a:tcPr anchor="ctr" marL="54864" marR="54864" marT="18288" marB="18288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年度总领事文化慈善之夜(旗舰)；会籍规模化；招商项目落地与结算</a:t>
                      </a:r>
                    </a:p>
                  </a:txBody>
                  <a:tcPr anchor="ctr" marL="54864" marR="54864" marT="18288" marB="18288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年度旗舰 IP、会籍规模、招商落地与年度复盘</a:t>
                      </a:r>
                    </a:p>
                  </a:txBody>
                  <a:tcPr anchor="ctr" marL="54864" marR="54864" marT="18288" marB="18288"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3520440"/>
            <a:ext cx="11274552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B6B7B"/>
                </a:solidFill>
                <a:latin typeface="Microsoft YaHei"/>
                <a:ea typeface="Microsoft YaHei"/>
              </a:rPr>
              <a:t>说明：遵循‘小道大道’：先以小型高频活动建立链接，再放大为长三角级平台与变现体系。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B6B7B"/>
                </a:solidFill>
                <a:latin typeface="Microsoft YaHei"/>
                <a:ea typeface="Microsoft YaHei"/>
              </a:rPr>
              <a:t>CGC · 国家会客厅 · 三方战略合作策划案（建议稿）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810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</a:rPr>
              <a:t>表八 · 第一年收入测算（示意，单位：万元）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109728"/>
            <a:ext cx="11887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C9A24B"/>
                </a:solidFill>
                <a:latin typeface="Microsoft YaHei"/>
                <a:ea typeface="Microsoft YaHei"/>
              </a:rPr>
              <a:t>18/20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25880"/>
          <a:ext cx="1127455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4910"/>
                <a:gridCol w="2254910"/>
                <a:gridCol w="2254910"/>
                <a:gridCol w="2254910"/>
                <a:gridCol w="2254910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收入项</a:t>
                      </a:r>
                    </a:p>
                  </a:txBody>
                  <a:tcPr anchor="ctr" marL="54864" marR="54864"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单价/均值(万元)</a:t>
                      </a:r>
                    </a:p>
                  </a:txBody>
                  <a:tcPr anchor="ctr" marL="54864" marR="54864"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数量</a:t>
                      </a:r>
                    </a:p>
                  </a:txBody>
                  <a:tcPr anchor="ctr" marL="54864" marR="54864"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年收入(万元)</a:t>
                      </a:r>
                    </a:p>
                  </a:txBody>
                  <a:tcPr anchor="ctr" marL="54864" marR="54864"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备注</a:t>
                      </a:r>
                    </a:p>
                  </a:txBody>
                  <a:tcPr anchor="ctr" marL="54864" marR="54864">
                    <a:solidFill>
                      <a:srgbClr val="0B2A4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国家会客厅冠名+会籍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120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4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480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4个国家会客厅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企业常驻会籍</a:t>
                      </a:r>
                    </a:p>
                  </a:txBody>
                  <a:tcPr anchor="ctr" marL="54864" marR="54864" marT="18288" marB="18288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12</a:t>
                      </a:r>
                    </a:p>
                  </a:txBody>
                  <a:tcPr anchor="ctr" marL="54864" marR="54864" marT="18288" marB="18288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30</a:t>
                      </a:r>
                    </a:p>
                  </a:txBody>
                  <a:tcPr anchor="ctr" marL="54864" marR="54864" marT="18288" marB="18288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360</a:t>
                      </a:r>
                    </a:p>
                  </a:txBody>
                  <a:tcPr anchor="ctr" marL="54864" marR="54864" marT="18288" marB="18288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30家企业</a:t>
                      </a:r>
                    </a:p>
                  </a:txBody>
                  <a:tcPr anchor="ctr" marL="54864" marR="54864" marT="18288" marB="18288">
                    <a:solidFill>
                      <a:srgbClr val="F4F6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总领事午餐会/小型活动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10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24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240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约每月2场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总领事与企业家对话会</a:t>
                      </a:r>
                    </a:p>
                  </a:txBody>
                  <a:tcPr anchor="ctr" marL="54864" marR="54864" marT="18288" marB="18288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50</a:t>
                      </a:r>
                    </a:p>
                  </a:txBody>
                  <a:tcPr anchor="ctr" marL="54864" marR="54864" marT="18288" marB="18288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6</a:t>
                      </a:r>
                    </a:p>
                  </a:txBody>
                  <a:tcPr anchor="ctr" marL="54864" marR="54864" marT="18288" marB="18288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300</a:t>
                      </a:r>
                    </a:p>
                  </a:txBody>
                  <a:tcPr anchor="ctr" marL="54864" marR="54864" marT="18288" marB="18288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中型对话/论坛</a:t>
                      </a:r>
                    </a:p>
                  </a:txBody>
                  <a:tcPr anchor="ctr" marL="54864" marR="54864" marT="18288" marB="18288">
                    <a:solidFill>
                      <a:srgbClr val="F4F6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总领事文化慈善之夜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300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1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300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年度旗舰 IP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多国领事节/大型论坛</a:t>
                      </a:r>
                    </a:p>
                  </a:txBody>
                  <a:tcPr anchor="ctr" marL="54864" marR="54864" marT="18288" marB="18288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250</a:t>
                      </a:r>
                    </a:p>
                  </a:txBody>
                  <a:tcPr anchor="ctr" marL="54864" marR="54864" marT="18288" marB="18288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1</a:t>
                      </a:r>
                    </a:p>
                  </a:txBody>
                  <a:tcPr anchor="ctr" marL="54864" marR="54864" marT="18288" marB="18288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250</a:t>
                      </a:r>
                    </a:p>
                  </a:txBody>
                  <a:tcPr anchor="ctr" marL="54864" marR="54864" marT="18288" marB="18288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大型活动</a:t>
                      </a:r>
                    </a:p>
                  </a:txBody>
                  <a:tcPr anchor="ctr" marL="54864" marR="54864" marT="18288" marB="18288">
                    <a:solidFill>
                      <a:srgbClr val="F4F6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出海深度游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50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10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500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每月1团均值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企业出海服务</a:t>
                      </a:r>
                    </a:p>
                  </a:txBody>
                  <a:tcPr anchor="ctr" marL="54864" marR="54864" marT="18288" marB="18288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30</a:t>
                      </a:r>
                    </a:p>
                  </a:txBody>
                  <a:tcPr anchor="ctr" marL="54864" marR="54864" marT="18288" marB="18288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6</a:t>
                      </a:r>
                    </a:p>
                  </a:txBody>
                  <a:tcPr anchor="ctr" marL="54864" marR="54864" marT="18288" marB="18288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180</a:t>
                      </a:r>
                    </a:p>
                  </a:txBody>
                  <a:tcPr anchor="ctr" marL="54864" marR="54864" marT="18288" marB="18288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单国服务包</a:t>
                      </a:r>
                    </a:p>
                  </a:txBody>
                  <a:tcPr anchor="ctr" marL="54864" marR="54864" marT="18288" marB="18288">
                    <a:solidFill>
                      <a:srgbClr val="F4F6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长三角招商对接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50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4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200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园区/政府项目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合计</a:t>
                      </a:r>
                    </a:p>
                  </a:txBody>
                  <a:tcPr anchor="ctr" marL="54864" marR="54864" marT="18288" marB="18288">
                    <a:solidFill>
                      <a:srgbClr val="C9A2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—</a:t>
                      </a:r>
                    </a:p>
                  </a:txBody>
                  <a:tcPr anchor="ctr" marL="54864" marR="54864" marT="18288" marB="18288">
                    <a:solidFill>
                      <a:srgbClr val="C9A2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—</a:t>
                      </a:r>
                    </a:p>
                  </a:txBody>
                  <a:tcPr anchor="ctr" marL="54864" marR="54864" marT="18288" marB="18288">
                    <a:solidFill>
                      <a:srgbClr val="C9A2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2,810</a:t>
                      </a:r>
                    </a:p>
                  </a:txBody>
                  <a:tcPr anchor="ctr" marL="54864" marR="54864" marT="18288" marB="18288">
                    <a:solidFill>
                      <a:srgbClr val="C9A2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示意测算，按落地节奏调整</a:t>
                      </a:r>
                    </a:p>
                  </a:txBody>
                  <a:tcPr anchor="ctr" marL="54864" marR="54864" marT="18288" marB="18288">
                    <a:solidFill>
                      <a:srgbClr val="C9A24B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5989320"/>
            <a:ext cx="11274552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B6B7B"/>
                </a:solidFill>
                <a:latin typeface="Microsoft YaHei"/>
                <a:ea typeface="Microsoft YaHei"/>
              </a:rPr>
              <a:t>说明：以上为示意性测算，用于沟通商业空间；实际以签约项目与执行节奏为准。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B6B7B"/>
                </a:solidFill>
                <a:latin typeface="Microsoft YaHei"/>
                <a:ea typeface="Microsoft YaHei"/>
              </a:rPr>
              <a:t>CGC · 国家会客厅 · 三方战略合作策划案（建议稿）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810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</a:rPr>
              <a:t>合规与风险管理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109728"/>
            <a:ext cx="11887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C9A24B"/>
                </a:solidFill>
                <a:latin typeface="Microsoft YaHei"/>
                <a:ea typeface="Microsoft YaHei"/>
              </a:rPr>
              <a:t>19/20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800"/>
              </a:spcAft>
            </a:pPr>
            <a:r>
              <a:rPr sz="1500" b="1">
                <a:solidFill>
                  <a:srgbClr val="C9A24B"/>
                </a:solidFill>
                <a:latin typeface="Microsoft YaHei"/>
                <a:ea typeface="Microsoft YaHei"/>
              </a:rPr>
              <a:t>●  </a:t>
            </a:r>
            <a:r>
              <a:rPr sz="1700" b="0">
                <a:solidFill>
                  <a:srgbClr val="1E2933"/>
                </a:solidFill>
                <a:latin typeface="Microsoft YaHei"/>
                <a:ea typeface="Microsoft YaHei"/>
              </a:rPr>
              <a:t>外事合规：严格遵守外事纪律，尊重领事与领团身份，活动不涉政治、宗教敏感议题。</a:t>
            </a:r>
          </a:p>
          <a:p>
            <a:pPr>
              <a:lnSpc>
                <a:spcPct val="112000"/>
              </a:lnSpc>
              <a:spcAft>
                <a:spcPts val="1800"/>
              </a:spcAft>
            </a:pPr>
            <a:r>
              <a:rPr sz="1500" b="1">
                <a:solidFill>
                  <a:srgbClr val="C9A24B"/>
                </a:solidFill>
                <a:latin typeface="Microsoft YaHei"/>
                <a:ea typeface="Microsoft YaHei"/>
              </a:rPr>
              <a:t>●  </a:t>
            </a:r>
            <a:r>
              <a:rPr sz="1700" b="0">
                <a:solidFill>
                  <a:srgbClr val="1E2933"/>
                </a:solidFill>
                <a:latin typeface="Microsoft YaHei"/>
                <a:ea typeface="Microsoft YaHei"/>
              </a:rPr>
              <a:t>内容中立：由复旦研究中心把关，保持学术与公共属性，避免不当承诺。</a:t>
            </a:r>
          </a:p>
          <a:p>
            <a:pPr>
              <a:lnSpc>
                <a:spcPct val="112000"/>
              </a:lnSpc>
              <a:spcAft>
                <a:spcPts val="1800"/>
              </a:spcAft>
            </a:pPr>
            <a:r>
              <a:rPr sz="1500" b="1">
                <a:solidFill>
                  <a:srgbClr val="C9A24B"/>
                </a:solidFill>
                <a:latin typeface="Microsoft YaHei"/>
                <a:ea typeface="Microsoft YaHei"/>
              </a:rPr>
              <a:t>●  </a:t>
            </a:r>
            <a:r>
              <a:rPr sz="1700" b="0">
                <a:solidFill>
                  <a:srgbClr val="1E2933"/>
                </a:solidFill>
                <a:latin typeface="Microsoft YaHei"/>
                <a:ea typeface="Microsoft YaHei"/>
              </a:rPr>
              <a:t>财务合规：三方分润、发票与税务规范，重大项目单独签约结算；慈善义拍专款专用。</a:t>
            </a:r>
          </a:p>
          <a:p>
            <a:pPr>
              <a:lnSpc>
                <a:spcPct val="112000"/>
              </a:lnSpc>
              <a:spcAft>
                <a:spcPts val="1800"/>
              </a:spcAft>
            </a:pPr>
            <a:r>
              <a:rPr sz="1500" b="1">
                <a:solidFill>
                  <a:srgbClr val="C9A24B"/>
                </a:solidFill>
                <a:latin typeface="Microsoft YaHei"/>
                <a:ea typeface="Microsoft YaHei"/>
              </a:rPr>
              <a:t>●  </a:t>
            </a:r>
            <a:r>
              <a:rPr sz="1700" b="0">
                <a:solidFill>
                  <a:srgbClr val="1E2933"/>
                </a:solidFill>
                <a:latin typeface="Microsoft YaHei"/>
                <a:ea typeface="Microsoft YaHei"/>
              </a:rPr>
              <a:t>品牌风险：统一对外口径与视觉规范，重要活动报备市/区外办等主管部门。</a:t>
            </a:r>
          </a:p>
          <a:p>
            <a:pPr>
              <a:lnSpc>
                <a:spcPct val="112000"/>
              </a:lnSpc>
              <a:spcAft>
                <a:spcPts val="1800"/>
              </a:spcAft>
            </a:pPr>
            <a:r>
              <a:rPr sz="1500" b="1">
                <a:solidFill>
                  <a:srgbClr val="C9A24B"/>
                </a:solidFill>
                <a:latin typeface="Microsoft YaHei"/>
                <a:ea typeface="Microsoft YaHei"/>
              </a:rPr>
              <a:t>●  </a:t>
            </a:r>
            <a:r>
              <a:rPr sz="1700" b="0">
                <a:solidFill>
                  <a:srgbClr val="1E2933"/>
                </a:solidFill>
                <a:latin typeface="Microsoft YaHei"/>
                <a:ea typeface="Microsoft YaHei"/>
              </a:rPr>
              <a:t>履约保障：海外接待与政要礼遇以书面确认为准，设置预案与替代方案。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B6B7B"/>
                </a:solidFill>
                <a:latin typeface="Microsoft YaHei"/>
                <a:ea typeface="Microsoft YaHei"/>
              </a:rPr>
              <a:t>CGC · 国家会客厅 · 三方战略合作策划案（建议稿）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810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</a:rPr>
              <a:t>下一步行动建议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109728"/>
            <a:ext cx="11887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C9A24B"/>
                </a:solidFill>
                <a:latin typeface="Microsoft YaHei"/>
                <a:ea typeface="Microsoft YaHei"/>
              </a:rPr>
              <a:t>20/20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777240" cy="84124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77724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2A4A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1463040" y="1463040"/>
            <a:ext cx="10149840" cy="841248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91640" y="1463040"/>
            <a:ext cx="978408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E2933"/>
                </a:solidFill>
                <a:latin typeface="Microsoft YaHei"/>
                <a:ea typeface="Microsoft YaHei"/>
              </a:rPr>
              <a:t>三方就合作框架与分润机制达成一致，签署战略合作框架协议。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395728"/>
            <a:ext cx="777240" cy="84124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395728"/>
            <a:ext cx="77724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2A4A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63040" y="2395728"/>
            <a:ext cx="10149840" cy="841248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91640" y="2395728"/>
            <a:ext cx="978408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E2933"/>
                </a:solidFill>
                <a:latin typeface="Microsoft YaHei"/>
                <a:ea typeface="Microsoft YaHei"/>
              </a:rPr>
              <a:t>确定首批 1–2 个试点‘国家会客厅’国别与样板空间方案。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328416"/>
            <a:ext cx="777240" cy="84124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328416"/>
            <a:ext cx="77724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2A4A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463040" y="3328416"/>
            <a:ext cx="10149840" cy="841248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691640" y="3328416"/>
            <a:ext cx="978408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E2933"/>
                </a:solidFill>
                <a:latin typeface="Microsoft YaHei"/>
                <a:ea typeface="Microsoft YaHei"/>
              </a:rPr>
              <a:t>拟定首季活动日历：2 场总领事午餐会/沙龙 + 1 场企业家对话会。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261104"/>
            <a:ext cx="777240" cy="84124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261104"/>
            <a:ext cx="77724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2A4A"/>
                </a:solidFill>
                <a:latin typeface="Microsoft YaHei"/>
                <a:ea typeface="Microsoft YaHei"/>
              </a:rPr>
              <a:t>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63040" y="4261104"/>
            <a:ext cx="10149840" cy="841248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691640" y="4261104"/>
            <a:ext cx="978408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E2933"/>
                </a:solidFill>
                <a:latin typeface="Microsoft YaHei"/>
                <a:ea typeface="Microsoft YaHei"/>
              </a:rPr>
              <a:t>组建联合运营小组（郡邦CGC落地 + 企联获客 + 复旦内容），明确接口人。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5193792"/>
            <a:ext cx="777240" cy="84124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5193792"/>
            <a:ext cx="77724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2A4A"/>
                </a:solidFill>
                <a:latin typeface="Microsoft YaHei"/>
                <a:ea typeface="Microsoft YaHei"/>
              </a:rPr>
              <a:t>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463040" y="5193792"/>
            <a:ext cx="10149840" cy="841248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91640" y="5193792"/>
            <a:ext cx="978408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E2933"/>
                </a:solidFill>
                <a:latin typeface="Microsoft YaHei"/>
                <a:ea typeface="Microsoft YaHei"/>
              </a:rPr>
              <a:t>制定统一收费标准与合同模板，启动首批会员与冠名招商。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465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B6B7B"/>
                </a:solidFill>
                <a:latin typeface="Microsoft YaHei"/>
                <a:ea typeface="Microsoft YaHei"/>
              </a:rPr>
              <a:t>CGC · 国家会客厅 · 三方战略合作策划案（建议稿）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3200400"/>
            <a:ext cx="1828800" cy="5080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Microsoft YaHei"/>
                <a:ea typeface="Microsoft YaHei"/>
              </a:rPr>
              <a:t>以领事为桥，连接世界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47472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F4F6F9"/>
                </a:solidFill>
                <a:latin typeface="Microsoft YaHei"/>
                <a:ea typeface="Microsoft YaHei"/>
              </a:rPr>
              <a:t>期待三方携手，把上海的开放资源转化为可持续的价值与现金流。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585216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9A24B"/>
                </a:solidFill>
                <a:latin typeface="Microsoft YaHei"/>
                <a:ea typeface="Microsoft YaHei"/>
              </a:rPr>
              <a:t>CGC · 国家会客厅 · 三方战略合作策划案（建议稿） · V2.0 · 建议稿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