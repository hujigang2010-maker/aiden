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9184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91840"/>
            <a:ext cx="12191695" cy="73152"/>
          </a:xfrm>
          <a:prstGeom prst="rect">
            <a:avLst/>
          </a:prstGeom>
          <a:solidFill>
            <a:srgbClr val="C9A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72865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C9A86B"/>
                </a:solidFill>
                <a:latin typeface="WenQuanYi Micro Hei"/>
              </a:rPr>
              <a:t>2026 年度活动</a:t>
            </a:r>
          </a:p>
          <a:p>
            <a:r>
              <a:rPr sz="5400" b="1">
                <a:solidFill>
                  <a:srgbClr val="FFFFFF"/>
                </a:solidFill>
                <a:latin typeface="WenQuanYi Micro Hei"/>
              </a:rPr>
              <a:t>财 务 收 支 整 理 报 告</a:t>
            </a:r>
          </a:p>
          <a:p>
            <a:r>
              <a:rPr sz="1400">
                <a:solidFill>
                  <a:srgbClr val="FBF7F0"/>
                </a:solidFill>
                <a:latin typeface="Calibri"/>
              </a:rPr>
              <a:t>Financial Summary  ·  For Multi-party Reference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10728655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023360"/>
            <a:ext cx="99971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8B0000"/>
                </a:solidFill>
                <a:latin typeface="WenQuanYi Micro Hei"/>
              </a:rPr>
              <a:t>  整理依据 ： </a:t>
            </a:r>
            <a:r>
              <a:rPr sz="1400">
                <a:solidFill>
                  <a:srgbClr val="333333"/>
                </a:solidFill>
                <a:latin typeface="WenQuanYi Micro Hei"/>
              </a:rPr>
              <a:t>活动原始流水 PDF（与原表逐行核对一致）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8B0000"/>
                </a:solidFill>
                <a:latin typeface="WenQuanYi Micro Hei"/>
              </a:rPr>
              <a:t>  分类口径 ： </a:t>
            </a:r>
            <a:r>
              <a:rPr sz="1400">
                <a:solidFill>
                  <a:srgbClr val="333333"/>
                </a:solidFill>
                <a:latin typeface="WenQuanYi Micro Hei"/>
              </a:rPr>
              <a:t>外部费用 / 内部费用 / 现场杂项（代收代付）/ 赞助收入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8B0000"/>
                </a:solidFill>
                <a:latin typeface="WenQuanYi Micro Hei"/>
              </a:rPr>
              <a:t>  总收入 ： </a:t>
            </a:r>
            <a:r>
              <a:rPr sz="1400">
                <a:solidFill>
                  <a:srgbClr val="1F6E43"/>
                </a:solidFill>
                <a:latin typeface="WenQuanYi Micro Hei"/>
              </a:rPr>
              <a:t>+ ¥46,758.00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8B0000"/>
                </a:solidFill>
                <a:latin typeface="WenQuanYi Micro Hei"/>
              </a:rPr>
              <a:t>  总支出 ： </a:t>
            </a:r>
            <a:r>
              <a:rPr sz="1400">
                <a:solidFill>
                  <a:srgbClr val="B22222"/>
                </a:solidFill>
                <a:latin typeface="WenQuanYi Micro Hei"/>
              </a:rPr>
              <a:t>  ¥-78,708.65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8B0000"/>
                </a:solidFill>
                <a:latin typeface="WenQuanYi Micro Hei"/>
              </a:rPr>
              <a:t>  净结余 ： </a:t>
            </a:r>
            <a:r>
              <a:rPr sz="1400">
                <a:solidFill>
                  <a:srgbClr val="B22222"/>
                </a:solidFill>
                <a:latin typeface="WenQuanYi Micro Hei"/>
              </a:rPr>
              <a:t>  ¥-31,436.53（负数表示亏损）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WenQuanYi Micro Hei"/>
              </a:rPr>
              <a:t>2026 年度活动 · 财务整理</a:t>
            </a:r>
          </a:p>
          <a:p>
            <a:pPr algn="r"/>
            <a:r>
              <a:rPr sz="900">
                <a:solidFill>
                  <a:srgbClr val="6B6B6B"/>
                </a:solidFill>
                <a:latin typeface="WenQuanYi Micro He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C9A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WenQuanYi Micro Hei"/>
              </a:rPr>
              <a:t>一、收支总览</a:t>
            </a:r>
          </a:p>
          <a:p>
            <a:r>
              <a:rPr sz="1200">
                <a:solidFill>
                  <a:srgbClr val="C9A86B"/>
                </a:solidFill>
                <a:latin typeface="WenQuanYi Micro Hei"/>
              </a:rPr>
              <a:t>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9427" y="1325880"/>
            <a:ext cx="26517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9427" y="1325880"/>
            <a:ext cx="2651760" cy="164592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27" y="1581912"/>
            <a:ext cx="26517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B6B6B"/>
                </a:solidFill>
                <a:latin typeface="WenQuanYi Micro Hei"/>
              </a:rPr>
              <a:t>外部费用</a:t>
            </a:r>
          </a:p>
          <a:p>
            <a:pPr algn="ctr">
              <a:spcBef>
                <a:spcPts val="800"/>
              </a:spcBef>
            </a:pPr>
            <a:r>
              <a:rPr sz="2400" b="1">
                <a:solidFill>
                  <a:srgbClr val="B22222"/>
                </a:solidFill>
                <a:latin typeface="WenQuanYi Micro Hei"/>
              </a:rPr>
              <a:t>¥-68,592.00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9787" y="1325880"/>
            <a:ext cx="26517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29787" y="1325880"/>
            <a:ext cx="2651760" cy="164592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9787" y="1581912"/>
            <a:ext cx="26517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B6B6B"/>
                </a:solidFill>
                <a:latin typeface="WenQuanYi Micro Hei"/>
              </a:rPr>
              <a:t>内部费用</a:t>
            </a:r>
          </a:p>
          <a:p>
            <a:pPr algn="ctr">
              <a:spcBef>
                <a:spcPts val="800"/>
              </a:spcBef>
            </a:pPr>
            <a:r>
              <a:rPr sz="2400" b="1">
                <a:solidFill>
                  <a:srgbClr val="B22222"/>
                </a:solidFill>
                <a:latin typeface="WenQuanYi Micro Hei"/>
              </a:rPr>
              <a:t>¥-10,116.65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1325880"/>
            <a:ext cx="26517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7" y="1325880"/>
            <a:ext cx="2651760" cy="164592"/>
          </a:xfrm>
          <a:prstGeom prst="rect">
            <a:avLst/>
          </a:prstGeom>
          <a:solidFill>
            <a:srgbClr val="1F6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0147" y="1581912"/>
            <a:ext cx="26517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B6B6B"/>
                </a:solidFill>
                <a:latin typeface="WenQuanYi Micro Hei"/>
              </a:rPr>
              <a:t>现场杂项（净额）</a:t>
            </a:r>
          </a:p>
          <a:p>
            <a:pPr algn="ctr">
              <a:spcBef>
                <a:spcPts val="800"/>
              </a:spcBef>
            </a:pPr>
            <a:r>
              <a:rPr sz="2400" b="1">
                <a:solidFill>
                  <a:srgbClr val="1F6E43"/>
                </a:solidFill>
                <a:latin typeface="WenQuanYi Micro Hei"/>
              </a:rPr>
              <a:t>¥514.12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0507" y="1325880"/>
            <a:ext cx="26517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90507" y="1325880"/>
            <a:ext cx="2651760" cy="164592"/>
          </a:xfrm>
          <a:prstGeom prst="rect">
            <a:avLst/>
          </a:prstGeom>
          <a:solidFill>
            <a:srgbClr val="1F6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0507" y="1581912"/>
            <a:ext cx="26517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B6B6B"/>
                </a:solidFill>
                <a:latin typeface="WenQuanYi Micro Hei"/>
              </a:rPr>
              <a:t>赞助收入</a:t>
            </a:r>
          </a:p>
          <a:p>
            <a:pPr algn="ctr">
              <a:spcBef>
                <a:spcPts val="800"/>
              </a:spcBef>
            </a:pPr>
            <a:r>
              <a:rPr sz="2400" b="1">
                <a:solidFill>
                  <a:srgbClr val="1F6E43"/>
                </a:solidFill>
                <a:latin typeface="WenQuanYi Micro Hei"/>
              </a:rPr>
              <a:t>¥46,758.00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971800"/>
            <a:ext cx="11094415" cy="2194560"/>
          </a:xfrm>
          <a:prstGeom prst="roundRect">
            <a:avLst/>
          </a:prstGeom>
          <a:solidFill>
            <a:srgbClr val="8B0000"/>
          </a:solidFill>
          <a:ln w="25400">
            <a:solidFill>
              <a:srgbClr val="C9A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200400"/>
            <a:ext cx="101800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9A86B"/>
                </a:solidFill>
                <a:latin typeface="WenQuanYi Micro Hei"/>
              </a:rPr>
              <a:t>本次活动净结余</a:t>
            </a:r>
          </a:p>
          <a:p>
            <a:pPr algn="ctr">
              <a:spcBef>
                <a:spcPts val="800"/>
              </a:spcBef>
            </a:pPr>
            <a:r>
              <a:rPr sz="5400" b="1">
                <a:solidFill>
                  <a:srgbClr val="FFFFFF"/>
                </a:solidFill>
                <a:latin typeface="WenQuanYi Micro Hei"/>
              </a:rPr>
              <a:t>¥-31,436.53</a:t>
            </a:r>
          </a:p>
          <a:p>
            <a:pPr algn="ctr">
              <a:spcBef>
                <a:spcPts val="1000"/>
              </a:spcBef>
            </a:pPr>
            <a:r>
              <a:rPr sz="1400">
                <a:solidFill>
                  <a:srgbClr val="FBF7F0"/>
                </a:solidFill>
                <a:latin typeface="WenQuanYi Micro Hei"/>
              </a:rPr>
              <a:t>= 收入 ¥46,758.00  −  支出 ¥78,708.65  +  代收代付净额 ¥514.12</a:t>
            </a:r>
          </a:p>
          <a:p>
            <a:pPr algn="ctr">
              <a:spcBef>
                <a:spcPts val="800"/>
              </a:spcBef>
            </a:pPr>
            <a:r>
              <a:rPr sz="1100" i="1">
                <a:solidFill>
                  <a:srgbClr val="C9A86B"/>
                </a:solidFill>
                <a:latin typeface="WenQuanYi Micro Hei"/>
              </a:rPr>
              <a:t>（负数表示活动总体亏损，需另行筹措补足）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WenQuanYi Micro Hei"/>
              </a:rPr>
              <a:t>2026 年度活动 · 财务整理</a:t>
            </a:r>
          </a:p>
          <a:p>
            <a:pPr algn="r"/>
            <a:r>
              <a:rPr sz="900">
                <a:solidFill>
                  <a:srgbClr val="6B6B6B"/>
                </a:solidFill>
                <a:latin typeface="WenQuanYi Micro He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C9A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WenQuanYi Micro Hei"/>
              </a:rPr>
              <a:t>二、外部费用明细</a:t>
            </a:r>
          </a:p>
          <a:p>
            <a:r>
              <a:rPr sz="1200">
                <a:solidFill>
                  <a:srgbClr val="C9A86B"/>
                </a:solidFill>
                <a:latin typeface="WenQuanYi Micro Hei"/>
              </a:rPr>
              <a:t>对外采购 / 服务 / 媒体 / 餐饮  ·  小计 ¥-68,592.00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60173" cy="3438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769"/>
                <a:gridCol w="2108672"/>
                <a:gridCol w="1833628"/>
                <a:gridCol w="1466902"/>
                <a:gridCol w="825132"/>
                <a:gridCol w="4584070"/>
              </a:tblGrid>
              <a:tr h="38404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序号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对接人 / 供应商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金额（元）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性质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备注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Miranda 苗苗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¥-500.00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主持人礼服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2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晚宴期间演出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小五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¥-3,000.00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三人演出表演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摄影摄像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洪总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¥-3,000.00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摄影加云图片，及摄像影像记录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4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会务公司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杨总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¥-16,000.00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全部费用合计见附图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媒体支出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葛九明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¥-11,500.00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新华社、上海证券报、央视新闻客户端、央广网、中国新闻网、上海虹口融媒体、上海杨浦融媒体（其中500元由胡继刚付款）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6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晚宴用餐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尚九一滴水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¥-33,452.00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晚宴8桌用餐费用，主桌按1.5倍计算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证书制作及KT版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广告公司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¥-1,030.00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个人证书14件 + 企业证书10件 + 志愿者证书23件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8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晚宴红包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胡继刚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¥-100.00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晚宴活动游戏环节用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打印费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¥-10.00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主持人手稿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 gridSpan="3"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8B0000"/>
                          </a:solidFill>
                          <a:latin typeface="WenQuanYi Micro Hei"/>
                        </a:rPr>
                        <a:t>外部费用小计</a:t>
                      </a:r>
                    </a:p>
                  </a:txBody>
                  <a:tcPr anchor="ctr">
                    <a:solidFill>
                      <a:srgbClr val="C9A86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200" b="1">
                          <a:solidFill>
                            <a:srgbClr val="B22222"/>
                          </a:solidFill>
                          <a:latin typeface="WenQuanYi Micro Hei"/>
                        </a:rPr>
                        <a:t>¥-68,592.00</a:t>
                      </a:r>
                    </a:p>
                  </a:txBody>
                  <a:tcPr anchor="ctr">
                    <a:solidFill>
                      <a:srgbClr val="C9A86B"/>
                    </a:solidFill>
                  </a:tcPr>
                </a:tc>
                <a:tc gridSpan="2"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/>
                      </a:r>
                    </a:p>
                  </a:txBody>
                  <a:tcPr anchor="ctr">
                    <a:solidFill>
                      <a:srgbClr val="C9A86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WenQuanYi Micro Hei"/>
              </a:rPr>
              <a:t>2026 年度活动 · 财务整理</a:t>
            </a:r>
          </a:p>
          <a:p>
            <a:pPr algn="r"/>
            <a:r>
              <a:rPr sz="900">
                <a:solidFill>
                  <a:srgbClr val="6B6B6B"/>
                </a:solidFill>
                <a:latin typeface="WenQuanYi Micro He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C9A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WenQuanYi Micro Hei"/>
              </a:rPr>
              <a:t>三、内部费用明细</a:t>
            </a:r>
          </a:p>
          <a:p>
            <a:r>
              <a:rPr sz="1200">
                <a:solidFill>
                  <a:srgbClr val="C9A86B"/>
                </a:solidFill>
                <a:latin typeface="WenQuanYi Micro Hei"/>
              </a:rPr>
              <a:t>内部团队垫付  ·  小计 ¥-10,116.65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6017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769"/>
                <a:gridCol w="2108672"/>
                <a:gridCol w="1833628"/>
                <a:gridCol w="1466902"/>
                <a:gridCol w="825132"/>
                <a:gridCol w="4584070"/>
              </a:tblGrid>
              <a:tr h="38404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序号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对接人 / 供应商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金额（元）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性质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备注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茶歇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F组-彭常丽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¥-2,000.50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盒马鲜生采购，单次≤30kg，分8单下单（含订单截图录屏）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2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布袋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F组-彭常丽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¥-860.00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200个 × 4.30元/个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志愿者伴手礼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F组-彭常丽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¥-2,025.00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30份 × 68元/份 = 2040元，使用15元券，实付2025元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4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志愿者证书邮寄费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胡继刚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¥-200.00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5位志愿者未现场领取证书及礼品，另含夏春等邮寄费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A4 刊册议程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佳玉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¥-4,400.00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500份刊册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6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午餐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F组-彭常丽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¥-780.00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大米先生 30元/份 × 26份（附付款截图）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活动前看场地用餐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王胜、王卓 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1F6E43"/>
                          </a:solidFill>
                          <a:latin typeface="WenQuanYi Micro Hei"/>
                        </a:rPr>
                        <a:t>¥148.85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6E43"/>
                          </a:solidFill>
                          <a:latin typeface="WenQuanYi Micro Hei"/>
                        </a:rPr>
                        <a:t>收入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活动前看场地三次用餐（金额按原票据登记）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 gridSpan="3"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8B0000"/>
                          </a:solidFill>
                          <a:latin typeface="WenQuanYi Micro Hei"/>
                        </a:rPr>
                        <a:t>内部费用小计</a:t>
                      </a:r>
                    </a:p>
                  </a:txBody>
                  <a:tcPr anchor="ctr">
                    <a:solidFill>
                      <a:srgbClr val="C9A86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200" b="1">
                          <a:solidFill>
                            <a:srgbClr val="B22222"/>
                          </a:solidFill>
                          <a:latin typeface="WenQuanYi Micro Hei"/>
                        </a:rPr>
                        <a:t>¥-10,116.65</a:t>
                      </a:r>
                    </a:p>
                  </a:txBody>
                  <a:tcPr anchor="ctr">
                    <a:solidFill>
                      <a:srgbClr val="C9A86B"/>
                    </a:solidFill>
                  </a:tcPr>
                </a:tc>
                <a:tc gridSpan="2"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/>
                      </a:r>
                    </a:p>
                  </a:txBody>
                  <a:tcPr anchor="ctr">
                    <a:solidFill>
                      <a:srgbClr val="C9A86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WenQuanYi Micro Hei"/>
              </a:rPr>
              <a:t>2026 年度活动 · 财务整理</a:t>
            </a:r>
          </a:p>
          <a:p>
            <a:pPr algn="r"/>
            <a:r>
              <a:rPr sz="900">
                <a:solidFill>
                  <a:srgbClr val="6B6B6B"/>
                </a:solidFill>
                <a:latin typeface="WenQuanYi Micro He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C9A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WenQuanYi Micro Hei"/>
              </a:rPr>
              <a:t>四、现场杂项（代收代付）</a:t>
            </a:r>
          </a:p>
          <a:p>
            <a:r>
              <a:rPr sz="1200">
                <a:solidFill>
                  <a:srgbClr val="C9A86B"/>
                </a:solidFill>
                <a:latin typeface="WenQuanYi Micro Hei"/>
              </a:rPr>
              <a:t>升舱代收 + 现场零星支出 + 退费  ·  净额 ¥514.12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60173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769"/>
                <a:gridCol w="2108672"/>
                <a:gridCol w="1833628"/>
                <a:gridCol w="1466902"/>
                <a:gridCol w="825132"/>
                <a:gridCol w="4584070"/>
              </a:tblGrid>
              <a:tr h="38404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序号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对接人 / 供应商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金额（元）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性质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备注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胸花 &amp; 台花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F组-朱俊锋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¥-488.00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胸花10个 + 台花1个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2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对讲机租赁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F组-朱俊锋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¥-138.88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租赁100元 + 来回运费38.88元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升舱费用（代收）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F组-朱俊锋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1F6E43"/>
                          </a:solidFill>
                          <a:latin typeface="WenQuanYi Micro Hei"/>
                        </a:rPr>
                        <a:t>¥1,440.00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6E43"/>
                          </a:solidFill>
                          <a:latin typeface="WenQuanYi Micro Hei"/>
                        </a:rPr>
                        <a:t>收入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9人升舱，160元/人，由参会者交付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4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晚宴退费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F组-朱俊锋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¥-199.00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1人不愿升舱，按规则退费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货拉拉送货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F组-朱俊锋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B22222"/>
                          </a:solidFill>
                          <a:latin typeface="WenQuanYi Micro Hei"/>
                        </a:rPr>
                        <a:t>¥-100.00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B22222"/>
                          </a:solidFill>
                          <a:latin typeface="WenQuanYi Micro Hei"/>
                        </a:rPr>
                        <a:t>支出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>送复旦管院纸袋子 + 酒水送件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 gridSpan="3"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8B0000"/>
                          </a:solidFill>
                          <a:latin typeface="WenQuanYi Micro Hei"/>
                        </a:rPr>
                        <a:t>现场杂项小计</a:t>
                      </a:r>
                    </a:p>
                  </a:txBody>
                  <a:tcPr anchor="ctr">
                    <a:solidFill>
                      <a:srgbClr val="C9A86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200" b="1">
                          <a:solidFill>
                            <a:srgbClr val="1F6E43"/>
                          </a:solidFill>
                          <a:latin typeface="WenQuanYi Micro Hei"/>
                        </a:rPr>
                        <a:t>¥514.12</a:t>
                      </a:r>
                    </a:p>
                  </a:txBody>
                  <a:tcPr anchor="ctr">
                    <a:solidFill>
                      <a:srgbClr val="C9A86B"/>
                    </a:solidFill>
                  </a:tcPr>
                </a:tc>
                <a:tc gridSpan="2"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/>
                      </a:r>
                    </a:p>
                  </a:txBody>
                  <a:tcPr anchor="ctr">
                    <a:solidFill>
                      <a:srgbClr val="C9A86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WenQuanYi Micro Hei"/>
              </a:rPr>
              <a:t>2026 年度活动 · 财务整理</a:t>
            </a:r>
          </a:p>
          <a:p>
            <a:pPr algn="r"/>
            <a:r>
              <a:rPr sz="900">
                <a:solidFill>
                  <a:srgbClr val="6B6B6B"/>
                </a:solidFill>
                <a:latin typeface="WenQuanYi Micro He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C9A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WenQuanYi Micro Hei"/>
              </a:rPr>
              <a:t>五、赞助 / 收入明细</a:t>
            </a:r>
          </a:p>
          <a:p>
            <a:r>
              <a:rPr sz="1200">
                <a:solidFill>
                  <a:srgbClr val="C9A86B"/>
                </a:solidFill>
                <a:latin typeface="WenQuanYi Micro Hei"/>
              </a:rPr>
              <a:t>企业赞助 + 个人赞助 + 晚宴费  ·  小计 ¥46,758.00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60173" cy="314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769"/>
                <a:gridCol w="2108672"/>
                <a:gridCol w="1833628"/>
                <a:gridCol w="1466902"/>
                <a:gridCol w="825132"/>
                <a:gridCol w="4584070"/>
              </a:tblGrid>
              <a:tr h="38404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序号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对接人 / 供应商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金额（元）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性质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备注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赞助费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姚丹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1F6E43"/>
                          </a:solidFill>
                          <a:latin typeface="WenQuanYi Micro Hei"/>
                        </a:rPr>
                        <a:t>¥1,500.00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6E43"/>
                          </a:solidFill>
                          <a:latin typeface="WenQuanYi Micro Hei"/>
                        </a:rPr>
                        <a:t>收入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2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晚宴费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乐琪文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1F6E43"/>
                          </a:solidFill>
                          <a:latin typeface="WenQuanYi Micro Hei"/>
                        </a:rPr>
                        <a:t>¥419.00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6E43"/>
                          </a:solidFill>
                          <a:latin typeface="WenQuanYi Micro Hei"/>
                        </a:rPr>
                        <a:t>收入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/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黄家颖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1F6E43"/>
                          </a:solidFill>
                          <a:latin typeface="WenQuanYi Micro Hei"/>
                        </a:rPr>
                        <a:t>¥420.00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6E43"/>
                          </a:solidFill>
                          <a:latin typeface="WenQuanYi Micro Hei"/>
                        </a:rPr>
                        <a:t>收入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4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晚宴费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*斯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1F6E43"/>
                          </a:solidFill>
                          <a:latin typeface="WenQuanYi Micro Hei"/>
                        </a:rPr>
                        <a:t>¥419.00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6E43"/>
                          </a:solidFill>
                          <a:latin typeface="WenQuanYi Micro Hei"/>
                        </a:rPr>
                        <a:t>收入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/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泰隆银行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1F6E43"/>
                          </a:solidFill>
                          <a:latin typeface="WenQuanYi Micro Hei"/>
                        </a:rPr>
                        <a:t>¥8,000.00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6E43"/>
                          </a:solidFill>
                          <a:latin typeface="WenQuanYi Micro Hei"/>
                        </a:rPr>
                        <a:t>收入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6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活动赞助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夏洁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1F6E43"/>
                          </a:solidFill>
                          <a:latin typeface="WenQuanYi Micro Hei"/>
                        </a:rPr>
                        <a:t>¥6,000.00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6E43"/>
                          </a:solidFill>
                          <a:latin typeface="WenQuanYi Micro Hei"/>
                        </a:rPr>
                        <a:t>收入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/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活动赞助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冠松汽车 - 陈总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1F6E43"/>
                          </a:solidFill>
                          <a:latin typeface="WenQuanYi Micro Hei"/>
                        </a:rPr>
                        <a:t>¥10,000.00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6E43"/>
                          </a:solidFill>
                          <a:latin typeface="WenQuanYi Micro Hei"/>
                        </a:rPr>
                        <a:t>收入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8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活动赞助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北京大学上海校友会 - 黄欣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1F6E43"/>
                          </a:solidFill>
                          <a:latin typeface="WenQuanYi Micro Hei"/>
                        </a:rPr>
                        <a:t>¥20,000.00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6E43"/>
                          </a:solidFill>
                          <a:latin typeface="WenQuanYi Micro Hei"/>
                        </a:rPr>
                        <a:t>收入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6B6B6B"/>
                          </a:solidFill>
                          <a:latin typeface="WenQuanYi Micro Hei"/>
                        </a:rPr>
                        <a:t/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</a:tr>
              <a:tr h="420624">
                <a:tc gridSpan="3"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8B0000"/>
                          </a:solidFill>
                          <a:latin typeface="WenQuanYi Micro Hei"/>
                        </a:rPr>
                        <a:t>赞助收入小计</a:t>
                      </a:r>
                    </a:p>
                  </a:txBody>
                  <a:tcPr anchor="ctr">
                    <a:solidFill>
                      <a:srgbClr val="C9A86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200" b="1">
                          <a:solidFill>
                            <a:srgbClr val="1F6E43"/>
                          </a:solidFill>
                          <a:latin typeface="WenQuanYi Micro Hei"/>
                        </a:rPr>
                        <a:t>¥46,758.00</a:t>
                      </a:r>
                    </a:p>
                  </a:txBody>
                  <a:tcPr anchor="ctr">
                    <a:solidFill>
                      <a:srgbClr val="C9A86B"/>
                    </a:solidFill>
                  </a:tcPr>
                </a:tc>
                <a:tc gridSpan="2"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/>
                      </a:r>
                    </a:p>
                  </a:txBody>
                  <a:tcPr anchor="ctr">
                    <a:solidFill>
                      <a:srgbClr val="C9A86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WenQuanYi Micro Hei"/>
              </a:rPr>
              <a:t>2026 年度活动 · 财务整理</a:t>
            </a:r>
          </a:p>
          <a:p>
            <a:pPr algn="r"/>
            <a:r>
              <a:rPr sz="900">
                <a:solidFill>
                  <a:srgbClr val="6B6B6B"/>
                </a:solidFill>
                <a:latin typeface="WenQuanYi Micro He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C9A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WenQuanYi Micro Hei"/>
              </a:rPr>
              <a:t>附表 · 证书制作及KT版打印明细</a:t>
            </a:r>
          </a:p>
          <a:p>
            <a:r>
              <a:rPr sz="1200">
                <a:solidFill>
                  <a:srgbClr val="C9A86B"/>
                </a:solidFill>
                <a:latin typeface="WenQuanYi Micro Hei"/>
              </a:rPr>
              <a:t>供应商：广告公司  ·  原始单据编号 XH20260522016  ·  合计 ¥1,030.00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280160"/>
          <a:ext cx="11460172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88"/>
                <a:gridCol w="1558583"/>
                <a:gridCol w="1283539"/>
                <a:gridCol w="733451"/>
                <a:gridCol w="733451"/>
                <a:gridCol w="733451"/>
                <a:gridCol w="1008495"/>
                <a:gridCol w="1191858"/>
                <a:gridCol w="3667256"/>
              </a:tblGrid>
              <a:tr h="384048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序号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单据编号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商品名称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型号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单位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数量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单价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金额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备注</a:t>
                      </a:r>
                    </a:p>
                  </a:txBody>
                  <a:tcPr anchor="ctr">
                    <a:solidFill>
                      <a:srgbClr val="8B0000"/>
                    </a:solidFill>
                  </a:tcPr>
                </a:tc>
              </a:tr>
              <a:tr h="329184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XH20260522016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彩色打印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HD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¥35.00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333333"/>
                          </a:solidFill>
                          <a:latin typeface="WenQuanYi Micro Hei"/>
                        </a:rPr>
                        <a:t>¥840.00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01-02 证书+外壳：企业10 + 个人14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2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XH20260522016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彩色打印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A4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张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24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¥5.00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333333"/>
                          </a:solidFill>
                          <a:latin typeface="WenQuanYi Micro Hei"/>
                        </a:rPr>
                        <a:t>¥120.00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</a:tr>
              <a:tr h="329184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XH20260522016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彩色打印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A4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¥35.00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333333"/>
                          </a:solidFill>
                          <a:latin typeface="WenQuanYi Micro Hei"/>
                        </a:rPr>
                        <a:t>¥35.00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03 志愿者证书 珠光纸 1份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4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XH20260522016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快递费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HD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次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¥35.00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000" b="1">
                          <a:solidFill>
                            <a:srgbClr val="333333"/>
                          </a:solidFill>
                          <a:latin typeface="WenQuanYi Micro Hei"/>
                        </a:rPr>
                        <a:t>¥35.00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04 证书160克超白+证书外壳 1套；闪送：尚九一滴水1F</a:t>
                      </a:r>
                    </a:p>
                  </a:txBody>
                  <a:tcPr anchor="ctr">
                    <a:solidFill>
                      <a:srgbClr val="FBF7F0"/>
                    </a:solidFill>
                  </a:tcPr>
                </a:tc>
              </a:tr>
              <a:tr h="384048">
                <a:tc gridSpan="7">
                  <a:txBody>
                    <a:bodyPr lIns="73152" rIns="73152" tIns="36576" bIns="36576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8B0000"/>
                          </a:solidFill>
                          <a:latin typeface="WenQuanYi Micro Hei"/>
                        </a:rPr>
                        <a:t>合计</a:t>
                      </a:r>
                    </a:p>
                  </a:txBody>
                  <a:tcPr anchor="ctr">
                    <a:solidFill>
                      <a:srgbClr val="C9A86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r"/>
                      <a:r>
                        <a:rPr sz="1200" b="1">
                          <a:solidFill>
                            <a:srgbClr val="B22222"/>
                          </a:solidFill>
                          <a:latin typeface="WenQuanYi Micro Hei"/>
                        </a:rPr>
                        <a:t>¥1,030.00</a:t>
                      </a:r>
                    </a:p>
                  </a:txBody>
                  <a:tcPr anchor="ctr">
                    <a:solidFill>
                      <a:srgbClr val="C9A86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/>
                      </a:r>
                    </a:p>
                  </a:txBody>
                  <a:tcPr anchor="ctr">
                    <a:solidFill>
                      <a:srgbClr val="C9A86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5349240"/>
            <a:ext cx="11460175" cy="1051560"/>
          </a:xfrm>
          <a:prstGeom prst="roundRect">
            <a:avLst/>
          </a:prstGeom>
          <a:solidFill>
            <a:srgbClr val="FBF7F0"/>
          </a:solidFill>
          <a:ln w="9525">
            <a:solidFill>
              <a:srgbClr val="C9A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B0000"/>
                </a:solidFill>
                <a:latin typeface="WenQuanYi Micro Hei"/>
              </a:rPr>
              <a:t>备注：</a:t>
            </a:r>
          </a:p>
          <a:p>
            <a:r>
              <a:rPr sz="1000">
                <a:solidFill>
                  <a:srgbClr val="333333"/>
                </a:solidFill>
                <a:latin typeface="WenQuanYi Micro Hei"/>
              </a:rPr>
              <a:t>    01-02  证书+外壳：企业 10 件 + 个人 14 件</a:t>
            </a:r>
          </a:p>
          <a:p>
            <a:r>
              <a:rPr sz="1000">
                <a:solidFill>
                  <a:srgbClr val="333333"/>
                </a:solidFill>
                <a:latin typeface="WenQuanYi Micro Hei"/>
              </a:rPr>
              <a:t>    03     志愿者证书 珠光纸 1 份</a:t>
            </a:r>
          </a:p>
          <a:p>
            <a:r>
              <a:rPr sz="1000">
                <a:solidFill>
                  <a:srgbClr val="333333"/>
                </a:solidFill>
                <a:latin typeface="WenQuanYi Micro Hei"/>
              </a:rPr>
              <a:t>    04     证书160克超白 + 证书外壳 1 套；闪送：尚九一滴水 1F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WenQuanYi Micro Hei"/>
              </a:rPr>
              <a:t>2026 年度活动 · 财务整理</a:t>
            </a:r>
          </a:p>
          <a:p>
            <a:pPr algn="r"/>
            <a:r>
              <a:rPr sz="900">
                <a:solidFill>
                  <a:srgbClr val="6B6B6B"/>
                </a:solidFill>
                <a:latin typeface="WenQuanYi Micro He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C9A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WenQuanYi Micro Hei"/>
              </a:rPr>
              <a:t>六、注意事项与结论</a:t>
            </a:r>
          </a:p>
          <a:p>
            <a:r>
              <a:rPr sz="1200">
                <a:solidFill>
                  <a:srgbClr val="C9A86B"/>
                </a:solidFill>
                <a:latin typeface="WenQuanYi Micro Hei"/>
              </a:rPr>
              <a:t>Notes &amp; Conclusion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69494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8B0000"/>
                </a:solidFill>
                <a:latin typeface="WenQuanYi Micro Hei"/>
              </a:rPr>
              <a:t>复核要点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C9A86B"/>
                </a:solidFill>
                <a:latin typeface="WenQuanYi Micro Hei"/>
              </a:rPr>
              <a:t>  01  </a:t>
            </a:r>
            <a:r>
              <a:rPr sz="1300" b="1">
                <a:solidFill>
                  <a:srgbClr val="8B0000"/>
                </a:solidFill>
                <a:latin typeface="WenQuanYi Micro Hei"/>
              </a:rPr>
              <a:t>数据来源  </a:t>
            </a:r>
            <a:r>
              <a:rPr sz="1200">
                <a:solidFill>
                  <a:srgbClr val="333333"/>
                </a:solidFill>
                <a:latin typeface="WenQuanYi Micro Hei"/>
              </a:rPr>
              <a:t>源自活动原始流水PDF，逐行核对，各分项小计与总合计均与原表一致。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C9A86B"/>
                </a:solidFill>
                <a:latin typeface="WenQuanYi Micro Hei"/>
              </a:rPr>
              <a:t>  02  </a:t>
            </a:r>
            <a:r>
              <a:rPr sz="1300" b="1">
                <a:solidFill>
                  <a:srgbClr val="8B0000"/>
                </a:solidFill>
                <a:latin typeface="WenQuanYi Micro Hei"/>
              </a:rPr>
              <a:t>分类口径  </a:t>
            </a:r>
            <a:r>
              <a:rPr sz="1200">
                <a:solidFill>
                  <a:srgbClr val="333333"/>
                </a:solidFill>
                <a:latin typeface="WenQuanYi Micro Hei"/>
              </a:rPr>
              <a:t>按资金性质分四类：外部费用、内部费用、现场杂项（代收代付）、赞助 / 收入。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C9A86B"/>
                </a:solidFill>
                <a:latin typeface="WenQuanYi Micro Hei"/>
              </a:rPr>
              <a:t>  03  </a:t>
            </a:r>
            <a:r>
              <a:rPr sz="1300" b="1">
                <a:solidFill>
                  <a:srgbClr val="8B0000"/>
                </a:solidFill>
                <a:latin typeface="WenQuanYi Micro Hei"/>
              </a:rPr>
              <a:t>符号约定  </a:t>
            </a:r>
            <a:r>
              <a:rPr sz="1200">
                <a:solidFill>
                  <a:srgbClr val="333333"/>
                </a:solidFill>
                <a:latin typeface="WenQuanYi Micro Hei"/>
              </a:rPr>
              <a:t>红色为支出（负数），绿色为收入（正数）。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C9A86B"/>
                </a:solidFill>
                <a:latin typeface="WenQuanYi Micro Hei"/>
              </a:rPr>
              <a:t>  04  </a:t>
            </a:r>
            <a:r>
              <a:rPr sz="1300" b="1">
                <a:solidFill>
                  <a:srgbClr val="8B0000"/>
                </a:solidFill>
                <a:latin typeface="WenQuanYi Micro Hei"/>
              </a:rPr>
              <a:t>代收代付  </a:t>
            </a:r>
            <a:r>
              <a:rPr sz="1200">
                <a:solidFill>
                  <a:srgbClr val="333333"/>
                </a:solidFill>
                <a:latin typeface="WenQuanYi Micro Hei"/>
              </a:rPr>
              <a:t>「现场杂项」性质为代收代付：收升舱费 ¥1,440 抵充胸花/对讲机/送货/退费等，最终净额 +¥514.12。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C9A86B"/>
                </a:solidFill>
                <a:latin typeface="WenQuanYi Micro Hei"/>
              </a:rPr>
              <a:t>  05  </a:t>
            </a:r>
            <a:r>
              <a:rPr sz="1300" b="1">
                <a:solidFill>
                  <a:srgbClr val="8B0000"/>
                </a:solidFill>
                <a:latin typeface="WenQuanYi Micro Hei"/>
              </a:rPr>
              <a:t>媒体支出  </a:t>
            </a:r>
            <a:r>
              <a:rPr sz="1200">
                <a:solidFill>
                  <a:srgbClr val="333333"/>
                </a:solidFill>
                <a:latin typeface="WenQuanYi Micro Hei"/>
              </a:rPr>
              <a:t>「媒体支出 ¥11,500」中 ¥500 由胡继刚代付，已并入该笔金额。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C9A86B"/>
                </a:solidFill>
                <a:latin typeface="WenQuanYi Micro Hei"/>
              </a:rPr>
              <a:t>  06  </a:t>
            </a:r>
            <a:r>
              <a:rPr sz="1300" b="1">
                <a:solidFill>
                  <a:srgbClr val="8B0000"/>
                </a:solidFill>
                <a:latin typeface="WenQuanYi Micro Hei"/>
              </a:rPr>
              <a:t>待复核项  </a:t>
            </a:r>
            <a:r>
              <a:rPr sz="1200">
                <a:solidFill>
                  <a:srgbClr val="333333"/>
                </a:solidFill>
                <a:latin typeface="WenQuanYi Micro Hei"/>
              </a:rPr>
              <a:t>「活动前看场地用餐 +¥148.85」按原票据登记为正数，请确认是否为退款 / 录入差异。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188720"/>
            <a:ext cx="4297680" cy="5120640"/>
          </a:xfrm>
          <a:prstGeom prst="roundRect">
            <a:avLst/>
          </a:prstGeom>
          <a:solidFill>
            <a:srgbClr val="8B0000"/>
          </a:solidFill>
          <a:ln w="19050">
            <a:solidFill>
              <a:srgbClr val="C9A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417320"/>
            <a:ext cx="3931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C9A86B"/>
                </a:solidFill>
                <a:latin typeface="WenQuanYi Micro Hei"/>
              </a:rPr>
              <a:t>结  论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FBF7F0"/>
                </a:solidFill>
                <a:latin typeface="WenQuanYi Micro Hei"/>
              </a:rPr>
              <a:t>总收入
</a:t>
            </a:r>
            <a:r>
              <a:rPr sz="2000" b="1">
                <a:solidFill>
                  <a:srgbClr val="1F6E43"/>
                </a:solidFill>
                <a:latin typeface="WenQuanYi Micro Hei"/>
              </a:rPr>
              <a:t>¥46,758.00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FBF7F0"/>
                </a:solidFill>
                <a:latin typeface="WenQuanYi Micro Hei"/>
              </a:rPr>
              <a:t>总支出
</a:t>
            </a:r>
            <a:r>
              <a:rPr sz="2000" b="1">
                <a:solidFill>
                  <a:srgbClr val="FFB6B6"/>
                </a:solidFill>
                <a:latin typeface="WenQuanYi Micro Hei"/>
              </a:rPr>
              <a:t>-¥78,708.65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FBF7F0"/>
                </a:solidFill>
                <a:latin typeface="WenQuanYi Micro Hei"/>
              </a:rPr>
              <a:t>代收代付净额
</a:t>
            </a:r>
            <a:r>
              <a:rPr sz="2000" b="1">
                <a:solidFill>
                  <a:srgbClr val="1F6E43"/>
                </a:solidFill>
                <a:latin typeface="WenQuanYi Micro Hei"/>
              </a:rPr>
              <a:t>¥514.12</a:t>
            </a:r>
          </a:p>
          <a:p>
            <a:pPr algn="ctr">
              <a:spcBef>
                <a:spcPts val="2200"/>
              </a:spcBef>
            </a:pPr>
            <a:r>
              <a:rPr sz="1400">
                <a:solidFill>
                  <a:srgbClr val="C9A86B"/>
                </a:solidFill>
                <a:latin typeface="WenQuanYi Micro Hei"/>
              </a:rPr>
              <a:t>净  结  余</a:t>
            </a:r>
          </a:p>
          <a:p>
            <a:pPr algn="ctr">
              <a:spcBef>
                <a:spcPts val="400"/>
              </a:spcBef>
            </a:pPr>
            <a:r>
              <a:rPr sz="3200" b="1">
                <a:solidFill>
                  <a:srgbClr val="FFFFFF"/>
                </a:solidFill>
                <a:latin typeface="WenQuanYi Micro Hei"/>
              </a:rPr>
              <a:t>¥-31,436.53</a:t>
            </a:r>
          </a:p>
          <a:p>
            <a:pPr algn="ctr">
              <a:spcBef>
                <a:spcPts val="200"/>
              </a:spcBef>
            </a:pPr>
            <a:r>
              <a:rPr sz="1100" i="1">
                <a:solidFill>
                  <a:srgbClr val="FBF7F0"/>
                </a:solidFill>
                <a:latin typeface="WenQuanYi Micro Hei"/>
              </a:rPr>
              <a:t>（亏损，需另行筹措）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5074920"/>
            <a:ext cx="3566160" cy="20000"/>
          </a:xfrm>
          <a:prstGeom prst="rect">
            <a:avLst/>
          </a:prstGeom>
          <a:solidFill>
            <a:srgbClr val="C9A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WenQuanYi Micro Hei"/>
              </a:rPr>
              <a:t>2026 年度活动 · 财务整理</a:t>
            </a:r>
          </a:p>
          <a:p>
            <a:pPr algn="r"/>
            <a:r>
              <a:rPr sz="900">
                <a:solidFill>
                  <a:srgbClr val="6B6B6B"/>
                </a:solidFill>
                <a:latin typeface="WenQuanYi Micro He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