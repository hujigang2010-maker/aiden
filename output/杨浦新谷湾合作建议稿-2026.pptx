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本稿把两轮判断收成一个项目：以会员建立关系，以联合服务站做载体，以招商和早期资本对接形成收入，以成都和新加坡作为后续验证，不在第一阶段无偿铺开。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01:02 和 01:07 商业含义最强：前者说明需要产业平台，后者说明对方不是只想免费拿资源。有付费意愿还不等于预算已批，也不等于接受某个报价。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面积存在两个口径，签约前必须让对方列出可控套间、空置、对外报价，以及上海团队可以当场决定的租金区间。单一民营股东决策灵活，但仍需总部书面授权价格带，避免每单回成都打报告。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所有金额都是谈判起点。1万元会员费容易把后续服务做穿，所以专项必须另签。试点费取推荐值2万元，保留2–3万元的谈判空间。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内部可以用800至1200平方米、两单可签约面积做复盘参照，因为区位弱于滨江宝龙。早期企业可以推荐，但需要投资方协同或租金支付能力；传统零售沿用对方自己的租金梯度筛选。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录音里的企业名称（东升相关主体、华数科技、华太激光、晶丰新感等）是转写，外发材料前核对工商登记。东升巨变的重资产选址在对接市级部门，不默认纳入这次园区招商。产业方向不等于对方愿意投资该产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新加坡沟通放在第1–10天并行启动，不占用招商试点的主节奏。考核放在负责人、房源、预算、到场台账和一场闭门活动，不考核承诺的招租面积。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4C98A"/>
                </a:solidFill>
                <a:latin typeface="Microsoft YaHei"/>
                <a:ea typeface="Microsoft YaHei"/>
                <a:cs typeface="Microsoft YaHei"/>
              </a:rPr>
              <a:t>内部建议稿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DE"/>
                </a:solidFill>
                <a:latin typeface="Microsoft YaHei"/>
                <a:ea typeface="Microsoft YaHei"/>
                <a:cs typeface="Microsoft YaHei"/>
              </a:rPr>
              <a:t>2026年9月24日洽谈  ·  约1小时39分钟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杨浦科技企业成长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与产业协同合作计划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3291840"/>
            <a:ext cx="1280160" cy="32004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5204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4F7F8"/>
                </a:solidFill>
                <a:latin typeface="Microsoft YaHei"/>
                <a:ea typeface="Microsoft YaHei"/>
                <a:cs typeface="Microsoft YaHei"/>
              </a:rPr>
              <a:t>成都新谷投资集团（上海新谷湾 / 新谷国际）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0">
                <a:solidFill>
                  <a:srgbClr val="F4F7F8"/>
                </a:solidFill>
                <a:latin typeface="Microsoft YaHei"/>
                <a:ea typeface="Microsoft YaHei"/>
                <a:cs typeface="Microsoft YaHei"/>
              </a:rPr>
              <a:t>×  上海市杨浦区科技企业联合会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6177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DE"/>
                </a:solidFill>
                <a:latin typeface="Microsoft YaHei"/>
                <a:ea typeface="Microsoft YaHei"/>
                <a:cs typeface="Microsoft YaHei"/>
              </a:rPr>
              <a:t>综合洽谈原文研判与商务结构设计。供联合会内部决策，不作为已经发出的报价。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5623560"/>
            <a:ext cx="2423160" cy="475488"/>
          </a:xfrm>
          <a:prstGeom prst="rect">
            <a:avLst/>
          </a:prstGeom>
          <a:solidFill>
            <a:srgbClr val="1E4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573328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本地合作先落地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5623560"/>
            <a:ext cx="2423160" cy="475488"/>
          </a:xfrm>
          <a:prstGeom prst="rect">
            <a:avLst/>
          </a:prstGeom>
          <a:solidFill>
            <a:srgbClr val="1E4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573328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双城合作留后手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33872" y="5623560"/>
            <a:ext cx="2423160" cy="475488"/>
          </a:xfrm>
          <a:prstGeom prst="rect">
            <a:avLst/>
          </a:prstGeom>
          <a:solidFill>
            <a:srgbClr val="1E4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33872" y="573328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海外合作等条件成熟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01   总体判断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值得推进，但只从一个有偿试点开始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69264"/>
            <a:ext cx="786384" cy="27432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9144"/>
          </a:xfrm>
          <a:prstGeom prst="rect">
            <a:avLst/>
          </a:prstGeom>
          <a:solidFill>
            <a:srgbClr val="E4D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内部建议稿  ·  谈判起点，不是对方已确认的预算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92240"/>
            <a:ext cx="222199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02  / 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07008"/>
            <a:ext cx="3657600" cy="379476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07008"/>
            <a:ext cx="3657600" cy="73152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426464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1874519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上海本地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3317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最容易落地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2834640"/>
            <a:ext cx="3218688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企业服务、精准招商、小型活动、服务站和早期资本对接。直接对应出租率、现金流和品牌节点。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207008"/>
            <a:ext cx="3657600" cy="379476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207008"/>
            <a:ext cx="3657600" cy="73152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7136" y="1426464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1874519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上海 — 成都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23317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长期价值最高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2834640"/>
            <a:ext cx="3218688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长三角企业有真实需求时，再用对方合计约80万平方米的载体和既有飞地通道。首期不投入无偿组织成本。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207008"/>
            <a:ext cx="3657600" cy="379476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207008"/>
            <a:ext cx="3657600" cy="73152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57616" y="1426464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7616" y="1874519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海外延伸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6" y="23317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先核实再宣传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6" y="2834640"/>
            <a:ext cx="3218688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对方波士顿平台已运行，新加坡正在选址。两周内由业务负责人摸清用途，成熟后再谈联合设点。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138928"/>
            <a:ext cx="11274552" cy="1097280"/>
          </a:xfrm>
          <a:prstGeom prst="rect">
            <a:avLst/>
          </a:prstGeom>
          <a:solidFill>
            <a:srgbClr val="E6F1EF"/>
          </a:solidFill>
          <a:ln w="12700">
            <a:solidFill>
              <a:srgbClr val="C9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" y="5285232"/>
            <a:ext cx="10835640" cy="8412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首期只争取三件成果</a:t>
            </a:r>
          </a:p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推动上海公司按章程申请副会长；拿下三个月产业服务试点并写明专项预算；把挂牌做成联合服务站，而不是单独交付一块牌子。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02   合作从哪里来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对方因《杨浦一百》主动上门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69264"/>
            <a:ext cx="786384" cy="27432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9144"/>
          </a:xfrm>
          <a:prstGeom prst="rect">
            <a:avLst/>
          </a:prstGeom>
          <a:solidFill>
            <a:srgbClr val="E4D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内部建议稿  ·  谈判起点，不是对方已确认的预算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92240"/>
            <a:ext cx="222199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03  / 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07008"/>
            <a:ext cx="5623560" cy="498348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4C98A"/>
                </a:solidFill>
                <a:latin typeface="Microsoft YaHei"/>
                <a:ea typeface="Microsoft YaHei"/>
                <a:cs typeface="Microsoft YaHei"/>
              </a:rPr>
              <a:t>对方原话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874519"/>
            <a:ext cx="507492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“我就是看到你们那个报告，包括里面有我们好几家企业……想的有没有这个机会点？”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57600"/>
            <a:ext cx="5074920" cy="2103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E4C98A"/>
                </a:solidFill>
                <a:latin typeface="Microsoft YaHei"/>
                <a:ea typeface="Microsoft YaHei"/>
                <a:cs typeface="Microsoft YaHei"/>
              </a:rPr>
              <a:t>这份白皮书已经做成了三件事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让园区自己找到联合会。</a:t>
            </a:r>
          </a:p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让对方相信联合会掌握可核验的企业信息。</a:t>
            </a:r>
          </a:p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让合作从对方的问题开始，而不是从一次拜访开始。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207008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五处明确表态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627632"/>
            <a:ext cx="5394960" cy="768096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71907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约 00:12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75104"/>
            <a:ext cx="50292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承接办公需求，并愿带企业去川渝考察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496312"/>
            <a:ext cx="5394960" cy="768096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58775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约 00:16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843784"/>
            <a:ext cx="50292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小型活动空间可以提供给联合会使用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364991"/>
            <a:ext cx="5394960" cy="768096"/>
          </a:xfrm>
          <a:prstGeom prst="rect">
            <a:avLst/>
          </a:prstGeom>
          <a:solidFill>
            <a:srgbClr val="F6F0E2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45643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约 01:02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712463"/>
            <a:ext cx="50292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直接问：能不能帮忙在这里挂个牌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233672"/>
            <a:ext cx="5394960" cy="768096"/>
          </a:xfrm>
          <a:prstGeom prst="rect">
            <a:avLst/>
          </a:prstGeom>
          <a:solidFill>
            <a:srgbClr val="F6F0E2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32511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约 01:07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581144"/>
            <a:ext cx="50292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活动、选址有结果后，可以谈费用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5102352"/>
            <a:ext cx="5394960" cy="768096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51937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约 01:29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449824"/>
            <a:ext cx="50292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主动询问入会方式和会费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03   对方经营画像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上海项目要先解决现金流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69264"/>
            <a:ext cx="786384" cy="27432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9144"/>
          </a:xfrm>
          <a:prstGeom prst="rect">
            <a:avLst/>
          </a:prstGeom>
          <a:solidFill>
            <a:srgbClr val="E4D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内部建议稿  ·  谈判起点，不是对方已确认的预算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92240"/>
            <a:ext cx="222199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04  / 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07008"/>
            <a:ext cx="2788920" cy="1298448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353312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成都载体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682496"/>
            <a:ext cx="2487168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高新区、温江、新津</a:t>
            </a:r>
            <a:br/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合计约80万平方米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207008"/>
            <a:ext cx="2788920" cy="1298448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1353312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上海口径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1682496"/>
            <a:ext cx="2487168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洽谈约6000平方米</a:t>
            </a:r>
            <a:br/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官网约1.67万平方米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207008"/>
            <a:ext cx="2788920" cy="1298448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1353312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在园企业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1682496"/>
            <a:ext cx="2487168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约37家</a:t>
            </a:r>
            <a:br/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多家已入《杨浦一百》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207008"/>
            <a:ext cx="2788920" cy="1298448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81744" y="1353312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出租率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1744" y="1682496"/>
            <a:ext cx="2487168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约七成多</a:t>
            </a:r>
            <a:br/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今年退租后正在回升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24328"/>
            <a:ext cx="2788920" cy="1298448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2770632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招商配置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3099816"/>
            <a:ext cx="2487168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团队约8人</a:t>
            </a:r>
            <a:br/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其中招商约3人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2624328"/>
            <a:ext cx="2788920" cy="1298448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9584" y="2770632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租金水平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9584" y="3099816"/>
            <a:ext cx="2487168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约2元/平方米/天</a:t>
            </a:r>
            <a:br/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不含物业费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624328"/>
            <a:ext cx="2788920" cy="1298448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2770632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固定成本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3099816"/>
            <a:ext cx="2487168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物业费每月20元</a:t>
            </a:r>
            <a:br/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停车位月租700元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2624328"/>
            <a:ext cx="2788920" cy="1298448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81744" y="2770632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资本现状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81744" y="3099816"/>
            <a:ext cx="2487168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总部3只基金</a:t>
            </a:r>
            <a:br/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上海接触偏中后期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160520"/>
            <a:ext cx="11274552" cy="2057400"/>
          </a:xfrm>
          <a:prstGeom prst="rect">
            <a:avLst/>
          </a:prstGeom>
          <a:solidFill>
            <a:srgbClr val="F6F0E2"/>
          </a:solidFill>
          <a:ln w="12700">
            <a:solidFill>
              <a:srgbClr val="E6D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431596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报价前先要一页房源单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" y="4663440"/>
            <a:ext cx="1083564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同一栋楼售予多个小业主，物业在开发商手里，空置也要付物业费。成交服务费只覆盖对方书面确认、由其掌控的房源。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若按1.67万平方米、约三成空置估算，空置物业费约120万元/年。此为测算，不是报价。</a:t>
            </a:r>
            <a:br/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园内另有约1元/平方米/天的抛租，录音称相关合同大约到2027年6月。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04   需求判断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方案要回答园区的经营问题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69264"/>
            <a:ext cx="786384" cy="27432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9144"/>
          </a:xfrm>
          <a:prstGeom prst="rect">
            <a:avLst/>
          </a:prstGeom>
          <a:solidFill>
            <a:srgbClr val="E4D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内部建议稿  ·  谈判起点，不是对方已确认的预算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92240"/>
            <a:ext cx="222199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05  / 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07008"/>
            <a:ext cx="5623560" cy="498348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07008"/>
            <a:ext cx="73152" cy="4983480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389888"/>
            <a:ext cx="502920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对方会认真听的四件事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87451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出租率与现金流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167127"/>
            <a:ext cx="5029200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空置仍要付物业费。活动如果不能带来企业和租金，很难单独立项。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8803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匹配阶段的资本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172968"/>
            <a:ext cx="5029200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中后期机构帮不上入园企业。晶丰新感长大后被免费场地加投资挖走。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8862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能持续来人的牌子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178808"/>
            <a:ext cx="5029200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上海项目知名度弱，区位优势主要是离复旦近。对方当场问过挂牌。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8920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长三角桥头堡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184648"/>
            <a:ext cx="5029200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总部希望这边的企业拓展西南时先想到新谷，而不是只做一栋楼的出租。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207008"/>
            <a:ext cx="5468112" cy="4983480"/>
          </a:xfrm>
          <a:prstGeom prst="rect">
            <a:avLst/>
          </a:prstGeom>
          <a:solidFill>
            <a:srgbClr val="F8EEEE"/>
          </a:solidFill>
          <a:ln w="12700">
            <a:solidFill>
              <a:srgbClr val="E7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1389888"/>
            <a:ext cx="502920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C3D3D"/>
                </a:solidFill>
                <a:latin typeface="Microsoft YaHei"/>
                <a:ea typeface="Microsoft YaHei"/>
                <a:cs typeface="Microsoft YaHei"/>
              </a:rPr>
              <a:t>第一份协议不纳入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1920240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1    税收分成或返税平台。双方都认为政策会收回。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2560320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2    会员费覆盖无限次招商、策划和融资服务。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3200400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3    未获学校审批就挂“复旦大学××中心”。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3840479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4    把成都总部企业作为导入这栋楼的主方案。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4480560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5    无产权、规划和预算确认时做改造研究。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5120640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6    合同里承诺一定招满若干平方米。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05   机会取舍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十个方向收成一个首期项目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69264"/>
            <a:ext cx="786384" cy="27432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9144"/>
          </a:xfrm>
          <a:prstGeom prst="rect">
            <a:avLst/>
          </a:prstGeom>
          <a:solidFill>
            <a:srgbClr val="E4D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内部建议稿  ·  谈判起点，不是对方已确认的预算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92240"/>
            <a:ext cx="222199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06  / 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6903720" cy="5010912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35331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首期打包推进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7190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下面五项是一个项目的五个部件，不分别向对方铺开。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121408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12140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副会长单位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139696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建立正式关系，年费对应章程权益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889503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889503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三个月招商试点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907791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精准对接科技企业，结果另计服务费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657600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联合服务站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675887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挂牌、沙龙、接待放在同一节点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42569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425696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早期资本对接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4443983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先做在园企业融资需求，再请机构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193792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19379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小型产业活动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5212079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园区出场地，定制场次单独报价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8" y="1188720"/>
            <a:ext cx="4206240" cy="1591056"/>
          </a:xfrm>
          <a:prstGeom prst="rect">
            <a:avLst/>
          </a:prstGeom>
          <a:solidFill>
            <a:srgbClr val="E6F1EF"/>
          </a:solidFill>
          <a:ln w="12700">
            <a:solidFill>
              <a:srgbClr val="C9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99248" y="133502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平行核实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9248" y="1682496"/>
            <a:ext cx="38404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新加坡选址。两周内约对方出海负责人和陆总，先问清是孵化器、办公室还是服务平台。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16368" y="2889504"/>
            <a:ext cx="4206240" cy="1591056"/>
          </a:xfrm>
          <a:prstGeom prst="rect">
            <a:avLst/>
          </a:prstGeom>
          <a:solidFill>
            <a:srgbClr val="F6F0E2"/>
          </a:solidFill>
          <a:ln w="12700">
            <a:solidFill>
              <a:srgbClr val="E6D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9248" y="30358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第二阶段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3383280"/>
            <a:ext cx="38404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双城考察、核聚变与机器人生态、专题研究、资产盘活。都要有预算和真实需求再立项。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16368" y="4590288"/>
            <a:ext cx="4206240" cy="1591056"/>
          </a:xfrm>
          <a:prstGeom prst="rect">
            <a:avLst/>
          </a:prstGeom>
          <a:solidFill>
            <a:srgbClr val="F8EEEE"/>
          </a:solidFill>
          <a:ln w="12700">
            <a:solidFill>
              <a:srgbClr val="E7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99248" y="473659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C3D3D"/>
                </a:solidFill>
                <a:latin typeface="Microsoft YaHei"/>
                <a:ea typeface="Microsoft YaHei"/>
                <a:cs typeface="Microsoft YaHei"/>
              </a:rPr>
              <a:t>不作为产品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9248" y="5084064"/>
            <a:ext cx="38404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税收分成、未授权复旦冠名、保证招满、免费完整白皮书、无预算的改公寓方案。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06   首期方案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先报一个对方能审批的方案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69264"/>
            <a:ext cx="786384" cy="27432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9144"/>
          </a:xfrm>
          <a:prstGeom prst="rect">
            <a:avLst/>
          </a:prstGeom>
          <a:solidFill>
            <a:srgbClr val="E4D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内部建议稿  ·  谈判起点，不是对方已确认的预算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92240"/>
            <a:ext cx="222199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07  / 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07008"/>
            <a:ext cx="3675887" cy="306324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371600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828800"/>
            <a:ext cx="32461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副会长单位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2677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1 万元 / 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88920"/>
            <a:ext cx="3273552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以上海公司为入会主体，按章程和审批程序办理。权益是交流、展示和资讯，不含专项招商。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207008"/>
            <a:ext cx="3675887" cy="306324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371600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828800"/>
            <a:ext cx="32461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三个月试点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2677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2 万元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2788920"/>
            <a:ext cx="3273552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招商需求梳理、首批科技企业与早期机构对接、一场小型产业交流。谈判区间可到 2–3 万元。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207008"/>
            <a:ext cx="3675887" cy="306324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8" y="1371600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1828800"/>
            <a:ext cx="32461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结果服务费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22677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0.5–1 个月租金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8" y="2788920"/>
            <a:ext cx="3273552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企业签约入驻后另计，以基础租金为协商起点。大型或特殊项目另行议价。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25696"/>
            <a:ext cx="11274552" cy="178308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4608576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4C98A"/>
                </a:solidFill>
                <a:latin typeface="Microsoft YaHei"/>
                <a:ea typeface="Microsoft YaHei"/>
                <a:cs typeface="Microsoft YaHei"/>
              </a:rPr>
              <a:t>若对方接受建议报价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493776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首期基础合作约 3 万元，另保留招商结果收益。对方若暂批不下专项预算，至少先锁定入会和结果付费机制。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0">
                <a:solidFill>
                  <a:srgbClr val="D5DEE6"/>
                </a:solidFill>
                <a:latin typeface="Microsoft YaHei"/>
                <a:ea typeface="Microsoft YaHei"/>
                <a:cs typeface="Microsoft YaHei"/>
              </a:rPr>
              <a:t>同一项工作只进一个收费科目：会员费里的交流，不再收活动费；试点已含的那场活动，不再单收策划费。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07   招商试点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做企业成长服务，不做普通中介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69264"/>
            <a:ext cx="786384" cy="27432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9144"/>
          </a:xfrm>
          <a:prstGeom prst="rect">
            <a:avLst/>
          </a:prstGeom>
          <a:solidFill>
            <a:srgbClr val="E4D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内部建议稿  ·  谈判起点，不是对方已确认的预算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92240"/>
            <a:ext cx="222199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08  / 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133856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对方已有招商团队，市场上也不缺中介。壁垒来自企业库、投资机构和对接过程。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36192"/>
            <a:ext cx="3675887" cy="260604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8249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科技企业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084831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联合会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22576"/>
            <a:ext cx="3310128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引荐确有空间需求、并且付得起租金的人工智能和硬科技企业。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27248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新谷湾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64992"/>
            <a:ext cx="3310128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办公空间与书面授权的租金区间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536192"/>
            <a:ext cx="3675887" cy="260604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68249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投资机构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084831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联合会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322576"/>
            <a:ext cx="3310128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带早期机构及其被投企业到现场。中后期资金不作为主引擎。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27248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新谷湾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364992"/>
            <a:ext cx="3310128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落地条件、注册与园区服务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536192"/>
            <a:ext cx="3675887" cy="260604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68249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产业活动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084831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联合会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322576"/>
            <a:ext cx="3310128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一场20–40人的主题交流，会后只登记到现场的带看。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127248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新谷湾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364992"/>
            <a:ext cx="3310128" cy="6217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场地、接待和在园企业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297680"/>
            <a:ext cx="2788920" cy="1051560"/>
          </a:xfrm>
          <a:prstGeom prst="rect">
            <a:avLst/>
          </a:prstGeom>
          <a:solidFill>
            <a:srgbClr val="E6F1EF"/>
          </a:solidFill>
          <a:ln w="12700">
            <a:solidFill>
              <a:srgbClr val="C9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4425696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合同承诺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" y="4718304"/>
            <a:ext cx="251460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过程与台账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4297680"/>
            <a:ext cx="2788920" cy="1051560"/>
          </a:xfrm>
          <a:prstGeom prst="rect">
            <a:avLst/>
          </a:prstGeom>
          <a:solidFill>
            <a:srgbClr val="E6F1EF"/>
          </a:solidFill>
          <a:ln w="12700">
            <a:solidFill>
              <a:srgbClr val="C9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9584" y="4425696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复盘参照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9584" y="4718304"/>
            <a:ext cx="251460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90天看线索质量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4297680"/>
            <a:ext cx="2788920" cy="1051560"/>
          </a:xfrm>
          <a:prstGeom prst="rect">
            <a:avLst/>
          </a:prstGeom>
          <a:solidFill>
            <a:srgbClr val="E6F1EF"/>
          </a:solidFill>
          <a:ln w="12700">
            <a:solidFill>
              <a:srgbClr val="C9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5664" y="4425696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带看口径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55664" y="4718304"/>
            <a:ext cx="251460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到现场才计数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4297680"/>
            <a:ext cx="2788920" cy="1051560"/>
          </a:xfrm>
          <a:prstGeom prst="rect">
            <a:avLst/>
          </a:prstGeom>
          <a:solidFill>
            <a:srgbClr val="E6F1EF"/>
          </a:solidFill>
          <a:ln w="12700">
            <a:solidFill>
              <a:srgbClr val="C9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81744" y="4425696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租金授权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81744" y="4718304"/>
            <a:ext cx="251460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先拿书面价格带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" y="55321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行业带看成交比约110:1。宝龙样本为数月约1000至1600平方米。内部复盘看90天线索质量，合同不保证面积。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08   联合服务站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把挂牌做成长期服务节点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69264"/>
            <a:ext cx="786384" cy="27432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9144"/>
          </a:xfrm>
          <a:prstGeom prst="rect">
            <a:avLst/>
          </a:prstGeom>
          <a:solidFill>
            <a:srgbClr val="E4D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内部建议稿  ·  谈判起点，不是对方已确认的预算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92240"/>
            <a:ext cx="222199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09  / 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11274552" cy="132588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33502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4C98A"/>
                </a:solidFill>
                <a:latin typeface="Microsoft YaHei"/>
                <a:ea typeface="Microsoft YaHei"/>
                <a:cs typeface="Microsoft YaHei"/>
              </a:rPr>
              <a:t>推荐名称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62763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杨浦科技企业成长与产业协同服务站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066543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5DEE6"/>
                </a:solidFill>
                <a:latin typeface="Microsoft YaHei"/>
                <a:ea typeface="Microsoft YaHei"/>
                <a:cs typeface="Microsoft YaHei"/>
              </a:rPr>
              <a:t>设在新谷国际，先试运行一年。名称覆盖人工智能、机器人、先进制造和跨区域协同，不把运营责任做成完整孵化器。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3675887" cy="196596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834640"/>
            <a:ext cx="334670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杨浦 AI 产业下午茶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273552"/>
            <a:ext cx="334670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20–30人   ·   每月或双月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703320"/>
            <a:ext cx="334670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发现企业需求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697480"/>
            <a:ext cx="3675887" cy="196596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2834640"/>
            <a:ext cx="334670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科技企业融资闭门会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3273552"/>
            <a:ext cx="334670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10–15家   ·   每季度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3703320"/>
            <a:ext cx="334670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融资与选址并行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2697480"/>
            <a:ext cx="3675887" cy="196596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2834640"/>
            <a:ext cx="334670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未来产业创新参访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3273552"/>
            <a:ext cx="334670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小范围   ·   每季度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3703320"/>
            <a:ext cx="334670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连接会员与潜在客户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828032"/>
            <a:ext cx="11274552" cy="1389888"/>
          </a:xfrm>
          <a:prstGeom prst="rect">
            <a:avLst/>
          </a:prstGeom>
          <a:solidFill>
            <a:srgbClr val="F6F0E2"/>
          </a:solidFill>
          <a:ln w="12700">
            <a:solidFill>
              <a:srgbClr val="E6D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974336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两条约定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5248656"/>
            <a:ext cx="10835640" cy="8412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场地由对方提供，只适合中小型活动。联合会的策划、邀约和组织，基础场次可以资源共建，定制招商和资本专场单独报价。</a:t>
            </a:r>
          </a:p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涉及联合会或复旦大学的名称，须取得相应主体授权。引入复旦资源，先走专家交流和合规的产学研合作。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09   早期资本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从在园企业的融资需求做起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69264"/>
            <a:ext cx="786384" cy="27432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9144"/>
          </a:xfrm>
          <a:prstGeom prst="rect">
            <a:avLst/>
          </a:prstGeom>
          <a:solidFill>
            <a:srgbClr val="E4D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内部建议稿  ·  谈判起点，不是对方已确认的预算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92240"/>
            <a:ext cx="222199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10  / 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133856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对方有早期企业，缺少与阶段匹配的资本服务；联合会能接触机构和项目。第一阶段不设基金，也不承诺融资成功。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27632"/>
            <a:ext cx="2788920" cy="233172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773936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2139696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筛企业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2542032"/>
            <a:ext cx="2487168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从约37家在园企业中选出有融资需求的5–8家，形成需求清单。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1627632"/>
            <a:ext cx="2788920" cy="233172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1773936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2139696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核阶段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2542032"/>
            <a:ext cx="2487168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只请投资策略对得上的早期机构。先核对，再发会议邀请。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627632"/>
            <a:ext cx="2788920" cy="233172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1773936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2139696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做闭门会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2542032"/>
            <a:ext cx="2487168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“杨浦未来产业投融资闭门对接会”，机构、创始人、园区同场。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1627632"/>
            <a:ext cx="2788920" cy="233172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81744" y="1773936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2139696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接空间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1744" y="2542032"/>
            <a:ext cx="2487168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机构看中项目时，园区同步给出办公和成长服务。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133087"/>
            <a:ext cx="11274552" cy="205740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42976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一条可以重复使用的链条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" y="4736592"/>
            <a:ext cx="2468880" cy="502920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486460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企业库识别需求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65576" y="4736592"/>
            <a:ext cx="2468880" cy="50292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65576" y="486460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机构匹配阶段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54496" y="4736592"/>
            <a:ext cx="2468880" cy="502920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4496" y="486460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园区提供空间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43415" y="4736592"/>
            <a:ext cx="2468880" cy="50292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43415" y="486460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落地后持续服务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539496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普通对接和活动可以约定服务费。融资交易、资金募集和投资顾问，由具备相应资质的主体依法开展。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10   平行工作线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新加坡两周内摸清，先不对外挂名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69264"/>
            <a:ext cx="786384" cy="27432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9144"/>
          </a:xfrm>
          <a:prstGeom prst="rect">
            <a:avLst/>
          </a:prstGeom>
          <a:solidFill>
            <a:srgbClr val="E4D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内部建议稿  ·  谈判起点，不是对方已确认的预算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92240"/>
            <a:ext cx="222199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11  / 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5669280" cy="5010912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371600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这次会要问清的三件事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92024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选址用途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286000"/>
            <a:ext cx="51663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筹建孵化器、租赁办公室，还是设立产业服务平台。三种用途对应完全不同的合作。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324612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决策人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611879"/>
            <a:ext cx="51663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约对方出海负责人和陆总。上海招商团队不能代替这条线拍板。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457200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企业名单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4937760"/>
            <a:ext cx="51663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哪些会员企业需要新加坡主体或跨境业务，并可以在杨浦保留联络点。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188720"/>
            <a:ext cx="5422392" cy="5010912"/>
          </a:xfrm>
          <a:prstGeom prst="rect">
            <a:avLst/>
          </a:prstGeom>
          <a:solidFill>
            <a:srgbClr val="F6F0E2"/>
          </a:solidFill>
          <a:ln w="12700">
            <a:solidFill>
              <a:srgbClr val="E6D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8816" y="1371600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这条线现在做到这里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1920240"/>
            <a:ext cx="49834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对方原话是“刚布的新加坡，正处于选址阶段”。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697480"/>
            <a:ext cx="49834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联合会有约两年的新加坡跨境业务经验，2026年另有澳大利亚安排。经验可以交流，安排本身不自动成为联合项目。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3474720"/>
            <a:ext cx="49834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用途未明之前，对外材料不使用“联合海外中心”。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8816" y="4251960"/>
            <a:ext cx="49834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波士顿平台只做办公时间的资源对接，不在首期单独立项。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5029200"/>
            <a:ext cx="49834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收费等项目范围清楚后按项目报价。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11   第二阶段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有需求、有预算之后再展开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69264"/>
            <a:ext cx="786384" cy="27432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9144"/>
          </a:xfrm>
          <a:prstGeom prst="rect">
            <a:avLst/>
          </a:prstGeom>
          <a:solidFill>
            <a:srgbClr val="E4D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内部建议稿  ·  谈判起点，不是对方已确认的预算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92240"/>
            <a:ext cx="222199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12  / 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07008"/>
            <a:ext cx="5669280" cy="2304288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07008"/>
            <a:ext cx="73152" cy="230428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408176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双城考察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865376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“长三角—成渝科技产业协同”先做小团。8–12家企业，行前写明市场、厂房、伙伴或当地基金需求。对方已有台州、海宁、绍兴等通道，且不承接外地楼宇代运营。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207008"/>
            <a:ext cx="5669280" cy="2304288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207008"/>
            <a:ext cx="73152" cy="230428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1408176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未来产业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1865376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核聚变、具身智能和机器人可以做走访与产业链梳理，并与联合会已有研究衔接。园区里有相关企业，不等于集团会投资该方向。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75888"/>
            <a:ext cx="5669280" cy="2304288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675888"/>
            <a:ext cx="73152" cy="2304288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877056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研究产品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334256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《杨浦一百》继续作为获客工具。对方园区可先成为一个更新案例。独立课题，例如跨区域发展观察，有经费再做，不免费交付白皮书。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675888"/>
            <a:ext cx="5669280" cy="2304288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675888"/>
            <a:ext cx="73152" cy="2304288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3877056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资产盘活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4334256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租金、小面积产品和改公寓都谈过，对方也提到改造预算有限。产权、规划和预算未确认前，不做完整改造研究。政策口径以主管部门书面意见为准。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12   收费边界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同一项工作只收一次费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69264"/>
            <a:ext cx="786384" cy="27432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9144"/>
          </a:xfrm>
          <a:prstGeom prst="rect">
            <a:avLst/>
          </a:prstGeom>
          <a:solidFill>
            <a:srgbClr val="E4D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内部建议稿  ·  谈判起点，不是对方已确认的预算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92240"/>
            <a:ext cx="222199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13  / 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1170432"/>
            <a:ext cx="2103120" cy="4572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280160"/>
            <a:ext cx="1956815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合作产品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2032" y="1170432"/>
            <a:ext cx="2468880" cy="4572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280160"/>
            <a:ext cx="2322576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谈判起点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10912" y="1170432"/>
            <a:ext cx="5029200" cy="4572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02352" y="1280160"/>
            <a:ext cx="4882896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服务边界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40112" y="1170432"/>
            <a:ext cx="1691640" cy="4572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31552" y="1280160"/>
            <a:ext cx="1545336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1627632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1719072"/>
            <a:ext cx="195681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副会长单位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42032" y="1627632"/>
            <a:ext cx="2468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33472" y="1719072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1万元 / 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10912" y="1627632"/>
            <a:ext cx="5029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02352" y="1719072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章程权益；不含专项招商和融资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40112" y="1627632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31552" y="1719072"/>
            <a:ext cx="154533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立刻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2066543"/>
            <a:ext cx="2103120" cy="438912"/>
          </a:xfrm>
          <a:prstGeom prst="rect">
            <a:avLst/>
          </a:prstGeom>
          <a:solidFill>
            <a:srgbClr val="EFEAE1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2157984"/>
            <a:ext cx="195681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三个月试点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42032" y="2066543"/>
            <a:ext cx="2468880" cy="438912"/>
          </a:xfrm>
          <a:prstGeom prst="rect">
            <a:avLst/>
          </a:prstGeom>
          <a:solidFill>
            <a:srgbClr val="EFEAE1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33472" y="2157984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2万–3万元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10912" y="2066543"/>
            <a:ext cx="5029200" cy="438912"/>
          </a:xfrm>
          <a:prstGeom prst="rect">
            <a:avLst/>
          </a:prstGeom>
          <a:solidFill>
            <a:srgbClr val="EFEAE1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02352" y="2157984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需求梳理、精准对接、一场小型活动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40112" y="2066543"/>
            <a:ext cx="1691640" cy="438912"/>
          </a:xfrm>
          <a:prstGeom prst="rect">
            <a:avLst/>
          </a:prstGeom>
          <a:solidFill>
            <a:srgbClr val="EFEAE1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31552" y="2157984"/>
            <a:ext cx="154533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立刻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" y="2505456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2596896"/>
            <a:ext cx="195681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招商成果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42032" y="2505456"/>
            <a:ext cx="2468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33472" y="2596896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0.5–1个月基础租金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10912" y="2505456"/>
            <a:ext cx="5029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02352" y="2596896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只计书面确认的可控房源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40112" y="2505456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31552" y="2596896"/>
            <a:ext cx="154533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签约后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" y="2944368"/>
            <a:ext cx="2103120" cy="438912"/>
          </a:xfrm>
          <a:prstGeom prst="rect">
            <a:avLst/>
          </a:prstGeom>
          <a:solidFill>
            <a:srgbClr val="EFEAE1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0352" y="3035808"/>
            <a:ext cx="195681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定制活动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42032" y="2944368"/>
            <a:ext cx="2468880" cy="438912"/>
          </a:xfrm>
          <a:prstGeom prst="rect">
            <a:avLst/>
          </a:prstGeom>
          <a:solidFill>
            <a:srgbClr val="EFEAE1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33472" y="3035808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0.8万–2万元 / 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10912" y="2944368"/>
            <a:ext cx="5029200" cy="438912"/>
          </a:xfrm>
          <a:prstGeom prst="rect">
            <a:avLst/>
          </a:prstGeom>
          <a:solidFill>
            <a:srgbClr val="EFEAE1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02352" y="3035808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试点未包含的闭门会和专场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40112" y="2944368"/>
            <a:ext cx="1691640" cy="438912"/>
          </a:xfrm>
          <a:prstGeom prst="rect">
            <a:avLst/>
          </a:prstGeom>
          <a:solidFill>
            <a:srgbClr val="EFEAE1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31552" y="3035808"/>
            <a:ext cx="154533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按场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" y="3383280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3474720"/>
            <a:ext cx="195681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服务站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42032" y="3383280"/>
            <a:ext cx="2468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33472" y="3474720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按人员和场次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10912" y="3383280"/>
            <a:ext cx="5029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02352" y="3474720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挂牌不绑定无限运营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040112" y="3383280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31552" y="3474720"/>
            <a:ext cx="154533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试运行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12" y="3822191"/>
            <a:ext cx="2103120" cy="438912"/>
          </a:xfrm>
          <a:prstGeom prst="rect">
            <a:avLst/>
          </a:prstGeom>
          <a:solidFill>
            <a:srgbClr val="EFEAE1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0352" y="3913631"/>
            <a:ext cx="195681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成都考察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42032" y="3822191"/>
            <a:ext cx="2468880" cy="438912"/>
          </a:xfrm>
          <a:prstGeom prst="rect">
            <a:avLst/>
          </a:prstGeom>
          <a:solidFill>
            <a:srgbClr val="EFEAE1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633472" y="3913631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按项目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10912" y="3822191"/>
            <a:ext cx="5029200" cy="438912"/>
          </a:xfrm>
          <a:prstGeom prst="rect">
            <a:avLst/>
          </a:prstGeom>
          <a:solidFill>
            <a:srgbClr val="EFEAE1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02352" y="3913631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只组织有书面需求的小团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40112" y="3822191"/>
            <a:ext cx="1691640" cy="438912"/>
          </a:xfrm>
          <a:prstGeom prst="rect">
            <a:avLst/>
          </a:prstGeom>
          <a:solidFill>
            <a:srgbClr val="EFEAE1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31552" y="3913631"/>
            <a:ext cx="154533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第二阶段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8912" y="4261104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0352" y="4352544"/>
            <a:ext cx="195681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研究报告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42032" y="4261104"/>
            <a:ext cx="2468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33472" y="4352544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按课题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10912" y="4261104"/>
            <a:ext cx="5029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102352" y="4352544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不免费做完整白皮书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040112" y="4261104"/>
            <a:ext cx="1691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131552" y="4352544"/>
            <a:ext cx="154533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第二阶段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8912" y="4700016"/>
            <a:ext cx="2103120" cy="438912"/>
          </a:xfrm>
          <a:prstGeom prst="rect">
            <a:avLst/>
          </a:prstGeom>
          <a:solidFill>
            <a:srgbClr val="EFEAE1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30352" y="4791455"/>
            <a:ext cx="195681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海外对接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542032" y="4700016"/>
            <a:ext cx="2468880" cy="438912"/>
          </a:xfrm>
          <a:prstGeom prst="rect">
            <a:avLst/>
          </a:prstGeom>
          <a:solidFill>
            <a:srgbClr val="EFEAE1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633472" y="4791455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按项目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10912" y="4700016"/>
            <a:ext cx="5029200" cy="438912"/>
          </a:xfrm>
          <a:prstGeom prst="rect">
            <a:avLst/>
          </a:prstGeom>
          <a:solidFill>
            <a:srgbClr val="EFEAE1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102352" y="4791455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选址用途明确后再报价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040112" y="4700016"/>
            <a:ext cx="1691640" cy="438912"/>
          </a:xfrm>
          <a:prstGeom prst="rect">
            <a:avLst/>
          </a:prstGeom>
          <a:solidFill>
            <a:srgbClr val="EFEAE1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131552" y="4791455"/>
            <a:ext cx="154533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条件成熟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金额均为内部谈判起点。首期推荐组合是会员1万元加试点2万元；试点若已含一场活动，该场不再另收基础策划费。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13   九十天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从建立关系到明确项目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69264"/>
            <a:ext cx="786384" cy="27432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9144"/>
          </a:xfrm>
          <a:prstGeom prst="rect">
            <a:avLst/>
          </a:prstGeom>
          <a:solidFill>
            <a:srgbClr val="E4D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内部建议稿  ·  谈判起点，不是对方已确认的预算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92240"/>
            <a:ext cx="222199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14  / 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70432"/>
            <a:ext cx="11274552" cy="73152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170432"/>
            <a:ext cx="73152" cy="731520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371600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第 1–10 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37160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确定负责人，取得房源单、决策权限和预算口径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371600"/>
            <a:ext cx="30632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合作需求清单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93392"/>
            <a:ext cx="11274552" cy="73152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993392"/>
            <a:ext cx="73152" cy="731520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194560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第 11–20 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19456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确定入会主体、试点范围和收费科目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94560"/>
            <a:ext cx="30632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意向书或专项协议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16352"/>
            <a:ext cx="11274552" cy="73152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816352"/>
            <a:ext cx="73152" cy="731520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017520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第 21–40 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01752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对接首批科技企业与早期机构，安排到场参观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017520"/>
            <a:ext cx="30632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需求与对接台账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639312"/>
            <a:ext cx="11274552" cy="73152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639312"/>
            <a:ext cx="73152" cy="731520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3840480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第 41–60 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8404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举办第一场产业或投融资闭门活动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840480"/>
            <a:ext cx="30632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活动记录与具体线索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62272"/>
            <a:ext cx="11274552" cy="73152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462272"/>
            <a:ext cx="73152" cy="731520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4663440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第 61–75 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66344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跟进选址和融资，只推进有下一步的对象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663440"/>
            <a:ext cx="30632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可核实的洽谈进展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285232"/>
            <a:ext cx="11274552" cy="73152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285232"/>
            <a:ext cx="73152" cy="731520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5486400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第 76–90 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548640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复盘过程成果，决定是否进入年度合作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5486400"/>
            <a:ext cx="30632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阶段报告与下期方案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14   对外口径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会后可以直接发出的微信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69264"/>
            <a:ext cx="786384" cy="27432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9144"/>
          </a:xfrm>
          <a:prstGeom prst="rect">
            <a:avLst/>
          </a:prstGeom>
          <a:solidFill>
            <a:srgbClr val="E4D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内部建议稿  ·  谈判起点，不是对方已确认的预算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92240"/>
            <a:ext cx="222199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15  / 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11556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发送前核对称呼。录音中出现赵总、夏总，以对方确认的姓名为准。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44752"/>
            <a:ext cx="11274552" cy="4773168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609344"/>
            <a:ext cx="10835640" cy="4480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赵总、夏总，你们好。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上次交流后，我们把双方资源又对了一遍。建议先落一个可控的试点，不把多条线同时铺开。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一是产业招商与资本对接。围绕贵司上海园区的人工智能和科技企业定位，由联合会引荐确有空间或融资需求的企业、以及阶段匹配的早期投资机构，到现场交流。活动和选址形成结果后，按专项约定结算。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二是联合服务站。上次提到的挂牌，建议做成“科技企业成长与产业协同服务站”，放在贵司园区，先做小型沙龙和企业对接。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三是双城与海外留作下一步。成都载体适合有明确考察需求的企业小团走访；新加坡业务建议先由双方具体负责人做一次专题沟通，摸清选址用途后再谈合作方式。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副会长单位可以同步办理。试点前希望先确认贵司可控房源、上海团队能当场决定的租金区间，以及试点经费的审批口径。这样双方投入可控，也更容易在这个季度形成成果。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15   请内部拍板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这周确定三件事即可启动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69264"/>
            <a:ext cx="786384" cy="27432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9144"/>
          </a:xfrm>
          <a:prstGeom prst="rect">
            <a:avLst/>
          </a:prstGeom>
          <a:solidFill>
            <a:srgbClr val="E4D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内部建议稿  ·  谈判起点，不是对方已确认的预算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92240"/>
            <a:ext cx="222199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16  / 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07008"/>
            <a:ext cx="3675887" cy="196596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53312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64208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入会主体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03120"/>
            <a:ext cx="3310128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是否以上海新谷湾公司申请副会长，并按章程走审批。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207008"/>
            <a:ext cx="3675887" cy="196596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353312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664208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试点报价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103120"/>
            <a:ext cx="3310128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是否以1万元会费加2万元试点费作为正式谈判起点。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207008"/>
            <a:ext cx="3675887" cy="1965960"/>
          </a:xfrm>
          <a:prstGeom prst="rect">
            <a:avLst/>
          </a:prstGeom>
          <a:solidFill>
            <a:srgbClr val="FFFCF7"/>
          </a:solidFill>
          <a:ln w="12700">
            <a:solidFill>
              <a:srgbClr val="E4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353312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664208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服务站名称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103120"/>
            <a:ext cx="3310128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是否采用“科技企业成长与产业协同服务站”，一年试运行。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346704"/>
            <a:ext cx="11274552" cy="283464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529584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4C98A"/>
                </a:solidFill>
                <a:latin typeface="Microsoft YaHei"/>
                <a:ea typeface="Microsoft YaHei"/>
                <a:cs typeface="Microsoft YaHei"/>
              </a:rPr>
              <a:t>更长的用法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3840480"/>
            <a:ext cx="10835640" cy="2103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宝龙、创智汇之后，又有园区因为《杨浦一百》主动上门。零散的园区合作可以收成一条可重复的服务链。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E4C98A"/>
                </a:solidFill>
                <a:latin typeface="Microsoft YaHei"/>
                <a:ea typeface="Microsoft YaHei"/>
                <a:cs typeface="Microsoft YaHei"/>
              </a:rPr>
              <a:t>科技企业数据库  →  成长需求  →  投资机构匹配  →  产业空间匹配  →  跨区域落地  →  持续服务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400" b="0">
                <a:solidFill>
                  <a:srgbClr val="D5DEE6"/>
                </a:solidFill>
                <a:latin typeface="Microsoft YaHei"/>
                <a:ea typeface="Microsoft YaHei"/>
                <a:cs typeface="Microsoft YaHei"/>
              </a:rPr>
              <a:t>新谷湾是这条链上优先级较高的一环。成都载体、总部基金、新加坡和波士顿，留到试点跑通后再逐项验证。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2F"/>
                </a:solidFill>
                <a:latin typeface="Microsoft YaHei"/>
                <a:ea typeface="Microsoft YaHei"/>
                <a:cs typeface="Microsoft YaHei"/>
              </a:rPr>
              <a:t>附录   使用说明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这页留给汇报人，不对外转发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69264"/>
            <a:ext cx="786384" cy="27432"/>
          </a:xfrm>
          <a:prstGeom prst="rect">
            <a:avLst/>
          </a:prstGeom>
          <a:solidFill>
            <a:srgbClr val="8C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9144"/>
          </a:xfrm>
          <a:prstGeom prst="rect">
            <a:avLst/>
          </a:prstGeom>
          <a:solidFill>
            <a:srgbClr val="E4D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内部建议稿  ·  谈判起点，不是对方已确认的预算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92240"/>
            <a:ext cx="222199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D7A"/>
                </a:solidFill>
                <a:latin typeface="Microsoft YaHei"/>
                <a:ea typeface="Microsoft YaHei"/>
                <a:cs typeface="Microsoft YaHei"/>
              </a:rPr>
              <a:t>17  / 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依据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170432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2026-09-24 录音及双方当场表态。公开载体信息仅用于核对上海新谷湾、新谷国际与湾谷科技园的主体关系。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5798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157984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出租率、租金、人员、基金和融资情节均来自洽谈，尚未独立尽调。企业名称经过语音转写，外发前核对工商名。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4553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执行会长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145536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录音记为“志刚”。公开活动报道中，复旦大学住房政策研究中心秘书长、联合会执行会长为胡继刚。发送材料前与本人确认。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13308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金额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133088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全部为内部谈判起点，不是对方预算，也不是市场统一定价。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1206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5C57"/>
                </a:solidFill>
                <a:latin typeface="Microsoft YaHei"/>
                <a:ea typeface="Microsoft YaHei"/>
                <a:cs typeface="Microsoft YaHei"/>
              </a:rPr>
              <a:t>承诺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120640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  <a:cs typeface="Microsoft YaHei"/>
              </a:rPr>
              <a:t>联合会对接过程、活动组织和台账负责，不对最终租赁或融资成功作无条件保证。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杨浦科技企业成长与产业协同合作计划</dc:title>
  <dc:subject>成都新谷投资集团（上海新谷湾）与杨浦区科技企业联合会内部合作建议稿</dc:subject>
  <dc:creator>上海市杨浦区科技企业联合会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内部建议稿</cp:category>
</cp:coreProperties>
</file>