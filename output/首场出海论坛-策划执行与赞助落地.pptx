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34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总领文化传播（筹）× 复旦 × CGC 总领事俱乐部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首场·出海东南亚 总领事商务论坛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4290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4F6F9"/>
                </a:solidFill>
                <a:latin typeface="Microsoft YaHei"/>
                <a:ea typeface="Microsoft YaHei"/>
              </a:rPr>
              <a:t>策划 · 执行 · 赞助落地方案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634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东亚 + 东南亚出海 · 300人 · 论坛 + 轻社交酒会 · 8月中下旬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Microsoft YaHei"/>
                <a:ea typeface="Microsoft YaHei"/>
              </a:rPr>
              <a:t>主体：总领文化传播有限公司（筹）　|　V1.0 · 建议稿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463040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0" b="1">
                <a:solidFill>
                  <a:srgbClr val="C9A24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788920"/>
            <a:ext cx="8229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目标与定位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38862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4F6F9"/>
                </a:solidFill>
                <a:latin typeface="Microsoft YaHei"/>
                <a:ea typeface="Microsoft YaHei"/>
              </a:rPr>
              <a:t>跑通正向现金流 · 沉淀核心理事 · 讲清出海服务流线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一、目标与定位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01/15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Microsoft YaHei"/>
                <a:ea typeface="Microsoft YaHei"/>
              </a:rPr>
              <a:t>三大目标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验证“可正向收费、正向现金流”的商业模式——首场即跑通闭环。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在会场讲清服务流线：出海落地、政府对接、资源撮合。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招募 20–30 名有门槛、有资源的核心理事/会员，沉淀圈层。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349240" cy="4572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6304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Microsoft YaHei"/>
                <a:ea typeface="Microsoft YaHei"/>
              </a:rPr>
              <a:t>首场定位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E2933"/>
                </a:solidFill>
                <a:latin typeface="Microsoft YaHei"/>
                <a:ea typeface="Microsoft YaHei"/>
              </a:rPr>
              <a:t>主题：跨境出海——首站聚焦东亚 + 东南亚（日韩 / 新马泰 / 印尼）。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E2933"/>
                </a:solidFill>
                <a:latin typeface="Microsoft YaHei"/>
                <a:ea typeface="Microsoft YaHei"/>
              </a:rPr>
              <a:t>人群：有真实出海需求的中小微“甲方”实体企业（投资办厂/贸易/电商/出口）。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E2933"/>
                </a:solidFill>
                <a:latin typeface="Microsoft YaHei"/>
                <a:ea typeface="Microsoft YaHei"/>
              </a:rPr>
              <a:t>规模：300 人（弹性 200–400），保证对总领事的吸引力与场面。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E2933"/>
                </a:solidFill>
                <a:latin typeface="Microsoft YaHei"/>
                <a:ea typeface="Microsoft YaHei"/>
              </a:rPr>
              <a:t>形式：下午闭门商务论坛 + 傍晚轻社交酒会（不做晚宴）。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E2933"/>
                </a:solidFill>
                <a:latin typeface="Microsoft YaHei"/>
                <a:ea typeface="Microsoft YaHei"/>
              </a:rPr>
              <a:t>时间地点：8 月中下旬（筹备≥40天）；经贸大厦 / 金茂（300–400 容量）。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表一 · 活动概览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02/15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276"/>
                <a:gridCol w="5637276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项目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活动名称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首场·出海东南亚 总领事商务论坛（暂定）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主题方向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跨境出海：东亚 + 东南亚（日韩 / 新马泰 / 印尼）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8 月中下旬（半天，下午为主；筹备≥40天）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地点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上海经贸大厦 / 金茂（可容纳 300–400 人）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300 人（弹性 200–400）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形式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下午闭门商务论坛 + 傍晚轻社交酒会（不做晚宴）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核心嘉宾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东亚/东南亚总领事 + 成功出海企业家（实操案例）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参会定位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有真实出海需求的中小微甲方实体企业；严控乙方/直销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主办/承办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总领文化传播（筹）承办；复旦学术背书；CGC 领事资源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27608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说明：首场以“跑通模式、沉淀理事”为目标，务实可落地，不追求高端大而空。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463040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0" b="1">
                <a:solidFill>
                  <a:srgbClr val="C9A24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788920"/>
            <a:ext cx="8229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活动方案与流程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38862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4F6F9"/>
                </a:solidFill>
                <a:latin typeface="Microsoft YaHei"/>
                <a:ea typeface="Microsoft YaHei"/>
              </a:rPr>
              <a:t>论坛 + 轻社交酒会（不做晚宴） · 半天 rundown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表二 · 会议流程 Rundown（半天）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03/15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环节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内容要点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负责方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13:30–14:00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签到入场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领事/嘉宾/媒体接待、动线引导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 + 主办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14:00–14:10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开场致辞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主办致辞 + 复旦背书致辞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复旦 / 主办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14:10–14:40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总领事主旨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东南亚国别营商环境与合作机遇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CGC（领事）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14:40–15:10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国别推介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重点国别投资/出海机会推介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领事 / 招商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15:10–15:50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成功出海案例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企业家实操分享（2–3位）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主办邀请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15:50–16:20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理事宣讲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赞助理事品牌宣讲（5–8min×N）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主办（B端）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16:20–16:40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城市会客厅揭牌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政府/园区领导揭牌仪式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政府 + CGC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16:40–17:00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茶歇 / 合影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媒体拍摄、集体合影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17:00–18:30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轻社交酒会 + 闭门对接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理事 × 总领事深度对接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 + 主办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27608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说明：不设晚宴；全程配同声传译/同屏翻译；酒会替代晚宴，轻松高效、成本可控。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盈利逻辑：大活动拉赞助、小活动收费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2933"/>
                </a:solidFill>
                <a:latin typeface="Microsoft YaHei"/>
                <a:ea typeface="Microsoft YaHei"/>
              </a:rPr>
              <a:t>大活动拉赞助（B端）、小活动收费（C端）；不把“收费”与“赚钱”混为一谈。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2933"/>
                </a:solidFill>
                <a:latin typeface="Microsoft YaHei"/>
                <a:ea typeface="Microsoft YaHei"/>
              </a:rPr>
              <a:t>白天低门槛 → 做大基数 → 撬动 B 端赞助 → 覆盖成本 + 盈利。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2933"/>
                </a:solidFill>
                <a:latin typeface="Microsoft YaHei"/>
                <a:ea typeface="Microsoft YaHei"/>
              </a:rPr>
              <a:t>核心：连接总领事（供给）+ 甲方企业（需求），提供 1+1&gt;2 的增值服务。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2933"/>
                </a:solidFill>
                <a:latin typeface="Microsoft YaHei"/>
                <a:ea typeface="Microsoft YaHei"/>
              </a:rPr>
              <a:t>城市会客厅挂牌 = 政府/园区以“赞助方”身份付费，天然赞助。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2933"/>
                </a:solidFill>
                <a:latin typeface="Microsoft YaHei"/>
                <a:ea typeface="Microsoft YaHei"/>
              </a:rPr>
              <a:t>二次变现：出海考察团（部长/总理接待）、海外发布会/地推、交易撮合。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69280"/>
            <a:ext cx="11274552" cy="64008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Microsoft YaHei"/>
                <a:ea typeface="Microsoft YaHei"/>
              </a:rPr>
              <a:t>一句话：白天低门槛做大基数 → 撬动 B 端赞助 → 覆盖成本并盈利。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463040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0" b="1">
                <a:solidFill>
                  <a:srgbClr val="C9A24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788920"/>
            <a:ext cx="8229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收费与赞助落地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38862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4F6F9"/>
                </a:solidFill>
                <a:latin typeface="Microsoft YaHei"/>
                <a:ea typeface="Microsoft YaHei"/>
              </a:rPr>
              <a:t>C 端筛选 · B 端赞助 · 会客厅挂牌 · 成本与盈亏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表三 · C 端票务定价（筛选为主，非盈利）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05/15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票种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价格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名额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权益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目的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甲方企业优选席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定向邀约（免/低）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60–100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论坛+酒会+优先对接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保质量甲方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标准参会席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300 元/位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150–200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论坛 + 酒会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筛选 + 做大基数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深度圆桌席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1,888 元/位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12–24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小范围圆桌 + 与总领事深度对接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高意向甲方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971800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说明：当前经济环境下，C 端以“筛选人群+做大基数”为主；高价 C 端不现实（3000–5000 仅 50–100 人）。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表四 · B 端赞助方案（核心营收）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06/15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档位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建议价格(万元)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名额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核心权益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首席冠名（独家）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30–50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冠名署名 + 主旨演讲位 + 闭门对接 + 全程露出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战略赞助/联合主办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15–20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2–3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演讲位 + 理事席 + 闭门对接 + 品牌露出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理事品牌赞助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5–10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5–8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台上宣讲(5–8min) + 闭门酒会对接 + 理事身份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展位 / 资料包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1–3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若干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展位、物料、参会名录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35584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说明：B 端是核心营收；目标 B 端≥30万覆盖成本；权益核心=与总领事闭门深度对接 + 甲方资源对接。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表五 · 城市会客厅挂牌（政府/园区赞助）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07/15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项目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形式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建议费用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权益 / 价值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城市/国家会客厅挂牌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园区/政府冠名挂牌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10–20万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现场揭牌+媒体+国别窗口+招商通道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免费场地折算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园区提供 200–300㎡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折合租金价值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常态化会客厅空间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政府站台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副区长/商务委出席揭牌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提升活动规格与媒体规格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971800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说明：会客厅挂牌=政府/园区以“赞助方”身份付费，天然赞助；需≥40天报批；政府间不可交叉站台（首场只对接一家）。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表六 · 成本预算（300人 · 无晚宴）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成本项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预算(万元)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场地（经贸/金茂, 300人+舞台）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3–6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国企/复旦或可减免打折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总领事接待与礼遇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3–5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接待、伴手礼、用车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嘉宾邀请与差旅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2–3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出海企业家分享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同声传译与设备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2–3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多语种/同屏翻译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物料搭建与视觉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2–3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背板、签到、设计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轻社交酒会（茶歇+饮品+轻食）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3–4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人均约100–150元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摄影摄像与媒体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1–2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传播物料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执行人员与杂费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2–3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现场统筹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</a:p>
                  </a:txBody>
                  <a:tcPr anchor="ctr" marL="54864" marR="54864" marT="18288" marB="18288">
                    <a:solidFill>
                      <a:srgbClr val="C9A2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18–27（中值≈20）</a:t>
                      </a:r>
                    </a:p>
                  </a:txBody>
                  <a:tcPr anchor="ctr" marL="54864" marR="54864" marT="18288" marB="18288">
                    <a:solidFill>
                      <a:srgbClr val="C9A2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场地与总领事接待为可压缩项</a:t>
                      </a:r>
                    </a:p>
                  </a:txBody>
                  <a:tcPr anchor="ctr" marL="54864" marR="54864" marT="18288" marB="18288">
                    <a:solidFill>
                      <a:srgbClr val="C9A24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27608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说明：以 300 人、无晚宴测算；若场地/接待减免，成本可压至 15 万以内。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表七 · 盈亏测算（三档场景，单位：万元）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09/15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场景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B端赞助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会客厅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C端净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成本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净利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保守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0（打平）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中性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50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15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22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46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乐观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25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100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971800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说明：C 端以打平为主；盈利主要来自 B 端与会客厅；建议“先锁赞助、再定档期”，确保正向现金流。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463040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0" b="1">
                <a:solidFill>
                  <a:srgbClr val="C9A24B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788920"/>
            <a:ext cx="8229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保障 · 分工 · 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38862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4F6F9"/>
                </a:solidFill>
                <a:latin typeface="Microsoft YaHei"/>
                <a:ea typeface="Microsoft YaHei"/>
              </a:rPr>
              <a:t>复旦品牌保护 · 双平台价值 · 分工 · 倒排 · 可行性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复旦品牌价值保护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10/15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署名策略：复旦以“学术指导 / 支持单位 · 研究中心背书”出现，由公司/俱乐部主办承办，规避全责主办的条条框框，同时保留背书价值。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准入门槛：邀约审核制 + 收费筛选；以甲方实体为主；明令屏蔽直销/传销/纯资源掮客。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嘉宾把关：对赞助方与嘉宾做背景尽调，防止不良品牌绑定复旦。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内容合规：学术中立、外事纪律；不涉政治/宗教敏感；翻译审校。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法务财务：三方协议 + 赞助合同 + 发票税务规范；公益/义拍专款专用。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危机预案：统一对外口径、媒体审稿、突发事件应对流程。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双平台价值最大化（复旦 × CGC）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365760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365760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3383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复旦（学术平台）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200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1E2933"/>
                </a:solidFill>
                <a:latin typeface="Microsoft YaHei"/>
                <a:ea typeface="Microsoft YaHei"/>
              </a:rPr>
              <a:t>智库背书、政商对话、大学-园区-产业招商联动、明确会员标准；提升活动规格与信任度，带来招商、课题与会籍收入。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417320"/>
            <a:ext cx="365760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417320"/>
            <a:ext cx="365760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463040"/>
            <a:ext cx="3383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CGC（领事平台）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68880"/>
            <a:ext cx="3200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1E2933"/>
                </a:solidFill>
                <a:latin typeface="Microsoft YaHei"/>
                <a:ea typeface="Microsoft YaHei"/>
              </a:rPr>
              <a:t>70+国总领事、金茂88楼会客厅（自用+活动折扣）、海外部长/总理接待、国别推介；带来领事出席、海外落地、会客厅挂牌与出海对接。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6" y="1417320"/>
            <a:ext cx="365760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417320"/>
            <a:ext cx="3657600" cy="8229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6" y="1463040"/>
            <a:ext cx="3383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B2A4A"/>
                </a:solidFill>
                <a:latin typeface="Microsoft YaHei"/>
                <a:ea typeface="Microsoft YaHei"/>
              </a:rPr>
              <a:t>1+1&gt;2 的结合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468880"/>
            <a:ext cx="3200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1E2933"/>
                </a:solidFill>
                <a:latin typeface="Microsoft YaHei"/>
                <a:ea typeface="Microsoft YaHei"/>
              </a:rPr>
              <a:t>以总领事资源为“高位”势能，以复旦背书为信任基石，连接海外供给与国内甲方需求，做出海落地/招商/交易撮合的增值服务。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表八 · 分工与职责（RACI）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12/15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工作模块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主责方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配合方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交付/目标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总领事邀请与接待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 / 资源侧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5–8 国领事出席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场地与（可选）宴请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 / 资源侧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主办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场地锁定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B 端赞助招募（≥30万）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CGC/资源侧 + 主办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复旦背书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5–8 家理事/冠名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参会招募（300人）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复旦 / 流量侧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CGC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甲方为主 300 人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方案与执行落地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复旦 / 流量侧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全体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执行方案 + rundown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城市会客厅政府对接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复旦 / 流量侧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政府/园区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揭牌纳入首场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学术背书与合规把关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复旦研究中心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全体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中立 / 合规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07992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说明：分工明确、边做边调；“先锁赞助与政府，再定档期与规模”。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表九 · 40 天倒排执行计划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13/15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关键动作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交付</a:t>
                      </a:r>
                    </a:p>
                  </a:txBody>
                  <a:tcPr anchor="ctr" marL="54864" marR="54864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T-40 ~ T-35 立项定档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三方分工确认、档期（避忌日）、主题定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框架共识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T-35 ~ T-28 资源锁定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领事名单/搭配、场地、B端赞助意向、政府报批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领事+场地+赞助意向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T-28 ~ T-18 方案落地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议程rundown、票务/赞助合同、嘉宾、翻译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合同 + 议程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T-18 ~ T-7 招募推广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参会招募、媒体、物料、彩排脚本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300人报名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T-7 ~ T-1 现场筹备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彩排、接待动线、物料到位、政府流程确认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就绪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T0 活动执行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论坛 + 揭牌 + 酒会对接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3"/>
                          </a:solidFill>
                          <a:latin typeface="Microsoft YaHei"/>
                          <a:ea typeface="Microsoft YaHei"/>
                        </a:rPr>
                        <a:t>交付 + 复盘</a:t>
                      </a:r>
                    </a:p>
                  </a:txBody>
                  <a:tcPr anchor="ctr" marL="54864" marR="54864" marT="18288" marB="18288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23944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Microsoft YaHei"/>
                <a:ea typeface="Microsoft YaHei"/>
              </a:rPr>
              <a:t>说明：请区领导/政府报批需≥40天；定嘉宾需≥15天；务必倒排预留时间。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可行性评估（务实）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14/15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50" b="0">
                <a:solidFill>
                  <a:srgbClr val="1E2933"/>
                </a:solidFill>
                <a:latin typeface="Microsoft YaHei"/>
                <a:ea typeface="Microsoft YaHei"/>
              </a:rPr>
              <a:t>可达：300 人可行，但需热门国别搭配 + 政府背书/会客厅揭牌提规格 + 高认知嘉宾。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50" b="0">
                <a:solidFill>
                  <a:srgbClr val="1E2933"/>
                </a:solidFill>
                <a:latin typeface="Microsoft YaHei"/>
                <a:ea typeface="Microsoft YaHei"/>
              </a:rPr>
              <a:t>收费：C 端低门槛（188–300）现实可行；高价 C 端（3000–5000）不可行（仅 50–100 人）。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50" b="0">
                <a:solidFill>
                  <a:srgbClr val="1E2933"/>
                </a:solidFill>
                <a:latin typeface="Microsoft YaHei"/>
                <a:ea typeface="Microsoft YaHei"/>
              </a:rPr>
              <a:t>关键风险：B 端赞助是唯一盈利来源且最难 → 必须“先锁赞助、再定档期”。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50" b="0">
                <a:solidFill>
                  <a:srgbClr val="1E2933"/>
                </a:solidFill>
                <a:latin typeface="Microsoft YaHei"/>
                <a:ea typeface="Microsoft YaHei"/>
              </a:rPr>
              <a:t>会客厅：政府/园区挂牌=天然赞助，强烈建议纳入首场；晚宴不做（减分/亏损）。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50" b="0">
                <a:solidFill>
                  <a:srgbClr val="1E2933"/>
                </a:solidFill>
                <a:latin typeface="Microsoft YaHei"/>
                <a:ea typeface="Microsoft YaHei"/>
              </a:rPr>
              <a:t>政府：报批需≥40天；政府间不可交叉站台（首场只对接一家，如杨浦）。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C9A24B"/>
                </a:solidFill>
                <a:latin typeface="Microsoft YaHei"/>
                <a:ea typeface="Microsoft YaHei"/>
              </a:rPr>
              <a:t>●  </a:t>
            </a:r>
            <a:r>
              <a:rPr sz="1550" b="0">
                <a:solidFill>
                  <a:srgbClr val="1E2933"/>
                </a:solidFill>
                <a:latin typeface="Microsoft YaHei"/>
                <a:ea typeface="Microsoft YaHei"/>
              </a:rPr>
              <a:t>可持续：国家轮动（东南亚→北欧→南美）+ 会客厅标准化复制 + 出海服务二次变现。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188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9A24B"/>
                </a:solidFill>
                <a:latin typeface="Microsoft YaHei"/>
                <a:ea typeface="Microsoft YaHei"/>
              </a:rPr>
              <a:t>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77724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2A4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554480"/>
            <a:ext cx="1014984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554480"/>
            <a:ext cx="9784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三方确认分工与分润，先锁定 B 端赞助意向（≥30万）与政府会客厅。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77724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78608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2A4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578608"/>
            <a:ext cx="1014984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2578608"/>
            <a:ext cx="9784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出具《活动执行方案》+《对外赞助/招商方案》两份文件。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02736"/>
            <a:ext cx="77724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02736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2A4A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3602736"/>
            <a:ext cx="1014984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3602736"/>
            <a:ext cx="9784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提供拟邀总领事名单与国别搭配，确认档期（避开忌日）。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26864"/>
            <a:ext cx="77724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626864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2A4A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626864"/>
            <a:ext cx="1014984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784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E2933"/>
                </a:solidFill>
                <a:latin typeface="Microsoft YaHei"/>
                <a:ea typeface="Microsoft YaHei"/>
              </a:rPr>
              <a:t>锁定经贸/金茂场地与议程 rundown，启动参会与赞助招募。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Microsoft YaHei"/>
                <a:ea typeface="Microsoft YaHei"/>
              </a:rPr>
              <a:t>首场·出海东南亚 总领事商务论坛 · 策划 · 执行 · 赞助落地方案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1828800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先跑通模式，再放大规模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74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4F6F9"/>
                </a:solidFill>
                <a:latin typeface="Microsoft YaHei"/>
                <a:ea typeface="Microsoft YaHei"/>
              </a:rPr>
              <a:t>以领事为高位、以复旦为背书，把首场做成可复制的正向现金流样板。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9A24B"/>
                </a:solidFill>
                <a:latin typeface="Microsoft YaHei"/>
                <a:ea typeface="Microsoft YaHei"/>
              </a:rPr>
              <a:t>首场·出海东南亚 总领事商务论坛 · 总领文化传播（筹）× 复旦 × CGC 总领事俱乐部 · V1.0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