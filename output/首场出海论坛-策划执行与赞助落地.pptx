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总领文化传播（筹）× 复旦 × CGC 总领事俱乐部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首场·出海东南亚 总领事商务论坛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29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F4F6F9"/>
                </a:solidFill>
                <a:latin typeface="Microsoft YaHei"/>
                <a:ea typeface="Microsoft YaHei"/>
              </a:rPr>
              <a:t>策划 · 执行 · 赞助落地方案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663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东南亚六国+日韩 · 300人 · 论坛(免费)+轻社交酒会 · 2026 年 9 月 28 日（周一 · 农历八月十八）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Microsoft YaHei"/>
                <a:ea typeface="Microsoft YaHei"/>
              </a:rPr>
              <a:t>主体：总领文化传播有限公司（筹）　|　V2.0 · 建议稿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目标 · 定位 · 择期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4F6F9"/>
                </a:solidFill>
                <a:latin typeface="Microsoft YaHei"/>
                <a:ea typeface="Microsoft YaHei"/>
              </a:rPr>
              <a:t>跑通正向现金流 · 沉淀核心理事 · 黄道吉日 9/28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一、目标与定位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01/18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Microsoft YaHei"/>
                <a:ea typeface="Microsoft YaHei"/>
              </a:rPr>
              <a:t>三大目标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验证“可正向收费、正向现金流”的商业模式——首场即跑通闭环。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在会场讲清服务流线：出海落地、政府对接、资源撮合。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招募 20–30 名有门槛、有资源的核心理事/会员，沉淀圈层。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5349240" cy="4572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Microsoft YaHei"/>
                <a:ea typeface="Microsoft YaHei"/>
              </a:rPr>
              <a:t>首场定位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E2933"/>
                </a:solidFill>
                <a:latin typeface="Microsoft YaHei"/>
                <a:ea typeface="Microsoft YaHei"/>
              </a:rPr>
              <a:t>主题：跨境出海——东南亚六国（新加坡/马来西亚/泰国/印尼/越南/菲律宾）为主体，日本、韩国加持。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E2933"/>
                </a:solidFill>
                <a:latin typeface="Microsoft YaHei"/>
                <a:ea typeface="Microsoft YaHei"/>
              </a:rPr>
              <a:t>人群：有真实出海需求的中小微“甲方”实体企业为主，严控乙方/直销。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E2933"/>
                </a:solidFill>
                <a:latin typeface="Microsoft YaHei"/>
                <a:ea typeface="Microsoft YaHei"/>
              </a:rPr>
              <a:t>规模：300 人（弹性 200–400），保证对总领事的吸引力与场面。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E2933"/>
                </a:solidFill>
                <a:latin typeface="Microsoft YaHei"/>
                <a:ea typeface="Microsoft YaHei"/>
              </a:rPr>
              <a:t>形式：下午闭门商务论坛（免费·审核制）+ 傍晚轻社交酒会；不做晚宴。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400" b="0">
                <a:solidFill>
                  <a:srgbClr val="1E2933"/>
                </a:solidFill>
                <a:latin typeface="Microsoft YaHei"/>
                <a:ea typeface="Microsoft YaHei"/>
              </a:rPr>
              <a:t>时间地点：2026 年 9 月 28 日（周一 · 黄道吉日）；上海经贸大厦 / 金茂（300–400 容量）。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表一 · 活动概览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02/18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活动名称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首场·出海东南亚 总领事商务论坛（暂定）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主题方向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跨境出海：东南亚六国 + 日韩加持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日期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2026 年 9 月 28 日（周一 · 农历八月十八，黄道吉日）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时段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下午 13:00–18:30（半天，含傍晚酒会）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地点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上海经贸大厦 / 金茂（可容纳 300–400 人）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规模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 人（弹性 200–400）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形式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下午闭门论坛（免费·审核制）+ 傍晚轻社交酒会；不做晚宴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核心嘉宾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东南亚+东亚 8 国总领事 + 成功出海企业家（实操案例）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参会定位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有真实出海需求的中小微甲方实体企业；严控乙方/直销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主办/承办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总领文化传播（筹）承办并作收款主体；复旦学术背书；CGC 领事资源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9612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说明：首场以“跑通模式、沉淀理事”为目标，务实可落地；复旦仅作学术背书、不作收款主体。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择期：黄道吉日 2026/9/28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03/18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2194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</a:rPr>
              <a:t>活动日期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2026 年 9 月 28 日（周一 · 农历八月十八）
（周一 · 下午 13:00–18:30）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5696712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08760"/>
            <a:ext cx="5394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【宜】开业 · 开市 · 交易 · 立券 · 签订合同 · 挂匾 · 纳财 · 会友 · 祈福 · 入宅
【忌】出行 · 安葬 · 栽种 · 伐木
【冲】蛇日冲猪(己亥) 煞东（属猪贵宾可安排避席/合影）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11274552" cy="548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Microsoft YaHei"/>
                <a:ea typeface="Microsoft YaHei"/>
              </a:rPr>
              <a:t>择此日之由：宜“开业/开市/签订合同/会友”——恰好承载论坛、城市会客厅揭牌与理事签约。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备选一：2026 年 9 月 22 日（周二 · 农历八月十二）——宜开市/交易/立券/签订合同/纳财。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备选二：国庆节后工作日（10 月 8 日起）——若需 10 月；10 月 1–7 为国庆黄金周，不宜办商务活动。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1">
                <a:solidFill>
                  <a:srgbClr val="C9A24B"/>
                </a:solidFill>
                <a:latin typeface="Microsoft YaHei"/>
                <a:ea typeface="Microsoft YaHei"/>
              </a:rPr>
              <a:t>·  </a:t>
            </a:r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2026 中秋 9/25–27 放假、国庆 10/1–7 放假调休（10/8 恢复上班）。“10 月初”多落在黄金周，人员外出、不利招募与政府报批，故首选 9 月底（9/28）。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具体国家：东南亚六国 + 日韩加持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04/18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首场主体 · 东南亚六国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737360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新加坡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4872" y="1691640"/>
            <a:ext cx="1737360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1691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马来西亚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691640"/>
            <a:ext cx="1737360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4" y="1691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泰国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91640"/>
            <a:ext cx="1737360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1691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印度尼西亚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1691640"/>
            <a:ext cx="1737360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691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越南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691640"/>
            <a:ext cx="1737360" cy="7772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691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菲律宾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Microsoft YaHei"/>
                <a:ea typeface="Microsoft YaHei"/>
              </a:rPr>
              <a:t>加持提升规格 · 东亚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737360" cy="7772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0040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Microsoft YaHei"/>
                <a:ea typeface="Microsoft YaHei"/>
              </a:rPr>
              <a:t>日本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04872" y="3200400"/>
            <a:ext cx="1737360" cy="7772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320040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Microsoft YaHei"/>
                <a:ea typeface="Microsoft YaHei"/>
              </a:rPr>
              <a:t>韩国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11274552" cy="1554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074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Microsoft YaHei"/>
                <a:ea typeface="Microsoft YaHei"/>
              </a:rPr>
              <a:t>国别推介重点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E2933"/>
                </a:solidFill>
                <a:latin typeface="Microsoft YaHei"/>
                <a:ea typeface="Microsoft YaHei"/>
              </a:rPr>
              <a:t>新加坡（总部/金融/转口）· 马来西亚（电子/清真/数据中心）· 泰国（汽车与新能源配套）
印尼（资源/消费/数字经济）· 越南（电子/纺织/制造转移）· 菲律宾（消费/BPO/基建）
日本（高端制造/消费/科技）· 韩国（半导体/美妆/文化科技）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活动方案与议程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4F6F9"/>
                </a:solidFill>
                <a:latin typeface="Microsoft YaHei"/>
                <a:ea typeface="Microsoft YaHei"/>
              </a:rPr>
              <a:t>论坛(免费) + 轻社交酒会（不做晚宴） · 详细议程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表三 · 详细议程（2026/9/28 周一 下午）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05/18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28"/>
                <a:gridCol w="3156874"/>
                <a:gridCol w="3156874"/>
                <a:gridCol w="3156874"/>
              </a:tblGrid>
              <a:tr h="32983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环节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内容要点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负责方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13:00–13:45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签到 · 茶歇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领事/嘉宾/媒体接待、动线引导（免费·审核入场）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CGC+主办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13:45–14:00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暖场入座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宣传片、展位参观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主办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14:00–14:10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主持开场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介绍出席嘉宾与议程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主持人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14:10–14:20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主办致辞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复旦学术背书致辞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复旦/主办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14:20–14:30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领团致辞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领团团长/总领事代表致辞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CGC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14:30–15:05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主旨演讲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东南亚营商环境与出海机遇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15:05–15:55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国别推介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新/马/泰/印尼/越/菲 轮番推介（各6–8min）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各国总领事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15:55–16:10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茶歇 · 合影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媒体拍摄、集体合影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主办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16:10–16:30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会客厅揭牌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政府/园区领导 + 领事 + 主办 揭牌仪式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政府+CGC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16:30–17:10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出海案例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企业家实操分享（泰/越/印尼案例，2–3位）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主办邀请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17:10–17:40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理事宣讲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赞助理事品牌宣讲（5–6家×5min）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主办(B端)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17:40–17:50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服务发布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出海服务流线 + 国家会客厅计划发布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主办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29837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17:50–18:30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酒会 · 闭门对接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分国别对接桌：理事×总领事深度对接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CGC+主办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8931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说明：不设晚宴；全程配同声传译/同屏翻译；日韩领事可安排出席致意或纳入次场，视确认情况定。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盈利逻辑：大活动拉赞助、小活动收费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06/18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下午论坛全部免费（审核制）——做大基数、保护品牌、提升领事出席意愿。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收入来自三处：B 端赞助（核心）、增值收费项目（展位/布展/冠名）、城市会客厅挂牌（政府/园区）。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不靠现场会务门票收费；以 C 端免费换取更强的招商与赞助势能。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核心：连接总领事（供给）+ 甲方企业（需求），提供 1+1&gt;2 的增值服务。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700" b="0">
                <a:solidFill>
                  <a:srgbClr val="1E2933"/>
                </a:solidFill>
                <a:latin typeface="Microsoft YaHei"/>
                <a:ea typeface="Microsoft YaHei"/>
              </a:rPr>
              <a:t>二次变现：出海考察团（部长/总理接待）、海外发布会/地推、交易撮合。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669280"/>
            <a:ext cx="11274552" cy="6400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B2A4A"/>
                </a:solidFill>
                <a:latin typeface="Microsoft YaHei"/>
                <a:ea typeface="Microsoft YaHei"/>
              </a:rPr>
              <a:t>一句话：下午论坛免费做大基数 → B 端赞助 + 展位增值 + 会客厅挂牌 → 覆盖成本并盈利。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收费与赞助落地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4F6F9"/>
                </a:solidFill>
                <a:latin typeface="Microsoft YaHei"/>
                <a:ea typeface="Microsoft YaHei"/>
              </a:rPr>
              <a:t>下午免费 · B 端赞助 · 展位增值 · 会客厅 · 盈亏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表四 · 参会报名（下午论坛免费 · 审核制）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07/18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28"/>
                <a:gridCol w="3156874"/>
                <a:gridCol w="3156874"/>
                <a:gridCol w="315687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席别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费用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名额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权益 / 说明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甲方企业席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免费（审核邀约）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150–200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论坛全程 + 茶歇 + 酒会 + 对接机会（优先甲方实体）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生态/观察席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免费（审核报名）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80–120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论坛全程 + 茶歇（乙方/服务商限额）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闭门对接圆桌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不单独售票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12–24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与总领事分国别深度对接（理事/赞助专享）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0779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说明：遵循“下午活动尽量免费、以审核控质量”；不设现场门票收入，收入转向 B 端赞助与增值项目；免费+审核既扩基数又保护复旦品牌。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表五 · B 端赞助方案（核心营收）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08/18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28"/>
                <a:gridCol w="3156874"/>
                <a:gridCol w="3156874"/>
                <a:gridCol w="315687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档位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建议价格(万元)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名额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核心权益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大会首席冠名（独家）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30–50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冠名署名+主旨演讲(10min)+闭门对接+全程主视觉+媒体首位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联合主办/战略赞助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15–20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2–3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演讲位(8min)+理事席+闭门对接+主视觉露出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国别专场赞助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8–15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3–6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冠名某国别推介环节+对接该国领事+露出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理事品牌赞助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5–8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5–8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台上宣讲(5min)+闭门酒会对接+理事身份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公益/文化赞助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3–5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若干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公益环节露出+社会责任背书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7588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说明：B 端为核心营收；目标 ≥40–50万覆盖成本并盈利；权益核心=与总领事闭门对接+甲方资源对接+品牌背书。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表六 · 增值收费项目（展位 · 布展 · 传播）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09/18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建议价格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标准展位（3m×2m）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1–2 万/个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展台+桌椅+楣板+电源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特装/品牌布展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3–8 万/个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定制搭建 + 黄金位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主背景墙 KV logo 位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1–3 万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主视觉品牌露出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签到区/导视冠名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1–2 万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签到背景 + 导视露出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资料袋/入袋物料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3千–1万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会刊/名录/物料入袋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参会企业名录广告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5千–2万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电子/纸质名录版面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茶歇/酒会冠名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2–5 万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茶歇酒会区品牌冠名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同传/直播/大屏冠名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2–5 万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直播片头 + 大屏轮播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伴手礼冠名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1–3 万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定制伴手礼品牌植入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出海考察团席位预售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1–5 万/席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后续国别考察团优先席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9612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说明：以上为“轻资产可收费项目”，在不提高参会门槛的前提下增加收入；可灵活组合进赞助权益包。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表七 · 城市会客厅挂牌（政府/园区赞助）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10/18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28"/>
                <a:gridCol w="3156874"/>
                <a:gridCol w="3156874"/>
                <a:gridCol w="315687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形式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建议费用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权益 / 价值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城市/国家会客厅挂牌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园区/政府冠名挂牌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10–20万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现场揭牌+媒体+国别窗口+招商通道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免费场地折算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园区提供 200–300㎡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折合租金价值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常态化会客厅空间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政府站台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副区长/商务委出席揭牌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提升活动规格与媒体规格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0779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说明：会客厅挂牌=政府/园区以“赞助方”身份付费，天然赞助；需≥40天报批；政府间不可交叉站台（首场只对接一家）。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表八 · 成本预算（300人 · 无晚宴）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11/18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成本项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预算(万元)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场地（经贸/金茂, 300人+舞台）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3–6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国企/复旦或可减免打折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总领事接待与礼遇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3–5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接待、伴手礼、用车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嘉宾邀请与差旅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2–3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出海企业家分享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同声传译与设备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2–3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多语种/同屏翻译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物料搭建与视觉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2–4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背板、展位、签到、设计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轻社交酒会（茶歇+饮品+轻食）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3–4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人均约100–150元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摄影摄像与媒体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1–2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传播物料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执行人员与杂费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2–3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现场统筹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</a:p>
                  </a:txBody>
                  <a:tcPr anchor="ctr" marL="45720" marR="45720" marT="9144" marB="9144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18–30（中值≈22）</a:t>
                      </a:r>
                    </a:p>
                  </a:txBody>
                  <a:tcPr anchor="ctr" marL="45720" marR="45720" marT="9144" marB="9144"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场地与总领事接待为可压缩项</a:t>
                      </a:r>
                    </a:p>
                  </a:txBody>
                  <a:tcPr anchor="ctr" marL="45720" marR="45720" marT="9144" marB="9144">
                    <a:solidFill>
                      <a:srgbClr val="C9A24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说明：以 300 人、无晚宴测算；若场地/接待减免，成本可压至 15 万以内。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表九 · 盈亏测算（三档场景，单位：万元）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12/18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4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28"/>
                <a:gridCol w="1894124"/>
                <a:gridCol w="1894124"/>
                <a:gridCol w="1894124"/>
                <a:gridCol w="1894124"/>
                <a:gridCol w="189412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B端赞助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增值项目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会客厅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成本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净利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保守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40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22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中性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60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66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乐观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100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20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26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124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07792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说明：参会全部免费，收入=B端赞助+增值项目（展位/布展/冠名）+会客厅挂牌；建议“先锁赞助与增值、再定档期”。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>
                <a:solidFill>
                  <a:srgbClr val="C9A24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78892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保障 · 分工 · 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4F6F9"/>
                </a:solidFill>
                <a:latin typeface="Microsoft YaHei"/>
                <a:ea typeface="Microsoft YaHei"/>
              </a:rPr>
              <a:t>复旦品牌保护 · 双平台价值 · 分工 · 倒排 · 可行性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复旦品牌价值保护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13/18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署名策略：复旦以“学术指导 / 支持单位 · 研究中心背书”出现；由公司/俱乐部承办、作为收款与合同主体，复旦不直接收取门票/赞助，规避条条框框、守住品牌价值。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免费+审核：下午论坛免费、实名审核准入，避免“售票商业化”损伤复旦品牌，同时严控参会质量。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准入门槛：以甲方实体为主；明令屏蔽直销/传销/纯资源掮客。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嘉宾把关：对赞助方与嘉宾做背景尽调，防止不良品牌绑定复旦。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内容合规：学术中立、外事纪律；不涉政治/宗教敏感；翻译审校。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法务财务：三方协议 + 赞助合同 + 发票税务规范；公益/义拍专款专用。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双平台价值最大化（复旦 × CGC）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14/18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5760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3383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复旦（学术平台）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933"/>
                </a:solidFill>
                <a:latin typeface="Microsoft YaHei"/>
                <a:ea typeface="Microsoft YaHei"/>
              </a:rPr>
              <a:t>智库背书、政商对话、大学-园区-产业招商联动、明确会员标准；提升活动规格与信任度，带来招商、课题与会籍收入。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4173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417320"/>
            <a:ext cx="365760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463040"/>
            <a:ext cx="3383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CGC（领事平台）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6888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933"/>
                </a:solidFill>
                <a:latin typeface="Microsoft YaHei"/>
                <a:ea typeface="Microsoft YaHei"/>
              </a:rPr>
              <a:t>70+国总领事、金茂88楼会客厅（自用+活动折扣）、海外部长/总理接待、国别推介；带来领事出席、海外落地、会客厅挂牌与出海对接。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6" y="1417320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6" y="1417320"/>
            <a:ext cx="3657600" cy="8229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463040"/>
            <a:ext cx="3383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B2A4A"/>
                </a:solidFill>
                <a:latin typeface="Microsoft YaHei"/>
                <a:ea typeface="Microsoft YaHei"/>
              </a:rPr>
              <a:t>1+1&gt;2 的结合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468880"/>
            <a:ext cx="3200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E2933"/>
                </a:solidFill>
                <a:latin typeface="Microsoft YaHei"/>
                <a:ea typeface="Microsoft YaHei"/>
              </a:rPr>
              <a:t>以总领事资源为“高位”势能，以复旦背书为信任基石，连接海外供给与国内甲方需求，做出海落地/招商/交易撮合的增值服务。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表十 · 分工与职责（RACI）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15/18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928"/>
                <a:gridCol w="3156874"/>
                <a:gridCol w="3156874"/>
                <a:gridCol w="315687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工作模块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主责方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配合方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交付/目标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总领事邀请与接待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CGC / 资源侧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主办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东南亚为主 6–8 国领事出席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场地与酒会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CGC / 资源侧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主办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场地锁定 + 酒会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B 端赞助+增值招募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CGC/资源侧 + 主办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复旦背书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赞助+展位 ≥40–50万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参会招募（300人·免费审核）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复旦 / 流量侧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CGC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甲方为主 300 人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方案与执行落地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复旦 / 流量侧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全体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执行方案 + 详细议程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城市会客厅政府对接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复旦 / 流量侧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政府/园区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揭牌纳入首场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学术背书与合规把关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复旦研究中心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全体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中立 / 合规 / 不作收款主体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43984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说明：分工明确、边做边调；“先锁赞助与政府，再定档期与规模”。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表十一 · 倒排执行计划（锚定 9/28）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16/18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45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阶段（日期）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关键动作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交付</a:t>
                      </a:r>
                    </a:p>
                  </a:txBody>
                  <a:tcPr anchor="ctr" marL="45720" marR="45720" marT="9144" marB="9144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T-40 8/19–8/24 立项定档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三方分工确认、锁定 9/28、主题定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框架共识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T-35 8/24–8/31 资源锁定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领事名单/搭配、场地、赞助+展位意向、政府报批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领事+场地+赞助意向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T-28 8/31–9/10 方案落地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议程定稿、赞助/展位合同、嘉宾、翻译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合同 + 议程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T-18 9/10–9/21 招募推广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免费审核报名、媒体、物料、彩排脚本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300人报名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T-7 9/21–9/27 现场筹备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彩排、接待动线、物料到位、政府流程确认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就绪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T0 9/28 活动执行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论坛 + 国别推介 + 揭牌 + 酒会对接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3"/>
                          </a:solidFill>
                          <a:latin typeface="Microsoft YaHei"/>
                          <a:ea typeface="Microsoft YaHei"/>
                        </a:rPr>
                        <a:t>交付 + 复盘</a:t>
                      </a:r>
                    </a:p>
                  </a:txBody>
                  <a:tcPr anchor="ctr" marL="45720" marR="45720" marT="9144" marB="9144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59936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Microsoft YaHei"/>
                <a:ea typeface="Microsoft YaHei"/>
              </a:rPr>
              <a:t>说明：政府报批需≥40天，须 8 月中下旬启动；注意中秋(9/25–27)落在筹备期，物料/人员提前备妥。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可行性评估（务实）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17/18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择期：首选 9/28（黄道吉日，宜开业/签约/会友）；避开中秋(9/25–27)与国庆黄金周(10/1–7)；10 月方案建议 10/8 后。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收费：下午论坛免费（审核）现实且利于招商；盈利靠 B 端赞助 + 增值项目 + 会客厅，不靠门票。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关键风险：B 端赞助与增值招商是盈利关键 → 必须“先锁赞助与展位、再定档期”。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会客厅：政府/园区挂牌=天然赞助，纳入首场；晚宴不做（减分/亏损）。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政府：报批需≥40天（即 8 月中下旬启动）；政府间不可交叉站台（首场只对接一家，如杨浦）。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50" b="1">
                <a:solidFill>
                  <a:srgbClr val="C9A24B"/>
                </a:solidFill>
                <a:latin typeface="Microsoft YaHei"/>
                <a:ea typeface="Microsoft YaHei"/>
              </a:rPr>
              <a:t>●  </a:t>
            </a:r>
            <a:r>
              <a:rPr sz="1550" b="0">
                <a:solidFill>
                  <a:srgbClr val="1E2933"/>
                </a:solidFill>
                <a:latin typeface="Microsoft YaHei"/>
                <a:ea typeface="Microsoft YaHei"/>
              </a:rPr>
              <a:t>可持续：国家轮动（东南亚→东北亚/北欧→南美）+ 会客厅复制 + 出海服务二次变现。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109728"/>
            <a:ext cx="1188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9A24B"/>
                </a:solidFill>
                <a:latin typeface="Microsoft YaHei"/>
                <a:ea typeface="Microsoft YaHei"/>
              </a:rPr>
              <a:t>18/18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77724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777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554480"/>
            <a:ext cx="1014984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554480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锁定档期 9 月 28 日（黄道吉日），同步报批政府会客厅（需≥40天，8 月中下旬启动）。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77724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777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578608"/>
            <a:ext cx="1014984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578608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优先锁定 B 端赞助与增值（展位/冠名）意向 ≥40–50万，覆盖成本并盈利。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02736"/>
            <a:ext cx="77724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02736"/>
            <a:ext cx="777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602736"/>
            <a:ext cx="1014984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3602736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确认拟邀 8 国总领事名单与出席、国别推介分工。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26864"/>
            <a:ext cx="77724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26864"/>
            <a:ext cx="777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2A4A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626864"/>
            <a:ext cx="1014984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626864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2933"/>
                </a:solidFill>
                <a:latin typeface="Microsoft YaHei"/>
                <a:ea typeface="Microsoft YaHei"/>
              </a:rPr>
              <a:t>定稿详细议程与执行方案，启动免费审核报名与媒体传播。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Microsoft YaHei"/>
                <a:ea typeface="Microsoft YaHei"/>
              </a:rPr>
              <a:t>首场·出海东南亚 总领事商务论坛 · 策划 · 执行 · 赞助落地方案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828800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先跑通模式，再放大规模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74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4F6F9"/>
                </a:solidFill>
                <a:latin typeface="Microsoft YaHei"/>
                <a:ea typeface="Microsoft YaHei"/>
              </a:rPr>
              <a:t>以领事为高位、以复旦为背书，把首场做成可复制的正向现金流样板。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9A24B"/>
                </a:solidFill>
                <a:latin typeface="Microsoft YaHei"/>
                <a:ea typeface="Microsoft YaHei"/>
              </a:rPr>
              <a:t>首场·出海东南亚 总领事商务论坛 · 总领文化传播（筹）× 复旦 × CGC 总领事俱乐部 · V2.0 · 建议稿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