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4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1234440"/>
            <a:ext cx="2240280" cy="224028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21240" y="1691640"/>
            <a:ext cx="1325880" cy="132588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合 作 方 案  ·  2026 秋 季 首 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54480"/>
            <a:ext cx="84124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 × 不动产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资产管理高级研修班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700" b="0" i="0">
                <a:solidFill>
                  <a:srgbClr val="C5D4E4"/>
                </a:solidFill>
                <a:latin typeface="WenQuanYi Micro Hei"/>
                <a:ea typeface="WenQuanYi Micro Hei"/>
                <a:cs typeface="WenQuanYi Micro Hei"/>
              </a:rPr>
              <a:t>不动产做主干，AI 做素养，圈层做长期价值。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87952"/>
            <a:ext cx="8046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面向上海及长三角不动产从业者的高性价比研修与资源连接方案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7492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14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5193792"/>
            <a:ext cx="1600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周期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6 个月 · 每月 1 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507492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14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5224" y="5193792"/>
            <a:ext cx="1600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班型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首期 25–60 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507492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14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6904" y="5193792"/>
            <a:ext cx="1600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定价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2.0–2.48 万元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507492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14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5193792"/>
            <a:ext cx="1600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开班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2026 年 11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767328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联 合 主 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1148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1  </a:t>
            </a:r>
            <a:r>
              <a:rPr sz="11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复旦大学住房政策研究中心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773168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2  </a:t>
            </a:r>
            <a:r>
              <a:rPr sz="11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杨浦区科技企业联合会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5431536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3  </a:t>
            </a:r>
            <a:r>
              <a:rPr sz="11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工商联房地产商会资产管理分会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目录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今天对齐什么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一条主线讲清楚：为什么做、三家怎么分工、复旦品牌用到哪一层、钱怎么分。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1051560" cy="84124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1051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801368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机会判断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地产进入资产管理时代，AI 正在改写岗位与工具。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624328"/>
            <a:ext cx="1051560" cy="84124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24328"/>
            <a:ext cx="1051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73405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项目定位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不是纯 AI 课，而是不动产实操 + AI 素养 + 行业圈层。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57016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557016"/>
            <a:ext cx="1051560" cy="84124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57016"/>
            <a:ext cx="1051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66744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产品设计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六个月班型、课程地图、师资与社群机制。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89704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489704"/>
            <a:ext cx="1051560" cy="84124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89704"/>
            <a:ext cx="1051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599432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主办与分成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三家联合主办；复旦品牌分层决定意识形态审核与财务分成。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22392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5422392"/>
            <a:ext cx="1051560" cy="84124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22392"/>
            <a:ext cx="1051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532120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推进节奏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9 月启动招生，11 月开班；先把培训做成入口。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01  机会判断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为什么是现在，为什么是不动产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行业在换赛道，人在换岗位。培训要接住这两股力，而不是再讲一遍通用 AI。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61188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361188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行业侧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从开发销售转向资产管理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10896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存量时代，持有、运营、处置成为主业。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02336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不良资产、REITs、资本化退出成为刚需话题。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3776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纯开发逻辑的课已经很难卖，资产管理才有人买单。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691640"/>
            <a:ext cx="361188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60" y="169164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514600"/>
            <a:ext cx="3611880" cy="41148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1810512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技术侧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 改写工具，但不改行业本质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10896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中年从业者有转型压力，但听不懂纯技术课。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402336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市场上 AI 课同质化严重，听半小时就触顶。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93776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真正能成交的，是「AI 用在不动产上能干什么」。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691640"/>
            <a:ext cx="361188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69164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514600"/>
            <a:ext cx="3611880" cy="41148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1810512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需求侧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买的是圈层，不是课件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10896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EMBA 动辄几十万，周期长、门槛高。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02336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两万元左右换一个可走动的行业圈子，更贴近当下。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93776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上海及长三角商会会员、国企、银行是现成客源。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02  项目定位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一句话讲清楚这门课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对外可以说 AI，对内必须守住不动产。否则既听不懂，也卖不掉。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247120" cy="12344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10789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不动产资产管理是主干，AI 只做基础素养。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0" i="0">
                <a:solidFill>
                  <a:srgbClr val="C5D4E4"/>
                </a:solidFill>
                <a:latin typeface="WenQuanYi Micro Hei"/>
                <a:ea typeface="WenQuanYi Micro Hei"/>
                <a:cs typeface="WenQuanYi Micro Hei"/>
              </a:rPr>
              <a:t>班集体、学员互访和长期圈层，才是复购与转介绍的真正产品。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822960" cy="1024128"/>
          </a:xfrm>
          <a:prstGeom prst="roundRect">
            <a:avLst>
              <a:gd name="adj" fmla="val 6000"/>
            </a:avLst>
          </a:prstGeom>
          <a:solidFill>
            <a:srgbClr val="8B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8229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不是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36976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一场通用 AI 公开课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不堆模型名词，不做成科技展讲解。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822960" cy="1024128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108960"/>
            <a:ext cx="8229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36976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不动产实操研修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资产管理、不良资产、REITs，对接本行工作。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2452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224528"/>
            <a:ext cx="822960" cy="1024128"/>
          </a:xfrm>
          <a:prstGeom prst="roundRect">
            <a:avLst>
              <a:gd name="adj" fmla="val 6000"/>
            </a:avLst>
          </a:prstGeom>
          <a:solidFill>
            <a:srgbClr val="8B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24528"/>
            <a:ext cx="8229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不是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52544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几十万级商学院项目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周期更短、价格更友好、行业更垂直。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2452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4224528"/>
            <a:ext cx="822960" cy="1024128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224528"/>
            <a:ext cx="8229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352544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高性价比行业圈层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用两万元左右进入可走动的不动产资源网。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40096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5340096"/>
            <a:ext cx="822960" cy="1024128"/>
          </a:xfrm>
          <a:prstGeom prst="roundRect">
            <a:avLst>
              <a:gd name="adj" fmla="val 6000"/>
            </a:avLst>
          </a:prstGeom>
          <a:solidFill>
            <a:srgbClr val="8B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340096"/>
            <a:ext cx="8229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不是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46811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一次听完就散的沙龙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六个月同班，才能把人变成可持续连接。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340096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5340096"/>
            <a:ext cx="822960" cy="1024128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340096"/>
            <a:ext cx="8229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46811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后续业务的流量入口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先把班做成品牌，再谈科创对接与 FA。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02  项目定位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学员真正在买什么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招生话术可以讲 AI，成交逻辑要讲圈层与转型。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10698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核心判断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多数人出来上课，不是来把 AI 学成专家，而是用可接受的成本进入一个高质量行业圈子，顺便补齐 AI 时代的常识。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461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91440" cy="13716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74136"/>
            <a:ext cx="502920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低成本替代 EMBA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长江商学院一类项目一上来就是几十万、周期长。本班用约 2 万元，换六个月可持续走动的同业关系。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461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91440" cy="13716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374136"/>
            <a:ext cx="502920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中年转型刚需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付费主力是有支付能力、又面临岗位迭代的中年从业者，不是应届学生。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91440" cy="13716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82896"/>
            <a:ext cx="502920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行业垂直才成交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客源来自房地产商会、国企、银行支行行长，以及广告、财税、律师等「百搭」上下游。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7548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754880"/>
            <a:ext cx="91440" cy="13716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882896"/>
            <a:ext cx="502920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AI 是入场券，不是主菜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半小时讲清工具地图即可。再深，听不懂；只讲地产、不带 AI，又缺当下话题。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02  项目定位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谁适合来，从哪里来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先吃透上海及长三角不动产圈层，再谈扩科创、做出海。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27432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2743200" cy="640080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核心盘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68880"/>
            <a:ext cx="241401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房地产商会会员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上海本地会员 + 苏浙皖异地商会。每月来一次上海，可接受。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91640"/>
            <a:ext cx="27432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1691640"/>
            <a:ext cx="2743200" cy="6400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6916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支付盘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468880"/>
            <a:ext cx="241401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中年转型从业者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有学费支付能力，对 AI 焦虑，需要新圈子和新话术。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91640"/>
            <a:ext cx="27432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691640"/>
            <a:ext cx="2743200" cy="640080"/>
          </a:xfrm>
          <a:prstGeom prst="roundRect">
            <a:avLst>
              <a:gd name="adj" fmla="val 6000"/>
            </a:avLst>
          </a:prstGeom>
          <a:solidFill>
            <a:srgbClr val="1C4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916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信用盘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468880"/>
            <a:ext cx="241401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国企 / 银行支行行长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不便入会，但需要资产、不良与客户资源对接。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691640"/>
            <a:ext cx="27432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0" y="1691640"/>
            <a:ext cx="2743200" cy="640080"/>
          </a:xfrm>
          <a:prstGeom prst="roundRect">
            <a:avLst>
              <a:gd name="adj" fmla="val 6000"/>
            </a:avLst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6916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连接盘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468880"/>
            <a:ext cx="241401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地产上下游「百搭」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广告、信息技术、财税、律师、二房东、社区商业。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8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19472"/>
            <a:ext cx="10698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获客原则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自有会员给面子、异地商协会秘书长做渠道（返佣 20%–25%）、国企与银行点对点邀请。外地客源不必强拉入会，用班级把人留下即可。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03  产品设计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班型怎么开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沿用已跑通的「六个月、每月一天、校内上课」标准配置，降低试错成本。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928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945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6 个月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743200"/>
            <a:ext cx="640080" cy="317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9260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从 5 个月拉长，给社群和互访留足时间。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6916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8928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课时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1945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每月 1 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2743200"/>
            <a:ext cx="640080" cy="317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29260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周五或周末集中授课，便于外地学员往返。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916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928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场地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1945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高校校内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02752" y="2743200"/>
            <a:ext cx="640080" cy="317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9260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证书、发票、场地一次性对齐，观感更稳。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776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1788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规模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805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25–60 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5029200"/>
            <a:ext cx="640080" cy="317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25 人起班，60 人更利于圈层生态；首期建议冲 40–60。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39776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1788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滚动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44805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每两月一期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07992" y="5029200"/>
            <a:ext cx="640080" cy="317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2" y="52120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不是一次性项目，做成可复制的班级产品。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9776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417880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班费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44805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5–10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02752" y="5029200"/>
            <a:ext cx="640080" cy="317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52120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从学费中预留，用于互访、聚餐和班委活动。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03  产品设计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六个月课程地图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每月一天主课 + 贯穿始终的学员单位互访。AI 只占必要篇幅，不动产实操占主干。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365760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64208"/>
            <a:ext cx="658368" cy="21214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658368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984248"/>
            <a:ext cx="2651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开班与 AI 素养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工具地图、场景入门、班委组建、破冰互访。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664208"/>
            <a:ext cx="365760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664208"/>
            <a:ext cx="658368" cy="21214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664208"/>
            <a:ext cx="658368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984248"/>
            <a:ext cx="2651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不动产资产管理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资产盘点、持有运营、现金流与估值框架。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64208"/>
            <a:ext cx="365760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64208"/>
            <a:ext cx="658368" cy="21214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64208"/>
            <a:ext cx="658368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84248"/>
            <a:ext cx="2651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不良资产处置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识别、尽调、重组、司法与市场化路径。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365760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658368" cy="21214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658368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51960"/>
            <a:ext cx="2651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REITs 与资本化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公募 REITs、证券化、退出与结构安排。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931920"/>
            <a:ext cx="365760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931920"/>
            <a:ext cx="658368" cy="212140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3931920"/>
            <a:ext cx="658368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251960"/>
            <a:ext cx="2651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AI 赋能资产运营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租赁、招商、客服、研报的轻量落地，不深挖算法。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931920"/>
            <a:ext cx="365760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931920"/>
            <a:ext cx="658368" cy="212140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3931920"/>
            <a:ext cx="658368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251960"/>
            <a:ext cx="2651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结业路演对接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小组课题、资源对接、结业仪式、同学会启动。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03  产品设计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谁来讲，凭什么相信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师资成本可控：以头部企业高管分享 + 不动产实操老师为主，不堆高价商学院牌。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6903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109728" cy="13716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92808"/>
            <a:ext cx="6355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AI 侧 · 科企联入口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腾讯、阿里，以及宇树、智元机器人等参展企业高管。杨浦科企联对接科创师资，讲产业趋势与可用工具。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72968"/>
            <a:ext cx="6903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72968"/>
            <a:ext cx="109728" cy="13716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74136"/>
            <a:ext cx="6355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不动产侧 · 商会入口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资产管理、不良处置、REITs 实操老师，由房商会资管分会组织本行师资。这是续班和转介绍的根基。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54296"/>
            <a:ext cx="6903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654296"/>
            <a:ext cx="109728" cy="13716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55464"/>
            <a:ext cx="6355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学术侧 · 复旦中心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课纲审定、校内场地、结业路径。用中心名义还是学校证书，决定审核深度和分成深度。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1691640"/>
            <a:ext cx="4160520" cy="44348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92024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课堂上要守住的边界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4231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 讲皮毛即可，半小时能讲清工具地图。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081528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太深听不懂，全是 AI 又听腻。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739896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不动产课能不能卖，取决于客群是否垂直。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398264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挂复旦名义的文案、讲师、涉外内容，须先过中心审。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5056632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讲师费用按「认圈子、滚动流量」来谈，不按商学院时薪来堆。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03  产品设计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班集体怎么运转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课只是由头。真正把人留住的，是班委、互访和滚动开班形成的圈层密度。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947672"/>
            <a:ext cx="438912" cy="438912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984248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开班建制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设班长、学习委员、组长。把 40–60 人拆成可走动的小组。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69164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60" y="1947672"/>
            <a:ext cx="438912" cy="438912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984248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每月主课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6032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校内一天集中授课，统一节奏，便于外地学员安排。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9164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5320" y="1947672"/>
            <a:ext cx="438912" cy="438912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984248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学员互访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56032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课间穿插单位参访，把课堂关系变成业务关系。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187952"/>
            <a:ext cx="438912" cy="438912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224528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班费活动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0060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预留 5–10 万元做聚餐、走访和小型沙龙，不另收费。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93192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0560" y="4187952"/>
            <a:ext cx="438912" cy="438912"/>
          </a:xfrm>
          <a:prstGeom prst="ellipse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2" y="4224528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滚动续班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80060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每两个月新开一期，老学员可回流当链接人。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931920"/>
            <a:ext cx="3657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5320" y="4187952"/>
            <a:ext cx="438912" cy="438912"/>
          </a:xfrm>
          <a:prstGeom prst="ellipse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4224528"/>
            <a:ext cx="2651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出口对接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800600"/>
            <a:ext cx="3200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结业后筛种子选手，进入科创对接与考察名单。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04  主办与分成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三家联合主办，各管一段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牌子可以并列，权责必须拆开。复旦管名义与审核，科企联管科创入口，商会管不动产圈层。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64208"/>
            <a:ext cx="370332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664208"/>
            <a:ext cx="3703320" cy="1170432"/>
          </a:xfrm>
          <a:prstGeom prst="roundRect">
            <a:avLst>
              <a:gd name="adj" fmla="val 6000"/>
            </a:avLst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487168"/>
            <a:ext cx="3703320" cy="347472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737360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复旦大学住房政策研究中心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学术审核 · 品牌边界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9923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课纲、讲师、招生文案审定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3931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校内场地与结业路径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793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中心非独立法人，学校是主管单位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1947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名义用得越深，审核越严、分成越高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664208"/>
            <a:ext cx="370332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51960" y="1664208"/>
            <a:ext cx="3703320" cy="1170432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2487168"/>
            <a:ext cx="3703320" cy="34747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1737360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上海市杨浦区科技企业联合会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科创入口 · B 端资源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99923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对接 AI / 机器人等企业师资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63931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杨浦园区、企业参访与赞助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793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后续科创大赛、特展的主场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91947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适合把班级活动打包给产业园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664208"/>
            <a:ext cx="370332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1664208"/>
            <a:ext cx="3703320" cy="1170432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2487168"/>
            <a:ext cx="3703320" cy="3474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1737360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上海市工商联房地产商会资产管理分会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客源盘 · 圈层运营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99923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上海及长三角不动产会员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63931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国企、银行与上下游「百搭」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2793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学员互访、班委、班费活动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91947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核心招生与转介绍出口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870448"/>
            <a:ext cx="11338560" cy="530352"/>
          </a:xfrm>
          <a:prstGeom prst="roundRect">
            <a:avLst>
              <a:gd name="adj" fmla="val 6000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925312"/>
            <a:ext cx="10972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原则：三家都上主办栏，但复旦的「品牌 / 意识形态」和「学校财务分成」是两笔账，必须分开谈，不能混成一句「给复旦一点」。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04  主办与分成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复旦品牌不是免费的：名义、意识形态、分成绑在一起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用中心名义是一层成本，用学校证书是另一层。前者可谈项目费，后者是学校制度分成。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27632"/>
            <a:ext cx="69037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627632"/>
            <a:ext cx="1417320" cy="1078992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141732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L1 建议默认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737360"/>
            <a:ext cx="5166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中心联合主办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对外写「住房政策研究中心联合主办」。三方联合结业，不开发票到学校，不用校徽做主视觉。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79776"/>
            <a:ext cx="69037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2779776"/>
            <a:ext cx="1417320" cy="1078992"/>
          </a:xfrm>
          <a:prstGeom prst="roundRect">
            <a:avLst>
              <a:gd name="adj" fmla="val 6000"/>
            </a:avLst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779776"/>
            <a:ext cx="141732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L2 学员点选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889504"/>
            <a:ext cx="5166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学校证书 + 学校发票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学费进学校账户，发复旦体系官方结业证。审核、收费上限、安全责任全部按学校非学历培训走。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931920"/>
            <a:ext cx="69037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3931920"/>
            <a:ext cx="1417320" cy="1078992"/>
          </a:xfrm>
          <a:prstGeom prst="roundRect">
            <a:avLst>
              <a:gd name="adj" fmla="val 6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31920"/>
            <a:ext cx="141732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L0 备选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041648"/>
            <a:ext cx="5166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不用复旦名义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仅科企联 + 资管分会上主办。品牌最弱，也最省审核。招生话术会明显变软，一般不作为主推。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627632"/>
            <a:ext cx="4251960" cy="4526280"/>
          </a:xfrm>
          <a:prstGeom prst="roundRect">
            <a:avLst>
              <a:gd name="adj" fmla="val 6000"/>
            </a:avLst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178308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意识形态与品牌红线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240280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25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不得使用校名、校徽做招生主视觉。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770632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25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不得暗示学历、学位或复旦学分。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300984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25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固定表述：住房政策研究中心联合主办。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831336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25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课纲、讲师、海报、涉外内容须中心审定。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361688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25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投资、移民、收益承诺不得挂复旦名义。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892040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25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中心会过问安全：不合规住宿、无保险不办。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422392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25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学校账户收费有金额上限，机票酒店宜外置。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04  主办与分成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品牌用到哪一层，钱就按哪一层分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L1 给中心品牌使用费；L2 给学校制度分成。两笔不能当成同一件事来谈。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64208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664208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121408"/>
            <a:ext cx="5486400" cy="36576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755648"/>
            <a:ext cx="5074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模式 A  ·  L1 中心名义（建议默认）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33472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学费进第三方账户，不占用学校抬头。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10128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复旦中心：品牌使用 + 课纲审定 + 场地协调，建议学费的 10%–15%（待中心书面确认）。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86784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渠道返佣 20%–25%、班费 5–10 万先扣。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剩余可分配收益：科企联 30% / 资管分会 35% / 运营执行 35%。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0096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结业证由三方联合颁发，不写学校学历口径。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64208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664208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121408"/>
            <a:ext cx="5486400" cy="36576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1755648"/>
            <a:ext cx="5074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模式 B  ·  L2 学校证书（仅点选）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33472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学费进学校账户，发官方结业证、开学校发票。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10128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复旦学校：非学历培训制度分成，待书面确认；按同类高校 50%–80% 预留（交大口径约 80%）。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86784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学校过问内容、安全、收费上限；意识形态审核最严。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63440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剩余再按科企联 30% / 资管分会 35% / 运营 35% 切。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340096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仅当学员明确要「学校证书 / 学校发票」时启用。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04  主办与分成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怎么报价，怎么分账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对外给一个干净的价格带；对内把渠道、班费、复旦品牌费、三方可分配一次说清。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47088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入门沟通价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约 2.0 万元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用于试探与关系户面子价，不作为对外主报价。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69164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847088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标准对外价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48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2.48 万元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974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主推档。覆盖讲师、场地、班费与渠道空间。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9164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847088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6A2A"/>
                </a:solidFill>
                <a:latin typeface="WenQuanYi Micro Hei"/>
                <a:ea typeface="WenQuanYi Micro Hei"/>
                <a:cs typeface="WenQuanYi Micro Hei"/>
              </a:rPr>
              <a:t>渠道结算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48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返佣 20%–25%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974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异地商协会秘书长、合作机构按此区间谈。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56235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50208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班级活动经费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学费中预留 5–10 万元，专款用于互访与班级活动，不另向学员加收。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840480"/>
            <a:ext cx="56235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950208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报价原则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当前高端商学院招生难，本班主打高性价比圈层，不与几十万项目正面比课时。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37760"/>
            <a:ext cx="56235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047488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不对外承诺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不承诺投资收益、移民结果或高校学历；证书只写三方联合结业，不写复旦学历口径。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937760"/>
            <a:ext cx="56235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5047488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渠道纪律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返佣只走约定渠道。复旦品牌费不从渠道返佣里挤，单独列项。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04  主办与分成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模式 A 三方分成测算（示意）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按 L1 中心名义、复旦品牌费 12%、渠道 22.5% 中位测算。数字用于三家对齐，待中心书面确认。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4114800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27632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27632"/>
            <a:ext cx="3566160" cy="420624"/>
          </a:xfrm>
          <a:prstGeom prst="rect">
            <a:avLst/>
          </a:prstGeom>
          <a:solidFill>
            <a:srgbClr val="0E8A7D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627632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轻量班 25 人 × 2.00 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27632"/>
            <a:ext cx="3566160" cy="420624"/>
          </a:xfrm>
          <a:prstGeom prst="rect">
            <a:avLst/>
          </a:prstGeom>
          <a:solidFill>
            <a:srgbClr val="0E8A7D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27632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生态班 60 人 × 2.48 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4825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048256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学费收入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048256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048256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50.0 万元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048256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048256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148.8 万元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6888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468880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渠道返佣 22.5%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468880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2468880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11.3 万元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468880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468880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33.5 万元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8950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889504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班级活动经费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889504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2889504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5.0 万元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889504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2889504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10.0 万元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10128"/>
            <a:ext cx="4114800" cy="420624"/>
          </a:xfrm>
          <a:prstGeom prst="rect">
            <a:avLst/>
          </a:prstGeom>
          <a:solidFill>
            <a:srgbClr val="F8EBEE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310128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9E1B32"/>
                </a:solidFill>
                <a:latin typeface="WenQuanYi Micro Hei"/>
                <a:ea typeface="WenQuanYi Micro Hei"/>
                <a:cs typeface="WenQuanYi Micro Hei"/>
              </a:rPr>
              <a:t>复旦中心品牌使用费 12%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310128"/>
            <a:ext cx="3566160" cy="420624"/>
          </a:xfrm>
          <a:prstGeom prst="rect">
            <a:avLst/>
          </a:prstGeom>
          <a:solidFill>
            <a:srgbClr val="F8EBEE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3310128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9E1B32"/>
                </a:solidFill>
                <a:latin typeface="WenQuanYi Micro Hei"/>
                <a:ea typeface="WenQuanYi Micro Hei"/>
                <a:cs typeface="WenQuanYi Micro Hei"/>
              </a:rPr>
              <a:t>6.0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310128"/>
            <a:ext cx="3566160" cy="420624"/>
          </a:xfrm>
          <a:prstGeom prst="rect">
            <a:avLst/>
          </a:prstGeom>
          <a:solidFill>
            <a:srgbClr val="F8EBEE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7888" y="3310128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9E1B32"/>
                </a:solidFill>
                <a:latin typeface="WenQuanYi Micro Hei"/>
                <a:ea typeface="WenQuanYi Micro Hei"/>
                <a:cs typeface="WenQuanYi Micro Hei"/>
              </a:rPr>
              <a:t>17.9 万元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730752"/>
            <a:ext cx="4114800" cy="420624"/>
          </a:xfrm>
          <a:prstGeom prst="rect">
            <a:avLst/>
          </a:prstGeom>
          <a:solidFill>
            <a:srgbClr val="EEF6F4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730752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0A6B61"/>
                </a:solidFill>
                <a:latin typeface="WenQuanYi Micro Hei"/>
                <a:ea typeface="WenQuanYi Micro Hei"/>
                <a:cs typeface="WenQuanYi Micro Hei"/>
              </a:rPr>
              <a:t>可分配收益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730752"/>
            <a:ext cx="3566160" cy="420624"/>
          </a:xfrm>
          <a:prstGeom prst="rect">
            <a:avLst/>
          </a:prstGeom>
          <a:solidFill>
            <a:srgbClr val="EEF6F4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8" y="3730752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0A6B61"/>
                </a:solidFill>
                <a:latin typeface="WenQuanYi Micro Hei"/>
                <a:ea typeface="WenQuanYi Micro Hei"/>
                <a:cs typeface="WenQuanYi Micro Hei"/>
              </a:rPr>
              <a:t>27.7 万元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3730752"/>
            <a:ext cx="3566160" cy="420624"/>
          </a:xfrm>
          <a:prstGeom prst="rect">
            <a:avLst/>
          </a:prstGeom>
          <a:solidFill>
            <a:srgbClr val="EEF6F4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3730752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0A6B61"/>
                </a:solidFill>
                <a:latin typeface="WenQuanYi Micro Hei"/>
                <a:ea typeface="WenQuanYi Micro Hei"/>
                <a:cs typeface="WenQuanYi Micro Hei"/>
              </a:rPr>
              <a:t>87.4 万元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5137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151376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杨浦科企联 30%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4151376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81728" y="4151376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8.3 万元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4151376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7888" y="4151376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26.2 万元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57200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572000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资管分会 35%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4572000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1728" y="4572000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9.7 万元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4572000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47888" y="4572000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30.6 万元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99262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4992624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运营执行 35%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4992624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81728" y="4992624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9.7 万元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4992624"/>
            <a:ext cx="3566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47888" y="4992624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250" b="1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30.6 万元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53212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650992"/>
            <a:ext cx="10835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模式 B 对照：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若学费进学校且按交大口径 80% 提取，60 人班学校拿走约 119 万，剩余约 30 万还要覆盖渠道与班费，三家几乎无账可分。故 L2 只作学员点选，默认走 L1。复旦学校确切比例以中心书面回复为准。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05  推进节奏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培训只是入口，后面还有两层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战略可以画三层，执行必须先把第一层做成。至少跑满三期，再谈大赛与 FA。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36576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3657600" cy="41148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第一层  ·  现在就做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AI+不动产培训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718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精准行业用户与班级品牌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8503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学费 + 渠道 + 班费可核算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9826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为后续两层提供名单与信任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691640"/>
            <a:ext cx="36576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60" y="169164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377440"/>
            <a:ext cx="365760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1810512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第二层  ·  三期之后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长三角科创对接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9718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从学员中筛 100–200 名种子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68503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特展约 4 万 / 场，系列约 50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39826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外地企业来沪参访 1–3 万 / 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691640"/>
            <a:ext cx="36576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69164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377440"/>
            <a:ext cx="3657600" cy="41148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1810512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第三层  ·  偶得收益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FA 撮合佣金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9718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只在有合作意向时抽取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68503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成功率低，不可当主营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39826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5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是补充，不是预算支柱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48640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圈层延展（可选）：澳大利亚商务考察可作为高净值学员的深度连接产品，不并入本班主报价，单独成团、单独核算。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05  推进节奏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9–11 月黄金档，按周推进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招生要两个月窗口。9 月中下旬启动，11 月开班；复旦品牌层级不定，文案就不能对外。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274320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2743200" cy="41148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28800"/>
            <a:ext cx="2468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即刻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方案对齐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确认 L1 中心名义为默认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4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书面确认中心品牌费 10%–15%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三方分成 30 / 35 / 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691640"/>
            <a:ext cx="274320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169164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2514600"/>
            <a:ext cx="274320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28800"/>
            <a:ext cx="2468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9 月中下旬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启动招生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10896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固定表述：中心联合主办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97764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课纲讲师送中心审定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8463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商会点对点 + 科企联渠道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691640"/>
            <a:ext cx="274320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169164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1C4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514600"/>
            <a:ext cx="2743200" cy="411480"/>
          </a:xfrm>
          <a:prstGeom prst="rect">
            <a:avLst/>
          </a:prstGeom>
          <a:solidFill>
            <a:srgbClr val="1C4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828800"/>
            <a:ext cx="2468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4EBD3"/>
                </a:solidFill>
                <a:latin typeface="WenQuanYi Micro Hei"/>
                <a:ea typeface="WenQuanYi Micro Hei"/>
                <a:cs typeface="WenQuanYi Micro Hei"/>
              </a:rPr>
              <a:t>10 月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满班冲刺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10896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目标 40–60 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7764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班委候选人预热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首月课表与互访名单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1691640"/>
            <a:ext cx="274320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35440" y="169164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2514600"/>
            <a:ext cx="2743200" cy="41148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1828800"/>
            <a:ext cx="2468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11 月</a:t>
            </a:r>
          </a:p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8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正式开班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10896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三方联合开班仪式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97764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班费账户与互访节奏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8463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1E2A3A"/>
                </a:solidFill>
                <a:latin typeface="WenQuanYi Micro Hei"/>
                <a:ea typeface="WenQuanYi Micro Hei"/>
                <a:cs typeface="WenQuanYi Micro Hei"/>
              </a:rPr>
              <a:t>同步筹备第二期名单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509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三方联合主办 · AI × 不动产资产管理高级研修班 · 2026 秋季首期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05  推进节奏  </a:t>
            </a:r>
            <a:r>
              <a:rPr sz="24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今天需要拍板的四件事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方案可以继续改细节，但下面四项不定，招生文案就开不了口。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26464"/>
            <a:ext cx="11155680" cy="279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76352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664208"/>
            <a:ext cx="960120" cy="102412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96012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810512"/>
            <a:ext cx="62636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复旦层级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默认 L1：住房政策研究中心联合主办，不用校徽、不开学校发票。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61488"/>
            <a:ext cx="76352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761488"/>
            <a:ext cx="960120" cy="102412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61488"/>
            <a:ext cx="96012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907792"/>
            <a:ext cx="62636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分成口径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中心品牌费 10%–15%（待书面确认）；剩余科企联 30% / 分会 35% / 运营 35%。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58768"/>
            <a:ext cx="76352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858768"/>
            <a:ext cx="960120" cy="102412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96012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005072"/>
            <a:ext cx="62636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定价班型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对外 2.48 万元；首期按 40–60 人招，25 人为开班底线。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56048"/>
            <a:ext cx="76352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4956048"/>
            <a:ext cx="960120" cy="102412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56048"/>
            <a:ext cx="96012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102352"/>
            <a:ext cx="62636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1F3A"/>
                </a:solidFill>
                <a:latin typeface="WenQuanYi Micro Hei"/>
                <a:ea typeface="WenQuanYi Micro Hei"/>
                <a:cs typeface="WenQuanYi Micro Hei"/>
              </a:rPr>
              <a:t>时间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i="0">
                <a:solidFill>
                  <a:srgbClr val="5C6B7A"/>
                </a:solidFill>
                <a:latin typeface="WenQuanYi Micro Hei"/>
                <a:ea typeface="WenQuanYi Micro Hei"/>
                <a:cs typeface="WenQuanYi Micro Hei"/>
              </a:rPr>
              <a:t>9 月中下旬启动招生，11 月开班，每两月滚动一期。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1664208"/>
            <a:ext cx="3429000" cy="44348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1874519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会后立即分头做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37744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请中心书面确认品牌费与用名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03580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送审课纲、讲师、招生主视觉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694176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列出首批 80 人邀请名单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35254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锁定第三方开票主体与场地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010912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>
                <a:solidFill>
                  <a:srgbClr val="0E8A7D"/>
                </a:solidFill>
                <a:latin typeface="WenQuanYi Micro Hei"/>
                <a:ea typeface="WenQuanYi Micro Hei"/>
                <a:cs typeface="WenQuanYi Micro He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准备一页招生海报与报名表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C4A35A"/>
                </a:solidFill>
                <a:latin typeface="WenQuanYi Micro Hei"/>
                <a:ea typeface="WenQuanYi Micro Hei"/>
                <a:cs typeface="WenQuanYi Micro Hei"/>
              </a:rPr>
              <a:t>先把一个班做成品牌，再谈后面的生态。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不动产做主干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 做素养，圈层做长期价值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600" b="0" i="0">
                <a:solidFill>
                  <a:srgbClr val="C5D4E4"/>
                </a:solidFill>
                <a:latin typeface="WenQuanYi Micro Hei"/>
                <a:ea typeface="WenQuanYi Micro Hei"/>
                <a:cs typeface="WenQuanYi Micro Hei"/>
              </a:rPr>
              <a:t>AI × 不动产资产管理高级研修班  ·  2026 年 11 月首期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 i="0">
                <a:solidFill>
                  <a:srgbClr val="8A96A3"/>
                </a:solidFill>
                <a:latin typeface="WenQuanYi Micro Hei"/>
                <a:ea typeface="WenQuanYi Micro Hei"/>
                <a:cs typeface="WenQuanYi Micro Hei"/>
              </a:rPr>
              <a:t>主办：复旦大学住房政策研究中心  ·  上海市杨浦区科技企业联合会  ·  上海市工商联房地产商会资产管理分会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94960"/>
            <a:ext cx="2468880" cy="777240"/>
          </a:xfrm>
          <a:prstGeom prst="roundRect">
            <a:avLst>
              <a:gd name="adj" fmla="val 10000"/>
            </a:avLst>
          </a:prstGeom>
          <a:solidFill>
            <a:srgbClr val="14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L1 中心名义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394960"/>
            <a:ext cx="2468880" cy="777240"/>
          </a:xfrm>
          <a:prstGeom prst="roundRect">
            <a:avLst>
              <a:gd name="adj" fmla="val 10000"/>
            </a:avLst>
          </a:prstGeom>
          <a:solidFill>
            <a:srgbClr val="14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394960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品牌费书面确认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5394960"/>
            <a:ext cx="2468880" cy="777240"/>
          </a:xfrm>
          <a:prstGeom prst="roundRect">
            <a:avLst>
              <a:gd name="adj" fmla="val 10000"/>
            </a:avLst>
          </a:prstGeom>
          <a:solidFill>
            <a:srgbClr val="14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394960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三方分成锁定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5394960"/>
            <a:ext cx="2468880" cy="777240"/>
          </a:xfrm>
          <a:prstGeom prst="roundRect">
            <a:avLst>
              <a:gd name="adj" fmla="val 10000"/>
            </a:avLst>
          </a:prstGeom>
          <a:solidFill>
            <a:srgbClr val="14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394960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11 月开班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