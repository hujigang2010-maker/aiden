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006840" y="0"/>
            <a:ext cx="3182112" cy="6858000"/>
          </a:xfrm>
          <a:prstGeom prst="rect">
            <a:avLst/>
          </a:prstGeom>
          <a:solidFill>
            <a:srgbClr val="14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64040" y="1234440"/>
            <a:ext cx="2240280" cy="2240280"/>
          </a:xfrm>
          <a:prstGeom prst="rect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921240" y="1691640"/>
            <a:ext cx="1325880" cy="132588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960120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400" b="1" i="0">
                <a:solidFill>
                  <a:srgbClr val="C4A35A"/>
                </a:solidFill>
                <a:latin typeface="WenQuanYi Micro Hei"/>
                <a:ea typeface="WenQuanYi Micro Hei"/>
                <a:cs typeface="WenQuanYi Micro Hei"/>
              </a:rPr>
              <a:t>合 作 方 案  ·  2026 秋 季 首 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554480"/>
            <a:ext cx="8412480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AI × 不动产</a:t>
            </a:r>
          </a:p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36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资产管理高级研修班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703320"/>
            <a:ext cx="8046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800" b="0" i="0">
                <a:solidFill>
                  <a:srgbClr val="C5D4E4"/>
                </a:solidFill>
                <a:latin typeface="WenQuanYi Micro Hei"/>
                <a:ea typeface="WenQuanYi Micro Hei"/>
                <a:cs typeface="WenQuanYi Micro Hei"/>
              </a:rPr>
              <a:t>不动产做主干，AI 做素养，圈层做长期价值。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297680"/>
            <a:ext cx="8046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400" b="0" i="0">
                <a:solidFill>
                  <a:srgbClr val="8A96A3"/>
                </a:solidFill>
                <a:latin typeface="WenQuanYi Micro Hei"/>
                <a:ea typeface="WenQuanYi Micro Hei"/>
                <a:cs typeface="WenQuanYi Micro Hei"/>
              </a:rPr>
              <a:t>面向上海及长三角不动产从业者的高性价比研修与资源连接方案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074920"/>
            <a:ext cx="1874519" cy="1024128"/>
          </a:xfrm>
          <a:prstGeom prst="roundRect">
            <a:avLst>
              <a:gd name="adj" fmla="val 8000"/>
            </a:avLst>
          </a:prstGeom>
          <a:solidFill>
            <a:srgbClr val="14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5193792"/>
            <a:ext cx="1600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100" b="1" i="0">
                <a:solidFill>
                  <a:srgbClr val="C4A35A"/>
                </a:solidFill>
                <a:latin typeface="WenQuanYi Micro Hei"/>
                <a:ea typeface="WenQuanYi Micro Hei"/>
                <a:cs typeface="WenQuanYi Micro Hei"/>
              </a:rPr>
              <a:t>周期</a:t>
            </a:r>
          </a:p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6 个月 · 每月 1 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88920" y="5074920"/>
            <a:ext cx="1874519" cy="1024128"/>
          </a:xfrm>
          <a:prstGeom prst="roundRect">
            <a:avLst>
              <a:gd name="adj" fmla="val 8000"/>
            </a:avLst>
          </a:prstGeom>
          <a:solidFill>
            <a:srgbClr val="14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35224" y="5193792"/>
            <a:ext cx="1600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100" b="1" i="0">
                <a:solidFill>
                  <a:srgbClr val="C4A35A"/>
                </a:solidFill>
                <a:latin typeface="WenQuanYi Micro Hei"/>
                <a:ea typeface="WenQuanYi Micro Hei"/>
                <a:cs typeface="WenQuanYi Micro Hei"/>
              </a:rPr>
              <a:t>班型</a:t>
            </a:r>
          </a:p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首期 25–60 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00600" y="5074920"/>
            <a:ext cx="1874519" cy="1024128"/>
          </a:xfrm>
          <a:prstGeom prst="roundRect">
            <a:avLst>
              <a:gd name="adj" fmla="val 8000"/>
            </a:avLst>
          </a:prstGeom>
          <a:solidFill>
            <a:srgbClr val="14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46904" y="5193792"/>
            <a:ext cx="1600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100" b="1" i="0">
                <a:solidFill>
                  <a:srgbClr val="C4A35A"/>
                </a:solidFill>
                <a:latin typeface="WenQuanYi Micro Hei"/>
                <a:ea typeface="WenQuanYi Micro Hei"/>
                <a:cs typeface="WenQuanYi Micro Hei"/>
              </a:rPr>
              <a:t>定价</a:t>
            </a:r>
          </a:p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2.0–2.48 万元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12280" y="5074920"/>
            <a:ext cx="1874519" cy="1024128"/>
          </a:xfrm>
          <a:prstGeom prst="roundRect">
            <a:avLst>
              <a:gd name="adj" fmla="val 8000"/>
            </a:avLst>
          </a:prstGeom>
          <a:solidFill>
            <a:srgbClr val="14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58584" y="5193792"/>
            <a:ext cx="1600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100" b="1" i="0">
                <a:solidFill>
                  <a:srgbClr val="C4A35A"/>
                </a:solidFill>
                <a:latin typeface="WenQuanYi Micro Hei"/>
                <a:ea typeface="WenQuanYi Micro Hei"/>
                <a:cs typeface="WenQuanYi Micro Hei"/>
              </a:rPr>
              <a:t>开班</a:t>
            </a:r>
          </a:p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2026 年 11 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4160520"/>
            <a:ext cx="25603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C4A35A"/>
                </a:solidFill>
                <a:latin typeface="WenQuanYi Micro Hei"/>
                <a:ea typeface="WenQuanYi Micro Hei"/>
                <a:cs typeface="WenQuanYi Micro Hei"/>
              </a:rPr>
              <a:t>展示用途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合作方对齐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渠道说明</a:t>
            </a:r>
          </a:p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招生沟通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9509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000" b="0" i="0">
                <a:solidFill>
                  <a:srgbClr val="8A96A3"/>
                </a:solidFill>
                <a:latin typeface="WenQuanYi Micro Hei"/>
                <a:ea typeface="WenQuanYi Micro Hei"/>
                <a:cs typeface="WenQuanYi Micro Hei"/>
              </a:rPr>
              <a:t>AI × 不动产资产管理高级研修班 · 合作方案 · 2026 秋季首期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12064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目录  </a:t>
            </a:r>
            <a:r>
              <a:rPr sz="24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今天对齐什么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78992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5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一条主线讲清楚：为什么做、做成什么样、怎么落地、何时启动。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26464"/>
            <a:ext cx="11155680" cy="2794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09960" y="6473952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8A96A3"/>
                </a:solidFill>
                <a:latin typeface="WenQuanYi Micro Hei"/>
                <a:ea typeface="WenQuanYi Micro Hei"/>
                <a:cs typeface="WenQuanYi Micro Hei"/>
              </a:rPr>
              <a:t>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691640"/>
            <a:ext cx="11155680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691640"/>
            <a:ext cx="1051560" cy="841248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691640"/>
            <a:ext cx="10515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800" b="1" i="0">
                <a:solidFill>
                  <a:srgbClr val="C4A35A"/>
                </a:solidFill>
                <a:latin typeface="WenQuanYi Micro Hei"/>
                <a:ea typeface="WenQuanYi Micro Hei"/>
                <a:cs typeface="WenQuanYi Micro He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1801368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机会判断</a:t>
            </a:r>
          </a:p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地产进入资产管理时代，AI 正在改写岗位与工具。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624328"/>
            <a:ext cx="11155680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2920" y="2624328"/>
            <a:ext cx="1051560" cy="841248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624328"/>
            <a:ext cx="10515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800" b="1" i="0">
                <a:solidFill>
                  <a:srgbClr val="C4A35A"/>
                </a:solidFill>
                <a:latin typeface="WenQuanYi Micro Hei"/>
                <a:ea typeface="WenQuanYi Micro Hei"/>
                <a:cs typeface="WenQuanYi Micro He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2734056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项目定位</a:t>
            </a:r>
          </a:p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不是纯 AI 课，而是不动产实操 + AI 素养 + 行业圈层。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557016"/>
            <a:ext cx="11155680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2920" y="3557016"/>
            <a:ext cx="1051560" cy="841248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57016"/>
            <a:ext cx="10515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800" b="1" i="0">
                <a:solidFill>
                  <a:srgbClr val="C4A35A"/>
                </a:solidFill>
                <a:latin typeface="WenQuanYi Micro Hei"/>
                <a:ea typeface="WenQuanYi Micro Hei"/>
                <a:cs typeface="WenQuanYi Micro He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3666744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产品设计</a:t>
            </a:r>
          </a:p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六个月班型、课程地图、师资与社群机制。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489704"/>
            <a:ext cx="11155680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4489704"/>
            <a:ext cx="1051560" cy="841248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489704"/>
            <a:ext cx="10515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800" b="1" i="0">
                <a:solidFill>
                  <a:srgbClr val="C4A35A"/>
                </a:solidFill>
                <a:latin typeface="WenQuanYi Micro Hei"/>
                <a:ea typeface="WenQuanYi Micro Hei"/>
                <a:cs typeface="WenQuanYi Micro He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3080" y="4599432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落地模式</a:t>
            </a:r>
          </a:p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两种主体、定价、渠道与收益对照。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422392"/>
            <a:ext cx="11155680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02920" y="5422392"/>
            <a:ext cx="1051560" cy="841248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5422392"/>
            <a:ext cx="10515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800" b="1" i="0">
                <a:solidFill>
                  <a:srgbClr val="C4A35A"/>
                </a:solidFill>
                <a:latin typeface="WenQuanYi Micro Hei"/>
                <a:ea typeface="WenQuanYi Micro Hei"/>
                <a:cs typeface="WenQuanYi Micro He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83080" y="5532120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推进节奏</a:t>
            </a:r>
          </a:p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9 月启动招生，11 月开班；先把培训做成入口。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9509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000" b="0" i="0">
                <a:solidFill>
                  <a:srgbClr val="8A96A3"/>
                </a:solidFill>
                <a:latin typeface="WenQuanYi Micro Hei"/>
                <a:ea typeface="WenQuanYi Micro Hei"/>
                <a:cs typeface="WenQuanYi Micro Hei"/>
              </a:rPr>
              <a:t>AI × 不动产资产管理高级研修班 · 合作方案 · 2026 秋季首期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12064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01  机会判断  </a:t>
            </a:r>
            <a:r>
              <a:rPr sz="24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为什么是现在，为什么是不动产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78992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5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行业在换赛道，人在换岗位。培训要接住这两股力，而不是再讲一遍通用 AI。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26464"/>
            <a:ext cx="11155680" cy="2794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09960" y="6473952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8A96A3"/>
                </a:solidFill>
                <a:latin typeface="WenQuanYi Micro Hei"/>
                <a:ea typeface="WenQuanYi Micro Hei"/>
                <a:cs typeface="WenQuanYi Micro Hei"/>
              </a:rPr>
              <a:t>03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691640"/>
            <a:ext cx="361188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1691640"/>
            <a:ext cx="3611880" cy="123444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514600"/>
            <a:ext cx="3611880" cy="41148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3200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EBD3"/>
                </a:solidFill>
                <a:latin typeface="WenQuanYi Micro Hei"/>
                <a:ea typeface="WenQuanYi Micro Hei"/>
                <a:cs typeface="WenQuanYi Micro Hei"/>
              </a:rPr>
              <a:t>行业侧</a:t>
            </a:r>
          </a:p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从开发销售转向资产管理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3108960"/>
            <a:ext cx="3108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存量时代，持有、运营、处置成为主业。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023360"/>
            <a:ext cx="3108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不良资产、REITs、资本化退出成为刚需话题。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937760"/>
            <a:ext cx="3108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纯开发逻辑的课已经很难卖，资产管理才有人买单。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1960" y="1691640"/>
            <a:ext cx="361188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51960" y="1691640"/>
            <a:ext cx="3611880" cy="1234440"/>
          </a:xfrm>
          <a:prstGeom prst="roundRect">
            <a:avLst>
              <a:gd name="adj" fmla="val 6000"/>
            </a:avLst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51960" y="2514600"/>
            <a:ext cx="3611880" cy="411480"/>
          </a:xfrm>
          <a:prstGeom prst="rect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53128" y="1810512"/>
            <a:ext cx="3200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EBD3"/>
                </a:solidFill>
                <a:latin typeface="WenQuanYi Micro Hei"/>
                <a:ea typeface="WenQuanYi Micro Hei"/>
                <a:cs typeface="WenQuanYi Micro Hei"/>
              </a:rPr>
              <a:t>技术侧</a:t>
            </a:r>
          </a:p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AI 改写工具，但不改行业本质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7992" y="3108960"/>
            <a:ext cx="3108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中年从业者有转型压力，但听不懂纯技术课。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07992" y="4023360"/>
            <a:ext cx="3108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市场上 AI 课同质化严重，听半小时就触顶。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7992" y="4937760"/>
            <a:ext cx="3108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真正能成交的，是「AI 用在不动产上能干什么」。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1691640"/>
            <a:ext cx="361188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046720" y="1691640"/>
            <a:ext cx="3611880" cy="1234440"/>
          </a:xfrm>
          <a:prstGeom prst="roundRect">
            <a:avLst>
              <a:gd name="adj" fmla="val 6000"/>
            </a:avLst>
          </a:prstGeom>
          <a:solidFill>
            <a:srgbClr val="8A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20" y="2514600"/>
            <a:ext cx="3611880" cy="411480"/>
          </a:xfrm>
          <a:prstGeom prst="rect">
            <a:avLst/>
          </a:prstGeom>
          <a:solidFill>
            <a:srgbClr val="8A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47888" y="1810512"/>
            <a:ext cx="3200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EBD3"/>
                </a:solidFill>
                <a:latin typeface="WenQuanYi Micro Hei"/>
                <a:ea typeface="WenQuanYi Micro Hei"/>
                <a:cs typeface="WenQuanYi Micro Hei"/>
              </a:rPr>
              <a:t>需求侧</a:t>
            </a:r>
          </a:p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买的是圈层，不是课件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02752" y="3108960"/>
            <a:ext cx="3108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EMBA 动辄几十万，周期长、门槛高。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752" y="4023360"/>
            <a:ext cx="3108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两万元左右换一个可走动的行业圈子，更贴近当下。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02752" y="4937760"/>
            <a:ext cx="3108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上海及长三角商会会员、国企、银行是现成客源。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9509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000" b="0" i="0">
                <a:solidFill>
                  <a:srgbClr val="8A96A3"/>
                </a:solidFill>
                <a:latin typeface="WenQuanYi Micro Hei"/>
                <a:ea typeface="WenQuanYi Micro Hei"/>
                <a:cs typeface="WenQuanYi Micro Hei"/>
              </a:rPr>
              <a:t>AI × 不动产资产管理高级研修班 · 合作方案 · 2026 秋季首期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12064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02  项目定位  </a:t>
            </a:r>
            <a:r>
              <a:rPr sz="24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一句话讲清楚这门课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78992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5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对外可以说 AI，对内必须守住不动产。否则既听不懂，也卖不掉。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26464"/>
            <a:ext cx="11155680" cy="2794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09960" y="6473952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8A96A3"/>
                </a:solidFill>
                <a:latin typeface="WenQuanYi Micro Hei"/>
                <a:ea typeface="WenQuanYi Micro Hei"/>
                <a:cs typeface="WenQuanYi Micro Hei"/>
              </a:rPr>
              <a:t>04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691640"/>
            <a:ext cx="11247120" cy="123444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828800"/>
            <a:ext cx="107899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不动产资产管理是主干，AI 只做基础素养。</a:t>
            </a:r>
          </a:p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400" b="0" i="0">
                <a:solidFill>
                  <a:srgbClr val="C5D4E4"/>
                </a:solidFill>
                <a:latin typeface="WenQuanYi Micro Hei"/>
                <a:ea typeface="WenQuanYi Micro Hei"/>
                <a:cs typeface="WenQuanYi Micro Hei"/>
              </a:rPr>
              <a:t>班集体、学员互访和长期圈层，才是复购与转介绍的真正产品。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108960"/>
            <a:ext cx="548640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3108960"/>
            <a:ext cx="822960" cy="1024128"/>
          </a:xfrm>
          <a:prstGeom prst="roundRect">
            <a:avLst>
              <a:gd name="adj" fmla="val 6000"/>
            </a:avLst>
          </a:prstGeom>
          <a:solidFill>
            <a:srgbClr val="8B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08960"/>
            <a:ext cx="82296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不是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236976"/>
            <a:ext cx="4297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一场通用 AI 公开课</a:t>
            </a:r>
          </a:p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不堆模型名词，不做成科技展讲解。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108960"/>
            <a:ext cx="548640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17920" y="3108960"/>
            <a:ext cx="822960" cy="1024128"/>
          </a:xfrm>
          <a:prstGeom prst="roundRect">
            <a:avLst>
              <a:gd name="adj" fmla="val 6000"/>
            </a:avLst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3108960"/>
            <a:ext cx="82296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3236976"/>
            <a:ext cx="4297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不动产实操研修</a:t>
            </a:r>
          </a:p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资产管理、不良资产、REITs，对接本行工作。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224528"/>
            <a:ext cx="548640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57200" y="4224528"/>
            <a:ext cx="822960" cy="1024128"/>
          </a:xfrm>
          <a:prstGeom prst="roundRect">
            <a:avLst>
              <a:gd name="adj" fmla="val 6000"/>
            </a:avLst>
          </a:prstGeom>
          <a:solidFill>
            <a:srgbClr val="8B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224528"/>
            <a:ext cx="82296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不是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4352544"/>
            <a:ext cx="4297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几十万级商学院项目</a:t>
            </a:r>
          </a:p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周期更短、价格更友好、行业更垂直。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224528"/>
            <a:ext cx="548640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217920" y="4224528"/>
            <a:ext cx="822960" cy="1024128"/>
          </a:xfrm>
          <a:prstGeom prst="roundRect">
            <a:avLst>
              <a:gd name="adj" fmla="val 6000"/>
            </a:avLst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0" y="4224528"/>
            <a:ext cx="82296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4352544"/>
            <a:ext cx="4297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高性价比行业圈层</a:t>
            </a:r>
          </a:p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用两万元左右进入可走动的不动产资源网。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40096"/>
            <a:ext cx="548640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57200" y="5340096"/>
            <a:ext cx="822960" cy="1024128"/>
          </a:xfrm>
          <a:prstGeom prst="roundRect">
            <a:avLst>
              <a:gd name="adj" fmla="val 6000"/>
            </a:avLst>
          </a:prstGeom>
          <a:solidFill>
            <a:srgbClr val="8B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5340096"/>
            <a:ext cx="82296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不是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40" y="5468112"/>
            <a:ext cx="4297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一次听完就散的沙龙</a:t>
            </a:r>
          </a:p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六个月同班，才能把人变成可持续连接。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5340096"/>
            <a:ext cx="548640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217920" y="5340096"/>
            <a:ext cx="822960" cy="1024128"/>
          </a:xfrm>
          <a:prstGeom prst="roundRect">
            <a:avLst>
              <a:gd name="adj" fmla="val 6000"/>
            </a:avLst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7920" y="5340096"/>
            <a:ext cx="82296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5468112"/>
            <a:ext cx="4297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后续业务的流量入口</a:t>
            </a:r>
          </a:p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先把班做成品牌，再谈科创对接与 FA。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9509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000" b="0" i="0">
                <a:solidFill>
                  <a:srgbClr val="8A96A3"/>
                </a:solidFill>
                <a:latin typeface="WenQuanYi Micro Hei"/>
                <a:ea typeface="WenQuanYi Micro Hei"/>
                <a:cs typeface="WenQuanYi Micro Hei"/>
              </a:rPr>
              <a:t>AI × 不动产资产管理高级研修班 · 合作方案 · 2026 秋季首期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12064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02  项目定位  </a:t>
            </a:r>
            <a:r>
              <a:rPr sz="24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学员真正在买什么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78992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5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招生话术可以讲 AI，成交逻辑要讲圈层与转型。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26464"/>
            <a:ext cx="11155680" cy="2794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09960" y="6473952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8A96A3"/>
                </a:solidFill>
                <a:latin typeface="WenQuanYi Micro Hei"/>
                <a:ea typeface="WenQuanYi Micro Hei"/>
                <a:cs typeface="WenQuanYi Micro Hei"/>
              </a:rPr>
              <a:t>05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664208"/>
            <a:ext cx="11247120" cy="1417320"/>
          </a:xfrm>
          <a:prstGeom prst="roundRect">
            <a:avLst>
              <a:gd name="adj" fmla="val 6000"/>
            </a:avLst>
          </a:prstGeom>
          <a:solidFill>
            <a:srgbClr val="EE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810512"/>
            <a:ext cx="1069848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核心判断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多数人出来上课，不是来把 AI 学成专家，而是用可接受的成本进入一个高质量行业圈子，顺便补齐 AI 时代的常识。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246120"/>
            <a:ext cx="54864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246120"/>
            <a:ext cx="91440" cy="13716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374136"/>
            <a:ext cx="5029200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低成本替代 EMBA</a:t>
            </a:r>
          </a:p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5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长江商学院一类项目一上来就是几十万、周期长。本班用约 2 万元，换六个月可持续走动的同业关系。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246120"/>
            <a:ext cx="54864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246120"/>
            <a:ext cx="91440" cy="13716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3374136"/>
            <a:ext cx="5029200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中年转型刚需</a:t>
            </a:r>
          </a:p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5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付费主力是有支付能力、又面临岗位迭代的中年从业者，不是应届学生。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754880"/>
            <a:ext cx="54864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754880"/>
            <a:ext cx="91440" cy="13716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" y="4882896"/>
            <a:ext cx="5029200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行业垂直才成交</a:t>
            </a:r>
          </a:p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5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客源来自房地产商会、国企、银行支行行长，以及广告、财税、律师等「百搭」上下游。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754880"/>
            <a:ext cx="54864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4754880"/>
            <a:ext cx="91440" cy="13716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4882896"/>
            <a:ext cx="5029200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AI 是入场券，不是主菜</a:t>
            </a:r>
          </a:p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5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半小时讲清工具地图即可。再深，听不懂；只讲地产、不带 AI，又缺当下话题。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9509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000" b="0" i="0">
                <a:solidFill>
                  <a:srgbClr val="8A96A3"/>
                </a:solidFill>
                <a:latin typeface="WenQuanYi Micro Hei"/>
                <a:ea typeface="WenQuanYi Micro Hei"/>
                <a:cs typeface="WenQuanYi Micro Hei"/>
              </a:rPr>
              <a:t>AI × 不动产资产管理高级研修班 · 合作方案 · 2026 秋季首期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12064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02  项目定位  </a:t>
            </a:r>
            <a:r>
              <a:rPr sz="24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谁适合来，从哪里来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78992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5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先吃透上海及长三角不动产圈层，再谈扩科创、做出海。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26464"/>
            <a:ext cx="11155680" cy="2794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09960" y="6473952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8A96A3"/>
                </a:solidFill>
                <a:latin typeface="WenQuanYi Micro Hei"/>
                <a:ea typeface="WenQuanYi Micro Hei"/>
                <a:cs typeface="WenQuanYi Micro Hei"/>
              </a:rPr>
              <a:t>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691640"/>
            <a:ext cx="274320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1691640"/>
            <a:ext cx="2743200" cy="640080"/>
          </a:xfrm>
          <a:prstGeom prst="roundRect">
            <a:avLst>
              <a:gd name="adj" fmla="val 6000"/>
            </a:avLst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69164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3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核心盘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468880"/>
            <a:ext cx="2414016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房地产商会会员</a:t>
            </a:r>
          </a:p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上海本地会员 + 苏浙皖异地商会。每月来一次上海，可接受。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1691640"/>
            <a:ext cx="274320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83280" y="1691640"/>
            <a:ext cx="2743200" cy="64008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0" y="169164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3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支付盘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7872" y="2468880"/>
            <a:ext cx="2414016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中年转型从业者</a:t>
            </a:r>
          </a:p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有学费支付能力，对 AI 焦虑，需要新圈子和新话术。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691640"/>
            <a:ext cx="274320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09360" y="1691640"/>
            <a:ext cx="2743200" cy="640080"/>
          </a:xfrm>
          <a:prstGeom prst="roundRect">
            <a:avLst>
              <a:gd name="adj" fmla="val 6000"/>
            </a:avLst>
          </a:prstGeom>
          <a:solidFill>
            <a:srgbClr val="1C4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169164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3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信用盘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2468880"/>
            <a:ext cx="2414016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国企 / 银行支行行长</a:t>
            </a:r>
          </a:p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不便入会，但需要资产、不良与客户资源对接。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35440" y="1691640"/>
            <a:ext cx="274320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235440" y="1691640"/>
            <a:ext cx="2743200" cy="640080"/>
          </a:xfrm>
          <a:prstGeom prst="roundRect">
            <a:avLst>
              <a:gd name="adj" fmla="val 6000"/>
            </a:avLst>
          </a:prstGeom>
          <a:solidFill>
            <a:srgbClr val="8A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69164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3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连接盘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00032" y="2468880"/>
            <a:ext cx="2414016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地产上下游「百搭」</a:t>
            </a:r>
          </a:p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广告、信息技术、财税、律师、二房东、社区商业。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754880"/>
            <a:ext cx="11247120" cy="137160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919472"/>
            <a:ext cx="106984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4A35A"/>
                </a:solidFill>
                <a:latin typeface="WenQuanYi Micro Hei"/>
                <a:ea typeface="WenQuanYi Micro Hei"/>
                <a:cs typeface="WenQuanYi Micro Hei"/>
              </a:rPr>
              <a:t>获客原则</a:t>
            </a:r>
          </a:p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400" b="0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自有会员给面子、异地商协会秘书长做渠道（返佣 20%–25%）、国企与银行点对点邀请。外地客源不必强拉入会，用班级把人留下即可。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9509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000" b="0" i="0">
                <a:solidFill>
                  <a:srgbClr val="8A96A3"/>
                </a:solidFill>
                <a:latin typeface="WenQuanYi Micro Hei"/>
                <a:ea typeface="WenQuanYi Micro Hei"/>
                <a:cs typeface="WenQuanYi Micro Hei"/>
              </a:rPr>
              <a:t>AI × 不动产资产管理高级研修班 · 合作方案 · 2026 秋季首期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12064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03  产品设计  </a:t>
            </a:r>
            <a:r>
              <a:rPr sz="24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班型怎么开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78992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5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沿用已跑通的「六个月、每月一天、校内上课」标准配置，降低试错成本。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26464"/>
            <a:ext cx="11155680" cy="2794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09960" y="6473952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8A96A3"/>
                </a:solidFill>
                <a:latin typeface="WenQuanYi Micro Hei"/>
                <a:ea typeface="WenQuanYi Micro Hei"/>
                <a:cs typeface="WenQuanYi Micro Hei"/>
              </a:rPr>
              <a:t>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69164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892808"/>
            <a:ext cx="3154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周期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19456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22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6 个月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2743200"/>
            <a:ext cx="640080" cy="3175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2926080"/>
            <a:ext cx="3154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从 5 个月拉长，给社群和互访留足时间。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169164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07992" y="1892808"/>
            <a:ext cx="3154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课时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7992" y="219456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22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每月 1 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07992" y="2743200"/>
            <a:ext cx="640080" cy="3175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07992" y="2926080"/>
            <a:ext cx="3154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周五或周末集中授课，便于外地学员往返。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169164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02752" y="1892808"/>
            <a:ext cx="3154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场地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2752" y="219456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22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高校校内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02752" y="2743200"/>
            <a:ext cx="640080" cy="3175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02752" y="2926080"/>
            <a:ext cx="3154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证书、发票、场地一次性对齐，观感更稳。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97764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178808"/>
            <a:ext cx="3154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规模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448056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22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25–60 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3232" y="5029200"/>
            <a:ext cx="640080" cy="3175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5212080"/>
            <a:ext cx="3154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25 人起班，60 人更利于圈层生态；首期建议冲 40–60。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51960" y="397764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07992" y="4178808"/>
            <a:ext cx="3154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滚动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07992" y="448056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22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每两月一期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07992" y="5029200"/>
            <a:ext cx="640080" cy="3175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07992" y="5212080"/>
            <a:ext cx="3154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不是一次性项目，做成可复制的班级产品。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46720" y="397764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02752" y="4178808"/>
            <a:ext cx="3154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班费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02752" y="448056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22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5–10 万元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02752" y="5029200"/>
            <a:ext cx="640080" cy="3175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02752" y="5212080"/>
            <a:ext cx="3154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从学费中预留，用于互访、聚餐和班委活动。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9509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000" b="0" i="0">
                <a:solidFill>
                  <a:srgbClr val="8A96A3"/>
                </a:solidFill>
                <a:latin typeface="WenQuanYi Micro Hei"/>
                <a:ea typeface="WenQuanYi Micro Hei"/>
                <a:cs typeface="WenQuanYi Micro Hei"/>
              </a:rPr>
              <a:t>AI × 不动产资产管理高级研修班 · 合作方案 · 2026 秋季首期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12064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03  产品设计  </a:t>
            </a:r>
            <a:r>
              <a:rPr sz="24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六个月课程地图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78992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5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每月一天主课 + 贯穿始终的学员单位互访。AI 只占必要篇幅，不动产实操占主干。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26464"/>
            <a:ext cx="11155680" cy="2794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09960" y="6473952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8A96A3"/>
                </a:solidFill>
                <a:latin typeface="WenQuanYi Micro Hei"/>
                <a:ea typeface="WenQuanYi Micro Hei"/>
                <a:cs typeface="WenQuanYi Micro Hei"/>
              </a:rPr>
              <a:t>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664208"/>
            <a:ext cx="365760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64208"/>
            <a:ext cx="658368" cy="2121408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664208"/>
            <a:ext cx="658368" cy="21214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600" b="1" i="0">
                <a:solidFill>
                  <a:srgbClr val="C4A35A"/>
                </a:solidFill>
                <a:latin typeface="WenQuanYi Micro Hei"/>
                <a:ea typeface="WenQuanYi Micro Hei"/>
                <a:cs typeface="WenQuanYi Micro He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1984248"/>
            <a:ext cx="26517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开班与 AI 素养</a:t>
            </a:r>
          </a:p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工具地图、场景入门、班委组建、破冰互访。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1664208"/>
            <a:ext cx="365760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51960" y="1664208"/>
            <a:ext cx="658368" cy="2121408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51960" y="1664208"/>
            <a:ext cx="658368" cy="21214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600" b="1" i="0">
                <a:solidFill>
                  <a:srgbClr val="C4A35A"/>
                </a:solidFill>
                <a:latin typeface="WenQuanYi Micro Hei"/>
                <a:ea typeface="WenQuanYi Micro Hei"/>
                <a:cs typeface="WenQuanYi Micro He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1984248"/>
            <a:ext cx="26517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不动产资产管理</a:t>
            </a:r>
          </a:p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资产盘点、持有运营、现金流与估值框架。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664208"/>
            <a:ext cx="365760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20" y="1664208"/>
            <a:ext cx="658368" cy="2121408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1664208"/>
            <a:ext cx="658368" cy="21214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600" b="1" i="0">
                <a:solidFill>
                  <a:srgbClr val="C4A35A"/>
                </a:solidFill>
                <a:latin typeface="WenQuanYi Micro Hei"/>
                <a:ea typeface="WenQuanYi Micro Hei"/>
                <a:cs typeface="WenQuanYi Micro He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1984248"/>
            <a:ext cx="26517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不良资产处置</a:t>
            </a:r>
          </a:p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识别、尽调、重组、司法与市场化路径。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931920"/>
            <a:ext cx="365760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931920"/>
            <a:ext cx="658368" cy="2121408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3931920"/>
            <a:ext cx="658368" cy="21214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600" b="1" i="0">
                <a:solidFill>
                  <a:srgbClr val="C4A35A"/>
                </a:solidFill>
                <a:latin typeface="WenQuanYi Micro Hei"/>
                <a:ea typeface="WenQuanYi Micro Hei"/>
                <a:cs typeface="WenQuanYi Micro He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251960"/>
            <a:ext cx="26517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REITs 与资本化</a:t>
            </a:r>
          </a:p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公募 REITs、证券化、退出与结构安排。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1960" y="3931920"/>
            <a:ext cx="365760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51960" y="3931920"/>
            <a:ext cx="658368" cy="2121408"/>
          </a:xfrm>
          <a:prstGeom prst="rect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51960" y="3931920"/>
            <a:ext cx="658368" cy="21214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600" b="1" i="0">
                <a:solidFill>
                  <a:srgbClr val="C4A35A"/>
                </a:solidFill>
                <a:latin typeface="WenQuanYi Micro Hei"/>
                <a:ea typeface="WenQuanYi Micro Hei"/>
                <a:cs typeface="WenQuanYi Micro He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74920" y="4251960"/>
            <a:ext cx="26517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AI 赋能资产运营</a:t>
            </a:r>
          </a:p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租赁、招商、客服、研报的轻量落地，不深挖算法。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20" y="3931920"/>
            <a:ext cx="365760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6720" y="3931920"/>
            <a:ext cx="658368" cy="2121408"/>
          </a:xfrm>
          <a:prstGeom prst="rect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0" y="3931920"/>
            <a:ext cx="658368" cy="21214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600" b="1" i="0">
                <a:solidFill>
                  <a:srgbClr val="C4A35A"/>
                </a:solidFill>
                <a:latin typeface="WenQuanYi Micro Hei"/>
                <a:ea typeface="WenQuanYi Micro Hei"/>
                <a:cs typeface="WenQuanYi Micro Hei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0" y="4251960"/>
            <a:ext cx="26517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结业路演对接</a:t>
            </a:r>
          </a:p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小组课题、资源对接、结业仪式、同学会启动。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9509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000" b="0" i="0">
                <a:solidFill>
                  <a:srgbClr val="8A96A3"/>
                </a:solidFill>
                <a:latin typeface="WenQuanYi Micro Hei"/>
                <a:ea typeface="WenQuanYi Micro Hei"/>
                <a:cs typeface="WenQuanYi Micro Hei"/>
              </a:rPr>
              <a:t>AI × 不动产资产管理高级研修班 · 合作方案 · 2026 秋季首期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12064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03  产品设计  </a:t>
            </a:r>
            <a:r>
              <a:rPr sz="24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谁来讲，凭什么相信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78992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5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师资成本可控：以头部企业高管分享 + 不动产实操老师为主，不堆高价商学院牌。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26464"/>
            <a:ext cx="11155680" cy="2794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09960" y="6473952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8A96A3"/>
                </a:solidFill>
                <a:latin typeface="WenQuanYi Micro Hei"/>
                <a:ea typeface="WenQuanYi Micro Hei"/>
                <a:cs typeface="WenQuanYi Micro Hei"/>
              </a:rPr>
              <a:t>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691640"/>
            <a:ext cx="69037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109728" cy="1371600"/>
          </a:xfrm>
          <a:prstGeom prst="rect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892808"/>
            <a:ext cx="6355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AI 侧</a:t>
            </a:r>
          </a:p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腾讯、阿里，以及宇树、智元机器人等参展企业高管。讲产业趋势与可用工具，不讲论文。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172968"/>
            <a:ext cx="69037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172968"/>
            <a:ext cx="109728" cy="1371600"/>
          </a:xfrm>
          <a:prstGeom prst="rect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374136"/>
            <a:ext cx="6355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不动产侧</a:t>
            </a:r>
          </a:p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资产管理、不良处置、REITs 实操老师。这是学员本行，也是续班和转介绍的根基。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654296"/>
            <a:ext cx="69037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654296"/>
            <a:ext cx="109728" cy="1371600"/>
          </a:xfrm>
          <a:prstGeom prst="rect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855464"/>
            <a:ext cx="6355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高校侧</a:t>
            </a:r>
          </a:p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校内场地、结业证与发票路径已可对齐。用不用高校抬头，按学员需求二选一。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43800" y="1691640"/>
            <a:ext cx="4160520" cy="443484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1920240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400" b="1" i="0">
                <a:solidFill>
                  <a:srgbClr val="C4A35A"/>
                </a:solidFill>
                <a:latin typeface="WenQuanYi Micro Hei"/>
                <a:ea typeface="WenQuanYi Micro Hei"/>
                <a:cs typeface="WenQuanYi Micro Hei"/>
              </a:rPr>
              <a:t>课堂上要守住的边界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2423160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▸  </a:t>
            </a:r>
            <a:r>
              <a:rPr sz="1300" b="0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AI 讲皮毛即可，半小时能讲清工具地图。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3081528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▸  </a:t>
            </a:r>
            <a:r>
              <a:rPr sz="1300" b="0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太深听不懂，全是 AI 又听腻。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8120" y="3739896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▸  </a:t>
            </a:r>
            <a:r>
              <a:rPr sz="1300" b="0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不动产课能不能卖，取决于客群是否垂直。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8120" y="4398264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▸  </a:t>
            </a:r>
            <a:r>
              <a:rPr sz="1300" b="0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本班优先服务房地产商会及上下游，垂直盘能撑住定价。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20" y="5056632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▸  </a:t>
            </a:r>
            <a:r>
              <a:rPr sz="1300" b="0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讲师费用按「认圈子、滚动流量」来谈，不按商学院时薪来堆。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9509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000" b="0" i="0">
                <a:solidFill>
                  <a:srgbClr val="8A96A3"/>
                </a:solidFill>
                <a:latin typeface="WenQuanYi Micro Hei"/>
                <a:ea typeface="WenQuanYi Micro Hei"/>
                <a:cs typeface="WenQuanYi Micro Hei"/>
              </a:rPr>
              <a:t>AI × 不动产资产管理高级研修班 · 合作方案 · 2026 秋季首期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12064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03  产品设计  </a:t>
            </a:r>
            <a:r>
              <a:rPr sz="24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班集体怎么运转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78992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5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课只是由头。真正把人留住的，是班委、互访和滚动开班形成的圈层密度。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26464"/>
            <a:ext cx="11155680" cy="2794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09960" y="6473952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8A96A3"/>
                </a:solidFill>
                <a:latin typeface="WenQuanYi Micro Hei"/>
                <a:ea typeface="WenQuanYi Micro Hei"/>
                <a:cs typeface="WenQuanYi Micro Hei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691640"/>
            <a:ext cx="365760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5800" y="1947672"/>
            <a:ext cx="438912" cy="438912"/>
          </a:xfrm>
          <a:prstGeom prst="ellipse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1984248"/>
            <a:ext cx="2651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6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开班建制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560320"/>
            <a:ext cx="32004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设班长、学习委员、组长。把 40–60 人拆成可走动的小组。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1691640"/>
            <a:ext cx="365760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480560" y="1947672"/>
            <a:ext cx="438912" cy="438912"/>
          </a:xfrm>
          <a:prstGeom prst="ellipse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56632" y="1984248"/>
            <a:ext cx="2651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6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每月主课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560320"/>
            <a:ext cx="32004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校内一天集中授课，统一节奏，便于外地学员安排。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691640"/>
            <a:ext cx="365760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75320" y="1947672"/>
            <a:ext cx="438912" cy="438912"/>
          </a:xfrm>
          <a:prstGeom prst="ellipse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51392" y="1984248"/>
            <a:ext cx="2651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6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学员互访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2560320"/>
            <a:ext cx="32004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课间穿插单位参访，把课堂关系变成业务关系。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931920"/>
            <a:ext cx="365760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85800" y="4187952"/>
            <a:ext cx="438912" cy="438912"/>
          </a:xfrm>
          <a:prstGeom prst="ellipse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61872" y="4224528"/>
            <a:ext cx="2651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6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班费活动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800600"/>
            <a:ext cx="32004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预留 5–10 万元做聚餐、走访和小型沙龙，不另收费。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1960" y="3931920"/>
            <a:ext cx="365760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480560" y="4187952"/>
            <a:ext cx="438912" cy="438912"/>
          </a:xfrm>
          <a:prstGeom prst="ellipse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56632" y="4224528"/>
            <a:ext cx="2651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6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滚动续班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800600"/>
            <a:ext cx="32004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每两个月新开一期，老学员可回流当链接人。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20" y="3931920"/>
            <a:ext cx="365760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75320" y="4187952"/>
            <a:ext cx="438912" cy="438912"/>
          </a:xfrm>
          <a:prstGeom prst="ellipse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51392" y="4224528"/>
            <a:ext cx="2651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6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出口对接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4800600"/>
            <a:ext cx="32004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结业后筛种子选手，进入科创对接与考察名单。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9509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000" b="0" i="0">
                <a:solidFill>
                  <a:srgbClr val="8A96A3"/>
                </a:solidFill>
                <a:latin typeface="WenQuanYi Micro Hei"/>
                <a:ea typeface="WenQuanYi Micro Hei"/>
                <a:cs typeface="WenQuanYi Micro Hei"/>
              </a:rPr>
              <a:t>AI × 不动产资产管理高级研修班 · 合作方案 · 2026 秋季首期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12064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04  落地模式  </a:t>
            </a:r>
            <a:r>
              <a:rPr sz="24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两种主体，按需求选用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78992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5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高校品牌能抬证书观感，但分成很重。第三方主体把收益留在项目方，灵活度更高。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26464"/>
            <a:ext cx="11155680" cy="2794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09960" y="6473952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8A96A3"/>
                </a:solidFill>
                <a:latin typeface="WenQuanYi Micro Hei"/>
                <a:ea typeface="WenQuanYi Micro Hei"/>
                <a:cs typeface="WenQuanYi Micro Hei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664208"/>
            <a:ext cx="544068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1664208"/>
            <a:ext cx="5440680" cy="77724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03120"/>
            <a:ext cx="5440680" cy="338328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783080"/>
            <a:ext cx="4983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模式 A  ·  第三方主体运营（建议默认）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606040"/>
            <a:ext cx="4892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C4A35A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学费进入项目方指定账户，收益全部纳入项目方。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264408"/>
            <a:ext cx="4892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C4A35A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结业证由中心 / 联合机构颁发，不占用高校抬头。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922776"/>
            <a:ext cx="4892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C4A35A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发票路径清晰，不必向学校交高额份子钱。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581144"/>
            <a:ext cx="4892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C4A35A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适合：渠道招生、商会会员班、快速滚动开班。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239512"/>
            <a:ext cx="4892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C4A35A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代价：证书权威性弱于高校官方结业证。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664208"/>
            <a:ext cx="544068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63640" y="1664208"/>
            <a:ext cx="5440680" cy="777240"/>
          </a:xfrm>
          <a:prstGeom prst="roundRect">
            <a:avLst>
              <a:gd name="adj" fmla="val 6000"/>
            </a:avLst>
          </a:prstGeom>
          <a:solidFill>
            <a:srgbClr val="0A6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2103120"/>
            <a:ext cx="5440680" cy="338328"/>
          </a:xfrm>
          <a:prstGeom prst="rect">
            <a:avLst/>
          </a:prstGeom>
          <a:solidFill>
            <a:srgbClr val="0A6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1783080"/>
            <a:ext cx="4983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模式 B  ·  高校抬头 + 官方结业证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2606040"/>
            <a:ext cx="4892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C4A35A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用高校品牌开发票、发结业证，观感更好、更好对外讲。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3264408"/>
            <a:ext cx="4892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C4A35A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必须向学校分成。高校规则同类，交大口径可达约 80%。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3922776"/>
            <a:ext cx="4892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C4A35A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学校会过问安全、住宿、收费上限等合规事项。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581144"/>
            <a:ext cx="4892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C4A35A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适合：学员明确要求「学校证书 / 学校发票」。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5239512"/>
            <a:ext cx="4892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C4A35A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代价：项目方利润空间显著收窄，决策前必须算清。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9509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000" b="0" i="0">
                <a:solidFill>
                  <a:srgbClr val="8A96A3"/>
                </a:solidFill>
                <a:latin typeface="WenQuanYi Micro Hei"/>
                <a:ea typeface="WenQuanYi Micro Hei"/>
                <a:cs typeface="WenQuanYi Micro Hei"/>
              </a:rPr>
              <a:t>AI × 不动产资产管理高级研修班 · 合作方案 · 2026 秋季首期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12064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04  落地模式  </a:t>
            </a:r>
            <a:r>
              <a:rPr sz="24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怎么报价，怎么分账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78992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5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对外给一个干净的价格带；对内把渠道、班费、不可承诺事项一次说清。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26464"/>
            <a:ext cx="11155680" cy="2794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09960" y="6473952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8A96A3"/>
                </a:solidFill>
                <a:latin typeface="WenQuanYi Micro Hei"/>
                <a:ea typeface="WenQuanYi Micro Hei"/>
                <a:cs typeface="WenQuanYi Micro Hei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691640"/>
            <a:ext cx="365760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847088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入门沟通价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14884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22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约 2.0 万元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697480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用于试探与关系户面子价，不作为对外主报价。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1691640"/>
            <a:ext cx="365760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1847088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标准对外价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14884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22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2.48 万元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697480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主推档。覆盖讲师、场地、班费与渠道空间。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691640"/>
            <a:ext cx="365760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20" y="1847088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8A6A2A"/>
                </a:solidFill>
                <a:latin typeface="WenQuanYi Micro Hei"/>
                <a:ea typeface="WenQuanYi Micro Hei"/>
                <a:cs typeface="WenQuanYi Micro Hei"/>
              </a:rPr>
              <a:t>渠道结算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14884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22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返佣 20%–25%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2697480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异地商协会秘书长、合作机构按此区间谈。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840480"/>
            <a:ext cx="5623560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950208"/>
            <a:ext cx="52120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班级活动经费</a:t>
            </a:r>
          </a:p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5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学费中预留 5–10 万元，专款用于互访与班级活动，不另向学员加收。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3840480"/>
            <a:ext cx="5623560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3950208"/>
            <a:ext cx="52120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报价原则</a:t>
            </a:r>
          </a:p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5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当前高端商学院招生难，本班主打高性价比圈层，不与几十万项目正面比课时。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937760"/>
            <a:ext cx="5623560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5047488"/>
            <a:ext cx="52120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不对外承诺</a:t>
            </a:r>
          </a:p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5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不承诺投资收益、移民结果或高校学历；证书性质在报名时书面说清。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937760"/>
            <a:ext cx="5623560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4808" y="5047488"/>
            <a:ext cx="52120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渠道纪律</a:t>
            </a:r>
          </a:p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5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返佣只走约定渠道，不层层加价。关系户面子价需项目方书面确认。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9509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000" b="0" i="0">
                <a:solidFill>
                  <a:srgbClr val="8A96A3"/>
                </a:solidFill>
                <a:latin typeface="WenQuanYi Micro Hei"/>
                <a:ea typeface="WenQuanYi Micro Hei"/>
                <a:cs typeface="WenQuanYi Micro Hei"/>
              </a:rPr>
              <a:t>AI × 不动产资产管理高级研修班 · 合作方案 · 2026 秋季首期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12064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04  落地模式  </a:t>
            </a:r>
            <a:r>
              <a:rPr sz="24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两种班型的收益对照（示意）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78992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5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数字用于合作对齐，不是对学员的承诺。高校分成按最严口径单列，避免事后被动。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26464"/>
            <a:ext cx="11155680" cy="2794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09960" y="6473952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8A96A3"/>
                </a:solidFill>
                <a:latin typeface="WenQuanYi Micro Hei"/>
                <a:ea typeface="WenQuanYi Micro Hei"/>
                <a:cs typeface="WenQuanYi Micro Hei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64208"/>
            <a:ext cx="4114800" cy="530352"/>
          </a:xfrm>
          <a:prstGeom prst="rect">
            <a:avLst/>
          </a:prstGeom>
          <a:solidFill>
            <a:srgbClr val="0B1F3A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664208"/>
            <a:ext cx="39319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项目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64208"/>
            <a:ext cx="3566160" cy="530352"/>
          </a:xfrm>
          <a:prstGeom prst="rect">
            <a:avLst/>
          </a:prstGeom>
          <a:solidFill>
            <a:srgbClr val="0E8A7D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1728" y="1664208"/>
            <a:ext cx="33832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3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轻量班 25 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1664208"/>
            <a:ext cx="3566160" cy="530352"/>
          </a:xfrm>
          <a:prstGeom prst="rect">
            <a:avLst/>
          </a:prstGeom>
          <a:solidFill>
            <a:srgbClr val="0E8A7D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1664208"/>
            <a:ext cx="33832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3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生态班 60 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194560"/>
            <a:ext cx="41148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194560"/>
            <a:ext cx="39319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对外单价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2194560"/>
            <a:ext cx="35661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2194560"/>
            <a:ext cx="33832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2.00 万元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2194560"/>
            <a:ext cx="35661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47888" y="2194560"/>
            <a:ext cx="33832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2.48 万元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724912"/>
            <a:ext cx="41148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2724912"/>
            <a:ext cx="39319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学费收入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2724912"/>
            <a:ext cx="35661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1728" y="2724912"/>
            <a:ext cx="33832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50.0 万元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60" y="2724912"/>
            <a:ext cx="35661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47888" y="2724912"/>
            <a:ext cx="33832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148.8 万元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255264"/>
            <a:ext cx="41148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3255264"/>
            <a:ext cx="39319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渠道返佣 20%–25%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0" y="3255264"/>
            <a:ext cx="35661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81728" y="3255264"/>
            <a:ext cx="33832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10.0–12.5 万元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38160" y="3255264"/>
            <a:ext cx="35661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7888" y="3255264"/>
            <a:ext cx="33832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29.8–37.2 万元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785616"/>
            <a:ext cx="41148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3785616"/>
            <a:ext cx="39319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班级活动经费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0" y="3785616"/>
            <a:ext cx="35661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81728" y="3785616"/>
            <a:ext cx="33832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5 万元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38160" y="3785616"/>
            <a:ext cx="35661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47888" y="3785616"/>
            <a:ext cx="33832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8–10 万元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4315968"/>
            <a:ext cx="4114800" cy="530352"/>
          </a:xfrm>
          <a:prstGeom prst="rect">
            <a:avLst/>
          </a:prstGeom>
          <a:solidFill>
            <a:srgbClr val="EEF6F4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" y="4315968"/>
            <a:ext cx="39319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1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模式 A 项目方可留存（示意）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4315968"/>
            <a:ext cx="3566160" cy="530352"/>
          </a:xfrm>
          <a:prstGeom prst="rect">
            <a:avLst/>
          </a:prstGeom>
          <a:solidFill>
            <a:srgbClr val="EEF6F4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81728" y="4315968"/>
            <a:ext cx="33832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300" b="1" i="0">
                <a:solidFill>
                  <a:srgbClr val="0A6B61"/>
                </a:solidFill>
                <a:latin typeface="WenQuanYi Micro Hei"/>
                <a:ea typeface="WenQuanYi Micro Hei"/>
                <a:cs typeface="WenQuanYi Micro Hei"/>
              </a:rPr>
              <a:t>约 32–35 万元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38160" y="4315968"/>
            <a:ext cx="3566160" cy="530352"/>
          </a:xfrm>
          <a:prstGeom prst="rect">
            <a:avLst/>
          </a:prstGeom>
          <a:solidFill>
            <a:srgbClr val="EEF6F4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47888" y="4315968"/>
            <a:ext cx="33832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300" b="1" i="0">
                <a:solidFill>
                  <a:srgbClr val="0A6B61"/>
                </a:solidFill>
                <a:latin typeface="WenQuanYi Micro Hei"/>
                <a:ea typeface="WenQuanYi Micro Hei"/>
                <a:cs typeface="WenQuanYi Micro Hei"/>
              </a:rPr>
              <a:t>约 102–111 万元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846320"/>
            <a:ext cx="4114800" cy="530352"/>
          </a:xfrm>
          <a:prstGeom prst="rect">
            <a:avLst/>
          </a:prstGeom>
          <a:solidFill>
            <a:srgbClr val="EEF6F4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" y="4846320"/>
            <a:ext cx="39319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1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模式 B 若按高校 80% 分成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0" y="4846320"/>
            <a:ext cx="3566160" cy="530352"/>
          </a:xfrm>
          <a:prstGeom prst="rect">
            <a:avLst/>
          </a:prstGeom>
          <a:solidFill>
            <a:srgbClr val="EEF6F4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681728" y="4846320"/>
            <a:ext cx="33832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300" b="1" i="0">
                <a:solidFill>
                  <a:srgbClr val="8B3A3A"/>
                </a:solidFill>
                <a:latin typeface="WenQuanYi Micro Hei"/>
                <a:ea typeface="WenQuanYi Micro Hei"/>
                <a:cs typeface="WenQuanYi Micro Hei"/>
              </a:rPr>
              <a:t>项目方空间显著收窄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38160" y="4846320"/>
            <a:ext cx="3566160" cy="530352"/>
          </a:xfrm>
          <a:prstGeom prst="rect">
            <a:avLst/>
          </a:prstGeom>
          <a:solidFill>
            <a:srgbClr val="EEF6F4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47888" y="4846320"/>
            <a:ext cx="33832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300" b="1" i="0">
                <a:solidFill>
                  <a:srgbClr val="8B3A3A"/>
                </a:solidFill>
                <a:latin typeface="WenQuanYi Micro Hei"/>
                <a:ea typeface="WenQuanYi Micro Hei"/>
                <a:cs typeface="WenQuanYi Micro Hei"/>
              </a:rPr>
              <a:t>项目方空间显著收窄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553212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建议：默认走模式 A，把班级做成可滚动产品；仅当学员明确要高校证书时，再单列模式 B 并重谈分成。首期按 40–60 人做圈层密度，比硬冲 25 人小班更划算。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9509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000" b="0" i="0">
                <a:solidFill>
                  <a:srgbClr val="8A96A3"/>
                </a:solidFill>
                <a:latin typeface="WenQuanYi Micro Hei"/>
                <a:ea typeface="WenQuanYi Micro Hei"/>
                <a:cs typeface="WenQuanYi Micro Hei"/>
              </a:rPr>
              <a:t>AI × 不动产资产管理高级研修班 · 合作方案 · 2026 秋季首期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12064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05  推进节奏  </a:t>
            </a:r>
            <a:r>
              <a:rPr sz="24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培训只是入口，后面还有两层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78992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5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战略可以画三层，执行必须先把第一层做成。至少跑满三期，再谈大赛与 FA。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26464"/>
            <a:ext cx="11155680" cy="2794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09960" y="6473952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8A96A3"/>
                </a:solidFill>
                <a:latin typeface="WenQuanYi Micro Hei"/>
                <a:ea typeface="WenQuanYi Micro Hei"/>
                <a:cs typeface="WenQuanYi Micro Hei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691640"/>
            <a:ext cx="3657600" cy="3611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1691640"/>
            <a:ext cx="3657600" cy="1097280"/>
          </a:xfrm>
          <a:prstGeom prst="roundRect">
            <a:avLst>
              <a:gd name="adj" fmla="val 6000"/>
            </a:avLst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377440"/>
            <a:ext cx="3657600" cy="411480"/>
          </a:xfrm>
          <a:prstGeom prst="rect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32461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EBD3"/>
                </a:solidFill>
                <a:latin typeface="WenQuanYi Micro Hei"/>
                <a:ea typeface="WenQuanYi Micro Hei"/>
                <a:cs typeface="WenQuanYi Micro Hei"/>
              </a:rPr>
              <a:t>第一层  ·  现在就做</a:t>
            </a:r>
          </a:p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8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AI+不动产培训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97180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5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精准行业用户与班级品牌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3685032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5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学费 + 渠道 + 班费可核算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398264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5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为后续两层提供名单与信任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1960" y="1691640"/>
            <a:ext cx="3657600" cy="3611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51960" y="1691640"/>
            <a:ext cx="3657600" cy="109728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51960" y="2377440"/>
            <a:ext cx="3657600" cy="41148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53128" y="1810512"/>
            <a:ext cx="32461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EBD3"/>
                </a:solidFill>
                <a:latin typeface="WenQuanYi Micro Hei"/>
                <a:ea typeface="WenQuanYi Micro Hei"/>
                <a:cs typeface="WenQuanYi Micro Hei"/>
              </a:rPr>
              <a:t>第二层  ·  三期之后</a:t>
            </a:r>
          </a:p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8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长三角科创对接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7992" y="297180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5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从学员中筛 100–200 名种子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07992" y="3685032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5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特展约 4 万 / 场，系列约 50 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7992" y="4398264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5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外地企业来沪参访 1–3 万 / 次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1691640"/>
            <a:ext cx="3657600" cy="3611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046720" y="1691640"/>
            <a:ext cx="3657600" cy="1097280"/>
          </a:xfrm>
          <a:prstGeom prst="roundRect">
            <a:avLst>
              <a:gd name="adj" fmla="val 6000"/>
            </a:avLst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20" y="2377440"/>
            <a:ext cx="3657600" cy="41148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47888" y="1810512"/>
            <a:ext cx="32461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第三层  ·  偶得收益</a:t>
            </a:r>
          </a:p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8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FA 撮合佣金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02752" y="297180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5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只在有合作意向时抽取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752" y="3685032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5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成功率低，不可当主营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02752" y="4398264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5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是补充，不是预算支柱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48640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E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5577840"/>
            <a:ext cx="10789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圈层延展（可选）：澳大利亚商务考察可作为高净值学员的深度连接产品，不并入本班主报价，单独成团、单独核算。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9509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000" b="0" i="0">
                <a:solidFill>
                  <a:srgbClr val="8A96A3"/>
                </a:solidFill>
                <a:latin typeface="WenQuanYi Micro Hei"/>
                <a:ea typeface="WenQuanYi Micro Hei"/>
                <a:cs typeface="WenQuanYi Micro Hei"/>
              </a:rPr>
              <a:t>AI × 不动产资产管理高级研修班 · 合作方案 · 2026 秋季首期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12064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05  推进节奏  </a:t>
            </a:r>
            <a:r>
              <a:rPr sz="24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9–11 月黄金档，按周推进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78992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5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招生要两个月窗口。9 月中下旬启动，11 月开班，是当前最稳的节奏。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26464"/>
            <a:ext cx="11155680" cy="2794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09960" y="6473952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8A96A3"/>
                </a:solidFill>
                <a:latin typeface="WenQuanYi Micro Hei"/>
                <a:ea typeface="WenQuanYi Micro Hei"/>
                <a:cs typeface="WenQuanYi Micro Hei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691640"/>
            <a:ext cx="274320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1691640"/>
            <a:ext cx="2743200" cy="1234440"/>
          </a:xfrm>
          <a:prstGeom prst="roundRect">
            <a:avLst>
              <a:gd name="adj" fmla="val 6000"/>
            </a:avLst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514600"/>
            <a:ext cx="2743200" cy="411480"/>
          </a:xfrm>
          <a:prstGeom prst="rect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828800"/>
            <a:ext cx="24688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EBD3"/>
                </a:solidFill>
                <a:latin typeface="WenQuanYi Micro Hei"/>
                <a:ea typeface="WenQuanYi Micro Hei"/>
                <a:cs typeface="WenQuanYi Micro Hei"/>
              </a:rPr>
              <a:t>即刻</a:t>
            </a:r>
          </a:p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8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方案对齐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108960"/>
            <a:ext cx="2377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确认主体：默认模式 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977640"/>
            <a:ext cx="2377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确认单价带与渠道口径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46320"/>
            <a:ext cx="2377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确认课程六模块负责人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1691640"/>
            <a:ext cx="274320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383280" y="1691640"/>
            <a:ext cx="2743200" cy="123444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83280" y="2514600"/>
            <a:ext cx="2743200" cy="41148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20440" y="1828800"/>
            <a:ext cx="24688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EBD3"/>
                </a:solidFill>
                <a:latin typeface="WenQuanYi Micro Hei"/>
                <a:ea typeface="WenQuanYi Micro Hei"/>
                <a:cs typeface="WenQuanYi Micro Hei"/>
              </a:rPr>
              <a:t>9 月中下旬</a:t>
            </a:r>
          </a:p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8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启动招生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108960"/>
            <a:ext cx="2377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商会会员点对点邀请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977640"/>
            <a:ext cx="2377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异地秘书长渠道启动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4846320"/>
            <a:ext cx="2377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高校场地与发票路径锁定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1691640"/>
            <a:ext cx="274320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09360" y="1691640"/>
            <a:ext cx="2743200" cy="1234440"/>
          </a:xfrm>
          <a:prstGeom prst="roundRect">
            <a:avLst>
              <a:gd name="adj" fmla="val 6000"/>
            </a:avLst>
          </a:prstGeom>
          <a:solidFill>
            <a:srgbClr val="1C4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9360" y="2514600"/>
            <a:ext cx="2743200" cy="411480"/>
          </a:xfrm>
          <a:prstGeom prst="rect">
            <a:avLst/>
          </a:prstGeom>
          <a:solidFill>
            <a:srgbClr val="1C4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1828800"/>
            <a:ext cx="24688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4EBD3"/>
                </a:solidFill>
                <a:latin typeface="WenQuanYi Micro Hei"/>
                <a:ea typeface="WenQuanYi Micro Hei"/>
                <a:cs typeface="WenQuanYi Micro Hei"/>
              </a:rPr>
              <a:t>10 月</a:t>
            </a:r>
          </a:p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8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满班冲刺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3108960"/>
            <a:ext cx="2377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目标 40–60 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3977640"/>
            <a:ext cx="2377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班委候选人预热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4846320"/>
            <a:ext cx="2377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首月课表与互访名单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235440" y="1691640"/>
            <a:ext cx="274320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35440" y="1691640"/>
            <a:ext cx="2743200" cy="1234440"/>
          </a:xfrm>
          <a:prstGeom prst="roundRect">
            <a:avLst>
              <a:gd name="adj" fmla="val 6000"/>
            </a:avLst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35440" y="2514600"/>
            <a:ext cx="2743200" cy="41148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72600" y="1828800"/>
            <a:ext cx="24688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11 月</a:t>
            </a:r>
          </a:p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8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正式开班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3108960"/>
            <a:ext cx="2377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开班仪式 + AI 素养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977640"/>
            <a:ext cx="2377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班费账户与互访节奏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18320" y="4846320"/>
            <a:ext cx="2377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1E2A3A"/>
                </a:solidFill>
                <a:latin typeface="WenQuanYi Micro Hei"/>
                <a:ea typeface="WenQuanYi Micro Hei"/>
                <a:cs typeface="WenQuanYi Micro Hei"/>
              </a:rPr>
              <a:t>同步筹备第二期名单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9509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000" b="0" i="0">
                <a:solidFill>
                  <a:srgbClr val="8A96A3"/>
                </a:solidFill>
                <a:latin typeface="WenQuanYi Micro Hei"/>
                <a:ea typeface="WenQuanYi Micro Hei"/>
                <a:cs typeface="WenQuanYi Micro Hei"/>
              </a:rPr>
              <a:t>AI × 不动产资产管理高级研修班 · 合作方案 · 2026 秋季首期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12064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05  推进节奏  </a:t>
            </a:r>
            <a:r>
              <a:rPr sz="24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今天需要拍板的四件事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78992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25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方案可以继续改细节，但下面四项不定，招生就开不了口。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26464"/>
            <a:ext cx="11155680" cy="2794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09960" y="6473952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8A96A3"/>
                </a:solidFill>
                <a:latin typeface="WenQuanYi Micro Hei"/>
                <a:ea typeface="WenQuanYi Micro Hei"/>
                <a:cs typeface="WenQuanYi Micro Hei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664208"/>
            <a:ext cx="76352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1664208"/>
            <a:ext cx="960120" cy="1024128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664208"/>
            <a:ext cx="96012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600" b="1" i="0">
                <a:solidFill>
                  <a:srgbClr val="C4A35A"/>
                </a:solidFill>
                <a:latin typeface="WenQuanYi Micro Hei"/>
                <a:ea typeface="WenQuanYi Micro Hei"/>
                <a:cs typeface="WenQuanYi Micro He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1810512"/>
            <a:ext cx="62636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主体</a:t>
            </a:r>
          </a:p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默认模式 A（第三方账户），模式 B 仅作学员点单选项。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761488"/>
            <a:ext cx="76352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2761488"/>
            <a:ext cx="960120" cy="1024128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761488"/>
            <a:ext cx="96012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600" b="1" i="0">
                <a:solidFill>
                  <a:srgbClr val="C4A35A"/>
                </a:solidFill>
                <a:latin typeface="WenQuanYi Micro Hei"/>
                <a:ea typeface="WenQuanYi Micro Hei"/>
                <a:cs typeface="WenQuanYi Micro He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2907792"/>
            <a:ext cx="62636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定价</a:t>
            </a:r>
          </a:p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对外主报价 2.48 万元，关系户不低于 2.0 万元。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58768"/>
            <a:ext cx="76352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7200" y="3858768"/>
            <a:ext cx="960120" cy="1024128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858768"/>
            <a:ext cx="96012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600" b="1" i="0">
                <a:solidFill>
                  <a:srgbClr val="C4A35A"/>
                </a:solidFill>
                <a:latin typeface="WenQuanYi Micro Hei"/>
                <a:ea typeface="WenQuanYi Micro Hei"/>
                <a:cs typeface="WenQuanYi Micro He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005072"/>
            <a:ext cx="62636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班型</a:t>
            </a:r>
          </a:p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首期按 40–60 人招生，25 人为开班底线。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56048"/>
            <a:ext cx="76352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7200" y="4956048"/>
            <a:ext cx="960120" cy="1024128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956048"/>
            <a:ext cx="960120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600" b="1" i="0">
                <a:solidFill>
                  <a:srgbClr val="C4A35A"/>
                </a:solidFill>
                <a:latin typeface="WenQuanYi Micro Hei"/>
                <a:ea typeface="WenQuanYi Micro Hei"/>
                <a:cs typeface="WenQuanYi Micro He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5102352"/>
            <a:ext cx="62636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B1F3A"/>
                </a:solidFill>
                <a:latin typeface="WenQuanYi Micro Hei"/>
                <a:ea typeface="WenQuanYi Micro Hei"/>
                <a:cs typeface="WenQuanYi Micro Hei"/>
              </a:rPr>
              <a:t>时间</a:t>
            </a:r>
          </a:p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i="0">
                <a:solidFill>
                  <a:srgbClr val="5C6B7A"/>
                </a:solidFill>
                <a:latin typeface="WenQuanYi Micro Hei"/>
                <a:ea typeface="WenQuanYi Micro Hei"/>
                <a:cs typeface="WenQuanYi Micro Hei"/>
              </a:rPr>
              <a:t>9 月中下旬启动招生，11 月开班，每两月滚动一期。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75320" y="1664208"/>
            <a:ext cx="3429000" cy="443484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85632" y="1874519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400" b="1" i="0">
                <a:solidFill>
                  <a:srgbClr val="C4A35A"/>
                </a:solidFill>
                <a:latin typeface="WenQuanYi Micro Hei"/>
                <a:ea typeface="WenQuanYi Micro Hei"/>
                <a:cs typeface="WenQuanYi Micro Hei"/>
              </a:rPr>
              <a:t>会后立即分头做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2377440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▸  </a:t>
            </a:r>
            <a:r>
              <a:rPr sz="1300" b="0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确认课程六模块与讲师档期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3035808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▸  </a:t>
            </a:r>
            <a:r>
              <a:rPr sz="1300" b="0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测算模式 A / B 精确分成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3694176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▸  </a:t>
            </a:r>
            <a:r>
              <a:rPr sz="1300" b="0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列出首批 80 人邀请名单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4352544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▸  </a:t>
            </a:r>
            <a:r>
              <a:rPr sz="1300" b="0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锁定校内场地与开票主体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5010912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1" i="0">
                <a:solidFill>
                  <a:srgbClr val="0E8A7D"/>
                </a:solidFill>
                <a:latin typeface="WenQuanYi Micro Hei"/>
                <a:ea typeface="WenQuanYi Micro Hei"/>
                <a:cs typeface="WenQuanYi Micro Hei"/>
              </a:rPr>
              <a:t>▸  </a:t>
            </a:r>
            <a:r>
              <a:rPr sz="1300" b="0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准备一页招生海报与报名表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4920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600" b="1" i="0">
                <a:solidFill>
                  <a:srgbClr val="C4A35A"/>
                </a:solidFill>
                <a:latin typeface="WenQuanYi Micro Hei"/>
                <a:ea typeface="WenQuanYi Micro Hei"/>
                <a:cs typeface="WenQuanYi Micro Hei"/>
              </a:rPr>
              <a:t>先把一个班做成品牌，再谈后面的生态。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不动产做主干</a:t>
            </a:r>
          </a:p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28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AI 做素养，圈层做长期价值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600" b="0" i="0">
                <a:solidFill>
                  <a:srgbClr val="C5D4E4"/>
                </a:solidFill>
                <a:latin typeface="WenQuanYi Micro Hei"/>
                <a:ea typeface="WenQuanYi Micro Hei"/>
                <a:cs typeface="WenQuanYi Micro Hei"/>
              </a:rPr>
              <a:t>AI × 不动产资产管理高级研修班  ·  2026 年 11 月首期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5394960"/>
            <a:ext cx="2468880" cy="777240"/>
          </a:xfrm>
          <a:prstGeom prst="roundRect">
            <a:avLst>
              <a:gd name="adj" fmla="val 10000"/>
            </a:avLst>
          </a:prstGeom>
          <a:solidFill>
            <a:srgbClr val="14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394960"/>
            <a:ext cx="24688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主体确认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5394960"/>
            <a:ext cx="2468880" cy="777240"/>
          </a:xfrm>
          <a:prstGeom prst="roundRect">
            <a:avLst>
              <a:gd name="adj" fmla="val 10000"/>
            </a:avLst>
          </a:prstGeom>
          <a:solidFill>
            <a:srgbClr val="14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5394960"/>
            <a:ext cx="24688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定价确认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5394960"/>
            <a:ext cx="2468880" cy="777240"/>
          </a:xfrm>
          <a:prstGeom prst="roundRect">
            <a:avLst>
              <a:gd name="adj" fmla="val 10000"/>
            </a:avLst>
          </a:prstGeom>
          <a:solidFill>
            <a:srgbClr val="14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5394960"/>
            <a:ext cx="24688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名单启动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2560" y="5394960"/>
            <a:ext cx="2468880" cy="777240"/>
          </a:xfrm>
          <a:prstGeom prst="roundRect">
            <a:avLst>
              <a:gd name="adj" fmla="val 10000"/>
            </a:avLst>
          </a:prstGeom>
          <a:solidFill>
            <a:srgbClr val="14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0" y="5394960"/>
            <a:ext cx="24688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11 月开班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