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0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9728" cy="201168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AI + 机器人轻资产创业活动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1BEE7"/>
                </a:solidFill>
                <a:latin typeface="微软雅黑"/>
                <a:ea typeface="微软雅黑"/>
              </a:rPr>
              <a:t>寒假研学科创营 · 策划案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E93D8"/>
                </a:solidFill>
                <a:latin typeface="微软雅黑"/>
                <a:ea typeface="微软雅黑"/>
              </a:rPr>
              <a:t>资源池 × 产品 × 客群对齐  |  轻资产验证  |  研学场景切入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青岛西海岸（黄岛）试点  |  V1.0 讨论稿  |  2025年7月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A5A7A"/>
                </a:solidFill>
                <a:latin typeface="微软雅黑"/>
                <a:ea typeface="微软雅黑"/>
              </a:rPr>
              <a:t>基于《AI与机器人创业方向探讨》会议纪要整理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讨论用策划案结构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D1B3D"/>
                </a:solidFill>
                <a:latin typeface="微软雅黑"/>
                <a:ea typeface="微软雅黑"/>
              </a:rPr>
              <a:t>▸  一、会议纪要梗概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2D1B3D"/>
                </a:solidFill>
                <a:latin typeface="微软雅黑"/>
                <a:ea typeface="微软雅黑"/>
              </a:rPr>
              <a:t>▸  二、创业方向与战略判断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2D1B3D"/>
                </a:solidFill>
                <a:latin typeface="微软雅黑"/>
                <a:ea typeface="微软雅黑"/>
              </a:rPr>
              <a:t>▸  三、活动定位与目标客群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2D1B3D"/>
                </a:solidFill>
                <a:latin typeface="微软雅黑"/>
                <a:ea typeface="微软雅黑"/>
              </a:rPr>
              <a:t>▸  四、商业模式与产品组合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2D1B3D"/>
                </a:solidFill>
                <a:latin typeface="微软雅黑"/>
                <a:ea typeface="微软雅黑"/>
              </a:rPr>
              <a:t>▸  五、合作方策略（高校 / 黄岛区科技企业）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2D1B3D"/>
                </a:solidFill>
                <a:latin typeface="微软雅黑"/>
                <a:ea typeface="微软雅黑"/>
              </a:rPr>
              <a:t>▸  六、七至十二月倒排计划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2D1B3D"/>
                </a:solidFill>
                <a:latin typeface="微软雅黑"/>
                <a:ea typeface="微软雅黑"/>
              </a:rPr>
              <a:t>▸  七、寒假主活动方案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2D1B3D"/>
                </a:solidFill>
                <a:latin typeface="微软雅黑"/>
                <a:ea typeface="微软雅黑"/>
              </a:rPr>
              <a:t>▸  八、预算与风险控制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2D1B3D"/>
                </a:solidFill>
                <a:latin typeface="微软雅黑"/>
                <a:ea typeface="微软雅黑"/>
              </a:rPr>
              <a:t>▸  九、待讨论事项与下一步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一、会议纪要梗概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两份材料核心要点提炼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75488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会议背景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地产转型团队探讨进入 AI 与机器人赛道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现有资源：研学渠道（学校/教育机构）、房企上下游私企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原计划：机器人租售 + AI 软件双线、混改国企建展厅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对接品牌：深蓝科技（机器人）、智巨人（AI 视频）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区域：青岛黄岛区，目标寒假落地主活动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47548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148C"/>
                </a:solidFill>
                <a:latin typeface="微软雅黑"/>
                <a:ea typeface="微软雅黑"/>
              </a:rPr>
              <a:t>专家核心建议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2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地产不宜再作主业，须转向科技轻资产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暂缓展厅与混改，优先走出去办活动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资源池·产品·客群三要素必须对齐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机器人与 AI 客群不同，避免双线分散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优选头部品牌，一级代理+提成，勿压库存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研学是可控资源，但需拓展 B 端变现场景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二、创业方向与战略判断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从地产思维转向需求驱动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210312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210312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行业判断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91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地产长期横盘，仅作辅助变现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科技驱动型赛道处于红利期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马太效应加速，须绑定头部厂商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210312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3152" cy="210312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资源判断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20"/>
            <a:ext cx="3291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政府/国企资源不可控，易被架空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研学渠道是团队最大可控资产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B 端（婚庆/活动/短视频）可延伸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210312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210312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模式判断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291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游击战 &gt; 阵地战（无固定展厅）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PPT + 视频 + 样机演示即可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先验证 MVP，再考虑重投入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73152" cy="237744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7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推荐主路径（讨论稿）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51959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聚焦「研学 + AI 科创体验」统一客群：中小学生研学团 + 教育机构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机器人以租赁/联合演示为主，不自购库存；AI 以短视频创作体验课引流算力续费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参考青岛「萝卜快跑」模式：小工作室 + 免费体验课 + 流量包续费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暂缓 50 万级区域代理买断，优先谈一级代理提成或活动分成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三、活动定位与目标客群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寒假主活动锚点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A148C"/>
                </a:solidFill>
                <a:latin typeface="微软雅黑"/>
                <a:ea typeface="微软雅黑"/>
              </a:rPr>
              <a:t>活动名称（建议）：「智创未来」寒假 AI+机器人科创研学营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客群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需求场景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产品/服务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变现方式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研学学生（7-15岁）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寒假科创打卡、机器人体验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半日营/一日营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B端机构采购+门票分成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教育机构/学校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丰富研学产品线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定制研学包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按人头服务费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活动公司/商场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引流表演、节庆活动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机器人租赁+主持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单场租赁费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小微创业团队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AI短视频制作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体验课+算力包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课程费+流量包续费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家长社群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科技启蒙、升学背景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亲子工作坊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报名费+衍生品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四、商业模式与产品组合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轻资产三层收入结构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438912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38912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第一层：活动服务费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918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寒假研学营学费/机构采购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商场/节庆单场活动执行费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企业 Open Day 定制体验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438912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3152" cy="438912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第二层：代理提成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20"/>
            <a:ext cx="32918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机器人租赁/销售分成（宇树/智谱等）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AI 算力/即梦等流量包分销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不压货，成交后结算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438912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438912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第三层：生态合作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2918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教育机构长期课程合作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科技企业联合品牌赞助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高校科普基地挂牌分成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原则：同一客群可「研学体验 + AI 短课」组合；机器人与 AI 算力分渠道运营，避免双线抢精力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五、合作方策略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高校中心与黄岛区科技企业 — 建议方案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57200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✅ 建议引入：高校/中航科幻类中心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角色：科普内容背书 + 研学课程共建 + 师资/志愿者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价值：提升活动公信力，满足学校研学合规需求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方式：联合挂牌「科创研学实践基地」、提供科普讲座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节奏：9月洽谈意向，10月签约框架，11月联合宣发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注意：不参与股权与重资产投入，以内容合作为主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148C"/>
                </a:solidFill>
                <a:latin typeface="微软雅黑"/>
                <a:ea typeface="微软雅黑"/>
              </a:rPr>
              <a:t>✅ 建议引入：黄岛区科技企业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2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角色：样机支持、技术讲解、品牌联合露出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价值：解决机器人演示供应链，降低自购成本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方式：加入区人工智能/机器人协会，横向比选合作方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节奏：8月协会对接，9月确定 2-3 家联合演示伙伴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备选：扬州等外地科技企业可作为设备租赁补充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1FA2"/>
                </a:solidFill>
                <a:latin typeface="微软雅黑"/>
                <a:ea typeface="微软雅黑"/>
              </a:rPr>
              <a:t>不建议：以政府/国企混改为主体推动；可作为场地赞助方，不做核心依赖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六、七至十二月倒排计划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以 2026 寒假为主节点逆向拆解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8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月份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阶段主题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关键里程碑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12月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冲刺筹备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场地确认、师资到位、全流程彩排、寒假招生截止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11月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招生预热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研学机构签约、海报投放、体验课开放日、物料到位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10月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产品封装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课程大纲定稿、PPT/视频物料、报价体系、合同模板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9月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试点验证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小规模体验场（2-3场）、合作方签约、代理政策落地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8月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资源对接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协会入会、高校/企业洽谈、品牌比选、团队分工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7月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战略对齐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本策划案讨论定稿、调研头部品牌、研学资源盘点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▶ 主活动执行窗口：2026年1月中下旬—2月（寒假），详见下页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倒排计划 · 各月关键任务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责任分工建议在 Excel 中细化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9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月份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核心任务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交付物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决策点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7月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战略对齐、品牌调研、资源盘点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策划案定稿、品牌短名单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是否暂缓展厅/混改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8月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协会对接、高校/企业拜访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合作意向书、分工表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选定 2-3 家演示伙伴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9月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MVP 体验活动 2-3 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试点复盘、代理条款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确定主代理品牌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10月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课程产品化、物料制作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课程包、宣传册、报价单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寒假产品定价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11月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招生与渠道签约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机构合同、报名数据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是否达到最低开班人数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12月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彩排与运营准备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执行手册、应急预案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寒假档期最终确认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七、寒假主活动方案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2026 寒假 · 核心交付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活动形态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3-5 期寒假科创研学营（半日/一日）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每期 30-50 人，合计目标 150-250 人次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模块：机器人互动 + AI 短视频体验 + 科普讲座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228600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场地策略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优先：合作商场中庭/社区活动中心/高校科普场地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备选：黄岛区国企闲置商业（仅租场地，不建展厅）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原则：游击式多点位，不集中单一展厅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73152" cy="228600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执行流程（单日营示例）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09:00-09:30 签到破冰  →  09:30-10:30 机器人表演与互动体验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10:45-11:45 AI 短视频创作小课堂（即梦/类似工具）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13:30-15:00 分组科创挑战 + 成果展示  →  15:00-15:30 结业颁证/合影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品牌与供应链建议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基于会议纪要的品牌研判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11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品类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推荐方向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暂不建议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合作模式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人形/表演机器人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宇树、智谱等头部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深蓝 50 万买断加盟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租赁+销售提成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AI 视频/算力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字节即梦、DeepSeek 等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智巨人等非头部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一级代理 4-5 折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行业资源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青岛 AI/机器人协会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单纯依赖政府关系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副会长/会员身份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1B3D"/>
                </a:solidFill>
                <a:latin typeface="微软雅黑"/>
                <a:ea typeface="微软雅黑"/>
              </a:rPr>
              <a:t>•  库存风险：机器人迭代快（机器狗已四代），严禁大批量囤货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1B3D"/>
                </a:solidFill>
                <a:latin typeface="微软雅黑"/>
                <a:ea typeface="微软雅黑"/>
              </a:rPr>
              <a:t>•  验证顺序：先租后买，先活动后代理，先研学后 B 端拓展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营销打法：游击战而非阵地战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走出去，把客户找出来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12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41148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11480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渠道获客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研学合作机构批量导入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学校家委会/家长群裂变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商场节庆联合引流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41148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3152" cy="411480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内容获客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2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短视频探店/活动花絮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小红书/抖音本地生活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孩子作品线上展播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41148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4114800"/>
          </a:xfrm>
          <a:prstGeom prst="rect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B1FA2"/>
                </a:solidFill>
                <a:latin typeface="微软雅黑"/>
                <a:ea typeface="微软雅黑"/>
              </a:rPr>
              <a:t>活动获客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周末免费体验课（筛选付费）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B 端开放日（婚庆/活动公司）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D1B3D"/>
                </a:solidFill>
                <a:latin typeface="微软雅黑"/>
                <a:ea typeface="微软雅黑"/>
              </a:rPr>
              <a:t>•  科技企业联合路演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B1FA2"/>
                </a:solidFill>
                <a:latin typeface="微软雅黑"/>
                <a:ea typeface="微软雅黑"/>
              </a:rPr>
              <a:t>关键原则：算力与 AI 产品须走进企业/活动现场推销；线上免费课转化低，须线下收费筛选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团队分工建议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最小可行团队（5-8人）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13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人数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备注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项目负责人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战略、合作谈判、预算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地产转型核心成员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研学渠道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机构对接、招生、排期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1-2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现有核心资源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内容与课程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课程设计、讲师、物料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1-2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可联合高校师资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活动执行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现场统筹、设备、安全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可兼职/志愿者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市场运营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宣发、短视频、数据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轻资产为主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八、预算与投入（轻资产版）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首年验证期 · 不含代理买断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14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金额（万元）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性质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协会/行业资源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3-5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人工智能协会副会长等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一次性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设备租赁（全年）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8-15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机器人按场租赁，非购置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变动成本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场地与活动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5-10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多点位游击式活动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变动成本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物料与课程开发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3-5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PPT、视频、教材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一次性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市场与招生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3-5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宣发、体验课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变动成本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人员与运营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10-15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5-8人兼职/核心团队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固定成本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预备金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应急与试点追加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储备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37-60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远低於 50 万单一代理买断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风险控制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会议纪要警示项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15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等级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应对策略</a:t>
                      </a:r>
                    </a:p>
                  </a:txBody>
                  <a:tcPr marL="73152" marR="73152" marT="45720" marB="45720">
                    <a:solidFill>
                      <a:srgbClr val="7B1FA2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双线作战精力分散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统一研学客群，分渠道运营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机器人库存贬值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只租不买，成交后结算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政府资源被架空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不依赖政府获客，仅作场地赞助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招生不达预期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11月设最低开班线，未达标延期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品牌方代理政策变化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多品牌比选，不签独家买断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免费课转化低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线下收费体验课筛选付费用户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核心 KPI（寒假验证期）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可量化的 MVP 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16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目标值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验证意义</a:t>
                      </a:r>
                    </a:p>
                  </a:txBody>
                  <a:tcPr marL="73152" marR="73152" marT="45720" marB="45720">
                    <a:solidFill>
                      <a:srgbClr val="4A148C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招生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寒假营总人次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≥150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研学渠道变现能力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收入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活动总收入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≥15万元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商业模式可行性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渠道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签约研学机构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≥3家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B端复购基础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合作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联合企业/高校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各≥1家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生态背书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转化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算力/课程续费用户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≥30人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第二曲线验证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成本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单场活动毛利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≥25%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D1B3D"/>
                          </a:solidFill>
                          <a:latin typeface="微软雅黑"/>
                          <a:ea typeface="微软雅黑"/>
                        </a:rPr>
                        <a:t>可持续运营</a:t>
                      </a:r>
                    </a:p>
                  </a:txBody>
                  <a:tcPr marL="73152" marR="73152" marT="36576" marB="36576"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4A148C"/>
                </a:solidFill>
                <a:latin typeface="微软雅黑"/>
                <a:ea typeface="微软雅黑"/>
              </a:rPr>
              <a:t>九、待讨论事项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A5A7A"/>
                </a:solidFill>
                <a:latin typeface="微软雅黑"/>
                <a:ea typeface="微软雅黑"/>
              </a:rPr>
              <a:t>供团队评审决策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A5A7A"/>
                </a:solidFill>
                <a:latin typeface="微软雅黑"/>
                <a:ea typeface="微软雅黑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D1B3D"/>
                </a:solidFill>
                <a:latin typeface="微软雅黑"/>
                <a:ea typeface="微软雅黑"/>
              </a:rPr>
              <a:t>?  是否确认以「寒假研学营」为第一个 MVP，暂缓展厅与混改？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D1B3D"/>
                </a:solidFill>
                <a:latin typeface="微软雅黑"/>
                <a:ea typeface="微软雅黑"/>
              </a:rPr>
              <a:t>?  机器人 vs AI 算力：是否同意「统一研学客群、分团队运营」？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D1B3D"/>
                </a:solidFill>
                <a:latin typeface="微软雅黑"/>
                <a:ea typeface="微软雅黑"/>
              </a:rPr>
              <a:t>?  高校/中航科幻中心：是否启动联合研学基地洽谈？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D1B3D"/>
                </a:solidFill>
                <a:latin typeface="微软雅黑"/>
                <a:ea typeface="微软雅黑"/>
              </a:rPr>
              <a:t>?  黄岛区科技企业：是否优先加入区人工智能协会？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D1B3D"/>
                </a:solidFill>
                <a:latin typeface="微软雅黑"/>
                <a:ea typeface="微软雅黑"/>
              </a:rPr>
              <a:t>?  代理品牌：是否将宇树/智谱/即梦列为重点调研对象？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D1B3D"/>
                </a:solidFill>
                <a:latin typeface="微软雅黑"/>
                <a:ea typeface="微软雅黑"/>
              </a:rPr>
              <a:t>?  预算区间 37-60 万是否可接受？是否需要压缩至 30 万以内？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D1B3D"/>
                </a:solidFill>
                <a:latin typeface="微软雅黑"/>
                <a:ea typeface="微软雅黑"/>
              </a:rPr>
              <a:t>?  寒假档期：1月还是2月为主？每期人数与定价？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D1B3D"/>
                </a:solidFill>
                <a:latin typeface="微软雅黑"/>
                <a:ea typeface="微软雅黑"/>
              </a:rPr>
              <a:t>?  是否需要赴上海/行业展会补看品牌（人工智能大会等）？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0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谢谢 · 欢迎讨论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E1BEE7"/>
                </a:solidFill>
                <a:latin typeface="微软雅黑"/>
                <a:ea typeface="微软雅黑"/>
              </a:rPr>
              <a:t>在不熟悉的领域多看看，再决定 —— 人工智能周期还长，不必急于求成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E93D8"/>
                </a:solidFill>
                <a:latin typeface="微软雅黑"/>
                <a:ea typeface="微软雅黑"/>
              </a:rPr>
              <a:t>附件：Excel 倒排计划表  |  会议纪要完整版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