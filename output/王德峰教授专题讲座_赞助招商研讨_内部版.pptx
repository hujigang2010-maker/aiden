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8404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972800" cy="38404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  ·    请勿对外发送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赞助招商研讨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3716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《传习录》与阳明心学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招商口径、收支测算与三方机制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51560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供复旦大学住房政策研究中心、上海市杨浦区科技企业联合会、首乾书院统筹使用。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本文件中的目标金额不是已经落实的收入。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828032"/>
            <a:ext cx="30175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6万—8万元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230368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现金招商目标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709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828032"/>
            <a:ext cx="30175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不设总冠名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230368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战略支持 3 万元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709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828032"/>
            <a:ext cx="30175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10月15日前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230368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确认主要意向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招商定位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三级现金赞助，外加实物支持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02  / 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9616"/>
            <a:ext cx="2011680" cy="768096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517904"/>
            <a:ext cx="8503920" cy="7498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家战略支持单位 + 2—3 家特别支持单位 + 若干品牌支持单位。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14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42616"/>
            <a:ext cx="2011680" cy="768096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门槛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60904"/>
            <a:ext cx="8503920" cy="7498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本次不宜设置过高的赞助门槛，不建议另设 5万—10万元总冠名。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85615"/>
            <a:ext cx="2011680" cy="768096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现金目标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03904"/>
            <a:ext cx="8503920" cy="7498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以 6万—8万元现金赞助作为主要招商目标，同时引入茶饮、礼品等实物支持。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28616"/>
            <a:ext cx="2011680" cy="768096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收入属性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946904"/>
            <a:ext cx="8503920" cy="7498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赞助收入用于分担活动成本，不能将其视为已经落实的收入。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级别取舍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不设置 5万—10万元总冠名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03  / 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9659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0607040" cy="11430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当前已知付费人数较少，最终到场规模尚未确定。单场活动报出高额总冠名，成交难度较大。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王德峰教授的个人学术形象，以及主办机构的品牌，不宜被包装成某企业的商业代言。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11155680" cy="26517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因此采用的报价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607040" cy="1737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 万元战略支持更适合当前阶段，且限 1 家。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对外表达为一次完整合作：正式课程席位、现场品牌展示、活动传播，而不是单独出售标识位置。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战略支持明确不包含个人代言、私下会见、专属授课或与教授合影。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招商目标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 万元为底，8 万元为争取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04  / 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方案一    基础目标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方案二    争取目标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223113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223113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737360"/>
            <a:ext cx="131673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737360"/>
            <a:ext cx="131673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737360"/>
            <a:ext cx="1911095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737360"/>
            <a:ext cx="1911095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金额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76272"/>
            <a:ext cx="22311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176272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战略支持单位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176272"/>
            <a:ext cx="13167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176272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176272"/>
            <a:ext cx="1911095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3" y="2176272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30,000元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51760"/>
            <a:ext cx="2231136" cy="42976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651760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特别支持单位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2651760"/>
            <a:ext cx="1316736" cy="42976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2651760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651760"/>
            <a:ext cx="1911095" cy="42976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5383" y="2651760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20,000元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27248"/>
            <a:ext cx="22311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127248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品牌支持单位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127248"/>
            <a:ext cx="13167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3127248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127248"/>
            <a:ext cx="1911095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3127248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10,000元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02736"/>
            <a:ext cx="2231136" cy="42976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3602736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合计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602736"/>
            <a:ext cx="1316736" cy="42976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3602736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5 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3602736"/>
            <a:ext cx="1911095" cy="42976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15383" y="3602736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60,000元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1737360"/>
            <a:ext cx="223113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737360"/>
            <a:ext cx="223113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类型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1737360"/>
            <a:ext cx="131673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1737360"/>
            <a:ext cx="131673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1737360"/>
            <a:ext cx="1911095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1737360"/>
            <a:ext cx="1911095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金额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176272"/>
            <a:ext cx="22311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2176272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战略支持单位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2176272"/>
            <a:ext cx="13167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0224" y="2176272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2176272"/>
            <a:ext cx="1911095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21824" y="2176272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30,000元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2651760"/>
            <a:ext cx="2231136" cy="42976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2651760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特别支持单位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95360" y="2651760"/>
            <a:ext cx="1316736" cy="42976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50224" y="2651760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 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66960" y="2651760"/>
            <a:ext cx="1911095" cy="42976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21824" y="2651760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30,000元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3127248"/>
            <a:ext cx="22311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3127248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品牌支持单位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3127248"/>
            <a:ext cx="1316736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50224" y="3127248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 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66960" y="3127248"/>
            <a:ext cx="1911095" cy="4297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21824" y="3127248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20,000元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3602736"/>
            <a:ext cx="2231136" cy="42976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3602736"/>
            <a:ext cx="21214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合计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3602736"/>
            <a:ext cx="1316736" cy="42976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50224" y="3602736"/>
            <a:ext cx="120700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8 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3602736"/>
            <a:ext cx="1911095" cy="42976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21824" y="3602736"/>
            <a:ext cx="1801368" cy="4297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80,000元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4709160"/>
            <a:ext cx="11155680" cy="1600200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10744200" cy="12801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两套方案是招商目标，不是预计一定能完成的实际收入。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优先争取 1 家战略支持，再通过现有企业关系落实 2—3 家特别支持。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实物支持另计，不计入上述现金目标。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收支测算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8 万元能减负，不能当成盈利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05  / 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以下按此前讨论的口径测算，只用于内部判断，不是对外报价，也不是已到账数字。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324612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10万元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461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主讲人费用口径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2024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4612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28,788元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2461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 人 × 2,399 元学费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24612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108,788元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80"/>
            <a:ext cx="32461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8 万赞助 + 上述学费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10972800" cy="2651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即使完成 8 万元现金赞助，加上现有学费，合计也只是约 10.88 万元。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此数尚未扣除场地、运营、票务服务等费用。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赞助方案包含的课程席位占用入场容量，不能与同一席位的门票收入重复计算。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结论：8 万元赞助可以显著减轻成本压力，但不能保证活动最终盈利。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三方机制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先定收款主体，再谈怎么分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06  / 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45720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298448"/>
            <a:ext cx="301752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统一合同主体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98448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三方确定有签约、收款和开票能力的主体，与企业签订协议。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不由个人账户代收赞助款。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45720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301752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统一活动预算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86000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写明师资、场地、设备、宣传、人员、茶歇等支出。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签约前已发生的费用由原承担方负责，除非书面确认分担。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73552"/>
            <a:ext cx="45720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73552"/>
            <a:ext cx="301752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收入分类记账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73552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赞助、门票、其他合作收入分别记账。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赞助席位单独登记，避免与门票销售重复统计。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61104"/>
            <a:ext cx="45720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61104"/>
            <a:ext cx="301752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净收益另行确定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61104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联合主办不自动按三分之一分配。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按师资、运营、渠道、场地与财务风险协商规则。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48656"/>
            <a:ext cx="45720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48656"/>
            <a:ext cx="3017520" cy="8229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写明变更责任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248656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延期、无法按约授课或取消时，可协商替代或按约退款。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合同写明未批准露出、违约责任与退款安排。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联系顺序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先找已经有信任的企业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07  /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27101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98448"/>
            <a:ext cx="127101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优先级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298448"/>
            <a:ext cx="373989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298448"/>
            <a:ext cx="373989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企业类型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98448"/>
            <a:ext cx="241401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298448"/>
            <a:ext cx="241401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推荐级别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98448"/>
            <a:ext cx="4059936" cy="43891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298448"/>
            <a:ext cx="4059936" cy="43891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合作理由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737360"/>
            <a:ext cx="127101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1737360"/>
            <a:ext cx="1161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1737360"/>
            <a:ext cx="373989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92224" y="1737360"/>
            <a:ext cx="363016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科技企业、人工智能企业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1737360"/>
            <a:ext cx="241401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6984" y="1737360"/>
            <a:ext cx="2304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1万—3万元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737360"/>
            <a:ext cx="405993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4" y="1737360"/>
            <a:ext cx="395020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企业家成长，科技与人文结合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267712"/>
            <a:ext cx="127101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2267712"/>
            <a:ext cx="1161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2267712"/>
            <a:ext cx="373989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2224" y="2267712"/>
            <a:ext cx="363016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企业服务、管理咨询公司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2267712"/>
            <a:ext cx="241401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86984" y="2267712"/>
            <a:ext cx="2304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1万—3万元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267712"/>
            <a:ext cx="405993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2267712"/>
            <a:ext cx="395020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受众与企业客户有所重合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798063"/>
            <a:ext cx="127101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2798063"/>
            <a:ext cx="1161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798063"/>
            <a:ext cx="373989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92224" y="2798063"/>
            <a:ext cx="363016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高端茶叶、文化消费品牌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2798063"/>
            <a:ext cx="241401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6984" y="2798063"/>
            <a:ext cx="2304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5,000元—1万元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2798063"/>
            <a:ext cx="405993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5864" y="2798063"/>
            <a:ext cx="395020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与传统文化主题契合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328415"/>
            <a:ext cx="127101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" y="3328415"/>
            <a:ext cx="1161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3328415"/>
            <a:ext cx="373989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92224" y="3328415"/>
            <a:ext cx="363016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文化出版、书店、文创企业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32120" y="3328415"/>
            <a:ext cx="241401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86984" y="3328415"/>
            <a:ext cx="2304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实物或 5,000元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3328415"/>
            <a:ext cx="4059936" cy="484631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5864" y="3328415"/>
            <a:ext cx="395020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可提供图书及文化用品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58768"/>
            <a:ext cx="127101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" y="3858768"/>
            <a:ext cx="1161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360" y="3858768"/>
            <a:ext cx="373989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92224" y="3858768"/>
            <a:ext cx="363016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酒店、餐饮、会务企业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3858768"/>
            <a:ext cx="241401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86984" y="3858768"/>
            <a:ext cx="230428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实物或服务支持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01000" y="3858768"/>
            <a:ext cx="4059936" cy="484631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55864" y="3858768"/>
            <a:ext cx="3950208" cy="484631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可以降低活动执行成本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4709160"/>
            <a:ext cx="11155680" cy="1645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优先联系已经与主办方有合作基础的企业，而不是临时大规模寻找陌生赞助商。招商周期有限，已有信任的企业更容易完成决策。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同时避开高风险金融产品营销、夸大健康功效的产品，以及其他可能损害学术活动公信力的商业推广。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推进方式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用席位和品牌一起促成决定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08  / 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556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10698480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建议的组合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10698480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一家企业支付 3 万元，其中包含 4 个正式课程席位、现场品牌展示及活动传播权益。企业既可以派管理层参加学习，也完成一次文化活动支持。这比单纯购买标识展示更容易推动决策。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73552"/>
            <a:ext cx="3639312" cy="2971800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2461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权益对齐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3246120" cy="20116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与 2,399 元购票学员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享有相同课程权益。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不降低此前 12 位学员权益。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273552"/>
            <a:ext cx="3639312" cy="2971800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456432"/>
            <a:ext cx="32461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确认节点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77639"/>
            <a:ext cx="3246120" cy="20116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建议 10 月 15 日前确认主要意向。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确认后即可制作海报和现场物料。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273552"/>
            <a:ext cx="3639312" cy="2971800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456432"/>
            <a:ext cx="324612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长期可能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77639"/>
            <a:ext cx="3246120" cy="20116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若本次跑通，以后可以沉淀为“企业家思想文化讲坛”的赞助体系，而不必每场从零招商。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9184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32918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内部研讨    ·    不进入对外招商稿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转发文案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15568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可直接发给企业的短文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6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内部资料  ·  请勿对外发送  ·  赞助招商研讨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77440" cy="29260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09  / 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5568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10744200" cy="47548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王德峰教授《传习录》与阳明心学专题讲座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2026年10月31日 · 上海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五百年前的东方智慧，如何回应今天的人生困境？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本次活动特邀复旦大学哲学学院原教授、博士生导师王德峰教授，围绕《传习录》与阳明心学展开全天专题研修。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拟由复旦大学住房政策研究中心、上海市杨浦区科技企业联合会、首乾书院联合主办。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现诚邀关注传统文化、企业成长与人文精神建设的优秀企业，共同支持本次高品质文化交流活动。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战略支持单位 30,000元    特别支持单位 10,000元    品牌支持单位 5,000元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同时开放茶饮、图书、礼品、场地及相关服务支持。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合作企业可获得活动品牌展示、企业代表参会席位、现场鸣谢及活动传播等权益。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期待与优秀企业携手，共赴一场思想与智慧的盛宴。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《传习录》与阳明心学 · 赞助招商研讨（内部）</dc:title>
  <dc:subject>内部资料，请勿对外发送</dc:subject>
  <dc:creator>活动筹备组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赞助方案</cp:category>
  <dc:language>zh-CN</dc:language>
</cp:coreProperties>
</file>