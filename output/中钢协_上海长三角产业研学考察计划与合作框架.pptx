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钢铁 × 地产 × 产业园区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2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上海 / 长三角产业研学考察计划 与 合作框架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800"/>
              </a:spcAft>
            </a:pPr>
            <a:r>
              <a:rPr sz="16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四期 · 每期两天半 · 上海（长三角延伸）</a:t>
            </a:r>
          </a:p>
          <a:p>
            <a:pPr algn="ctr">
              <a:lnSpc>
                <a:spcPct val="108000"/>
              </a:lnSpc>
              <a:spcAft>
                <a:spcPts val="800"/>
              </a:spcAft>
            </a:pPr>
            <a:r>
              <a:rPr sz="14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标杆项目 · 标杆园区 · 智能制造 · 科技企业 · 供需闭门撮合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中钢协流通分会 · 复旦大学住房政策研究中心（房地产研究中心） · 上海市杨浦区科技企业联合会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项目定位与四期安排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以“产业需求驱动”为核心，形成“考察 + 对接 + 项目转化”闭环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由中钢协流通分会、复旦大学房地产研究中心与杨浦区科技企业联合会三方合作，以“考察 + 对接 + 项目转化”闭环，服务钢铁产业链与地产 / 园区 / 制造业的跨产业撮合。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2788920" cy="338328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278892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47671"/>
            <a:ext cx="2569464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第一期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8月底 / 9月初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834639"/>
            <a:ext cx="2532888" cy="2331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地产标杆 × 城市更新（存量盘活）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聚焦：对接烂尾楼盘、闲置地产（特殊资产重整）——帮房企盘活项目，钢材采购为配套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用钢场景：超高层与装配式建筑用钢、存量改造钢结构应用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874519"/>
            <a:ext cx="2788920" cy="338328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1874519"/>
            <a:ext cx="278892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947671"/>
            <a:ext cx="2569464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第二期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9月底 / 10月初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34639"/>
            <a:ext cx="2532888" cy="2331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滨水城市更新 × 产业园区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聚焦：考察世界级滨水更新片区与标杆产业园，导入园区绿色材料改造需求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用钢场景：幕墙与复杂钢结构、园区低碳改造用钢、精密装备结构件用钢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4224" y="1874519"/>
            <a:ext cx="2788920" cy="338328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4224" y="1874519"/>
            <a:ext cx="278892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947671"/>
            <a:ext cx="2569464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第三期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10月底 / 11月初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34639"/>
            <a:ext cx="2532888" cy="2331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智能制造 × 钢材新场景（发那科专场）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聚焦：已联系发那科（FANUC）——带钢厂销售/研发负责人看智能装备到底要什么钢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用钢场景：机器人本体铸钢与结构件、数控机床、高端装备结构用钢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17736" y="1874519"/>
            <a:ext cx="2788920" cy="338328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17736" y="1874519"/>
            <a:ext cx="278892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947671"/>
            <a:ext cx="2569464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第四期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11月底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834639"/>
            <a:ext cx="2532888" cy="2331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新能源应用场景（光伏 / 储能 / 新能源汽车用钢）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聚焦：直击钢厂痛点——不知道产品能用到哪些新场景（光伏支架 / 储能柜 / 新能源汽车部件）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用钢场景：光伏支架、储能柜体、新能源汽车车身与电池结构件、充电桩用钢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规模：每期 10–15 人 · 小规模高质量闭门　|　保障：主办方统一安排考察用车、工作餐与会务（费用计入组织成本）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战略目标：面向未来，成为中钢协在上海及长三角区域统筹的【总战略合作伙伴】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第一期 · 8月底 / 9月初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地产标杆 × 城市更新（存量盘活）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聚焦：对接烂尾楼盘、闲置地产（特殊资产重整）——帮房企盘活项目，钢材采购为配套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主题课：《存量时代地产项目盘活与建材成本重构》— 复旦大学住房政策研究中心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用钢新场景：超高层与装配式建筑用钢、存量改造钢结构应用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3317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考察点（项目 / 园区 / 工厂）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看点 · 用钢关联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标杆项目·超高层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上海中心大厦（陆家嘴）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632m 地标，巨型钢结构 + 伸臂桁架，高性能建筑用钢标杆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标杆项目·存量改造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上生·新所（长宁）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历史建筑保护性更新，存量资产盘活样板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标杆项目·存量改造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张园（静安）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石库门保护性征收与整体改造，特殊资产重整范例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标杆园区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长阳创谷（杨浦）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老工业厂房 → 双创示范园区，杨浦科企联合会资源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智能制造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中建科技 / 宝钢建筑 装配式钢结构智能制造基地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建筑用钢工业化，存量改造装配式应用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第二期 · 9月底 / 10月初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滨水城市更新 × 产业园区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聚焦：考察世界级滨水更新片区与标杆产业园，导入园区绿色材料改造需求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主题课：《城市更新与园区存量改造中的产业协同》— 复旦 + 杨浦区科技企业联合会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用钢新场景：幕墙与复杂钢结构、园区低碳改造用钢、精密装备结构件用钢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3317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考察点（项目 / 园区 / 工厂）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看点 · 用钢关联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标杆项目·滨水更新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徐汇西岸滨江（西岸美术馆大道 / 西岸金融城）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工业岸线 → 世界级滨水区更新标杆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标杆项目·商业地标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天安千树（普陀·苏州河畔）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网红商业地标，复杂钢结构与异形幕墙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标杆园区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张江科学城 · 张江人工智能岛（浦东）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科学城规划 + AI 产业园区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标杆园区·科技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市北高新园区（静安）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大数据 / 云计算产业社区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智能制造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联影医疗（嘉定）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高端医疗装备智能制造，精密结构件用钢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第三期 · 10月底 / 11月初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智能制造 × 钢材新场景（发那科专场）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聚焦：已联系发那科（FANUC）——带钢厂销售/研发负责人看智能装备到底要什么钢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主题课：《智能装备与机器人产业的用钢新需求》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用钢新场景：机器人本体铸钢与结构件、数控机床、高端装备结构用钢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3317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考察点（项目 / 园区 / 工厂）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看点 · 用钢关联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智能制造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FANUC 发那科（宝山）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工业机器人 / 数控系统智能工厂，机器人本体结构件用钢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科技企业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节卡机器人 JAKA / ABB 机器人（康桥）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协作机器人与工业自动化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标杆园区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临港新片区·前沿产业区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国家级新片区，高端装备产业集群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标杆项目·新城地标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滴水湖·临港中心 / 天文馆片区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新城地标建筑群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智能制造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上海电气 / 振华重工 高端装备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重型高端装备用钢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第四期 · 11月底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新能源应用场景（光伏 / 储能 / 新能源汽车用钢）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聚焦：直击钢厂痛点——不知道产品能用到哪些新场景（光伏支架 / 储能柜 / 新能源汽车部件）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主题课：《“双碳”下钢铁材料在光伏支架、储能柜、新能源汽车部件的新应用》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E6DA4"/>
                </a:solidFill>
                <a:latin typeface="微软雅黑"/>
                <a:ea typeface="微软雅黑"/>
                <a:cs typeface="微软雅黑"/>
              </a:rPr>
              <a:t>用钢新场景：光伏支架、储能柜体、新能源汽车车身与电池结构件、充电桩用钢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3317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考察点（项目 / 园区 / 工厂）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看点 · 用钢关联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智能制造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特斯拉上海超级工厂（临港）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新能源汽车整车制造，车身 / 电池结构件用钢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科技企业·储能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上海电气储能 / 首航新能源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储能系统集成，储能柜与支架用钢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科技企业·光伏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天合光能长三角基地（常州，长三角延伸·选配）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光伏支架用钢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标杆园区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临港新能源产业园 / 张江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新能源产业集群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标杆项目·绿色建筑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世博文化公园近零碳示范建筑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绿色钢结构与低碳建筑用钢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行程模板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每期两天半 · 标准时间节点排布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四期共用，实际考察点按各期主题替换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5285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4206240"/>
                <a:gridCol w="39319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日期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时间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环节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说明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09:00–09:40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报到 · 开幕式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主办三方致辞，发放行程与考察手册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09:40–11:00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主题报告（复旦大学住房政策研究中心）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结合本期主题的政策与趋势解读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11:00–12:00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破冰交流 · 企业需求自述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钢厂 / 需求端各自介绍产品与诉求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12:00–13:30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工作午餐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主办方统一安排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14:00–16:30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参访点①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现场讲解 + 用钢场景交流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16:30–17:30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现场研讨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围绕参访点①的应用与合作探讨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1 天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18:00–20:00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欢迎晚宴 · 主题沙龙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高质量决策人非正式交流</a:t>
                      </a:r>
                    </a:p>
                  </a:txBody>
                  <a:tcPr anchor="ctr">
                    <a:solidFill>
                      <a:srgbClr val="E3EC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2 天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09:00–11:30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参访点②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现场讲解 + 用钢场景交流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2 天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11:30–13:00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工作午餐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主办方统一安排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2 天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13:30–16:00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参访点③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现场讲解 + 用钢场景交流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2 天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16:00–17:30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参访点④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现场讲解 + 用钢场景交流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2 天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18:00–20:00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闭门对接晚餐（1v1）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供需端定向撮合</a:t>
                      </a:r>
                    </a:p>
                  </a:txBody>
                  <a:tcPr anchor="ctr">
                    <a:solidFill>
                      <a:srgbClr val="ED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3 天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09:00–10:30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参访点⑤（智能制造）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钢材新场景实地考察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3 天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10:30–12:00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1v1 闭门撮合对接会 · 项目池落地机制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形成交易线索，转入项目池跟踪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3 天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12:00–13:00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总结午餐 · 结业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复盘与后续跟进安排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2B4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3 天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13:30 起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返程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行程结束</a:t>
                      </a:r>
                    </a:p>
                  </a:txBody>
                  <a:tcPr anchor="ctr">
                    <a:solidFill>
                      <a:srgbClr val="F6EEE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合作框架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统筹合作框架 · 总览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中钢协流通分会 × 复旦房地产研究中心 × 杨浦区科技企业联合会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由中钢协流通分会、复旦大学房地产研究中心与杨浦区科技企业联合会三方合作，以“考察 + 对接 + 项目转化”闭环，服务钢铁产业链与地产 / 园区 / 制造业的跨产业撮合。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3657600" cy="219456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657600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240280"/>
            <a:ext cx="34015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主导 / 控盘方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834640"/>
            <a:ext cx="3364992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复旦大学房地产研究中心 + 杨浦区科技企业联合会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品牌 · 规则 · 内容 · 收费权 · 政府与园区资源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148840"/>
            <a:ext cx="3657600" cy="219456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2148840"/>
            <a:ext cx="3657600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2240280"/>
            <a:ext cx="34015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战略协同 / 渠道方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2834640"/>
            <a:ext cx="3364992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中钢协流通分会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钢铁企业资源 · 组织参与 · 协助邀约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48840"/>
            <a:ext cx="3657600" cy="219456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148840"/>
            <a:ext cx="3657600" cy="5486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2240280"/>
            <a:ext cx="34015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我方目标定位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834640"/>
            <a:ext cx="3364992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上海及长三角总战略合作伙伴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独家 / 优先承接中钢协在沪及长三角研学、撮合与项目转化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1124712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对方顾虑与我方应对：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钢厂决策慢 / 中小钢厂动员难 → 初期不收费 + 真政策真资源，降低门槛、精准筛客，用小规模闭门锁定决策人。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地产 / 园区收缩、无预算 → 商业模式转向存量盘活 / 特殊资产重整——帮房企盘活烂尾、闲置项目，钢材采购为配套，意愿强、订单大且持续。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两边都怕被白嫖 / 跳单 → 撮合位置写进协议，服务费 / 项目费 / 会员制绑定，建立项目池与成交确认机制。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抽成合规风险（国企审计严） → 以咨询 / 项目服务费名义、正规主体开票，不走按成交额的第三方居间分成账。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钢厂不知产品新场景 → 第三、四期专程带钢厂销售 / 研发去发那科、特斯拉、光伏 / 储能企业，实地看智能装备与新能源到底要什么钢。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合作节奏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两阶段合作设计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先共建、后盈利：初期不计营收，跑通后按比例提成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448056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6858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91056"/>
            <a:ext cx="5157216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 · 共建期（前 1–2 期，8–9 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31720"/>
            <a:ext cx="5084064" cy="3474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前几次活动【不计营收】与中钢协共同开展，双方各自承担部分组织成本；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目的：建立互信、验证模式、沉淀标杆案例、打磨供需撮合闭环；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中钢协向协会会员收费、我方向自有校友 / 资源收费，各自收益归各自所有；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以“真政策 + 真资源”降低门槛、精准筛选高质量决策人。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486400" cy="448056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486400" cy="685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591056"/>
            <a:ext cx="5157216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 · 盈利期（模式跑通后，10 月起）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331720"/>
            <a:ext cx="5084064" cy="3474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一旦撮合 / 项目转化成功，按约定比例提取撮合服务费 / 项目服务费提成；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以“产业咨询 / 项目服务费”名义，由复旦、杨浦联合会等正规主体开票；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不做按成交额的居间分成账务，规避变相居间与合规风险；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• 把“撮合位置”写进合作协议，服务费 / 项目费 / 会员制绑定，建立成交确认机制。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盈利底线与分配原则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我方无会员制收入，不以亏损为合作前提；分配向我方投入倾斜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123444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28016" cy="12344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10789920" cy="1051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底线：不以亏损为合作前提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对方为会员制、有会费现金流；我方无会员制收入。组织成本（考察用车、工作餐、会务、专家、场地）须有明确分担或覆盖机制，我方不以亏损为合作前提。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11247120" cy="123444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28016" cy="12344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98648"/>
            <a:ext cx="10789920" cy="1051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倾斜：向我方投入适当倾斜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未来盈利分配应充分考虑我方投入的人力、财力与专业资源（复旦品牌、专业方案、政府与园区资源），在利润分配上向我方适当倾斜。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11247120" cy="123444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206240"/>
            <a:ext cx="128016" cy="12344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10789920" cy="1051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建议分配（可协商）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撮合 / 项目收益：主办方（复旦 + 杨浦）主导，中钢协取渠道分成；各自向自有客户的报名费归各自所有。需求入口、撮合规则与收费权不外放。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变现与目标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收费结构（初期让利） 与 目标里程碑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收费结构（承接原报价逻辑）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37360"/>
          <a:ext cx="5577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说明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基础游学套餐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阶段一成本价 / 减免；阶段二 9,800–16,800 元/人（分层报名，筛选机制）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产业撮合服务费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万–30 万 / 项目，或 成交金额的 1%–3%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企业年度会员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万 / 30 万 每年（对方会员制为主，我方以项目 / 服务费为核心）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6DA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高阶专项项目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A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项目咨询费 + 成交分成（利润放大器）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目标里程碑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83080"/>
            <a:ext cx="5394960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83080"/>
            <a:ext cx="1280160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039112"/>
            <a:ext cx="12344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8–9 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911096"/>
            <a:ext cx="3886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完成前两期共建，沉淀 ≥2 个标杆案例，建立项目池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880360"/>
            <a:ext cx="5394960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880360"/>
            <a:ext cx="1280160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136392"/>
            <a:ext cx="12344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10–11 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08376"/>
            <a:ext cx="3886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发那科 / 新能源专场跑通撮合闭环，落地 ≥1 个可收费项目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77640"/>
            <a:ext cx="5394960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77640"/>
            <a:ext cx="1280160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233672"/>
            <a:ext cx="12344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年底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105656"/>
            <a:ext cx="3886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微软雅黑"/>
                <a:ea typeface="微软雅黑"/>
                <a:cs typeface="微软雅黑"/>
              </a:rPr>
              <a:t>与中钢协签订【上海及长三角总战略合作伙伴】框架协议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钢铁 × 地产 × 产业园区 · 跨产业撮合与游学转化平台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636E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我们不是做游学活动，</a:t>
            </a:r>
          </a:p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200" b="1">
                <a:solidFill>
                  <a:srgbClr val="E88A1A"/>
                </a:solidFill>
                <a:latin typeface="微软雅黑"/>
                <a:ea typeface="微软雅黑"/>
                <a:cs typeface="微软雅黑"/>
              </a:rPr>
              <a:t>而是做钢铁产业与地产 / 园区之间的需求撮合与项目转化平台。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8000"/>
              </a:lnSpc>
              <a:spcAft>
                <a:spcPts val="800"/>
              </a:spcAft>
            </a:pPr>
            <a:r>
              <a:rPr sz="1600" b="0">
                <a:solidFill>
                  <a:srgbClr val="C9D6E3"/>
                </a:solidFill>
                <a:latin typeface="微软雅黑"/>
                <a:ea typeface="微软雅黑"/>
                <a:cs typeface="微软雅黑"/>
              </a:rPr>
              <a:t>面向未来，成为中钢协在上海及长三角区域统筹的【总战略合作伙伴】</a:t>
            </a:r>
          </a:p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中钢协流通分会 · 复旦大学住房政策研究中心（房地产研究中心） · 上海市杨浦区科技企业联合会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