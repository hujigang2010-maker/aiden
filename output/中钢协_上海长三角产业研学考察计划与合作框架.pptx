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钢铁 × 不动产 × 产业园区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1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上海 / 长三角产业研学考察计划 与 联合主办合作框架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C9D6E3"/>
                </a:solidFill>
                <a:latin typeface="微软雅黑"/>
                <a:ea typeface="微软雅黑"/>
                <a:cs typeface="微软雅黑"/>
              </a:rPr>
              <a:t>四期 · 每期两天半 · 上海（长三角延伸）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总会对总会 · 商务对商务 · 对等交流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联合主办：复旦大学住房政策研究中心 · 上海市科技企业联合会 · 上海市杨浦区科技企业联合会</a:t>
            </a:r>
          </a:p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C9D6E3"/>
                </a:solidFill>
                <a:latin typeface="微软雅黑"/>
                <a:ea typeface="微软雅黑"/>
                <a:cs typeface="微软雅黑"/>
              </a:rPr>
              <a:t>战略合作（总会对总会）：中国钢铁工业协会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项目定位与四期安排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C9D6E3"/>
                </a:solidFill>
                <a:latin typeface="微软雅黑"/>
                <a:ea typeface="微软雅黑"/>
                <a:cs typeface="微软雅黑"/>
              </a:rPr>
              <a:t>以“产业需求驱动”为核心，形成“考察 + 对接 + 项目转化”闭环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由中国钢铁工业协会（供给 / 渠道方）与复旦大学住房政策研究中心、上海市科技企业联合会、上海市杨浦区科技企业联合会（联合主办 / 平台赋能方）以对等结构合作，把学术公信力与真实买方网络转化为可量化、可定价的商业筹码。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2788920" cy="329184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278892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039112"/>
            <a:ext cx="2569464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第一期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8月底 / 9月初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926080"/>
            <a:ext cx="2532888" cy="2240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不动产标杆 × 城市更新（存量盘活）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聚焦：对接烂尾楼盘、闲置不动产（特殊资产重整）——帮不动产项目方盘活项目，钢材采购为配套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2E6DA4"/>
                </a:solidFill>
                <a:latin typeface="微软雅黑"/>
                <a:ea typeface="微软雅黑"/>
                <a:cs typeface="微软雅黑"/>
              </a:rPr>
              <a:t>用钢场景：超高层与装配式建筑用钢、存量改造钢结构应用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1965960"/>
            <a:ext cx="2788920" cy="329184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1965960"/>
            <a:ext cx="278892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039112"/>
            <a:ext cx="2569464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第二期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9月底 / 10月初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926080"/>
            <a:ext cx="2532888" cy="2240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滨水城市更新 × 产业园区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聚焦：考察世界级滨水更新片区与标杆产业园，导入园区绿色材料改造需求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2E6DA4"/>
                </a:solidFill>
                <a:latin typeface="微软雅黑"/>
                <a:ea typeface="微软雅黑"/>
                <a:cs typeface="微软雅黑"/>
              </a:rPr>
              <a:t>用钢场景：幕墙与复杂钢结构、园区低碳改造用钢、精密装备结构件用钢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4224" y="1965960"/>
            <a:ext cx="2788920" cy="329184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64224" y="1965960"/>
            <a:ext cx="278892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39112"/>
            <a:ext cx="2569464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第三期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10月底 / 11月初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2532888" cy="2240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智能制造 × 钢材新场景（发那科专场）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聚焦：已联系发那科（FANUC）——带钢厂销售/研发负责人看智能装备到底要什么钢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2E6DA4"/>
                </a:solidFill>
                <a:latin typeface="微软雅黑"/>
                <a:ea typeface="微软雅黑"/>
                <a:cs typeface="微软雅黑"/>
              </a:rPr>
              <a:t>用钢场景：机器人本体铸钢与结构件、数控机床、高端装备结构用钢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17736" y="1965960"/>
            <a:ext cx="2788920" cy="329184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17736" y="1965960"/>
            <a:ext cx="278892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7464" y="2039112"/>
            <a:ext cx="2569464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第四期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11月底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2926080"/>
            <a:ext cx="2532888" cy="2240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新能源应用场景（光伏 / 储能 / 新能源汽车用钢）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聚焦：直击钢厂痛点——不知道产品能用到哪些新场景（光伏支架 / 储能柜 / 新能源汽车部件）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2E6DA4"/>
                </a:solidFill>
                <a:latin typeface="微软雅黑"/>
                <a:ea typeface="微软雅黑"/>
                <a:cs typeface="微软雅黑"/>
              </a:rPr>
              <a:t>用钢场景：光伏支架、储能柜体、新能源汽车车身与电池结构件、充电桩用钢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规模：每期 10–15 人 · 小规模高质量闭门　|　成本口径：会务与接待等直接运营成本可各自独立核算；品牌与资源赋能须按对价回流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战略目标：面向未来，成为中国钢铁工业协会在上海及长三角区域统筹的【总战略合作伙伴】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钢铁 × 不动产 × 产业园区 · 跨产业撮合与游学转化平台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第一期 · 8月底 / 9月初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不动产标杆 × 城市更新（存量盘活）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247120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聚焦：对接烂尾楼盘、闲置不动产（特殊资产重整）——帮不动产项目方盘活项目，钢材采购为配套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主题课：《存量时代不动产项目盘活与建材成本重构》— 复旦大学住房政策研究中心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2E6DA4"/>
                </a:solidFill>
                <a:latin typeface="微软雅黑"/>
                <a:ea typeface="微软雅黑"/>
                <a:cs typeface="微软雅黑"/>
              </a:rPr>
              <a:t>用钢新场景：超高层与装配式建筑用钢、存量改造钢结构应用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331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931920"/>
                <a:gridCol w="512064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考察点（项目 / 园区 / 工厂）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看点 · 用钢关联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标杆项目·超高层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上海中心大厦（陆家嘴）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632m 地标，巨型钢结构 + 伸臂桁架，高性能建筑用钢标杆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标杆项目·存量改造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上生·新所（长宁）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历史建筑保护性更新，存量资产盘活样板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标杆项目·存量改造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张园（静安）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石库门保护性征收与整体改造，特殊资产重整范例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标杆园区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长阳创谷（杨浦）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老工业厂房 → 双创示范园区，上海市杨浦区科技企业联合会资源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智能制造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中建科技 / 宝钢建筑 装配式钢结构智能制造基地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建筑用钢工业化，存量改造装配式应用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钢铁 × 不动产 × 产业园区 · 跨产业撮合与游学转化平台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第二期 · 9月底 / 10月初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滨水城市更新 × 产业园区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247120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聚焦：考察世界级滨水更新片区与标杆产业园，导入园区绿色材料改造需求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主题课：《城市更新与园区存量改造中的产业协同》— 复旦大学住房政策研究中心 + 上海市科技企业联合会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2E6DA4"/>
                </a:solidFill>
                <a:latin typeface="微软雅黑"/>
                <a:ea typeface="微软雅黑"/>
                <a:cs typeface="微软雅黑"/>
              </a:rPr>
              <a:t>用钢新场景：幕墙与复杂钢结构、园区低碳改造用钢、精密装备结构件用钢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331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931920"/>
                <a:gridCol w="512064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考察点（项目 / 园区 / 工厂）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看点 · 用钢关联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标杆项目·滨水更新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徐汇西岸滨江（西岸美术馆大道 / 西岸金融城）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工业岸线 → 世界级滨水区更新标杆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标杆项目·商业地标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天安千树（普陀·苏州河畔）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网红商业地标，复杂钢结构与异形幕墙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标杆园区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张江科学城 · 张江人工智能岛（浦东）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科学城规划 + AI 产业园区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标杆园区·科技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市北高新园区（静安）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大数据 / 云计算产业社区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智能制造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联影医疗（嘉定）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高端医疗装备智能制造，精密结构件用钢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钢铁 × 不动产 × 产业园区 · 跨产业撮合与游学转化平台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第三期 · 10月底 / 11月初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智能制造 × 钢材新场景（发那科专场）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247120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聚焦：已联系发那科（FANUC）——带钢厂销售/研发负责人看智能装备到底要什么钢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主题课：《智能装备与机器人产业的用钢新需求》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2E6DA4"/>
                </a:solidFill>
                <a:latin typeface="微软雅黑"/>
                <a:ea typeface="微软雅黑"/>
                <a:cs typeface="微软雅黑"/>
              </a:rPr>
              <a:t>用钢新场景：机器人本体铸钢与结构件、数控机床、高端装备结构用钢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331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931920"/>
                <a:gridCol w="512064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考察点（项目 / 园区 / 工厂）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看点 · 用钢关联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智能制造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FANUC 发那科（宝山）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工业机器人 / 数控系统智能工厂，机器人本体结构件用钢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科技企业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节卡机器人 JAKA / ABB 机器人（康桥）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协作机器人与工业自动化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标杆园区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临港新片区·前沿产业区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国家级新片区，高端装备产业集群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标杆项目·新城地标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滴水湖·临港中心 / 天文馆片区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新城地标建筑群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智能制造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上海电气 / 振华重工 高端装备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重型高端装备用钢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钢铁 × 不动产 × 产业园区 · 跨产业撮合与游学转化平台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第四期 · 11月底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新能源应用场景（光伏 / 储能 / 新能源汽车用钢）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247120" cy="960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聚焦：直击钢厂痛点——不知道产品能用到哪些新场景（光伏支架 / 储能柜 / 新能源汽车部件）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主题课：《“双碳”下钢铁材料在光伏支架、储能柜、新能源汽车部件的新应用》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2E6DA4"/>
                </a:solidFill>
                <a:latin typeface="微软雅黑"/>
                <a:ea typeface="微软雅黑"/>
                <a:cs typeface="微软雅黑"/>
              </a:rPr>
              <a:t>用钢新场景：光伏支架、储能柜体、新能源汽车车身与电池结构件、充电桩用钢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331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931920"/>
                <a:gridCol w="512064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考察点（项目 / 园区 / 工厂）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看点 · 用钢关联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智能制造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特斯拉上海超级工厂（临港）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新能源汽车整车制造，车身 / 电池结构件用钢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科技企业·储能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上海电气储能 / 首航新能源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储能系统集成，储能柜与支架用钢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科技企业·光伏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天合光能长三角基地（常州，长三角延伸·选配）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光伏支架用钢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标杆园区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临港新能源产业园 / 张江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新能源产业集群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6DA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标杆项目·绿色建筑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世博文化公园近零碳示范建筑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绿色钢结构与低碳建筑用钢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钢铁 × 不动产 × 产业园区 · 跨产业撮合与游学转化平台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行程模板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每期两天半 · 标准时间节点排布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C9D6E3"/>
                </a:solidFill>
                <a:latin typeface="微软雅黑"/>
                <a:ea typeface="微软雅黑"/>
                <a:cs typeface="微软雅黑"/>
              </a:rPr>
              <a:t>四期共用，实际考察点按各期主题替换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528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828800"/>
                <a:gridCol w="4206240"/>
                <a:gridCol w="393192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日期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天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09:00–09:40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报到 · 开幕式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联合主办与战略合作方致辞，发放行程与考察手册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天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09:40–11:00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主题报告（复旦大学住房政策研究中心）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结合本期主题的政策与趋势解读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天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11:00–12:00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破冰交流 · 企业需求自述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钢厂 / 需求端各自介绍产品与诉求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天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12:00–13:30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工作午餐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会务接待成本各自核算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天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14:00–16:30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参访点①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现场讲解 + 用钢场景交流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天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16:30–17:30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现场研讨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围绕参访点①的应用与合作探讨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天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18:00–20:00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欢迎晚宴 · 主题沙龙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高质量决策人非正式交流</a:t>
                      </a:r>
                    </a:p>
                  </a:txBody>
                  <a:tcPr anchor="ctr">
                    <a:solidFill>
                      <a:srgbClr val="E3EC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2 天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09:00–11:30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参访点②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现场讲解 + 用钢场景交流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2 天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11:30–13:00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工作午餐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会务接待成本各自核算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2 天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13:30–16:00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参访点③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现场讲解 + 用钢场景交流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2 天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16:00–17:30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参访点④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现场讲解 + 用钢场景交流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2 天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18:00–20:00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闭门对接晚餐（1v1）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供需端定向撮合，纳入名单共管库</a:t>
                      </a:r>
                    </a:p>
                  </a:txBody>
                  <a:tcPr anchor="ctr">
                    <a:solidFill>
                      <a:srgbClr val="EDF3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3 天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09:00–10:30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参访点⑤（智能制造）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钢材新场景实地考察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3 天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10:30–12:00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1v1 闭门撮合对接会 · 项目池落地机制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形成交易线索，转入项目池与分成落位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3 天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12:00–13:00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总结午餐 · 结业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复盘与后续跟进安排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3 天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13:30 起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返程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行程结束</a:t>
                      </a:r>
                    </a:p>
                  </a:txBody>
                  <a:tcPr anchor="ctr">
                    <a:solidFill>
                      <a:srgbClr val="F6EEE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钢铁 × 不动产 × 产业园区 · 跨产业撮合与游学转化平台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合作定位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总会对总会 · 商务对商务 · 对等交流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C9D6E3"/>
                </a:solidFill>
                <a:latin typeface="微软雅黑"/>
                <a:ea typeface="微软雅黑"/>
                <a:cs typeface="微软雅黑"/>
              </a:rPr>
              <a:t>把学术公信力与买方网络，转化为可量化、可定价的商业筹码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由中国钢铁工业协会（供给 / 渠道方）与复旦大学住房政策研究中心、上海市科技企业联合会、上海市杨浦区科技企业联合会（联合主办 / 平台赋能方）以对等结构合作，把学术公信力与真实买方网络转化为可量化、可定价的商业筹码。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00" cy="160020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486400" cy="5029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920240"/>
            <a:ext cx="519379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甲方 · 供给 / 渠道方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423160"/>
            <a:ext cx="5157216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中国钢铁工业协会（总会层面）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上游钢铁企业资源 · 组织参与 · 协助邀约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486400" cy="160020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486400" cy="50292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920240"/>
            <a:ext cx="519379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乙方 · 联合主办 / 平台赋能方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423160"/>
            <a:ext cx="5157216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复旦大学住房政策研究中心 · 上海市科技企业联合会 · 上海市杨浦区科技企业联合会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品牌背书 · 需求端（买方 / 场景）资源 · 议程赋能 · 产品设计与规则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B03A2E"/>
                </a:solidFill>
                <a:latin typeface="微软雅黑"/>
                <a:ea typeface="微软雅黑"/>
                <a:cs typeface="微软雅黑"/>
              </a:rPr>
              <a:t>针对对方“各收各钱、自负盈亏”方案的指导性立场（红线）：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1115568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仅“各自直接运营成本（会务、接待）”可独立核算；平台赋能层面必须有对价回流。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不接受“各收各钱”：对方有会员制沉淀长尾收益、我方无会员体系，各收各钱等于我方单向输出资源、拿不到产业链利润，属不对等。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定性升级：从“各自办活动” → “联合产品 / 联合主办合作”。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对等交流、商务对商务、总会对总会；不以“免费 / 初期不计营收”开场。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钢铁 × 不动产 × 产业园区 · 跨产业撮合与游学转化平台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商业资产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我方输出的商业资产界定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C9D6E3"/>
                </a:solidFill>
                <a:latin typeface="微软雅黑"/>
                <a:ea typeface="微软雅黑"/>
                <a:cs typeface="微软雅黑"/>
              </a:rPr>
              <a:t>谈判开场先锚定：并非“帮忙”，而是高壁垒的商业资产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448056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481328"/>
            <a:ext cx="3401568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顶级信任背书（品牌资产）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423160"/>
            <a:ext cx="3364992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复旦大学住房政策研究中心 + 上海市科技企业联合会 + 上海市杨浦区科技企业联合会 联合主办身份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价值点：为上游钢企打通进入长三角核心圈层的“通行证”，大幅降低拓展大客户的信任成本与沟通门槛。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371600"/>
            <a:ext cx="3657600" cy="448056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657600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481328"/>
            <a:ext cx="3401568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高净值需求端资源（渠道资产）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2423160"/>
            <a:ext cx="3364992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定向邀约不动产开发、城市更新、科技企业及新能源头部企业决策层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价值点：上游产能渴望真实下游场景，我方掌握最稀缺的“买方 / 场景方”话语权——游学得以成立的根本前提。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3657600" cy="448056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657600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481328"/>
            <a:ext cx="3401568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顶层战略视角与议程赋能（智力资产）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423160"/>
            <a:ext cx="3364992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空间资产运营、产业升级与科技赋能的深度洞察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价值点：负责核心沙龙 / 闭门会的议题设置与主持，拉升整体活动的行业站位。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钢铁 × 不动产 × 产业园区 · 跨产业撮合与游学转化平台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对价方案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合作模式与商业对价方案（三选一或组合）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C9D6E3"/>
                </a:solidFill>
                <a:latin typeface="微软雅黑"/>
                <a:ea typeface="微软雅黑"/>
                <a:cs typeface="微软雅黑"/>
              </a:rPr>
              <a:t>明确：仅直接运营成本独立核算，平台赋能层面必须有对价回流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9601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463040"/>
            <a:ext cx="340156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 A · 品牌授权与平台赋能费（一次性买断制）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468880"/>
            <a:ext cx="3364992" cy="3337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适用：对方希望完全主导后续转化、独享长尾收益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单场品牌与资源服务费 3万–8万；或打包两天半 6万–15万（六位数级）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含品牌在宣传物料 / 发文 / 现场呈现中的排他性使用权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含核心嘉宾及精准企业群体的邀约成本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371600"/>
            <a:ext cx="3657600" cy="457200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657600" cy="96012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463040"/>
            <a:ext cx="340156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 B · 增量收益与会员转化分成（深度绑定保底制）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2468880"/>
            <a:ext cx="3364992" cy="3337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适用：对方预算有限、愿共担风险共享增量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前端收益分享：以联合主办名义收取的外部赞助费、席位费，我方抽取 30%–40% 渠道分成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人头费：500–1500 元 / 人（可与前端分成叠加）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后端资产保护（重点）：经本次游学首次接触并最终转化入会 / 购买其付费咨询·服务的企业，其首年会员费 / 服务费我方享 30%–50% 分佣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3657600" cy="457200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657600" cy="960120"/>
          </a:xfrm>
          <a:prstGeom prst="rect">
            <a:avLst/>
          </a:prstGeom>
          <a:solidFill>
            <a:srgbClr val="2E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463040"/>
            <a:ext cx="340156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 C · 产业撮合 FA（居间）模式（长期利益制）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468880"/>
            <a:ext cx="3364992" cy="3337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 b="1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适用：活动直接指向大宗采购或深度供应链合作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游学期间品牌及人力按成本价核算或予以免除，但须提前签署《资源对接与居间服务框架协议》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本次活动及活动后一年内，由我方首配撮合达成的实质性采购订单 / 战略投资 / 技术合作，按行业标准提取居间佣金（建议成交额 1%–3%）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钢铁 × 不动产 × 产业园区 · 跨产业撮合与游学转化平台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分成落位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分成落位（明确 · 可执行 · 可追溯）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C9D6E3"/>
                </a:solidFill>
                <a:latin typeface="微软雅黑"/>
                <a:ea typeface="微软雅黑"/>
                <a:cs typeface="微软雅黑"/>
              </a:rPr>
              <a:t>改前期模糊：每类收益都有计费方式、比例与结算凭证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03120"/>
                <a:gridCol w="3566160"/>
                <a:gridCol w="3108960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收益类型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计费方式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我方对价 / 分成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结算与凭证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品牌与资源服务费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单场 / 打包固定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8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3–8万 / 场；6–15万 / 打包（预付）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A63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活动前预付，正规主体开票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报名 / 席位 / 赞助费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前端分成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8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 – 40%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A63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按场结算，凭报名与收款流水核对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参会人头费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按实际参会人数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8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500 – 1500 元 / 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A63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按场结算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会员转化分佣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后端分成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8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首年会费 / 服务费 30% – 50%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A63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以名单共管库确认，转化后按季结算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B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产业撮合居间佣金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按成交额比例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88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1% – 3%（活动后 1 年内首配撮合）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A63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签居间协议，成交后结算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说明：会务与接待等直接运营成本可各自独立核算；以上品牌 / 前端 / 后端 / 居间四类对价须约定于《联合主办合作框架与对价清单》，并以名单共管库作为分佣与追溯依据。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钢铁 × 不动产 × 产业园区 · 跨产业撮合与游学转化平台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保护条款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核心保护条款（数据与资源防火墙）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C9D6E3"/>
                </a:solidFill>
                <a:latin typeface="微软雅黑"/>
                <a:ea typeface="微软雅黑"/>
                <a:cs typeface="微软雅黑"/>
              </a:rPr>
              <a:t>防止过河拆桥、单方面洗走核心资源池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28016" cy="109728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10789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1）名单共管与线索共享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游学期间产生的企业通讯录、需求表、合作意向库为双方共有数据资产，活动结束后双向同步交付。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11247120" cy="109728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128016" cy="109728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15768"/>
            <a:ext cx="10789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2）社群独立权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我方有权对邀请的买方 / 应用方企业建立独立“长三角产业协同专属群”；对方在群内二次营销需经我方审核或联合发起。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28016" cy="109728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50208"/>
            <a:ext cx="10789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3）品牌使用边界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复旦及科企联品牌授权仅限本次两天半活动特定周期；未经书面许可不得在常规运营或后续独立活动继续挂靠我方抬头。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74920"/>
            <a:ext cx="11247120" cy="109728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128016" cy="109728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84648"/>
            <a:ext cx="10789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4）分佣确认与追溯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转化 / 成交以名单共管库为准，设活动后 1 年追溯期，防止跳单与资源洗单。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钢铁 × 不动产 × 产业园区 · 跨产业撮合与游学转化平台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底线与应对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我方底线 与 对方反应分级应对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B03A2E"/>
                </a:solidFill>
                <a:latin typeface="微软雅黑"/>
                <a:ea typeface="微软雅黑"/>
                <a:cs typeface="微软雅黑"/>
              </a:rPr>
              <a:t>我方要守住的底线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577840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3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不再接受“各收各钱”——对方有会员制、我方无，否则我方拿不到产业链利润；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3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品牌必须绑定收费——否则复旦 = 免费工具人；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3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我方必须参与产品定义（哪怕不参与招生）——否则被边缘化为执行方；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3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• 坚持对等交流、商务对商务、总会对总会。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142B45"/>
                </a:solidFill>
                <a:latin typeface="微软雅黑"/>
                <a:ea typeface="微软雅黑"/>
                <a:cs typeface="微软雅黑"/>
              </a:rPr>
              <a:t>对方反应 · 分级应对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83080"/>
            <a:ext cx="5394960" cy="123444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1280160" cy="1234440"/>
          </a:xfrm>
          <a:prstGeom prst="rect">
            <a:avLst/>
          </a:prstGeom>
          <a:solidFill>
            <a:srgbClr val="2E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94560"/>
            <a:ext cx="1234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接受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911096"/>
            <a:ext cx="38862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直接进入价格结构谈判，A / B / C 方案组合落位。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154680"/>
            <a:ext cx="5394960" cy="123444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3154680"/>
            <a:ext cx="1280160" cy="123444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566160"/>
            <a:ext cx="1234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犹豫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282696"/>
            <a:ext cx="38862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给轻量版：先收基础品牌与资源服务费（方案 A 下限），保留后端分成条款。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526280"/>
            <a:ext cx="5394960" cy="123444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526280"/>
            <a:ext cx="1280160" cy="12344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937760"/>
            <a:ext cx="1234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拒绝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654296"/>
            <a:ext cx="38862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拒付品牌费 / 拒分成 / 坚持各收各 → 本质“要资源、不让参与收益”，降级为弱合作或退出。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钢铁 × 不动产 × 产业园区 · 跨产业撮合与游学转化平台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对外话术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对外沟通话术（可直接用）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C9D6E3"/>
                </a:solidFill>
                <a:latin typeface="微软雅黑"/>
                <a:ea typeface="微软雅黑"/>
                <a:cs typeface="微软雅黑"/>
              </a:rPr>
              <a:t>先肯定、再升维、合理化收费、导向长期合作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233172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28016" cy="23317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2E6DA4"/>
                </a:solidFill>
                <a:latin typeface="微软雅黑"/>
                <a:ea typeface="微软雅黑"/>
                <a:cs typeface="微软雅黑"/>
              </a:rPr>
              <a:t>① 商业升维版（试水）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前期活动是基于双方资源互补的初步尝试，也验证了这个方向在钢铁产业与长三角资源对接上的可行性。从实际执行看，这类参访游学已不是简单的活动组织，而是涉及复旦品牌背书、政产学资源协调与高质量企业对接的系统性产品。基于此，后续若持续推进，建议升级为更标准化的联合主办合作模式，对双方也更可持续。具体而言，我方承担整体产品设计、复旦品牌及相关资源对接，因此每期活动建议设置基础的品牌与资源服务费；同时在招生或会员转化部分设计更合理的分成机制，确保双方投入与收益匹配。如您这边认可，我们可就下一期的合作模式与具体结构再细化对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11247120" cy="224028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128016" cy="224028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1078992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② 战略高位切入版（正式磋商）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这两天的行程，从会务与接待成本上，各自独立核算没有问题。但从产业逻辑看，中国钢铁工业协会带上游供应商来，核心痛点是找下游的去化场景；我方中心与科企联出面，等于用在长三角沉淀多年的学术公信力和真实买方网络，为钢铁企业做信任背书与精准导流。你们有成熟的会员体系，这是好事；但要确保这种高势能的品牌输出与资源对接在商业上形成良性闭环，而不是单向消耗。为让模式长期玩下去，我方梳理了一个联合主办合作框架——在收益分成或前端品牌费用上，看哪种模式更契合你们的预算与长期诉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钢铁 × 不动产 × 产业园区 · 跨产业撮合与游学转化平台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目标里程碑 与 战略定位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47120" cy="105156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828800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1737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682496"/>
            <a:ext cx="90525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以联合主办、对等结构落地，签署《联合主办合作框架与对价清单》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11247120" cy="105156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1828800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1737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16936"/>
            <a:ext cx="90525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跑通会员转化分佣与撮合居间，形成清晰、可追溯的分成落位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105156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1828800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343400"/>
            <a:ext cx="1737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战略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151376"/>
            <a:ext cx="90525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222A33"/>
                </a:solidFill>
                <a:latin typeface="微软雅黑"/>
                <a:ea typeface="微软雅黑"/>
                <a:cs typeface="微软雅黑"/>
              </a:rPr>
              <a:t>与中国钢铁工业协会（总会）签订上海及长三角总战略合作伙伴框架协议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96128"/>
            <a:ext cx="1088136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面向未来，成为中国钢铁工业协会在上海及长三角区域统筹的【总战略合作伙伴】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钢铁 × 不动产 × 产业园区 · 跨产业撮合与游学转化平台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5A636E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81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我们不是做游学活动，</a:t>
            </a:r>
          </a:p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100" b="1">
                <a:solidFill>
                  <a:srgbClr val="E88A1A"/>
                </a:solidFill>
                <a:latin typeface="微软雅黑"/>
                <a:ea typeface="微软雅黑"/>
                <a:cs typeface="微软雅黑"/>
              </a:rPr>
              <a:t>而是做钢铁产业与不动产 / 园区之间的需求撮合与项目转化平台。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C9D6E3"/>
                </a:solidFill>
                <a:latin typeface="微软雅黑"/>
                <a:ea typeface="微软雅黑"/>
                <a:cs typeface="微软雅黑"/>
              </a:rPr>
              <a:t>总会对总会 · 商务对商务 · 对等交流</a:t>
            </a:r>
          </a:p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联合主办：复旦大学住房政策研究中心 · 上海市科技企业联合会 · 上海市杨浦区科技企业联合会</a:t>
            </a:r>
          </a:p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C9D6E3"/>
                </a:solidFill>
                <a:latin typeface="微软雅黑"/>
                <a:ea typeface="微软雅黑"/>
                <a:cs typeface="微软雅黑"/>
              </a:rPr>
              <a:t>战略合作（总会对总会）：中国钢铁工业协会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