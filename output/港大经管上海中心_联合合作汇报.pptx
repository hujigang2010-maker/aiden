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4A35A"/>
                </a:solidFill>
                <a:latin typeface="微软雅黑"/>
                <a:ea typeface="微软雅黑"/>
              </a:rPr>
              <a:t>致　香港大学经管学院上海中心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联合合作汇报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4A35A"/>
                </a:solidFill>
                <a:latin typeface="微软雅黑"/>
                <a:ea typeface="微软雅黑"/>
              </a:rPr>
              <a:t>出海专题课，以及请中心主任到场一事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383280"/>
            <a:ext cx="1828800" cy="381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/>
                <a:ea typeface="微软雅黑"/>
              </a:rPr>
              <a:t>上次在中心见面之后，把可以马上做的事写成这份汇报，并附上协议，请中心审阅。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E4DC"/>
                </a:solidFill>
                <a:latin typeface="微软雅黑"/>
                <a:ea typeface="微软雅黑"/>
              </a:rPr>
              <a:t>复旦大学住房政策研究中心
上海市杨浦区科技企业联合会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2648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4A35A"/>
                </a:solidFill>
                <a:latin typeface="微软雅黑"/>
                <a:ea typeface="微软雅黑"/>
              </a:rPr>
              <a:t>2026年9月　　联系人：潘嘉琰老师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这份材料是什么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46304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1554480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789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A2420"/>
                </a:solidFill>
                <a:latin typeface="微软雅黑"/>
                <a:ea typeface="微软雅黑"/>
              </a:rPr>
              <a:t>潘老师：上次在外滩中心，谈到华东、华中的招生和市场，也谈到出海，以及请中心主任到现场看一看。回来后我们只写了两件事，把费用和交付写清楚，方便中心内部过目。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1463040" cy="987552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463040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第一件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108960"/>
            <a:ext cx="93268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在外滩中心办一场出海专题课。三十到四十人。我们把人请来，中心出场地和老师，课后由招生老师单独沟通。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463040" cy="987552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1463040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第二件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206240"/>
            <a:ext cx="93268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请中心主任参加我们正在办的一场出海活动。主任方不方便，完全按中心的时间。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66360"/>
            <a:ext cx="112471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166360"/>
            <a:ext cx="1463040" cy="987552"/>
          </a:xfrm>
          <a:prstGeom prst="rect">
            <a:avLst/>
          </a:prstGeom>
          <a:solidFill>
            <a:srgbClr val="0A5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1463040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先不做的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303520"/>
            <a:ext cx="93268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港大本部的出海课程怎么推广、原创谷怎么合作、学生在上海实习参访，本期不写进交付，以后另说。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64"/>
                </a:solidFill>
                <a:latin typeface="微软雅黑"/>
                <a:ea typeface="微软雅黑"/>
              </a:rPr>
              <a:t>复旦大学住房政策研究中心  ·  上海市杨浦区科技企业联合会  ·  致香港大学经管学院上海中心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我们为什么来谈这件事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46304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3/10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700" b="0">
                <a:solidFill>
                  <a:srgbClr val="1A2420"/>
                </a:solidFill>
                <a:latin typeface="微软雅黑"/>
                <a:ea typeface="微软雅黑"/>
              </a:rPr>
              <a:t>中心在上海已经开始运转。招生宣传、学生来沪学习实习、复旦与港大合办课程迁回中心上课，这些都需要把合适的人请到外滩来。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700" b="0">
                <a:solidFill>
                  <a:srgbClr val="1A2420"/>
                </a:solidFill>
                <a:latin typeface="微软雅黑"/>
                <a:ea typeface="微软雅黑"/>
              </a:rPr>
              <a:t>潘老师负责华东、华中高端教育的招生和市场。我们长期在上海办企业和校友活动，手里有一批企业负责人。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700" b="0">
                <a:solidFill>
                  <a:srgbClr val="1A2420"/>
                </a:solidFill>
                <a:latin typeface="微软雅黑"/>
                <a:ea typeface="微软雅黑"/>
              </a:rPr>
              <a:t>港大在企业出海、赴港上市这件事上，内地学校很难替代。我们能做的，是把真正在做出海打算的人请到中心，听老师讲、再单独谈。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700" b="0">
                <a:solidFill>
                  <a:srgbClr val="1A2420"/>
                </a:solidFill>
                <a:latin typeface="微软雅黑"/>
                <a:ea typeface="微软雅黑"/>
              </a:rPr>
              <a:t>所以这场合作就放在出海上，不办空的招生说明会。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64"/>
                </a:solidFill>
                <a:latin typeface="微软雅黑"/>
                <a:ea typeface="微软雅黑"/>
              </a:rPr>
              <a:t>复旦大学住房政策研究中心  ·  上海市杨浦区科技企业联合会  ·  致香港大学经管学院上海中心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外滩出海专题课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46304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70432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1371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170432"/>
            <a:ext cx="9235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协议签订后一个月左右，选一个工作日下午，四点左右结束。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75104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75104"/>
            <a:ext cx="1371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地点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75104"/>
            <a:ext cx="9235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香港大学经管学院上海中心，外滩 SOHO F 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79776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79776"/>
            <a:ext cx="1371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人数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779776"/>
            <a:ext cx="9235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三十到四十人。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8444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84448"/>
            <a:ext cx="1371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来宾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584448"/>
            <a:ext cx="9235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正在考虑出海或赴港上市的企业负责人。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1371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389120"/>
            <a:ext cx="9235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港大老师或校友讲出海和港股路径；企业之间交换看法；课后由招生老师单独沟通。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93792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93792"/>
            <a:ext cx="1371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分工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193792"/>
            <a:ext cx="92354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A2420"/>
                </a:solidFill>
                <a:latin typeface="微软雅黑"/>
                <a:ea typeface="微软雅黑"/>
              </a:rPr>
              <a:t>中心提供场地、老师、招生安排。我们负责请人、现场和会后把名单整理好交给中心。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64"/>
                </a:solidFill>
                <a:latin typeface="微软雅黑"/>
                <a:ea typeface="微软雅黑"/>
              </a:rPr>
              <a:t>复旦大学住房政策研究中心  ·  上海市杨浦区科技企业联合会  ·  致香港大学经管学院上海中心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请中心主任到场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46304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5/10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2011680"/>
          </a:xfrm>
          <a:prstGeom prst="roundRect">
            <a:avLst>
              <a:gd name="adj" fmla="val 8000"/>
            </a:avLst>
          </a:prstGeom>
          <a:solidFill>
            <a:srgbClr val="F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A2420"/>
                </a:solidFill>
                <a:latin typeface="微软雅黑"/>
                <a:ea typeface="微软雅黑"/>
              </a:rPr>
              <a:t>招生和市场是潘老师的工作。若以后还要在学院层面合作，需要中心主任先看过现场。
我们近期有出海主题的活动，会请总领事或企业负责人到场。希望请潘老师代为邀请主任出席一次。来不来，以中心的安排为准。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700" b="0">
                <a:solidFill>
                  <a:srgbClr val="1A2420"/>
                </a:solidFill>
                <a:latin typeface="微软雅黑"/>
                <a:ea typeface="微软雅黑"/>
              </a:rPr>
              <a:t>我们发出书面邀请，写明时间、地点和到场嘉宾。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700" b="0">
                <a:solidFill>
                  <a:srgbClr val="1A2420"/>
                </a:solidFill>
                <a:latin typeface="微软雅黑"/>
                <a:ea typeface="微软雅黑"/>
              </a:rPr>
              <a:t>主任因公务不能来，不影响这一项算已完成。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700" b="0">
                <a:solidFill>
                  <a:srgbClr val="1A2420"/>
                </a:solidFill>
                <a:latin typeface="微软雅黑"/>
                <a:ea typeface="微软雅黑"/>
              </a:rPr>
              <a:t>这一次不另收费，算在下面写的八万八千元里面。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64"/>
                </a:solidFill>
                <a:latin typeface="微软雅黑"/>
                <a:ea typeface="微软雅黑"/>
              </a:rPr>
              <a:t>复旦大学住房政策研究中心  ·  上海市杨浦区科技企业联合会  ·  致香港大学经管学院上海中心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九十天怎么排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46304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194560" cy="105156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194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第 1 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234440"/>
            <a:ext cx="8595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A2420"/>
                </a:solidFill>
                <a:latin typeface="微软雅黑"/>
                <a:ea typeface="微软雅黑"/>
              </a:rPr>
              <a:t>签订协议，支付费用，把外滩那场的日期定下来。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2194560" cy="105156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2194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第 2–3 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423160"/>
            <a:ext cx="8595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A2420"/>
                </a:solidFill>
                <a:latin typeface="微软雅黑"/>
                <a:ea typeface="微软雅黑"/>
              </a:rPr>
              <a:t>拿出拟邀请名单，不少于八十人，双方看过再定。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2194560" cy="105156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11880"/>
            <a:ext cx="2194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第 4–7 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611880"/>
            <a:ext cx="8595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A2420"/>
                </a:solidFill>
                <a:latin typeface="微软雅黑"/>
                <a:ea typeface="微软雅黑"/>
              </a:rPr>
              <a:t>办外滩专题课；同时发出请主任出席的邀请。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0060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800600"/>
            <a:ext cx="2194560" cy="105156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21945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第 8–12 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800600"/>
            <a:ext cx="8595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1A2420"/>
                </a:solidFill>
                <a:latin typeface="微软雅黑"/>
                <a:ea typeface="微软雅黑"/>
              </a:rPr>
              <a:t>把课上的情况和名单交给中心。后面若要续办或谈别的事，再另写。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64"/>
                </a:solidFill>
                <a:latin typeface="微软雅黑"/>
                <a:ea typeface="微软雅黑"/>
              </a:rPr>
              <a:t>复旦大学住房政策研究中心  ·  上海市杨浦区科技企业联合会  ·  致香港大学经管学院上海中心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各自做什么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46304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577840" cy="64008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577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香港大学经管学院上海中心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提供外滩中心场地和名义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安排老师或校友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招生跟进、面试和录取仍由学院决定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请潘老师协助邀请中心主任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577840" cy="640080"/>
          </a:xfrm>
          <a:prstGeom prst="rect">
            <a:avLst/>
          </a:prstGeom>
          <a:solidFill>
            <a:srgbClr val="0A5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5577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住房政策研究中心、杨浦科企联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策划、请人、现场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会后把纪要和名单交给中心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安排请主任出席的那一场活动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开票、收款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64"/>
                </a:solidFill>
                <a:latin typeface="微软雅黑"/>
                <a:ea typeface="微软雅黑"/>
              </a:rPr>
              <a:t>复旦大学住房政策研究中心  ·  上海市杨浦区科技企业联合会  ·  致香港大学经管学院上海中心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费用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46304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1417320"/>
          </a:xfrm>
          <a:prstGeom prst="roundRect">
            <a:avLst>
              <a:gd name="adj" fmla="val 8000"/>
            </a:avLst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微软雅黑"/>
                <a:ea typeface="微软雅黑"/>
              </a:rPr>
              <a:t>前期工作费用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人民币捌万捌仟元整（88,000 元）　　协议生效后十个工作日内一次付清，开增值税发票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这八万八千元包括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九十天的筹备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拟邀请名单（不少于八十人）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外滩出海专题课一场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请主任出席的一次活动安排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课后纪要和名单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3D2E"/>
                </a:solidFill>
                <a:latin typeface="微软雅黑"/>
                <a:ea typeface="微软雅黑"/>
              </a:rPr>
              <a:t>不包括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24612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学费、报名费，也不按人头分成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第二场及以后（如需续办，每场六万八千元，另签）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港大本部出海课程的招生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·  </a:t>
            </a:r>
            <a:r>
              <a:rPr sz="1600" b="0">
                <a:solidFill>
                  <a:srgbClr val="1A2420"/>
                </a:solidFill>
                <a:latin typeface="微软雅黑"/>
                <a:ea typeface="微软雅黑"/>
              </a:rPr>
              <a:t>原创谷的日常事务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64"/>
                </a:solidFill>
                <a:latin typeface="微软雅黑"/>
                <a:ea typeface="微软雅黑"/>
              </a:rPr>
              <a:t>复旦大学住房政策研究中心  ·  上海市杨浦区科技企业联合会  ·  致香港大学经管学院上海中心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请中心定几件事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46304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4A35A"/>
                </a:solidFill>
                <a:latin typeface="微软雅黑"/>
                <a:ea typeface="微软雅黑"/>
              </a:rP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594360" cy="59436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3D2E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63040"/>
            <a:ext cx="9784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A2420"/>
                </a:solidFill>
                <a:latin typeface="微软雅黑"/>
                <a:ea typeface="微软雅黑"/>
              </a:rPr>
              <a:t>外滩专题课放在哪一天。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70632"/>
            <a:ext cx="594360" cy="59436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3D2E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97480"/>
            <a:ext cx="9784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A2420"/>
                </a:solidFill>
                <a:latin typeface="微软雅黑"/>
                <a:ea typeface="微软雅黑"/>
              </a:rPr>
              <a:t>主任方便出席的大致时间。来不了也没有关系，我们按书面邀请办理。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039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005071"/>
            <a:ext cx="594360" cy="59436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05071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3D2E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31919"/>
            <a:ext cx="9784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A2420"/>
                </a:solidFill>
                <a:latin typeface="微软雅黑"/>
                <a:ea typeface="微软雅黑"/>
              </a:rPr>
              <a:t>协议由哪一家主体签，发票抬头是谁，款什么时候付。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B64"/>
                </a:solidFill>
                <a:latin typeface="微软雅黑"/>
                <a:ea typeface="微软雅黑"/>
              </a:rPr>
              <a:t>协议文本随这份汇报一并送上。签好、费用到账后七日内，我们提交拟邀请名单初稿。
联系人：潘嘉琰　　(86) 180 1860 6086　　jyanpan@hku.hk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B64"/>
                </a:solidFill>
                <a:latin typeface="微软雅黑"/>
                <a:ea typeface="微软雅黑"/>
              </a:rPr>
              <a:t>复旦大学住房政策研究中心  ·  上海市杨浦区科技企业联合会  ·  致香港大学经管学院上海中心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请中心审阅。有要改的地方，我们按中心的意见改。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4A35A"/>
                </a:solidFill>
                <a:latin typeface="微软雅黑"/>
                <a:ea typeface="微软雅黑"/>
              </a:rPr>
              <a:t>复旦大学住房政策研究中心
上海市杨浦区科技企业联合会
2026年9月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随附：联合策划服务合作协议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