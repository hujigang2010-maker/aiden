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1430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C4A35A"/>
                </a:solidFill>
                <a:latin typeface="微软雅黑"/>
                <a:ea typeface="微软雅黑"/>
              </a:rPr>
              <a:t>致　香港大学经管学院上海中心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6916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微软雅黑"/>
                <a:ea typeface="微软雅黑"/>
              </a:rPr>
              <a:t>联合合作汇报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06040"/>
            <a:ext cx="10515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4A35A"/>
                </a:solidFill>
                <a:latin typeface="微软雅黑"/>
                <a:ea typeface="微软雅黑"/>
              </a:rPr>
              <a:t>EMBA招生、外滩出海专题课、请中心主任到场　合在一次合作里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246120"/>
            <a:ext cx="1828800" cy="381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520440"/>
            <a:ext cx="102412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微软雅黑"/>
                <a:ea typeface="微软雅黑"/>
              </a:rPr>
              <a:t>上次在中心见面之后，把可以马上做的事写成一整包：招生是主项，出海课是这场招生的现场，请主任到场含在同一笔费用里。并附上协议，请中心审阅。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937760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D5E4DC"/>
                </a:solidFill>
                <a:latin typeface="微软雅黑"/>
                <a:ea typeface="微软雅黑"/>
              </a:rPr>
              <a:t>复旦大学住房政策研究中心
上海市杨浦区科技企业联合会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989320"/>
            <a:ext cx="10241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C4A35A"/>
                </a:solidFill>
                <a:latin typeface="微软雅黑"/>
                <a:ea typeface="微软雅黑"/>
              </a:rPr>
              <a:t>2026年9月　　联系人：潘嘉琰老师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这份材料是什么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146304"/>
            <a:ext cx="12801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C4A35A"/>
                </a:solidFill>
                <a:latin typeface="微软雅黑"/>
                <a:ea typeface="微软雅黑"/>
              </a:rPr>
              <a:t>2/11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70432"/>
            <a:ext cx="11247120" cy="1417320"/>
          </a:xfrm>
          <a:prstGeom prst="roundRect">
            <a:avLst>
              <a:gd name="adj" fmla="val 8000"/>
            </a:avLst>
          </a:prstGeom>
          <a:solidFill>
            <a:srgbClr val="F7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280160"/>
            <a:ext cx="1078992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1A2420"/>
                </a:solidFill>
                <a:latin typeface="微软雅黑"/>
                <a:ea typeface="微软雅黑"/>
              </a:rPr>
              <a:t>潘老师：上次谈到华东、华中的招生和市场，主事是 EMBA；也谈到出海，以及请主任到现场看一看。回来后写成一整包：招生是主项，出海课是现场，请主任到场含在同一笔八万八千元里。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761488"/>
            <a:ext cx="11247120" cy="1060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761488"/>
            <a:ext cx="1965960" cy="1060704"/>
          </a:xfrm>
          <a:prstGeom prst="rect">
            <a:avLst/>
          </a:prstGeom>
          <a:solidFill>
            <a:srgbClr val="00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761488"/>
            <a:ext cx="1965960" cy="10607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第一件　招生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871216"/>
            <a:ext cx="886968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按港大 EMBA 常见门槛初筛不少于八十人，请三十到四十人到外滩。课后由招生老师单独沟通。录取仍由学院决定，不按人头分成。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931920"/>
            <a:ext cx="11247120" cy="1060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931920"/>
            <a:ext cx="1965960" cy="1060704"/>
          </a:xfrm>
          <a:prstGeom prst="rect">
            <a:avLst/>
          </a:prstGeom>
          <a:solidFill>
            <a:srgbClr val="00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931920"/>
            <a:ext cx="1965960" cy="10607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第二件　出海课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4041648"/>
            <a:ext cx="886968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这场课的主题放在企业出海和赴港上市，同时就是招生现场。不另办一场空的说明会，也不另收费。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102352"/>
            <a:ext cx="11247120" cy="1060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5102352"/>
            <a:ext cx="1965960" cy="1060704"/>
          </a:xfrm>
          <a:prstGeom prst="rect">
            <a:avLst/>
          </a:prstGeom>
          <a:solidFill>
            <a:srgbClr val="0A5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5102352"/>
            <a:ext cx="1965960" cy="10607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第三件　请主任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5212080"/>
            <a:ext cx="8869680" cy="8412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我们办的出海活动请主任看一次。这一项含在同一笔八万八千元里，不另收费、不单开报价。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10528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B6B64"/>
                </a:solidFill>
                <a:latin typeface="微软雅黑"/>
                <a:ea typeface="微软雅黑"/>
              </a:rPr>
              <a:t>复旦大学住房政策研究中心  ·  上海市杨浦区科技企业联合会  ·  致香港大学经管学院上海中心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我们为什么来谈这件事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146304"/>
            <a:ext cx="12801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C4A35A"/>
                </a:solidFill>
                <a:latin typeface="微软雅黑"/>
                <a:ea typeface="微软雅黑"/>
              </a:rPr>
              <a:t>3/11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700" b="1">
                <a:solidFill>
                  <a:srgbClr val="C4A35A"/>
                </a:solidFill>
                <a:latin typeface="微软雅黑"/>
                <a:ea typeface="微软雅黑"/>
              </a:rPr>
              <a:t>·  </a:t>
            </a:r>
            <a:r>
              <a:rPr sz="1700" b="0">
                <a:solidFill>
                  <a:srgbClr val="1A2420"/>
                </a:solidFill>
                <a:latin typeface="微软雅黑"/>
                <a:ea typeface="微软雅黑"/>
              </a:rPr>
              <a:t>潘老师负责华东、华中 EMBA 的招生和市场。我们长期在上海办企业和校友活动，手里有一批企业负责人。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700" b="1">
                <a:solidFill>
                  <a:srgbClr val="C4A35A"/>
                </a:solidFill>
                <a:latin typeface="微软雅黑"/>
                <a:ea typeface="微软雅黑"/>
              </a:rPr>
              <a:t>·  </a:t>
            </a:r>
            <a:r>
              <a:rPr sz="1700" b="0">
                <a:solidFill>
                  <a:srgbClr val="1A2420"/>
                </a:solidFill>
                <a:latin typeface="微软雅黑"/>
                <a:ea typeface="微软雅黑"/>
              </a:rPr>
              <a:t>中心在上海已经开始运转。要把合适的人请到外滩来，听老师讲，再由招生老师单独谈。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700" b="1">
                <a:solidFill>
                  <a:srgbClr val="C4A35A"/>
                </a:solidFill>
                <a:latin typeface="微软雅黑"/>
                <a:ea typeface="微软雅黑"/>
              </a:rPr>
              <a:t>·  </a:t>
            </a:r>
            <a:r>
              <a:rPr sz="1700" b="0">
                <a:solidFill>
                  <a:srgbClr val="1A2420"/>
                </a:solidFill>
                <a:latin typeface="微软雅黑"/>
                <a:ea typeface="微软雅黑"/>
              </a:rPr>
              <a:t>港大在企业出海、赴港上市这件事上，内地学校很难替代。所以这场招生的主题放在出海上，不办空的说明会。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700" b="1">
                <a:solidFill>
                  <a:srgbClr val="C4A35A"/>
                </a:solidFill>
                <a:latin typeface="微软雅黑"/>
                <a:ea typeface="微软雅黑"/>
              </a:rPr>
              <a:t>·  </a:t>
            </a:r>
            <a:r>
              <a:rPr sz="1700" b="0">
                <a:solidFill>
                  <a:srgbClr val="1A2420"/>
                </a:solidFill>
                <a:latin typeface="微软雅黑"/>
                <a:ea typeface="微软雅黑"/>
              </a:rPr>
              <a:t>若以后还要在学院层面合作，需要主任先看过现场。请主任出席我们办的出海活动，和招生、出海课写在同一包里，不另收费。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B6B64"/>
                </a:solidFill>
                <a:latin typeface="微软雅黑"/>
                <a:ea typeface="微软雅黑"/>
              </a:rPr>
              <a:t>复旦大学住房政策研究中心  ·  上海市杨浦区科技企业联合会  ·  致香港大学经管学院上海中心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EMBA 招生这一项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146304"/>
            <a:ext cx="12801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C4A35A"/>
                </a:solidFill>
                <a:latin typeface="微软雅黑"/>
                <a:ea typeface="微软雅黑"/>
              </a:rPr>
              <a:t>4/11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70432"/>
            <a:ext cx="11247120" cy="8778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170432"/>
            <a:ext cx="1371600" cy="8778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3D2E"/>
                </a:solidFill>
                <a:latin typeface="微软雅黑"/>
                <a:ea typeface="微软雅黑"/>
              </a:rPr>
              <a:t>名单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1170432"/>
            <a:ext cx="9235440" cy="8778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协议生效、费用到账后七日内提交初稿，不少于八十人。双方看过再定，名单共同使用。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57984"/>
            <a:ext cx="11247120" cy="877824"/>
          </a:xfrm>
          <a:prstGeom prst="roundRect">
            <a:avLst>
              <a:gd name="adj" fmla="val 8000"/>
            </a:avLst>
          </a:prstGeom>
          <a:solidFill>
            <a:srgbClr val="F7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57984"/>
            <a:ext cx="1371600" cy="8778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3D2E"/>
                </a:solidFill>
                <a:latin typeface="微软雅黑"/>
                <a:ea typeface="微软雅黑"/>
              </a:rPr>
              <a:t>门槛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2157984"/>
            <a:ext cx="9235440" cy="8778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企业负责人或具备相应支付能力的人选，按港大 EMBA 常见要求初筛。具体条件以中心告知为准。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145536"/>
            <a:ext cx="11247120" cy="8778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145536"/>
            <a:ext cx="1371600" cy="8778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3D2E"/>
                </a:solidFill>
                <a:latin typeface="微软雅黑"/>
                <a:ea typeface="微软雅黑"/>
              </a:rPr>
              <a:t>到场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3145536"/>
            <a:ext cx="9235440" cy="8778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从名单里请三十到四十人到外滩中心上课。不保证每一个人都到，但到场的人按上述门槛来。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4133088"/>
            <a:ext cx="11247120" cy="877824"/>
          </a:xfrm>
          <a:prstGeom prst="roundRect">
            <a:avLst>
              <a:gd name="adj" fmla="val 8000"/>
            </a:avLst>
          </a:prstGeom>
          <a:solidFill>
            <a:srgbClr val="F7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133088"/>
            <a:ext cx="1371600" cy="8778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3D2E"/>
                </a:solidFill>
                <a:latin typeface="微软雅黑"/>
                <a:ea typeface="微软雅黑"/>
              </a:rPr>
              <a:t>课后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4133088"/>
            <a:ext cx="9235440" cy="8778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由潘老师或中心指定的招生老师单独沟通。我们在七日内把到场情况和有意向的人整理好交给中心。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120640"/>
            <a:ext cx="11247120" cy="87782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120640"/>
            <a:ext cx="1371600" cy="8778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3D2E"/>
                </a:solidFill>
                <a:latin typeface="微软雅黑"/>
                <a:ea typeface="微软雅黑"/>
              </a:rPr>
              <a:t>录取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5120640"/>
            <a:ext cx="9235440" cy="87782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面试、录取、学位仍由学院决定。我们不承诺录取人数，也不按人头或学费分成。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510528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B6B64"/>
                </a:solidFill>
                <a:latin typeface="微软雅黑"/>
                <a:ea typeface="微软雅黑"/>
              </a:rPr>
              <a:t>复旦大学住房政策研究中心  ·  上海市杨浦区科技企业联合会  ·  致香港大学经管学院上海中心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外滩出海专题课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146304"/>
            <a:ext cx="12801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C4A35A"/>
                </a:solidFill>
                <a:latin typeface="微软雅黑"/>
                <a:ea typeface="微软雅黑"/>
              </a:rPr>
              <a:t>5/11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70432"/>
            <a:ext cx="1124712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170432"/>
            <a:ext cx="13716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3D2E"/>
                </a:solidFill>
                <a:latin typeface="微软雅黑"/>
                <a:ea typeface="微软雅黑"/>
              </a:rPr>
              <a:t>时间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4560" y="1170432"/>
            <a:ext cx="923544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协议签订后一个月左右，选一个工作日下午，四点左右结束。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75104"/>
            <a:ext cx="11247120" cy="713232"/>
          </a:xfrm>
          <a:prstGeom prst="roundRect">
            <a:avLst>
              <a:gd name="adj" fmla="val 8000"/>
            </a:avLst>
          </a:prstGeom>
          <a:solidFill>
            <a:srgbClr val="F7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975104"/>
            <a:ext cx="13716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3D2E"/>
                </a:solidFill>
                <a:latin typeface="微软雅黑"/>
                <a:ea typeface="微软雅黑"/>
              </a:rPr>
              <a:t>地点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1975104"/>
            <a:ext cx="923544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香港大学经管学院上海中心，外滩 SOHO F 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779776"/>
            <a:ext cx="1124712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779776"/>
            <a:ext cx="13716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3D2E"/>
                </a:solidFill>
                <a:latin typeface="微软雅黑"/>
                <a:ea typeface="微软雅黑"/>
              </a:rPr>
              <a:t>人数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94560" y="2779776"/>
            <a:ext cx="923544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三十到四十人。同时就是上面说的招生现场，不另办说明会。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584448"/>
            <a:ext cx="11247120" cy="713232"/>
          </a:xfrm>
          <a:prstGeom prst="roundRect">
            <a:avLst>
              <a:gd name="adj" fmla="val 8000"/>
            </a:avLst>
          </a:prstGeom>
          <a:solidFill>
            <a:srgbClr val="F7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584448"/>
            <a:ext cx="13716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3D2E"/>
                </a:solidFill>
                <a:latin typeface="微软雅黑"/>
                <a:ea typeface="微软雅黑"/>
              </a:rPr>
              <a:t>来宾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3584448"/>
            <a:ext cx="923544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正在考虑出海或赴港上市、且符合 EMBA 初筛的企业负责人。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389120"/>
            <a:ext cx="1124712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389120"/>
            <a:ext cx="13716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3D2E"/>
                </a:solidFill>
                <a:latin typeface="微软雅黑"/>
                <a:ea typeface="微软雅黑"/>
              </a:rPr>
              <a:t>内容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4389120"/>
            <a:ext cx="923544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港大老师或校友讲出海和港股路径；企业之间交换看法；课后由招生老师单独沟通。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193792"/>
            <a:ext cx="11247120" cy="713232"/>
          </a:xfrm>
          <a:prstGeom prst="roundRect">
            <a:avLst>
              <a:gd name="adj" fmla="val 8000"/>
            </a:avLst>
          </a:prstGeom>
          <a:solidFill>
            <a:srgbClr val="F7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193792"/>
            <a:ext cx="137160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003D2E"/>
                </a:solidFill>
                <a:latin typeface="微软雅黑"/>
                <a:ea typeface="微软雅黑"/>
              </a:rPr>
              <a:t>分工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4560" y="5193792"/>
            <a:ext cx="9235440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中心提供场地、老师、招生安排。我们负责请人、现场，会后把名单整理好交给中心。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510528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B6B64"/>
                </a:solidFill>
                <a:latin typeface="微软雅黑"/>
                <a:ea typeface="微软雅黑"/>
              </a:rPr>
              <a:t>复旦大学住房政策研究中心  ·  上海市杨浦区科技企业联合会  ·  致香港大学经管学院上海中心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请中心主任到场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146304"/>
            <a:ext cx="12801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C4A35A"/>
                </a:solidFill>
                <a:latin typeface="微软雅黑"/>
                <a:ea typeface="微软雅黑"/>
              </a:rPr>
              <a:t>6/11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07008"/>
            <a:ext cx="11247120" cy="1874519"/>
          </a:xfrm>
          <a:prstGeom prst="roundRect">
            <a:avLst>
              <a:gd name="adj" fmla="val 8000"/>
            </a:avLst>
          </a:prstGeom>
          <a:solidFill>
            <a:srgbClr val="F7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53312"/>
            <a:ext cx="10698480" cy="1600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1A2420"/>
                </a:solidFill>
                <a:latin typeface="微软雅黑"/>
                <a:ea typeface="微软雅黑"/>
              </a:rPr>
              <a:t>这一项不是单独向中心报价。八万八千元买的是前面的 EMBA 招生和外滩出海课；请主任到场含在里面，不另收费。
我们近期有出海主题活动，会请总领事或企业负责人到场。希望请潘老师代为邀请主任出席一次，直接看到我们请到的人和现场。来不来，以中心的安排为准。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700" b="1">
                <a:solidFill>
                  <a:srgbClr val="C4A35A"/>
                </a:solidFill>
                <a:latin typeface="微软雅黑"/>
                <a:ea typeface="微软雅黑"/>
              </a:rPr>
              <a:t>·  </a:t>
            </a:r>
            <a:r>
              <a:rPr sz="1700" b="0">
                <a:solidFill>
                  <a:srgbClr val="1A2420"/>
                </a:solidFill>
                <a:latin typeface="微软雅黑"/>
                <a:ea typeface="微软雅黑"/>
              </a:rPr>
              <a:t>我们发出书面邀请，写明时间、地点和到场嘉宾。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700" b="1">
                <a:solidFill>
                  <a:srgbClr val="C4A35A"/>
                </a:solidFill>
                <a:latin typeface="微软雅黑"/>
                <a:ea typeface="微软雅黑"/>
              </a:rPr>
              <a:t>·  </a:t>
            </a:r>
            <a:r>
              <a:rPr sz="1700" b="0">
                <a:solidFill>
                  <a:srgbClr val="1A2420"/>
                </a:solidFill>
                <a:latin typeface="微软雅黑"/>
                <a:ea typeface="微软雅黑"/>
              </a:rPr>
              <a:t>主任因公务不能来，不影响这一项算已完成，也不因此减费用或另收费。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700" b="1">
                <a:solidFill>
                  <a:srgbClr val="C4A35A"/>
                </a:solidFill>
                <a:latin typeface="微软雅黑"/>
                <a:ea typeface="微软雅黑"/>
              </a:rPr>
              <a:t>·  </a:t>
            </a:r>
            <a:r>
              <a:rPr sz="1700" b="0">
                <a:solidFill>
                  <a:srgbClr val="1A2420"/>
                </a:solidFill>
                <a:latin typeface="微软雅黑"/>
                <a:ea typeface="微软雅黑"/>
              </a:rPr>
              <a:t>港大本部出海课程怎么推广、原创谷怎么合作、学生在上海实习参访，本期不写进交付，以后另说。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510528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B6B64"/>
                </a:solidFill>
                <a:latin typeface="微软雅黑"/>
                <a:ea typeface="微软雅黑"/>
              </a:rPr>
              <a:t>复旦大学住房政策研究中心  ·  上海市杨浦区科技企业联合会  ·  致香港大学经管学院上海中心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九十天怎么排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146304"/>
            <a:ext cx="12801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C4A35A"/>
                </a:solidFill>
                <a:latin typeface="微软雅黑"/>
                <a:ea typeface="微软雅黑"/>
              </a:rPr>
              <a:t>7/11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1124712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2194560" cy="1051560"/>
          </a:xfrm>
          <a:prstGeom prst="rect">
            <a:avLst/>
          </a:prstGeom>
          <a:solidFill>
            <a:srgbClr val="00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234440"/>
            <a:ext cx="21945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第 1 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1234440"/>
            <a:ext cx="85953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1A2420"/>
                </a:solidFill>
                <a:latin typeface="微软雅黑"/>
                <a:ea typeface="微软雅黑"/>
              </a:rPr>
              <a:t>签订协议，支付费用；定下外滩课日期；中心告知招生门槛，以及课后由哪位老师接。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23160"/>
            <a:ext cx="1124712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423160"/>
            <a:ext cx="2194560" cy="1051560"/>
          </a:xfrm>
          <a:prstGeom prst="rect">
            <a:avLst/>
          </a:prstGeom>
          <a:solidFill>
            <a:srgbClr val="00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423160"/>
            <a:ext cx="21945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第 2–3 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2423160"/>
            <a:ext cx="85953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1A2420"/>
                </a:solidFill>
                <a:latin typeface="微软雅黑"/>
                <a:ea typeface="微软雅黑"/>
              </a:rPr>
              <a:t>按门槛拿出拟邀请名单，不少于八十人，双方看过再定。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611880"/>
            <a:ext cx="1124712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611880"/>
            <a:ext cx="2194560" cy="1051560"/>
          </a:xfrm>
          <a:prstGeom prst="rect">
            <a:avLst/>
          </a:prstGeom>
          <a:solidFill>
            <a:srgbClr val="00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611880"/>
            <a:ext cx="21945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第 4–7 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3611880"/>
            <a:ext cx="85953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1A2420"/>
                </a:solidFill>
                <a:latin typeface="微软雅黑"/>
                <a:ea typeface="微软雅黑"/>
              </a:rPr>
              <a:t>办外滩出海专题课，课后招生老师单独沟通；同时发出请主任出席的邀请。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800600"/>
            <a:ext cx="11247120" cy="1051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800600"/>
            <a:ext cx="2194560" cy="1051560"/>
          </a:xfrm>
          <a:prstGeom prst="rect">
            <a:avLst/>
          </a:prstGeom>
          <a:solidFill>
            <a:srgbClr val="00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800600"/>
            <a:ext cx="21945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第 8–12 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80360" y="4800600"/>
            <a:ext cx="859536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0">
                <a:solidFill>
                  <a:srgbClr val="1A2420"/>
                </a:solidFill>
                <a:latin typeface="微软雅黑"/>
                <a:ea typeface="微软雅黑"/>
              </a:rPr>
              <a:t>把课上情况和有意向的人交给中心，由招生老师继续跟。后面若要续办或谈别的事，再另写。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510528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B6B64"/>
                </a:solidFill>
                <a:latin typeface="微软雅黑"/>
                <a:ea typeface="微软雅黑"/>
              </a:rPr>
              <a:t>复旦大学住房政策研究中心  ·  上海市杨浦区科技企业联合会  ·  致香港大学经管学院上海中心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各自做什么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146304"/>
            <a:ext cx="12801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C4A35A"/>
                </a:solidFill>
                <a:latin typeface="微软雅黑"/>
                <a:ea typeface="微软雅黑"/>
              </a:rPr>
              <a:t>8/11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234440"/>
            <a:ext cx="5577840" cy="4937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234440"/>
            <a:ext cx="5577840" cy="640080"/>
          </a:xfrm>
          <a:prstGeom prst="rect">
            <a:avLst/>
          </a:prstGeom>
          <a:solidFill>
            <a:srgbClr val="00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234440"/>
            <a:ext cx="55778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香港大学经管学院上海中心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5120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C4A35A"/>
                </a:solidFill>
                <a:latin typeface="微软雅黑"/>
                <a:ea typeface="微软雅黑"/>
              </a:rPr>
              <a:t>·  </a:t>
            </a:r>
            <a:r>
              <a:rPr sz="1600" b="0">
                <a:solidFill>
                  <a:srgbClr val="1A2420"/>
                </a:solidFill>
                <a:latin typeface="微软雅黑"/>
                <a:ea typeface="微软雅黑"/>
              </a:rPr>
              <a:t>提供外滩中心场地和名义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C4A35A"/>
                </a:solidFill>
                <a:latin typeface="微软雅黑"/>
                <a:ea typeface="微软雅黑"/>
              </a:rPr>
              <a:t>·  </a:t>
            </a:r>
            <a:r>
              <a:rPr sz="1600" b="0">
                <a:solidFill>
                  <a:srgbClr val="1A2420"/>
                </a:solidFill>
                <a:latin typeface="微软雅黑"/>
                <a:ea typeface="微软雅黑"/>
              </a:rPr>
              <a:t>安排老师或校友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C4A35A"/>
                </a:solidFill>
                <a:latin typeface="微软雅黑"/>
                <a:ea typeface="微软雅黑"/>
              </a:rPr>
              <a:t>·  </a:t>
            </a:r>
            <a:r>
              <a:rPr sz="1600" b="0">
                <a:solidFill>
                  <a:srgbClr val="1A2420"/>
                </a:solidFill>
                <a:latin typeface="微软雅黑"/>
                <a:ea typeface="微软雅黑"/>
              </a:rPr>
              <a:t>告知 EMBA 初筛条件，课后招生跟进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C4A35A"/>
                </a:solidFill>
                <a:latin typeface="微软雅黑"/>
                <a:ea typeface="微软雅黑"/>
              </a:rPr>
              <a:t>·  </a:t>
            </a:r>
            <a:r>
              <a:rPr sz="1600" b="0">
                <a:solidFill>
                  <a:srgbClr val="1A2420"/>
                </a:solidFill>
                <a:latin typeface="微软雅黑"/>
                <a:ea typeface="微软雅黑"/>
              </a:rPr>
              <a:t>面试和录取仍由学院决定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C4A35A"/>
                </a:solidFill>
                <a:latin typeface="微软雅黑"/>
                <a:ea typeface="微软雅黑"/>
              </a:rPr>
              <a:t>·  </a:t>
            </a:r>
            <a:r>
              <a:rPr sz="1600" b="0">
                <a:solidFill>
                  <a:srgbClr val="1A2420"/>
                </a:solidFill>
                <a:latin typeface="微软雅黑"/>
                <a:ea typeface="微软雅黑"/>
              </a:rPr>
              <a:t>请潘老师协助邀请中心主任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234440"/>
            <a:ext cx="5577840" cy="4937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234440"/>
            <a:ext cx="5577840" cy="640080"/>
          </a:xfrm>
          <a:prstGeom prst="rect">
            <a:avLst/>
          </a:prstGeom>
          <a:solidFill>
            <a:srgbClr val="0A5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0" y="1234440"/>
            <a:ext cx="557784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住房政策研究中心、杨浦科企联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057400"/>
            <a:ext cx="5120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C4A35A"/>
                </a:solidFill>
                <a:latin typeface="微软雅黑"/>
                <a:ea typeface="微软雅黑"/>
              </a:rPr>
              <a:t>·  </a:t>
            </a:r>
            <a:r>
              <a:rPr sz="1600" b="0">
                <a:solidFill>
                  <a:srgbClr val="1A2420"/>
                </a:solidFill>
                <a:latin typeface="微软雅黑"/>
                <a:ea typeface="微软雅黑"/>
              </a:rPr>
              <a:t>按门槛筛名单、请人、现场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C4A35A"/>
                </a:solidFill>
                <a:latin typeface="微软雅黑"/>
                <a:ea typeface="微软雅黑"/>
              </a:rPr>
              <a:t>·  </a:t>
            </a:r>
            <a:r>
              <a:rPr sz="1600" b="0">
                <a:solidFill>
                  <a:srgbClr val="1A2420"/>
                </a:solidFill>
                <a:latin typeface="微软雅黑"/>
                <a:ea typeface="微软雅黑"/>
              </a:rPr>
              <a:t>会后把纪要和有意向的人交给中心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C4A35A"/>
                </a:solidFill>
                <a:latin typeface="微软雅黑"/>
                <a:ea typeface="微软雅黑"/>
              </a:rPr>
              <a:t>·  </a:t>
            </a:r>
            <a:r>
              <a:rPr sz="1600" b="0">
                <a:solidFill>
                  <a:srgbClr val="1A2420"/>
                </a:solidFill>
                <a:latin typeface="微软雅黑"/>
                <a:ea typeface="微软雅黑"/>
              </a:rPr>
              <a:t>安排请主任出席的那一场活动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1">
                <a:solidFill>
                  <a:srgbClr val="C4A35A"/>
                </a:solidFill>
                <a:latin typeface="微软雅黑"/>
                <a:ea typeface="微软雅黑"/>
              </a:rPr>
              <a:t>·  </a:t>
            </a:r>
            <a:r>
              <a:rPr sz="1600" b="0">
                <a:solidFill>
                  <a:srgbClr val="1A2420"/>
                </a:solidFill>
                <a:latin typeface="微软雅黑"/>
                <a:ea typeface="微软雅黑"/>
              </a:rPr>
              <a:t>开票、收款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510528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B6B64"/>
                </a:solidFill>
                <a:latin typeface="微软雅黑"/>
                <a:ea typeface="微软雅黑"/>
              </a:rPr>
              <a:t>复旦大学住房政策研究中心  ·  上海市杨浦区科技企业联合会  ·  致香港大学经管学院上海中心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费用：三件事一笔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146304"/>
            <a:ext cx="12801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C4A35A"/>
                </a:solidFill>
                <a:latin typeface="微软雅黑"/>
                <a:ea typeface="微软雅黑"/>
              </a:rPr>
              <a:t>9/11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70432"/>
            <a:ext cx="11247120" cy="1353312"/>
          </a:xfrm>
          <a:prstGeom prst="roundRect">
            <a:avLst>
              <a:gd name="adj" fmla="val 8000"/>
            </a:avLst>
          </a:prstGeom>
          <a:solidFill>
            <a:srgbClr val="00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243584"/>
            <a:ext cx="106984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A35A"/>
                </a:solidFill>
                <a:latin typeface="微软雅黑"/>
                <a:ea typeface="微软雅黑"/>
              </a:rPr>
              <a:t>前期工作费用（一整包）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536192"/>
            <a:ext cx="1069848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微软雅黑"/>
                <a:ea typeface="微软雅黑"/>
              </a:rPr>
              <a:t>人民币捌万捌仟元整（88,000 元）　　协议生效后十个工作日内一次付清，开增值税发票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697480"/>
            <a:ext cx="5486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03D2E"/>
                </a:solidFill>
                <a:latin typeface="微软雅黑"/>
                <a:ea typeface="微软雅黑"/>
              </a:rPr>
              <a:t>这八万八千元包括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063240"/>
            <a:ext cx="548640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 b="1">
                <a:solidFill>
                  <a:srgbClr val="C4A35A"/>
                </a:solidFill>
                <a:latin typeface="微软雅黑"/>
                <a:ea typeface="微软雅黑"/>
              </a:rPr>
              <a:t>·  </a:t>
            </a:r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九十天筹备，以及按 EMBA 门槛组织名单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 b="1">
                <a:solidFill>
                  <a:srgbClr val="C4A35A"/>
                </a:solidFill>
                <a:latin typeface="微软雅黑"/>
                <a:ea typeface="微软雅黑"/>
              </a:rPr>
              <a:t>·  </a:t>
            </a:r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拟邀请名单不少于八十人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 b="1">
                <a:solidFill>
                  <a:srgbClr val="C4A35A"/>
                </a:solidFill>
                <a:latin typeface="微软雅黑"/>
                <a:ea typeface="微软雅黑"/>
              </a:rPr>
              <a:t>·  </a:t>
            </a:r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外滩出海专题课一场（同时作招生现场）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 b="1">
                <a:solidFill>
                  <a:srgbClr val="C4A35A"/>
                </a:solidFill>
                <a:latin typeface="微软雅黑"/>
                <a:ea typeface="微软雅黑"/>
              </a:rPr>
              <a:t>·  </a:t>
            </a:r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课后纪要和有意向的人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 b="1">
                <a:solidFill>
                  <a:srgbClr val="C4A35A"/>
                </a:solidFill>
                <a:latin typeface="微软雅黑"/>
                <a:ea typeface="微软雅黑"/>
              </a:rPr>
              <a:t>·  </a:t>
            </a:r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请主任出席一次出海活动（含在包内，不另收费）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697480"/>
            <a:ext cx="5486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03D2E"/>
                </a:solidFill>
                <a:latin typeface="微软雅黑"/>
                <a:ea typeface="微软雅黑"/>
              </a:rPr>
              <a:t>不包括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3063240"/>
            <a:ext cx="548640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 b="1">
                <a:solidFill>
                  <a:srgbClr val="C4A35A"/>
                </a:solidFill>
                <a:latin typeface="微软雅黑"/>
                <a:ea typeface="微软雅黑"/>
              </a:rPr>
              <a:t>·  </a:t>
            </a:r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学费、报名费，也不按人头分成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 b="1">
                <a:solidFill>
                  <a:srgbClr val="C4A35A"/>
                </a:solidFill>
                <a:latin typeface="微软雅黑"/>
                <a:ea typeface="微软雅黑"/>
              </a:rPr>
              <a:t>·  </a:t>
            </a:r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第二场及以后（如需续办，每场六万八千元，另签）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 b="1">
                <a:solidFill>
                  <a:srgbClr val="C4A35A"/>
                </a:solidFill>
                <a:latin typeface="微软雅黑"/>
                <a:ea typeface="微软雅黑"/>
              </a:rPr>
              <a:t>·  </a:t>
            </a:r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港大本部出海课程的招生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 b="1">
                <a:solidFill>
                  <a:srgbClr val="C4A35A"/>
                </a:solidFill>
                <a:latin typeface="微软雅黑"/>
                <a:ea typeface="微软雅黑"/>
              </a:rPr>
              <a:t>·  </a:t>
            </a:r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原创谷的日常事务</a:t>
            </a:r>
          </a:p>
          <a:p>
            <a:pPr>
              <a:lnSpc>
                <a:spcPct val="120000"/>
              </a:lnSpc>
              <a:spcAft>
                <a:spcPts val="600"/>
              </a:spcAft>
            </a:pPr>
            <a:r>
              <a:rPr sz="1500" b="1">
                <a:solidFill>
                  <a:srgbClr val="C4A35A"/>
                </a:solidFill>
                <a:latin typeface="微软雅黑"/>
                <a:ea typeface="微软雅黑"/>
              </a:rPr>
              <a:t>·  </a:t>
            </a:r>
            <a:r>
              <a:rPr sz="1500" b="0">
                <a:solidFill>
                  <a:srgbClr val="1A2420"/>
                </a:solidFill>
                <a:latin typeface="微软雅黑"/>
                <a:ea typeface="微软雅黑"/>
              </a:rPr>
              <a:t>就请主任到场再单开一笔费用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510528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B6B64"/>
                </a:solidFill>
                <a:latin typeface="微软雅黑"/>
                <a:ea typeface="微软雅黑"/>
              </a:rPr>
              <a:t>复旦大学住房政策研究中心  ·  上海市杨浦区科技企业联合会  ·  致香港大学经管学院上海中心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00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32688"/>
            <a:ext cx="12191695" cy="381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"/>
            <a:ext cx="978408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请中心定几件事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146304"/>
            <a:ext cx="12801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200" b="1">
                <a:solidFill>
                  <a:srgbClr val="C4A35A"/>
                </a:solidFill>
                <a:latin typeface="微软雅黑"/>
                <a:ea typeface="微软雅黑"/>
              </a:rPr>
              <a:t>10/11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280160"/>
            <a:ext cx="111556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536192"/>
            <a:ext cx="594360" cy="594360"/>
          </a:xfrm>
          <a:prstGeom prst="roundRect">
            <a:avLst>
              <a:gd name="adj" fmla="val 8000"/>
            </a:avLst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36192"/>
            <a:ext cx="5943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003D2E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63040"/>
            <a:ext cx="97840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>
                <a:solidFill>
                  <a:srgbClr val="1A2420"/>
                </a:solidFill>
                <a:latin typeface="微软雅黑"/>
                <a:ea typeface="微软雅黑"/>
              </a:rPr>
              <a:t>外滩专题课放在哪一天；课后招生老师由谁接、怎么接。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514600"/>
            <a:ext cx="111556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2770632"/>
            <a:ext cx="594360" cy="594360"/>
          </a:xfrm>
          <a:prstGeom prst="roundRect">
            <a:avLst>
              <a:gd name="adj" fmla="val 8000"/>
            </a:avLst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770632"/>
            <a:ext cx="5943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003D2E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697480"/>
            <a:ext cx="97840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>
                <a:solidFill>
                  <a:srgbClr val="1A2420"/>
                </a:solidFill>
                <a:latin typeface="微软雅黑"/>
                <a:ea typeface="微软雅黑"/>
              </a:rPr>
              <a:t>主任方便出席的大致时间。来不了也没有关系，我们按书面邀请办理。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749039"/>
            <a:ext cx="1115568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4005071"/>
            <a:ext cx="594360" cy="594360"/>
          </a:xfrm>
          <a:prstGeom prst="roundRect">
            <a:avLst>
              <a:gd name="adj" fmla="val 8000"/>
            </a:avLst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005071"/>
            <a:ext cx="59436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003D2E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931919"/>
            <a:ext cx="978408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800" b="0">
                <a:solidFill>
                  <a:srgbClr val="1A2420"/>
                </a:solidFill>
                <a:latin typeface="微软雅黑"/>
                <a:ea typeface="微软雅黑"/>
              </a:rPr>
              <a:t>协议由哪一家主体签，发票抬头是谁，款什么时候付。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120640"/>
            <a:ext cx="110642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5B6B64"/>
                </a:solidFill>
                <a:latin typeface="微软雅黑"/>
                <a:ea typeface="微软雅黑"/>
              </a:rPr>
              <a:t>协议文本随这份汇报一并送上。签好、费用到账后七日内，我们提交按 EMBA 门槛初筛的拟邀请名单初稿。
联系人：潘嘉琰　　(86) 180 1860 6086　　jyanpan@hku.hk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510528"/>
            <a:ext cx="11155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B6B64"/>
                </a:solidFill>
                <a:latin typeface="微软雅黑"/>
                <a:ea typeface="微软雅黑"/>
              </a:rPr>
              <a:t>复旦大学住房政策研究中心  ·  上海市杨浦区科技企业联合会  ·  致香港大学经管学院上海中心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请中心审阅。有要改的地方，我们按中心的意见改。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C4A35A"/>
                </a:solidFill>
                <a:latin typeface="微软雅黑"/>
                <a:ea typeface="微软雅黑"/>
              </a:rPr>
              <a:t>招生、出海课、请主任到场，合在一次合作里，费用一笔。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9476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C4A35A"/>
                </a:solidFill>
                <a:latin typeface="微软雅黑"/>
                <a:ea typeface="微软雅黑"/>
              </a:rPr>
              <a:t>复旦大学住房政策研究中心
上海市杨浦区科技企业联合会
2026年9月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2120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微软雅黑"/>
                <a:ea typeface="微软雅黑"/>
              </a:rPr>
              <a:t>随附：联合策划服务合作协议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