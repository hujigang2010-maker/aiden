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Inspire · Empower · Lead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香港大学经管学院上海中心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外滩·产业课堂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C4A35A"/>
                </a:solidFill>
                <a:latin typeface="微软雅黑"/>
                <a:ea typeface="微软雅黑"/>
              </a:rPr>
              <a:t>港大经管上海中心 × 上海产业 联合招生策划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29000"/>
            <a:ext cx="2011680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不把外滩中心做成宣讲会会场，而做成可持续出 EMBA 生源的产业课堂：港大讲全球视野与学位通道，我方送进对的产业高管；先收一笔前期策划费，把 90 天和首场锁住。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D5E4DC"/>
                </a:solidFill>
                <a:latin typeface="微软雅黑"/>
                <a:ea typeface="微软雅黑"/>
              </a:rPr>
              <a:t>致：潘嘉琰  招生官（华东 · EMBA）
复旦大学住房政策研究中心、上海市杨浦区科技企业联合会  |  V1.0 建议稿  |  2026年9月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C4A35A"/>
                </a:solidFill>
                <a:latin typeface="微软雅黑"/>
                <a:ea typeface="微软雅黑"/>
              </a:rPr>
              <a:t>上海市人民路336号 外滩SOHO F栋  ·  https://www.hkubs.hku.hk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给招生官的一页：先定思路，再谈合作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02/12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7899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20"/>
                </a:solidFill>
                <a:latin typeface="微软雅黑"/>
                <a:ea typeface="微软雅黑"/>
              </a:rPr>
              <a:t>不把外滩中心做成宣讲会会场，而做成可持续出 EMBA 生源的产业课堂：港大讲全球视野与学位通道，我方送进对的产业高管；先收一笔前期策划费，把 90 天和首场锁住。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55321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109728" cy="14630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090672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01  对方要什么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93008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符合 EMBA 画像的产业决策者持续到场，而不是一次性宣讲会人头。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926080"/>
            <a:ext cx="55321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926080"/>
            <a:ext cx="109728" cy="14630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90672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02  我们做什么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493008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把招生嵌进产业闭门课：议题、名单、现场、会后分级，一口做完。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26280"/>
            <a:ext cx="55321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26280"/>
            <a:ext cx="109728" cy="14630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90872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03  怎么形成合作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8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签一份短协议，先收 前期联合策划服务费 ¥88,000，把 90 天和首场锁住。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26280"/>
            <a:ext cx="55321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526280"/>
            <a:ext cx="109728" cy="14630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690872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04  故意不做的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93208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不碰学费分成、不承诺录取人数、不自称联合学位或港大从属机构。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为什么是现在：上海中心刚启用，招生窗口已打开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03/12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247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2025 年 12 月 6 日，港大经管学院上海中心在黄浦外滩 SOHO F 栋启用，华东校友会同步成立；中心是港大与黄浦区战略合作的落地载体。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公开定位为「一院三平台双引擎」：国际学术交流、产业转化服务、科创孵化服务；研究上以数智与金融科技为双引擎，服务华东企业家校友并辐射商界领袖。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名片对应岗位是招生官。华东 EMBA 联络人即潘嘉琰老师，项目面向 8 年以上管理经验的董事长、总裁、创始人、合伙人与部门主管，滚动招生。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中心不缺品牌、不缺场地、不缺院方师资。缺的是：把产业转化平台变成高频、高质量、可跟进的到场人群，并稳定输送符合 EMBA 画像的决策者。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47120" cy="960120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486400"/>
            <a:ext cx="107899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对接口径：潘嘉琰老师为港大经管 EMBA 华东联络人。本方案只服务这一条招生线，不扩散成「全学院代理」。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双方互补：品牌与场地在对方，产业高管在我方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04/12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64008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港大有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03120"/>
            <a:ext cx="24231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学位品牌、外滩场地、招生流程、华东校友会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28016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640080"/>
          </a:xfrm>
          <a:prstGeom prst="rect">
            <a:avLst/>
          </a:prstGeom>
          <a:solidFill>
            <a:srgbClr val="0A5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28016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港大缺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103120"/>
            <a:ext cx="24231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可持续的产业高管到场机制，宣讲会容易变成「来听招生的人」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64008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28016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我方有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103120"/>
            <a:ext cx="24231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产业决策者圈子、议题策划、邀约与会后转化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280160"/>
            <a:ext cx="274320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640080"/>
          </a:xfrm>
          <a:prstGeom prst="rect">
            <a:avLst/>
          </a:prstGeom>
          <a:solidFill>
            <a:srgbClr val="0A5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28016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我方缺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103120"/>
            <a:ext cx="24231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港大经管的学位出口与外滩中心的正式场景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5262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我方可以立刻用上的资产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杨浦科企联：科技企业、硬科技与成长型公司决策层，天然贴近 EMBA 客群。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复旦大学住房政策研究中心：不动产、城市与产业空间议题的学术背书，适合做闭门课「产业侧主理」。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已跑通的上海活动方法论：闭门沙龙、研学考察、会后转化 SOP，不是从零办会。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跨圈层触达：园区、行业协会、出海与科创场景，可按产业主题组装嘉宾与听众。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一条思路：外滩·产业课堂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05/12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三句话把产品说清楚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来的人是来谈产业的，不是来听招生的——但名单共管，会后由招生官一对一跟进。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每场一个产业主题（如 AI 产业化、城市更新与不动产、企业出海、硬科技融资），港大输出全球视野与学位通道，我方输出产业现场与到场高管。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首场做成样板，90 天内把议题日历、邀约口径和转化SOP固化，后续可按场复制。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4612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246120"/>
            <a:ext cx="3657600" cy="10972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47472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3D2E"/>
                </a:solidFill>
                <a:latin typeface="微软雅黑"/>
                <a:ea typeface="微软雅黑"/>
              </a:rPr>
              <a:t>产业闭门课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858768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主产品 · 首场即交付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25196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外滩 SOHO 半日闭门，30–40 名企业主/高管。港大 1 位师资或校友 + 我方 1 个产业议题。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24612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246120"/>
            <a:ext cx="3657600" cy="10972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347472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3D2E"/>
                </a:solidFill>
                <a:latin typeface="微软雅黑"/>
                <a:ea typeface="微软雅黑"/>
              </a:rPr>
              <a:t>定向名单共管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3858768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招生资产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425196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按 EMBA 门槛筛过的高管名单，双方共管、不转卖。会后 48 小时内完成意向分级。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24612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3246120"/>
            <a:ext cx="3657600" cy="109728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8" y="347472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3D2E"/>
                </a:solidFill>
                <a:latin typeface="微软雅黑"/>
                <a:ea typeface="微软雅黑"/>
              </a:rPr>
              <a:t>会后一对一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858768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转化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4251960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A 类由潘老师直接约面；B 类纳入下期课堂；C 类进培育池。我方只做邀约与纪要，录取在港大。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如何变成生源：现场不硬销，会后由招生官收口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06/12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8760" y="15087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5087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03D2E"/>
                </a:solidFill>
                <a:latin typeface="微软雅黑"/>
                <a:ea typeface="微软雅黑"/>
              </a:rPr>
              <a:t>邀约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按 EMBA 门槛筛名单
企业主 / 高管优先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194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C4A35A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325880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15087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5087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24028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03D2E"/>
                </a:solidFill>
                <a:latin typeface="微软雅黑"/>
                <a:ea typeface="微软雅黑"/>
              </a:rPr>
              <a:t>到场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974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产业议题把人留下
港大品牌把场撑住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194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C4A35A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325880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60920" y="15087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15087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24028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03D2E"/>
                </a:solidFill>
                <a:latin typeface="微软雅黑"/>
                <a:ea typeface="微软雅黑"/>
              </a:rPr>
              <a:t>分级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974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会后 48h 分 A/B/C
名单共管不外流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194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C4A35A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81160" y="1325880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287000" y="150876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15087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24028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03D2E"/>
                </a:solidFill>
                <a:latin typeface="微软雅黑"/>
                <a:ea typeface="微软雅黑"/>
              </a:rPr>
              <a:t>跟进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697480"/>
            <a:ext cx="2423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A 类潘老师约面
录取权始终在学院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023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首场样板 KPI（用于验收前期费用，不是录取承诺）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02920" y="4434840"/>
          <a:ext cx="11155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6112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 anchor="ctr">
                    <a:solidFill>
                      <a:srgbClr val="003D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约定</a:t>
                      </a:r>
                    </a:p>
                  </a:txBody>
                  <a:tcPr anchor="ctr">
                    <a:solidFill>
                      <a:srgbClr val="003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2420"/>
                          </a:solidFill>
                          <a:latin typeface="微软雅黑"/>
                          <a:ea typeface="微软雅黑"/>
                        </a:rPr>
                        <a:t>到场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420"/>
                          </a:solidFill>
                          <a:latin typeface="微软雅黑"/>
                          <a:ea typeface="微软雅黑"/>
                        </a:rPr>
                        <a:t>30–40 人，签到率 ≥ 70%（以确认出席名单计）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2420"/>
                          </a:solidFill>
                          <a:latin typeface="微软雅黑"/>
                          <a:ea typeface="微软雅黑"/>
                        </a:rPr>
                        <a:t>画像匹配</a:t>
                      </a:r>
                    </a:p>
                  </a:txBody>
                  <a:tcPr anchor="ctr">
                    <a:solidFill>
                      <a:srgbClr val="E8EF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420"/>
                          </a:solidFill>
                          <a:latin typeface="微软雅黑"/>
                          <a:ea typeface="微软雅黑"/>
                        </a:rPr>
                        <a:t>到场者中符合 EMBA 经验门槛的比例 ≥ 60%</a:t>
                      </a:r>
                    </a:p>
                  </a:txBody>
                  <a:tcPr anchor="ctr">
                    <a:solidFill>
                      <a:srgbClr val="E8EFE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2420"/>
                          </a:solidFill>
                          <a:latin typeface="微软雅黑"/>
                          <a:ea typeface="微软雅黑"/>
                        </a:rPr>
                        <a:t>会后 7 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420"/>
                          </a:solidFill>
                          <a:latin typeface="微软雅黑"/>
                          <a:ea typeface="微软雅黑"/>
                        </a:rPr>
                        <a:t>A/B 类意向合计不少于 8 人，完整纪要与共管名单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2420"/>
                          </a:solidFill>
                          <a:latin typeface="微软雅黑"/>
                          <a:ea typeface="微软雅黑"/>
                        </a:rPr>
                        <a:t>不承诺</a:t>
                      </a:r>
                    </a:p>
                  </a:txBody>
                  <a:tcPr anchor="ctr">
                    <a:solidFill>
                      <a:srgbClr val="E8EF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420"/>
                          </a:solidFill>
                          <a:latin typeface="微软雅黑"/>
                          <a:ea typeface="微软雅黑"/>
                        </a:rPr>
                        <a:t>不承诺录取人数、不承诺学费流水——录取权在学院</a:t>
                      </a:r>
                    </a:p>
                  </a:txBody>
                  <a:tcPr anchor="ctr">
                    <a:solidFill>
                      <a:srgbClr val="E8EFEA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90 天联合策划：把首场做成可复制的样板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07/12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4712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28016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1945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D0–D7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371600"/>
            <a:ext cx="8412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2420"/>
                </a:solidFill>
                <a:latin typeface="微软雅黑"/>
                <a:ea typeface="微软雅黑"/>
              </a:rPr>
              <a:t>签约与到账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737360"/>
            <a:ext cx="8412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协议签署，前期费用到账；确认首场主题、日期、场地档期。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423160"/>
            <a:ext cx="1124712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128016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587752"/>
            <a:ext cx="21945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D8–D21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560320"/>
            <a:ext cx="8412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2420"/>
                </a:solidFill>
                <a:latin typeface="微软雅黑"/>
                <a:ea typeface="微软雅黑"/>
              </a:rPr>
              <a:t>画像与名单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926080"/>
            <a:ext cx="8412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完成客群画像、邀约话术、首批 80 人定向名单初稿，双方书面确认。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11880"/>
            <a:ext cx="1124712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611880"/>
            <a:ext cx="128016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76472"/>
            <a:ext cx="21945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D22–D45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749040"/>
            <a:ext cx="8412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2420"/>
                </a:solidFill>
                <a:latin typeface="微软雅黑"/>
                <a:ea typeface="微软雅黑"/>
              </a:rPr>
              <a:t>首场执行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114800"/>
            <a:ext cx="8412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完成嘉宾、物料、签到与现场；会后 7 日交付纪要与分级名单。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00600"/>
            <a:ext cx="1124712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800600"/>
            <a:ext cx="128016" cy="107899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65192"/>
            <a:ext cx="21945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D46–D90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937760"/>
            <a:ext cx="8412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2420"/>
                </a:solidFill>
                <a:latin typeface="微软雅黑"/>
                <a:ea typeface="微软雅黑"/>
              </a:rPr>
              <a:t>固化复制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303520"/>
            <a:ext cx="8412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B6B64"/>
                </a:solidFill>
                <a:latin typeface="微软雅黑"/>
                <a:ea typeface="微软雅黑"/>
              </a:rPr>
              <a:t>复盘首场转化，排出后两场议题日历；第二场起另签确认单。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首场怎么开（主题可改，结构不改）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08/12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02920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首场建议主题（可改）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3D2E"/>
                </a:solidFill>
                <a:latin typeface="微软雅黑"/>
                <a:ea typeface="微软雅黑"/>
              </a:rPr>
              <a:t>主题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30552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产业决策者的全球能力：AI、跨境与城市机会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34639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3D2E"/>
                </a:solidFill>
                <a:latin typeface="微软雅黑"/>
                <a:ea typeface="微软雅黑"/>
              </a:rPr>
              <a:t>时间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0672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签约后 30–45 日内，工作日下午 14:00–18:00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94759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3D2E"/>
                </a:solidFill>
                <a:latin typeface="微软雅黑"/>
                <a:ea typeface="微软雅黑"/>
              </a:rPr>
              <a:t>地点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50791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港大经管学院上海中心（外滩 SOHO F 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54879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03D2E"/>
                </a:solidFill>
                <a:latin typeface="微软雅黑"/>
                <a:ea typeface="微软雅黑"/>
              </a:rPr>
              <a:t>人群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10912"/>
            <a:ext cx="4663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科企联会员企业主/高管为主，辅以不动产与硬科技决策者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1188720"/>
            <a:ext cx="6035040" cy="5029200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37160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半日议程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828800"/>
            <a:ext cx="5623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14:00–14:20  签到、合影、中心空间简介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14:20–14:40  港大经管：学位通道与华东布局（招生官主持）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14:40–15:30  主题分享（港大师资或杰出校友，院方指定）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15:30–16:10  产业对谈（我方议题主理 + 1–2 位到场企业家）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16:10–16:30  茶歇、一对一卡片交换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16:30–17:20  闭门问答：谁适合读、时间成本、申请节奏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1A2420"/>
                </a:solidFill>
                <a:latin typeface="微软雅黑"/>
                <a:ea typeface="微软雅黑"/>
              </a:rPr>
              <a:t>17:20–18:00  意向登记、预约面试窗口、合影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分工：招生官收口，我方把人组织到位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09/12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62356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623560" cy="64008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6235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港大经管上海中心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5074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提供外滩中心场地、品牌授权与招生口径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指定师资/校友嘉宾，安排招生官现场主持与一对一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负责面试、录取、学位等学院内部流程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指定唯一接口人（建议：潘嘉琰）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62356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280160"/>
            <a:ext cx="5623560" cy="640080"/>
          </a:xfrm>
          <a:prstGeom prst="rect">
            <a:avLst/>
          </a:prstGeom>
          <a:solidFill>
            <a:srgbClr val="0A5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280160"/>
            <a:ext cx="56235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联合策划方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03120"/>
            <a:ext cx="5074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90 天策划、议题设计、邀约执行与现场统筹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提供定向高管名单并完成会前确认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会后纪要、意向分级、协助预约面试窗口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指定运营结算主体开票、收款、对账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商业结构：只收一笔前期费用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10/12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9844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前期联合策划服务费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 typeface="微软雅黑"/>
              </a:rPr>
              <a:t>人民币捌万捌仟元整    ¥88,000
合同生效后 10 个工作日内一次性支付，开具增值税发票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这 8.8 万覆盖什么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5468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90 天联合策划：客群画像、议题日历、邀约话术、转化SOP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定向高管名单不少于 80 人（科企联及产业圈层，可共管）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首场「外滩·产业课堂」闭门课执行（外滩SOHO，30–40 人）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会后 7 日内交付纪要、意向分级名单与招生跟进口径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88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故意不写进本协议的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15468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学费、报名费、留位费及任何按人头的招生分成（本协议不做）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第二场及以后场次（建议 68,000 元/场，另签确认单）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差旅、礼品、嘉宾课酬、媒体投放等协议外增项（事前书面确认）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港大侧录取、面试、学位授予等学院内部职权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协议要点：短、可签、方便院内走流程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11/12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性质：联合策划服务合作，不是招生代理分成协议。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标的：前期联合策划服务费 人民币捌万捌仟元整（¥88,000），合同生效后 10 个工作日内一次性支付。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覆盖：90 天策划 + 首场闭门课 + 会后纪要与共管名单。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不覆盖：学费分成、第二场及以后、协议外增项。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名单：双方共管，不得向第三方转让或用于与本合作无关的推销。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品牌：未经书面同意，不得暗示对方为从属机构或联合学位项目。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●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期限：自生效日起 90 天；到期可续签或按场确认。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44068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532120"/>
            <a:ext cx="10789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A2420"/>
                </a:solidFill>
                <a:latin typeface="微软雅黑"/>
                <a:ea typeface="微软雅黑"/>
              </a:rPr>
              <a:t>完整文本见配套《联合策划服务合作协议（建议稿）》。本稿供潘老师内部预审，签署主体、账号、开票信息在签署页一次性补齐。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44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下一步：三件事，合作就算成立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64592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12/12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36192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08760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潘老师确认：首场主题窗口、场地档期、院内是否需法务/院务预审。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70632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43200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我方按本稿出协议签署页（结算主体、账号、开票信息一次补齐）。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005071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05071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77639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费用到账后 7 日内提交客群画像与 80 人名单框架，进入首场倒排。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12064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B6B64"/>
                </a:solidFill>
                <a:latin typeface="微软雅黑"/>
                <a:ea typeface="微软雅黑"/>
              </a:rPr>
              <a:t>接口人建议：潘嘉琰  招生官（华东 · EMBA）
(86) 180 1860 6086  ·  jyanpan@hku.hk  ·  上海市人民路336号 外滩SOHO F栋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B6B64"/>
                </a:solidFill>
                <a:latin typeface="微软雅黑"/>
                <a:ea typeface="微软雅黑"/>
              </a:rPr>
              <a:t>外滩·产业课堂  ·  香港大学经管学院上海中心 × 复旦大学住房政策研究中心、上海市杨浦区科技企业联合会  ·  V1.0 建议稿  ·  2026年9月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