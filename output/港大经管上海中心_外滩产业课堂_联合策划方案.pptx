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4A35A"/>
                </a:solidFill>
                <a:latin typeface="微软雅黑"/>
                <a:ea typeface="微软雅黑"/>
              </a:rPr>
              <a:t>Inspire · Empower · 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香港大学经管学院上海中心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外滩·出海课堂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4A35A"/>
                </a:solidFill>
                <a:latin typeface="微软雅黑"/>
                <a:ea typeface="微软雅黑"/>
              </a:rPr>
              <a:t>港大经管上海中心 × 上海产业  出海联合策划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29000"/>
            <a:ext cx="2011680" cy="381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出海是港大点名的合作赛道。先让上海中心主任到高质量的场有直观感受，再把外滩课堂做成 EMBA 粘性；先收一笔前期策划费，90 天把这两件事锁住。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5E4DC"/>
                </a:solidFill>
                <a:latin typeface="微软雅黑"/>
                <a:ea typeface="微软雅黑"/>
              </a:rPr>
              <a:t>致：潘嘉琰  华东华中 EMBA 招生与市场（经管上海中心平台）
复旦大学住房政策研究中心、上海市杨浦区科技企业联合会  |  V1.1 建议稿  |  2026年9月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4A35A"/>
                </a:solidFill>
                <a:latin typeface="微软雅黑"/>
                <a:ea typeface="微软雅黑"/>
              </a:rPr>
              <a:t>上海市人民路336号 外滩SOHO F栋  ·  https://www.hkubs.hku.hk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445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2026年9月3日 交流：先听懂对方怎么说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02/13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70432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A2420"/>
                </a:solidFill>
                <a:latin typeface="微软雅黑"/>
                <a:ea typeface="微软雅黑"/>
              </a:rPr>
              <a:t>出海是港大点名的合作赛道。先让上海中心主任到高质量的场有直观感受，再把外滩课堂做成 EMBA 粘性；先收一笔前期策划费，90 天把这两件事锁住。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553212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109728" cy="173736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9631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合作层级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98648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2420"/>
                </a:solidFill>
                <a:latin typeface="微软雅黑"/>
                <a:ea typeface="微软雅黑"/>
              </a:rPr>
              <a:t>从上海中心角度看，不能只停在 EMBA，要从经管学院维度做。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31720"/>
            <a:ext cx="553212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331720"/>
            <a:ext cx="109728" cy="173736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9631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主赛道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98648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2420"/>
                </a:solidFill>
                <a:latin typeface="微软雅黑"/>
                <a:ea typeface="微软雅黑"/>
              </a:rPr>
              <a:t>国内 AI 港大并无断崖优势；出海、港股、跨境金融才是港大打不输的牌。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06240"/>
            <a:ext cx="553212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109728" cy="173736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7083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怎么启动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73168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2420"/>
                </a:solidFill>
                <a:latin typeface="微软雅黑"/>
                <a:ea typeface="微软雅黑"/>
              </a:rPr>
              <a:t>有总领事、高质量企业家在场的活动，潘老师邀中心主任到场，让主任先有感受。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206240"/>
            <a:ext cx="553212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206240"/>
            <a:ext cx="109728" cy="173736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37083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角色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773168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2420"/>
                </a:solidFill>
                <a:latin typeface="微软雅黑"/>
                <a:ea typeface="微软雅黑"/>
              </a:rPr>
              <a:t>潘老师是 EMBA 粘性，管华东华中招生与市场；多维度合作在主任，不在招生官越权承诺。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64"/>
                </a:solidFill>
                <a:latin typeface="微软雅黑"/>
                <a:ea typeface="微软雅黑"/>
              </a:rPr>
              <a:t>外滩·出海课堂  ·  香港大学经管学院上海中心 × 复旦大学住房政策研究中心、上海市杨浦区科技企业联合会  ·  V1.1 建议稿  ·  2026年9月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445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对方需求四件事（按洽谈整理，不是我们替对方编的）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03/13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128016" cy="107899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16736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1.  高端教育招生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82496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64"/>
                </a:solidFill>
                <a:latin typeface="微软雅黑"/>
                <a:ea typeface="微软雅黑"/>
              </a:rPr>
              <a:t>华东华中 EMBA / 高端项目要做起来。对方称今年已超北京、深圳中心，要持续高质量到场，而不是一次性宣讲人头。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14016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14016"/>
            <a:ext cx="128016" cy="107899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23744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2.  港方课程回迁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89504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64"/>
                </a:solidFill>
                <a:latin typeface="微软雅黑"/>
                <a:ea typeface="微软雅黑"/>
              </a:rPr>
              <a:t>复旦–港大 EMBA 已办二十七年，港方课长期在复旦教室上，学员对港大归属感弱。年底起港方课迁回外滩中心，需要配得上的到场与体验。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21024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21024"/>
            <a:ext cx="128016" cy="107899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3075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3.  主任先体验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96512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64"/>
                </a:solidFill>
                <a:latin typeface="微软雅黑"/>
                <a:ea typeface="微软雅黑"/>
              </a:rPr>
              <a:t>潘老师明确：口说不行。先看高质量出海场，主任有兴趣，经管学院层合作才好开展。EMBA 只是其中一小块。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828032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828032"/>
            <a:ext cx="128016" cy="107899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4.  课与孵化可对接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035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64"/>
                </a:solidFill>
                <a:latin typeface="微软雅黑"/>
                <a:ea typeface="微软雅黑"/>
              </a:rPr>
              <a:t>本部有企业出海高级管理课，可发资料、谈联合推广。原创谷孵化器、本科研究生海外模块（3–6 个月实习参访）可对接，不塞进本期验收。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64"/>
                </a:solidFill>
                <a:latin typeface="微软雅黑"/>
                <a:ea typeface="微软雅黑"/>
              </a:rPr>
              <a:t>外滩·出海课堂  ·  香港大学经管学院上海中心 × 复旦大学住房政策研究中心、上海市杨浦区科技企业联合会  ·  V1.1 建议稿  ·  2026年9月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445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上海中心怎么运转：四个点位，四项职能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04/13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07008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07008"/>
            <a:ext cx="2788920" cy="502920"/>
          </a:xfrm>
          <a:prstGeom prst="rect">
            <a:avLst/>
          </a:prstGeom>
          <a:solidFill>
            <a:srgbClr val="0A5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07008"/>
            <a:ext cx="2788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外滩22号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828800"/>
            <a:ext cx="2560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A2420"/>
                </a:solidFill>
                <a:latin typeface="微软雅黑"/>
                <a:ea typeface="微软雅黑"/>
              </a:rPr>
              <a:t>港大上海总部接待处，装修中，无实际办学功能。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07008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207008"/>
            <a:ext cx="2788920" cy="502920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207008"/>
            <a:ext cx="2788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经管上海中心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1828800"/>
            <a:ext cx="2560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A2420"/>
                </a:solidFill>
                <a:latin typeface="微软雅黑"/>
                <a:ea typeface="微软雅黑"/>
              </a:rPr>
              <a:t>约 5000 ㎡，已启用；海外模块、招生、EMBA、原创谷主阵地。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07008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07008"/>
            <a:ext cx="2788920" cy="502920"/>
          </a:xfrm>
          <a:prstGeom prst="rect">
            <a:avLst/>
          </a:prstGeom>
          <a:solidFill>
            <a:srgbClr val="0A5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207008"/>
            <a:ext cx="2788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张江计教学院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828800"/>
            <a:ext cx="2560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A2420"/>
                </a:solidFill>
                <a:latin typeface="微软雅黑"/>
                <a:ea typeface="微软雅黑"/>
              </a:rPr>
              <a:t>约 3 万㎡，计算与数据科学学院上海中心，已投用。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207008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207008"/>
            <a:ext cx="2788920" cy="502920"/>
          </a:xfrm>
          <a:prstGeom prst="rect">
            <a:avLst/>
          </a:prstGeom>
          <a:solidFill>
            <a:srgbClr val="0A5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207008"/>
            <a:ext cx="2788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漕河泾智能所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1828800"/>
            <a:ext cx="2560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A2420"/>
                </a:solidFill>
                <a:latin typeface="微软雅黑"/>
                <a:ea typeface="微软雅黑"/>
              </a:rPr>
              <a:t>刚破土，装修未开始，投入时间未定。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2044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经管中心当前职能（对方口述）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400" b="0">
                <a:solidFill>
                  <a:srgbClr val="1A2420"/>
                </a:solidFill>
                <a:latin typeface="微软雅黑"/>
                <a:ea typeface="微软雅黑"/>
              </a:rPr>
              <a:t>承接经管学院本科/研究生上海海外模块（3–6 个月：学习、实习、参访）。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400" b="0">
                <a:solidFill>
                  <a:srgbClr val="1A2420"/>
                </a:solidFill>
                <a:latin typeface="微软雅黑"/>
                <a:ea typeface="微软雅黑"/>
              </a:rPr>
              <a:t>因地段优于张江，承接全港大本科及研究生新生入学向导与招生宣传。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400" b="0">
                <a:solidFill>
                  <a:srgbClr val="1A2420"/>
                </a:solidFill>
                <a:latin typeface="微软雅黑"/>
                <a:ea typeface="微软雅黑"/>
              </a:rPr>
              <a:t>筹备「原创谷」创业孵化器，对接资本，主要服务港大系创业，仍在实践。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400" b="0">
                <a:solidFill>
                  <a:srgbClr val="1A2420"/>
                </a:solidFill>
                <a:latin typeface="微软雅黑"/>
                <a:ea typeface="微软雅黑"/>
              </a:rPr>
              <a:t>复旦–港大 EMBA 港方课程迁回中心授课；华东华中高端教育市场由潘老师承接。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64"/>
                </a:solidFill>
                <a:latin typeface="微软雅黑"/>
                <a:ea typeface="微软雅黑"/>
              </a:rPr>
              <a:t>外滩·出海课堂  ·  香港大学经管学院上海中心 × 复旦大学住房政策研究中心、上海市杨浦区科技企业联合会  ·  V1.1 建议稿  ·  2026年9月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445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双方互补：出海是对方点名的赛道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05/13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7432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743200" cy="640080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港大有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103120"/>
            <a:ext cx="2423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A2420"/>
                </a:solidFill>
                <a:latin typeface="微软雅黑"/>
                <a:ea typeface="微软雅黑"/>
              </a:rPr>
              <a:t>出海与港股路径、外滩场地、无需联考、综合大学学科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80160"/>
            <a:ext cx="27432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280160"/>
            <a:ext cx="2743200" cy="640080"/>
          </a:xfrm>
          <a:prstGeom prst="rect">
            <a:avLst/>
          </a:prstGeom>
          <a:solidFill>
            <a:srgbClr val="0A5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280160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港大要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103120"/>
            <a:ext cx="2423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A2420"/>
                </a:solidFill>
                <a:latin typeface="微软雅黑"/>
                <a:ea typeface="微软雅黑"/>
              </a:rPr>
              <a:t>高质量出海现场给主任看；EMBA 可持续到场，不只要宣讲人头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27432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2743200" cy="640080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280160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我方有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103120"/>
            <a:ext cx="2423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A2420"/>
                </a:solidFill>
                <a:latin typeface="微软雅黑"/>
                <a:ea typeface="微软雅黑"/>
              </a:rPr>
              <a:t>总领事与企业家场、1 万私域、AI/出海企业池、办会执行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280160"/>
            <a:ext cx="27432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280160"/>
            <a:ext cx="2743200" cy="640080"/>
          </a:xfrm>
          <a:prstGeom prst="rect">
            <a:avLst/>
          </a:prstGeom>
          <a:solidFill>
            <a:srgbClr val="0A5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280160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我方缺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2103120"/>
            <a:ext cx="2423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A2420"/>
                </a:solidFill>
                <a:latin typeface="微软雅黑"/>
                <a:ea typeface="微软雅黑"/>
              </a:rPr>
              <a:t>港大经管出口、中心主任入口、外滩正式办学场景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262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我方可以立刻用上的资产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864608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1A2420"/>
                </a:solidFill>
                <a:latin typeface="微软雅黑"/>
                <a:ea typeface="微软雅黑"/>
              </a:rPr>
              <a:t>校友活动平台：复旦 18 级 MBA 发起，2021 年起运营上海本地生态；私域约 1 万人，周更线下，累计近 200 场，500 人以上 4 场。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1A2420"/>
                </a:solidFill>
                <a:latin typeface="微软雅黑"/>
                <a:ea typeface="微软雅黑"/>
              </a:rPr>
              <a:t>出海抓手：驻沪总领事资源、东方枢纽跨境主题（下半年拟与市商务委等联合约 8 场），可做「主任体验」现场。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1A2420"/>
                </a:solidFill>
                <a:latin typeface="微软雅黑"/>
                <a:ea typeface="微软雅黑"/>
              </a:rPr>
              <a:t>产业池：人工智能企业走访约 800 家、年均参访 50 余场；与腾讯云为高校侧紧密伙伴（上半年 10 次参访、约 500 家企业）。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1A2420"/>
                </a:solidFill>
                <a:latin typeface="微软雅黑"/>
                <a:ea typeface="微软雅黑"/>
              </a:rPr>
              <a:t>议题与转化：已跑通闭门沙龙、研学、会后 SOP；10 月 30 日北外滩一滴水王德峰场可作圈层触达，不计入本期验收。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64"/>
                </a:solidFill>
                <a:latin typeface="微软雅黑"/>
                <a:ea typeface="微软雅黑"/>
              </a:rPr>
              <a:t>外滩·出海课堂  ·  香港大学经管学院上海中心 × 复旦大学住房政策研究中心、上海市杨浦区科技企业联合会  ·  V1.1 建议稿  ·  2026年9月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445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一条思路：三层合作，出海是主赛道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06/13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3D2E"/>
                </a:solidFill>
                <a:latin typeface="微软雅黑"/>
                <a:ea typeface="微软雅黑"/>
              </a:rPr>
              <a:t>按 9 月 3 日对方口径收口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55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400" b="0">
                <a:solidFill>
                  <a:srgbClr val="1A2420"/>
                </a:solidFill>
                <a:latin typeface="微软雅黑"/>
                <a:ea typeface="微软雅黑"/>
              </a:rPr>
              <a:t>主赛道按对方口径定为出海：港股路径、企业跨境、自由贸易港金融优势——不把 AI 当港大主牌来卖。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400" b="0">
                <a:solidFill>
                  <a:srgbClr val="1A2420"/>
                </a:solidFill>
                <a:latin typeface="微软雅黑"/>
                <a:ea typeface="微软雅黑"/>
              </a:rPr>
              <a:t>先让主任到有分量的场，再谈经管学院层合作；EMBA 是粘性，不是合作的全部。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400" b="0">
                <a:solidFill>
                  <a:srgbClr val="1A2420"/>
                </a:solidFill>
                <a:latin typeface="微软雅黑"/>
                <a:ea typeface="微软雅黑"/>
              </a:rPr>
              <a:t>来的人谈出海，名单共管，会后由招生官一对一。录取权在港大。灰色跨境玩法不进方案、不进现场。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926080"/>
            <a:ext cx="37033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926080"/>
            <a:ext cx="3703320" cy="10972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3127248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3D2E"/>
                </a:solidFill>
                <a:latin typeface="微软雅黑"/>
                <a:ea typeface="微软雅黑"/>
              </a:rPr>
              <a:t>层 A  潘老师这一亩三分地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3794760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微软雅黑"/>
                <a:ea typeface="微软雅黑"/>
              </a:rPr>
              <a:t>EMBA 粘性 · 本期主交付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133087"/>
            <a:ext cx="33832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420"/>
                </a:solidFill>
                <a:latin typeface="微软雅黑"/>
                <a:ea typeface="微软雅黑"/>
              </a:rPr>
              <a:t>外滩出海闭门课 + 名单共管 + 会后一对一。来的人谈出海，潘老师收招生口。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2926080"/>
            <a:ext cx="37033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2926080"/>
            <a:ext cx="3703320" cy="10972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3127248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3D2E"/>
                </a:solidFill>
                <a:latin typeface="微软雅黑"/>
                <a:ea typeface="微软雅黑"/>
              </a:rPr>
              <a:t>层 B  给主任看的场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3794760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微软雅黑"/>
                <a:ea typeface="微软雅黑"/>
              </a:rPr>
              <a:t>经管学院入口 · 含在前期费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4133087"/>
            <a:ext cx="33832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420"/>
                </a:solidFill>
                <a:latin typeface="微软雅黑"/>
                <a:ea typeface="微软雅黑"/>
              </a:rPr>
              <a:t>90 天内邀中心主任出席一次我方高规格出海活动（总领事或企业家）。主任档期为准，不强制到场。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926080"/>
            <a:ext cx="37033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2926080"/>
            <a:ext cx="3703320" cy="109728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2" y="3127248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3D2E"/>
                </a:solidFill>
                <a:latin typeface="微软雅黑"/>
                <a:ea typeface="微软雅黑"/>
              </a:rPr>
              <a:t>层 C  经管学院可延伸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2" y="3794760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微软雅黑"/>
                <a:ea typeface="微软雅黑"/>
              </a:rPr>
              <a:t>意向对接 · 不验收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4133087"/>
            <a:ext cx="33832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420"/>
                </a:solidFill>
                <a:latin typeface="微软雅黑"/>
                <a:ea typeface="微软雅黑"/>
              </a:rPr>
              <a:t>出海高管课联合推广、原创谷产业与资本对接、海外模块企业参访。90 天出备忘，另签再生效。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64"/>
                </a:solidFill>
                <a:latin typeface="微软雅黑"/>
                <a:ea typeface="微软雅黑"/>
              </a:rPr>
              <a:t>外滩·出海课堂  ·  香港大学经管学院上海中心 × 复旦大学住房政策研究中心、上海市杨浦区科技企业联合会  ·  V1.1 建议稿  ·  2026年9月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445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如何变成生源：现场谈出海，会后由招生官收口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07/13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8760" y="150876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5087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03D2E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3D2E"/>
                </a:solidFill>
                <a:latin typeface="微软雅黑"/>
                <a:ea typeface="微软雅黑"/>
              </a:rPr>
              <a:t>邀约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2423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B6B64"/>
                </a:solidFill>
                <a:latin typeface="微软雅黑"/>
                <a:ea typeface="微软雅黑"/>
              </a:rPr>
              <a:t>按 EMBA 门槛筛名单
企业主 / 高管优先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1945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C4A35A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32588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50876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5087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03D2E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24028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3D2E"/>
                </a:solidFill>
                <a:latin typeface="微软雅黑"/>
                <a:ea typeface="微软雅黑"/>
              </a:rPr>
              <a:t>到场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97480"/>
            <a:ext cx="2423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B6B64"/>
                </a:solidFill>
                <a:latin typeface="微软雅黑"/>
                <a:ea typeface="微软雅黑"/>
              </a:rPr>
              <a:t>出海议题把人留下
港大路径把场撑住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1945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C4A35A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32588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60920" y="150876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15087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03D2E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4028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3D2E"/>
                </a:solidFill>
                <a:latin typeface="微软雅黑"/>
                <a:ea typeface="微软雅黑"/>
              </a:rPr>
              <a:t>分级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697480"/>
            <a:ext cx="2423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B6B64"/>
                </a:solidFill>
                <a:latin typeface="微软雅黑"/>
                <a:ea typeface="微软雅黑"/>
              </a:rPr>
              <a:t>会后 48h 分 A/B/C
名单共管不外流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21945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C4A35A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132588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287000" y="150876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15087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03D2E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24028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3D2E"/>
                </a:solidFill>
                <a:latin typeface="微软雅黑"/>
                <a:ea typeface="微软雅黑"/>
              </a:rPr>
              <a:t>跟进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697480"/>
            <a:ext cx="2423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B6B64"/>
                </a:solidFill>
                <a:latin typeface="微软雅黑"/>
                <a:ea typeface="微软雅黑"/>
              </a:rPr>
              <a:t>A 类潘老师约面
录取权始终在学院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0233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首场样板 KPI（用于验收前期费用，不是录取承诺）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02920" y="4434840"/>
          <a:ext cx="111556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96112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 anchor="ctr">
                    <a:solidFill>
                      <a:srgbClr val="003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约定</a:t>
                      </a:r>
                    </a:p>
                  </a:txBody>
                  <a:tcPr anchor="ctr">
                    <a:solidFill>
                      <a:srgbClr val="003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420"/>
                          </a:solidFill>
                          <a:latin typeface="微软雅黑"/>
                          <a:ea typeface="微软雅黑"/>
                        </a:rPr>
                        <a:t>到场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420"/>
                          </a:solidFill>
                          <a:latin typeface="微软雅黑"/>
                          <a:ea typeface="微软雅黑"/>
                        </a:rPr>
                        <a:t>30–40 人，签到率 ≥ 70%（以确认出席名单计）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420"/>
                          </a:solidFill>
                          <a:latin typeface="微软雅黑"/>
                          <a:ea typeface="微软雅黑"/>
                        </a:rPr>
                        <a:t>画像匹配</a:t>
                      </a:r>
                    </a:p>
                  </a:txBody>
                  <a:tcPr anchor="ctr">
                    <a:solidFill>
                      <a:srgbClr val="E8EF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420"/>
                          </a:solidFill>
                          <a:latin typeface="微软雅黑"/>
                          <a:ea typeface="微软雅黑"/>
                        </a:rPr>
                        <a:t>到场者中符合 EMBA 经验门槛或明确出海决策权的比例 ≥ 60%</a:t>
                      </a:r>
                    </a:p>
                  </a:txBody>
                  <a:tcPr anchor="ctr">
                    <a:solidFill>
                      <a:srgbClr val="E8EFE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420"/>
                          </a:solidFill>
                          <a:latin typeface="微软雅黑"/>
                          <a:ea typeface="微软雅黑"/>
                        </a:rPr>
                        <a:t>会后 7 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420"/>
                          </a:solidFill>
                          <a:latin typeface="微软雅黑"/>
                          <a:ea typeface="微软雅黑"/>
                        </a:rPr>
                        <a:t>A/B 类意向合计不少于 8 人，完整纪要与共管名单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420"/>
                          </a:solidFill>
                          <a:latin typeface="微软雅黑"/>
                          <a:ea typeface="微软雅黑"/>
                        </a:rPr>
                        <a:t>主任体验</a:t>
                      </a:r>
                    </a:p>
                  </a:txBody>
                  <a:tcPr anchor="ctr">
                    <a:solidFill>
                      <a:srgbClr val="E8EF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420"/>
                          </a:solidFill>
                          <a:latin typeface="微软雅黑"/>
                          <a:ea typeface="微软雅黑"/>
                        </a:rPr>
                        <a:t>90 天内完成一次正式邀约；是否出席以其公务为准，不构成强制</a:t>
                      </a:r>
                    </a:p>
                  </a:txBody>
                  <a:tcPr anchor="ctr">
                    <a:solidFill>
                      <a:srgbClr val="E8EFEA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64"/>
                </a:solidFill>
                <a:latin typeface="微软雅黑"/>
                <a:ea typeface="微软雅黑"/>
              </a:rPr>
              <a:t>外滩·出海课堂  ·  香港大学经管学院上海中心 × 复旦大学住房政策研究中心、上海市杨浦区科技企业联合会  ·  V1.1 建议稿  ·  2026年9月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445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90 天：外滩首场 + 一次主任体验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08/13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28016" cy="107899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99032"/>
            <a:ext cx="21945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D0–D7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37160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2420"/>
                </a:solidFill>
                <a:latin typeface="微软雅黑"/>
                <a:ea typeface="微软雅黑"/>
              </a:rPr>
              <a:t>签约与资料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73736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64"/>
                </a:solidFill>
                <a:latin typeface="微软雅黑"/>
                <a:ea typeface="微软雅黑"/>
              </a:rPr>
              <a:t>协议签署、前期费用到账；对方发出海课介绍；确认主任可出席窗口与首场档期。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23160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23160"/>
            <a:ext cx="128016" cy="107899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87752"/>
            <a:ext cx="21945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D8–D21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56032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2420"/>
                </a:solidFill>
                <a:latin typeface="微软雅黑"/>
                <a:ea typeface="微软雅黑"/>
              </a:rPr>
              <a:t>画像与名单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92608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64"/>
                </a:solidFill>
                <a:latin typeface="微软雅黑"/>
                <a:ea typeface="微软雅黑"/>
              </a:rPr>
              <a:t>出海客群画像、邀约话术、首批 80 人定向名单初稿，双方书面确认。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11880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611880"/>
            <a:ext cx="128016" cy="107899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76472"/>
            <a:ext cx="21945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D22–D45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74904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2420"/>
                </a:solidFill>
                <a:latin typeface="微软雅黑"/>
                <a:ea typeface="微软雅黑"/>
              </a:rPr>
              <a:t>两场落地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11480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64"/>
                </a:solidFill>
                <a:latin typeface="微软雅黑"/>
                <a:ea typeface="微软雅黑"/>
              </a:rPr>
              <a:t>外滩出海闭门课执行；完成一次主任体验邀约（出席以其公务为准）。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00600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800600"/>
            <a:ext cx="128016" cy="107899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965192"/>
            <a:ext cx="21945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D46–D90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93776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2420"/>
                </a:solidFill>
                <a:latin typeface="微软雅黑"/>
                <a:ea typeface="微软雅黑"/>
              </a:rPr>
              <a:t>固化与备忘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530352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B64"/>
                </a:solidFill>
                <a:latin typeface="微软雅黑"/>
                <a:ea typeface="微软雅黑"/>
              </a:rPr>
              <a:t>复盘转化；出海课联合推广备忘；原创谷/海外模块对接清单（意向，不验收）。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64"/>
                </a:solidFill>
                <a:latin typeface="微软雅黑"/>
                <a:ea typeface="微软雅黑"/>
              </a:rPr>
              <a:t>外滩·出海课堂  ·  香港大学经管学院上海中心 × 复旦大学住房政策研究中心、上海市杨浦区科技企业联合会  ·  V1.1 建议稿  ·  2026年9月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445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首场怎么开：出海主题可改，赛道不改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09/13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02920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4A35A"/>
                </a:solidFill>
                <a:latin typeface="微软雅黑"/>
                <a:ea typeface="微软雅黑"/>
              </a:rPr>
              <a:t>首场建议主题（可改，赛道不改）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3D2E"/>
                </a:solidFill>
                <a:latin typeface="微软雅黑"/>
                <a:ea typeface="微软雅黑"/>
              </a:rPr>
              <a:t>主题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30552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420"/>
                </a:solidFill>
                <a:latin typeface="微软雅黑"/>
                <a:ea typeface="微软雅黑"/>
              </a:rPr>
              <a:t>企业出海的港大路径：港股、跨境与产业决策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34639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3D2E"/>
                </a:solidFill>
                <a:latin typeface="微软雅黑"/>
                <a:ea typeface="微软雅黑"/>
              </a:rPr>
              <a:t>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90672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420"/>
                </a:solidFill>
                <a:latin typeface="微软雅黑"/>
                <a:ea typeface="微软雅黑"/>
              </a:rPr>
              <a:t>签约后 30–45 日内，工作日下午 14:00–18:00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94759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3D2E"/>
                </a:solidFill>
                <a:latin typeface="微软雅黑"/>
                <a:ea typeface="微软雅黑"/>
              </a:rPr>
              <a:t>地点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50791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420"/>
                </a:solidFill>
                <a:latin typeface="微软雅黑"/>
                <a:ea typeface="微软雅黑"/>
              </a:rPr>
              <a:t>港大经管学院上海中心（外滩 SOHO F 栋）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754879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3D2E"/>
                </a:solidFill>
                <a:latin typeface="微软雅黑"/>
                <a:ea typeface="微软雅黑"/>
              </a:rPr>
              <a:t>人群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010912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420"/>
                </a:solidFill>
                <a:latin typeface="微软雅黑"/>
                <a:ea typeface="微软雅黑"/>
              </a:rPr>
              <a:t>有出海或港股意向的企业主/高管，辅以科企联与产业决策者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188720"/>
            <a:ext cx="6035040" cy="5029200"/>
          </a:xfrm>
          <a:prstGeom prst="roundRect">
            <a:avLst>
              <a:gd name="adj" fmla="val 8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137160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半日议程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1828800"/>
            <a:ext cx="5623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300" b="0">
                <a:solidFill>
                  <a:srgbClr val="1A2420"/>
                </a:solidFill>
                <a:latin typeface="微软雅黑"/>
                <a:ea typeface="微软雅黑"/>
              </a:rPr>
              <a:t>14:00–14:20  签到、合影、中心与百年校庆墙简介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300" b="0">
                <a:solidFill>
                  <a:srgbClr val="1A2420"/>
                </a:solidFill>
                <a:latin typeface="微软雅黑"/>
                <a:ea typeface="微软雅黑"/>
              </a:rPr>
              <a:t>14:20–14:40  港大经管：出海优势与华东布局（招生官主持）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300" b="0">
                <a:solidFill>
                  <a:srgbClr val="1A2420"/>
                </a:solidFill>
                <a:latin typeface="微软雅黑"/>
                <a:ea typeface="微软雅黑"/>
              </a:rPr>
              <a:t>14:40–15:30  主题分享（港大师资或校友，院方指定，聚焦出海/港股）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300" b="0">
                <a:solidFill>
                  <a:srgbClr val="1A2420"/>
                </a:solidFill>
                <a:latin typeface="微软雅黑"/>
                <a:ea typeface="微软雅黑"/>
              </a:rPr>
              <a:t>15:30–16:10  产业对谈（我方议题主理 + 1–2 位到场企业家）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300" b="0">
                <a:solidFill>
                  <a:srgbClr val="1A2420"/>
                </a:solidFill>
                <a:latin typeface="微软雅黑"/>
                <a:ea typeface="微软雅黑"/>
              </a:rPr>
              <a:t>16:10–16:30  茶歇、一对一卡片交换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300" b="0">
                <a:solidFill>
                  <a:srgbClr val="1A2420"/>
                </a:solidFill>
                <a:latin typeface="微软雅黑"/>
                <a:ea typeface="微软雅黑"/>
              </a:rPr>
              <a:t>16:30–17:20  闭门问答：谁适合读、时间成本、申请节奏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300" b="0">
                <a:solidFill>
                  <a:srgbClr val="1A2420"/>
                </a:solidFill>
                <a:latin typeface="微软雅黑"/>
                <a:ea typeface="微软雅黑"/>
              </a:rPr>
              <a:t>17:20–18:00  意向登记、预约面试窗口、合影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64"/>
                </a:solidFill>
                <a:latin typeface="微软雅黑"/>
                <a:ea typeface="微软雅黑"/>
              </a:rPr>
              <a:t>外滩·出海课堂  ·  香港大学经管学院上海中心 × 复旦大学住房政策研究中心、上海市杨浦区科技企业联合会  ·  V1.1 建议稿  ·  2026年9月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445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分工：招生官做粘性，主任入口另走一层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10/13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62356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623560" cy="640080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623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港大经管上海中心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074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500" b="0">
                <a:solidFill>
                  <a:srgbClr val="1A2420"/>
                </a:solidFill>
                <a:latin typeface="微软雅黑"/>
                <a:ea typeface="微软雅黑"/>
              </a:rPr>
              <a:t>提供外滩中心场地、品牌授权与招生口径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500" b="0">
                <a:solidFill>
                  <a:srgbClr val="1A2420"/>
                </a:solidFill>
                <a:latin typeface="微软雅黑"/>
                <a:ea typeface="微软雅黑"/>
              </a:rPr>
              <a:t>指定师资/校友嘉宾；潘老师现场主持与一对一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500" b="0">
                <a:solidFill>
                  <a:srgbClr val="1A2420"/>
                </a:solidFill>
                <a:latin typeface="微软雅黑"/>
                <a:ea typeface="微软雅黑"/>
              </a:rPr>
              <a:t>协助邀请中心主任出席一次甲方高规格出海活动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500" b="0">
                <a:solidFill>
                  <a:srgbClr val="1A2420"/>
                </a:solidFill>
                <a:latin typeface="微软雅黑"/>
                <a:ea typeface="微软雅黑"/>
              </a:rPr>
              <a:t>面试、录取、学位等学院内部流程；发出海课介绍资料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62356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5623560" cy="640080"/>
          </a:xfrm>
          <a:prstGeom prst="rect">
            <a:avLst/>
          </a:prstGeom>
          <a:solidFill>
            <a:srgbClr val="0A5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80160"/>
            <a:ext cx="5623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联合策划方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5074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500" b="0">
                <a:solidFill>
                  <a:srgbClr val="1A2420"/>
                </a:solidFill>
                <a:latin typeface="微软雅黑"/>
                <a:ea typeface="微软雅黑"/>
              </a:rPr>
              <a:t>90 天出海策划、议题、邀约与外滩首场统筹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500" b="0">
                <a:solidFill>
                  <a:srgbClr val="1A2420"/>
                </a:solidFill>
                <a:latin typeface="微软雅黑"/>
                <a:ea typeface="微软雅黑"/>
              </a:rPr>
              <a:t>提供定向高管名单并完成会前确认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500" b="0">
                <a:solidFill>
                  <a:srgbClr val="1A2420"/>
                </a:solidFill>
                <a:latin typeface="微软雅黑"/>
                <a:ea typeface="微软雅黑"/>
              </a:rPr>
              <a:t>组织一次可供主任体验的高规格出海活动现场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500" b="0">
                <a:solidFill>
                  <a:srgbClr val="1A2420"/>
                </a:solidFill>
                <a:latin typeface="微软雅黑"/>
                <a:ea typeface="微软雅黑"/>
              </a:rPr>
              <a:t>会后纪要、意向分级；指定结算主体开票收款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64"/>
                </a:solidFill>
                <a:latin typeface="微软雅黑"/>
                <a:ea typeface="微软雅黑"/>
              </a:rPr>
              <a:t>外滩·出海课堂  ·  香港大学经管学院上海中心 × 复旦大学住房政策研究中心、上海市杨浦区科技企业联合会  ·  V1.1 建议稿  ·  2026年9月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445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商业结构：只收一笔前期费用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11/13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984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4A35A"/>
                </a:solidFill>
                <a:latin typeface="微软雅黑"/>
                <a:ea typeface="微软雅黑"/>
              </a:rPr>
              <a:t>前期联合策划服务费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27632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人民币捌万捌仟元整    ¥88,000
合同生效后 10 个工作日内一次性支付，开具增值税发票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88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这 8.8 万覆盖什么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5577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300" b="0">
                <a:solidFill>
                  <a:srgbClr val="1A2420"/>
                </a:solidFill>
                <a:latin typeface="微软雅黑"/>
                <a:ea typeface="微软雅黑"/>
              </a:rPr>
              <a:t>90 天出海主题联合策划：客群画像、议题日历、邀约话术、转化SOP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300" b="0">
                <a:solidFill>
                  <a:srgbClr val="1A2420"/>
                </a:solidFill>
                <a:latin typeface="微软雅黑"/>
                <a:ea typeface="微软雅黑"/>
              </a:rPr>
              <a:t>定向高管名单不少于 80 人（出海/产业决策者，按 EMBA 门槛初筛，可共管）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300" b="0">
                <a:solidFill>
                  <a:srgbClr val="1A2420"/>
                </a:solidFill>
                <a:latin typeface="微软雅黑"/>
                <a:ea typeface="微软雅黑"/>
              </a:rPr>
              <a:t>首场「外滩·出海课堂」闭门课（外滩SOHO，30–40 人，出海主题）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300" b="0">
                <a:solidFill>
                  <a:srgbClr val="1A2420"/>
                </a:solidFill>
                <a:latin typeface="微软雅黑"/>
                <a:ea typeface="微软雅黑"/>
              </a:rPr>
              <a:t>一次「主任体验」：邀请港大经管学院上海中心主任出席我方高规格出海活动（总领事或企业家场）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300" b="0">
                <a:solidFill>
                  <a:srgbClr val="1A2420"/>
                </a:solidFill>
                <a:latin typeface="微软雅黑"/>
                <a:ea typeface="微软雅黑"/>
              </a:rPr>
              <a:t>会后 7 日内交付纪要、意向分级名单与招生跟进口径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788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故意不写进本协议的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108960"/>
            <a:ext cx="5577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300" b="0">
                <a:solidFill>
                  <a:srgbClr val="1A2420"/>
                </a:solidFill>
                <a:latin typeface="微软雅黑"/>
                <a:ea typeface="微软雅黑"/>
              </a:rPr>
              <a:t>学费、报名费、留位费及任何按人头的招生分成（本协议不做）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300" b="0">
                <a:solidFill>
                  <a:srgbClr val="1A2420"/>
                </a:solidFill>
                <a:latin typeface="微软雅黑"/>
                <a:ea typeface="微软雅黑"/>
              </a:rPr>
              <a:t>第二场及以后场次（建议 68,000 元/场，另签确认单）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300" b="0">
                <a:solidFill>
                  <a:srgbClr val="1A2420"/>
                </a:solidFill>
                <a:latin typeface="微软雅黑"/>
                <a:ea typeface="微软雅黑"/>
              </a:rPr>
              <a:t>本部企业出海高级管理课程的联合招生与分成（可另议推广，资料由对方提供）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300" b="0">
                <a:solidFill>
                  <a:srgbClr val="1A2420"/>
                </a:solidFill>
                <a:latin typeface="微软雅黑"/>
                <a:ea typeface="微软雅黑"/>
              </a:rPr>
              <a:t>原创谷日常运营、股权投资，以及灰色跨境结算等非正式议题（对外一律不采用）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64"/>
                </a:solidFill>
                <a:latin typeface="微软雅黑"/>
                <a:ea typeface="微软雅黑"/>
              </a:rPr>
              <a:t>外滩·出海课堂  ·  香港大学经管学院上海中心 × 复旦大学住房政策研究中心、上海市杨浦区科技企业联合会  ·  V1.1 建议稿  ·  2026年9月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445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协议要点：短、可签，按对方口径分层验收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12/13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400" b="0">
                <a:solidFill>
                  <a:srgbClr val="1A2420"/>
                </a:solidFill>
                <a:latin typeface="微软雅黑"/>
                <a:ea typeface="微软雅黑"/>
              </a:rPr>
              <a:t>性质：联合策划服务。层级按对方口径覆盖经管学院出海合作，本期验收以 EMBA 粘性场 + 主任邀约为限。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400" b="0">
                <a:solidFill>
                  <a:srgbClr val="1A2420"/>
                </a:solidFill>
                <a:latin typeface="微软雅黑"/>
                <a:ea typeface="微软雅黑"/>
              </a:rPr>
              <a:t>标的：前期联合策划服务费 人民币捌万捌仟元整（¥88,000），合同生效后 10 个工作日内一次性支付。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400" b="0">
                <a:solidFill>
                  <a:srgbClr val="1A2420"/>
                </a:solidFill>
                <a:latin typeface="微软雅黑"/>
                <a:ea typeface="微软雅黑"/>
              </a:rPr>
              <a:t>覆盖：90 天策划 + 外滩出海首场 + 一次主任体验邀约 + 会后纪要与共管名单。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400" b="0">
                <a:solidFill>
                  <a:srgbClr val="1A2420"/>
                </a:solidFill>
                <a:latin typeface="微软雅黑"/>
                <a:ea typeface="微软雅黑"/>
              </a:rPr>
              <a:t>不覆盖：学费分成、第二场、本部出海课分成、原创谷运营、灰色跨境议题。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400" b="0">
                <a:solidFill>
                  <a:srgbClr val="1A2420"/>
                </a:solidFill>
                <a:latin typeface="微软雅黑"/>
                <a:ea typeface="微软雅黑"/>
              </a:rPr>
              <a:t>名单共管；未经书面同意不得暗示联合学位或港大从属机构。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400" b="0">
                <a:solidFill>
                  <a:srgbClr val="1A2420"/>
                </a:solidFill>
                <a:latin typeface="微软雅黑"/>
                <a:ea typeface="微软雅黑"/>
              </a:rPr>
              <a:t>主任是否出席以其公务为准，已完成正式邀约即视为本项交付。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●  </a:t>
            </a:r>
            <a:r>
              <a:rPr sz="1400" b="0">
                <a:solidFill>
                  <a:srgbClr val="1A2420"/>
                </a:solidFill>
                <a:latin typeface="微软雅黑"/>
                <a:ea typeface="微软雅黑"/>
              </a:rPr>
              <a:t>期限：自生效日起 90 天；到期可续签或按场确认。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4068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532120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A2420"/>
                </a:solidFill>
                <a:latin typeface="微软雅黑"/>
                <a:ea typeface="微软雅黑"/>
              </a:rPr>
              <a:t>完整文本见配套《联合策划服务合作协议（建议稿）》。本稿供潘老师内部预审，签署主体、账号、开票信息在签署页一次性补齐。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64"/>
                </a:solidFill>
                <a:latin typeface="微软雅黑"/>
                <a:ea typeface="微软雅黑"/>
              </a:rPr>
              <a:t>外滩·出海课堂  ·  香港大学经管学院上海中心 × 复旦大学住房政策研究中心、上海市杨浦区科技企业联合会  ·  V1.1 建议稿  ·  2026年9月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445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下一步：三件事，合作就算成立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13/13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594360" cy="594360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03D2E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08760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A2420"/>
                </a:solidFill>
                <a:latin typeface="微软雅黑"/>
                <a:ea typeface="微软雅黑"/>
              </a:rPr>
              <a:t>潘老师确认：出海课资料、主任可出席窗口、首场外滩档期、院内是否需预审。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1460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770632"/>
            <a:ext cx="594360" cy="594360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70632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03D2E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743200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A2420"/>
                </a:solidFill>
                <a:latin typeface="微软雅黑"/>
                <a:ea typeface="微软雅黑"/>
              </a:rPr>
              <a:t>我方按本稿出协议签署页（结算主体、账号、开票信息一次补齐）。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49039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4005071"/>
            <a:ext cx="594360" cy="594360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05071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03D2E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977639"/>
            <a:ext cx="9784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A2420"/>
                </a:solidFill>
                <a:latin typeface="微软雅黑"/>
                <a:ea typeface="微软雅黑"/>
              </a:rPr>
              <a:t>费用到账后 7 日内提交出海客群画像与 80 人名单，并锁定一场主任体验活动。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12064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B6B64"/>
                </a:solidFill>
                <a:latin typeface="微软雅黑"/>
                <a:ea typeface="微软雅黑"/>
              </a:rPr>
              <a:t>接口人建议：潘嘉琰  华东华中 EMBA 招生与市场（经管上海中心平台）
(86) 180 1860 6086  ·  jyanpan@hku.hk  ·  上海市人民路336号 外滩SOHO F栋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64"/>
                </a:solidFill>
                <a:latin typeface="微软雅黑"/>
                <a:ea typeface="微软雅黑"/>
              </a:rPr>
              <a:t>外滩·出海课堂  ·  香港大学经管学院上海中心 × 复旦大学住房政策研究中心、上海市杨浦区科技企业联合会  ·  V1.1 建议稿  ·  2026年9月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