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9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A896"/>
                </a:solidFill>
                <a:latin typeface="微软雅黑"/>
                <a:ea typeface="微软雅黑"/>
              </a:rPr>
              <a:t>AI 可用知识框架  ·  叙事功能学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4F1EA"/>
                </a:solidFill>
                <a:latin typeface="微软雅黑"/>
                <a:ea typeface="微软雅黑"/>
              </a:rPr>
              <a:t>前世叙事的功能分析框架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C08A"/>
                </a:solidFill>
                <a:latin typeface="微软雅黑"/>
                <a:ea typeface="微软雅黑"/>
              </a:rPr>
              <a:t>心理补偿 · 关系解释 · 身份建构 · 道德约束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8D4CB"/>
                </a:solidFill>
                <a:latin typeface="微软雅黑"/>
                <a:ea typeface="微软雅黑"/>
              </a:rPr>
              <a:t>不同文化里的前世故事，分别在承担什么功能？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9144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E96A4"/>
                </a:solidFill>
                <a:latin typeface="微软雅黑"/>
                <a:ea typeface="微软雅黑"/>
              </a:rPr>
              <a:t>供内容分析、标注体系与 AI 提示词沉淀使用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为何需要「功能分析」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把前世故事当作社会—心理装置，而不是只问「信不信」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90472"/>
            <a:ext cx="640080" cy="502920"/>
          </a:xfrm>
          <a:prstGeom prst="roundRect">
            <a:avLst>
              <a:gd name="adj" fmla="val 15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640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435608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微软雅黑"/>
                <a:ea typeface="微软雅黑"/>
              </a:rPr>
              <a:t>现象普遍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7647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从宗教经典、民间传说到短视频「前世今生」，叙事持续再生产。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7744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633472"/>
            <a:ext cx="640080" cy="502920"/>
          </a:xfrm>
          <a:prstGeom prst="roundRect">
            <a:avLst>
              <a:gd name="adj" fmla="val 15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640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578608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微软雅黑"/>
                <a:ea typeface="微软雅黑"/>
              </a:rPr>
              <a:t>功能稳定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9077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具体情节多变，但服务的心理与社会功能高度收敛。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2044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776472"/>
            <a:ext cx="640080" cy="502920"/>
          </a:xfrm>
          <a:prstGeom prst="roundRect">
            <a:avLst>
              <a:gd name="adj" fmla="val 15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640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721608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微软雅黑"/>
                <a:ea typeface="微软雅黑"/>
              </a:rPr>
              <a:t>文化分流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507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同一功能在不同传统中权重不同，载体与合法性来源也不同。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6344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919472"/>
            <a:ext cx="640080" cy="502920"/>
          </a:xfrm>
          <a:prstGeom prst="roundRect">
            <a:avLst>
              <a:gd name="adj" fmla="val 15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83480"/>
            <a:ext cx="640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864608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微软雅黑"/>
                <a:ea typeface="微软雅黑"/>
              </a:rPr>
              <a:t>AI 可操作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1937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可转成标注维度、检索标签、生成约束与跨文化对照提示。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四维功能总览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Past-Life Narrative Functional Framework（PLN-F）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2743200" cy="466344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743200" cy="109728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A896"/>
                </a:solidFill>
                <a:latin typeface="微软雅黑"/>
                <a:ea typeface="微软雅黑"/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1EA"/>
                </a:solidFill>
                <a:latin typeface="微软雅黑"/>
                <a:ea typeface="微软雅黑"/>
              </a:rPr>
              <a:t>心理补偿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E96A4"/>
                </a:solidFill>
                <a:latin typeface="微软雅黑"/>
                <a:ea typeface="微软雅黑"/>
              </a:rPr>
              <a:t>Psychological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16352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E96A4"/>
                </a:solidFill>
                <a:latin typeface="微软雅黑"/>
                <a:ea typeface="微软雅黑"/>
              </a:rPr>
              <a:t>Compensation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237744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用「另一世的我」消化创伤、遗憾、不公与未完成之事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280160"/>
            <a:ext cx="2743200" cy="466344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280160"/>
            <a:ext cx="2743200" cy="109728"/>
          </a:xfrm>
          <a:prstGeom prst="rect">
            <a:avLst/>
          </a:prstGeom>
          <a:solidFill>
            <a:srgbClr val="C99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600200"/>
            <a:ext cx="23774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965A"/>
                </a:solidFill>
                <a:latin typeface="微软雅黑"/>
                <a:ea typeface="微软雅黑"/>
              </a:rPr>
              <a:t>F2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1168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1EA"/>
                </a:solidFill>
                <a:latin typeface="微软雅黑"/>
                <a:ea typeface="微软雅黑"/>
              </a:rPr>
              <a:t>关系解释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6032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E96A4"/>
                </a:solidFill>
                <a:latin typeface="微软雅黑"/>
                <a:ea typeface="微软雅黑"/>
              </a:rPr>
              <a:t>Relational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16352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E96A4"/>
                </a:solidFill>
                <a:latin typeface="微软雅黑"/>
                <a:ea typeface="微软雅黑"/>
              </a:rPr>
              <a:t>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83280"/>
            <a:ext cx="237744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为亲密、疏离、冲突与缘分提供超验因果剧本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280160"/>
            <a:ext cx="2743200" cy="466344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280160"/>
            <a:ext cx="2743200" cy="109728"/>
          </a:xfrm>
          <a:prstGeom prst="rect">
            <a:avLst/>
          </a:prstGeom>
          <a:solidFill>
            <a:srgbClr val="7A9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00200"/>
            <a:ext cx="23774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A9EC2"/>
                </a:solidFill>
                <a:latin typeface="微软雅黑"/>
                <a:ea typeface="微软雅黑"/>
              </a:rPr>
              <a:t>F3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01168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1EA"/>
                </a:solidFill>
                <a:latin typeface="微软雅黑"/>
                <a:ea typeface="微软雅黑"/>
              </a:rPr>
              <a:t>身份建构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56032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E96A4"/>
                </a:solidFill>
                <a:latin typeface="微软雅黑"/>
                <a:ea typeface="微软雅黑"/>
              </a:rPr>
              <a:t>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816352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E96A4"/>
                </a:solidFill>
                <a:latin typeface="微软雅黑"/>
                <a:ea typeface="微软雅黑"/>
              </a:rPr>
              <a:t>Construction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383280"/>
            <a:ext cx="237744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借前世地位/天赋/使命重写当下的自我叙事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280160"/>
            <a:ext cx="2743200" cy="466344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280160"/>
            <a:ext cx="2743200" cy="109728"/>
          </a:xfrm>
          <a:prstGeom prst="rect">
            <a:avLst/>
          </a:prstGeom>
          <a:solidFill>
            <a:srgbClr val="C0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1600200"/>
            <a:ext cx="23774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06A5A"/>
                </a:solidFill>
                <a:latin typeface="微软雅黑"/>
                <a:ea typeface="微软雅黑"/>
              </a:rPr>
              <a:t>F4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01168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1EA"/>
                </a:solidFill>
                <a:latin typeface="微软雅黑"/>
                <a:ea typeface="微软雅黑"/>
              </a:rPr>
              <a:t>道德约束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56032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E96A4"/>
                </a:solidFill>
                <a:latin typeface="微软雅黑"/>
                <a:ea typeface="微软雅黑"/>
              </a:rPr>
              <a:t>Moral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816352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E96A4"/>
                </a:solidFill>
                <a:latin typeface="微软雅黑"/>
                <a:ea typeface="微软雅黑"/>
              </a:rPr>
              <a:t>Constraint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383280"/>
            <a:ext cx="237744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以跨世因果规范行为，把伦理后果拉长到来世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F1  心理补偿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用叙事把不可承受的偶然，改写成可理解的「早有安排」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BA896"/>
                </a:solidFill>
                <a:latin typeface="微软雅黑"/>
                <a:ea typeface="微软雅黑"/>
              </a:rPr>
              <a:t>典型触发情境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早逝、残疾、重大丧失 → 「前世欠债 / 功课未完」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阶层固化与人生挫败 → 「前世曾显赫 / 今世修行」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创伤记忆碎片 → 催眠回溯中的「前世场景」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86199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疾病与痛苦 → 「业障消尽」式意义化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对平凡自我的不满 → 「沉睡的特殊灵魂」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34440"/>
            <a:ext cx="5440680" cy="475488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功能机制与识别信号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49377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意义修复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把随机苦难纳入目的论秩序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49377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责任外移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0040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部分卸下当下自我的全责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49040"/>
            <a:ext cx="49377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希望延期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「来世可偿」缓冲绝望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17719"/>
            <a:ext cx="49377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识别信号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937759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疗愈话术、遗憾闭环、不公合理化、回溯治疗叙事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F2  关系解释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前世是人际关系的「超验说明书」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09728" cy="210312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微软雅黑"/>
                <a:ea typeface="微软雅黑"/>
              </a:rPr>
              <a:t>吸引与命定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一见钟情、灵魂伴侣、双生火焰 → 前世未了情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109728" cy="2103120"/>
          </a:xfrm>
          <a:prstGeom prst="rect">
            <a:avLst/>
          </a:prstGeom>
          <a:solidFill>
            <a:srgbClr val="C0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微软雅黑"/>
                <a:ea typeface="微软雅黑"/>
              </a:rPr>
              <a:t>冲突与纠缠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4028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反复伤害的关系 → 债主—债务人、仇敌转世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09728" cy="2103120"/>
          </a:xfrm>
          <a:prstGeom prst="rect">
            <a:avLst/>
          </a:prstGeom>
          <a:solidFill>
            <a:srgbClr val="C99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微软雅黑"/>
                <a:ea typeface="微软雅黑"/>
              </a:rPr>
              <a:t>亲缘重组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子女是「讨债/还债」来的；养父母是前世亲人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8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611880"/>
            <a:ext cx="109728" cy="2103120"/>
          </a:xfrm>
          <a:prstGeom prst="rect">
            <a:avLst/>
          </a:prstGeom>
          <a:solidFill>
            <a:srgbClr val="7A9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97764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微软雅黑"/>
                <a:ea typeface="微软雅黑"/>
              </a:rPr>
              <a:t>社群边界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57200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同门、同修、同部落灵魂 → 圈内信任的神话基础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F3  身份建构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前世是自我的「升级补丁」与合法性来源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577840" cy="475488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BA896"/>
                </a:solidFill>
                <a:latin typeface="微软雅黑"/>
                <a:ea typeface="微软雅黑"/>
              </a:rPr>
              <a:t>建构路径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EA"/>
                </a:solidFill>
                <a:latin typeface="微软雅黑"/>
                <a:ea typeface="微软雅黑"/>
              </a:rPr>
              <a:t>贵族/圣者前世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5915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E96A4"/>
                </a:solidFill>
                <a:latin typeface="微软雅黑"/>
                <a:ea typeface="微软雅黑"/>
              </a:rPr>
              <a:t>抬升当下地位，对抗边缘感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EA"/>
                </a:solidFill>
                <a:latin typeface="微软雅黑"/>
                <a:ea typeface="微软雅黑"/>
              </a:rPr>
              <a:t>特殊使命叙事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2783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E96A4"/>
                </a:solidFill>
                <a:latin typeface="微软雅黑"/>
                <a:ea typeface="微软雅黑"/>
              </a:rPr>
              <a:t>「我此生是来完成某任务」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EA"/>
                </a:solidFill>
                <a:latin typeface="微软雅黑"/>
                <a:ea typeface="微软雅黑"/>
              </a:rPr>
              <a:t>天赋溯源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9651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E96A4"/>
                </a:solidFill>
                <a:latin typeface="微软雅黑"/>
                <a:ea typeface="微软雅黑"/>
              </a:rPr>
              <a:t>艺术、通灵、领导力「与生俱来」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17719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EA"/>
                </a:solidFill>
                <a:latin typeface="微软雅黑"/>
                <a:ea typeface="微软雅黑"/>
              </a:rPr>
              <a:t>转世制度身份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65191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E96A4"/>
                </a:solidFill>
                <a:latin typeface="微软雅黑"/>
                <a:ea typeface="微软雅黑"/>
              </a:rPr>
              <a:t>活佛、祖灵回归等制度化认证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234440"/>
            <a:ext cx="5349240" cy="475488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4173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6A5A"/>
                </a:solidFill>
                <a:latin typeface="微软雅黑"/>
                <a:ea typeface="微软雅黑"/>
              </a:rPr>
              <a:t>张力与风险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011680"/>
            <a:ext cx="493776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精英幻想：人人皆法老/王妃的通胀叙事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97480"/>
            <a:ext cx="493776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权威挪用：以「我前世是…」压过对话平等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383280"/>
            <a:ext cx="493776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历史挪用：对真实族群/人物的浪漫化占有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069080"/>
            <a:ext cx="493776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制度版 vs 民间版：认证成本决定可信度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754880"/>
            <a:ext cx="493776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AI 生成风险：批量制造虚假「高贵前世」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F4  道德约束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把伦理账本延伸到「看不见的来世」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2011680" cy="438912"/>
          </a:xfrm>
          <a:prstGeom prst="roundRect">
            <a:avLst>
              <a:gd name="adj" fmla="val 15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90472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因果报应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49047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善恶有报被时间轴拉长，弥补当世不公的可见性缺口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331720"/>
            <a:ext cx="2011680" cy="438912"/>
          </a:xfrm>
          <a:prstGeom prst="roundRect">
            <a:avLst>
              <a:gd name="adj" fmla="val 15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04872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戒律强化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0487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杀生、妄语、破戒 → 来世堕恶趣；布施持戒 → 人天福报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632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2011680" cy="438912"/>
          </a:xfrm>
          <a:prstGeom prst="roundRect">
            <a:avLst>
              <a:gd name="adj" fmla="val 15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19272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社会秩序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31927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劝孝、劝善、止争；用恐惧与希望双轨维稳日常伦理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776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2011680" cy="438912"/>
          </a:xfrm>
          <a:prstGeom prst="roundRect">
            <a:avLst>
              <a:gd name="adj" fmla="val 15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33672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自我规训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23367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个体以内疚/功德心管理欲望，降低外在监控成本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074920"/>
            <a:ext cx="2011680" cy="438912"/>
          </a:xfrm>
          <a:prstGeom prst="roundRect">
            <a:avLst>
              <a:gd name="adj" fmla="val 15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48072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识别信号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4807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「造业」「消业」「功德」「恶报」等跨世奖惩词汇簇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跨文化功能矩阵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权重示意：● 强  ◐ 中  ○ 弱（分析用，非绝对）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11338560" cy="502920"/>
          </a:xfrm>
          <a:prstGeom prst="roundRect">
            <a:avLst>
              <a:gd name="adj" fmla="val 4000"/>
            </a:avLst>
          </a:prstGeom>
          <a:solidFill>
            <a:srgbClr val="2C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E96A4"/>
                </a:solidFill>
                <a:latin typeface="微软雅黑"/>
                <a:ea typeface="微软雅黑"/>
              </a:rPr>
              <a:t>文化传统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3258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BA896"/>
                </a:solidFill>
                <a:latin typeface="微软雅黑"/>
                <a:ea typeface="微软雅黑"/>
              </a:rPr>
              <a:t>心理补偿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3258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BA896"/>
                </a:solidFill>
                <a:latin typeface="微软雅黑"/>
                <a:ea typeface="微软雅黑"/>
              </a:rPr>
              <a:t>关系解释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3258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BA896"/>
                </a:solidFill>
                <a:latin typeface="微软雅黑"/>
                <a:ea typeface="微软雅黑"/>
              </a:rPr>
              <a:t>身份建构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19" y="13258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BA896"/>
                </a:solidFill>
                <a:latin typeface="微软雅黑"/>
                <a:ea typeface="微软雅黑"/>
              </a:rPr>
              <a:t>道德约束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828800"/>
            <a:ext cx="11338560" cy="621792"/>
          </a:xfrm>
          <a:prstGeom prst="roundRect">
            <a:avLst>
              <a:gd name="adj" fmla="val 4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印度教/佛教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965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965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965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1965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514600"/>
            <a:ext cx="11338560" cy="621792"/>
          </a:xfrm>
          <a:prstGeom prst="roundRect">
            <a:avLst>
              <a:gd name="adj" fmla="val 4000"/>
            </a:avLst>
          </a:prstGeom>
          <a:solidFill>
            <a:srgbClr val="18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5176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汉传民间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6517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6517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6517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8E96A4"/>
                </a:solidFill>
                <a:latin typeface="微软雅黑"/>
                <a:ea typeface="微软雅黑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6517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200400"/>
            <a:ext cx="11338560" cy="621792"/>
          </a:xfrm>
          <a:prstGeom prst="roundRect">
            <a:avLst>
              <a:gd name="adj" fmla="val 4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33756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藏传转世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3375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8E96A4"/>
                </a:solidFill>
                <a:latin typeface="微软雅黑"/>
                <a:ea typeface="微软雅黑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375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3375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33375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3886200"/>
            <a:ext cx="11338560" cy="621792"/>
          </a:xfrm>
          <a:prstGeom prst="roundRect">
            <a:avLst>
              <a:gd name="adj" fmla="val 4000"/>
            </a:avLst>
          </a:prstGeom>
          <a:solidFill>
            <a:srgbClr val="18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02336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日本流行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0233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0233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0233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19" y="40233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8E96A4"/>
                </a:solidFill>
                <a:latin typeface="微软雅黑"/>
                <a:ea typeface="微软雅黑"/>
              </a:rPr>
              <a:t>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572000"/>
            <a:ext cx="11338560" cy="621792"/>
          </a:xfrm>
          <a:prstGeom prst="roundRect">
            <a:avLst>
              <a:gd name="adj" fmla="val 4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70916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西方新时代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7091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7091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7091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47091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8E96A4"/>
                </a:solidFill>
                <a:latin typeface="微软雅黑"/>
                <a:ea typeface="微软雅黑"/>
              </a:rPr>
              <a:t>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257800"/>
            <a:ext cx="11338560" cy="621792"/>
          </a:xfrm>
          <a:prstGeom prst="roundRect">
            <a:avLst>
              <a:gd name="adj" fmla="val 4000"/>
            </a:avLst>
          </a:prstGeom>
          <a:solidFill>
            <a:srgbClr val="18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39496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1EA"/>
                </a:solidFill>
                <a:latin typeface="微软雅黑"/>
                <a:ea typeface="微软雅黑"/>
              </a:rPr>
              <a:t>非洲祖灵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5394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394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394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19" y="5394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8D4CB"/>
                </a:solidFill>
                <a:latin typeface="微软雅黑"/>
                <a:ea typeface="微软雅黑"/>
              </a:rPr>
              <a:t>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文化切片（一）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印度—佛教传统 · 汉传民间因果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577840" cy="475488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BA896"/>
                </a:solidFill>
                <a:latin typeface="微软雅黑"/>
                <a:ea typeface="微软雅黑"/>
              </a:rPr>
              <a:t>印度教 / 佛教轮回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核心装置：业—轮回—解脱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F4 极强：伦理后果跨世兑现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F3 强：修行阶位与种姓叙事交织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19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F1/F2 存在，但常被教理化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分析要点：教理文本 vs 民间报应话本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234440"/>
            <a:ext cx="5349240" cy="475488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4173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9965A"/>
                </a:solidFill>
                <a:latin typeface="微软雅黑"/>
                <a:ea typeface="微软雅黑"/>
              </a:rPr>
              <a:t>汉传民间 · 缘与报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11680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核心装置：缘分、投胎、因果报应、阴德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51760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F2 极强：「前世冤家」「今世夫妻」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91840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F4 强：善书、宝卷、劝善戏曲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931919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F3 弱于制度化转世，多个人传说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72000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·  分析要点：家庭伦理剧是主要载体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文化切片（二）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藏传转世制度 · 日本流行文化 · 西方新时代 · 非洲祖灵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09728" cy="210312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4F1EA"/>
                </a:solidFill>
                <a:latin typeface="微软雅黑"/>
                <a:ea typeface="微软雅黑"/>
              </a:rPr>
              <a:t>藏传转世（活佛）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F3 制度化巅峰：认证、寻访、坐床；身份即政治—宗教资本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109728" cy="2103120"/>
          </a:xfrm>
          <a:prstGeom prst="rect">
            <a:avLst/>
          </a:prstGeom>
          <a:solidFill>
            <a:srgbClr val="C99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4F1EA"/>
                </a:solidFill>
                <a:latin typeface="微软雅黑"/>
                <a:ea typeface="微软雅黑"/>
              </a:rPr>
              <a:t>日本流行前世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动漫/小说中 F2 主导：命定重逢、轮回恋人；道德弱化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09728" cy="2103120"/>
          </a:xfrm>
          <a:prstGeom prst="rect">
            <a:avLst/>
          </a:prstGeom>
          <a:solidFill>
            <a:srgbClr val="7A9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4F1EA"/>
                </a:solidFill>
                <a:latin typeface="微软雅黑"/>
                <a:ea typeface="微软雅黑"/>
              </a:rPr>
              <a:t>西方新时代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催眠回溯、灵魂伴侣课：F1+F2+F3 消费化；F4 淡化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8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611880"/>
            <a:ext cx="109728" cy="2103120"/>
          </a:xfrm>
          <a:prstGeom prst="rect">
            <a:avLst/>
          </a:prstGeom>
          <a:solidFill>
            <a:srgbClr val="C0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02336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4F1EA"/>
                </a:solidFill>
                <a:latin typeface="微软雅黑"/>
                <a:ea typeface="微软雅黑"/>
              </a:rPr>
              <a:t>非洲祖灵回归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617720"/>
            <a:ext cx="49377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祖先在氏族中再生：F3 社群连续 + 伦理义务，非个人幻想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四维如何联动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真实文本很少单功能；分析要标「主功能 + 辅功能」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36192"/>
            <a:ext cx="2560320" cy="502920"/>
          </a:xfrm>
          <a:prstGeom prst="roundRect">
            <a:avLst>
              <a:gd name="adj" fmla="val 12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补偿 → 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00200"/>
            <a:ext cx="7772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疗愈叙事常落脚于「前世爱人出现」，F1 借 F2 完成闭环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2316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79192"/>
            <a:ext cx="2560320" cy="502920"/>
          </a:xfrm>
          <a:prstGeom prst="roundRect">
            <a:avLst>
              <a:gd name="adj" fmla="val 12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身份 → 道德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43200"/>
            <a:ext cx="7772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「我曾是修行者」既抬升自我，也施加戒律式自我期待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822192"/>
            <a:ext cx="2560320" cy="502920"/>
          </a:xfrm>
          <a:prstGeom prst="roundRect">
            <a:avLst>
              <a:gd name="adj" fmla="val 12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道德 → 补偿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886200"/>
            <a:ext cx="7772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「受苦是消业」把惩罚语言改写成安慰语言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0916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965192"/>
            <a:ext cx="2560320" cy="502920"/>
          </a:xfrm>
          <a:prstGeom prst="roundRect">
            <a:avLst>
              <a:gd name="adj" fmla="val 12000"/>
            </a:avLst>
          </a:prstGeom>
          <a:solidFill>
            <a:srgbClr val="3D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56632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4F1EA"/>
                </a:solidFill>
                <a:latin typeface="微软雅黑"/>
                <a:ea typeface="微软雅黑"/>
              </a:rPr>
              <a:t>关系 → 身份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029200"/>
            <a:ext cx="7772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「我们是灵魂家族」同时划定圈子与抬高圈内人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AI 标注与分析协议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把框架落成可执行的字段，而非只停留在概念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A896"/>
                </a:solidFill>
                <a:latin typeface="微软雅黑"/>
                <a:ea typeface="微软雅黑"/>
              </a:rPr>
              <a:t>primary_function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325880"/>
            <a:ext cx="7132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主功能：F1–F4 单选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47088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84248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A896"/>
                </a:solidFill>
                <a:latin typeface="微软雅黑"/>
                <a:ea typeface="微软雅黑"/>
              </a:rPr>
              <a:t>secondary_functions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984248"/>
            <a:ext cx="7132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辅功能：多选，可空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05456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42616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A896"/>
                </a:solidFill>
                <a:latin typeface="微软雅黑"/>
                <a:ea typeface="微软雅黑"/>
              </a:rPr>
              <a:t>culture_frame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42616"/>
            <a:ext cx="7132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文化框架标签（教理/民间/流行/治疗…）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63824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00984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A896"/>
                </a:solidFill>
                <a:latin typeface="微软雅黑"/>
                <a:ea typeface="微软雅黑"/>
              </a:rPr>
              <a:t>narrative_device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00984"/>
            <a:ext cx="7132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装置词：业、缘、债、使命、回溯…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22192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59352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A896"/>
                </a:solidFill>
                <a:latin typeface="微软雅黑"/>
                <a:ea typeface="微软雅黑"/>
              </a:rPr>
              <a:t>beneficiary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959352"/>
            <a:ext cx="7132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功能服务对象：自我 / 关系双方 / 社群 / 制度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59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17719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A896"/>
                </a:solidFill>
                <a:latin typeface="微软雅黑"/>
                <a:ea typeface="微软雅黑"/>
              </a:rPr>
              <a:t>legitimacy_claim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617719"/>
            <a:ext cx="7132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合法性来源：经典、大师、催眠、梦、族谱…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38928"/>
            <a:ext cx="11247120" cy="566928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76088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A896"/>
                </a:solidFill>
                <a:latin typeface="微软雅黑"/>
                <a:ea typeface="微软雅黑"/>
              </a:rPr>
              <a:t>risk_flags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276088"/>
            <a:ext cx="7132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风险：历史挪用、操控话术、贩卖焦虑等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分析提示词模板（可直接给模型）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输入一段前世叙事文本，输出结构化功能画像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55680" cy="475488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515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C08A"/>
                </a:solidFill>
                <a:latin typeface="微软雅黑"/>
                <a:ea typeface="微软雅黑"/>
              </a:rPr>
              <a:t>请用 PLN-F 四维框架分析下列前世叙事：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0515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1) 判定 primary_function 与 secondary_functions，并引用原文依据；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10515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2) 指出 narrative_device 与 culture_frame；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79"/>
            <a:ext cx="10515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3) 说明该叙事对谁产生功能收益（beneficiary）；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4) 若跨文化改写，功能权重可能如何漂移；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10515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5) 标出潜在 risk_flags（操控、历史挪用、贩卖焦虑等）。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00599"/>
            <a:ext cx="10515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输出 JSON，字段与框架 schema 对齐；结论须可回溯到文本。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内容研究 · 产品设计 · 风险治理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370332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3703320" cy="9144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3246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微软雅黑"/>
                <a:ea typeface="微软雅黑"/>
              </a:rPr>
              <a:t>内容研究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246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短视频/小说/宗教传播中的前世母题量化与跨文化对比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70332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703320" cy="9144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45920"/>
            <a:ext cx="3246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微软雅黑"/>
                <a:ea typeface="微软雅黑"/>
              </a:rPr>
              <a:t>咨询与疗愈伦理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246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区分安慰功能与操控风险，设计知情同意话术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280160"/>
            <a:ext cx="370332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280160"/>
            <a:ext cx="3703320" cy="9144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246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微软雅黑"/>
                <a:ea typeface="微软雅黑"/>
              </a:rPr>
              <a:t>叙事生成约束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3246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AI 写「前世故事」时控制功能配比，避免精英前世通胀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611880"/>
            <a:ext cx="370332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611880"/>
            <a:ext cx="3703320" cy="91440"/>
          </a:xfrm>
          <a:prstGeom prst="rect">
            <a:avLst/>
          </a:prstGeom>
          <a:solidFill>
            <a:srgbClr val="C99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3246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微软雅黑"/>
                <a:ea typeface="微软雅黑"/>
              </a:rPr>
              <a:t>标注训练数据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3246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为分类模型提供稳定标签体系与冲突裁定规则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611880"/>
            <a:ext cx="370332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611880"/>
            <a:ext cx="3703320" cy="91440"/>
          </a:xfrm>
          <a:prstGeom prst="rect">
            <a:avLst/>
          </a:prstGeom>
          <a:solidFill>
            <a:srgbClr val="C99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977640"/>
            <a:ext cx="3246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微软雅黑"/>
                <a:ea typeface="微软雅黑"/>
              </a:rPr>
              <a:t>文化敏感性审查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526280"/>
            <a:ext cx="3246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识别对真实宗教制度/族群历史的轻率挪用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611880"/>
            <a:ext cx="3703320" cy="2103120"/>
          </a:xfrm>
          <a:prstGeom prst="roundRect">
            <a:avLst>
              <a:gd name="adj" fmla="val 5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3611880"/>
            <a:ext cx="3703320" cy="91440"/>
          </a:xfrm>
          <a:prstGeom prst="rect">
            <a:avLst/>
          </a:prstGeom>
          <a:solidFill>
            <a:srgbClr val="C99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977640"/>
            <a:ext cx="32461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微软雅黑"/>
                <a:ea typeface="微软雅黑"/>
              </a:rPr>
              <a:t>产品知识库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526280"/>
            <a:ext cx="3246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D4CB"/>
                </a:solidFill>
                <a:latin typeface="微软雅黑"/>
                <a:ea typeface="微软雅黑"/>
              </a:rPr>
              <a:t>作为 RAG 片段：解释「这段内容在干什么」而非「真不真」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1EA"/>
                </a:solidFill>
                <a:latin typeface="微软雅黑"/>
                <a:ea typeface="微软雅黑"/>
              </a:rPr>
              <a:t>使用边界与学术姿态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E96A4"/>
                </a:solidFill>
                <a:latin typeface="微软雅黑"/>
                <a:ea typeface="微软雅黑"/>
              </a:rPr>
              <a:t>功能分析 ≠ 真伪裁判；尊重传统内部的真理诉求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前世叙事功能分析框架  · 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E96A4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9965A"/>
                </a:solidFill>
                <a:latin typeface="微软雅黑"/>
                <a:ea typeface="微软雅黑"/>
              </a:rPr>
              <a:t>不做的事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46304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不宣称前世「存在/不存在」；不把信仰降格为「纯幻觉」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488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9965A"/>
                </a:solidFill>
                <a:latin typeface="微软雅黑"/>
                <a:ea typeface="微软雅黑"/>
              </a:rPr>
              <a:t>做的事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7744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描述叙事在心理与社会层面「完成了什么工作」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9965A"/>
                </a:solidFill>
                <a:latin typeface="微软雅黑"/>
                <a:ea typeface="微软雅黑"/>
              </a:rPr>
              <a:t>文化谦逊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29184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矩阵是启发式工具；深入个案需结合民族志与教义学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9965A"/>
                </a:solidFill>
                <a:latin typeface="微软雅黑"/>
                <a:ea typeface="微软雅黑"/>
              </a:rPr>
              <a:t>伦理红线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20624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不以框架协助操控性营销或针对脆弱人群的恐惧贩卖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92040"/>
            <a:ext cx="11247120" cy="804672"/>
          </a:xfrm>
          <a:prstGeom prst="roundRect">
            <a:avLst>
              <a:gd name="adj" fmla="val 6000"/>
            </a:avLst>
          </a:prstGeom>
          <a:solidFill>
            <a:srgbClr val="22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9965A"/>
                </a:solidFill>
                <a:latin typeface="微软雅黑"/>
                <a:ea typeface="微软雅黑"/>
              </a:rPr>
              <a:t>迭代方式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12064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D4CB"/>
                </a:solidFill>
                <a:latin typeface="微软雅黑"/>
                <a:ea typeface="微软雅黑"/>
              </a:rPr>
              <a:t>用新语料回标，校正权重与装置词典，保持版本号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9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A896"/>
                </a:solidFill>
                <a:latin typeface="微软雅黑"/>
                <a:ea typeface="微软雅黑"/>
              </a:rPr>
              <a:t>一句话收束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1">
                <a:solidFill>
                  <a:srgbClr val="F4F1EA"/>
                </a:solidFill>
                <a:latin typeface="微软雅黑"/>
                <a:ea typeface="微软雅黑"/>
              </a:rPr>
              <a:t>前世叙事的核心价值，往往不在「证明另一世」，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4F1EA"/>
                </a:solidFill>
                <a:latin typeface="微软雅黑"/>
                <a:ea typeface="微软雅黑"/>
              </a:rPr>
              <a:t>而在「安放这一世」——补偿、解释关系、建构身份、约束道德。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E96A4"/>
                </a:solidFill>
                <a:latin typeface="微软雅黑"/>
                <a:ea typeface="微软雅黑"/>
              </a:rPr>
              <a:t>配套交付：framework/PLN-F.md  ·  framework/pln_f.schema.json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E96A4"/>
                </a:solidFill>
                <a:latin typeface="微软雅黑"/>
                <a:ea typeface="微软雅黑"/>
              </a:rPr>
              <a:t>脚本：scripts/generate_past_life_framework_ppt.py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