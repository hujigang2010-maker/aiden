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41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E2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384048"/>
            <a:ext cx="658368" cy="658368"/>
          </a:xfrm>
          <a:prstGeom prst="roundRect">
            <a:avLst>
              <a:gd name="adj" fmla="val 12000"/>
            </a:avLst>
          </a:prstGeom>
          <a:solidFill>
            <a:srgbClr val="8E2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457200"/>
            <a:ext cx="658368" cy="512064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7F1E6"/>
                </a:solidFill>
                <a:latin typeface="微软雅黑"/>
                <a:ea typeface="微软雅黑"/>
                <a:cs typeface="微软雅黑"/>
              </a:rPr>
              <a:t>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89888" y="438912"/>
            <a:ext cx="6858000" cy="530352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4A265"/>
                </a:solidFill>
                <a:latin typeface="微软雅黑"/>
                <a:ea typeface="微软雅黑"/>
                <a:cs typeface="微软雅黑"/>
              </a:rPr>
              <a:t>企业品牌合作赞助方案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438912"/>
            <a:ext cx="3749039" cy="530352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D9CBB6"/>
                </a:solidFill>
                <a:latin typeface="微软雅黑"/>
                <a:ea typeface="微软雅黑"/>
                <a:cs typeface="微软雅黑"/>
              </a:rPr>
              <a:t>2026.10.31   上海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691640"/>
            <a:ext cx="10972800" cy="292608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4A265"/>
                </a:solidFill>
                <a:latin typeface="微软雅黑"/>
                <a:ea typeface="微软雅黑"/>
                <a:cs typeface="微软雅黑"/>
              </a:rPr>
              <a:t>特邀主讲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993392"/>
            <a:ext cx="10972800" cy="658368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F7F1E6"/>
                </a:solidFill>
                <a:latin typeface="微软雅黑"/>
                <a:ea typeface="微软雅黑"/>
                <a:cs typeface="微软雅黑"/>
              </a:rPr>
              <a:t>王德峰教授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697480"/>
            <a:ext cx="10972800" cy="347472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D9CBB6"/>
                </a:solidFill>
                <a:latin typeface="微软雅黑"/>
                <a:ea typeface="微软雅黑"/>
                <a:cs typeface="微软雅黑"/>
              </a:rPr>
              <a:t>复旦大学哲学学院原教授、博士生导师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3218688"/>
            <a:ext cx="1554480" cy="22860"/>
          </a:xfrm>
          <a:prstGeom prst="rect">
            <a:avLst/>
          </a:prstGeom>
          <a:solidFill>
            <a:srgbClr val="C4A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429000"/>
            <a:ext cx="10972800" cy="713232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7F1E6"/>
                </a:solidFill>
                <a:latin typeface="微软雅黑"/>
                <a:ea typeface="微软雅黑"/>
                <a:cs typeface="微软雅黑"/>
              </a:rPr>
              <a:t>《传习录》与阳明心学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4187952"/>
            <a:ext cx="10972800" cy="420624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C4A265"/>
                </a:solidFill>
                <a:latin typeface="微软雅黑"/>
                <a:ea typeface="微软雅黑"/>
                <a:cs typeface="微软雅黑"/>
              </a:rPr>
              <a:t>专题讲座暨企业品牌合作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800600"/>
            <a:ext cx="10972800" cy="36576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7F1E6"/>
                </a:solidFill>
                <a:latin typeface="微软雅黑"/>
                <a:ea typeface="微软雅黑"/>
                <a:cs typeface="微软雅黑"/>
              </a:rPr>
              <a:t>2026年10月31日（星期六）    全天专题研修    上海市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5349240"/>
            <a:ext cx="11018520" cy="10972"/>
          </a:xfrm>
          <a:prstGeom prst="rect">
            <a:avLst/>
          </a:prstGeom>
          <a:solidFill>
            <a:srgbClr val="3A3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5504688"/>
            <a:ext cx="10972800" cy="256032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A265"/>
                </a:solidFill>
                <a:latin typeface="微软雅黑"/>
                <a:ea typeface="微软雅黑"/>
                <a:cs typeface="微软雅黑"/>
              </a:rPr>
              <a:t>拟联合主办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5779008"/>
            <a:ext cx="11018520" cy="329184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7F1E6"/>
                </a:solidFill>
                <a:latin typeface="微软雅黑"/>
                <a:ea typeface="微软雅黑"/>
                <a:cs typeface="微软雅黑"/>
              </a:rPr>
              <a:t>复旦大学住房政策研究中心    ·    上海市杨浦区科技企业联合会    ·    首乾书院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263640"/>
            <a:ext cx="11018520" cy="36576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B7AA9C"/>
                </a:solidFill>
                <a:latin typeface="微软雅黑"/>
                <a:ea typeface="微软雅黑"/>
                <a:cs typeface="微软雅黑"/>
              </a:rPr>
              <a:t>主办单位名称及相关标识的对外使用，以各机构正式授权为准。活动场地确认后另行通知。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8E2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7315200" cy="292608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活动理念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789920" cy="173736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30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在不确定的时代，寻找确定的内心；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在纷繁复杂的世界中，重拾知行合一的智慧。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291840"/>
            <a:ext cx="1234440" cy="27432"/>
          </a:xfrm>
          <a:prstGeom prst="rect">
            <a:avLst/>
          </a:prstGeom>
          <a:solidFill>
            <a:srgbClr val="C4A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456432"/>
            <a:ext cx="9144000" cy="329184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主题    《传习录》与阳明心学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069080"/>
            <a:ext cx="3383280" cy="132588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1" y="4224528"/>
            <a:ext cx="420624" cy="41148"/>
          </a:xfrm>
          <a:prstGeom prst="rect">
            <a:avLst/>
          </a:prstGeom>
          <a:solidFill>
            <a:srgbClr val="8E2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4370832"/>
            <a:ext cx="2926080" cy="438912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心即理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4846320"/>
            <a:ext cx="2926080" cy="36576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理解人生选择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4069080"/>
            <a:ext cx="3383280" cy="132588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16552" y="4224528"/>
            <a:ext cx="420624" cy="41148"/>
          </a:xfrm>
          <a:prstGeom prst="rect">
            <a:avLst/>
          </a:prstGeom>
          <a:solidFill>
            <a:srgbClr val="8E2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07992" y="4370832"/>
            <a:ext cx="2926080" cy="438912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知行合一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7992" y="4846320"/>
            <a:ext cx="2926080" cy="36576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落实现实行动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63840" y="4069080"/>
            <a:ext cx="3383280" cy="132588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28432" y="4224528"/>
            <a:ext cx="420624" cy="41148"/>
          </a:xfrm>
          <a:prstGeom prst="rect">
            <a:avLst/>
          </a:prstGeom>
          <a:solidFill>
            <a:srgbClr val="8E2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19872" y="4370832"/>
            <a:ext cx="2926080" cy="438912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致良知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19872" y="4846320"/>
            <a:ext cx="2926080" cy="36576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安顿个人修养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0352" y="6473952"/>
            <a:ext cx="11131295" cy="9144"/>
          </a:xfrm>
          <a:prstGeom prst="rect">
            <a:avLst/>
          </a:prstGeom>
          <a:solidFill>
            <a:srgbClr val="E3D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" y="6510528"/>
            <a:ext cx="8412480" cy="274320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《传习录》与阳明心学  ·  企业品牌合作赞助方案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0" y="6510528"/>
            <a:ext cx="2148840" cy="274320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02  /  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8E2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144000" cy="256032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目录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493776"/>
            <a:ext cx="11064240" cy="438912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方案结构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24128"/>
            <a:ext cx="658368" cy="32004"/>
          </a:xfrm>
          <a:prstGeom prst="rect">
            <a:avLst/>
          </a:prstGeom>
          <a:solidFill>
            <a:srgbClr val="C4A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30352" y="6473952"/>
            <a:ext cx="11131295" cy="9144"/>
          </a:xfrm>
          <a:prstGeom prst="rect">
            <a:avLst/>
          </a:prstGeom>
          <a:solidFill>
            <a:srgbClr val="E3D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6510528"/>
            <a:ext cx="8412480" cy="274320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《传习录》与阳明心学  ·  企业品牌合作赞助方案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510528"/>
            <a:ext cx="2148840" cy="274320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03  /  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1371600"/>
            <a:ext cx="5440680" cy="1389888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1627632"/>
            <a:ext cx="1188720" cy="822960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93392" y="1609344"/>
            <a:ext cx="3566160" cy="438912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活动缘起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93392" y="2084832"/>
            <a:ext cx="3566160" cy="438912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哲学智慧如何回应今天的人生命题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5352" y="1371600"/>
            <a:ext cx="5440680" cy="1389888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01384" y="1627632"/>
            <a:ext cx="1188720" cy="822960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08392" y="1609344"/>
            <a:ext cx="3566160" cy="438912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活动安排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08392" y="2084832"/>
            <a:ext cx="3566160" cy="438912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时间、形式、人群与规模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0352" y="2944368"/>
            <a:ext cx="5440680" cy="1389888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" y="3200400"/>
            <a:ext cx="1188720" cy="822960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93392" y="3182111"/>
            <a:ext cx="3566160" cy="438912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联合主办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93392" y="3657600"/>
            <a:ext cx="3566160" cy="438912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三家机构的内容、渠道与组织能力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5352" y="2944368"/>
            <a:ext cx="5440680" cy="1389888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01384" y="3200400"/>
            <a:ext cx="1188720" cy="822960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08392" y="3182111"/>
            <a:ext cx="3566160" cy="438912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赞助体系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08392" y="3657600"/>
            <a:ext cx="3566160" cy="438912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战略、特别、品牌与实物支持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0352" y="4517136"/>
            <a:ext cx="5440680" cy="1389888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6384" y="4773168"/>
            <a:ext cx="1188720" cy="822960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93392" y="4754879"/>
            <a:ext cx="3566160" cy="438912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合作价值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93392" y="5230368"/>
            <a:ext cx="3566160" cy="438912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品牌形象、客户触达与内部文化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45352" y="4517136"/>
            <a:ext cx="5440680" cy="1389888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01384" y="4773168"/>
            <a:ext cx="1188720" cy="822960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08392" y="4754879"/>
            <a:ext cx="3566160" cy="438912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合作方式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08392" y="5230368"/>
            <a:ext cx="3566160" cy="438912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签约主体、权益边界与时间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8E2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144000" cy="256032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01    活动缘起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493776"/>
            <a:ext cx="11064240" cy="438912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以哲学智慧，回应时代命题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24128"/>
            <a:ext cx="658368" cy="32004"/>
          </a:xfrm>
          <a:prstGeom prst="rect">
            <a:avLst/>
          </a:prstGeom>
          <a:solidFill>
            <a:srgbClr val="C4A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30352" y="6473952"/>
            <a:ext cx="11131295" cy="9144"/>
          </a:xfrm>
          <a:prstGeom prst="rect">
            <a:avLst/>
          </a:prstGeom>
          <a:solidFill>
            <a:srgbClr val="E3D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6510528"/>
            <a:ext cx="8412480" cy="274320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《传习录》与阳明心学  ·  企业品牌合作赞助方案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510528"/>
            <a:ext cx="2148840" cy="274320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04  /  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1298448"/>
            <a:ext cx="6537960" cy="233172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在经济环境不断变化、人工智能快速发展、社会竞争日益激烈的今天，人们对人生价值、内心秩序与精神成长的关注不断增加。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王阳明的心学，尤其是“心即理”“知行合一”“致良知”，为理解人生选择、个人修养与现实行动提供了重要的哲学视角。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活动特邀王德峰教授，以《传习录》与阳明心学为主题展开。它既是一次哲学学习，也是面向企业经营者、专业人士及传统文化爱好者的思想交流。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1298448"/>
            <a:ext cx="4343400" cy="1170432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79" y="1444751"/>
            <a:ext cx="640080" cy="329184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1408176"/>
            <a:ext cx="3200400" cy="36576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心即理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1865376"/>
            <a:ext cx="3931920" cy="45720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为理解人生选择提供哲学视角。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0" y="2596896"/>
            <a:ext cx="4343400" cy="1170432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79" y="2743200"/>
            <a:ext cx="640080" cy="329184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2706624"/>
            <a:ext cx="3200400" cy="36576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知行合一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3163824"/>
            <a:ext cx="3931920" cy="45720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把认识带到现实行动之中。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0" y="3895344"/>
            <a:ext cx="4343400" cy="1170432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79" y="4041648"/>
            <a:ext cx="640080" cy="329184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4005072"/>
            <a:ext cx="3200400" cy="36576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致良知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79" y="4462272"/>
            <a:ext cx="3931920" cy="45720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指向个人修养与内心秩序。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30352" y="5349240"/>
            <a:ext cx="11128248" cy="91440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0352" y="5349240"/>
            <a:ext cx="73152" cy="914400"/>
          </a:xfrm>
          <a:prstGeom prst="rect">
            <a:avLst/>
          </a:prstGeom>
          <a:solidFill>
            <a:srgbClr val="8E2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5440680"/>
            <a:ext cx="10607040" cy="731520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活动将通过三家机构各自的合法宣传渠道推广，吸引关注人文思想与个人成长的社会群体。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8E2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144000" cy="256032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02    活动安排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493776"/>
            <a:ext cx="11064240" cy="438912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活动基本情况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24128"/>
            <a:ext cx="658368" cy="32004"/>
          </a:xfrm>
          <a:prstGeom prst="rect">
            <a:avLst/>
          </a:prstGeom>
          <a:solidFill>
            <a:srgbClr val="C4A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30352" y="6473952"/>
            <a:ext cx="11131295" cy="9144"/>
          </a:xfrm>
          <a:prstGeom prst="rect">
            <a:avLst/>
          </a:prstGeom>
          <a:solidFill>
            <a:srgbClr val="E3D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6510528"/>
            <a:ext cx="8412480" cy="274320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《传习录》与阳明心学  ·  企业品牌合作赞助方案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510528"/>
            <a:ext cx="2148840" cy="274320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05  /  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1280160"/>
            <a:ext cx="5532120" cy="822960"/>
          </a:xfrm>
          <a:prstGeom prst="roundRect">
            <a:avLst>
              <a:gd name="adj" fmla="val 10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19" y="1371600"/>
            <a:ext cx="1417320" cy="640080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主题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76272" y="1371600"/>
            <a:ext cx="3703320" cy="640080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《传习录》与阳明心学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" y="2212848"/>
            <a:ext cx="5532120" cy="822960"/>
          </a:xfrm>
          <a:prstGeom prst="roundRect">
            <a:avLst>
              <a:gd name="adj" fmla="val 10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19" y="2304288"/>
            <a:ext cx="1417320" cy="640080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主讲嘉宾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76272" y="2304288"/>
            <a:ext cx="3703320" cy="640080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王德峰教授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" y="3145536"/>
            <a:ext cx="5532120" cy="822960"/>
          </a:xfrm>
          <a:prstGeom prst="roundRect">
            <a:avLst>
              <a:gd name="adj" fmla="val 10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19" y="3236976"/>
            <a:ext cx="1417320" cy="640080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日期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76272" y="3236976"/>
            <a:ext cx="3703320" cy="640080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2026年10月31日（星期六）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0352" y="4078224"/>
            <a:ext cx="5532120" cy="822960"/>
          </a:xfrm>
          <a:prstGeom prst="roundRect">
            <a:avLst>
              <a:gd name="adj" fmla="val 10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19" y="4169663"/>
            <a:ext cx="1417320" cy="640080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活动形式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76272" y="4169663"/>
            <a:ext cx="3703320" cy="640080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全天专题研修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0352" y="5010912"/>
            <a:ext cx="5532120" cy="822960"/>
          </a:xfrm>
          <a:prstGeom prst="roundRect">
            <a:avLst>
              <a:gd name="adj" fmla="val 10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19" y="5102352"/>
            <a:ext cx="1417320" cy="640080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活动地点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76272" y="5102352"/>
            <a:ext cx="3703320" cy="640080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上海市（场地确认后通知）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45352" y="1280160"/>
            <a:ext cx="5532120" cy="822960"/>
          </a:xfrm>
          <a:prstGeom prst="roundRect">
            <a:avLst>
              <a:gd name="adj" fmla="val 10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1371600"/>
            <a:ext cx="1417320" cy="640080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上午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91272" y="1371600"/>
            <a:ext cx="3703320" cy="640080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《传习录》与阳明心学（上）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45352" y="2212848"/>
            <a:ext cx="5532120" cy="822960"/>
          </a:xfrm>
          <a:prstGeom prst="roundRect">
            <a:avLst>
              <a:gd name="adj" fmla="val 10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2304288"/>
            <a:ext cx="1417320" cy="640080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下午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91272" y="2304288"/>
            <a:ext cx="3703320" cy="640080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《传习录》与阳明心学（下）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45352" y="3145536"/>
            <a:ext cx="5532120" cy="822960"/>
          </a:xfrm>
          <a:prstGeom prst="roundRect">
            <a:avLst>
              <a:gd name="adj" fmla="val 10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46520" y="3236976"/>
            <a:ext cx="1417320" cy="640080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参与人群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91272" y="3236976"/>
            <a:ext cx="3703320" cy="640080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企业家、管理者、专业人士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哲学及传统文化爱好者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45352" y="4078224"/>
            <a:ext cx="5532120" cy="822960"/>
          </a:xfrm>
          <a:prstGeom prst="roundRect">
            <a:avLst>
              <a:gd name="adj" fmla="val 10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46520" y="4169663"/>
            <a:ext cx="1417320" cy="640080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活动规模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91272" y="4169663"/>
            <a:ext cx="3703320" cy="640080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计划 200 人，以场地和实际报名为准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45352" y="5010912"/>
            <a:ext cx="5532120" cy="822960"/>
          </a:xfrm>
          <a:prstGeom prst="roundRect">
            <a:avLst>
              <a:gd name="adj" fmla="val 10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46520" y="5102352"/>
            <a:ext cx="1417320" cy="640080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合作形式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91272" y="5102352"/>
            <a:ext cx="3703320" cy="640080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企业赞助、品牌支持、实物支持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8E2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144000" cy="256032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03    联合主办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493776"/>
            <a:ext cx="11064240" cy="438912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三家机构，一种互补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24128"/>
            <a:ext cx="658368" cy="32004"/>
          </a:xfrm>
          <a:prstGeom prst="rect">
            <a:avLst/>
          </a:prstGeom>
          <a:solidFill>
            <a:srgbClr val="C4A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30352" y="6473952"/>
            <a:ext cx="11131295" cy="9144"/>
          </a:xfrm>
          <a:prstGeom prst="rect">
            <a:avLst/>
          </a:prstGeom>
          <a:solidFill>
            <a:srgbClr val="E3D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6510528"/>
            <a:ext cx="8412480" cy="274320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《传习录》与阳明心学  ·  企业品牌合作赞助方案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510528"/>
            <a:ext cx="2148840" cy="274320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06  /  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1261872"/>
            <a:ext cx="11064240" cy="64008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本次合作的基础，不只是主讲人的学术影响力，而是三家机构结合起来的内容公信、企业渠道和活动组织能力。下列特点描述各自更贴近的资源，具体分工以三方约定为准。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2103120"/>
            <a:ext cx="3639312" cy="324612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2103120"/>
            <a:ext cx="3639312" cy="73152"/>
          </a:xfrm>
          <a:prstGeom prst="rect">
            <a:avLst/>
          </a:prstGeom>
          <a:solidFill>
            <a:srgbClr val="8E2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2359152"/>
            <a:ext cx="3108960" cy="329184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内容公信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2816352"/>
            <a:ext cx="3218688" cy="64008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复旦大学住房政策研究中心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520440"/>
            <a:ext cx="3218688" cy="146304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以研究机构的公共信誉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支撑活动的学术品质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连接思想资源与社会对话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25112" y="2103120"/>
            <a:ext cx="3639312" cy="324612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25112" y="2103120"/>
            <a:ext cx="3639312" cy="73152"/>
          </a:xfrm>
          <a:prstGeom prst="rect">
            <a:avLst/>
          </a:prstGeom>
          <a:solidFill>
            <a:srgbClr val="1E3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81144" y="2359152"/>
            <a:ext cx="3108960" cy="329184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E3A32"/>
                </a:solidFill>
                <a:latin typeface="微软雅黑"/>
                <a:ea typeface="微软雅黑"/>
                <a:cs typeface="微软雅黑"/>
              </a:rPr>
              <a:t>企业渠道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44568" y="2816352"/>
            <a:ext cx="3218688" cy="64008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上海市杨浦区科技企业联合会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44568" y="3520440"/>
            <a:ext cx="3218688" cy="146304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连接科技企业与经营者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服务企业家和管理者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进入真实的交流场景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19872" y="2103120"/>
            <a:ext cx="3639312" cy="324612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19872" y="2103120"/>
            <a:ext cx="3639312" cy="73152"/>
          </a:xfrm>
          <a:prstGeom prst="rect">
            <a:avLst/>
          </a:prstGeom>
          <a:solidFill>
            <a:srgbClr val="7A5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75904" y="2359152"/>
            <a:ext cx="3108960" cy="329184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A5A22"/>
                </a:solidFill>
                <a:latin typeface="微软雅黑"/>
                <a:ea typeface="微软雅黑"/>
                <a:cs typeface="微软雅黑"/>
              </a:rPr>
              <a:t>活动组织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9328" y="2816352"/>
            <a:ext cx="3218688" cy="64008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首乾书院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8" y="3520440"/>
            <a:ext cx="3218688" cy="146304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以人文学习与现场组织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服务关注传统文化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与个人成长的听众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" y="5532120"/>
            <a:ext cx="11064240" cy="77724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拟联合主办。主办单位名称及相关标识的对外使用，以各机构正式授权为准。活动推广通过三家机构各自的合法宣传渠道进行。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8E2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144000" cy="256032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04    赞助体系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493776"/>
            <a:ext cx="11064240" cy="438912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一级战略，两级支持，另开实物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24128"/>
            <a:ext cx="658368" cy="32004"/>
          </a:xfrm>
          <a:prstGeom prst="rect">
            <a:avLst/>
          </a:prstGeom>
          <a:solidFill>
            <a:srgbClr val="C4A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30352" y="6473952"/>
            <a:ext cx="11131295" cy="9144"/>
          </a:xfrm>
          <a:prstGeom prst="rect">
            <a:avLst/>
          </a:prstGeom>
          <a:solidFill>
            <a:srgbClr val="E3D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6510528"/>
            <a:ext cx="8412480" cy="274320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《传习录》与阳明心学  ·  企业品牌合作赞助方案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510528"/>
            <a:ext cx="2148840" cy="274320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07  /  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1243584"/>
            <a:ext cx="11064240" cy="50292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采用“1 家战略支持 + 2—3 家特别支持 + 若干品牌支持”的结构，并引入茶饮、礼品等实物支持。门槛按单场文化活动的实际决策尺度设置。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1965960"/>
            <a:ext cx="2761488" cy="324612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1965960"/>
            <a:ext cx="2761488" cy="73152"/>
          </a:xfrm>
          <a:prstGeom prst="rect">
            <a:avLst/>
          </a:prstGeom>
          <a:solidFill>
            <a:srgbClr val="8E2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2240280"/>
            <a:ext cx="2395728" cy="64008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战略支持单位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3017520"/>
            <a:ext cx="2395728" cy="64008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3万元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3794760"/>
            <a:ext cx="2395728" cy="36576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限 1 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4297680"/>
            <a:ext cx="2395728" cy="64008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本次最高级别商业支持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10712" y="1965960"/>
            <a:ext cx="2761488" cy="324612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10712" y="1965960"/>
            <a:ext cx="2761488" cy="73152"/>
          </a:xfrm>
          <a:prstGeom prst="rect">
            <a:avLst/>
          </a:prstGeom>
          <a:solidFill>
            <a:srgbClr val="141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93592" y="2240280"/>
            <a:ext cx="2395728" cy="64008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特别支持单位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93592" y="3017520"/>
            <a:ext cx="2395728" cy="64008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4110E"/>
                </a:solidFill>
                <a:latin typeface="微软雅黑"/>
                <a:ea typeface="微软雅黑"/>
                <a:cs typeface="微软雅黑"/>
              </a:rPr>
              <a:t>1万元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93592" y="3794760"/>
            <a:ext cx="2395728" cy="36576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2—3 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93592" y="4297680"/>
            <a:ext cx="2395728" cy="64008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重要企业合作伙伴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91072" y="1965960"/>
            <a:ext cx="2761488" cy="324612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91072" y="1965960"/>
            <a:ext cx="2761488" cy="73152"/>
          </a:xfrm>
          <a:prstGeom prst="rect">
            <a:avLst/>
          </a:prstGeom>
          <a:solidFill>
            <a:srgbClr val="7A5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3952" y="2240280"/>
            <a:ext cx="2395728" cy="64008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品牌支持单位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3952" y="3017520"/>
            <a:ext cx="2395728" cy="64008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7A5A22"/>
                </a:solidFill>
                <a:latin typeface="微软雅黑"/>
                <a:ea typeface="微软雅黑"/>
                <a:cs typeface="微软雅黑"/>
              </a:rPr>
              <a:t>5,000元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3952" y="3794760"/>
            <a:ext cx="2395728" cy="36576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3—5 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73952" y="4297680"/>
            <a:ext cx="2395728" cy="64008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参与高品质文化活动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71432" y="1965960"/>
            <a:ext cx="2761488" cy="324612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171432" y="1965960"/>
            <a:ext cx="2761488" cy="73152"/>
          </a:xfrm>
          <a:prstGeom prst="rect">
            <a:avLst/>
          </a:prstGeom>
          <a:solidFill>
            <a:srgbClr val="1E3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54311" y="2240280"/>
            <a:ext cx="2395728" cy="64008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实物及服务支持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54311" y="3017520"/>
            <a:ext cx="2395728" cy="64008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E3A32"/>
                </a:solidFill>
                <a:latin typeface="微软雅黑"/>
                <a:ea typeface="微软雅黑"/>
                <a:cs typeface="微软雅黑"/>
              </a:rPr>
              <a:t>按贡献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54311" y="3794760"/>
            <a:ext cx="2395728" cy="36576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另行确认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54311" y="4297680"/>
            <a:ext cx="2395728" cy="64008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茶饮、礼品、场地与服务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0352" y="5394960"/>
            <a:ext cx="11064240" cy="86868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上述级别与权益为招商建议。具体展示位置、形式及交付数量，须在合作协议中写明。赞助席位计入活动入场容量，与正式学员享有相同的课程权益。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8E2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144000" cy="256032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04    赞助体系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493776"/>
            <a:ext cx="11064240" cy="438912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战略支持单位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24128"/>
            <a:ext cx="658368" cy="32004"/>
          </a:xfrm>
          <a:prstGeom prst="rect">
            <a:avLst/>
          </a:prstGeom>
          <a:solidFill>
            <a:srgbClr val="C4A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30352" y="6473952"/>
            <a:ext cx="11131295" cy="9144"/>
          </a:xfrm>
          <a:prstGeom prst="rect">
            <a:avLst/>
          </a:prstGeom>
          <a:solidFill>
            <a:srgbClr val="E3D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6510528"/>
            <a:ext cx="8412480" cy="274320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《传习录》与阳明心学  ·  企业品牌合作赞助方案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510528"/>
            <a:ext cx="2148840" cy="274320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08  /  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66760" y="292608"/>
            <a:ext cx="3291840" cy="640080"/>
          </a:xfrm>
          <a:prstGeom prst="roundRect">
            <a:avLst>
              <a:gd name="adj" fmla="val 10000"/>
            </a:avLst>
          </a:prstGeom>
          <a:solidFill>
            <a:srgbClr val="8E2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58200" y="329184"/>
            <a:ext cx="3108960" cy="566928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3万元    限 1 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1207008"/>
            <a:ext cx="11064240" cy="36576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定位：本次活动最高级别商业支持单位。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" y="1691640"/>
            <a:ext cx="3639312" cy="379476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1847088"/>
            <a:ext cx="3200400" cy="384048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品牌宣传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2304288"/>
            <a:ext cx="3218688" cy="297180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·  享有“活动战略支持单位”称谓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·  名称或标识列入经审核的主视觉海报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·  现场主背景板展示企业标识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·  签到处或指定区域设置品牌展示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·  主办方实际发布的活动介绍中列名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·  主持人在开场或结束时鸣谢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25112" y="1691640"/>
            <a:ext cx="3639312" cy="379476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44568" y="1847088"/>
            <a:ext cx="3200400" cy="384048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企业参与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4568" y="2304288"/>
            <a:ext cx="3218688" cy="297180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·  提供 4 个全天研修席位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·  可邀请负责人、重要客户或伙伴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·  经现场安排许可，可设 1 处展示区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·  资料放置于自愿领取的资料区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·  参与正常交流，与现场嘉宾建立联系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19872" y="1691640"/>
            <a:ext cx="3639312" cy="379476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39328" y="1847088"/>
            <a:ext cx="3200400" cy="384048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活动传播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9328" y="2304288"/>
            <a:ext cx="3218688" cy="297180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·  在活动回顾内容中鸣谢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·  获得可合法使用的现场照片及回顾资料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·  可在授权范围内宣传本次支持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0352" y="5623560"/>
            <a:ext cx="11109960" cy="713232"/>
          </a:xfrm>
          <a:prstGeom prst="roundRect">
            <a:avLst>
              <a:gd name="adj" fmla="val 8000"/>
            </a:avLst>
          </a:prstGeom>
          <a:solidFill>
            <a:srgbClr val="F8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687568"/>
            <a:ext cx="10744200" cy="585216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E211F"/>
                </a:solidFill>
                <a:latin typeface="微软雅黑"/>
                <a:ea typeface="微软雅黑"/>
                <a:cs typeface="微软雅黑"/>
              </a:rPr>
              <a:t>特别说明：战略支持不包含王德峰教授个人商业代言、私下会见、专属授课或与教授合影。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8E2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144000" cy="256032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04    赞助体系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493776"/>
            <a:ext cx="11064240" cy="438912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特别支持单位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24128"/>
            <a:ext cx="658368" cy="32004"/>
          </a:xfrm>
          <a:prstGeom prst="rect">
            <a:avLst/>
          </a:prstGeom>
          <a:solidFill>
            <a:srgbClr val="C4A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30352" y="6473952"/>
            <a:ext cx="11131295" cy="9144"/>
          </a:xfrm>
          <a:prstGeom prst="rect">
            <a:avLst/>
          </a:prstGeom>
          <a:solidFill>
            <a:srgbClr val="E3D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6510528"/>
            <a:ext cx="8412480" cy="274320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《传习录》与阳明心学  ·  企业品牌合作赞助方案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510528"/>
            <a:ext cx="2148840" cy="274320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09  /  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66760" y="292608"/>
            <a:ext cx="3291840" cy="640080"/>
          </a:xfrm>
          <a:prstGeom prst="roundRect">
            <a:avLst>
              <a:gd name="adj" fmla="val 10000"/>
            </a:avLst>
          </a:prstGeom>
          <a:solidFill>
            <a:srgbClr val="8E2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58200" y="329184"/>
            <a:ext cx="3108960" cy="566928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1万元    建议 2—3 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1207008"/>
            <a:ext cx="11064240" cy="36576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定位：本次活动的重要企业合作伙伴。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" y="1691640"/>
            <a:ext cx="7452360" cy="452628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1901952"/>
            <a:ext cx="6903720" cy="411480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200"/>
              </a:spcAft>
            </a:pPr>
            <a:r>
              <a:rPr sz="18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·  享有“活动特别支持单位”称谓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200"/>
              </a:spcAft>
            </a:pPr>
            <a:r>
              <a:rPr sz="18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·  活动海报及现场背景板展示名称或标识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200"/>
              </a:spcAft>
            </a:pPr>
            <a:r>
              <a:rPr sz="18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·  活动主持人口头鸣谢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200"/>
              </a:spcAft>
            </a:pPr>
            <a:r>
              <a:rPr sz="18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·  提供 2 个全天研修席位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200"/>
              </a:spcAft>
            </a:pPr>
            <a:r>
              <a:rPr sz="18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·  可在指定区域展示企业宣传资料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200"/>
              </a:spcAft>
            </a:pPr>
            <a:r>
              <a:rPr sz="18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·  活动回顾中展示企业名称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·  获得经授权的活动现场照片和传播素材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691640"/>
            <a:ext cx="3474720" cy="4526280"/>
          </a:xfrm>
          <a:prstGeom prst="roundRect">
            <a:avLst>
              <a:gd name="adj" fmla="val 8000"/>
            </a:avLst>
          </a:prstGeom>
          <a:solidFill>
            <a:srgbClr val="141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1901952"/>
            <a:ext cx="3063240" cy="36576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4A265"/>
                </a:solidFill>
                <a:latin typeface="微软雅黑"/>
                <a:ea typeface="微软雅黑"/>
                <a:cs typeface="微软雅黑"/>
              </a:rPr>
              <a:t>适合对象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304288"/>
            <a:ext cx="3017520" cy="105156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7F1E6"/>
                </a:solidFill>
                <a:latin typeface="微软雅黑"/>
                <a:ea typeface="微软雅黑"/>
                <a:cs typeface="微软雅黑"/>
              </a:rPr>
              <a:t>关注企业家群体、人文教育及品质生活的企业。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58200" y="3566160"/>
            <a:ext cx="2926080" cy="475488"/>
          </a:xfrm>
          <a:prstGeom prst="roundRect">
            <a:avLst>
              <a:gd name="adj" fmla="val 12000"/>
            </a:avLst>
          </a:prstGeom>
          <a:solidFill>
            <a:srgbClr val="2C2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58200" y="3566160"/>
            <a:ext cx="2926080" cy="475488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7F1E6"/>
                </a:solidFill>
                <a:latin typeface="微软雅黑"/>
                <a:ea typeface="微软雅黑"/>
                <a:cs typeface="微软雅黑"/>
              </a:rPr>
              <a:t>企业服务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58200" y="4160520"/>
            <a:ext cx="2926080" cy="475488"/>
          </a:xfrm>
          <a:prstGeom prst="roundRect">
            <a:avLst>
              <a:gd name="adj" fmla="val 12000"/>
            </a:avLst>
          </a:prstGeom>
          <a:solidFill>
            <a:srgbClr val="2C2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58200" y="4160520"/>
            <a:ext cx="2926080" cy="475488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7F1E6"/>
                </a:solidFill>
                <a:latin typeface="微软雅黑"/>
                <a:ea typeface="微软雅黑"/>
                <a:cs typeface="微软雅黑"/>
              </a:rPr>
              <a:t>科技创新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58200" y="4754880"/>
            <a:ext cx="2926080" cy="475488"/>
          </a:xfrm>
          <a:prstGeom prst="roundRect">
            <a:avLst>
              <a:gd name="adj" fmla="val 12000"/>
            </a:avLst>
          </a:prstGeom>
          <a:solidFill>
            <a:srgbClr val="2C2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58200" y="4754880"/>
            <a:ext cx="2926080" cy="475488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7F1E6"/>
                </a:solidFill>
                <a:latin typeface="微软雅黑"/>
                <a:ea typeface="微软雅黑"/>
                <a:cs typeface="微软雅黑"/>
              </a:rPr>
              <a:t>文化教育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58200" y="5349240"/>
            <a:ext cx="2926080" cy="475488"/>
          </a:xfrm>
          <a:prstGeom prst="roundRect">
            <a:avLst>
              <a:gd name="adj" fmla="val 12000"/>
            </a:avLst>
          </a:prstGeom>
          <a:solidFill>
            <a:srgbClr val="2C2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58200" y="5349240"/>
            <a:ext cx="2926080" cy="475488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7F1E6"/>
                </a:solidFill>
                <a:latin typeface="微软雅黑"/>
                <a:ea typeface="微软雅黑"/>
                <a:cs typeface="微软雅黑"/>
              </a:rPr>
              <a:t>健康管理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8E2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144000" cy="256032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04    赞助体系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493776"/>
            <a:ext cx="11064240" cy="438912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品牌支持单位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24128"/>
            <a:ext cx="658368" cy="32004"/>
          </a:xfrm>
          <a:prstGeom prst="rect">
            <a:avLst/>
          </a:prstGeom>
          <a:solidFill>
            <a:srgbClr val="C4A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30352" y="6473952"/>
            <a:ext cx="11131295" cy="9144"/>
          </a:xfrm>
          <a:prstGeom prst="rect">
            <a:avLst/>
          </a:prstGeom>
          <a:solidFill>
            <a:srgbClr val="E3D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6510528"/>
            <a:ext cx="8412480" cy="274320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《传习录》与阳明心学  ·  企业品牌合作赞助方案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510528"/>
            <a:ext cx="2148840" cy="274320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10  /  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66760" y="292608"/>
            <a:ext cx="3291840" cy="640080"/>
          </a:xfrm>
          <a:prstGeom prst="roundRect">
            <a:avLst>
              <a:gd name="adj" fmla="val 10000"/>
            </a:avLst>
          </a:prstGeom>
          <a:solidFill>
            <a:srgbClr val="8E2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58200" y="329184"/>
            <a:ext cx="3108960" cy="566928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5,000元    建议 3—5 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1207008"/>
            <a:ext cx="11064240" cy="36576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定位：以清晰的成本，参与一场高品质文化活动。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" y="1691640"/>
            <a:ext cx="7452360" cy="452628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1901952"/>
            <a:ext cx="6903720" cy="411480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0"/>
              </a:spcAft>
            </a:pPr>
            <a:r>
              <a:rPr sz="18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·  享有“活动品牌支持单位”称谓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0"/>
              </a:spcAft>
            </a:pPr>
            <a:r>
              <a:rPr sz="18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·  在赞助单位展示区域列示名称或标识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0"/>
              </a:spcAft>
            </a:pPr>
            <a:r>
              <a:rPr sz="18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·  提供 1 个全天研修席位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0"/>
              </a:spcAft>
            </a:pPr>
            <a:r>
              <a:rPr sz="18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·  席位与正式购票学员享有相同课程权益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0"/>
              </a:spcAft>
            </a:pPr>
            <a:r>
              <a:rPr sz="18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·  可在指定位置陈列品牌介绍资料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0"/>
              </a:spcAft>
            </a:pPr>
            <a:r>
              <a:rPr sz="18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·  在活动回顾中统一鸣谢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·  获得活动现场的合规传播素材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691640"/>
            <a:ext cx="3474720" cy="4526280"/>
          </a:xfrm>
          <a:prstGeom prst="roundRect">
            <a:avLst>
              <a:gd name="adj" fmla="val 8000"/>
            </a:avLst>
          </a:prstGeom>
          <a:solidFill>
            <a:srgbClr val="F8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2011680"/>
            <a:ext cx="3017520" cy="3840480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1400" b="1" i="0">
                <a:solidFill>
                  <a:srgbClr val="7A5A22"/>
                </a:solidFill>
                <a:latin typeface="微软雅黑"/>
                <a:ea typeface="微软雅黑"/>
                <a:cs typeface="微软雅黑"/>
              </a:rPr>
              <a:t>更适合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希望参与品牌文化建设，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扩大本地知名度的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中小企业。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8E2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144000" cy="256032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04    赞助体系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493776"/>
            <a:ext cx="11064240" cy="438912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实物及服务支持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24128"/>
            <a:ext cx="658368" cy="32004"/>
          </a:xfrm>
          <a:prstGeom prst="rect">
            <a:avLst/>
          </a:prstGeom>
          <a:solidFill>
            <a:srgbClr val="C4A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30352" y="6473952"/>
            <a:ext cx="11131295" cy="9144"/>
          </a:xfrm>
          <a:prstGeom prst="rect">
            <a:avLst/>
          </a:prstGeom>
          <a:solidFill>
            <a:srgbClr val="E3D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6510528"/>
            <a:ext cx="8412480" cy="274320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《传习录》与阳明心学  ·  企业品牌合作赞助方案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510528"/>
            <a:ext cx="2148840" cy="274320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11  /  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1225296"/>
            <a:ext cx="11064240" cy="384048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不设置统一金额。根据实际提供的产品或服务，确认称谓、现场展示和鸣谢方式。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1737360"/>
            <a:ext cx="3639312" cy="155448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1883664"/>
            <a:ext cx="3200400" cy="347472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茶饮支持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267712"/>
            <a:ext cx="3200400" cy="329184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茶叶、茶饮品牌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2670048"/>
            <a:ext cx="3200400" cy="384048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饮用茶及茶歇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25112" y="1737360"/>
            <a:ext cx="3639312" cy="155448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4568" y="1883664"/>
            <a:ext cx="3200400" cy="347472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礼品支持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4568" y="2267712"/>
            <a:ext cx="3200400" cy="329184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文创、生活方式品牌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4568" y="2670048"/>
            <a:ext cx="3200400" cy="384048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参会伴手礼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19872" y="1737360"/>
            <a:ext cx="3639312" cy="155448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39328" y="1883664"/>
            <a:ext cx="3200400" cy="347472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图书支持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9328" y="2267712"/>
            <a:ext cx="3200400" cy="329184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出版社、书店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9328" y="2670048"/>
            <a:ext cx="3200400" cy="384048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哲学及传统文化书籍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30352" y="3429000"/>
            <a:ext cx="3639312" cy="155448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3575304"/>
            <a:ext cx="3200400" cy="347472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餐饮支持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3959352"/>
            <a:ext cx="3200400" cy="329184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餐饮企业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4361688"/>
            <a:ext cx="3200400" cy="384048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工作餐、茶歇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25112" y="3429000"/>
            <a:ext cx="3639312" cy="155448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44568" y="3575304"/>
            <a:ext cx="3200400" cy="347472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场地支持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44568" y="3959352"/>
            <a:ext cx="3200400" cy="329184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酒店、会议中心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44568" y="4361688"/>
            <a:ext cx="3200400" cy="384048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场地及会议服务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19872" y="3429000"/>
            <a:ext cx="3639312" cy="155448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39328" y="3575304"/>
            <a:ext cx="3200400" cy="347472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技术支持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39328" y="3959352"/>
            <a:ext cx="3200400" cy="329184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科技、会议服务企业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39328" y="4361688"/>
            <a:ext cx="3200400" cy="384048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签到、摄影、音视频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0352" y="5212080"/>
            <a:ext cx="11109960" cy="109728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实物支持单位可获得“指定服务支持单位”称谓，并按实际贡献获得相应的现场展示和鸣谢。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E211F"/>
                </a:solidFill>
                <a:latin typeface="微软雅黑"/>
                <a:ea typeface="微软雅黑"/>
                <a:cs typeface="微软雅黑"/>
              </a:rPr>
              <a:t>未经王德峰教授本人或权利方授权，不得将签名书、私人交流、合影等作为赞助回报。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8E2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144000" cy="256032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04    赞助体系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493776"/>
            <a:ext cx="11064240" cy="438912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赞助权益对照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24128"/>
            <a:ext cx="658368" cy="32004"/>
          </a:xfrm>
          <a:prstGeom prst="rect">
            <a:avLst/>
          </a:prstGeom>
          <a:solidFill>
            <a:srgbClr val="C4A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30352" y="6473952"/>
            <a:ext cx="11131295" cy="9144"/>
          </a:xfrm>
          <a:prstGeom prst="rect">
            <a:avLst/>
          </a:prstGeom>
          <a:solidFill>
            <a:srgbClr val="E3D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6510528"/>
            <a:ext cx="8412480" cy="274320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《传习录》与阳明心学  ·  企业品牌合作赞助方案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510528"/>
            <a:ext cx="2148840" cy="274320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12  /  17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61872"/>
            <a:ext cx="2734056" cy="566928"/>
          </a:xfrm>
          <a:prstGeom prst="rect">
            <a:avLst/>
          </a:prstGeom>
          <a:solidFill>
            <a:srgbClr val="141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298448"/>
            <a:ext cx="2734056" cy="274320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7F1E6"/>
                </a:solidFill>
                <a:latin typeface="微软雅黑"/>
                <a:ea typeface="微软雅黑"/>
                <a:cs typeface="微软雅黑"/>
              </a:rPr>
              <a:t>权益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536192"/>
            <a:ext cx="2734056" cy="237744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7F1E6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3246120" y="1261872"/>
            <a:ext cx="2688336" cy="566928"/>
          </a:xfrm>
          <a:prstGeom prst="rect">
            <a:avLst/>
          </a:prstGeom>
          <a:solidFill>
            <a:srgbClr val="8E2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46120" y="1298448"/>
            <a:ext cx="2688336" cy="274320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7F1E6"/>
                </a:solidFill>
                <a:latin typeface="微软雅黑"/>
                <a:ea typeface="微软雅黑"/>
                <a:cs typeface="微软雅黑"/>
              </a:rPr>
              <a:t>战略支持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1536192"/>
            <a:ext cx="2688336" cy="237744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7F1E6"/>
                </a:solidFill>
                <a:latin typeface="微软雅黑"/>
                <a:ea typeface="微软雅黑"/>
                <a:cs typeface="微软雅黑"/>
              </a:rPr>
              <a:t>3万元 · 限1家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89320" y="1261872"/>
            <a:ext cx="2688336" cy="566928"/>
          </a:xfrm>
          <a:prstGeom prst="rect">
            <a:avLst/>
          </a:prstGeom>
          <a:solidFill>
            <a:srgbClr val="2C2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89320" y="1298448"/>
            <a:ext cx="2688336" cy="274320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7F1E6"/>
                </a:solidFill>
                <a:latin typeface="微软雅黑"/>
                <a:ea typeface="微软雅黑"/>
                <a:cs typeface="微软雅黑"/>
              </a:rPr>
              <a:t>特别支持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9320" y="1536192"/>
            <a:ext cx="2688336" cy="237744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7F1E6"/>
                </a:solidFill>
                <a:latin typeface="微软雅黑"/>
                <a:ea typeface="微软雅黑"/>
                <a:cs typeface="微软雅黑"/>
              </a:rPr>
              <a:t>1万元 · 2—3家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732520" y="1261872"/>
            <a:ext cx="2944368" cy="566928"/>
          </a:xfrm>
          <a:prstGeom prst="rect">
            <a:avLst/>
          </a:prstGeom>
          <a:solidFill>
            <a:srgbClr val="6E5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32520" y="1298448"/>
            <a:ext cx="2944368" cy="274320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7F1E6"/>
                </a:solidFill>
                <a:latin typeface="微软雅黑"/>
                <a:ea typeface="微软雅黑"/>
                <a:cs typeface="微软雅黑"/>
              </a:rPr>
              <a:t>品牌支持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32520" y="1536192"/>
            <a:ext cx="2944368" cy="237744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7F1E6"/>
                </a:solidFill>
                <a:latin typeface="微软雅黑"/>
                <a:ea typeface="微软雅黑"/>
                <a:cs typeface="微软雅黑"/>
              </a:rPr>
              <a:t>5,000元 · 3—5家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1828800"/>
            <a:ext cx="2734056" cy="347472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" y="1828800"/>
            <a:ext cx="2624327" cy="347472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赞助单位称谓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46120" y="1828800"/>
            <a:ext cx="2688336" cy="347472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00984" y="1828800"/>
            <a:ext cx="2578608" cy="347472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战略支持单位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89320" y="1828800"/>
            <a:ext cx="2688336" cy="347472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44183" y="1828800"/>
            <a:ext cx="2578608" cy="347472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特别支持单位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732520" y="1828800"/>
            <a:ext cx="2944368" cy="347472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87384" y="1828800"/>
            <a:ext cx="2834639" cy="347472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品牌支持单位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2212848"/>
            <a:ext cx="2734056" cy="347472"/>
          </a:xfrm>
          <a:prstGeom prst="rect">
            <a:avLst/>
          </a:prstGeom>
          <a:solidFill>
            <a:srgbClr val="EF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2064" y="2212848"/>
            <a:ext cx="2624327" cy="347472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主视觉海报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46120" y="2212848"/>
            <a:ext cx="2688336" cy="347472"/>
          </a:xfrm>
          <a:prstGeom prst="rect">
            <a:avLst/>
          </a:prstGeom>
          <a:solidFill>
            <a:srgbClr val="EF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00984" y="2212848"/>
            <a:ext cx="2578608" cy="347472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核心位置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89320" y="2212848"/>
            <a:ext cx="2688336" cy="347472"/>
          </a:xfrm>
          <a:prstGeom prst="rect">
            <a:avLst/>
          </a:prstGeom>
          <a:solidFill>
            <a:srgbClr val="EF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44183" y="2212848"/>
            <a:ext cx="2578608" cy="347472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常规位置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732520" y="2212848"/>
            <a:ext cx="2944368" cy="347472"/>
          </a:xfrm>
          <a:prstGeom prst="rect">
            <a:avLst/>
          </a:prstGeom>
          <a:solidFill>
            <a:srgbClr val="EF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787384" y="2212848"/>
            <a:ext cx="2834639" cy="347472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支持单位专区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2596896"/>
            <a:ext cx="2734056" cy="347472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12064" y="2596896"/>
            <a:ext cx="2624327" cy="347472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现场背景板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46120" y="2596896"/>
            <a:ext cx="2688336" cy="347472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300984" y="2596896"/>
            <a:ext cx="2578608" cy="347472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核心位置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989320" y="2596896"/>
            <a:ext cx="2688336" cy="347472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44183" y="2596896"/>
            <a:ext cx="2578608" cy="347472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常规位置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732520" y="2596896"/>
            <a:ext cx="2944368" cy="347472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787384" y="2596896"/>
            <a:ext cx="2834639" cy="347472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支持单位专区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2980944"/>
            <a:ext cx="2734056" cy="347472"/>
          </a:xfrm>
          <a:prstGeom prst="rect">
            <a:avLst/>
          </a:prstGeom>
          <a:solidFill>
            <a:srgbClr val="EF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12064" y="2980944"/>
            <a:ext cx="2624327" cy="347472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主持人鸣谢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46120" y="2980944"/>
            <a:ext cx="2688336" cy="347472"/>
          </a:xfrm>
          <a:prstGeom prst="rect">
            <a:avLst/>
          </a:prstGeom>
          <a:solidFill>
            <a:srgbClr val="EF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300984" y="2980944"/>
            <a:ext cx="2578608" cy="347472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单独鸣谢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989320" y="2980944"/>
            <a:ext cx="2688336" cy="347472"/>
          </a:xfrm>
          <a:prstGeom prst="rect">
            <a:avLst/>
          </a:prstGeom>
          <a:solidFill>
            <a:srgbClr val="EF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044183" y="2980944"/>
            <a:ext cx="2578608" cy="347472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统一鸣谢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732520" y="2980944"/>
            <a:ext cx="2944368" cy="347472"/>
          </a:xfrm>
          <a:prstGeom prst="rect">
            <a:avLst/>
          </a:prstGeom>
          <a:solidFill>
            <a:srgbClr val="EF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787384" y="2980944"/>
            <a:ext cx="2834639" cy="347472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统一鸣谢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" y="3364991"/>
            <a:ext cx="2734056" cy="347472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12064" y="3364991"/>
            <a:ext cx="2624327" cy="347472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全天研修名额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246120" y="3364991"/>
            <a:ext cx="2688336" cy="347472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300984" y="3364991"/>
            <a:ext cx="2578608" cy="347472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4 人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989320" y="3364991"/>
            <a:ext cx="2688336" cy="347472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044183" y="3364991"/>
            <a:ext cx="2578608" cy="347472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2 人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732520" y="3364991"/>
            <a:ext cx="2944368" cy="347472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787384" y="3364991"/>
            <a:ext cx="2834639" cy="347472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1 人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57200" y="3749039"/>
            <a:ext cx="2734056" cy="347472"/>
          </a:xfrm>
          <a:prstGeom prst="rect">
            <a:avLst/>
          </a:prstGeom>
          <a:solidFill>
            <a:srgbClr val="EF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12064" y="3749039"/>
            <a:ext cx="2624327" cy="347472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企业资料展示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246120" y="3749039"/>
            <a:ext cx="2688336" cy="347472"/>
          </a:xfrm>
          <a:prstGeom prst="rect">
            <a:avLst/>
          </a:prstGeom>
          <a:solidFill>
            <a:srgbClr val="EF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300984" y="3749039"/>
            <a:ext cx="2578608" cy="347472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专属区域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989320" y="3749039"/>
            <a:ext cx="2688336" cy="347472"/>
          </a:xfrm>
          <a:prstGeom prst="rect">
            <a:avLst/>
          </a:prstGeom>
          <a:solidFill>
            <a:srgbClr val="EF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044183" y="3749039"/>
            <a:ext cx="2578608" cy="347472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公共区域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732520" y="3749039"/>
            <a:ext cx="2944368" cy="347472"/>
          </a:xfrm>
          <a:prstGeom prst="rect">
            <a:avLst/>
          </a:prstGeom>
          <a:solidFill>
            <a:srgbClr val="EF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787384" y="3749039"/>
            <a:ext cx="2834639" cy="347472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公共区域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57200" y="4133087"/>
            <a:ext cx="2734056" cy="347472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12064" y="4133087"/>
            <a:ext cx="2624327" cy="347472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活动回顾露出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246120" y="4133087"/>
            <a:ext cx="2688336" cy="347472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300984" y="4133087"/>
            <a:ext cx="2578608" cy="347472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重点鸣谢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989320" y="4133087"/>
            <a:ext cx="2688336" cy="347472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044183" y="4133087"/>
            <a:ext cx="2578608" cy="347472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统一鸣谢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732520" y="4133087"/>
            <a:ext cx="2944368" cy="347472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787384" y="4133087"/>
            <a:ext cx="2834639" cy="347472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统一鸣谢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57200" y="4517136"/>
            <a:ext cx="2734056" cy="347472"/>
          </a:xfrm>
          <a:prstGeom prst="rect">
            <a:avLst/>
          </a:prstGeom>
          <a:solidFill>
            <a:srgbClr val="EF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12064" y="4517136"/>
            <a:ext cx="2624327" cy="347472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活动照片素材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246120" y="4517136"/>
            <a:ext cx="2688336" cy="347472"/>
          </a:xfrm>
          <a:prstGeom prst="rect">
            <a:avLst/>
          </a:prstGeom>
          <a:solidFill>
            <a:srgbClr val="EF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300984" y="4517136"/>
            <a:ext cx="2578608" cy="347472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提供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989320" y="4517136"/>
            <a:ext cx="2688336" cy="347472"/>
          </a:xfrm>
          <a:prstGeom prst="rect">
            <a:avLst/>
          </a:prstGeom>
          <a:solidFill>
            <a:srgbClr val="EF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044183" y="4517136"/>
            <a:ext cx="2578608" cy="347472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提供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732520" y="4517136"/>
            <a:ext cx="2944368" cy="347472"/>
          </a:xfrm>
          <a:prstGeom prst="rect">
            <a:avLst/>
          </a:prstGeom>
          <a:solidFill>
            <a:srgbClr val="EF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787384" y="4517136"/>
            <a:ext cx="2834639" cy="347472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提供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57200" y="4901183"/>
            <a:ext cx="2734056" cy="347472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12064" y="4901183"/>
            <a:ext cx="2624327" cy="347472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品牌使用授权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246120" y="4901183"/>
            <a:ext cx="2688336" cy="347472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300984" y="4901183"/>
            <a:ext cx="2578608" cy="347472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按约定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989320" y="4901183"/>
            <a:ext cx="2688336" cy="347472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044183" y="4901183"/>
            <a:ext cx="2578608" cy="347472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按约定</a:t>
            </a:r>
          </a:p>
        </p:txBody>
      </p:sp>
      <p:sp>
        <p:nvSpPr>
          <p:cNvPr id="92" name="Rectangle 91"/>
          <p:cNvSpPr/>
          <p:nvPr/>
        </p:nvSpPr>
        <p:spPr>
          <a:xfrm>
            <a:off x="8732520" y="4901183"/>
            <a:ext cx="2944368" cy="347472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8787384" y="4901183"/>
            <a:ext cx="2834639" cy="347472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按约定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57200" y="5285231"/>
            <a:ext cx="2734056" cy="347472"/>
          </a:xfrm>
          <a:prstGeom prst="rect">
            <a:avLst/>
          </a:prstGeom>
          <a:solidFill>
            <a:srgbClr val="EF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512064" y="5285231"/>
            <a:ext cx="2624327" cy="347472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数量限制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246120" y="5285231"/>
            <a:ext cx="2688336" cy="347472"/>
          </a:xfrm>
          <a:prstGeom prst="rect">
            <a:avLst/>
          </a:prstGeom>
          <a:solidFill>
            <a:srgbClr val="EF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300984" y="5285231"/>
            <a:ext cx="2578608" cy="347472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1 家</a:t>
            </a:r>
          </a:p>
        </p:txBody>
      </p:sp>
      <p:sp>
        <p:nvSpPr>
          <p:cNvPr id="98" name="Rectangle 97"/>
          <p:cNvSpPr/>
          <p:nvPr/>
        </p:nvSpPr>
        <p:spPr>
          <a:xfrm>
            <a:off x="5989320" y="5285231"/>
            <a:ext cx="2688336" cy="347472"/>
          </a:xfrm>
          <a:prstGeom prst="rect">
            <a:avLst/>
          </a:prstGeom>
          <a:solidFill>
            <a:srgbClr val="EF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044183" y="5285231"/>
            <a:ext cx="2578608" cy="347472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2—3 家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732520" y="5285231"/>
            <a:ext cx="2944368" cy="347472"/>
          </a:xfrm>
          <a:prstGeom prst="rect">
            <a:avLst/>
          </a:prstGeom>
          <a:solidFill>
            <a:srgbClr val="EF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8787384" y="5285231"/>
            <a:ext cx="2834639" cy="347472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3—5 家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57200" y="5897880"/>
            <a:ext cx="11247120" cy="50292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上述权益为招商建议，须在合作协议中明确具体展示位置、形式及交付数量。实物及服务支持另行确认，不列入本表。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8E2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144000" cy="256032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05    合作价值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493776"/>
            <a:ext cx="11064240" cy="438912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企业获得的，不只是标识上墙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24128"/>
            <a:ext cx="658368" cy="32004"/>
          </a:xfrm>
          <a:prstGeom prst="rect">
            <a:avLst/>
          </a:prstGeom>
          <a:solidFill>
            <a:srgbClr val="C4A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30352" y="6473952"/>
            <a:ext cx="11131295" cy="9144"/>
          </a:xfrm>
          <a:prstGeom prst="rect">
            <a:avLst/>
          </a:prstGeom>
          <a:solidFill>
            <a:srgbClr val="E3D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6510528"/>
            <a:ext cx="8412480" cy="274320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《传习录》与阳明心学  ·  企业品牌合作赞助方案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510528"/>
            <a:ext cx="2148840" cy="274320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13  /  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1353312"/>
            <a:ext cx="3639312" cy="352044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1554480"/>
            <a:ext cx="3108960" cy="36576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1965960"/>
            <a:ext cx="3154680" cy="64008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品牌文化形象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2743200"/>
            <a:ext cx="3154680" cy="182880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支持传统哲学和学术交流，体现企业对人文精神、知识传播和社会文化活动的关注。特别适合希望塑造长期品牌形象的企业。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25112" y="1353312"/>
            <a:ext cx="3639312" cy="352044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2856" y="1554480"/>
            <a:ext cx="3108960" cy="36576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2856" y="1965960"/>
            <a:ext cx="3154680" cy="64008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目标客户触达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2856" y="2743200"/>
            <a:ext cx="3154680" cy="182880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活动面向企业经营者、管理人员、专业人士和传统文化爱好者。企业可通过现场展示、合规资料发放及正常交流接触相关人群。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1353312"/>
            <a:ext cx="3639312" cy="352044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57616" y="1554480"/>
            <a:ext cx="3108960" cy="36576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7616" y="1965960"/>
            <a:ext cx="3154680" cy="64008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企业内部文化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57616" y="2743200"/>
            <a:ext cx="3154680" cy="182880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课程席位可用于高管学习、员工奖励或重要客户邀请。一次合作，同时完成文化学习、客户关系维护与品牌支持。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0352" y="5047488"/>
            <a:ext cx="11109960" cy="123444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30352" y="5047488"/>
            <a:ext cx="73152" cy="1234440"/>
          </a:xfrm>
          <a:prstGeom prst="rect">
            <a:avLst/>
          </a:prstGeom>
          <a:solidFill>
            <a:srgbClr val="8E2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5193792"/>
            <a:ext cx="10561320" cy="96012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不向赞助企业交付未经授权的报名者手机号、微信或其他个人信息。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赞助席位与正式购票学员享有相同的课程权益。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8E2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144000" cy="256032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05    合作价值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493776"/>
            <a:ext cx="11064240" cy="438912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适宜合作的企业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24128"/>
            <a:ext cx="658368" cy="32004"/>
          </a:xfrm>
          <a:prstGeom prst="rect">
            <a:avLst/>
          </a:prstGeom>
          <a:solidFill>
            <a:srgbClr val="C4A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30352" y="6473952"/>
            <a:ext cx="11131295" cy="9144"/>
          </a:xfrm>
          <a:prstGeom prst="rect">
            <a:avLst/>
          </a:prstGeom>
          <a:solidFill>
            <a:srgbClr val="E3D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6510528"/>
            <a:ext cx="8412480" cy="274320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《传习录》与阳明心学  ·  企业品牌合作赞助方案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510528"/>
            <a:ext cx="2148840" cy="274320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14  /  17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1298448"/>
            <a:ext cx="11109960" cy="457200"/>
          </a:xfrm>
          <a:prstGeom prst="rect">
            <a:avLst/>
          </a:prstGeom>
          <a:solidFill>
            <a:srgbClr val="141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335024"/>
            <a:ext cx="3931920" cy="384048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7F1E6"/>
                </a:solidFill>
                <a:latin typeface="微软雅黑"/>
                <a:ea typeface="微软雅黑"/>
                <a:cs typeface="微软雅黑"/>
              </a:rPr>
              <a:t>企业类型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1335024"/>
            <a:ext cx="2560320" cy="384048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7F1E6"/>
                </a:solidFill>
                <a:latin typeface="微软雅黑"/>
                <a:ea typeface="微软雅黑"/>
                <a:cs typeface="微软雅黑"/>
              </a:rPr>
              <a:t>建议级别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1335024"/>
            <a:ext cx="3931920" cy="384048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7F1E6"/>
                </a:solidFill>
                <a:latin typeface="微软雅黑"/>
                <a:ea typeface="微软雅黑"/>
                <a:cs typeface="微软雅黑"/>
              </a:rPr>
              <a:t>合作理由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0352" y="1810512"/>
            <a:ext cx="11109960" cy="603504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1810512"/>
            <a:ext cx="3931920" cy="603504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科技企业、人工智能企业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1810512"/>
            <a:ext cx="2560320" cy="603504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1万—3万元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1810512"/>
            <a:ext cx="4023360" cy="603504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企业家成长，科技与人文结合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0352" y="2468880"/>
            <a:ext cx="11109960" cy="603504"/>
          </a:xfrm>
          <a:prstGeom prst="rect">
            <a:avLst/>
          </a:prstGeom>
          <a:solidFill>
            <a:srgbClr val="EF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2468880"/>
            <a:ext cx="3931920" cy="603504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企业服务、管理咨询公司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2468880"/>
            <a:ext cx="2560320" cy="603504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1万—3万元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2468880"/>
            <a:ext cx="4023360" cy="603504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受众与企业客户有所重合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0352" y="3127248"/>
            <a:ext cx="11109960" cy="603504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3127248"/>
            <a:ext cx="3931920" cy="603504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高端茶叶、文化消费品牌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3127248"/>
            <a:ext cx="2560320" cy="603504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5,000元—1万元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3127248"/>
            <a:ext cx="4023360" cy="603504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与传统文化主题相契合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0352" y="3785616"/>
            <a:ext cx="11109960" cy="603504"/>
          </a:xfrm>
          <a:prstGeom prst="rect">
            <a:avLst/>
          </a:prstGeom>
          <a:solidFill>
            <a:srgbClr val="EF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3785616"/>
            <a:ext cx="3931920" cy="603504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文化出版、书店、文创企业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0" y="3785616"/>
            <a:ext cx="2560320" cy="603504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实物或 5,000元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40" y="3785616"/>
            <a:ext cx="4023360" cy="603504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可提供图书及文化用品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30352" y="4443983"/>
            <a:ext cx="11109960" cy="603504"/>
          </a:xfrm>
          <a:prstGeom prst="rect">
            <a:avLst/>
          </a:prstGeom>
          <a:solidFill>
            <a:srgbClr val="FF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4443983"/>
            <a:ext cx="3931920" cy="603504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酒店、餐饮、会务企业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63440" y="4443983"/>
            <a:ext cx="2560320" cy="603504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实物或服务支持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06640" y="4443983"/>
            <a:ext cx="4023360" cy="603504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场地、餐饮与会务协同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0352" y="5212080"/>
            <a:ext cx="11109960" cy="105156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为维护学术活动的公信力，本次不接纳高风险金融产品营销、夸大健康功效的产品，以及其他可能损害活动公共形象的商业推广。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8E2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144000" cy="256032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06    合作方式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493776"/>
            <a:ext cx="11064240" cy="438912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签约、授权与权益边界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24128"/>
            <a:ext cx="658368" cy="32004"/>
          </a:xfrm>
          <a:prstGeom prst="rect">
            <a:avLst/>
          </a:prstGeom>
          <a:solidFill>
            <a:srgbClr val="C4A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30352" y="6473952"/>
            <a:ext cx="11131295" cy="9144"/>
          </a:xfrm>
          <a:prstGeom prst="rect">
            <a:avLst/>
          </a:prstGeom>
          <a:solidFill>
            <a:srgbClr val="E3D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6510528"/>
            <a:ext cx="8412480" cy="274320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《传习录》与阳明心学  ·  企业品牌合作赞助方案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510528"/>
            <a:ext cx="2148840" cy="274320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15  /  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1298448"/>
            <a:ext cx="5669280" cy="489204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1463040"/>
            <a:ext cx="5212080" cy="36576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合作如何落地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1965960"/>
            <a:ext cx="548640" cy="50292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1965960"/>
            <a:ext cx="4526280" cy="713232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由具备签约、收款和开票能力的主体与企业签订协议。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743200"/>
            <a:ext cx="548640" cy="50292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743200"/>
            <a:ext cx="4526280" cy="713232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赞助款通过对公账户收取，不经由个人账户代收。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" y="3520440"/>
            <a:ext cx="548640" cy="50292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520440"/>
            <a:ext cx="4526280" cy="713232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展示位置、形式、数量与交付时间在协议中列明。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4297680"/>
            <a:ext cx="548640" cy="50292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97680"/>
            <a:ext cx="4526280" cy="713232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活动延期、主讲人无法按约授课或取消时，可协商替代方案，或按合同约定退款。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5074920"/>
            <a:ext cx="548640" cy="50292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074920"/>
            <a:ext cx="4526280" cy="713232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企业宣传本次支持、主办方使用企业标识，均限于授权范围。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1298448"/>
            <a:ext cx="5257800" cy="4892040"/>
          </a:xfrm>
          <a:prstGeom prst="roundRect">
            <a:avLst>
              <a:gd name="adj" fmla="val 8000"/>
            </a:avLst>
          </a:prstGeom>
          <a:solidFill>
            <a:srgbClr val="141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56832" y="1499616"/>
            <a:ext cx="4754880" cy="36576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4A265"/>
                </a:solidFill>
                <a:latin typeface="微软雅黑"/>
                <a:ea typeface="微软雅黑"/>
                <a:cs typeface="微软雅黑"/>
              </a:rPr>
              <a:t>明确不包含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56832" y="2057400"/>
            <a:ext cx="4754880" cy="246888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F7F1E6"/>
                </a:solidFill>
                <a:latin typeface="微软雅黑"/>
                <a:ea typeface="微软雅黑"/>
                <a:cs typeface="微软雅黑"/>
              </a:rPr>
              <a:t>·  主讲人个人商业代言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F7F1E6"/>
                </a:solidFill>
                <a:latin typeface="微软雅黑"/>
                <a:ea typeface="微软雅黑"/>
                <a:cs typeface="微软雅黑"/>
              </a:rPr>
              <a:t>·  私下会见或专属授课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F7F1E6"/>
                </a:solidFill>
                <a:latin typeface="微软雅黑"/>
                <a:ea typeface="微软雅黑"/>
                <a:cs typeface="微软雅黑"/>
              </a:rPr>
              <a:t>·  未经授权的合影、签名书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F7F1E6"/>
                </a:solidFill>
                <a:latin typeface="微软雅黑"/>
                <a:ea typeface="微软雅黑"/>
                <a:cs typeface="微软雅黑"/>
              </a:rPr>
              <a:t>·  报名者手机号、微信等个人信息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7F1E6"/>
                </a:solidFill>
                <a:latin typeface="微软雅黑"/>
                <a:ea typeface="微软雅黑"/>
                <a:cs typeface="微软雅黑"/>
              </a:rPr>
              <a:t>·  协议约定之外的品牌露出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56832" y="4709160"/>
            <a:ext cx="4754880" cy="118872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D9CBB6"/>
                </a:solidFill>
                <a:latin typeface="微软雅黑"/>
                <a:ea typeface="微软雅黑"/>
                <a:cs typeface="微软雅黑"/>
              </a:rPr>
              <a:t>未经批准的品牌露出如何处理、违约责任及退款安排，写入赞助合同。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8E2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9144000" cy="256032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06    合作方式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493776"/>
            <a:ext cx="11064240" cy="438912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从意向到现场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24128"/>
            <a:ext cx="658368" cy="32004"/>
          </a:xfrm>
          <a:prstGeom prst="rect">
            <a:avLst/>
          </a:prstGeom>
          <a:solidFill>
            <a:srgbClr val="C4A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30352" y="6473952"/>
            <a:ext cx="11131295" cy="9144"/>
          </a:xfrm>
          <a:prstGeom prst="rect">
            <a:avLst/>
          </a:prstGeom>
          <a:solidFill>
            <a:srgbClr val="E3D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6510528"/>
            <a:ext cx="8412480" cy="274320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《传习录》与阳明心学  ·  企业品牌合作赞助方案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510528"/>
            <a:ext cx="2148840" cy="274320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16  /  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1280160"/>
            <a:ext cx="11109960" cy="64008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活动于 10 月 31 日举办。建议在 10 月 15 日前确认主要赞助意向，以便审核标识并制作正式海报和现场物料。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194560"/>
            <a:ext cx="2194560" cy="3246120"/>
          </a:xfrm>
          <a:prstGeom prst="roundRect">
            <a:avLst>
              <a:gd name="adj" fmla="val 10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194560"/>
            <a:ext cx="2194560" cy="73152"/>
          </a:xfrm>
          <a:prstGeom prst="rect">
            <a:avLst/>
          </a:prstGeom>
          <a:solidFill>
            <a:srgbClr val="8E2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2395728"/>
            <a:ext cx="1938528" cy="64008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10月15日前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" y="3063240"/>
            <a:ext cx="1938528" cy="64008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确认级别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" y="3794760"/>
            <a:ext cx="1938528" cy="123444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谈定级别与席位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形成书面意向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79776" y="2194560"/>
            <a:ext cx="2194560" cy="3246120"/>
          </a:xfrm>
          <a:prstGeom prst="roundRect">
            <a:avLst>
              <a:gd name="adj" fmla="val 10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79776" y="2194560"/>
            <a:ext cx="2194560" cy="73152"/>
          </a:xfrm>
          <a:prstGeom prst="rect">
            <a:avLst/>
          </a:prstGeom>
          <a:solidFill>
            <a:srgbClr val="C4A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07792" y="2395728"/>
            <a:ext cx="1938528" cy="64008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意向确认后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07792" y="3063240"/>
            <a:ext cx="1938528" cy="64008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签约付款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7792" y="3794760"/>
            <a:ext cx="1938528" cy="123444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签订协议并对公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完成赞助付款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02352" y="2194560"/>
            <a:ext cx="2194560" cy="3246120"/>
          </a:xfrm>
          <a:prstGeom prst="roundRect">
            <a:avLst>
              <a:gd name="adj" fmla="val 10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02352" y="2194560"/>
            <a:ext cx="2194560" cy="73152"/>
          </a:xfrm>
          <a:prstGeom prst="rect">
            <a:avLst/>
          </a:prstGeom>
          <a:solidFill>
            <a:srgbClr val="C4A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30368" y="2395728"/>
            <a:ext cx="1938528" cy="64008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物料制作期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0368" y="3063240"/>
            <a:ext cx="1938528" cy="64008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审核露出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0368" y="3794760"/>
            <a:ext cx="1938528" cy="123444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提交标识与文案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审核后制作物料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24928" y="2194560"/>
            <a:ext cx="2194560" cy="3246120"/>
          </a:xfrm>
          <a:prstGeom prst="roundRect">
            <a:avLst>
              <a:gd name="adj" fmla="val 10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424928" y="2194560"/>
            <a:ext cx="2194560" cy="73152"/>
          </a:xfrm>
          <a:prstGeom prst="rect">
            <a:avLst/>
          </a:prstGeom>
          <a:solidFill>
            <a:srgbClr val="C4A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52944" y="2395728"/>
            <a:ext cx="1938528" cy="64008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10月31日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52944" y="3063240"/>
            <a:ext cx="1938528" cy="64008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现场兑现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52944" y="3794760"/>
            <a:ext cx="1938528" cy="123444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展示、鸣谢和席位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在现场一并落地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747504" y="2194560"/>
            <a:ext cx="2194560" cy="3246120"/>
          </a:xfrm>
          <a:prstGeom prst="roundRect">
            <a:avLst>
              <a:gd name="adj" fmla="val 10000"/>
            </a:avLst>
          </a:prstGeom>
          <a:solidFill>
            <a:srgbClr val="FFFCF7"/>
          </a:solidFill>
          <a:ln w="9525">
            <a:solidFill>
              <a:srgbClr val="E3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747504" y="2194560"/>
            <a:ext cx="2194560" cy="73152"/>
          </a:xfrm>
          <a:prstGeom prst="rect">
            <a:avLst/>
          </a:prstGeom>
          <a:solidFill>
            <a:srgbClr val="C4A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875520" y="2395728"/>
            <a:ext cx="1938528" cy="64008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8E2A28"/>
                </a:solidFill>
                <a:latin typeface="微软雅黑"/>
                <a:ea typeface="微软雅黑"/>
                <a:cs typeface="微软雅黑"/>
              </a:rPr>
              <a:t>活动结束后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75520" y="3063240"/>
            <a:ext cx="1938528" cy="64008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C1916"/>
                </a:solidFill>
                <a:latin typeface="微软雅黑"/>
                <a:ea typeface="微软雅黑"/>
                <a:cs typeface="微软雅黑"/>
              </a:rPr>
              <a:t>回顾传播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75520" y="3794760"/>
            <a:ext cx="1938528" cy="123444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提供经授权的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照片与回顾资料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41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E2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38912"/>
            <a:ext cx="9144000" cy="329184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4A265"/>
                </a:solidFill>
                <a:latin typeface="微软雅黑"/>
                <a:ea typeface="微软雅黑"/>
                <a:cs typeface="微软雅黑"/>
              </a:rPr>
              <a:t>诚邀合作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972800" cy="155448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F7F1E6"/>
                </a:solidFill>
                <a:latin typeface="微软雅黑"/>
                <a:ea typeface="微软雅黑"/>
                <a:cs typeface="微软雅黑"/>
              </a:rPr>
              <a:t>五百年前的东方智慧，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7F1E6"/>
                </a:solidFill>
                <a:latin typeface="微软雅黑"/>
                <a:ea typeface="微软雅黑"/>
                <a:cs typeface="微软雅黑"/>
              </a:rPr>
              <a:t>如何回应今天的人生困境？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880360"/>
            <a:ext cx="10972800" cy="64008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D9CBB6"/>
                </a:solidFill>
                <a:latin typeface="微软雅黑"/>
                <a:ea typeface="微软雅黑"/>
                <a:cs typeface="微软雅黑"/>
              </a:rPr>
              <a:t>王德峰教授  ·  《传习录》与阳明心学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D9CBB6"/>
                </a:solidFill>
                <a:latin typeface="微软雅黑"/>
                <a:ea typeface="微软雅黑"/>
                <a:cs typeface="微软雅黑"/>
              </a:rPr>
              <a:t>2026年10月31日  ·  上海  ·  全天专题研修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794760"/>
            <a:ext cx="3520440" cy="1051560"/>
          </a:xfrm>
          <a:prstGeom prst="roundRect">
            <a:avLst>
              <a:gd name="adj" fmla="val 10000"/>
            </a:avLst>
          </a:prstGeom>
          <a:solidFill>
            <a:srgbClr val="231C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3858768"/>
            <a:ext cx="3154680" cy="347472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4A265"/>
                </a:solidFill>
                <a:latin typeface="微软雅黑"/>
                <a:ea typeface="微软雅黑"/>
                <a:cs typeface="微软雅黑"/>
              </a:rPr>
              <a:t>战略支持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4187952"/>
            <a:ext cx="3154680" cy="502920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7F1E6"/>
                </a:solidFill>
                <a:latin typeface="微软雅黑"/>
                <a:ea typeface="微软雅黑"/>
                <a:cs typeface="微软雅黑"/>
              </a:rPr>
              <a:t>3万元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3794760"/>
            <a:ext cx="3520440" cy="1051560"/>
          </a:xfrm>
          <a:prstGeom prst="roundRect">
            <a:avLst>
              <a:gd name="adj" fmla="val 10000"/>
            </a:avLst>
          </a:prstGeom>
          <a:solidFill>
            <a:srgbClr val="231C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3858768"/>
            <a:ext cx="3154680" cy="347472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4A265"/>
                </a:solidFill>
                <a:latin typeface="微软雅黑"/>
                <a:ea typeface="微软雅黑"/>
                <a:cs typeface="微软雅黑"/>
              </a:rPr>
              <a:t>特别支持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4187952"/>
            <a:ext cx="3154680" cy="502920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7F1E6"/>
                </a:solidFill>
                <a:latin typeface="微软雅黑"/>
                <a:ea typeface="微软雅黑"/>
                <a:cs typeface="微软雅黑"/>
              </a:rPr>
              <a:t>1万元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19" y="3794760"/>
            <a:ext cx="3520440" cy="1051560"/>
          </a:xfrm>
          <a:prstGeom prst="roundRect">
            <a:avLst>
              <a:gd name="adj" fmla="val 10000"/>
            </a:avLst>
          </a:prstGeom>
          <a:solidFill>
            <a:srgbClr val="231C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9" y="3858768"/>
            <a:ext cx="3154680" cy="347472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4A265"/>
                </a:solidFill>
                <a:latin typeface="微软雅黑"/>
                <a:ea typeface="微软雅黑"/>
                <a:cs typeface="微软雅黑"/>
              </a:rPr>
              <a:t>品牌支持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9" y="4187952"/>
            <a:ext cx="3154680" cy="502920"/>
          </a:xfrm>
          <a:prstGeom prst="rect">
            <a:avLst/>
          </a:prstGeom>
          <a:noFill/>
        </p:spPr>
        <p:txBody>
          <a:bodyPr wrap="square" anchor="ctr" lIns="18288" rIns="18288" tIns="18288" bIns="1828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7F1E6"/>
                </a:solidFill>
                <a:latin typeface="微软雅黑"/>
                <a:ea typeface="微软雅黑"/>
                <a:cs typeface="微软雅黑"/>
              </a:rPr>
              <a:t>5,000元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029200"/>
            <a:ext cx="10972800" cy="64008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7F1E6"/>
                </a:solidFill>
                <a:latin typeface="微软雅黑"/>
                <a:ea typeface="微软雅黑"/>
                <a:cs typeface="微软雅黑"/>
              </a:rPr>
              <a:t>同时开放茶饮、图书、礼品、场地及相关服务支持。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7F1E6"/>
                </a:solidFill>
                <a:latin typeface="微软雅黑"/>
                <a:ea typeface="微软雅黑"/>
                <a:cs typeface="微软雅黑"/>
              </a:rPr>
              <a:t>期待与优秀企业携手，共赴一场思想与智慧的盛宴。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989320"/>
            <a:ext cx="10972800" cy="548640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B7AA9C"/>
                </a:solidFill>
                <a:latin typeface="微软雅黑"/>
                <a:ea typeface="微软雅黑"/>
                <a:cs typeface="微软雅黑"/>
              </a:rPr>
              <a:t>欢迎与活动筹备组洽谈合作意向。主办单位名称、标识及主讲人肖像的对外使用，以正式授权为准；具体权益以合作协议为准。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《传习录》与阳明心学 · 企业品牌合作赞助方案</dc:title>
  <dc:subject>王德峰教授专题讲座企业赞助方案（对外）</dc:subject>
  <dc:creator>活动筹备组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赞助方案</cp:category>
  <dc:language>zh-CN</dc:language>
</cp:coreProperties>
</file>