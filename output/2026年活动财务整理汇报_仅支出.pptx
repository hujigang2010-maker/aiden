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9A86B"/>
                </a:solidFill>
                <a:latin typeface="WenQuanYi Micro Hei"/>
              </a:rPr>
              <a:t>2026 年度活动</a:t>
            </a:r>
          </a:p>
          <a:p>
            <a:r>
              <a:rPr sz="5400" b="1">
                <a:solidFill>
                  <a:srgbClr val="FFFFFF"/>
                </a:solidFill>
                <a:latin typeface="WenQuanYi Micro Hei"/>
              </a:rPr>
              <a:t>支 出 明 细 汇 总 报 告</a:t>
            </a:r>
          </a:p>
          <a:p>
            <a:r>
              <a:rPr sz="1400">
                <a:solidFill>
                  <a:srgbClr val="FBF7F0"/>
                </a:solidFill>
                <a:latin typeface="Calibri"/>
              </a:rPr>
              <a:t>Expense-only Report  ·  All Income Excluded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口径说明 ： </a:t>
            </a:r>
            <a:r>
              <a:rPr sz="1400">
                <a:solidFill>
                  <a:srgbClr val="333333"/>
                </a:solidFill>
                <a:latin typeface="WenQuanYi Micro Hei"/>
              </a:rPr>
              <a:t>本表仅展示活动支出，已剔除所有进账（赞助 / 代收 / 退款）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外部费用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¥-68,592.00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内部费用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¥-10,265.50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现场杂项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¥-925.88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总支出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¥-79,783.38  （绝对值 ¥79,783.38）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一、支出总览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Expense Overview · 仅支出口径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外部费用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¥-68,592.00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9 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48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内部费用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¥-10,265.50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6 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52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52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现场杂项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¥-925.88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4 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1094415" cy="2194560"/>
          </a:xfrm>
          <a:prstGeom prst="roundRect">
            <a:avLst/>
          </a:prstGeom>
          <a:solidFill>
            <a:srgbClr val="8B0000"/>
          </a:solidFill>
          <a:ln w="254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86B"/>
                </a:solidFill>
                <a:latin typeface="WenQuanYi Micro Hei"/>
              </a:rPr>
              <a:t>本次活动总支出</a:t>
            </a:r>
          </a:p>
          <a:p>
            <a:pPr algn="ctr">
              <a:spcBef>
                <a:spcPts val="800"/>
              </a:spcBef>
            </a:pPr>
            <a:r>
              <a:rPr sz="5400" b="1">
                <a:solidFill>
                  <a:srgbClr val="FFFFFF"/>
                </a:solidFill>
                <a:latin typeface="WenQuanYi Micro Hei"/>
              </a:rPr>
              <a:t>¥-79,783.38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BF7F0"/>
                </a:solidFill>
                <a:latin typeface="WenQuanYi Micro Hei"/>
              </a:rPr>
              <a:t>= 外部 ¥-68,592.00  +  内部 ¥-10,265.50  +  现场 ¥-925.88  ·  共 19 笔</a:t>
            </a:r>
          </a:p>
          <a:p>
            <a:pPr algn="ctr">
              <a:spcBef>
                <a:spcPts val="800"/>
              </a:spcBef>
            </a:pPr>
            <a:r>
              <a:rPr sz="1100" i="1">
                <a:solidFill>
                  <a:srgbClr val="C9A86B"/>
                </a:solidFill>
                <a:latin typeface="WenQuanYi Micro Hei"/>
              </a:rPr>
              <a:t>（已剔除所有进账：赞助 ¥+46,758、升舱代收 ¥+1,440、看场地 ¥+148.85）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二、外部费用明细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对外采购 / 服务 / 媒体 / 餐饮  ·  小计 ¥-68,592.00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支出金额（元）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Miranda 苗苗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主持人礼服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晚宴期间演出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小五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三人演出表演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摄影摄像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洪总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摄影加云图片，及摄像影像记录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会务公司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杨总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¥-16,000.00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全部费用合计见附图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媒体支出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¥-11,500.00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新华社、上海证券报、央视新闻客户端、央广网、中国新闻网、上海虹口融媒体、上海杨浦融媒体（其中500元由胡继刚付款）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晚宴用餐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尚九一滴水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¥-33,452.00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晚宴8桌用餐费用，主桌按1.5倍计算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证书制作及KT版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广告公司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¥-1,030.00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个人证书14件 + 企业证书10件 + 志愿者证书23件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晚宴红包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晚宴活动游戏环节用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打印费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主持人手稿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外部费用小计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¥-68,592.00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三、内部费用明细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内部团队垫付  ·  小计 ¥-10,265.50  ·  已剔除 +148.85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支出金额（元）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¥-2,000.50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盒马鲜生采购，单次≤30kg，分8单下单（含订单截图录屏）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布袋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¥-860.00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200个 × 4.30元/个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志愿者伴手礼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¥-2,025.00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30份 × 68元/份 = 2040元，使用15元券，实付2025元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志愿者证书邮寄费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5位志愿者未现场领取证书及礼品，另含夏春等邮寄费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A4 刊册议程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佳玉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¥-4,400.00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500份刊册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午餐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¥-780.00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大米先生 30元/份 × 26份（附付款截图）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内部费用小计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¥-10,265.50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四、现场杂项明细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胸花 / 对讲机 / 退费 / 送货  ·  小计 ¥-925.88  ·  已剔除 +1,440 代收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支出金额（元）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胸花 &amp; 台花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¥-488.00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胸花10个 + 台花1个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对讲机租赁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¥-138.88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租赁100元 + 来回运费38.88元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晚宴退费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¥-199.00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1人不愿升舱，按规则退费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货拉拉送货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送复旦管院纸袋子 + 酒水送件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现场杂项小计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¥-925.88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五、复核要点与总额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Notes &amp;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69494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B0000"/>
                </a:solidFill>
                <a:latin typeface="WenQuanYi Micro Hei"/>
              </a:rPr>
              <a:t>复核要点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01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数据来源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源自活动原始流水 PDF；本版本仅保留资金流出（支出）项目。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02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口径变更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整类剔除「赞助 / 收入」(¥+46,758.00)。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03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剔除明细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「现场杂项」中代收升舱费 ¥+1,440 已剔除；「内部费用」中「活动前看场地用餐 +¥148.85」已剔除。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04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保留口径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支出类的负值条目全部保留，包括退费 ¥-199（视为现金流出口径下的支出）。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05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分类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保留三大支出类目：外部费用 / 内部费用 / 现场杂项；附「证书打印费明细」附表。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C9A86B"/>
                </a:solidFill>
                <a:latin typeface="WenQuanYi Micro Hei"/>
              </a:rPr>
              <a:t>  06  </a:t>
            </a:r>
            <a:r>
              <a:rPr sz="1300" b="1">
                <a:solidFill>
                  <a:srgbClr val="8B0000"/>
                </a:solidFill>
                <a:latin typeface="WenQuanYi Micro Hei"/>
              </a:rPr>
              <a:t>配套文件  </a:t>
            </a:r>
            <a:r>
              <a:rPr sz="1200">
                <a:solidFill>
                  <a:srgbClr val="333333"/>
                </a:solidFill>
                <a:latin typeface="WenQuanYi Micro Hei"/>
              </a:rPr>
              <a:t>如需含进账的完整收支版，请见《2026年活动财务整理表.xlsx》。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297680" cy="5120640"/>
          </a:xfrm>
          <a:prstGeom prst="roundRect">
            <a:avLst/>
          </a:prstGeom>
          <a:solidFill>
            <a:srgbClr val="8B0000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6B"/>
                </a:solidFill>
                <a:latin typeface="WenQuanYi Micro Hei"/>
              </a:rPr>
              <a:t>总  支  出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外部费用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¥-68,592.00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内部费用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¥-10,265.50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现场杂项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¥-925.88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C9A86B"/>
                </a:solidFill>
                <a:latin typeface="WenQuanYi Micro Hei"/>
              </a:rPr>
              <a:t>合  计</a:t>
            </a:r>
          </a:p>
          <a:p>
            <a:pPr algn="ctr">
              <a:spcBef>
                <a:spcPts val="400"/>
              </a:spcBef>
            </a:pPr>
            <a:r>
              <a:rPr sz="3200" b="1">
                <a:solidFill>
                  <a:srgbClr val="FFFFFF"/>
                </a:solidFill>
                <a:latin typeface="WenQuanYi Micro Hei"/>
              </a:rPr>
              <a:t>¥-79,783.38</a:t>
            </a:r>
          </a:p>
          <a:p>
            <a:pPr algn="ctr">
              <a:spcBef>
                <a:spcPts val="200"/>
              </a:spcBef>
            </a:pPr>
            <a:r>
              <a:rPr sz="1100" i="1">
                <a:solidFill>
                  <a:srgbClr val="FBF7F0"/>
                </a:solidFill>
                <a:latin typeface="WenQuanYi Micro Hei"/>
              </a:rPr>
              <a:t>（绝对值 ¥79,783.38）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5074920"/>
            <a:ext cx="3566160" cy="20000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支出明细汇总（仅支出版）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