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2" y="384048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457200"/>
            <a:ext cx="566928" cy="43891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38912"/>
            <a:ext cx="73152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内部执行稿  ·  请勿整册外发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438912"/>
            <a:ext cx="237744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9CBB6"/>
                </a:solidFill>
                <a:latin typeface="微软雅黑"/>
                <a:ea typeface="微软雅黑"/>
                <a:cs typeface="微软雅黑"/>
              </a:rPr>
              <a:t>2026.10.10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417320"/>
            <a:ext cx="1106424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2026 年 10 月 31 日（星期六）09:00—12:00  ·  上海（待公布）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874519"/>
            <a:ext cx="11064240" cy="64008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王德峰教授《传习录》与阳明心学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578608"/>
            <a:ext cx="1106424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落地方案  ·  价值实施  ·  赞助落地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3182112"/>
            <a:ext cx="1051560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3364992"/>
            <a:ext cx="11064240" cy="64008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9CBB6"/>
                </a:solidFill>
                <a:latin typeface="微软雅黑"/>
                <a:ea typeface="微软雅黑"/>
                <a:cs typeface="微软雅黑"/>
              </a:rPr>
              <a:t>联合主办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9CBB6"/>
                </a:solidFill>
                <a:latin typeface="微软雅黑"/>
                <a:ea typeface="微软雅黑"/>
                <a:cs typeface="微软雅黑"/>
              </a:rPr>
              <a:t>复旦大学住房政策研究中心  ·  上海市杨浦区科技企业联合会  ·  首乾书院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4297680"/>
            <a:ext cx="3584448" cy="1170432"/>
          </a:xfrm>
          <a:prstGeom prst="roundRect">
            <a:avLst>
              <a:gd name="adj" fmla="val 10000"/>
            </a:avLst>
          </a:prstGeom>
          <a:solidFill>
            <a:srgbClr val="23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4425696"/>
            <a:ext cx="3200400" cy="43891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10 万元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4901184"/>
            <a:ext cx="3200400" cy="38404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讲师费测算，目前唯一现金成本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4297680"/>
            <a:ext cx="3584448" cy="1170432"/>
          </a:xfrm>
          <a:prstGeom prst="roundRect">
            <a:avLst>
              <a:gd name="adj" fmla="val 10000"/>
            </a:avLst>
          </a:prstGeom>
          <a:solidFill>
            <a:srgbClr val="23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4425696"/>
            <a:ext cx="3200400" cy="43891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约 200 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4901184"/>
            <a:ext cx="3200400" cy="38404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场地容量，以书面确认为准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4297680"/>
            <a:ext cx="3584448" cy="1170432"/>
          </a:xfrm>
          <a:prstGeom prst="roundRect">
            <a:avLst>
              <a:gd name="adj" fmla="val 10000"/>
            </a:avLst>
          </a:prstGeom>
          <a:solidFill>
            <a:srgbClr val="23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425696"/>
            <a:ext cx="3200400" cy="43891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4 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01184"/>
            <a:ext cx="3200400" cy="38404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总负责、内容、票务、现场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5715000"/>
            <a:ext cx="11064240" cy="64008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9CBB6"/>
                </a:solidFill>
                <a:latin typeface="微软雅黑"/>
                <a:ea typeface="微软雅黑"/>
                <a:cs typeface="微软雅黑"/>
              </a:rPr>
              <a:t>成稿距活动 21 天。讲师费、场地容量、上座率都是待确认假设，不是已核实数据。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9CBB6"/>
                </a:solidFill>
                <a:latin typeface="微软雅黑"/>
                <a:ea typeface="微软雅黑"/>
                <a:cs typeface="微软雅黑"/>
              </a:rPr>
              <a:t>拿到讲师费书面数字和场地座位数后，按收支页、讲师费页重算。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355080"/>
            <a:ext cx="137160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9CBB6"/>
                </a:solidFill>
                <a:latin typeface="微软雅黑"/>
                <a:ea typeface="微软雅黑"/>
                <a:cs typeface="微软雅黑"/>
              </a:rPr>
              <a:t>01  /  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一页结论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六项决定，两条线同时推进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02  / 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152144"/>
            <a:ext cx="3657600" cy="19568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243584"/>
            <a:ext cx="3364992" cy="23774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活动性质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481328"/>
            <a:ext cx="3364992" cy="38404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一个上午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920240"/>
            <a:ext cx="3364992" cy="106070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约 3 小时单场公开讲座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不拆“半天票”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152144"/>
            <a:ext cx="3657600" cy="19568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1243584"/>
            <a:ext cx="3364992" cy="23774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票价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1481328"/>
            <a:ext cx="3364992" cy="38404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699 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1920240"/>
            <a:ext cx="3364992" cy="106070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早鸟 499，10/20 前限 60 张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团体 599，同一单位 5 张起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前排 999，限 20 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152144"/>
            <a:ext cx="3657600" cy="19568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243584"/>
            <a:ext cx="3364992" cy="23774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赞助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481328"/>
            <a:ext cx="3364992" cy="38404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6 万保底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920240"/>
            <a:ext cx="3364992" cy="106070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争取 8 万。战略 3 万，限 1 家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特别 1 万，2—3 家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品牌 5,000 元，3—5 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236976"/>
            <a:ext cx="3657600" cy="19568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328416"/>
            <a:ext cx="3364992" cy="23774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保本门票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3566160"/>
            <a:ext cx="3364992" cy="38404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162 / 71 / 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005072"/>
            <a:ext cx="3364992" cy="106070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无赞助须卖 162 张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赞助 6 万到账后 71 张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赞助 8 万到账后 41 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3236976"/>
            <a:ext cx="3657600" cy="19568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25696" y="3328416"/>
            <a:ext cx="3364992" cy="23774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关键日期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5696" y="3566160"/>
            <a:ext cx="3364992" cy="38404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10 月 22 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6" y="4005072"/>
            <a:ext cx="3364992" cy="106070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10/12 书面确认，10/13 开售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10/20 赞助到账，早鸟截止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10/22 决定是否继续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3296" y="3236976"/>
            <a:ext cx="3657600" cy="19568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3328416"/>
            <a:ext cx="3364992" cy="23774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团队与底线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566160"/>
            <a:ext cx="3364992" cy="38404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4 个角色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005072"/>
            <a:ext cx="3364992" cy="106070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不先付清讲师费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赞助未到账不计入收入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未确认的权益不写进宣传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" y="5394960"/>
            <a:ext cx="11247120" cy="932688"/>
          </a:xfrm>
          <a:prstGeom prst="roundRect">
            <a:avLst>
              <a:gd name="adj" fmla="val 8000"/>
            </a:avLst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504688"/>
            <a:ext cx="10881360" cy="7132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门票负责“场子满”，赞助负责“讲师费落袋”。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两条线同时推进，10 月 22 日看已到账数据，决定是否继续。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落地方案  ·  开售门槛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四份书面确认齐全，才允许开售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03  / 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152144"/>
            <a:ext cx="2798064" cy="4133087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280160"/>
            <a:ext cx="2505456" cy="31089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645920"/>
            <a:ext cx="2505456" cy="58521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讲师费与付款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267712"/>
            <a:ext cx="2505456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找首乾书院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706624"/>
            <a:ext cx="2505456" cy="22860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写明含税或不含税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签约付 30% 定金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活动后 3 个工作日付清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老师取消，已付全额退还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1152144"/>
            <a:ext cx="2798064" cy="4133087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280160"/>
            <a:ext cx="2505456" cy="31089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1645920"/>
            <a:ext cx="2505456" cy="58521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场地与容量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267712"/>
            <a:ext cx="2505456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找场地方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706624"/>
            <a:ext cx="2505456" cy="22860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免费使用的书面确认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可用座位到底有多少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进场时间与彩排时间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音响、投影、话筒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1152144"/>
            <a:ext cx="2798064" cy="4133087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1280160"/>
            <a:ext cx="2505456" cy="31089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1645920"/>
            <a:ext cx="2505456" cy="58521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名义与肖像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267712"/>
            <a:ext cx="2505456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三家主办＋讲师方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706624"/>
            <a:ext cx="2505456" cy="22860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同意联合主办并收费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同意使用姓名和肖像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同意使用课程题目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校内未批则改学术支持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53728" y="1152144"/>
            <a:ext cx="2798064" cy="4133087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00032" y="1280160"/>
            <a:ext cx="2505456" cy="31089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1645920"/>
            <a:ext cx="2505456" cy="58521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收款与开票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2267712"/>
            <a:ext cx="2505456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书院或联合会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2706624"/>
            <a:ext cx="2505456" cy="22860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门票由谁收款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赞助由谁收款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由谁开具发票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退款由谁执行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5431536"/>
            <a:ext cx="11247120" cy="896112"/>
          </a:xfrm>
          <a:prstGeom prst="roundRect">
            <a:avLst>
              <a:gd name="adj" fmla="val 8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5541264"/>
            <a:ext cx="10881360" cy="676656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缺任何一份，10 月 13 日不开售。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复旦中心若未获校内同意，改列“学术支持单位”，不作为收费方。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落地方案  ·  票务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四档票价，早鸟只卖到 10 月 20 日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04  / 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170432"/>
            <a:ext cx="2798064" cy="41605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1170432"/>
            <a:ext cx="2798064" cy="109728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389888"/>
            <a:ext cx="2505456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早鸟席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1719072"/>
            <a:ext cx="2523744" cy="7132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499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468880"/>
            <a:ext cx="2505456" cy="2743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元 / 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852928"/>
            <a:ext cx="2505456" cy="31089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限 60 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182112"/>
            <a:ext cx="2505456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10/20 24:00 截止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3675887"/>
            <a:ext cx="2468880" cy="10972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803904"/>
            <a:ext cx="2505456" cy="132588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入场听讲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纸质讲义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茶歇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1568" y="1170432"/>
            <a:ext cx="2798064" cy="41605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2798064" cy="109728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7872" y="1389888"/>
            <a:ext cx="2505456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标准席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584" y="1719072"/>
            <a:ext cx="2523744" cy="7132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699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2468880"/>
            <a:ext cx="2505456" cy="2743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元 / 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2852928"/>
            <a:ext cx="2505456" cy="31089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主售票档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3182112"/>
            <a:ext cx="2505456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数量以容量为准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47872" y="3675887"/>
            <a:ext cx="2468880" cy="10972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47872" y="3803904"/>
            <a:ext cx="2505456" cy="132588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入场听讲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纸质讲义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茶歇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7648" y="1170432"/>
            <a:ext cx="2798064" cy="41605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27648" y="1170432"/>
            <a:ext cx="2798064" cy="109728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1389888"/>
            <a:ext cx="2505456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企业团体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1719072"/>
            <a:ext cx="2523744" cy="7132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599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2468880"/>
            <a:ext cx="2505456" cy="2743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元 / 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2852928"/>
            <a:ext cx="2505456" cy="31089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5 张起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3182112"/>
            <a:ext cx="2505456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同一单位，可统一开票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73952" y="3675887"/>
            <a:ext cx="2468880" cy="10972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3803904"/>
            <a:ext cx="2505456" cy="132588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权益与标准席相同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按人计价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便于企业报名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53728" y="1170432"/>
            <a:ext cx="2798064" cy="41605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53728" y="1170432"/>
            <a:ext cx="2798064" cy="109728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00032" y="1389888"/>
            <a:ext cx="2505456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前排席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81744" y="1719072"/>
            <a:ext cx="2523744" cy="7132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999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00032" y="2468880"/>
            <a:ext cx="2505456" cy="2743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元 / 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0032" y="2852928"/>
            <a:ext cx="2505456" cy="31089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限 20 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00032" y="3182112"/>
            <a:ext cx="2505456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前三排座位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00032" y="3675887"/>
            <a:ext cx="2468880" cy="10972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00032" y="3803904"/>
            <a:ext cx="2505456" cy="132588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含上述全部权益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签名书须确认后再加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" y="5486400"/>
            <a:ext cx="11247120" cy="8229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单场约 3 小时，不另设半天票。按推荐结构，平均票面约 659 元，到手约 619 元/张。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平台手续费、税费和少量退款按 94% 计入到手；赞助到手也按 94% 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落地方案  ·  座位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200 个座位，先扣赠票再卖票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05  /  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170432"/>
            <a:ext cx="1124712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下面按赞助 12 席画示意。实际赞助席 10—14，可售门票在 168—182 之间调整。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664208"/>
            <a:ext cx="674827" cy="566928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664208"/>
            <a:ext cx="674827" cy="56692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50315" y="1664208"/>
            <a:ext cx="674827" cy="566928"/>
          </a:xfrm>
          <a:prstGeom prst="rect">
            <a:avLst/>
          </a:prstGeom>
          <a:solidFill>
            <a:srgbClr val="A68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0315" y="1664208"/>
            <a:ext cx="674827" cy="56692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5142" y="1664208"/>
            <a:ext cx="337413" cy="566928"/>
          </a:xfrm>
          <a:prstGeom prst="rect">
            <a:avLst/>
          </a:prstGeom>
          <a:solidFill>
            <a:srgbClr val="1E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62556" y="1664208"/>
            <a:ext cx="9560052" cy="566928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62556" y="1664208"/>
            <a:ext cx="9560052" cy="56692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170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2487168"/>
            <a:ext cx="2798064" cy="23317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" y="2487168"/>
            <a:ext cx="2798064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2688336"/>
            <a:ext cx="2505456" cy="42062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10—14 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145536"/>
            <a:ext cx="2505456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赞助企业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547872"/>
            <a:ext cx="2505456" cy="107899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随档位赠送，占用容量。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不与门票收入重复计算。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01568" y="2487168"/>
            <a:ext cx="2798064" cy="23317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01568" y="2487168"/>
            <a:ext cx="2798064" cy="73152"/>
          </a:xfrm>
          <a:prstGeom prst="rect">
            <a:avLst/>
          </a:prstGeom>
          <a:solidFill>
            <a:srgbClr val="A68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47872" y="2688336"/>
            <a:ext cx="2505456" cy="42062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12 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3145536"/>
            <a:ext cx="2505456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此前 2,399 元学员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7872" y="3547872"/>
            <a:ext cx="2505456" cy="107899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若已到账，安排第一排。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并保留当时承诺的权益。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7648" y="2487168"/>
            <a:ext cx="2798064" cy="23317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27648" y="2487168"/>
            <a:ext cx="2798064" cy="73152"/>
          </a:xfrm>
          <a:prstGeom prst="rect">
            <a:avLst/>
          </a:prstGeom>
          <a:solidFill>
            <a:srgbClr val="1E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2688336"/>
            <a:ext cx="2505456" cy="42062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约 6 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3145536"/>
            <a:ext cx="2505456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嘉宾、主办、媒体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3547872"/>
            <a:ext cx="2505456" cy="107899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控制在 6 席以内。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不挤占可售门票。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53728" y="2487168"/>
            <a:ext cx="2798064" cy="23317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53728" y="2487168"/>
            <a:ext cx="2798064" cy="73152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00032" y="2688336"/>
            <a:ext cx="2505456" cy="42062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168—182 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0032" y="3145536"/>
            <a:ext cx="2505456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可售门票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0032" y="3547872"/>
            <a:ext cx="2505456" cy="107899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按赞助签约动态调整。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不卖站票。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" y="5010912"/>
            <a:ext cx="11247120" cy="1298448"/>
          </a:xfrm>
          <a:prstGeom prst="roundRect">
            <a:avLst>
              <a:gd name="adj" fmla="val 8000"/>
            </a:avLst>
          </a:prstGeom>
          <a:solidFill>
            <a:srgbClr val="F8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5157216"/>
            <a:ext cx="10881360" cy="102412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2,399 元学员是否占这 12 席，只看收款记录。未到账不预留，也不计入结余。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到账的话，在收支表之外再多约 2.7 万元。嘉宾席含主办方和媒体，不要临时加座。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落地方案  ·  收支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赞助一到账，保本线立刻下降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06  / 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152144"/>
            <a:ext cx="3657600" cy="15727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61872"/>
            <a:ext cx="2286000" cy="7132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8" y="1481328"/>
            <a:ext cx="1280160" cy="38404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029968"/>
            <a:ext cx="3291840" cy="43891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无赞助时保本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152144"/>
            <a:ext cx="3657600" cy="15727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261872"/>
            <a:ext cx="2286000" cy="7132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1481328"/>
            <a:ext cx="1280160" cy="38404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029968"/>
            <a:ext cx="3291840" cy="43891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 6 万到账后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152144"/>
            <a:ext cx="3657600" cy="15727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5" y="1261872"/>
            <a:ext cx="2286000" cy="7132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E3A32"/>
                </a:solidFill>
                <a:latin typeface="微软雅黑"/>
                <a:ea typeface="微软雅黑"/>
                <a:cs typeface="微软雅黑"/>
              </a:rPr>
              <a:t>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32136" y="1481328"/>
            <a:ext cx="1280160" cy="38404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2029968"/>
            <a:ext cx="3291840" cy="43891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 8 万到账后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2907792"/>
            <a:ext cx="2880360" cy="420624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907792"/>
            <a:ext cx="2880360" cy="420624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情景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55848" y="2907792"/>
            <a:ext cx="2788920" cy="420624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55848" y="2907792"/>
            <a:ext cx="2788920" cy="420624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保本需卖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2907792"/>
            <a:ext cx="2788920" cy="420624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2907792"/>
            <a:ext cx="2788920" cy="420624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卖 120 张结余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33688" y="2907792"/>
            <a:ext cx="2788920" cy="420624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33688" y="2907792"/>
            <a:ext cx="2788920" cy="420624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卖 150 张结余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" y="3328416"/>
            <a:ext cx="2880360" cy="53035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3328416"/>
            <a:ext cx="2880360" cy="53035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无赞助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55848" y="3328416"/>
            <a:ext cx="2788920" cy="53035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55848" y="3328416"/>
            <a:ext cx="2788920" cy="53035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162 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3328416"/>
            <a:ext cx="2788920" cy="53035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4768" y="3328416"/>
            <a:ext cx="2788920" cy="53035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-2.57 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33688" y="3328416"/>
            <a:ext cx="2788920" cy="53035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33688" y="3328416"/>
            <a:ext cx="2788920" cy="53035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-0.71 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" y="3858768"/>
            <a:ext cx="2880360" cy="530352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" y="3858768"/>
            <a:ext cx="2880360" cy="53035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 6 万到账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55848" y="3858768"/>
            <a:ext cx="2788920" cy="530352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55848" y="3858768"/>
            <a:ext cx="2788920" cy="53035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71 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44768" y="3858768"/>
            <a:ext cx="2788920" cy="530352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44768" y="3858768"/>
            <a:ext cx="2788920" cy="53035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3A32"/>
                </a:solidFill>
                <a:latin typeface="微软雅黑"/>
                <a:ea typeface="微软雅黑"/>
                <a:cs typeface="微软雅黑"/>
              </a:rPr>
              <a:t>+3.07 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33688" y="3858768"/>
            <a:ext cx="2788920" cy="530352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33688" y="3858768"/>
            <a:ext cx="2788920" cy="53035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3A32"/>
                </a:solidFill>
                <a:latin typeface="微软雅黑"/>
                <a:ea typeface="微软雅黑"/>
                <a:cs typeface="微软雅黑"/>
              </a:rPr>
              <a:t>+4.93 万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" y="4389120"/>
            <a:ext cx="2880360" cy="530352"/>
          </a:xfrm>
          <a:prstGeom prst="rect">
            <a:avLst/>
          </a:prstGeom>
          <a:solidFill>
            <a:srgbClr val="F8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4389120"/>
            <a:ext cx="2880360" cy="53035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 8 万到账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55848" y="4389120"/>
            <a:ext cx="2788920" cy="530352"/>
          </a:xfrm>
          <a:prstGeom prst="rect">
            <a:avLst/>
          </a:prstGeom>
          <a:solidFill>
            <a:srgbClr val="F8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55848" y="4389120"/>
            <a:ext cx="2788920" cy="53035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41 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44768" y="4389120"/>
            <a:ext cx="2788920" cy="530352"/>
          </a:xfrm>
          <a:prstGeom prst="rect">
            <a:avLst/>
          </a:prstGeom>
          <a:solidFill>
            <a:srgbClr val="F8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44768" y="4389120"/>
            <a:ext cx="2788920" cy="53035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3A32"/>
                </a:solidFill>
                <a:latin typeface="微软雅黑"/>
                <a:ea typeface="微软雅黑"/>
                <a:cs typeface="微软雅黑"/>
              </a:rPr>
              <a:t>+4.95 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33688" y="4389120"/>
            <a:ext cx="2788920" cy="530352"/>
          </a:xfrm>
          <a:prstGeom prst="rect">
            <a:avLst/>
          </a:prstGeom>
          <a:solidFill>
            <a:srgbClr val="F8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33688" y="4389120"/>
            <a:ext cx="2788920" cy="53035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3A32"/>
                </a:solidFill>
                <a:latin typeface="微软雅黑"/>
                <a:ea typeface="微软雅黑"/>
                <a:cs typeface="微软雅黑"/>
              </a:rPr>
              <a:t>+6.81 万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75488" y="5029200"/>
            <a:ext cx="11247120" cy="1280160"/>
          </a:xfrm>
          <a:prstGeom prst="roundRect">
            <a:avLst>
              <a:gd name="adj" fmla="val 8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5157216"/>
            <a:ext cx="10881360" cy="1042415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讲师费按 10 万元测算。平均票面约 659 元，到手约 619 元/张；赞助到手同样按 94%。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此前 12 位学员若已按 2,399 元到账，结余再多约 2.7 万元。未到账不计入。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落地方案  ·  讲师费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讲师费变了，就换一种打法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07  / 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152144"/>
            <a:ext cx="11247120" cy="89611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280160"/>
            <a:ext cx="3931920" cy="64008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分成，或 ≤ 6 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280160"/>
            <a:ext cx="6766560" cy="64008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票价可降为统一 499 元，早鸟 399 元。赞助记为利润。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2139696"/>
            <a:ext cx="11247120" cy="896112"/>
          </a:xfrm>
          <a:prstGeom prst="roundRect">
            <a:avLst>
              <a:gd name="adj" fmla="val 8000"/>
            </a:avLst>
          </a:prstGeom>
          <a:solidFill>
            <a:srgbClr val="F8F0EA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267712"/>
            <a:ext cx="3931920" cy="64008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6—10 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267712"/>
            <a:ext cx="6766560" cy="64008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按本方案执行。这是当前测算所在的区间。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3127248"/>
            <a:ext cx="11247120" cy="89611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255264"/>
            <a:ext cx="3931920" cy="64008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10—12 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255264"/>
            <a:ext cx="6766560" cy="64008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方案不变，但赞助至少 6 万到账后，再全面推广。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4114800"/>
            <a:ext cx="11247120" cy="89611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4242816"/>
            <a:ext cx="3931920" cy="64008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12—18 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242816"/>
            <a:ext cx="6766560" cy="64008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赞助至少 8 万签约并且到账之后，才开售。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5102352"/>
            <a:ext cx="11247120" cy="89611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5230368"/>
            <a:ext cx="3931920" cy="64008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&gt; 18 万，或单场 2,500 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5230368"/>
            <a:ext cx="6766560" cy="64008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不做公开售票。改为分成，或我方只做宣传支持。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6108192"/>
            <a:ext cx="11247120" cy="2743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对照的是书面讲师费，不是口头报价。还没拿到数字之前，对外仍按本方案筹备，但不付清全款。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落地方案  ·  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对外签字只留在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08  / 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152144"/>
            <a:ext cx="2798064" cy="409651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280160"/>
            <a:ext cx="2505456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A  总负责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664208"/>
            <a:ext cx="2505456" cy="31089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签约与拍板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103120"/>
            <a:ext cx="2505456" cy="18288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讲师合同与付款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对接首乾书院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三家名义授权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赞助谈判与签约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4023360"/>
            <a:ext cx="2505456" cy="10972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114800"/>
            <a:ext cx="2505456" cy="23774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每天交出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370832"/>
            <a:ext cx="2505456" cy="67665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赞助进展：意向、签约、到账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1152144"/>
            <a:ext cx="2798064" cy="409651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280160"/>
            <a:ext cx="2505456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B  内容传播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1664208"/>
            <a:ext cx="2505456" cy="31089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卖点与露出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03120"/>
            <a:ext cx="2505456" cy="18288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海报定稿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公众号与朋友圈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倒计时和社群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赞助方露出物料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4023360"/>
            <a:ext cx="2505456" cy="10972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4114800"/>
            <a:ext cx="2505456" cy="23774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每天交出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4370832"/>
            <a:ext cx="2505456" cy="67665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当天发布内容与阅读数据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7648" y="1152144"/>
            <a:ext cx="2798064" cy="409651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1280160"/>
            <a:ext cx="2505456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C  票务客服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1664208"/>
            <a:ext cx="2505456" cy="31089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报名与名单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2103120"/>
            <a:ext cx="2505456" cy="18288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小鹅通或活动行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收款、开票、退款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群内答疑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名单与座位表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2" y="4023360"/>
            <a:ext cx="2505456" cy="10972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114800"/>
            <a:ext cx="2505456" cy="23774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每天交出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370832"/>
            <a:ext cx="2505456" cy="67665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每天 20:00 销售日报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53728" y="1152144"/>
            <a:ext cx="2798064" cy="409651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00032" y="1280160"/>
            <a:ext cx="2505456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D  渠道现场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32" y="1664208"/>
            <a:ext cx="2505456" cy="31089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企业与现场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0032" y="2103120"/>
            <a:ext cx="2505456" cy="18288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会员企业逐家邀约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团体票和赞助线索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场地、设备、茶歇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签到与动线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00032" y="4023360"/>
            <a:ext cx="2505456" cy="10972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00032" y="4114800"/>
            <a:ext cx="2505456" cy="23774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每天交出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0032" y="4370832"/>
            <a:ext cx="2505456" cy="67665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当天拜访企业数与线索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" y="5394960"/>
            <a:ext cx="11247120" cy="932688"/>
          </a:xfrm>
          <a:prstGeom prst="roundRect">
            <a:avLst>
              <a:gd name="adj" fmla="val 8000"/>
            </a:avLst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5504688"/>
            <a:ext cx="10881360" cy="7132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讲师、授权、收款、赞助签约，全部由 A 对外签字。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B 管传播，C 管票务，D 管渠道和现场。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落地方案  ·  时间表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10 月 22 日之前，门票和赞助并行走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09  / 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52144"/>
            <a:ext cx="1874519" cy="384048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152144"/>
            <a:ext cx="1874519" cy="38404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日期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0008" y="1152144"/>
            <a:ext cx="3154680" cy="384048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0008" y="1152144"/>
            <a:ext cx="3154680" cy="38404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门票线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04688" y="1152144"/>
            <a:ext cx="3154680" cy="384048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04688" y="1152144"/>
            <a:ext cx="3154680" cy="38404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赞助线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59367" y="1152144"/>
            <a:ext cx="3063240" cy="384048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9367" y="1152144"/>
            <a:ext cx="3063240" cy="38404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1536192"/>
            <a:ext cx="1874519" cy="6400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1536192"/>
            <a:ext cx="1874519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10/10—12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0008" y="1536192"/>
            <a:ext cx="3154680" cy="6400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0008" y="1536192"/>
            <a:ext cx="3154680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改海报，搭报名页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删半天票，改成第一讲/第二讲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4688" y="1536192"/>
            <a:ext cx="3154680" cy="6400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04688" y="1536192"/>
            <a:ext cx="3154680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列出 20 家目标企业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发出赞助邀请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59367" y="1536192"/>
            <a:ext cx="3063240" cy="6400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59367" y="1536192"/>
            <a:ext cx="3063240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四份书面确认齐全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2176272"/>
            <a:ext cx="1874519" cy="640080"/>
          </a:xfrm>
          <a:prstGeom prst="rect">
            <a:avLst/>
          </a:prstGeom>
          <a:solidFill>
            <a:srgbClr val="F8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176272"/>
            <a:ext cx="1874519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10/13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50008" y="2176272"/>
            <a:ext cx="3154680" cy="640080"/>
          </a:xfrm>
          <a:prstGeom prst="rect">
            <a:avLst/>
          </a:prstGeom>
          <a:solidFill>
            <a:srgbClr val="F8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50008" y="2176272"/>
            <a:ext cx="3154680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开售：公众号、朋友圈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三方社群同步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04688" y="2176272"/>
            <a:ext cx="3154680" cy="640080"/>
          </a:xfrm>
          <a:prstGeom prst="rect">
            <a:avLst/>
          </a:prstGeom>
          <a:solidFill>
            <a:srgbClr val="F8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04688" y="2176272"/>
            <a:ext cx="3154680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首轮电话或面谈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59367" y="2176272"/>
            <a:ext cx="3063240" cy="640080"/>
          </a:xfrm>
          <a:prstGeom prst="rect">
            <a:avLst/>
          </a:prstGeom>
          <a:solidFill>
            <a:srgbClr val="F8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9367" y="2176272"/>
            <a:ext cx="3063240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首日销量 ≥ 30 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" y="2816352"/>
            <a:ext cx="1874519" cy="6400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2816352"/>
            <a:ext cx="1874519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10/14—15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50008" y="2816352"/>
            <a:ext cx="3154680" cy="6400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50008" y="2816352"/>
            <a:ext cx="3154680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推进早鸟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04688" y="2816352"/>
            <a:ext cx="3154680" cy="6400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04688" y="2816352"/>
            <a:ext cx="3154680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确定主要意向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59367" y="2816352"/>
            <a:ext cx="3063240" cy="6400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59367" y="2816352"/>
            <a:ext cx="3063240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至少 1 家战略，或 3 家特别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" y="3456431"/>
            <a:ext cx="1874519" cy="64008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3456431"/>
            <a:ext cx="1874519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10/16—17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50008" y="3456431"/>
            <a:ext cx="3154680" cy="64008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50008" y="3456431"/>
            <a:ext cx="3154680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第二波推文，讲讲座看点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04688" y="3456431"/>
            <a:ext cx="3154680" cy="64008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04688" y="3456431"/>
            <a:ext cx="3154680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发出合同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核对开票信息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59367" y="3456431"/>
            <a:ext cx="3063240" cy="64008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59367" y="3456431"/>
            <a:ext cx="3063240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门票 ≥ 49 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" y="4096511"/>
            <a:ext cx="1874519" cy="6400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" y="4096511"/>
            <a:ext cx="1874519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10/18—20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50008" y="4096511"/>
            <a:ext cx="3154680" cy="6400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50008" y="4096511"/>
            <a:ext cx="3154680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早鸟倒计时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04688" y="4096511"/>
            <a:ext cx="3154680" cy="6400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04688" y="4096511"/>
            <a:ext cx="3154680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签约并催款到账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59367" y="4096511"/>
            <a:ext cx="3063240" cy="64008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59367" y="4096511"/>
            <a:ext cx="3063240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门票 ≥ 98；到账 ≥ 3 万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" y="4736592"/>
            <a:ext cx="1874519" cy="64008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" y="4736592"/>
            <a:ext cx="1874519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10/21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50008" y="4736592"/>
            <a:ext cx="3154680" cy="64008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50008" y="4736592"/>
            <a:ext cx="3154680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切换为 699 元标准价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04688" y="4736592"/>
            <a:ext cx="3154680" cy="64008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04688" y="4736592"/>
            <a:ext cx="3154680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收集 LOGO、简介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和参会名单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59367" y="4736592"/>
            <a:ext cx="3063240" cy="64008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59367" y="4736592"/>
            <a:ext cx="3063240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物料素材齐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5488" y="5376671"/>
            <a:ext cx="1874519" cy="640080"/>
          </a:xfrm>
          <a:prstGeom prst="rect">
            <a:avLst/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5488" y="5376671"/>
            <a:ext cx="1874519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10/22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50008" y="5376671"/>
            <a:ext cx="3154680" cy="640080"/>
          </a:xfrm>
          <a:prstGeom prst="rect">
            <a:avLst/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50008" y="5376671"/>
            <a:ext cx="3154680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是否继续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04688" y="5376671"/>
            <a:ext cx="3154680" cy="640080"/>
          </a:xfrm>
          <a:prstGeom prst="rect">
            <a:avLst/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04688" y="5376671"/>
            <a:ext cx="3154680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按到账金额重算保本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59367" y="5376671"/>
            <a:ext cx="3063240" cy="640080"/>
          </a:xfrm>
          <a:prstGeom prst="rect">
            <a:avLst/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59367" y="5376671"/>
            <a:ext cx="3063240" cy="64008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看决策页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5488" y="6126479"/>
            <a:ext cx="11247120" cy="38404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意向书或微信书面确认算意向；没有到账，就不算赞助收入。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落地方案  ·  时间表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决策日之后，一直做到结案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10  / 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52144"/>
            <a:ext cx="1874519" cy="384048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152144"/>
            <a:ext cx="1874519" cy="38404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日期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0008" y="1152144"/>
            <a:ext cx="3154680" cy="384048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0008" y="1152144"/>
            <a:ext cx="3154680" cy="38404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门票线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04688" y="1152144"/>
            <a:ext cx="3154680" cy="384048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04688" y="1152144"/>
            <a:ext cx="3154680" cy="38404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赞助线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59367" y="1152144"/>
            <a:ext cx="3063240" cy="384048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9367" y="1152144"/>
            <a:ext cx="3063240" cy="38404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检查点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1536192"/>
            <a:ext cx="1874519" cy="71323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1536192"/>
            <a:ext cx="1874519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10/23—25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0008" y="1536192"/>
            <a:ext cx="3154680" cy="71323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0008" y="1536192"/>
            <a:ext cx="3154680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企业团体票冲刺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4688" y="1536192"/>
            <a:ext cx="3154680" cy="71323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04688" y="1536192"/>
            <a:ext cx="3154680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赞助物料定稿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59367" y="1536192"/>
            <a:ext cx="3063240" cy="71323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59367" y="1536192"/>
            <a:ext cx="3063240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背景板、易拉宝、鸣谢页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2249424"/>
            <a:ext cx="1874519" cy="71323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249424"/>
            <a:ext cx="1874519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10/26—28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50008" y="2249424"/>
            <a:ext cx="3154680" cy="71323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50008" y="2249424"/>
            <a:ext cx="3154680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最后一波推广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发参会须知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04688" y="2249424"/>
            <a:ext cx="3154680" cy="71323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04688" y="2249424"/>
            <a:ext cx="3154680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物料下单制作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59367" y="2249424"/>
            <a:ext cx="3063240" cy="71323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9367" y="2249424"/>
            <a:ext cx="3063240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达到重算后的保本线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" y="2962656"/>
            <a:ext cx="1874519" cy="71323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2962656"/>
            <a:ext cx="1874519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10/29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50008" y="2962656"/>
            <a:ext cx="3154680" cy="71323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50008" y="2962656"/>
            <a:ext cx="3154680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停售，锁定名单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04688" y="2962656"/>
            <a:ext cx="3154680" cy="71323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04688" y="2962656"/>
            <a:ext cx="3154680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锁定赞助席位名单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59367" y="2962656"/>
            <a:ext cx="3063240" cy="71323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59367" y="2962656"/>
            <a:ext cx="3063240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座位表定稿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" y="3675887"/>
            <a:ext cx="1874519" cy="71323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3675887"/>
            <a:ext cx="1874519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10/30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50008" y="3675887"/>
            <a:ext cx="3154680" cy="71323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50008" y="3675887"/>
            <a:ext cx="3154680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场地彩排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04688" y="3675887"/>
            <a:ext cx="3154680" cy="71323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04688" y="3675887"/>
            <a:ext cx="3154680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物料进场布置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59367" y="3675887"/>
            <a:ext cx="3063240" cy="71323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59367" y="3675887"/>
            <a:ext cx="3063240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设备全部试一遍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" y="4389120"/>
            <a:ext cx="1874519" cy="713232"/>
          </a:xfrm>
          <a:prstGeom prst="rect">
            <a:avLst/>
          </a:prstGeom>
          <a:solidFill>
            <a:srgbClr val="F8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" y="4389120"/>
            <a:ext cx="1874519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10/31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50008" y="4389120"/>
            <a:ext cx="3154680" cy="713232"/>
          </a:xfrm>
          <a:prstGeom prst="rect">
            <a:avLst/>
          </a:prstGeom>
          <a:solidFill>
            <a:srgbClr val="F8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50008" y="4389120"/>
            <a:ext cx="3154680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活动当天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04688" y="4389120"/>
            <a:ext cx="3154680" cy="713232"/>
          </a:xfrm>
          <a:prstGeom prst="rect">
            <a:avLst/>
          </a:prstGeom>
          <a:solidFill>
            <a:srgbClr val="F8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04688" y="4389120"/>
            <a:ext cx="3154680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现场兑现权益并拍照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59367" y="4389120"/>
            <a:ext cx="3063240" cy="713232"/>
          </a:xfrm>
          <a:prstGeom prst="rect">
            <a:avLst/>
          </a:prstGeom>
          <a:solidFill>
            <a:srgbClr val="F8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59367" y="4389120"/>
            <a:ext cx="3063240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按当天流程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" y="5102352"/>
            <a:ext cx="1874519" cy="713232"/>
          </a:xfrm>
          <a:prstGeom prst="rect">
            <a:avLst/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" y="5102352"/>
            <a:ext cx="1874519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11/1—7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50008" y="5102352"/>
            <a:ext cx="3154680" cy="713232"/>
          </a:xfrm>
          <a:prstGeom prst="rect">
            <a:avLst/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50008" y="5102352"/>
            <a:ext cx="3154680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讲师尾款、开票、复盘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04688" y="5102352"/>
            <a:ext cx="3154680" cy="713232"/>
          </a:xfrm>
          <a:prstGeom prst="rect">
            <a:avLst/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04688" y="5102352"/>
            <a:ext cx="3154680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发出赞助结案报告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59367" y="5102352"/>
            <a:ext cx="3063240" cy="713232"/>
          </a:xfrm>
          <a:prstGeom prst="rect">
            <a:avLst/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59367" y="5102352"/>
            <a:ext cx="3063240" cy="713232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11 月 7 日前完成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5488" y="5989320"/>
            <a:ext cx="11247120" cy="38404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10 月 20 日之后才签约的赞助，背景板能否加 LOGO，看制作进度。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落地方案  ·  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只拿已到账的赞助重算保本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11  / 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152144"/>
            <a:ext cx="11247120" cy="1097280"/>
          </a:xfrm>
          <a:prstGeom prst="roundRect">
            <a:avLst>
              <a:gd name="adj" fmla="val 8000"/>
            </a:avLst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280160"/>
            <a:ext cx="10881360" cy="84124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保本张数  =  （讲师费 − 已到账赞助 × 94%）÷ 619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口头意向不进入这个公式。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2432304"/>
            <a:ext cx="11247120" cy="1152144"/>
          </a:xfrm>
          <a:prstGeom prst="roundRect">
            <a:avLst>
              <a:gd name="adj" fmla="val 8000"/>
            </a:avLst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578608"/>
            <a:ext cx="4846320" cy="859536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3A32"/>
                </a:solidFill>
                <a:latin typeface="微软雅黑"/>
                <a:ea typeface="微软雅黑"/>
                <a:cs typeface="微软雅黑"/>
              </a:rPr>
              <a:t>≥ 保本张数的 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560320"/>
            <a:ext cx="5852160" cy="38404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正常推进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962656"/>
            <a:ext cx="5852160" cy="47548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维持现有票价和推广节奏。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3694176"/>
            <a:ext cx="11247120" cy="1152144"/>
          </a:xfrm>
          <a:prstGeom prst="roundRect">
            <a:avLst>
              <a:gd name="adj" fmla="val 8000"/>
            </a:avLst>
          </a:prstGeom>
          <a:solidFill>
            <a:srgbClr val="F8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840480"/>
            <a:ext cx="4846320" cy="859536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保本张数的 50%—60%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822191"/>
            <a:ext cx="5852160" cy="38404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加推，并继续追赞助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4224528"/>
            <a:ext cx="5852160" cy="47548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C、D 加推企业团体票，A 追还没到账的赞助。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4956048"/>
            <a:ext cx="11247120" cy="1152144"/>
          </a:xfrm>
          <a:prstGeom prst="roundRect">
            <a:avLst>
              <a:gd name="adj" fmla="val 8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5102352"/>
            <a:ext cx="4846320" cy="859536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低于保本张数的 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5084064"/>
            <a:ext cx="5852160" cy="38404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改条件，否则取消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5486400"/>
            <a:ext cx="5852160" cy="47548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与讲师方改成分成或降低讲师费。谈不成就取消，按规则全额退款。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落地方案  ·  当天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三小时怎么过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12  / 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33856"/>
            <a:ext cx="11247120" cy="53035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133856"/>
            <a:ext cx="1234440" cy="53035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133856"/>
            <a:ext cx="8138160" cy="53035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全员到场，检查音响、投影、话筒、签到台、背景板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4120" y="1133856"/>
            <a:ext cx="1463040" cy="53035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1700784"/>
            <a:ext cx="11247120" cy="53035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700784"/>
            <a:ext cx="1234440" cy="53035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08:00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1700784"/>
            <a:ext cx="8138160" cy="53035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赞助企业接待区就位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20" y="1700784"/>
            <a:ext cx="1463040" cy="53035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2267712"/>
            <a:ext cx="11247120" cy="53035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267712"/>
            <a:ext cx="1234440" cy="53035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08:15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267712"/>
            <a:ext cx="8138160" cy="53035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签到核销，发讲义，引导入座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2267712"/>
            <a:ext cx="1463040" cy="53035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C、D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2834639"/>
            <a:ext cx="11247120" cy="53035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834639"/>
            <a:ext cx="1234440" cy="53035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09:00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2834639"/>
            <a:ext cx="8138160" cy="53035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主持开场，介绍主办单位，鸣谢赞助单位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20" y="2834639"/>
            <a:ext cx="1463040" cy="53035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3401568"/>
            <a:ext cx="11247120" cy="530352"/>
          </a:xfrm>
          <a:prstGeom prst="rect">
            <a:avLst/>
          </a:prstGeom>
          <a:solidFill>
            <a:srgbClr val="F8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401568"/>
            <a:ext cx="1234440" cy="53035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09:05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3401568"/>
            <a:ext cx="8138160" cy="53035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第一讲：走进王阳明——心即理、致良知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3401568"/>
            <a:ext cx="1463040" cy="53035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讲座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" y="3968496"/>
            <a:ext cx="11247120" cy="53035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968496"/>
            <a:ext cx="1234440" cy="53035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10:20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3968496"/>
            <a:ext cx="8138160" cy="53035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茶歇 20 分钟，赞助企业展示与交流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3968496"/>
            <a:ext cx="1463040" cy="53035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" y="4535424"/>
            <a:ext cx="11247120" cy="530352"/>
          </a:xfrm>
          <a:prstGeom prst="rect">
            <a:avLst/>
          </a:prstGeom>
          <a:solidFill>
            <a:srgbClr val="F8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4535424"/>
            <a:ext cx="1234440" cy="53035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10:40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19" y="4535424"/>
            <a:ext cx="8138160" cy="53035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第二讲：知行合一——在不确定的时代践行心学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20" y="4535424"/>
            <a:ext cx="1463040" cy="53035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讲座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" y="5102352"/>
            <a:ext cx="11247120" cy="53035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5102352"/>
            <a:ext cx="1234440" cy="53035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11:40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5102352"/>
            <a:ext cx="8138160" cy="53035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现场问答。问题提前在群里征集，主持人筛选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04120" y="5102352"/>
            <a:ext cx="1463040" cy="53035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" y="5669280"/>
            <a:ext cx="11247120" cy="53035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5669280"/>
            <a:ext cx="1234440" cy="53035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12:00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74519" y="5669280"/>
            <a:ext cx="8138160" cy="53035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合影以讲师同意为准，引导离场，扫码入群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04120" y="5669280"/>
            <a:ext cx="1463040" cy="53035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B、C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落地方案  ·  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退费写清楚，风险有人接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13  /  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133856"/>
            <a:ext cx="5486400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写在报名页上的退费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499616"/>
            <a:ext cx="5532120" cy="1005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09343"/>
            <a:ext cx="521208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10/24  24:00 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38528"/>
            <a:ext cx="5212080" cy="42062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全额退款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2615184"/>
            <a:ext cx="5532120" cy="1005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24912"/>
            <a:ext cx="521208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10/25—10/29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54096"/>
            <a:ext cx="5212080" cy="42062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退 80%，或免费转让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3730752"/>
            <a:ext cx="5532120" cy="1005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521208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10/30 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9664"/>
            <a:ext cx="5212080" cy="42062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不退款，仍可转让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4846320"/>
            <a:ext cx="5532120" cy="1005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56048"/>
            <a:ext cx="521208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讲师或主办方取消、改期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85231"/>
            <a:ext cx="5212080" cy="42062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全额退款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133856"/>
            <a:ext cx="5486400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事先写明的风险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499616"/>
            <a:ext cx="5504688" cy="585216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1499616"/>
            <a:ext cx="5248656" cy="27432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讲师临时取消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1755648"/>
            <a:ext cx="5248656" cy="29260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合同写明已付款项全额退还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139696"/>
            <a:ext cx="5504688" cy="585216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39696"/>
            <a:ext cx="5248656" cy="27432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复旦名义未获校内同意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2395728"/>
            <a:ext cx="5248656" cy="29260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改列学术支持单位，不收费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779776"/>
            <a:ext cx="5504688" cy="585216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45936" y="2779776"/>
            <a:ext cx="5248656" cy="27432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销量不足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3035808"/>
            <a:ext cx="5248656" cy="29260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10/22 处理，不硬撑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419855"/>
            <a:ext cx="5504688" cy="585216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3419855"/>
            <a:ext cx="5248656" cy="27432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赞助谈好但未到账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3675887"/>
            <a:ext cx="5248656" cy="29260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只按到账金额做支出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059935"/>
            <a:ext cx="5504688" cy="585216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5936" y="4059935"/>
            <a:ext cx="5248656" cy="27432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未确认权益被写进宣传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4315968"/>
            <a:ext cx="5248656" cy="29260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签名书、合影、问答确认前不写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700016"/>
            <a:ext cx="5504688" cy="585216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4700016"/>
            <a:ext cx="5248656" cy="27432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现场超员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4956048"/>
            <a:ext cx="5248656" cy="29260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按核定人数售票，不卖站票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5340095"/>
            <a:ext cx="5504688" cy="585216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45936" y="5340095"/>
            <a:ext cx="5248656" cy="27432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与书院主课价格冲突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45936" y="5596127"/>
            <a:ext cx="5248656" cy="29260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称公开讲座；群内不报主课价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价值实施  ·  四方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每一方要什么、交什么、如何证明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14  / 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88720"/>
            <a:ext cx="1965960" cy="420624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188720"/>
            <a:ext cx="1965960" cy="420624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对象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41448" y="1188720"/>
            <a:ext cx="3154680" cy="420624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188720"/>
            <a:ext cx="3154680" cy="420624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他们要什么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96128" y="1188720"/>
            <a:ext cx="3520440" cy="420624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6128" y="1188720"/>
            <a:ext cx="3520440" cy="420624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我们交付什么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16568" y="1188720"/>
            <a:ext cx="2606040" cy="420624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8" y="1188720"/>
            <a:ext cx="2606040" cy="420624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怎么证明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1609344"/>
            <a:ext cx="1965960" cy="96012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1609344"/>
            <a:ext cx="1965960" cy="96012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听众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41448" y="1609344"/>
            <a:ext cx="3154680" cy="96012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41448" y="1609344"/>
            <a:ext cx="3154680" cy="96012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值回票价，现场听到网上没有的内容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96128" y="1609344"/>
            <a:ext cx="3520440" cy="96012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96128" y="1609344"/>
            <a:ext cx="3520440" cy="96012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3 小时讲座、茶歇、讲义、问答、交流群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16568" y="1609344"/>
            <a:ext cx="2606040" cy="96012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6568" y="1609344"/>
            <a:ext cx="2606040" cy="96012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满意度、到场率、入群率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2569464"/>
            <a:ext cx="1965960" cy="96012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569464"/>
            <a:ext cx="1965960" cy="96012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赞助企业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41448" y="2569464"/>
            <a:ext cx="3154680" cy="96012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41448" y="2569464"/>
            <a:ext cx="3154680" cy="96012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品牌曝光、接待客户、高管学习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96128" y="2569464"/>
            <a:ext cx="3520440" cy="96012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96128" y="2569464"/>
            <a:ext cx="3520440" cy="96012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展示、席位、鸣谢、推文、结案报告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16568" y="2569464"/>
            <a:ext cx="2606040" cy="96012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16568" y="2569464"/>
            <a:ext cx="2606040" cy="96012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照片、阅读量、到场人数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" y="3529584"/>
            <a:ext cx="1965960" cy="96012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3529584"/>
            <a:ext cx="1965960" cy="96012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主办机构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41448" y="3529584"/>
            <a:ext cx="3154680" cy="96012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41448" y="3529584"/>
            <a:ext cx="3154680" cy="96012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影响力、会员服务、企业资源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96128" y="3529584"/>
            <a:ext cx="3520440" cy="96012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96128" y="3529584"/>
            <a:ext cx="3520440" cy="96012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联合露出、会员团体价、名单沉淀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16568" y="3529584"/>
            <a:ext cx="2606040" cy="96012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16568" y="3529584"/>
            <a:ext cx="2606040" cy="96012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参会企业名单与合作线索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" y="4489704"/>
            <a:ext cx="1965960" cy="96012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4489704"/>
            <a:ext cx="1965960" cy="96012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讲师与书院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41448" y="4489704"/>
            <a:ext cx="3154680" cy="96012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41448" y="4489704"/>
            <a:ext cx="3154680" cy="96012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讲师费、影响力、口碑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96128" y="4489704"/>
            <a:ext cx="3520440" cy="96012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96128" y="4489704"/>
            <a:ext cx="3520440" cy="96012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按时付款、规范组织、专业现场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16568" y="4489704"/>
            <a:ext cx="2606040" cy="96012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16568" y="4489704"/>
            <a:ext cx="2606040" cy="96012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按期履约、现场秩序与反馈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" y="5623560"/>
            <a:ext cx="11247120" cy="6858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价值要能被指出来。没有照片、名单或问卷的权益，结案时不算兑现。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录音录像不作为交付，除非讲师书面同意。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价值实施  ·  听众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699 元要让人带走五样东西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15  / 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70432"/>
            <a:ext cx="1554480" cy="402336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170432"/>
            <a:ext cx="1554480" cy="402336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价值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29967" y="1170432"/>
            <a:ext cx="5623560" cy="402336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29967" y="1170432"/>
            <a:ext cx="5623560" cy="402336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具体做法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53528" y="1170432"/>
            <a:ext cx="1234440" cy="402336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53528" y="1170432"/>
            <a:ext cx="1234440" cy="402336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负责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87968" y="1170432"/>
            <a:ext cx="2834640" cy="402336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7968" y="1170432"/>
            <a:ext cx="2834640" cy="402336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时间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1572768"/>
            <a:ext cx="1554480" cy="84124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1572768"/>
            <a:ext cx="1554480" cy="84124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听得懂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29967" y="1572768"/>
            <a:ext cx="5623560" cy="84124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29967" y="1572768"/>
            <a:ext cx="5623560" cy="84124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会前 3 天发 1 页导读：心即理、致良知、知行合一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53528" y="1572768"/>
            <a:ext cx="1234440" cy="84124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53528" y="1572768"/>
            <a:ext cx="1234440" cy="84124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87968" y="1572768"/>
            <a:ext cx="2834640" cy="84124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7968" y="1572768"/>
            <a:ext cx="2834640" cy="84124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10/28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2414016"/>
            <a:ext cx="1554480" cy="84124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414016"/>
            <a:ext cx="1554480" cy="84124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带得走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29967" y="2414016"/>
            <a:ext cx="5623560" cy="84124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9967" y="2414016"/>
            <a:ext cx="5623560" cy="84124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纸质讲义：提纲、名句摘录、笔记页。内容须讲师确认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53528" y="2414016"/>
            <a:ext cx="1234440" cy="84124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53528" y="2414016"/>
            <a:ext cx="1234440" cy="84124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B、D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87968" y="2414016"/>
            <a:ext cx="2834640" cy="84124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87968" y="2414016"/>
            <a:ext cx="2834640" cy="84124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10/28 定稿，10/29 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" y="3255264"/>
            <a:ext cx="1554480" cy="84124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3255264"/>
            <a:ext cx="1554480" cy="84124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问得到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29967" y="3255264"/>
            <a:ext cx="5623560" cy="84124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29967" y="3255264"/>
            <a:ext cx="5623560" cy="84124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群里征集问题，主持人筛选 5—8 个，现场问答 20 分钟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53528" y="3255264"/>
            <a:ext cx="1234440" cy="84124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53528" y="3255264"/>
            <a:ext cx="1234440" cy="84124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A、C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87968" y="3255264"/>
            <a:ext cx="2834640" cy="84124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87968" y="3255264"/>
            <a:ext cx="2834640" cy="84124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10/26 起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" y="4096512"/>
            <a:ext cx="1554480" cy="84124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4096512"/>
            <a:ext cx="1554480" cy="84124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有交流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29967" y="4096512"/>
            <a:ext cx="5623560" cy="84124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29967" y="4096512"/>
            <a:ext cx="5623560" cy="84124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茶歇 20 分钟，分科技、金融、制造、教育四张交流桌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53528" y="4096512"/>
            <a:ext cx="1234440" cy="84124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53528" y="4096512"/>
            <a:ext cx="1234440" cy="84124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87968" y="4096512"/>
            <a:ext cx="2834640" cy="84124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87968" y="4096512"/>
            <a:ext cx="2834640" cy="84124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10/30 布置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" y="4937760"/>
            <a:ext cx="1554480" cy="84124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" y="4937760"/>
            <a:ext cx="1554480" cy="84124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有后续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29967" y="4937760"/>
            <a:ext cx="5623560" cy="84124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29967" y="4937760"/>
            <a:ext cx="5623560" cy="84124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会后交流群。3 天内发要点；无书面同意不发录音录像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53528" y="4937760"/>
            <a:ext cx="1234440" cy="84124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53528" y="4937760"/>
            <a:ext cx="1234440" cy="84124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B、C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87968" y="4937760"/>
            <a:ext cx="2834640" cy="84124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87968" y="4937760"/>
            <a:ext cx="2834640" cy="84124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11/3 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5488" y="5943600"/>
            <a:ext cx="11247120" cy="38404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一场听完就走的讲座撑不起 699 元。讲义内容未确认前，海报上不写具体篇目。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价值实施  ·  主办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三家主办，各做各的事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16  / 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152144"/>
            <a:ext cx="3657600" cy="3977639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98448"/>
            <a:ext cx="3328416" cy="8229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复旦大学住房政策研究中心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57984"/>
            <a:ext cx="3328416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学术主办，或学术支持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3328416" cy="214884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以学术主办或学术支持出现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体现城市与人文的交叉研究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不承担收费责任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校内未同意则改列支持单位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152144"/>
            <a:ext cx="3657600" cy="3977639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1298448"/>
            <a:ext cx="3328416" cy="8229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上海市杨浦区科技企业联合会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3" y="2157984"/>
            <a:ext cx="3328416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会员入口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3" y="2651760"/>
            <a:ext cx="3328416" cy="214884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会员享团体价 599 元/人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赞助优先从会员企业开发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作为年度会员服务活动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沉淀参会企业与合作线索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152144"/>
            <a:ext cx="3657600" cy="3977639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298448"/>
            <a:ext cx="3328416" cy="8229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首乾书院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157984"/>
            <a:ext cx="3328416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讲师资源方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651760"/>
            <a:ext cx="3328416" cy="214884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提供讲师，获得讲师费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同时获得品牌曝光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不在交流群里报主课价格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主课与本场公开讲座分开说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528523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5394960"/>
            <a:ext cx="10881360" cy="80467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交流群由我方建群并担任群主，首乾书院担任管理员。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群内不报主课价格，对外只称公开讲座，不称体验课。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价值实施  ·  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结束后一周，用八个数复盘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17  / 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188720"/>
            <a:ext cx="2798064" cy="217627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335024"/>
            <a:ext cx="2505456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到场率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719072"/>
            <a:ext cx="2505456" cy="7132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≥ 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606040"/>
            <a:ext cx="2505456" cy="53035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签到核销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188720"/>
            <a:ext cx="2798064" cy="217627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1335024"/>
            <a:ext cx="2505456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满意度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1719072"/>
            <a:ext cx="2505456" cy="7132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≥ 4.5 /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606040"/>
            <a:ext cx="2505456" cy="53035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会后扫码，3 道题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1188720"/>
            <a:ext cx="2798064" cy="217627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335024"/>
            <a:ext cx="2505456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愿意再参加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1719072"/>
            <a:ext cx="2505456" cy="7132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≥ 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606040"/>
            <a:ext cx="2505456" cy="53035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同一份问卷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53728" y="1188720"/>
            <a:ext cx="2798064" cy="217627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0032" y="1335024"/>
            <a:ext cx="2505456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入群率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1719072"/>
            <a:ext cx="2505456" cy="7132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≥ 80%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2606040"/>
            <a:ext cx="2505456" cy="53035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入群人数 ÷ 到场人数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3520439"/>
            <a:ext cx="2798064" cy="217627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3666744"/>
            <a:ext cx="2505456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开售推文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4050791"/>
            <a:ext cx="2505456" cy="7132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≥ 5,000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4937759"/>
            <a:ext cx="2505456" cy="53035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公众号阅读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01568" y="3520439"/>
            <a:ext cx="2798064" cy="217627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47872" y="3666744"/>
            <a:ext cx="2505456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企业团体票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47872" y="4050791"/>
            <a:ext cx="2505456" cy="7132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≥ 20 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47872" y="4937759"/>
            <a:ext cx="2505456" cy="53035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票务系统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27648" y="3520439"/>
            <a:ext cx="2798064" cy="217627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3666744"/>
            <a:ext cx="2505456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赞助续约意向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4050791"/>
            <a:ext cx="2505456" cy="7132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≥ 50%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4937759"/>
            <a:ext cx="2505456" cy="53035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结案回访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53728" y="3520439"/>
            <a:ext cx="2798064" cy="217627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00032" y="3666744"/>
            <a:ext cx="2505456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新增合作线索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0032" y="4050791"/>
            <a:ext cx="2505456" cy="7132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≥ 10 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00032" y="4937759"/>
            <a:ext cx="2505456" cy="53035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拜访记录与现场交流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赞助落地  · 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卖的是一次完整合作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18  / 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152144"/>
            <a:ext cx="11247120" cy="1325880"/>
          </a:xfrm>
          <a:prstGeom prst="roundRect">
            <a:avLst>
              <a:gd name="adj" fmla="val 8000"/>
            </a:avLst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280160"/>
            <a:ext cx="10881360" cy="107899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不卖 LOGO 位置。卖正式席位、现场展示和活动传播。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企业可以派管理层来学习，也可以邀请重要客户。不设 5—10 万元总冠名。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2670048"/>
            <a:ext cx="3657600" cy="27432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798064"/>
            <a:ext cx="3291840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战略支持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108960"/>
            <a:ext cx="3291840" cy="64008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3 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785615"/>
            <a:ext cx="3291840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元    ·    限 1 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69663"/>
            <a:ext cx="3291840" cy="10515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4 个前排席位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背景板单独大标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开场单独鸣谢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2670048"/>
            <a:ext cx="3657600" cy="27432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2798064"/>
            <a:ext cx="3291840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特别支持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108960"/>
            <a:ext cx="3291840" cy="64008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 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3785615"/>
            <a:ext cx="3291840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元    ·    2—3 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4169663"/>
            <a:ext cx="3291840" cy="10515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2 个讲座席位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背景板中等标识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合并鸣谢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2670048"/>
            <a:ext cx="3657600" cy="27432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5" y="2798064"/>
            <a:ext cx="3291840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3A32"/>
                </a:solidFill>
                <a:latin typeface="微软雅黑"/>
                <a:ea typeface="微软雅黑"/>
                <a:cs typeface="微软雅黑"/>
              </a:rPr>
              <a:t>品牌支持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5" y="3108960"/>
            <a:ext cx="3291840" cy="64008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5,000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3785615"/>
            <a:ext cx="3291840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元    ·    3—5 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4169663"/>
            <a:ext cx="3291840" cy="10515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 个讲座席位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背景板小标并列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合并鸣谢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5559552"/>
            <a:ext cx="11247120" cy="7498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门槛定低、家数做多，是为了在 10 天内签下来。现金目标：6 万保底，8 万争取。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实物支持另计，不进现金目标。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赞助落地  ·  权益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权益逐项写死，不靠口头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19  / 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33856"/>
            <a:ext cx="2011680" cy="402336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133856"/>
            <a:ext cx="2011680" cy="402336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权益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7168" y="1133856"/>
            <a:ext cx="3200400" cy="402336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1133856"/>
            <a:ext cx="3200400" cy="402336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战略支持 · 3 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87568" y="1133856"/>
            <a:ext cx="3017520" cy="402336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87568" y="1133856"/>
            <a:ext cx="3017520" cy="402336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特别支持 · 1 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05088" y="1133856"/>
            <a:ext cx="3017520" cy="402336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05088" y="1133856"/>
            <a:ext cx="3017520" cy="402336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品牌支持 · 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1536192"/>
            <a:ext cx="2011680" cy="4572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1536192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数量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7168" y="1536192"/>
            <a:ext cx="3200400" cy="457200"/>
          </a:xfrm>
          <a:prstGeom prst="rect">
            <a:avLst/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87168" y="1536192"/>
            <a:ext cx="320040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限 1 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87568" y="1536192"/>
            <a:ext cx="3017520" cy="4572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87568" y="1536192"/>
            <a:ext cx="301752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2—3 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05088" y="1536192"/>
            <a:ext cx="3017520" cy="4572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05088" y="1536192"/>
            <a:ext cx="301752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3—5 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1993391"/>
            <a:ext cx="2011680" cy="4572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1993391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讲座席位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87168" y="1993391"/>
            <a:ext cx="3200400" cy="457200"/>
          </a:xfrm>
          <a:prstGeom prst="rect">
            <a:avLst/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87168" y="1993391"/>
            <a:ext cx="320040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4 席，安排前排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87568" y="1993391"/>
            <a:ext cx="3017520" cy="4572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87568" y="1993391"/>
            <a:ext cx="301752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2 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05088" y="1993391"/>
            <a:ext cx="3017520" cy="4572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05088" y="1993391"/>
            <a:ext cx="301752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 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" y="2450591"/>
            <a:ext cx="2011680" cy="4572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2450591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主背景板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87168" y="2450591"/>
            <a:ext cx="3200400" cy="457200"/>
          </a:xfrm>
          <a:prstGeom prst="rect">
            <a:avLst/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87168" y="2450591"/>
            <a:ext cx="320040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大尺寸，单独位置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87568" y="2450591"/>
            <a:ext cx="3017520" cy="4572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87568" y="2450591"/>
            <a:ext cx="301752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中尺寸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05088" y="2450591"/>
            <a:ext cx="3017520" cy="4572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2450591"/>
            <a:ext cx="301752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小尺寸，并列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" y="2907791"/>
            <a:ext cx="2011680" cy="4572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2907791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开场鸣谢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87168" y="2907791"/>
            <a:ext cx="3200400" cy="457200"/>
          </a:xfrm>
          <a:prstGeom prst="rect">
            <a:avLst/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87168" y="2907791"/>
            <a:ext cx="320040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单独鸣谢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87568" y="2907791"/>
            <a:ext cx="3017520" cy="4572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87568" y="2907791"/>
            <a:ext cx="301752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合并鸣谢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05088" y="2907791"/>
            <a:ext cx="3017520" cy="4572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05088" y="2907791"/>
            <a:ext cx="301752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合并鸣谢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" y="3364991"/>
            <a:ext cx="2011680" cy="4572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" y="3364991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PPT 鸣谢页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87168" y="3364991"/>
            <a:ext cx="3200400" cy="457200"/>
          </a:xfrm>
          <a:prstGeom prst="rect">
            <a:avLst/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87168" y="3364991"/>
            <a:ext cx="320040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单独一页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87568" y="3364991"/>
            <a:ext cx="3017520" cy="4572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87568" y="3364991"/>
            <a:ext cx="301752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合并一页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705088" y="3364991"/>
            <a:ext cx="3017520" cy="4572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05088" y="3364991"/>
            <a:ext cx="301752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合并一页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" y="3822191"/>
            <a:ext cx="2011680" cy="4572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" y="3822191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公众号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87168" y="3822191"/>
            <a:ext cx="3200400" cy="457200"/>
          </a:xfrm>
          <a:prstGeom prst="rect">
            <a:avLst/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87168" y="3822191"/>
            <a:ext cx="320040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开售＋会后，100 字简介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87568" y="3822191"/>
            <a:ext cx="3017520" cy="4572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87568" y="3822191"/>
            <a:ext cx="301752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会后 LOGO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05088" y="3822191"/>
            <a:ext cx="3017520" cy="4572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05088" y="3822191"/>
            <a:ext cx="301752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会后 LOGO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5488" y="4279392"/>
            <a:ext cx="2011680" cy="4572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5488" y="4279392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现场展示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487168" y="4279392"/>
            <a:ext cx="3200400" cy="457200"/>
          </a:xfrm>
          <a:prstGeom prst="rect">
            <a:avLst/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87168" y="4279392"/>
            <a:ext cx="320040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易拉宝 2 个＋茶歇展台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87568" y="4279392"/>
            <a:ext cx="3017520" cy="4572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87568" y="4279392"/>
            <a:ext cx="301752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易拉宝 1 个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05088" y="4279392"/>
            <a:ext cx="3017520" cy="4572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05088" y="4279392"/>
            <a:ext cx="301752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资料放入签到袋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5488" y="4736592"/>
            <a:ext cx="2011680" cy="4572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5488" y="4736592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茶歇交流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487168" y="4736592"/>
            <a:ext cx="3200400" cy="457200"/>
          </a:xfrm>
          <a:prstGeom prst="rect">
            <a:avLst/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487168" y="4736592"/>
            <a:ext cx="320040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负责人 3 分钟介绍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87568" y="4736592"/>
            <a:ext cx="3017520" cy="4572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687568" y="4736592"/>
            <a:ext cx="301752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705088" y="4736592"/>
            <a:ext cx="3017520" cy="4572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705088" y="4736592"/>
            <a:ext cx="301752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5488" y="5193792"/>
            <a:ext cx="2011680" cy="4572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5488" y="5193792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结案报告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487168" y="5193792"/>
            <a:ext cx="3200400" cy="457200"/>
          </a:xfrm>
          <a:prstGeom prst="rect">
            <a:avLst/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87168" y="5193792"/>
            <a:ext cx="320040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87568" y="5193792"/>
            <a:ext cx="3017520" cy="4572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87568" y="5193792"/>
            <a:ext cx="301752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有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705088" y="5193792"/>
            <a:ext cx="3017520" cy="457200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705088" y="5193792"/>
            <a:ext cx="3017520" cy="457200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有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5488" y="5742432"/>
            <a:ext cx="11247120" cy="64008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席位占用容量，不重复计票房。合影、签名书、闭门交流不是赞助权益，除非讲师书面同意。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茶歇 3 分钟介绍也要讲师和主办方同意。位置、尺寸、数量写入协议。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赞助落地  ·  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保底 6 万，争取 8 万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20  / 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152144"/>
            <a:ext cx="5669280" cy="35204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280160"/>
            <a:ext cx="5212080" cy="2743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保底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572768"/>
            <a:ext cx="5212080" cy="56692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6 万元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194560"/>
            <a:ext cx="5212080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10 个赠送席位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2651760"/>
            <a:ext cx="5230368" cy="512064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651760"/>
            <a:ext cx="2194560" cy="512064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战略支持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2651760"/>
            <a:ext cx="1280160" cy="512064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 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7" y="2651760"/>
            <a:ext cx="1554480" cy="512064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3 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" y="3236976"/>
            <a:ext cx="5230368" cy="512064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236976"/>
            <a:ext cx="2194560" cy="512064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特别支持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3236976"/>
            <a:ext cx="1280160" cy="512064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2 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7" y="3236976"/>
            <a:ext cx="1554480" cy="512064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2 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3822191"/>
            <a:ext cx="5230368" cy="512064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822191"/>
            <a:ext cx="2194560" cy="512064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品牌支持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3822191"/>
            <a:ext cx="1280160" cy="512064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2 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7" y="3822191"/>
            <a:ext cx="1554480" cy="512064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 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27648" y="1152144"/>
            <a:ext cx="5669280" cy="35204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1280160"/>
            <a:ext cx="5212080" cy="2743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3A32"/>
                </a:solidFill>
                <a:latin typeface="微软雅黑"/>
                <a:ea typeface="微软雅黑"/>
                <a:cs typeface="微软雅黑"/>
              </a:rPr>
              <a:t>争取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1572768"/>
            <a:ext cx="5212080" cy="56692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8 万元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2194560"/>
            <a:ext cx="5212080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14 个赠送席位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47104" y="2651760"/>
            <a:ext cx="5230368" cy="512064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6832" y="2651760"/>
            <a:ext cx="2194560" cy="512064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战略支持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96528" y="2651760"/>
            <a:ext cx="1280160" cy="512064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 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76688" y="2651760"/>
            <a:ext cx="1554480" cy="512064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3A32"/>
                </a:solidFill>
                <a:latin typeface="微软雅黑"/>
                <a:ea typeface="微软雅黑"/>
                <a:cs typeface="微软雅黑"/>
              </a:rPr>
              <a:t>3 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47104" y="3236976"/>
            <a:ext cx="5230368" cy="512064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3236976"/>
            <a:ext cx="2194560" cy="512064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特别支持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3236976"/>
            <a:ext cx="1280160" cy="512064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3 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76688" y="3236976"/>
            <a:ext cx="1554480" cy="512064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3A32"/>
                </a:solidFill>
                <a:latin typeface="微软雅黑"/>
                <a:ea typeface="微软雅黑"/>
                <a:cs typeface="微软雅黑"/>
              </a:rPr>
              <a:t>3 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47104" y="3822191"/>
            <a:ext cx="5230368" cy="512064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2" y="3822191"/>
            <a:ext cx="2194560" cy="512064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品牌支持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96528" y="3822191"/>
            <a:ext cx="1280160" cy="512064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4 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6688" y="3822191"/>
            <a:ext cx="1554480" cy="512064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3A32"/>
                </a:solidFill>
                <a:latin typeface="微软雅黑"/>
                <a:ea typeface="微软雅黑"/>
                <a:cs typeface="微软雅黑"/>
              </a:rPr>
              <a:t>2 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" y="4828032"/>
            <a:ext cx="11247120" cy="1481328"/>
          </a:xfrm>
          <a:prstGeom prst="roundRect">
            <a:avLst>
              <a:gd name="adj" fmla="val 8000"/>
            </a:avLst>
          </a:prstGeom>
          <a:solidFill>
            <a:srgbClr val="F8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956048"/>
            <a:ext cx="1088136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实物支持，不计入现金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" y="5321808"/>
            <a:ext cx="10881360" cy="80467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茶饮、茶歇点心、讲义印刷、伴手礼。提供实物的企业列为“特别鸣谢”，只做口头鸣谢和 PPT 鸣谢。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赞助落地  ·  企业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先找会员企业，再按行业开口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21  / 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152144"/>
            <a:ext cx="11247120" cy="89611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353312"/>
            <a:ext cx="493776" cy="493776"/>
          </a:xfrm>
          <a:prstGeom prst="roundRect">
            <a:avLst>
              <a:gd name="adj" fmla="val 20000"/>
            </a:avLst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35331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1261872"/>
            <a:ext cx="5760720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科技、人工智能企业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627632"/>
            <a:ext cx="5760720" cy="31089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联合会会员优先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261872"/>
            <a:ext cx="429768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1—3 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609344"/>
            <a:ext cx="429768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企业家成长，科技与人文，高管学习席位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139696"/>
            <a:ext cx="11247120" cy="89611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2340864"/>
            <a:ext cx="493776" cy="493776"/>
          </a:xfrm>
          <a:prstGeom prst="roundRect">
            <a:avLst>
              <a:gd name="adj" fmla="val 20000"/>
            </a:avLst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34086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2249424"/>
            <a:ext cx="5760720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企业服务、咨询、律所、会计所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2615184"/>
            <a:ext cx="5760720" cy="31089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听众就是客户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249424"/>
            <a:ext cx="429768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1—3 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596896"/>
            <a:ext cx="429768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现场这批人，就是他们的潜在客户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127248"/>
            <a:ext cx="11247120" cy="89611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328416"/>
            <a:ext cx="493776" cy="493776"/>
          </a:xfrm>
          <a:prstGeom prst="roundRect">
            <a:avLst>
              <a:gd name="adj" fmla="val 20000"/>
            </a:avLst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2841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3236976"/>
            <a:ext cx="5760720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金融、财富管理、私人银行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3602736"/>
            <a:ext cx="5760720" cy="31089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客户维护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236976"/>
            <a:ext cx="429768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1—3 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584448"/>
            <a:ext cx="429768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用来邀请和维护高净值客户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4114800"/>
            <a:ext cx="11247120" cy="89611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4315968"/>
            <a:ext cx="493776" cy="493776"/>
          </a:xfrm>
          <a:prstGeom prst="roundRect">
            <a:avLst>
              <a:gd name="adj" fmla="val 20000"/>
            </a:avLst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31596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4224528"/>
            <a:ext cx="5760720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高端茶叶、文化消费品牌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4590288"/>
            <a:ext cx="5760720" cy="31089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主题契合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4224528"/>
            <a:ext cx="429768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5,000—1 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4572000"/>
            <a:ext cx="429768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与心学主题契合，也可以兼做茶歇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" y="5102352"/>
            <a:ext cx="11247120" cy="89611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0080" y="5303520"/>
            <a:ext cx="493776" cy="493776"/>
          </a:xfrm>
          <a:prstGeom prst="roundRect">
            <a:avLst>
              <a:gd name="adj" fmla="val 20000"/>
            </a:avLst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30352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5212080"/>
            <a:ext cx="5760720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出版、书店、文创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98448" y="5577840"/>
            <a:ext cx="5760720" cy="31089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实物或小额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5212080"/>
            <a:ext cx="429768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实物或 5,000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5559552"/>
            <a:ext cx="429768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提供图书和文创伴手礼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赞助落地  ·  步骤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A 主谈，D 配合，10 月 20 日前到账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22  / 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133856"/>
            <a:ext cx="1691640" cy="5852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133856"/>
            <a:ext cx="1691640" cy="585216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10/10—12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1133856"/>
            <a:ext cx="5989320" cy="5852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14016" y="1133856"/>
            <a:ext cx="5742432" cy="585216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列出 20 家，发出一页纸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4192" y="1133856"/>
            <a:ext cx="3328416" cy="585216"/>
          </a:xfrm>
          <a:prstGeom prst="roundRect">
            <a:avLst>
              <a:gd name="adj" fmla="val 8000"/>
            </a:avLst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1133856"/>
            <a:ext cx="3145536" cy="585216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首轮触达 20 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792224"/>
            <a:ext cx="1691640" cy="5852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92224"/>
            <a:ext cx="1691640" cy="585216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10/13—15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1792224"/>
            <a:ext cx="5989320" cy="5852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14016" y="1792224"/>
            <a:ext cx="5742432" cy="585216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面谈，重点攻 1 家战略、3 家特别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94192" y="1792224"/>
            <a:ext cx="3328416" cy="585216"/>
          </a:xfrm>
          <a:prstGeom prst="roundRect">
            <a:avLst>
              <a:gd name="adj" fmla="val 8000"/>
            </a:avLst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1792224"/>
            <a:ext cx="3145536" cy="585216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确定主要意向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2450591"/>
            <a:ext cx="1691640" cy="585216"/>
          </a:xfrm>
          <a:prstGeom prst="roundRect">
            <a:avLst>
              <a:gd name="adj" fmla="val 8000"/>
            </a:avLst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450591"/>
            <a:ext cx="1691640" cy="585216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10/16—20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2450591"/>
            <a:ext cx="5989320" cy="5852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14016" y="2450591"/>
            <a:ext cx="5742432" cy="585216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发协议、核对开票、催款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94192" y="2450591"/>
            <a:ext cx="3328416" cy="585216"/>
          </a:xfrm>
          <a:prstGeom prst="roundRect">
            <a:avLst>
              <a:gd name="adj" fmla="val 8000"/>
            </a:avLst>
          </a:prstGeom>
          <a:solidFill>
            <a:srgbClr val="F8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85632" y="2450591"/>
            <a:ext cx="3145536" cy="585216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签约并且到账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3108960"/>
            <a:ext cx="1691640" cy="5852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108960"/>
            <a:ext cx="1691640" cy="585216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10/21—25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3108960"/>
            <a:ext cx="5989320" cy="5852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14016" y="3108960"/>
            <a:ext cx="5742432" cy="585216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收矢量 LOGO、简介、参会名单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94192" y="3108960"/>
            <a:ext cx="3328416" cy="585216"/>
          </a:xfrm>
          <a:prstGeom prst="roundRect">
            <a:avLst>
              <a:gd name="adj" fmla="val 8000"/>
            </a:avLst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5632" y="3108960"/>
            <a:ext cx="3145536" cy="585216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物料齐全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" y="3767328"/>
            <a:ext cx="1691640" cy="5852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3767328"/>
            <a:ext cx="1691640" cy="585216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10/26—30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0" y="3767328"/>
            <a:ext cx="5989320" cy="5852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14016" y="3767328"/>
            <a:ext cx="5742432" cy="585216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做背景板、易拉宝、鸣谢页，进场拍照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94192" y="3767328"/>
            <a:ext cx="3328416" cy="585216"/>
          </a:xfrm>
          <a:prstGeom prst="roundRect">
            <a:avLst>
              <a:gd name="adj" fmla="val 8000"/>
            </a:avLst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85632" y="3767328"/>
            <a:ext cx="3145536" cy="585216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赞助方确认布置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" y="4425696"/>
            <a:ext cx="1691640" cy="5852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4425696"/>
            <a:ext cx="1691640" cy="585216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10/31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86000" y="4425696"/>
            <a:ext cx="5989320" cy="5852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14016" y="4425696"/>
            <a:ext cx="5742432" cy="585216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现场兑现权益，专人拍照留证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94192" y="4425696"/>
            <a:ext cx="3328416" cy="585216"/>
          </a:xfrm>
          <a:prstGeom prst="roundRect">
            <a:avLst>
              <a:gd name="adj" fmla="val 8000"/>
            </a:avLst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85632" y="4425696"/>
            <a:ext cx="3145536" cy="585216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现场照片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5488" y="5084064"/>
            <a:ext cx="1691640" cy="5852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5084064"/>
            <a:ext cx="1691640" cy="585216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11/1—7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86000" y="5084064"/>
            <a:ext cx="5989320" cy="5852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14016" y="5084064"/>
            <a:ext cx="5742432" cy="585216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发结案报告，回访，谈下一场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94192" y="5084064"/>
            <a:ext cx="3328416" cy="585216"/>
          </a:xfrm>
          <a:prstGeom prst="roundRect">
            <a:avLst>
              <a:gd name="adj" fmla="val 8000"/>
            </a:avLst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85632" y="5084064"/>
            <a:ext cx="3145536" cy="585216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续约意向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" y="5852160"/>
            <a:ext cx="11247120" cy="5029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10 月 20 日之后签约，只能保证口头鸣谢、PPT 鸣谢和公众号露出。背景板能否加标识，视制作进度。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物料截止 10 月 25 日，逾期视为放弃相应权益。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赞助落地  ·  协议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协议写六条，账分四笔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23  / 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152144"/>
            <a:ext cx="6903720" cy="7315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152144"/>
            <a:ext cx="457200" cy="73152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52144"/>
            <a:ext cx="6126480" cy="73152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金额、10 月 20 日前付款，以及收款和开票主体。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1956816"/>
            <a:ext cx="6903720" cy="7315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956816"/>
            <a:ext cx="457200" cy="73152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956816"/>
            <a:ext cx="6126480" cy="73152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权益逐项列明：席位、LOGO 位置与尺寸、鸣谢、推文次数。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2761488"/>
            <a:ext cx="6903720" cy="7315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761488"/>
            <a:ext cx="457200" cy="73152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61488"/>
            <a:ext cx="6126480" cy="73152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物料截止 10 月 25 日，逾期视为放弃相应权益。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3566160"/>
            <a:ext cx="6903720" cy="7315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3566160"/>
            <a:ext cx="457200" cy="73152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566160"/>
            <a:ext cx="6126480" cy="73152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名称、标识和肖像以正式授权为准；不得单独用讲师肖像做宣传。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4370832"/>
            <a:ext cx="6903720" cy="7315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4370832"/>
            <a:ext cx="457200" cy="73152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370832"/>
            <a:ext cx="6126480" cy="73152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活动取消全额退款；改期可保留权益，或全额退款。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175504"/>
            <a:ext cx="6903720" cy="7315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5175504"/>
            <a:ext cx="457200" cy="73152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175504"/>
            <a:ext cx="6126480" cy="73152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现场不得销售产品，也不得派发与活动无关的广告。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1" y="1152144"/>
            <a:ext cx="411480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记账原则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71231" y="1554480"/>
            <a:ext cx="4151376" cy="1005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17536" y="1645920"/>
            <a:ext cx="3858768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分开记账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7536" y="1993391"/>
            <a:ext cx="3858768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赞助、门票、其他收入各记各的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71231" y="2670048"/>
            <a:ext cx="4151376" cy="1005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17536" y="2761488"/>
            <a:ext cx="3858768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席位另册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7536" y="3108960"/>
            <a:ext cx="3858768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赞助席位不计入门票销售张数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71231" y="3785615"/>
            <a:ext cx="4151376" cy="1005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17536" y="3877055"/>
            <a:ext cx="3858768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只认到账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17536" y="4224527"/>
            <a:ext cx="3858768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口头意向不进入保本线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71231" y="4901184"/>
            <a:ext cx="4151376" cy="1005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17536" y="4992624"/>
            <a:ext cx="3858768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不垫讲师费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17536" y="5340096"/>
            <a:ext cx="3858768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赞助款不用于提高讲师费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赞助落地  ·  结案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11 月 7 日前，每家一份结案报告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24  / 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152144"/>
            <a:ext cx="11247120" cy="84124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152144"/>
            <a:ext cx="731520" cy="84124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243584"/>
            <a:ext cx="2286000" cy="65836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活动概况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261872"/>
            <a:ext cx="7589520" cy="62179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到场人数，以及按报名信息统计的听众行业构成。不泄露个人信息。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2084832"/>
            <a:ext cx="11247120" cy="84124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084832"/>
            <a:ext cx="731520" cy="84124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176272"/>
            <a:ext cx="2286000" cy="65836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权益兑现清单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194560"/>
            <a:ext cx="7589520" cy="62179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逐项打勾，附背景板、易拉宝、鸣谢页和席位的现场照片。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3017520"/>
            <a:ext cx="11247120" cy="84124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017520"/>
            <a:ext cx="731520" cy="84124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108960"/>
            <a:ext cx="2286000" cy="65836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传播数据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127248"/>
            <a:ext cx="7589520" cy="62179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公众号推文阅读量和转发数。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50208"/>
            <a:ext cx="11247120" cy="84124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950208"/>
            <a:ext cx="731520" cy="84124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041648"/>
            <a:ext cx="2286000" cy="65836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听众反馈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059936"/>
            <a:ext cx="7589520" cy="62179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满意度摘要，来自会后 3 题问卷。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4882896"/>
            <a:ext cx="11247120" cy="84124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882896"/>
            <a:ext cx="731520" cy="84124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974336"/>
            <a:ext cx="2286000" cy="658368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下一场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992624"/>
            <a:ext cx="7589520" cy="62179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附上下一场活动的合作邀请，并记录续约意向。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附录  ·  可用文字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这三段文字可以直接发出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25  /  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97280"/>
            <a:ext cx="11247120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未书面确认的权益不要加进去，例如签名书、合影和闭门交流。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444752"/>
            <a:ext cx="11247120" cy="1170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17904"/>
            <a:ext cx="1097280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海报票务区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92224"/>
            <a:ext cx="10927080" cy="7132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标准席  699 元/人  ｜  早鸟 499 元（10 月 20 日前，限 60 席）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企业团体 5 人起 599 元/人  ｜  前排席 999 元（限 20 席）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2026 年 10 月 31 日（星期六）上午 09:00—12:00  ｜  扫码报名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2743200"/>
            <a:ext cx="11247120" cy="2084831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16352"/>
            <a:ext cx="10972800" cy="23774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赞助邀请微信  ·  发给企业负责人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72384"/>
            <a:ext cx="10927080" cy="16642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X 总好。10 月 31 日上午，我们联合复旦大学住房政策研究中心、首乾书院，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在上海请王德峰教授讲《传习录》与阳明心学，约 200 位企业家和专业人士参加。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想邀请贵司作为支持单位：3 万元含 4 个讲座席位和现场主展示，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 万元含 2 个席位，5,000 元含 1 个席位。席位可以给高管学习，也可以请重要客户。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一页说明发您，方便的话这两天约 15 分钟聊一下。10 月 20 日前确定，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能保证背景板和推文露出。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4956048"/>
            <a:ext cx="11247120" cy="135331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10972800" cy="23774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报名页说明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85232"/>
            <a:ext cx="10927080" cy="9144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本次为单场公开讲座，时间为 2026 年 10 月 31 日上午 09:00—12:00，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分第一讲、第二讲两段，中间设茶歇交流。每位参会者获赠纸质讲义一份。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课程安排、席位权益以本页公布为准。退费规则见下方。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增补  ·  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收费维持四档，签售不进上午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26  / 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152144"/>
            <a:ext cx="5623560" cy="30632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298448"/>
            <a:ext cx="5212080" cy="2743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收费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645920"/>
            <a:ext cx="5212080" cy="5029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维持四档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331720"/>
            <a:ext cx="5212080" cy="16459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早鸟 499，标准 699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团体 599，前排 999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不按第一排到第四排标价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前排 20 张仍是前三排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152144"/>
            <a:ext cx="5623560" cy="30632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1298448"/>
            <a:ext cx="5212080" cy="2743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增收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1645920"/>
            <a:ext cx="5212080" cy="5029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赞助仍是大头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2331720"/>
            <a:ext cx="5212080" cy="16459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上午仍是两讲、茶歇、问答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签售只放在 12:10—12:40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限 36 人，书价即签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卖书大约 0.12 万，不进保本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4389120"/>
            <a:ext cx="11247120" cy="1783080"/>
          </a:xfrm>
          <a:prstGeom prst="roundRect">
            <a:avLst>
              <a:gd name="adj" fmla="val 8000"/>
            </a:avLst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4553712"/>
            <a:ext cx="10881360" cy="1463040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10 月 13 日按这四档开售。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签售要在 10 月 16 日 18:00 前拿到讲师书面同意才上架。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同意不了就不上架，不改票价，也不改 10 月 22 日的保本。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增补  ·  票价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分排标价多不了多少，还卖不出去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27  / 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133856"/>
            <a:ext cx="3657600" cy="148132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225296"/>
            <a:ext cx="3364992" cy="53035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11.08 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792224"/>
            <a:ext cx="3364992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四档票面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103120"/>
            <a:ext cx="3364992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170 张按现价卖完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133856"/>
            <a:ext cx="3657600" cy="148132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1225296"/>
            <a:ext cx="3364992" cy="53035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12.36 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1792224"/>
            <a:ext cx="3364992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分排上限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2103120"/>
            <a:ext cx="3364992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票面多 1.28 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133856"/>
            <a:ext cx="3657600" cy="148132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225296"/>
            <a:ext cx="3364992" cy="53035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3A32"/>
                </a:solidFill>
                <a:latin typeface="微软雅黑"/>
                <a:ea typeface="微软雅黑"/>
                <a:cs typeface="微软雅黑"/>
              </a:rPr>
              <a:t>2,400 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792224"/>
            <a:ext cx="3364992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拆开也只多这些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103120"/>
            <a:ext cx="3364992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8 张提到 1,299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2798064"/>
            <a:ext cx="5623560" cy="9601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889504"/>
            <a:ext cx="5303520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第一排有主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18688"/>
            <a:ext cx="5303520" cy="43891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已到账的 12 位 2,399 元学员坐第一排，不能再公开卖一次。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7648" y="2798064"/>
            <a:ext cx="5623560" cy="9601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889504"/>
            <a:ext cx="5303520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前排被占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218688"/>
            <a:ext cx="5303520" cy="43891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赞助席也在前排。扣完以后，大约就是现在这 20 张。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3849624"/>
            <a:ext cx="5623560" cy="9601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941063"/>
            <a:ext cx="5303520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座位图未定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70248"/>
            <a:ext cx="5303520" cy="43891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场地容量还没有书面确认，按排卖了无法保证履约。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27648" y="3849624"/>
            <a:ext cx="5623560" cy="9601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941063"/>
            <a:ext cx="5303520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差价讲不清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270248"/>
            <a:ext cx="5303520" cy="43891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第四排和后排都听得见。多出来的改签，会吃掉这 2,400 元。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4992624"/>
            <a:ext cx="11247120" cy="12801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分排上限按前四排各 14 座估算：1,299 / 999 / 899 / 799，后面仍是早鸟和标准席。这是座位都能公开出售时的上限，不是这次做得到的数。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早鸟负责提前成交，团体负责进企业，前排 20 张负责接愿意靠近的人。价格已经按这三件事分开了。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增补  ·  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上午不加环节，额外的钱在赞助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28  / 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133856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225296"/>
            <a:ext cx="3364992" cy="2743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会前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517904"/>
            <a:ext cx="3364992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不另收费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920240"/>
            <a:ext cx="3364992" cy="7315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 页导读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群里征集问题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133856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1225296"/>
            <a:ext cx="3364992" cy="2743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会中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1517904"/>
            <a:ext cx="3364992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含在票价里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1920240"/>
            <a:ext cx="3364992" cy="7315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两讲、茶歇四桌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20 分钟问答、讲义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133856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225296"/>
            <a:ext cx="3364992" cy="2743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后场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517904"/>
            <a:ext cx="3364992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大约 0.12 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920240"/>
            <a:ext cx="3364992" cy="7315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12:10—12:40 签售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40 本书，不另收签字费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2980944"/>
            <a:ext cx="3017520" cy="384048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980944"/>
            <a:ext cx="3017520" cy="38404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来源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93008" y="2980944"/>
            <a:ext cx="4297680" cy="384048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93008" y="2980944"/>
            <a:ext cx="4297680" cy="38404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量级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90688" y="2980944"/>
            <a:ext cx="3931920" cy="384048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0688" y="2980944"/>
            <a:ext cx="3931920" cy="38404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10 月 22 日保本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" y="3364991"/>
            <a:ext cx="3017520" cy="47548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364991"/>
            <a:ext cx="3017520" cy="47548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93008" y="3364991"/>
            <a:ext cx="4297680" cy="47548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93008" y="3364991"/>
            <a:ext cx="4297680" cy="47548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6 万保底，8 万争取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90688" y="3364991"/>
            <a:ext cx="3931920" cy="47548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90688" y="3364991"/>
            <a:ext cx="3931920" cy="47548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3A32"/>
                </a:solidFill>
                <a:latin typeface="微软雅黑"/>
                <a:ea typeface="微软雅黑"/>
                <a:cs typeface="微软雅黑"/>
              </a:rPr>
              <a:t>进，只认到账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" y="3840479"/>
            <a:ext cx="3017520" cy="47548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3840479"/>
            <a:ext cx="3017520" cy="47548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前排 999 的差价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93008" y="3840479"/>
            <a:ext cx="4297680" cy="47548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93008" y="3840479"/>
            <a:ext cx="4297680" cy="47548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已含在现有票价里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90688" y="3840479"/>
            <a:ext cx="3931920" cy="47548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90688" y="3840479"/>
            <a:ext cx="3931920" cy="47548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3A32"/>
                </a:solidFill>
                <a:latin typeface="微软雅黑"/>
                <a:ea typeface="微软雅黑"/>
                <a:cs typeface="微软雅黑"/>
              </a:rPr>
              <a:t>进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" y="4315968"/>
            <a:ext cx="3017520" cy="47548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4315968"/>
            <a:ext cx="3017520" cy="47548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前排再拆成 1,299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93008" y="4315968"/>
            <a:ext cx="4297680" cy="47548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93008" y="4315968"/>
            <a:ext cx="4297680" cy="47548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票面多 2,400 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90688" y="4315968"/>
            <a:ext cx="3931920" cy="47548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90688" y="4315968"/>
            <a:ext cx="3931920" cy="47548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不改票价体系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" y="4791456"/>
            <a:ext cx="3017520" cy="47548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4791456"/>
            <a:ext cx="3017520" cy="47548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现场卖书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93008" y="4791456"/>
            <a:ext cx="4297680" cy="47548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93008" y="4791456"/>
            <a:ext cx="4297680" cy="47548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约 1,200 元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90688" y="4791456"/>
            <a:ext cx="3931920" cy="475488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90688" y="4791456"/>
            <a:ext cx="3931920" cy="47548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不进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" y="5266944"/>
            <a:ext cx="3017520" cy="47548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" y="5266944"/>
            <a:ext cx="3017520" cy="47548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回放、闭门、订金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93008" y="5266944"/>
            <a:ext cx="4297680" cy="47548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93008" y="5266944"/>
            <a:ext cx="4297680" cy="47548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都要另签讲师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90688" y="5266944"/>
            <a:ext cx="3931920" cy="475488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90688" y="5266944"/>
            <a:ext cx="3931920" cy="475488"/>
          </a:xfrm>
          <a:prstGeom prst="rect">
            <a:avLst/>
          </a:prstGeom>
          <a:noFill/>
        </p:spPr>
        <p:txBody>
          <a:bodyPr wrap="square" anchor="ctr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这次不卖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5488" y="5852160"/>
            <a:ext cx="11247120" cy="47548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卖书按 40 本、每本毛利 30 元估算。书目和售价 10 月 18 日前才确认。签售是为了让前排 999 说得清，不是第二门生意。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可落地方案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后场三十分钟，16 日决定上不上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29  /  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115568"/>
            <a:ext cx="5577840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三项都有书面记录才上架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463040"/>
            <a:ext cx="5623560" cy="9601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91056"/>
            <a:ext cx="502920" cy="694944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572768"/>
            <a:ext cx="466344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讲师同意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920240"/>
            <a:ext cx="4663440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12:10—12:40，只签姓名和日期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2514600"/>
            <a:ext cx="5623560" cy="9601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42616"/>
            <a:ext cx="502920" cy="694944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624328"/>
            <a:ext cx="466344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书能到场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971800"/>
            <a:ext cx="4663440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至少 40 本，10 月 29 日前到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3566160"/>
            <a:ext cx="5623560" cy="9601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94176"/>
            <a:ext cx="502920" cy="694944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675887"/>
            <a:ext cx="466344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第一排核对完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023360"/>
            <a:ext cx="4663440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看 2,399 元学员是否已到账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115568"/>
            <a:ext cx="5413248" cy="4416552"/>
          </a:xfrm>
          <a:prstGeom prst="roundRect">
            <a:avLst>
              <a:gd name="adj" fmla="val 8000"/>
            </a:avLst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1280160"/>
            <a:ext cx="502920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上架之后怎么做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1719072"/>
            <a:ext cx="5029200" cy="35661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四档票价不动，不新增第几排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名额 36 人，12:40 停止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顺序：已到账学员、前排、现场购书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不另收签字费，不承诺合影和题词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书款单独记账，不进保本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签售取消，票款不退；未拆封的书可退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4754880"/>
            <a:ext cx="5669280" cy="1508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缺任何一项，整层放弃。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海报、微信、报名页都不出现“签售”。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优先用出版赞助供书，不垫付大额书款。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可落地方案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确认之前，一个字都不要写出去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30  / 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152144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80160"/>
            <a:ext cx="3328416" cy="2743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10/13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09344"/>
            <a:ext cx="3328416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四档开售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66543"/>
            <a:ext cx="3328416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不写签售，不写第几排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152144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1280160"/>
            <a:ext cx="3328416" cy="2743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10/16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3" y="1609344"/>
            <a:ext cx="3328416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上架或放弃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3" y="2066543"/>
            <a:ext cx="3328416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18:00 前，A 只认书面同意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152144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280160"/>
            <a:ext cx="3328416" cy="2743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10/18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1609344"/>
            <a:ext cx="3328416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确认供货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066543"/>
            <a:ext cx="3328416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书名、售价、40 本、谁收款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2843784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71800"/>
            <a:ext cx="3328416" cy="2743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10/29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300984"/>
            <a:ext cx="3328416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书和名单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758184"/>
            <a:ext cx="3328416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书到现场，核对前排席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2843784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43983" y="2971800"/>
            <a:ext cx="3328416" cy="2743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10/31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3983" y="3300984"/>
            <a:ext cx="3328416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后场签售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983" y="3758184"/>
            <a:ext cx="3328416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12:10 开始，12:40 停止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3296" y="2843784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7888" y="2971800"/>
            <a:ext cx="3328416" cy="2743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11/7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3300984"/>
            <a:ext cx="3328416" cy="36576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分开复盘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3758184"/>
            <a:ext cx="3328416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书款不和门票、赞助混记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" y="4663440"/>
            <a:ext cx="11247120" cy="1600200"/>
          </a:xfrm>
          <a:prstGeom prst="roundRect">
            <a:avLst>
              <a:gd name="adj" fmla="val 8000"/>
            </a:avLst>
          </a:prstGeom>
          <a:solidFill>
            <a:srgbClr val="F8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791456"/>
            <a:ext cx="10881360" cy="292608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确认后才加到报名页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102352"/>
            <a:ext cx="10881360" cy="100584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前排席含限量签售资格。签售于 12:10 开始、12:40 结束，额满即止。签售若取消，票款不退。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现场：A 陪讲师，C 收书款，D 控队列，B 只拍队列全景。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64592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本周动作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20624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不齐这四份，13 日不开售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950976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6473952"/>
            <a:ext cx="11241023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28816"/>
            <a:ext cx="859536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内部执行稿  ·  请勿整册外发  ·  10 月 31 日讲座落地方案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28816"/>
            <a:ext cx="2286000" cy="256032"/>
          </a:xfrm>
          <a:prstGeom prst="rect">
            <a:avLst/>
          </a:prstGeom>
          <a:noFill/>
        </p:spPr>
        <p:txBody>
          <a:bodyPr wrap="square" anchor="ctr" lIns="54864" rIns="54864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31  / 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152144"/>
            <a:ext cx="7360920" cy="8686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1335024"/>
            <a:ext cx="493776" cy="493776"/>
          </a:xfrm>
          <a:prstGeom prst="roundRect">
            <a:avLst>
              <a:gd name="adj" fmla="val 20000"/>
            </a:avLst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33502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225296"/>
            <a:ext cx="6355080" cy="34747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讲师费与付款方式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591056"/>
            <a:ext cx="6355080" cy="34747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A 向首乾书院要书面：金额、30% 定金、取消退还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2112264"/>
            <a:ext cx="7360920" cy="8686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" y="2295144"/>
            <a:ext cx="493776" cy="493776"/>
          </a:xfrm>
          <a:prstGeom prst="roundRect">
            <a:avLst>
              <a:gd name="adj" fmla="val 20000"/>
            </a:avLst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29514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185416"/>
            <a:ext cx="6355080" cy="34747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场地与容量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551176"/>
            <a:ext cx="6355080" cy="34747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D 向场地方要书面：免费、座位数、彩排、设备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72384"/>
            <a:ext cx="7360920" cy="8686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" y="3255264"/>
            <a:ext cx="493776" cy="493776"/>
          </a:xfrm>
          <a:prstGeom prst="roundRect">
            <a:avLst>
              <a:gd name="adj" fmla="val 20000"/>
            </a:avLst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25526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145536"/>
            <a:ext cx="6355080" cy="34747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名义与肖像授权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511296"/>
            <a:ext cx="6355080" cy="34747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A 向三家主办和讲师方确认姓名、肖像、题目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4032504"/>
            <a:ext cx="7360920" cy="8686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4215384"/>
            <a:ext cx="493776" cy="493776"/>
          </a:xfrm>
          <a:prstGeom prst="roundRect">
            <a:avLst>
              <a:gd name="adj" fmla="val 20000"/>
            </a:avLst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421538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105656"/>
            <a:ext cx="6355080" cy="34747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收款与开票主体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471416"/>
            <a:ext cx="6355080" cy="347472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A 确认门票和赞助由谁收、谁开票、谁退款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1152144"/>
            <a:ext cx="3721608" cy="3749039"/>
          </a:xfrm>
          <a:prstGeom prst="roundRect">
            <a:avLst>
              <a:gd name="adj" fmla="val 8000"/>
            </a:avLst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1298448"/>
            <a:ext cx="3383280" cy="329184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同时要完成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1783080"/>
            <a:ext cx="3383280" cy="2743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2057400"/>
            <a:ext cx="3383280" cy="58521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删掉半天票，把“上下”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改成第一讲、第二讲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2743200"/>
            <a:ext cx="3383280" cy="2743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3017520"/>
            <a:ext cx="3383280" cy="58521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报名页上线，写上四档票价和退费规则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3703320"/>
            <a:ext cx="3383280" cy="27432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A、D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3977639"/>
            <a:ext cx="3383280" cy="585216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列出 20 家目标企业，发出赞助邀请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5074920"/>
            <a:ext cx="11247120" cy="1234440"/>
          </a:xfrm>
          <a:prstGeom prst="rect">
            <a:avLst/>
          </a:prstGeom>
          <a:noFill/>
        </p:spPr>
        <p:txBody>
          <a:bodyPr wrap="square" anchor="t" lIns="54864" rIns="54864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讲师费、场地容量、上座率仍是假设。拿到书面数字后，回到收支页和讲师费页重算，不要沿用 10 万元和 200 座往下承诺。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赞助未到账，不计入收入，也不要先把讲师费付清。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王德峰教授《传习录》与阳明心学讲座 · 落地方案</dc:title>
  <dc:subject>内部执行稿：落地方案、价值实施与赞助落地</dc:subject>
  <dc:creator>活动筹备组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内部执行</cp:category>
  <dc:language>zh-CN</dc:language>
</cp:coreProperties>
</file>