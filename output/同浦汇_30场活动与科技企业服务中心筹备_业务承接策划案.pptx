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提交对象　上海同浦汇科技有限公司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创智汇30场活动与科技企业服务中心筹备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业务承接合作策划案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承接范围：30 场可核验活动　＋　科技企业服务中心挂牌筹备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F4EBD3"/>
                </a:solidFill>
                <a:latin typeface="微软雅黑"/>
                <a:ea typeface="微软雅黑"/>
                <a:cs typeface="微软雅黑"/>
              </a:rPr>
              <a:t>新赛道：智能建造 × 建筑产业出海　｜　政策包装：现代服务业 + 新一代信息技术（科技赋能建筑）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9651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30 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年度活动包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40233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409651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30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5262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对园区打包价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0233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09651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≤30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5262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单场核验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59" y="40233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409651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90 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45262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服中心筹备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0233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409651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70 /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52628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 / 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上海市杨浦区科技企业服务中心　｜　上海市杨浦区科技企业联合会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4EBD3"/>
                </a:solidFill>
                <a:latin typeface="微软雅黑"/>
                <a:ea typeface="微软雅黑"/>
                <a:cs typeface="微软雅黑"/>
              </a:rPr>
              <a:t>学术支持：复旦大学住房政策研究中心　｜　2026年9月1日　｜　周期 2026.08—2027.07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9AA3B2"/>
                </a:solidFill>
                <a:latin typeface="微软雅黑"/>
                <a:ea typeface="微软雅黑"/>
                <a:cs typeface="微软雅黑"/>
              </a:rPr>
              <a:t>机密 · 仅供同浦汇合作沟通，不作为对园区/投资方的承诺函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01 　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昨天沟通后，需要立刻承接的两件事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2026-08-31　创智汇赛道调整交流（约 36 分钟）· 合同口径已变、运营成本已发生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53312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赛道为什么改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5303520" cy="4526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1.  创智汇上周已确定更换赛道：由原 AI+IP 内容线，转向与建筑设计、智能建造结合的方向，并与同济设计资源、中建相关方主业相匹配。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2.  新方向按「现代服务业 + 新一代信息技术」包装，科技赋能建筑，不与高新/载体政策申报发生本质冲突。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3.  核心目标不是把地产施工企业招来租办公室，而是搭建「建筑产业出海」集群：设计、测绘、模块化、绿色低碳、施工机器人可成为出口内容。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4.  会上研判：传统建筑施工景气与回款能力明显弱于人工智能赛道，若仍按招租逻辑推进，后续难以说服审核方，也难以支撑活动转化。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5.  对外口径须谨慎：业主写杨浦科创集团；不宜简单用「中建」名义对接政府资源。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6.  复旦大学住房政策研究中心可提供行业数据、活动组织、专家网络与海外专题经验，作为白皮书、授牌与出海研究的学术支持，不替代同浦汇的园区接口地位。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53312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新方向怎么落地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19072"/>
            <a:ext cx="5303520" cy="4526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7.  出海优先城市化率较低的一带一路、东南亚、中亚、非洲、中东市场；产品抓手为绿色低碳 + 建筑施工机器人 + 模块化建筑（含越南等地已有就地建厂探索）。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8.  政策路径：引导入驻企业把经营范围写入智能施工、绿色节能，自行完成高新技术企业认定；可参考广州越秀零碳体验馆，用研学参观形成稳定运营，不完全依赖补贴。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9.  空间抓手：展厅约 500㎡ 做建筑出海科技与模块化产品展示，其余空间承载新材料等。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10.  驻沪领馆资源按目标国匹配（会上口径约 80+），领事到访不纳入 30 场年包。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11.  节奏：合同口径已调整、运营成本已经发生；需尽快形成可交给审核方工程部门的初步方案。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02 　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我们承接同浦汇的两项具体业务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不是替换同浦汇的园区入口地位，而是把执行和筹备接下来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278892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01  30场活动全案执行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25146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策划、档期、邀约协同、现场执行、月报、可核验交付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28016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78892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02  科技企业服务中心筹备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057400"/>
            <a:ext cx="25146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挂牌路径、制度与人员、载体认定材料、创新券机构申请、高新辅导SOP、展陈与研学大纲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78892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0876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03  新赛道叙事与审核材料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057400"/>
            <a:ext cx="25146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把昨日共识写成可过审的一页纸 + 90天工作包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28016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280160"/>
            <a:ext cx="278892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50876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04  学术与白皮书协同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057400"/>
            <a:ext cx="25146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对接复旦住房政策研究中心，开题、发布节奏与授牌预热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3832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8B2E2E"/>
                </a:solidFill>
                <a:latin typeface="微软雅黑"/>
                <a:ea typeface="微软雅黑"/>
                <a:cs typeface="微软雅黑"/>
              </a:rPr>
              <a:t>明确不承接 / 不承诺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49039"/>
            <a:ext cx="5760720" cy="402336"/>
          </a:xfrm>
          <a:prstGeom prst="roundRect">
            <a:avLst>
              <a:gd name="adj" fmla="val 8000"/>
            </a:avLst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49039"/>
            <a:ext cx="54864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不取代同浦汇作为园区产业招服入口与客户关系主人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49039"/>
            <a:ext cx="5760720" cy="402336"/>
          </a:xfrm>
          <a:prstGeom prst="roundRect">
            <a:avLst>
              <a:gd name="adj" fmla="val 8000"/>
            </a:avLst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39"/>
            <a:ext cx="54864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不做租金去化对赌，也不做「必须租出去」的必要性条款（办公 3.3 元高于周边）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206239"/>
            <a:ext cx="5760720" cy="402336"/>
          </a:xfrm>
          <a:prstGeom prst="roundRect">
            <a:avLst>
              <a:gd name="adj" fmla="val 8000"/>
            </a:avLst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06239"/>
            <a:ext cx="54864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不承诺必带外资企业、不承诺领事必到场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206239"/>
            <a:ext cx="5760720" cy="402336"/>
          </a:xfrm>
          <a:prstGeom prst="roundRect">
            <a:avLst>
              <a:gd name="adj" fmla="val 8000"/>
            </a:avLst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206239"/>
            <a:ext cx="54864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不把出海专题、领事到访、挂牌仪式装进 30 万元年包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663439"/>
            <a:ext cx="5760720" cy="402336"/>
          </a:xfrm>
          <a:prstGeom prst="roundRect">
            <a:avLst>
              <a:gd name="adj" fmla="val 8000"/>
            </a:avLst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663439"/>
            <a:ext cx="54864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不向企业承诺高新/载体/补贴必然获批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663439"/>
            <a:ext cx="5760720" cy="402336"/>
          </a:xfrm>
          <a:prstGeom prst="roundRect">
            <a:avLst>
              <a:gd name="adj" fmla="val 8000"/>
            </a:avLst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63439"/>
            <a:ext cx="5486400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园区销售促成仍由园区负责；我方与同浦汇负责带到场、建群、回访摘要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03 　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同浦汇管关系，服中心管交付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园区管销售促成　｜　业主管场地条件　｜　复旦提供学术支持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6187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61872"/>
            <a:ext cx="109728" cy="7498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35024"/>
            <a:ext cx="292608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同浦汇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335024"/>
            <a:ext cx="777240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园区接口、在谈客户、带客名单协同、建群与回访台账、向园区转交促成线索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8483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084832"/>
            <a:ext cx="109728" cy="749808"/>
          </a:xfrm>
          <a:prstGeom prst="rect">
            <a:avLst/>
          </a:prstGeom>
          <a:solidFill>
            <a:srgbClr val="1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57984"/>
            <a:ext cx="292608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科技企业服务中心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157984"/>
            <a:ext cx="777240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30场策划与现场执行、服中心挂牌筹备、政策申报材料、月报验收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90779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907792"/>
            <a:ext cx="109728" cy="7498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80944"/>
            <a:ext cx="292608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科技企业联合会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980944"/>
            <a:ext cx="777240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联合协办、行业组织协同、活动背书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3075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730752"/>
            <a:ext cx="109728" cy="74980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03904"/>
            <a:ext cx="292608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复旦住房政策研究中心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03904"/>
            <a:ext cx="777240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学术支持、白皮书、专家与行业数据、海外专题研究（按场次确认）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55371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553712"/>
            <a:ext cx="109728" cy="7498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26864"/>
            <a:ext cx="292608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创智汇 / 园区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626864"/>
            <a:ext cx="777240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场地物业、导视、样板间、在谈名单、销售促成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376672"/>
            <a:ext cx="11338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376672"/>
            <a:ext cx="109728" cy="749808"/>
          </a:xfrm>
          <a:prstGeom prst="rect">
            <a:avLst/>
          </a:prstGeom>
          <a:solidFill>
            <a:srgbClr val="24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49824"/>
            <a:ext cx="292608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杨浦科创集团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449824"/>
            <a:ext cx="777240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空间业主；重大口径与场地条件确认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04 　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两条工作包，一张图看完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对园区报价不变　｜　对同浦汇把执行责任写清楚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623560" cy="64008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工作包 A　30 场活动全案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521208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周期：2026.08—2027.07　·　约每月 2–3 场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打包：30 场 / 30 万元（门票赞助可冲抵成本）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核验：每场 ≤30 人，负责人 ≤30%，全年约 600+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主线：智能建造能力 + 出海准备（国内可交付场）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付款：签约 7 日内 50% + 四季度各 10% + 年终 10%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不含：出海专题、领事到访、挂牌仪式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转化：带到场、建群；销售促成仍在园区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80160"/>
            <a:ext cx="5623560" cy="640080"/>
          </a:xfrm>
          <a:prstGeom prst="rect">
            <a:avLst/>
          </a:prstGeom>
          <a:solidFill>
            <a:srgbClr val="1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03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工作包 B　服中心筹备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21208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90 天完成挂牌材料、制度、2 人配置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载体认定 + 创新券服务机构两项前置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高新辅导 SOP（企业自行申报，不承诺获批）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500㎡ 建筑出海展陈大纲 + 零碳研学模型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联合复旦白皮书开题与授牌预热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筹备不另向同浦汇收费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政策收益建议：同浦汇 38% / 服中心 62%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05 　活动结构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30 场按六条线重排，服务新赛道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原双会 AI 内容线不再作为主叙事；科技能力保留为智能建造的工具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启动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5 场　·　8 月点火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赛道切换、渠道、金融、政府、进博承接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智能建造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7 场　·　全年能力线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31720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机器人、模块化、零碳、测绘、黑客松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政策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4 场　·　申报入口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31720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高新、创新券、YOUNG立方、冲刺营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4904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出海准备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4340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6 场　·　国内可交付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案例、高校、华东华南、产业地图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74904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319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展示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4340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5 场　·　空间产品化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00600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500㎡展厅、白皮书、研学、联展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4904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3192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收官 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4340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3 场　·　可核验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800600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Demo Day、圆桌、年终验收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06 　排期（上）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2026.08—2026.12　共 16 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 月必须点火：赛道说明、渠道、金融、政府、进博承接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201400" cy="29260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07008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编号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07008"/>
            <a:ext cx="10515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207008"/>
            <a:ext cx="1280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207008"/>
            <a:ext cx="4846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活动名称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207008"/>
            <a:ext cx="3200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本场作用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99616"/>
            <a:ext cx="1120140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149961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E1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49961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149961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149961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赛道切换说明会 · 园区开放日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149961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把新方向讲清楚，完成主业匹配叙事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96796"/>
            <a:ext cx="11201400" cy="297180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179679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179679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856" y="179679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启动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179679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中介渠道推广日（建造 / 园区）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179679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点火带客，不谈租金对赌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93976"/>
            <a:ext cx="1120140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" y="209397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E3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" y="209397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76856" y="209397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启动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016" y="209397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五大行与资管对接日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209397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面对施工企业支付能力弱的现实，先找金融出口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391156"/>
            <a:ext cx="11201400" cy="297180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" y="239115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E4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" y="239115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76856" y="239115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启动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7016" y="239115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政府部门与载体沟通日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239115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确认「科技赋能建筑」政策包装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688336"/>
            <a:ext cx="1120140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268833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E5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5296" y="268833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76856" y="268833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启动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57016" y="268833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进博绿色建造成果承接交流日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3336" y="268833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借势施工机器人 + 绿色低碳，不替代年包出海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985516"/>
            <a:ext cx="11201400" cy="297180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" y="298551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A1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5296" y="298551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76856" y="298551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57016" y="298551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施工机器人与智能装备一日营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3336" y="298551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3F 能力线：装备可见、可体验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282696"/>
            <a:ext cx="1120140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" y="328269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C1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25296" y="328269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76856" y="328269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出海准备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57016" y="328269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东南亚模块化建筑案例沙龙（国内场）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6" y="328269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讲案例与供应链，不含领事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579876"/>
            <a:ext cx="11201400" cy="297180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" y="357987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B1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25296" y="357987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76856" y="357987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政策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57016" y="357987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智能建造企业高新认定路径沙龙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03336" y="357987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经营范围写入智能施工 / 绿色节能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877056"/>
            <a:ext cx="1120140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2336" y="387705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A2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5296" y="387705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76856" y="387705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57016" y="387705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模块化 / 装配式建筑工作坊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03336" y="387705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可出口产品与就地建厂逻辑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174236"/>
            <a:ext cx="11201400" cy="297180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2336" y="417423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D1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25296" y="417423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76856" y="417423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57016" y="417423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500㎡ 出海展厅共创工作坊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03336" y="417423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把展陈从概念落到平面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471416"/>
            <a:ext cx="1120140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2336" y="447141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B2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25296" y="447141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76856" y="447141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政策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57016" y="447141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创新券与数字化设计工具沙龙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03336" y="447141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服中心作为服务机构的入口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4768596"/>
            <a:ext cx="11201400" cy="297180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2336" y="476859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A3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25296" y="476859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76856" y="476859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57016" y="476859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绿色低碳与零碳工地实务营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03336" y="476859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对接进博观察与越秀研学思路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065776"/>
            <a:ext cx="1120140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2336" y="506577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B3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25296" y="506577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76856" y="506577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政策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57016" y="506577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YOUNG立方 · 智能建造政策沙龙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03336" y="506577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活动经费申报的合规场次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5362956"/>
            <a:ext cx="11201400" cy="297180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2336" y="536295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A4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25296" y="536295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76856" y="536295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57016" y="536295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智能测绘与数字设计对接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03336" y="536295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同济设计资源协同，不替代复旦住房政策线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660136"/>
            <a:ext cx="11201400" cy="2971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02336" y="566013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D2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25296" y="566013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76856" y="566013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57016" y="566013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行业白皮书开题沙龙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03336" y="566013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联合复旦形成可传播文本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5957316"/>
            <a:ext cx="11201400" cy="297180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02336" y="5957316"/>
            <a:ext cx="7863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F1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25296" y="5957316"/>
            <a:ext cx="1014983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2026.12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76856" y="5957316"/>
            <a:ext cx="124358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收官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57016" y="5957316"/>
            <a:ext cx="480974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智能建造年度 Demo Day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403336" y="5957316"/>
            <a:ext cx="3163824" cy="2971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年度成果可核验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07 　排期（下）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2027.01—2027.07　共 14 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上半年深耕能力与政策，下半年收口转化并预热下一年度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07008"/>
            <a:ext cx="11201400" cy="29260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07008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编号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07008"/>
            <a:ext cx="10515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207008"/>
            <a:ext cx="1280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207008"/>
            <a:ext cx="4846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活动名称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207008"/>
            <a:ext cx="3200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本场作用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99616"/>
            <a:ext cx="11201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1499616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A5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499616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1499616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1499616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建筑机器人场景体验日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1499616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3F 体验与招商转化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828800"/>
            <a:ext cx="11201400" cy="329184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1828800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1828800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856" y="1828800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出海准备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1828800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高校成果转化 · 智能建造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1828800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复旦住房政策 + 同济设计双校协同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157984"/>
            <a:ext cx="11201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" y="2157984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B4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" y="2157984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76856" y="2157984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政策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016" y="2157984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高企认定冲刺（智能施工专场）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2157984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企业自行申报，服中心辅导不承诺获批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87168"/>
            <a:ext cx="11201400" cy="329184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" y="2487168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D3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" y="2487168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76856" y="2487168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7016" y="2487168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零碳体验馆研学方案工作坊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2487168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中小学生研学运营模型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816352"/>
            <a:ext cx="11201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2816352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A6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5296" y="2816352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76856" y="2816352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57016" y="2816352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建造科技黑客松（OPC 超级个体）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3336" y="2816352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保留科技社群带流，服务于新赛道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145535"/>
            <a:ext cx="11201400" cy="329184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" y="3145535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C3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5296" y="3145535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76856" y="3145535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出海准备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57016" y="3145535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华东智能设计产业集群对接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3336" y="3145535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华东产能与设计优势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474720"/>
            <a:ext cx="11201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2336" y="3474720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F2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25296" y="3474720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76856" y="3474720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收官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57016" y="3474720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通往海外订单季度圆桌（国内）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6" y="3474720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订单逻辑研讨，领事另计价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803904"/>
            <a:ext cx="11201400" cy="329184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" y="3803904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C4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25296" y="3803904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76856" y="3803904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出海准备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57016" y="3803904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华南制造基地联动对接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03336" y="3803904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华东设计 × 华南制造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133088"/>
            <a:ext cx="11201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2336" y="4133088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D4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5296" y="4133088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76856" y="4133088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57016" y="4133088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新材料与绿色建材联展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03336" y="4133088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5F 展陈轮换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462272"/>
            <a:ext cx="11201400" cy="329184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2336" y="4462272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C5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25296" y="4462272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76856" y="4462272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出海准备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57016" y="4462272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专精特新 · 建造科技路演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03336" y="4462272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申报奖项节奏的企业侧入口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4791455"/>
            <a:ext cx="11201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2336" y="4791455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D5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25296" y="4791455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76856" y="4791455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57016" y="4791455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展厅内容迭代与市集体验日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03336" y="4791455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人气场，≤30 人核验口径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5120640"/>
            <a:ext cx="11201400" cy="329184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2336" y="5120640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C6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25296" y="5120640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76856" y="5120640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出海准备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57016" y="5120640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一带一路目标国产业地图沙龙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03336" y="5120640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城市化率&lt;50% 国家研究场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449824"/>
            <a:ext cx="1120140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2336" y="5449824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A7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25296" y="5449824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76856" y="5449824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57016" y="5449824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智能建造与智能家居交叉应用营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03336" y="5449824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产品出口与场景验证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5779008"/>
            <a:ext cx="11201400" cy="329184"/>
          </a:xfrm>
          <a:prstGeom prst="rect">
            <a:avLst/>
          </a:prstGeom>
          <a:solidFill>
            <a:srgbClr val="F4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2336" y="5779008"/>
            <a:ext cx="7863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F3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25296" y="5779008"/>
            <a:ext cx="1014983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2027.07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76856" y="5779008"/>
            <a:ext cx="12435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收官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57016" y="5779008"/>
            <a:ext cx="480974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年度收官 · 下一年度预热圆桌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03336" y="5779008"/>
            <a:ext cx="316382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验收 30 场 + 预热 2027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08 　打法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单场可复制，转化不压到同浦汇一个人身上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T-14 策划邀约 → T-7 确认名单 → T-1 场地物料 → D 日执行 → T+1~7 建群 / 回访摘要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2788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人数核验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755648"/>
            <a:ext cx="26426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每场 ≤30 人（可核验）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280160"/>
            <a:ext cx="2788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38988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负责人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755648"/>
            <a:ext cx="26426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≤30%，不做 100% 承兑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788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8988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全年触达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755648"/>
            <a:ext cx="26426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全年约 600+ 人次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80160"/>
            <a:ext cx="27889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38988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交付物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755648"/>
            <a:ext cx="26426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方案、签到、现场执行、月报；回访只交摘要知会，不要求园区逐户回访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5146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转化闭环（活动只对带到场负责，不对租金去化对赌）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926080"/>
            <a:ext cx="1783080" cy="640080"/>
          </a:xfrm>
          <a:prstGeom prst="roundRect">
            <a:avLst>
              <a:gd name="adj" fmla="val 8000"/>
            </a:avLst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926080"/>
            <a:ext cx="1783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到场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0175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2926080"/>
            <a:ext cx="1783080" cy="640080"/>
          </a:xfrm>
          <a:prstGeom prst="roundRect">
            <a:avLst>
              <a:gd name="adj" fmla="val 8000"/>
            </a:avLst>
          </a:prstGeom>
          <a:solidFill>
            <a:srgbClr val="1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2926080"/>
            <a:ext cx="1783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建群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0175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2926080"/>
            <a:ext cx="1783080" cy="640080"/>
          </a:xfrm>
          <a:prstGeom prst="roundRect">
            <a:avLst>
              <a:gd name="adj" fmla="val 8000"/>
            </a:avLst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2926080"/>
            <a:ext cx="1783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看场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0175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39" y="2926080"/>
            <a:ext cx="1783080" cy="640080"/>
          </a:xfrm>
          <a:prstGeom prst="roundRect">
            <a:avLst>
              <a:gd name="adj" fmla="val 8000"/>
            </a:avLst>
          </a:prstGeom>
          <a:solidFill>
            <a:srgbClr val="1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9" y="2926080"/>
            <a:ext cx="1783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同浦汇回访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0175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926080"/>
            <a:ext cx="1783080" cy="640080"/>
          </a:xfrm>
          <a:prstGeom prst="roundRect">
            <a:avLst>
              <a:gd name="adj" fmla="val 8000"/>
            </a:avLst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2926080"/>
            <a:ext cx="1783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园区促成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017520"/>
            <a:ext cx="320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2926080"/>
            <a:ext cx="1783080" cy="640080"/>
          </a:xfrm>
          <a:prstGeom prst="roundRect">
            <a:avLst>
              <a:gd name="adj" fmla="val 8000"/>
            </a:avLst>
          </a:prstGeom>
          <a:solidFill>
            <a:srgbClr val="1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2926080"/>
            <a:ext cx="1783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复盘回流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3794760"/>
            <a:ext cx="1133856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另计价，不进 30 万包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出海专题执行（10–20 万/场次或专项，一事一议）　·　领事到访接待（按场次另计价，与挂牌分开）　·　挂牌仪式（3 万/个起，挂牌≠领事活动）　·　战略签约大会升级（在预热沙龙之外另报价）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同浦汇在闭环里的位置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客户跟踪与回访台账由同浦汇多承担；服中心重心放在下一场策划与现场。园区拿回访摘要即可，不要求逐户回访。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09 　服中心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90 天把科技企业服务中心筹备成可挂牌、可申报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挂牌仪式另计价　｜　筹备过程不另向同浦汇收费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2788920" cy="82296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5331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D0–15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64208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叙事与主体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286000"/>
            <a:ext cx="246888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统一新赛道一页纸；确认挂牌主体、2 人配置、创智汇接待位 / 500㎡ 展区界面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8016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788920" cy="82296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35331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D16–45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664208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制度与申报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286000"/>
            <a:ext cx="246888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服务制度、辅导 SOP、载体认定材料包、创新券机构申请、高新路径清单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2788920" cy="82296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35331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D46–75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664208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286000"/>
            <a:ext cx="246888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展陈大纲、零碳研学模型、白皮书开题、首批可辅导企业名单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280160"/>
            <a:ext cx="2788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280160"/>
            <a:ext cx="2788920" cy="822960"/>
          </a:xfrm>
          <a:prstGeom prst="rect">
            <a:avLst/>
          </a:prstGeom>
          <a:solidFill>
            <a:srgbClr val="1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35331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D76–90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664208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可过审包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286000"/>
            <a:ext cx="246888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给审核方工程部门的初步方案、挂牌仪式报价（另计价）、Q4 场次点火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709160"/>
            <a:ext cx="1133856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政策上限（测算，不是保底）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载体年上限 110 万（成果转化平台 ≤100 + 孵化基地 ≤10）　｜　活动年上限 200 万（YOUNG立方，投入×50%，封顶 200；年包 30 万大约可对应申报约 15 万量级）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十年三部分合计上限 约 6920 万（上限测算，非保证获批）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前置条件：①项目成为经认定载体 / 成果转化服务平台　②服中心作为创新券服务机构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10 　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6600㎡ 还是创智汇，产品要换成新赛道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上海 · 杨浦 · 五角场 · 创智天地　｜　办公 3.3 元/㎡/天　｜　物业 13.8 元/㎡/月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128016" cy="96012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3F　约 2850㎡　孵化器 + 办公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55648"/>
            <a:ext cx="10698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智能建造办公 / 装备体验 / 辅导接待 / OPC 工位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33172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128016" cy="960120"/>
          </a:xfrm>
          <a:prstGeom prst="rect">
            <a:avLst/>
          </a:prstGeom>
          <a:solidFill>
            <a:srgbClr val="1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41448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5F　约 3670㎡　展厅 + 贸易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07208"/>
            <a:ext cx="10698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建筑出海展陈 / 模块化样品 / 新材料 / 培训沙龙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383280"/>
            <a:ext cx="11338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128016" cy="960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专题展区　约 500㎡　建筑产业出海主题展示（会上口径）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58768"/>
            <a:ext cx="10698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昨日会上明确：先把 500㎡ 做成可参观、可讲解、可研学的主题馆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112471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与招商的关系（写进承接函，避免审核方误解）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租金 3.3 元高于周边，故本方案不做租赁对赌、不做租赁必要性。活动的任务是把对的人带到场、建群、看场。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待租约 8 间由园区销售闭环；佣金按 2 个月净租金（首年不重复）。建议园区给 1–3 个月免租，线下谈。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零碳体验馆可做成面向中小学的研学产品，形成不完全依赖补贴的运营入口。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11 　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新赛道仍然走科技企业服务，不另开一套「地产补贴」故事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会上共识：智能施工、绿色节能写入经营范围后，走高新技术企业认定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703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3703320" cy="54864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53312"/>
            <a:ext cx="3703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对企业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337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·  先改经营范围：智能施工 / 绿色节能 / 数字化设计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·  企业自行申报高新，服中心提供辅导 SOP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·  不承诺获批，成功费以到账为准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703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280160"/>
            <a:ext cx="3703320" cy="54864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353312"/>
            <a:ext cx="3703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337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·  争取认定为成果转化服务平台 / 孵化基地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·  服中心申请成为创新券服务机构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·  YOUNG立方活动按投入 50%、年封顶 200 万申报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703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703320" cy="54864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353312"/>
            <a:ext cx="3703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对品牌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337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·  联合复旦发布智能建造 / 出海白皮书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·  战略合作签约 + 官方授牌（仪式另计价）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·  进博、领馆作为加购，不写进年包承诺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124712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8B2E2E"/>
                </a:solidFill>
                <a:latin typeface="微软雅黑"/>
                <a:ea typeface="微软雅黑"/>
                <a:cs typeface="微软雅黑"/>
              </a:rPr>
              <a:t>必须写进给审核方材料的三句话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1. 我们不是在招「付不起租金的施工队来租办公室」。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2. 我们是在用科技企业服务中心，把智能建造产品、模块化建筑和绿色低碳能力组织成可出海的集群。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3. 业主是杨浦科创集团；政府对接用科技与产业服务口径，不用「中建」名义。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12 　商务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对园区的报价一口价，付款只保留一套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方案二已取消　｜　与季度场次完成度、月报验收挂钩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2194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活动年包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34440"/>
            <a:ext cx="85953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30 场 / 30 万元（固定执行费）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892808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2808"/>
            <a:ext cx="2194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付款节点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892808"/>
            <a:ext cx="85953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签约后 7 日内 50% 启动款；Q3、Q4、次年 Q1、次年 Q2 各 10%；年终收官 10% 尾款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551176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51176"/>
            <a:ext cx="2194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验收挂钩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51176"/>
            <a:ext cx="85953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季度场次完成度 + 月报验收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09544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9544"/>
            <a:ext cx="2194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门票 / 赞助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09544"/>
            <a:ext cx="85953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可冲抵成本，不替代打包价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67912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67912"/>
            <a:ext cx="2194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招商佣金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867912"/>
            <a:ext cx="85953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招商佣金按 2 个月净租金（首年不重复），由园区销售闭环触发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526279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26279"/>
            <a:ext cx="2194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服中心筹备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26279"/>
            <a:ext cx="85953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服中心挂牌筹备不另向同浦汇收取；向政策与园区要的是牌照与申报入口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13 　结算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同浦汇保留接口价值，服中心按执行结算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两套分成互不混用：活动年包 ≠ 政策收益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23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623560" cy="54864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53312"/>
            <a:ext cx="5623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活动年包内部结算（建议）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51206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服中心　70%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策划、邀约协同、现场、月报、可核验交付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同浦汇　30%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园区接口、客户跟踪、回访台账、线索转交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80160"/>
            <a:ext cx="5623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80160"/>
            <a:ext cx="5623560" cy="548640"/>
          </a:xfrm>
          <a:prstGeom prst="rect">
            <a:avLst/>
          </a:prstGeom>
          <a:solidFill>
            <a:srgbClr val="1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353312"/>
            <a:ext cx="5623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政策收益分成（锁版）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51206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同浦汇　38%  ｜  服中心　62%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载体申报乙方偏高；活动类可均分；申报服务费以执行方为主。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十年上限约 6920 万是可申请测算，不是保证到账。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成功费以资金到账为准，不向企业承诺。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1124712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给同浦汇的一句话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您继续做创智汇面前的招服入口和客户主人；30 场能不能办完、服中心能不能挂上牌，由服中心按本方案承接交付。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这样您可以把精力放在回访和园区销售协同上，也有一份能在下周交给审核方的执行答卷。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14 　过审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下周就能带去审核方工程部门的材料包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业主口径：杨浦科创集团　｜　不写中建为合同业主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一页纸定位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33375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智能建造 × 建筑产业出海，科技赋能，不是地产招租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745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30 场总表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31720"/>
            <a:ext cx="33375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本 PPT 第 7–8 页 + Excel 执行台账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745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服中心 90 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31720"/>
            <a:ext cx="33375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挂牌、制度、载体、创新券四件套时间表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61188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商务一页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33375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30 万、付款 50+4×10+10、不做租金对赌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61188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79476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20624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边界清单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663440"/>
            <a:ext cx="33375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出海 / 领事 / 挂牌另计价；不承诺外企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61188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79476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0624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复旦协同函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663440"/>
            <a:ext cx="33375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白皮书开题意向 + 授牌预热节奏（正式签约另走）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15 　请同浦汇确认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五件事确认后，7 日内可启动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启动条件：范围确认 + 结算确认 + 档期确认 + 口径确认 + 启动款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2801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408176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08176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280160"/>
            <a:ext cx="104241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同浦汇确认：承接范围（30 场 + 服中心筹备）与不承接边界无异议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938528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2066544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66544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38528"/>
            <a:ext cx="104241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确认内部结算：活动年包 70/30、政策收益 38/62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596896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2724912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24912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596896"/>
            <a:ext cx="104241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确认 8–9 月前 8 场档期与场地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255264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3383280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383280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55264"/>
            <a:ext cx="104241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确认向审核方提交的业主口径（杨浦科创集团）与赛道叙事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913632"/>
            <a:ext cx="11338560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7D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4041648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041648"/>
            <a:ext cx="329184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913632"/>
            <a:ext cx="104241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签约后 7 日内启动款到位，T+14 交付细化执行手册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112471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0E2240"/>
                </a:solidFill>
                <a:latin typeface="微软雅黑"/>
                <a:ea typeface="微软雅黑"/>
                <a:cs typeface="微软雅黑"/>
              </a:rPr>
              <a:t>联系人（同浦汇）：高辰辰　15339617481　产业招服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我方：上海市杨浦区科技企业服务中心　｜　上海市杨浦区科技企业联合会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周期 2026.08—2027.07　｜　2026年9月1日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机密 · 仅供同浦汇合作沟通，不作为对园区/投资方的承诺函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56832"/>
            <a:ext cx="102412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杨浦区科技企业服务中心 × 同浦汇 · 业务承接策划案 · 2026.09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Aft>
                <a:spcPts val="200"/>
              </a:spcAft>
            </a:pPr>
            <a:r>
              <a:rPr sz="900" b="1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