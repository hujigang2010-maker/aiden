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91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91695" cy="73152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C9A86B"/>
                </a:solidFill>
                <a:latin typeface="WenQuanYi Micro Hei"/>
              </a:rPr>
              <a:t>2026 年度活动</a:t>
            </a:r>
          </a:p>
          <a:p>
            <a:r>
              <a:rPr sz="5800" b="1">
                <a:solidFill>
                  <a:srgbClr val="FFFFFF"/>
                </a:solidFill>
                <a:latin typeface="WenQuanYi Micro Hei"/>
              </a:rPr>
              <a:t>费 用 清 单</a:t>
            </a:r>
          </a:p>
          <a:p>
            <a:r>
              <a:rPr sz="1400">
                <a:solidFill>
                  <a:srgbClr val="FBF7F0"/>
                </a:solidFill>
                <a:latin typeface="Calibri"/>
              </a:rPr>
              <a:t>Activity Expense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728655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999713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外部费用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¥-68,592.00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内部费用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¥-10,414.35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现场杂项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¥-925.88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合    计 ： </a:t>
            </a:r>
            <a:r>
              <a:rPr sz="1400">
                <a:solidFill>
                  <a:srgbClr val="B22222"/>
                </a:solidFill>
                <a:latin typeface="WenQuanYi Micro Hei"/>
              </a:rPr>
              <a:t>¥-79,932.23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8B0000"/>
                </a:solidFill>
                <a:latin typeface="WenQuanYi Micro Hei"/>
              </a:rPr>
              <a:t>  项 目 数 ： </a:t>
            </a:r>
            <a:r>
              <a:rPr sz="1400">
                <a:solidFill>
                  <a:srgbClr val="333333"/>
                </a:solidFill>
                <a:latin typeface="WenQuanYi Micro Hei"/>
              </a:rPr>
              <a:t>共 20 笔费用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费用清单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一、费用总览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447" y="132588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447" y="1325880"/>
            <a:ext cx="3474720" cy="16459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447" y="158191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外部费用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B22222"/>
                </a:solidFill>
                <a:latin typeface="WenQuanYi Micro Hei"/>
              </a:rPr>
              <a:t>¥-68,592.00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WenQuanYi Micro Hei"/>
              </a:rPr>
              <a:t>共 9 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8487" y="132588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8487" y="1325880"/>
            <a:ext cx="3474720" cy="16459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8487" y="158191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内部费用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B22222"/>
                </a:solidFill>
                <a:latin typeface="WenQuanYi Micro Hei"/>
              </a:rPr>
              <a:t>¥-10,414.35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WenQuanYi Micro Hei"/>
              </a:rPr>
              <a:t>共 7 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7527" y="1325880"/>
            <a:ext cx="347472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7527" y="1325880"/>
            <a:ext cx="3474720" cy="164592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7527" y="1581912"/>
            <a:ext cx="3474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6B6B6B"/>
                </a:solidFill>
                <a:latin typeface="WenQuanYi Micro Hei"/>
              </a:rPr>
              <a:t>现场杂项</a:t>
            </a:r>
          </a:p>
          <a:p>
            <a:pPr algn="ctr">
              <a:spcBef>
                <a:spcPts val="800"/>
              </a:spcBef>
            </a:pPr>
            <a:r>
              <a:rPr sz="2400" b="1">
                <a:solidFill>
                  <a:srgbClr val="B22222"/>
                </a:solidFill>
                <a:latin typeface="WenQuanYi Micro Hei"/>
              </a:rPr>
              <a:t>¥-925.88</a:t>
            </a:r>
          </a:p>
          <a:p>
            <a:pPr algn="ctr"/>
            <a:r>
              <a:rPr sz="1100">
                <a:solidFill>
                  <a:srgbClr val="6B6B6B"/>
                </a:solidFill>
                <a:latin typeface="WenQuanYi Micro Hei"/>
              </a:rPr>
              <a:t>共 4 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11094415" cy="2194560"/>
          </a:xfrm>
          <a:prstGeom prst="roundRect">
            <a:avLst/>
          </a:prstGeom>
          <a:solidFill>
            <a:srgbClr val="8B0000"/>
          </a:solidFill>
          <a:ln w="254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74720"/>
            <a:ext cx="1018001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A86B"/>
                </a:solidFill>
                <a:latin typeface="WenQuanYi Micro Hei"/>
              </a:rPr>
              <a:t>本次活动费用合计</a:t>
            </a:r>
          </a:p>
          <a:p>
            <a:pPr algn="ctr">
              <a:spcBef>
                <a:spcPts val="800"/>
              </a:spcBef>
            </a:pPr>
            <a:r>
              <a:rPr sz="5400" b="1">
                <a:solidFill>
                  <a:srgbClr val="FFFFFF"/>
                </a:solidFill>
                <a:latin typeface="WenQuanYi Micro Hei"/>
              </a:rPr>
              <a:t>¥-79,932.23</a:t>
            </a:r>
          </a:p>
          <a:p>
            <a:pPr algn="ctr">
              <a:spcBef>
                <a:spcPts val="1200"/>
              </a:spcBef>
            </a:pPr>
            <a:r>
              <a:rPr sz="1300">
                <a:solidFill>
                  <a:srgbClr val="FBF7F0"/>
                </a:solidFill>
                <a:latin typeface="WenQuanYi Micro Hei"/>
              </a:rPr>
              <a:t>= 外部 ¥-68,592.00  +  内部 ¥-10,414.35  +  现场 ¥-925.88  ·  共 20 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费用清单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二、外部费用明细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对外采购 / 服务 / 媒体 / 餐饮  ·  小计 ¥-68,592.00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2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292035"/>
                <a:gridCol w="2016990"/>
                <a:gridCol w="1741946"/>
                <a:gridCol w="4767432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主持人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Miranda 苗苗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¥-500.00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主持人礼服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晚宴期间演出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小五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¥-3,000.00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三人演出表演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摄影摄像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洪总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¥-3,000.00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摄影加云图片，及摄像影像记录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会务公司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杨总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¥-16,000.00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全部费用合计见附图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媒体支出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葛九明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¥-11,500.00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新华社、上海证券报、央视新闻客户端、央广网、中国新闻网、上海虹口融媒体、上海杨浦融媒体（其中500元由胡继刚付款）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晚宴用餐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尚九一滴水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¥-33,452.00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晚宴8桌用餐费用，主桌按1.5倍计算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证书制作及KT版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广告公司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¥-1,030.00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个人证书14件 + 企业证书10件 + 志愿者证书23件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8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晚宴红包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晚宴活动游戏环节用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打印费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主持人手稿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外部费用小计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B22222"/>
                          </a:solidFill>
                          <a:latin typeface="WenQuanYi Micro Hei"/>
                        </a:rPr>
                        <a:t>¥-68,592.00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费用清单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三、内部费用明细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内部团队垫付  ·  小计 ¥-10,414.35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2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292035"/>
                <a:gridCol w="2016990"/>
                <a:gridCol w="1741946"/>
                <a:gridCol w="4767432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茶歇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¥-2,000.50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盒马鲜生采购，单次≤30kg，分8单下单（含订单截图录屏）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布袋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¥-860.00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200个 × 4.30元/个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志愿者伴手礼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¥-2,025.00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30份 × 68元/份 = 2040元，使用15元券，实付2025元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志愿者证书邮寄费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胡继刚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¥-200.00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5位志愿者未现场领取证书及礼品，另含夏春等邮寄费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A4 刊册议程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佳玉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¥-4,400.00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500份刊册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6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午餐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F组-彭常丽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¥-780.00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大米先生 30元/份 × 26份（附付款截图）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活动前看场地用餐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王胜、王卓 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¥-148.85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活动前看场地三次用餐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内部费用小计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¥-10,414.35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费用清单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四、现场杂项明细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现场零星费用  ·  小计 ¥-925.88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60172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769"/>
                <a:gridCol w="2292035"/>
                <a:gridCol w="2016990"/>
                <a:gridCol w="1741946"/>
                <a:gridCol w="4767432"/>
              </a:tblGrid>
              <a:tr h="38404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项目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对接人 / 供应商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金额（元）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胸花 &amp; 台花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¥-488.00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胸花10个 + 台花1个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对讲机租赁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¥-138.88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租赁100元 + 来回运费38.88元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晚宴退费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¥-199.00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现场退费一笔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货拉拉送货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WenQuanYi Micro Hei"/>
                        </a:rPr>
                        <a:t>F组-朱俊锋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000" b="1">
                          <a:solidFill>
                            <a:srgbClr val="B22222"/>
                          </a:solidFill>
                          <a:latin typeface="WenQuanYi Micro Hei"/>
                        </a:rPr>
                        <a:t>¥-100.00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6B6B6B"/>
                          </a:solidFill>
                          <a:latin typeface="WenQuanYi Micro Hei"/>
                        </a:rPr>
                        <a:t>送复旦管院纸袋子 + 酒水送件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420624">
                <a:tc gridSpan="3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200" b="1">
                          <a:solidFill>
                            <a:srgbClr val="8B0000"/>
                          </a:solidFill>
                          <a:latin typeface="WenQuanYi Micro Hei"/>
                        </a:rPr>
                        <a:t>现场杂项小计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200" b="1">
                          <a:solidFill>
                            <a:srgbClr val="B22222"/>
                          </a:solidFill>
                          <a:latin typeface="WenQuanYi Micro Hei"/>
                        </a:rPr>
                        <a:t>¥-925.88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费用清单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77295" cy="7772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WenQuanYi Micro Hei"/>
              </a:rPr>
              <a:t>五、附表与合计</a:t>
            </a:r>
          </a:p>
          <a:p>
            <a:r>
              <a:rPr sz="1200">
                <a:solidFill>
                  <a:srgbClr val="C9A86B"/>
                </a:solidFill>
                <a:latin typeface="WenQuanYi Micro Hei"/>
              </a:rPr>
              <a:t>Appendix &amp;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73152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B0000"/>
                </a:solidFill>
                <a:latin typeface="WenQuanYi Micro Hei"/>
              </a:rPr>
              <a:t>附表 · 证书制作及KT版打印明细</a:t>
            </a:r>
          </a:p>
          <a:p>
            <a:r>
              <a:rPr sz="1000">
                <a:solidFill>
                  <a:srgbClr val="6B6B6B"/>
                </a:solidFill>
                <a:latin typeface="WenQuanYi Micro Hei"/>
              </a:rPr>
              <a:t>供应商：广告公司   单据编号：XH20260522016   合计 ¥1,030.00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6949435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747"/>
                <a:gridCol w="998721"/>
                <a:gridCol w="582587"/>
                <a:gridCol w="540974"/>
                <a:gridCol w="540974"/>
                <a:gridCol w="790654"/>
                <a:gridCol w="873881"/>
                <a:gridCol w="2163897"/>
              </a:tblGrid>
              <a:tr h="310896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</a:rPr>
                        <a:t>序号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</a:rPr>
                        <a:t>商品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</a:rPr>
                        <a:t>型号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</a:rPr>
                        <a:t>单位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</a:rPr>
                        <a:t>数量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</a:rPr>
                        <a:t>单价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</a:rPr>
                        <a:t>金额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WenQuanYi Micro Hei"/>
                        </a:rPr>
                        <a:t>备注</a:t>
                      </a:r>
                    </a:p>
                  </a:txBody>
                  <a:tcPr anchor="ctr">
                    <a:solidFill>
                      <a:srgbClr val="8B0000"/>
                    </a:solidFill>
                  </a:tcPr>
                </a:tc>
              </a:tr>
              <a:tr h="2743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彩色打印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HD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  <a:latin typeface="WenQuanYi Micro Hei"/>
                        </a:rPr>
                        <a:t>¥840.00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01-02 证书+外壳：企业10 + 个人14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2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彩色打印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A4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张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24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¥5.00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  <a:latin typeface="WenQuanYi Micro Hei"/>
                        </a:rPr>
                        <a:t>¥120.00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—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2743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彩色打印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A4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03 志愿者证书 珠光纸 1份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4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快递费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HD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次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1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900" b="1">
                          <a:solidFill>
                            <a:srgbClr val="333333"/>
                          </a:solidFill>
                          <a:latin typeface="WenQuanYi Micro Hei"/>
                        </a:rPr>
                        <a:t>¥35.00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900" b="0">
                          <a:solidFill>
                            <a:srgbClr val="333333"/>
                          </a:solidFill>
                          <a:latin typeface="WenQuanYi Micro Hei"/>
                        </a:rPr>
                        <a:t>04 证书160克超白+证书外壳 1套；闪送：尚九一滴水1F</a:t>
                      </a:r>
                    </a:p>
                  </a:txBody>
                  <a:tcPr anchor="ctr">
                    <a:solidFill>
                      <a:srgbClr val="FBF7F0"/>
                    </a:solidFill>
                  </a:tcPr>
                </a:tc>
              </a:tr>
              <a:tr h="347472">
                <a:tc gridSpan="6">
                  <a:txBody>
                    <a:bodyPr lIns="73152" rIns="73152" tIns="36576" bIns="36576" wrap="square"/>
                    <a:lstStyle/>
                    <a:p>
                      <a:pPr algn="ctr"/>
                      <a:r>
                        <a:rPr sz="1100" b="1">
                          <a:solidFill>
                            <a:srgbClr val="8B0000"/>
                          </a:solidFill>
                          <a:latin typeface="WenQuanYi Micro Hei"/>
                        </a:rPr>
                        <a:t>合计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r"/>
                      <a:r>
                        <a:rPr sz="1100" b="1">
                          <a:solidFill>
                            <a:srgbClr val="B22222"/>
                          </a:solidFill>
                          <a:latin typeface="WenQuanYi Micro Hei"/>
                        </a:rPr>
                        <a:t>¥1,030.00</a:t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WenQuanYi Micro Hei"/>
                        </a:rPr>
                        <a:t/>
                      </a:r>
                    </a:p>
                  </a:txBody>
                  <a:tcPr anchor="ctr">
                    <a:solidFill>
                      <a:srgbClr val="C9A86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863840" y="1188720"/>
            <a:ext cx="3931920" cy="5120640"/>
          </a:xfrm>
          <a:prstGeom prst="roundRect">
            <a:avLst/>
          </a:prstGeom>
          <a:solidFill>
            <a:srgbClr val="8B0000"/>
          </a:solidFill>
          <a:ln w="19050">
            <a:solidFill>
              <a:srgbClr val="C9A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41732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86B"/>
                </a:solidFill>
                <a:latin typeface="WenQuanYi Micro Hei"/>
              </a:rPr>
              <a:t>费用合计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FBF7F0"/>
                </a:solidFill>
                <a:latin typeface="WenQuanYi Micro Hei"/>
              </a:rPr>
              <a:t>外部费用
</a:t>
            </a:r>
            <a:r>
              <a:rPr sz="2000" b="1">
                <a:solidFill>
                  <a:srgbClr val="FFB6B6"/>
                </a:solidFill>
                <a:latin typeface="WenQuanYi Micro Hei"/>
              </a:rPr>
              <a:t>¥-68,592.00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FBF7F0"/>
                </a:solidFill>
                <a:latin typeface="WenQuanYi Micro Hei"/>
              </a:rPr>
              <a:t>内部费用
</a:t>
            </a:r>
            <a:r>
              <a:rPr sz="2000" b="1">
                <a:solidFill>
                  <a:srgbClr val="FFB6B6"/>
                </a:solidFill>
                <a:latin typeface="WenQuanYi Micro Hei"/>
              </a:rPr>
              <a:t>¥-10,414.35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FBF7F0"/>
                </a:solidFill>
                <a:latin typeface="WenQuanYi Micro Hei"/>
              </a:rPr>
              <a:t>现场杂项
</a:t>
            </a:r>
            <a:r>
              <a:rPr sz="2000" b="1">
                <a:solidFill>
                  <a:srgbClr val="FFB6B6"/>
                </a:solidFill>
                <a:latin typeface="WenQuanYi Micro Hei"/>
              </a:rPr>
              <a:t>¥-925.88</a:t>
            </a:r>
          </a:p>
          <a:p>
            <a:pPr algn="ctr">
              <a:spcBef>
                <a:spcPts val="2200"/>
              </a:spcBef>
            </a:pPr>
            <a:r>
              <a:rPr sz="1400">
                <a:solidFill>
                  <a:srgbClr val="C9A86B"/>
                </a:solidFill>
                <a:latin typeface="WenQuanYi Micro Hei"/>
              </a:rPr>
              <a:t>总  计</a:t>
            </a:r>
          </a:p>
          <a:p>
            <a:pPr algn="ctr">
              <a:spcBef>
                <a:spcPts val="400"/>
              </a:spcBef>
            </a:pPr>
            <a:r>
              <a:rPr sz="2800" b="1">
                <a:solidFill>
                  <a:srgbClr val="FFFFFF"/>
                </a:solidFill>
                <a:latin typeface="WenQuanYi Micro Hei"/>
              </a:rPr>
              <a:t>¥-79,932.23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5074920"/>
            <a:ext cx="3383280" cy="20000"/>
          </a:xfrm>
          <a:prstGeom prst="rect">
            <a:avLst/>
          </a:prstGeom>
          <a:solidFill>
            <a:srgbClr val="C9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>
                <a:solidFill>
                  <a:srgbClr val="6B6B6B"/>
                </a:solidFill>
                <a:latin typeface="WenQuanYi Micro Hei"/>
              </a:rPr>
              <a:t>2026 年度活动 · 费用清单</a:t>
            </a:r>
          </a:p>
          <a:p>
            <a:pPr algn="r"/>
            <a:r>
              <a:rPr sz="900">
                <a:solidFill>
                  <a:srgbClr val="6B6B6B"/>
                </a:solidFill>
                <a:latin typeface="WenQuanYi Micro 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