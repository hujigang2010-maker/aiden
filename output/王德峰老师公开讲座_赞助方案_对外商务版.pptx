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>
                <a:solidFill>
                  <a:srgbClr val="C4A35A"/>
                </a:solidFill>
                <a:latin typeface="微软雅黑"/>
                <a:ea typeface="微软雅黑"/>
                <a:cs typeface="微软雅黑"/>
              </a:rPr>
              <a:t>赞 助 方 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王德峰老师公开讲座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2120" y="3063240"/>
            <a:ext cx="114300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8E0D0"/>
                </a:solidFill>
                <a:latin typeface="微软雅黑"/>
                <a:ea typeface="微软雅黑"/>
                <a:cs typeface="微软雅黑"/>
              </a:rPr>
              <a:t>2026年10月31日（周六）9:00–12:00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E8E0D0"/>
                </a:solidFill>
                <a:latin typeface="微软雅黑"/>
                <a:ea typeface="微软雅黑"/>
                <a:cs typeface="微软雅黑"/>
              </a:rPr>
              <a:t>场地另行通知    ·    约 150 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0">
                <a:solidFill>
                  <a:srgbClr val="C4A35A"/>
                </a:solidFill>
                <a:latin typeface="微软雅黑"/>
                <a:ea typeface="微软雅黑"/>
                <a:cs typeface="微软雅黑"/>
              </a:rPr>
              <a:t>联合主办    上海市杨浦区科技企业联合会  ×  首乾书院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这场讲座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 /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60120"/>
            <a:ext cx="73152" cy="58521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960120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主讲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960120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王德峰，复旦大学哲学学院教授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18488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618488"/>
            <a:ext cx="73152" cy="5852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18488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18488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2026年10月31日（周六）9:00–12:00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76856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76856"/>
            <a:ext cx="73152" cy="58521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276856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场地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276856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具体地点待定，确定后另行通知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935224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73152" cy="5852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935224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35224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按约 150 座准备。对外售票 128 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593591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593591"/>
            <a:ext cx="73152" cy="58521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593591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主办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593591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上海市杨浦区科技企业联合会、首乾书院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59"/>
            <a:ext cx="11292840" cy="585216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51959"/>
            <a:ext cx="73152" cy="585216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51959"/>
            <a:ext cx="1371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听众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251959"/>
            <a:ext cx="91440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企业负责人、管理者，以及关心哲学与中国思想的公众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品牌出现在报名页、现场和活动照片中。讲座内容不冠名，不出售授课录像。
现场不设展位，也不做产品推介。一家企业选择一档。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上午议程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 /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05156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08:30–09:00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051560"/>
            <a:ext cx="8823960" cy="822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124712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入场签到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3560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听众看到背景板和报名页上的标识。首席支持可在签到处放一份资料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116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09:00–09:10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011680"/>
            <a:ext cx="8823960" cy="822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084832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开场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39572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主持人鸣谢。首席支持不超过 60 秒致辞，战略支持单独念到名称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71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09:10–10:40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2971800"/>
            <a:ext cx="8823960" cy="822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044952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公开讲座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35584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王德峰老师主讲。此段不插播企业内容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3192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10:40–11:20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3931920"/>
            <a:ext cx="8823960" cy="822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005072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现场交流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31596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听众提问。赞助席位按票档就座，不单独设置提问权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2331720" cy="822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8920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11:20–12:00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892040"/>
            <a:ext cx="8823960" cy="82296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4965192"/>
            <a:ext cx="84124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签书与合影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76088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前排票听众签书或签名。企业使用现场照片，不使用授课画面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六档里选一档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 /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0642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首席支持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1064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90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68,000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3911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主标识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60 秒致辞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前排票 4 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9601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0642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1064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 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490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48,000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3911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次主标识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单独口播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前排票 2 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96012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106424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合作支持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4" y="11064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1490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38,000 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039112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第二序列标识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口播名称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前排票 2 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55264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40156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40156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785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28,000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33425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背景板品牌列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集体鸣谢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中排票 2 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33672" y="3255264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40156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鸣谢支持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340156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785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18,000 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33425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鸣谢区名称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集体鸣谢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中排票 2 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3255264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340156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友好支持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13264" y="3401568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78561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9,800 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334256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报名页名单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列入鸣谢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后排票 2 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144768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首席同一行业只此一家。战略不与首席同业。两家合作支持之间避开直接竞品。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权益对照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 /  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8912" y="960120"/>
          <a:ext cx="10991088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72768"/>
                <a:gridCol w="1572768"/>
                <a:gridCol w="1572768"/>
                <a:gridCol w="1572768"/>
                <a:gridCol w="1572768"/>
                <a:gridCol w="1572768"/>
              </a:tblGrid>
              <a:tr h="347472"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权益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首席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战略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合作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鸣谢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友好</a:t>
                      </a:r>
                    </a:p>
                  </a:txBody>
                  <a:tcPr anchor="ctr">
                    <a:solidFill>
                      <a:srgbClr val="1A3A5C"/>
                    </a:solidFill>
                    <a:lnL w="9525" cap="flat" cmpd="sng" algn="ctr">
                      <a:solidFill>
                        <a:srgbClr val="1A3A5C"/>
                      </a:solidFill>
                      <a:prstDash val="solid"/>
                    </a:lnL>
                    <a:lnR w="9525" cap="flat" cmpd="sng" algn="ctr">
                      <a:solidFill>
                        <a:srgbClr val="1A3A5C"/>
                      </a:solidFill>
                      <a:prstDash val="solid"/>
                    </a:lnR>
                    <a:lnT w="9525" cap="flat" cmpd="sng" algn="ctr">
                      <a:solidFill>
                        <a:srgbClr val="1A3A5C"/>
                      </a:solidFill>
                      <a:prstDash val="solid"/>
                    </a:lnT>
                    <a:lnB w="9525" cap="flat" cmpd="sng" algn="ctr">
                      <a:solidFill>
                        <a:srgbClr val="1A3A5C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0.98万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名额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报名页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主位置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次主位置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第二序列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鸣谢列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名单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背景板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主标识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次主标识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品牌列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鸣谢区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不单列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口播+60秒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单独口播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口播名称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集体鸣谢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集体鸣谢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列入名单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前排 4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前排 2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前排 2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中排 2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中排 2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后排 2 张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签到资料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份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现场照片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可用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授课录像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不含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 lIns="36576" rIns="36576" tIns="27432" bIns="27432"/>
                    <a:lstStyle/>
                    <a:p>
                      <a:pPr algn="l"/>
                      <a:r>
                        <a:rPr sz="1300" b="1">
                          <a:solidFill>
                            <a:srgbClr val="1A3A5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同业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独家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不与首席同业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避开竞品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不限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不限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不限</a:t>
                      </a:r>
                    </a:p>
                  </a:txBody>
                  <a:tcPr anchor="ctr">
                    <a:solidFill>
                      <a:srgbClr val="EEF3F8"/>
                    </a:solidFill>
                    <a:lnL w="9525" cap="flat" cmpd="sng" algn="ctr">
                      <a:solidFill>
                        <a:srgbClr val="E4DBC8"/>
                      </a:solidFill>
                      <a:prstDash val="solid"/>
                    </a:lnL>
                    <a:lnR w="9525" cap="flat" cmpd="sng" algn="ctr">
                      <a:solidFill>
                        <a:srgbClr val="E4DBC8"/>
                      </a:solidFill>
                      <a:prstDash val="solid"/>
                    </a:lnR>
                    <a:lnT w="9525" cap="flat" cmpd="sng" algn="ctr">
                      <a:solidFill>
                        <a:srgbClr val="E4DBC8"/>
                      </a:solidFill>
                      <a:prstDash val="solid"/>
                    </a:lnT>
                    <a:lnB w="9525" cap="flat" cmpd="sng" algn="ctr">
                      <a:solidFill>
                        <a:srgbClr val="E4DBC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8932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门票从现有票档划出，不另加座。六档全部确认时，划出前排 10 张、中排 10 张、后排 8 张。未确认的档位不预留空座。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现场怎么出现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 /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60120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报名页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960120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960120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讲座信息下方，按首席、战略、合作、品牌、鸣谢、友好排列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73352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673352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海报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673352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673352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底部赞助列。讲座名称保持「王德峰老师公开讲座」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86584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86584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签到台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2386584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2386584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仅首席支持可放一份资料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99815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099815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背景板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3099815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3099815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主办双方名称在上，赞助标识在下。场地确定后，场地支持单独列明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13048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13048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813048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813048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鸣谢不超过 3 分钟。首席致辞不超过 60 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26280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526280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讲座过程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4526280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526280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不插播广告，不发放课程资料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39512"/>
            <a:ext cx="2103120" cy="621792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239512"/>
            <a:ext cx="1883664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结束后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5239512"/>
            <a:ext cx="9052560" cy="6217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5239512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企业获得现场照片。照片不含可单独传播的授课片段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边界与时间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7  /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60120"/>
            <a:ext cx="5806440" cy="49834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方案里没有的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534924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不以企业名称替换讲座名称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不提供授课录像、回放和课程剪辑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不安排老师单独代言或出席企业内场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不在现场销售其他课程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赞助款不退，缺席不折成门票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·  不写成协办单位或联合主办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6012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014984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场地确定后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另行通知具体地点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56232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11096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10月22日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21992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确认档位、标识、致辞人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52344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07208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10月24日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18104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付清赞助款，交门票名单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48456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10月28日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14216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定稿背景板和鸣谢词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44568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10月31日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10328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9:00 讲座开始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44068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495544"/>
            <a:ext cx="49834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11月5日前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806440"/>
            <a:ext cx="498348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发送现场照片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9601200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选定后回传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76656"/>
            <a:ext cx="1051560" cy="3200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王德峰老师公开讲座  ·  赞助方案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8  / 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勾选一档回复。需要盖章的，用同名 Word 文末确认表。付款账户在确认函中告知。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1732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17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首席支持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1732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68,000 元  1 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41732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417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战略支持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48,000 元  1 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9456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19456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9456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合作支持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19456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38,000 元  2 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219456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219456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19456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品牌支持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9456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28,000 元  2 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97180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29718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鸣谢支持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297180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18,000 元  3 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971800"/>
            <a:ext cx="3794760" cy="658368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2971800"/>
            <a:ext cx="411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297180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友好支持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971800"/>
            <a:ext cx="160020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9,800 元  4 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1417320"/>
            <a:ext cx="3383280" cy="310896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600200"/>
            <a:ext cx="3017520" cy="2788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A35A"/>
                </a:solidFill>
                <a:latin typeface="微软雅黑"/>
                <a:ea typeface="微软雅黑"/>
                <a:cs typeface="微软雅黑"/>
              </a:rPr>
              <a:t>请一并告知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公司名称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行业与对外名称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出席人、职务、手机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发票抬头和税号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授权人签字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77639"/>
            <a:ext cx="7680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首席支持请注明致辞人。
10月22日后确认的鸣谢、友好支持，不保证补印已送印的海报。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1129284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32180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上海市杨浦区科技企业联合会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C4A35A"/>
                </a:solidFill>
                <a:latin typeface="微软雅黑"/>
                <a:ea typeface="微软雅黑"/>
                <a:cs typeface="微软雅黑"/>
              </a:rPr>
              <a:t>联系人：胡继刚　　联合主办：首乾书院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王德峰老师公开讲座赞助方案</dc:title>
  <dc:subject>对外商务版</dc:subject>
  <dc:creator>上海市杨浦区科技企业联合会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