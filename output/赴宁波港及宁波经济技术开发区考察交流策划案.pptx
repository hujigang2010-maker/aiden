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434840"/>
            <a:ext cx="12191695" cy="242316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10515600" cy="365760"/>
          </a:xfrm>
          <a:prstGeom prst="rect">
            <a:avLst/>
          </a:prstGeom>
          <a:noFill/>
        </p:spPr>
        <p:txBody>
          <a:bodyPr wrap="square" anchor="t" lIns="50800" rIns="50800" tIns="25400" bIns="25400">
            <a:spAutoFit/>
          </a:bodyPr>
          <a:lstStyle/>
          <a:p>
            <a:pPr algn="l">
              <a:lnSpc>
                <a:spcPct val="110000"/>
              </a:lnSpc>
              <a:spcAft>
                <a:spcPts val="400"/>
              </a:spcAft>
            </a:pPr>
            <a:r>
              <a:rPr sz="1400" b="1">
                <a:solidFill>
                  <a:srgbClr val="2A8F8F"/>
                </a:solidFill>
                <a:latin typeface="微软雅黑"/>
                <a:ea typeface="微软雅黑"/>
                <a:cs typeface="微软雅黑"/>
              </a:rPr>
              <a:t>考察交流策划案  ·  V1.1</a:t>
            </a:r>
          </a:p>
        </p:txBody>
      </p:sp>
      <p:sp>
        <p:nvSpPr>
          <p:cNvPr id="6" name="TextBox 5"/>
          <p:cNvSpPr txBox="1"/>
          <p:nvPr/>
        </p:nvSpPr>
        <p:spPr>
          <a:xfrm>
            <a:off x="731520" y="1920240"/>
            <a:ext cx="10515600" cy="1097280"/>
          </a:xfrm>
          <a:prstGeom prst="rect">
            <a:avLst/>
          </a:prstGeom>
          <a:noFill/>
        </p:spPr>
        <p:txBody>
          <a:bodyPr wrap="square" anchor="t" lIns="50800" rIns="50800" tIns="25400" bIns="25400">
            <a:spAutoFit/>
          </a:bodyPr>
          <a:lstStyle/>
          <a:p>
            <a:pPr algn="l">
              <a:lnSpc>
                <a:spcPct val="110000"/>
              </a:lnSpc>
              <a:spcAft>
                <a:spcPts val="800"/>
              </a:spcAft>
            </a:pPr>
            <a:r>
              <a:rPr sz="3200" b="1">
                <a:solidFill>
                  <a:srgbClr val="FFFFFF"/>
                </a:solidFill>
                <a:latin typeface="微软雅黑"/>
                <a:ea typeface="微软雅黑"/>
                <a:cs typeface="微软雅黑"/>
              </a:rPr>
              <a:t>赴宁波港及宁波经济技术开发区考察交流策划案</a:t>
            </a:r>
          </a:p>
        </p:txBody>
      </p:sp>
      <p:sp>
        <p:nvSpPr>
          <p:cNvPr id="7" name="TextBox 6"/>
          <p:cNvSpPr txBox="1"/>
          <p:nvPr/>
        </p:nvSpPr>
        <p:spPr>
          <a:xfrm>
            <a:off x="731520" y="3108960"/>
            <a:ext cx="10515600" cy="457200"/>
          </a:xfrm>
          <a:prstGeom prst="rect">
            <a:avLst/>
          </a:prstGeom>
          <a:noFill/>
        </p:spPr>
        <p:txBody>
          <a:bodyPr wrap="square" anchor="t" lIns="50800" rIns="50800" tIns="25400" bIns="25400">
            <a:spAutoFit/>
          </a:bodyPr>
          <a:lstStyle/>
          <a:p>
            <a:pPr algn="l">
              <a:lnSpc>
                <a:spcPct val="110000"/>
              </a:lnSpc>
              <a:spcAft>
                <a:spcPts val="400"/>
              </a:spcAft>
            </a:pPr>
            <a:r>
              <a:rPr sz="1600" b="0">
                <a:solidFill>
                  <a:srgbClr val="C47E1A"/>
                </a:solidFill>
                <a:latin typeface="微软雅黑"/>
                <a:ea typeface="微软雅黑"/>
                <a:cs typeface="微软雅黑"/>
              </a:rPr>
              <a:t>招商引资 · 科技孵化 · 产业导入 · PE/VC · CVC 投洽合作</a:t>
            </a:r>
          </a:p>
        </p:txBody>
      </p:sp>
      <p:sp>
        <p:nvSpPr>
          <p:cNvPr id="8" name="TextBox 7"/>
          <p:cNvSpPr txBox="1"/>
          <p:nvPr/>
        </p:nvSpPr>
        <p:spPr>
          <a:xfrm>
            <a:off x="731520" y="4709160"/>
            <a:ext cx="10515600" cy="1645920"/>
          </a:xfrm>
          <a:prstGeom prst="rect">
            <a:avLst/>
          </a:prstGeom>
          <a:noFill/>
        </p:spPr>
        <p:txBody>
          <a:bodyPr wrap="square" anchor="t" lIns="50800" rIns="50800" tIns="25400" bIns="25400">
            <a:spAutoFit/>
          </a:bodyPr>
          <a:lstStyle/>
          <a:p>
            <a:pPr algn="l">
              <a:lnSpc>
                <a:spcPct val="110000"/>
              </a:lnSpc>
              <a:spcAft>
                <a:spcPts val="800"/>
              </a:spcAft>
            </a:pPr>
            <a:r>
              <a:rPr sz="1400" b="1">
                <a:solidFill>
                  <a:srgbClr val="FFFFFF"/>
                </a:solidFill>
                <a:latin typeface="微软雅黑"/>
                <a:ea typeface="微软雅黑"/>
                <a:cs typeface="微软雅黑"/>
              </a:rPr>
              <a:t>组织方：复旦大学住房政策研究中心 · 上海市杨浦区科技企业联合会</a:t>
            </a:r>
          </a:p>
          <a:p>
            <a:pPr algn="l">
              <a:lnSpc>
                <a:spcPct val="110000"/>
              </a:lnSpc>
              <a:spcAft>
                <a:spcPts val="800"/>
              </a:spcAft>
            </a:pPr>
            <a:r>
              <a:rPr sz="1400" b="1">
                <a:solidFill>
                  <a:srgbClr val="2A8F8F"/>
                </a:solidFill>
                <a:latin typeface="微软雅黑"/>
                <a:ea typeface="微软雅黑"/>
                <a:cs typeface="微软雅黑"/>
              </a:rPr>
              <a:t>提交对象：宁波经济技术开发区投资促进局</a:t>
            </a:r>
          </a:p>
          <a:p>
            <a:pPr algn="l">
              <a:lnSpc>
                <a:spcPct val="110000"/>
              </a:lnSpc>
              <a:spcAft>
                <a:spcPts val="800"/>
              </a:spcAft>
            </a:pPr>
            <a:r>
              <a:rPr sz="1300" b="0">
                <a:solidFill>
                  <a:srgbClr val="B8CFDC"/>
                </a:solidFill>
                <a:latin typeface="微软雅黑"/>
                <a:ea typeface="微软雅黑"/>
                <a:cs typeface="微软雅黑"/>
              </a:rPr>
              <a:t>考察人员：复旦大学校友及上海市科技企业家</a:t>
            </a:r>
          </a:p>
          <a:p>
            <a:pPr algn="l">
              <a:lnSpc>
                <a:spcPct val="110000"/>
              </a:lnSpc>
              <a:spcAft>
                <a:spcPts val="400"/>
              </a:spcAft>
            </a:pPr>
            <a:r>
              <a:rPr sz="1200" b="0">
                <a:solidFill>
                  <a:srgbClr val="9AB8C8"/>
                </a:solidFill>
                <a:latin typeface="微软雅黑"/>
                <a:ea typeface="微软雅黑"/>
                <a:cs typeface="微软雅黑"/>
              </a:rPr>
              <a:t>建议时间窗口：2026年8月至10月（择一两日）  ·  2026年7月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目录</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策划案结构</a:t>
            </a:r>
          </a:p>
          <a:p>
            <a:pPr algn="l">
              <a:lnSpc>
                <a:spcPct val="110000"/>
              </a:lnSpc>
              <a:spcAft>
                <a:spcPts val="400"/>
              </a:spcAft>
            </a:pPr>
            <a:r>
              <a:rPr sz="1200" b="0">
                <a:solidFill>
                  <a:srgbClr val="B8CFDC"/>
                </a:solidFill>
                <a:latin typeface="微软雅黑"/>
                <a:ea typeface="微软雅黑"/>
                <a:cs typeface="微软雅黑"/>
              </a:rPr>
              <a:t>提交贵局审阅 · 便于对接落地</a:t>
            </a:r>
          </a:p>
        </p:txBody>
      </p:sp>
      <p:sp>
        <p:nvSpPr>
          <p:cNvPr id="6" name="Rectangle 5"/>
          <p:cNvSpPr/>
          <p:nvPr/>
        </p:nvSpPr>
        <p:spPr>
          <a:xfrm>
            <a:off x="548640" y="1828800"/>
            <a:ext cx="3474720" cy="14630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3474720" cy="508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48840"/>
            <a:ext cx="3017520" cy="457200"/>
          </a:xfrm>
          <a:prstGeom prst="rect">
            <a:avLst/>
          </a:prstGeom>
          <a:noFill/>
        </p:spPr>
        <p:txBody>
          <a:bodyPr wrap="square" anchor="t" lIns="50800" rIns="50800" tIns="25400" bIns="25400">
            <a:spAutoFit/>
          </a:bodyPr>
          <a:lstStyle/>
          <a:p>
            <a:pPr algn="l">
              <a:lnSpc>
                <a:spcPct val="110000"/>
              </a:lnSpc>
              <a:spcAft>
                <a:spcPts val="400"/>
              </a:spcAft>
            </a:pPr>
            <a:r>
              <a:rPr sz="2200" b="1">
                <a:solidFill>
                  <a:srgbClr val="1A6B6B"/>
                </a:solidFill>
                <a:latin typeface="微软雅黑"/>
                <a:ea typeface="微软雅黑"/>
                <a:cs typeface="微软雅黑"/>
              </a:rPr>
              <a:t>01</a:t>
            </a:r>
          </a:p>
        </p:txBody>
      </p:sp>
      <p:sp>
        <p:nvSpPr>
          <p:cNvPr id="9" name="TextBox 8"/>
          <p:cNvSpPr txBox="1"/>
          <p:nvPr/>
        </p:nvSpPr>
        <p:spPr>
          <a:xfrm>
            <a:off x="777240" y="2651760"/>
            <a:ext cx="3017520" cy="41148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背景与目的</a:t>
            </a:r>
          </a:p>
        </p:txBody>
      </p:sp>
      <p:sp>
        <p:nvSpPr>
          <p:cNvPr id="10" name="Rectangle 9"/>
          <p:cNvSpPr/>
          <p:nvPr/>
        </p:nvSpPr>
        <p:spPr>
          <a:xfrm>
            <a:off x="4297679" y="1828800"/>
            <a:ext cx="3474720" cy="14630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97679" y="1828800"/>
            <a:ext cx="3474720" cy="508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79" y="2148840"/>
            <a:ext cx="3017520" cy="457200"/>
          </a:xfrm>
          <a:prstGeom prst="rect">
            <a:avLst/>
          </a:prstGeom>
          <a:noFill/>
        </p:spPr>
        <p:txBody>
          <a:bodyPr wrap="square" anchor="t" lIns="50800" rIns="50800" tIns="25400" bIns="25400">
            <a:spAutoFit/>
          </a:bodyPr>
          <a:lstStyle/>
          <a:p>
            <a:pPr algn="l">
              <a:lnSpc>
                <a:spcPct val="110000"/>
              </a:lnSpc>
              <a:spcAft>
                <a:spcPts val="400"/>
              </a:spcAft>
            </a:pPr>
            <a:r>
              <a:rPr sz="2200" b="1">
                <a:solidFill>
                  <a:srgbClr val="1A6B6B"/>
                </a:solidFill>
                <a:latin typeface="微软雅黑"/>
                <a:ea typeface="微软雅黑"/>
                <a:cs typeface="微软雅黑"/>
              </a:rPr>
              <a:t>02</a:t>
            </a:r>
          </a:p>
        </p:txBody>
      </p:sp>
      <p:sp>
        <p:nvSpPr>
          <p:cNvPr id="13" name="TextBox 12"/>
          <p:cNvSpPr txBox="1"/>
          <p:nvPr/>
        </p:nvSpPr>
        <p:spPr>
          <a:xfrm>
            <a:off x="4526279" y="2651760"/>
            <a:ext cx="3017520" cy="41148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组织与人员</a:t>
            </a:r>
          </a:p>
        </p:txBody>
      </p:sp>
      <p:sp>
        <p:nvSpPr>
          <p:cNvPr id="14" name="Rectangle 13"/>
          <p:cNvSpPr/>
          <p:nvPr/>
        </p:nvSpPr>
        <p:spPr>
          <a:xfrm>
            <a:off x="8046718" y="1828800"/>
            <a:ext cx="3474720" cy="14630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18" y="1828800"/>
            <a:ext cx="3474720" cy="508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8" y="2148840"/>
            <a:ext cx="3017520" cy="457200"/>
          </a:xfrm>
          <a:prstGeom prst="rect">
            <a:avLst/>
          </a:prstGeom>
          <a:noFill/>
        </p:spPr>
        <p:txBody>
          <a:bodyPr wrap="square" anchor="t" lIns="50800" rIns="50800" tIns="25400" bIns="25400">
            <a:spAutoFit/>
          </a:bodyPr>
          <a:lstStyle/>
          <a:p>
            <a:pPr algn="l">
              <a:lnSpc>
                <a:spcPct val="110000"/>
              </a:lnSpc>
              <a:spcAft>
                <a:spcPts val="400"/>
              </a:spcAft>
            </a:pPr>
            <a:r>
              <a:rPr sz="2200" b="1">
                <a:solidFill>
                  <a:srgbClr val="1A6B6B"/>
                </a:solidFill>
                <a:latin typeface="微软雅黑"/>
                <a:ea typeface="微软雅黑"/>
                <a:cs typeface="微软雅黑"/>
              </a:rPr>
              <a:t>03</a:t>
            </a:r>
          </a:p>
        </p:txBody>
      </p:sp>
      <p:sp>
        <p:nvSpPr>
          <p:cNvPr id="17" name="TextBox 16"/>
          <p:cNvSpPr txBox="1"/>
          <p:nvPr/>
        </p:nvSpPr>
        <p:spPr>
          <a:xfrm>
            <a:off x="8275318" y="2651760"/>
            <a:ext cx="3017520" cy="41148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合作主题方向</a:t>
            </a:r>
          </a:p>
        </p:txBody>
      </p:sp>
      <p:sp>
        <p:nvSpPr>
          <p:cNvPr id="18" name="Rectangle 17"/>
          <p:cNvSpPr/>
          <p:nvPr/>
        </p:nvSpPr>
        <p:spPr>
          <a:xfrm>
            <a:off x="548640" y="3657600"/>
            <a:ext cx="3474720" cy="14630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657600"/>
            <a:ext cx="3474720" cy="508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977640"/>
            <a:ext cx="3017520" cy="457200"/>
          </a:xfrm>
          <a:prstGeom prst="rect">
            <a:avLst/>
          </a:prstGeom>
          <a:noFill/>
        </p:spPr>
        <p:txBody>
          <a:bodyPr wrap="square" anchor="t" lIns="50800" rIns="50800" tIns="25400" bIns="25400">
            <a:spAutoFit/>
          </a:bodyPr>
          <a:lstStyle/>
          <a:p>
            <a:pPr algn="l">
              <a:lnSpc>
                <a:spcPct val="110000"/>
              </a:lnSpc>
              <a:spcAft>
                <a:spcPts val="400"/>
              </a:spcAft>
            </a:pPr>
            <a:r>
              <a:rPr sz="2200" b="1">
                <a:solidFill>
                  <a:srgbClr val="1A6B6B"/>
                </a:solidFill>
                <a:latin typeface="微软雅黑"/>
                <a:ea typeface="微软雅黑"/>
                <a:cs typeface="微软雅黑"/>
              </a:rPr>
              <a:t>04</a:t>
            </a:r>
          </a:p>
        </p:txBody>
      </p:sp>
      <p:sp>
        <p:nvSpPr>
          <p:cNvPr id="21" name="TextBox 20"/>
          <p:cNvSpPr txBox="1"/>
          <p:nvPr/>
        </p:nvSpPr>
        <p:spPr>
          <a:xfrm>
            <a:off x="777240" y="4480560"/>
            <a:ext cx="3017520" cy="41148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宁波港资源筛选</a:t>
            </a:r>
          </a:p>
        </p:txBody>
      </p:sp>
      <p:sp>
        <p:nvSpPr>
          <p:cNvPr id="22" name="Rectangle 21"/>
          <p:cNvSpPr/>
          <p:nvPr/>
        </p:nvSpPr>
        <p:spPr>
          <a:xfrm>
            <a:off x="4297679" y="3657600"/>
            <a:ext cx="3474720" cy="14630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79" y="3657600"/>
            <a:ext cx="3474720" cy="508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26279" y="3977640"/>
            <a:ext cx="3017520" cy="457200"/>
          </a:xfrm>
          <a:prstGeom prst="rect">
            <a:avLst/>
          </a:prstGeom>
          <a:noFill/>
        </p:spPr>
        <p:txBody>
          <a:bodyPr wrap="square" anchor="t" lIns="50800" rIns="50800" tIns="25400" bIns="25400">
            <a:spAutoFit/>
          </a:bodyPr>
          <a:lstStyle/>
          <a:p>
            <a:pPr algn="l">
              <a:lnSpc>
                <a:spcPct val="110000"/>
              </a:lnSpc>
              <a:spcAft>
                <a:spcPts val="400"/>
              </a:spcAft>
            </a:pPr>
            <a:r>
              <a:rPr sz="2200" b="1">
                <a:solidFill>
                  <a:srgbClr val="1A6B6B"/>
                </a:solidFill>
                <a:latin typeface="微软雅黑"/>
                <a:ea typeface="微软雅黑"/>
                <a:cs typeface="微软雅黑"/>
              </a:rPr>
              <a:t>05</a:t>
            </a:r>
          </a:p>
        </p:txBody>
      </p:sp>
      <p:sp>
        <p:nvSpPr>
          <p:cNvPr id="25" name="TextBox 24"/>
          <p:cNvSpPr txBox="1"/>
          <p:nvPr/>
        </p:nvSpPr>
        <p:spPr>
          <a:xfrm>
            <a:off x="4526279" y="4480560"/>
            <a:ext cx="3017520" cy="41148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互动链接与行程</a:t>
            </a:r>
          </a:p>
        </p:txBody>
      </p:sp>
      <p:sp>
        <p:nvSpPr>
          <p:cNvPr id="26" name="Rectangle 25"/>
          <p:cNvSpPr/>
          <p:nvPr/>
        </p:nvSpPr>
        <p:spPr>
          <a:xfrm>
            <a:off x="8046718" y="3657600"/>
            <a:ext cx="3474720" cy="14630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46718" y="3657600"/>
            <a:ext cx="3474720" cy="508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18" y="3977640"/>
            <a:ext cx="3017520" cy="457200"/>
          </a:xfrm>
          <a:prstGeom prst="rect">
            <a:avLst/>
          </a:prstGeom>
          <a:noFill/>
        </p:spPr>
        <p:txBody>
          <a:bodyPr wrap="square" anchor="t" lIns="50800" rIns="50800" tIns="25400" bIns="25400">
            <a:spAutoFit/>
          </a:bodyPr>
          <a:lstStyle/>
          <a:p>
            <a:pPr algn="l">
              <a:lnSpc>
                <a:spcPct val="110000"/>
              </a:lnSpc>
              <a:spcAft>
                <a:spcPts val="400"/>
              </a:spcAft>
            </a:pPr>
            <a:r>
              <a:rPr sz="2200" b="1">
                <a:solidFill>
                  <a:srgbClr val="1A6B6B"/>
                </a:solidFill>
                <a:latin typeface="微软雅黑"/>
                <a:ea typeface="微软雅黑"/>
                <a:cs typeface="微软雅黑"/>
              </a:rPr>
              <a:t>06</a:t>
            </a:r>
          </a:p>
        </p:txBody>
      </p:sp>
      <p:sp>
        <p:nvSpPr>
          <p:cNvPr id="29" name="TextBox 28"/>
          <p:cNvSpPr txBox="1"/>
          <p:nvPr/>
        </p:nvSpPr>
        <p:spPr>
          <a:xfrm>
            <a:off x="8275318" y="4480560"/>
            <a:ext cx="3017520" cy="41148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成果与恳请支持</a:t>
            </a:r>
          </a:p>
        </p:txBody>
      </p:sp>
      <p:sp>
        <p:nvSpPr>
          <p:cNvPr id="30" name="TextBox 29"/>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31" name="TextBox 30"/>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01 背景与目的</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为何赴宁波 · 希望达成什么</a:t>
            </a:r>
          </a:p>
          <a:p>
            <a:pPr algn="l">
              <a:lnSpc>
                <a:spcPct val="110000"/>
              </a:lnSpc>
              <a:spcAft>
                <a:spcPts val="400"/>
              </a:spcAft>
            </a:pPr>
            <a:r>
              <a:rPr sz="1200" b="0">
                <a:solidFill>
                  <a:srgbClr val="B8CFDC"/>
                </a:solidFill>
                <a:latin typeface="微软雅黑"/>
                <a:ea typeface="微软雅黑"/>
                <a:cs typeface="微软雅黑"/>
              </a:rPr>
              <a:t>以一次考察开启沪甬长效投促合作</a:t>
            </a:r>
          </a:p>
        </p:txBody>
      </p:sp>
      <p:sp>
        <p:nvSpPr>
          <p:cNvPr id="6" name="TextBox 5"/>
          <p:cNvSpPr txBox="1"/>
          <p:nvPr/>
        </p:nvSpPr>
        <p:spPr>
          <a:xfrm>
            <a:off x="457200" y="1280160"/>
            <a:ext cx="5486400" cy="4754880"/>
          </a:xfrm>
          <a:prstGeom prst="rect">
            <a:avLst/>
          </a:prstGeom>
          <a:noFill/>
        </p:spPr>
        <p:txBody>
          <a:bodyPr wrap="square" anchor="t" lIns="50800" rIns="50800" tIns="25400" bIns="25400">
            <a:spAutoFit/>
          </a:bodyPr>
          <a:lstStyle/>
          <a:p>
            <a:pPr algn="l">
              <a:lnSpc>
                <a:spcPct val="110000"/>
              </a:lnSpc>
              <a:spcAft>
                <a:spcPts val="800"/>
              </a:spcAft>
            </a:pPr>
            <a:r>
              <a:rPr sz="1400" b="1">
                <a:solidFill>
                  <a:srgbClr val="1A6B6B"/>
                </a:solidFill>
                <a:latin typeface="微软雅黑"/>
                <a:ea typeface="微软雅黑"/>
                <a:cs typeface="微软雅黑"/>
              </a:rPr>
              <a:t>项目背景</a:t>
            </a:r>
          </a:p>
          <a:p>
            <a:pPr algn="l">
              <a:lnSpc>
                <a:spcPct val="110000"/>
              </a:lnSpc>
              <a:spcAft>
                <a:spcPts val="1000"/>
              </a:spcAft>
            </a:pPr>
            <a:r>
              <a:rPr sz="1200" b="0">
                <a:solidFill>
                  <a:srgbClr val="222A33"/>
                </a:solidFill>
                <a:latin typeface="微软雅黑"/>
                <a:ea typeface="微软雅黑"/>
                <a:cs typeface="微软雅黑"/>
              </a:rPr>
              <a:t>· 复旦大学住房政策研究中心与上海市杨浦区科技企业联合会长期服务上海及长三角科技企业、校友企业家与产业投资机构，持续开展政产学研协同、产业考察与投促对接。</a:t>
            </a:r>
          </a:p>
          <a:p>
            <a:pPr algn="l">
              <a:lnSpc>
                <a:spcPct val="110000"/>
              </a:lnSpc>
              <a:spcAft>
                <a:spcPts val="1000"/>
              </a:spcAft>
            </a:pPr>
            <a:r>
              <a:rPr sz="1200" b="0">
                <a:solidFill>
                  <a:srgbClr val="222A33"/>
                </a:solidFill>
                <a:latin typeface="微软雅黑"/>
                <a:ea typeface="微软雅黑"/>
                <a:cs typeface="微软雅黑"/>
              </a:rPr>
              <a:t>· 宁波舟山港货物吞吐量连续多年位居全球第一、集装箱吞吐量稳居全球前列，穿山、梅山等港区构成世界级枢纽；宁波经济技术开发区（北仑）形成汽车、装备、石化等临港产业与集成电路、新材料、智能制造等新兴产业双重优势。</a:t>
            </a:r>
          </a:p>
          <a:p>
            <a:pPr algn="l">
              <a:lnSpc>
                <a:spcPct val="110000"/>
              </a:lnSpc>
              <a:spcAft>
                <a:spcPts val="1000"/>
              </a:spcAft>
            </a:pPr>
            <a:r>
              <a:rPr sz="1200" b="0">
                <a:solidFill>
                  <a:srgbClr val="222A33"/>
                </a:solidFill>
                <a:latin typeface="微软雅黑"/>
                <a:ea typeface="微软雅黑"/>
                <a:cs typeface="微软雅黑"/>
              </a:rPr>
              <a:t>· 为深化沪甬产业协同与资源互通，拟组织复旦校友及上海市科技企业家赴宁波港精选点位及当地特色企业开展参访与投促交流，推动招商引资、科技孵化、产业导入与资本对接落地。</a:t>
            </a:r>
          </a:p>
        </p:txBody>
      </p:sp>
      <p:sp>
        <p:nvSpPr>
          <p:cNvPr id="7" name="Rectangle 6"/>
          <p:cNvSpPr/>
          <p:nvPr/>
        </p:nvSpPr>
        <p:spPr>
          <a:xfrm>
            <a:off x="6217920" y="1280160"/>
            <a:ext cx="5394960" cy="475488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08760"/>
            <a:ext cx="4937760" cy="365760"/>
          </a:xfrm>
          <a:prstGeom prst="rect">
            <a:avLst/>
          </a:prstGeom>
          <a:noFill/>
        </p:spPr>
        <p:txBody>
          <a:bodyPr wrap="square" anchor="t" lIns="50800" rIns="50800" tIns="25400" bIns="25400">
            <a:spAutoFit/>
          </a:bodyPr>
          <a:lstStyle/>
          <a:p>
            <a:pPr algn="l">
              <a:lnSpc>
                <a:spcPct val="110000"/>
              </a:lnSpc>
              <a:spcAft>
                <a:spcPts val="400"/>
              </a:spcAft>
            </a:pPr>
            <a:r>
              <a:rPr sz="1400" b="1">
                <a:solidFill>
                  <a:srgbClr val="C47E1A"/>
                </a:solidFill>
                <a:latin typeface="微软雅黑"/>
                <a:ea typeface="微软雅黑"/>
                <a:cs typeface="微软雅黑"/>
              </a:rPr>
              <a:t>考察目的</a:t>
            </a:r>
          </a:p>
        </p:txBody>
      </p:sp>
      <p:sp>
        <p:nvSpPr>
          <p:cNvPr id="9" name="TextBox 8"/>
          <p:cNvSpPr txBox="1"/>
          <p:nvPr/>
        </p:nvSpPr>
        <p:spPr>
          <a:xfrm>
            <a:off x="6492240" y="2011680"/>
            <a:ext cx="4937760" cy="3749039"/>
          </a:xfrm>
          <a:prstGeom prst="rect">
            <a:avLst/>
          </a:prstGeom>
          <a:noFill/>
        </p:spPr>
        <p:txBody>
          <a:bodyPr wrap="square" anchor="t" lIns="50800" rIns="50800" tIns="25400" bIns="25400">
            <a:spAutoFit/>
          </a:bodyPr>
          <a:lstStyle/>
          <a:p>
            <a:pPr algn="l">
              <a:lnSpc>
                <a:spcPct val="110000"/>
              </a:lnSpc>
              <a:spcAft>
                <a:spcPts val="1200"/>
              </a:spcAft>
            </a:pPr>
            <a:r>
              <a:rPr sz="1300" b="0">
                <a:solidFill>
                  <a:srgbClr val="FFFFFF"/>
                </a:solidFill>
                <a:latin typeface="微软雅黑"/>
                <a:ea typeface="微软雅黑"/>
                <a:cs typeface="微软雅黑"/>
              </a:rPr>
              <a:t>1. 实地了解宁波港枢纽能力、智慧港口与临港产业生态，以及开发区招商政策与载体资源。</a:t>
            </a:r>
          </a:p>
          <a:p>
            <a:pPr algn="l">
              <a:lnSpc>
                <a:spcPct val="110000"/>
              </a:lnSpc>
              <a:spcAft>
                <a:spcPts val="1200"/>
              </a:spcAft>
            </a:pPr>
            <a:r>
              <a:rPr sz="1300" b="0">
                <a:solidFill>
                  <a:srgbClr val="FFFFFF"/>
                </a:solidFill>
                <a:latin typeface="微软雅黑"/>
                <a:ea typeface="微软雅黑"/>
                <a:cs typeface="微软雅黑"/>
              </a:rPr>
              <a:t>2. 组织复旦校友与上海科技企业家与港口运营方、特色企业、园区、投促机构面对面交流。</a:t>
            </a:r>
          </a:p>
          <a:p>
            <a:pPr algn="l">
              <a:lnSpc>
                <a:spcPct val="110000"/>
              </a:lnSpc>
              <a:spcAft>
                <a:spcPts val="1200"/>
              </a:spcAft>
            </a:pPr>
            <a:r>
              <a:rPr sz="1300" b="0">
                <a:solidFill>
                  <a:srgbClr val="FFFFFF"/>
                </a:solidFill>
                <a:latin typeface="微软雅黑"/>
                <a:ea typeface="微软雅黑"/>
                <a:cs typeface="微软雅黑"/>
              </a:rPr>
              <a:t>3. 围绕招商引资、科技孵化、产业导入、PE/VC 与 CVC 投资等议题建立可跟进的互动链接。</a:t>
            </a:r>
          </a:p>
          <a:p>
            <a:pPr algn="l">
              <a:lnSpc>
                <a:spcPct val="110000"/>
              </a:lnSpc>
              <a:spcAft>
                <a:spcPts val="1200"/>
              </a:spcAft>
            </a:pPr>
            <a:r>
              <a:rPr sz="1300" b="0">
                <a:solidFill>
                  <a:srgbClr val="FFFFFF"/>
                </a:solidFill>
                <a:latin typeface="微软雅黑"/>
                <a:ea typeface="微软雅黑"/>
                <a:cs typeface="微软雅黑"/>
              </a:rPr>
              <a:t>4. 形成项目线索与合作意向清单，为后续双向走访、专题对接与落地转化奠基。</a:t>
            </a:r>
          </a:p>
        </p:txBody>
      </p:sp>
      <p:sp>
        <p:nvSpPr>
          <p:cNvPr id="10" name="TextBox 9"/>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11" name="TextBox 10"/>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02 组织与接待</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三方分工清晰 · 便于落地执行</a:t>
            </a:r>
          </a:p>
        </p:txBody>
      </p:sp>
      <p:sp>
        <p:nvSpPr>
          <p:cNvPr id="6" name="Rectangle 5"/>
          <p:cNvSpPr/>
          <p:nvPr/>
        </p:nvSpPr>
        <p:spPr>
          <a:xfrm>
            <a:off x="457200" y="1371600"/>
            <a:ext cx="3566160" cy="4663440"/>
          </a:xfrm>
          <a:prstGeom prst="rect">
            <a:avLst/>
          </a:prstGeom>
          <a:solidFill>
            <a:srgbClr val="F3F7F9"/>
          </a:solidFill>
          <a:ln w="12700">
            <a:solidFill>
              <a:srgbClr val="D0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371600"/>
            <a:ext cx="63500" cy="466344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81328"/>
            <a:ext cx="3291840" cy="32004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组织方 · 学术与产业平台</a:t>
            </a:r>
          </a:p>
        </p:txBody>
      </p:sp>
      <p:sp>
        <p:nvSpPr>
          <p:cNvPr id="9" name="TextBox 8"/>
          <p:cNvSpPr txBox="1"/>
          <p:nvPr/>
        </p:nvSpPr>
        <p:spPr>
          <a:xfrm>
            <a:off x="640080" y="1810512"/>
            <a:ext cx="3291840" cy="4160520"/>
          </a:xfrm>
          <a:prstGeom prst="rect">
            <a:avLst/>
          </a:prstGeom>
          <a:noFill/>
        </p:spPr>
        <p:txBody>
          <a:bodyPr wrap="square" anchor="t" lIns="50800" rIns="50800" tIns="25400" bIns="25400">
            <a:spAutoFit/>
          </a:bodyPr>
          <a:lstStyle/>
          <a:p>
            <a:pPr algn="l">
              <a:lnSpc>
                <a:spcPct val="110000"/>
              </a:lnSpc>
              <a:spcAft>
                <a:spcPts val="500"/>
              </a:spcAft>
            </a:pPr>
            <a:r>
              <a:rPr sz="1100" b="0">
                <a:solidFill>
                  <a:srgbClr val="222A33"/>
                </a:solidFill>
                <a:latin typeface="微软雅黑"/>
                <a:ea typeface="微软雅黑"/>
                <a:cs typeface="微软雅黑"/>
              </a:rPr>
              <a:t>复旦大学住房政策研究中心</a:t>
            </a:r>
          </a:p>
          <a:p>
            <a:pPr algn="l">
              <a:lnSpc>
                <a:spcPct val="110000"/>
              </a:lnSpc>
              <a:spcAft>
                <a:spcPts val="500"/>
              </a:spcAft>
            </a:pPr>
            <a:r>
              <a:rPr sz="1100" b="0">
                <a:solidFill>
                  <a:srgbClr val="222A33"/>
                </a:solidFill>
                <a:latin typeface="微软雅黑"/>
                <a:ea typeface="微软雅黑"/>
                <a:cs typeface="微软雅黑"/>
              </a:rPr>
              <a:t/>
            </a:r>
          </a:p>
          <a:p>
            <a:pPr algn="l">
              <a:lnSpc>
                <a:spcPct val="110000"/>
              </a:lnSpc>
              <a:spcAft>
                <a:spcPts val="500"/>
              </a:spcAft>
            </a:pPr>
            <a:r>
              <a:rPr sz="1100" b="0">
                <a:solidFill>
                  <a:srgbClr val="222A33"/>
                </a:solidFill>
                <a:latin typeface="微软雅黑"/>
                <a:ea typeface="微软雅黑"/>
                <a:cs typeface="微软雅黑"/>
              </a:rPr>
              <a:t>· 统筹考察主题、议程设计与总结形成</a:t>
            </a:r>
          </a:p>
          <a:p>
            <a:pPr algn="l">
              <a:lnSpc>
                <a:spcPct val="110000"/>
              </a:lnSpc>
              <a:spcAft>
                <a:spcPts val="500"/>
              </a:spcAft>
            </a:pPr>
            <a:r>
              <a:rPr sz="1100" b="0">
                <a:solidFill>
                  <a:srgbClr val="222A33"/>
                </a:solidFill>
                <a:latin typeface="微软雅黑"/>
                <a:ea typeface="微软雅黑"/>
                <a:cs typeface="微软雅黑"/>
              </a:rPr>
              <a:t>· 发挥复旦校友网络与政策研究优势，提升交流层级与专业深度</a:t>
            </a:r>
          </a:p>
          <a:p>
            <a:pPr algn="l">
              <a:lnSpc>
                <a:spcPct val="110000"/>
              </a:lnSpc>
              <a:spcAft>
                <a:spcPts val="500"/>
              </a:spcAft>
            </a:pPr>
            <a:r>
              <a:rPr sz="1100" b="0">
                <a:solidFill>
                  <a:srgbClr val="222A33"/>
                </a:solidFill>
                <a:latin typeface="微软雅黑"/>
                <a:ea typeface="微软雅黑"/>
                <a:cs typeface="微软雅黑"/>
              </a:rPr>
              <a:t>· 协助梳理产业导入、空间载体与长效合作机制建议</a:t>
            </a:r>
          </a:p>
        </p:txBody>
      </p:sp>
      <p:sp>
        <p:nvSpPr>
          <p:cNvPr id="10" name="Rectangle 9"/>
          <p:cNvSpPr/>
          <p:nvPr/>
        </p:nvSpPr>
        <p:spPr>
          <a:xfrm>
            <a:off x="4206240" y="1371600"/>
            <a:ext cx="3566160" cy="4663440"/>
          </a:xfrm>
          <a:prstGeom prst="rect">
            <a:avLst/>
          </a:prstGeom>
          <a:solidFill>
            <a:srgbClr val="F3F7F9"/>
          </a:solidFill>
          <a:ln w="12700">
            <a:solidFill>
              <a:srgbClr val="D0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371600"/>
            <a:ext cx="63500" cy="4663440"/>
          </a:xfrm>
          <a:prstGeom prst="rect">
            <a:avLst/>
          </a:prstGeom>
          <a:solidFill>
            <a:srgbClr val="2A8F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481328"/>
            <a:ext cx="3291840" cy="32004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组织方 · 企业与资本组织</a:t>
            </a:r>
          </a:p>
        </p:txBody>
      </p:sp>
      <p:sp>
        <p:nvSpPr>
          <p:cNvPr id="13" name="TextBox 12"/>
          <p:cNvSpPr txBox="1"/>
          <p:nvPr/>
        </p:nvSpPr>
        <p:spPr>
          <a:xfrm>
            <a:off x="4389120" y="1810512"/>
            <a:ext cx="3291840" cy="4160520"/>
          </a:xfrm>
          <a:prstGeom prst="rect">
            <a:avLst/>
          </a:prstGeom>
          <a:noFill/>
        </p:spPr>
        <p:txBody>
          <a:bodyPr wrap="square" anchor="t" lIns="50800" rIns="50800" tIns="25400" bIns="25400">
            <a:spAutoFit/>
          </a:bodyPr>
          <a:lstStyle/>
          <a:p>
            <a:pPr algn="l">
              <a:lnSpc>
                <a:spcPct val="110000"/>
              </a:lnSpc>
              <a:spcAft>
                <a:spcPts val="500"/>
              </a:spcAft>
            </a:pPr>
            <a:r>
              <a:rPr sz="1100" b="0">
                <a:solidFill>
                  <a:srgbClr val="222A33"/>
                </a:solidFill>
                <a:latin typeface="微软雅黑"/>
                <a:ea typeface="微软雅黑"/>
                <a:cs typeface="微软雅黑"/>
              </a:rPr>
              <a:t>上海市杨浦区科技企业联合会</a:t>
            </a:r>
          </a:p>
          <a:p>
            <a:pPr algn="l">
              <a:lnSpc>
                <a:spcPct val="110000"/>
              </a:lnSpc>
              <a:spcAft>
                <a:spcPts val="500"/>
              </a:spcAft>
            </a:pPr>
            <a:r>
              <a:rPr sz="1100" b="0">
                <a:solidFill>
                  <a:srgbClr val="222A33"/>
                </a:solidFill>
                <a:latin typeface="微软雅黑"/>
                <a:ea typeface="微软雅黑"/>
                <a:cs typeface="微软雅黑"/>
              </a:rPr>
              <a:t/>
            </a:r>
          </a:p>
          <a:p>
            <a:pPr algn="l">
              <a:lnSpc>
                <a:spcPct val="110000"/>
              </a:lnSpc>
              <a:spcAft>
                <a:spcPts val="500"/>
              </a:spcAft>
            </a:pPr>
            <a:r>
              <a:rPr sz="1100" b="0">
                <a:solidFill>
                  <a:srgbClr val="222A33"/>
                </a:solidFill>
                <a:latin typeface="微软雅黑"/>
                <a:ea typeface="微软雅黑"/>
                <a:cs typeface="微软雅黑"/>
              </a:rPr>
              <a:t>· 组织上海市科技企业家、科创企业与相关投资机构参与</a:t>
            </a:r>
          </a:p>
          <a:p>
            <a:pPr algn="l">
              <a:lnSpc>
                <a:spcPct val="110000"/>
              </a:lnSpc>
              <a:spcAft>
                <a:spcPts val="500"/>
              </a:spcAft>
            </a:pPr>
            <a:r>
              <a:rPr sz="1100" b="0">
                <a:solidFill>
                  <a:srgbClr val="222A33"/>
                </a:solidFill>
                <a:latin typeface="微软雅黑"/>
                <a:ea typeface="微软雅黑"/>
                <a:cs typeface="微软雅黑"/>
              </a:rPr>
              <a:t>· 负责企业侧需求征集、参访对接与会后跟进撮合</a:t>
            </a:r>
          </a:p>
          <a:p>
            <a:pPr algn="l">
              <a:lnSpc>
                <a:spcPct val="110000"/>
              </a:lnSpc>
              <a:spcAft>
                <a:spcPts val="500"/>
              </a:spcAft>
            </a:pPr>
            <a:r>
              <a:rPr sz="1100" b="0">
                <a:solidFill>
                  <a:srgbClr val="222A33"/>
                </a:solidFill>
                <a:latin typeface="微软雅黑"/>
                <a:ea typeface="微软雅黑"/>
                <a:cs typeface="微软雅黑"/>
              </a:rPr>
              <a:t>· 推动 PE/VC、CVC 与产业项目之间的投洽交流</a:t>
            </a:r>
          </a:p>
        </p:txBody>
      </p:sp>
      <p:sp>
        <p:nvSpPr>
          <p:cNvPr id="14" name="Rectangle 13"/>
          <p:cNvSpPr/>
          <p:nvPr/>
        </p:nvSpPr>
        <p:spPr>
          <a:xfrm>
            <a:off x="7955280" y="1371600"/>
            <a:ext cx="3566160" cy="4663440"/>
          </a:xfrm>
          <a:prstGeom prst="rect">
            <a:avLst/>
          </a:prstGeom>
          <a:solidFill>
            <a:srgbClr val="F3F7F9"/>
          </a:solidFill>
          <a:ln w="12700">
            <a:solidFill>
              <a:srgbClr val="D0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955280" y="1371600"/>
            <a:ext cx="63500" cy="466344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1481328"/>
            <a:ext cx="3291840" cy="32004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接待单位 · 投促主责方</a:t>
            </a:r>
          </a:p>
        </p:txBody>
      </p:sp>
      <p:sp>
        <p:nvSpPr>
          <p:cNvPr id="17" name="TextBox 16"/>
          <p:cNvSpPr txBox="1"/>
          <p:nvPr/>
        </p:nvSpPr>
        <p:spPr>
          <a:xfrm>
            <a:off x="8138160" y="1810512"/>
            <a:ext cx="3291840" cy="4160520"/>
          </a:xfrm>
          <a:prstGeom prst="rect">
            <a:avLst/>
          </a:prstGeom>
          <a:noFill/>
        </p:spPr>
        <p:txBody>
          <a:bodyPr wrap="square" anchor="t" lIns="50800" rIns="50800" tIns="25400" bIns="25400">
            <a:spAutoFit/>
          </a:bodyPr>
          <a:lstStyle/>
          <a:p>
            <a:pPr algn="l">
              <a:lnSpc>
                <a:spcPct val="110000"/>
              </a:lnSpc>
              <a:spcAft>
                <a:spcPts val="500"/>
              </a:spcAft>
            </a:pPr>
            <a:r>
              <a:rPr sz="1100" b="0">
                <a:solidFill>
                  <a:srgbClr val="222A33"/>
                </a:solidFill>
                <a:latin typeface="微软雅黑"/>
                <a:ea typeface="微软雅黑"/>
                <a:cs typeface="微软雅黑"/>
              </a:rPr>
              <a:t>宁波经济技术开发区投资促进局</a:t>
            </a:r>
          </a:p>
          <a:p>
            <a:pPr algn="l">
              <a:lnSpc>
                <a:spcPct val="110000"/>
              </a:lnSpc>
              <a:spcAft>
                <a:spcPts val="500"/>
              </a:spcAft>
            </a:pPr>
            <a:r>
              <a:rPr sz="1100" b="0">
                <a:solidFill>
                  <a:srgbClr val="222A33"/>
                </a:solidFill>
                <a:latin typeface="微软雅黑"/>
                <a:ea typeface="微软雅黑"/>
                <a:cs typeface="微软雅黑"/>
              </a:rPr>
              <a:t/>
            </a:r>
          </a:p>
          <a:p>
            <a:pPr algn="l">
              <a:lnSpc>
                <a:spcPct val="110000"/>
              </a:lnSpc>
              <a:spcAft>
                <a:spcPts val="500"/>
              </a:spcAft>
            </a:pPr>
            <a:r>
              <a:rPr sz="1100" b="0">
                <a:solidFill>
                  <a:srgbClr val="222A33"/>
                </a:solidFill>
                <a:latin typeface="微软雅黑"/>
                <a:ea typeface="微软雅黑"/>
                <a:cs typeface="微软雅黑"/>
              </a:rPr>
              <a:t>· 统筹接待安排、政策宣讲与重点园区 / 企业参访协调</a:t>
            </a:r>
          </a:p>
          <a:p>
            <a:pPr algn="l">
              <a:lnSpc>
                <a:spcPct val="110000"/>
              </a:lnSpc>
              <a:spcAft>
                <a:spcPts val="500"/>
              </a:spcAft>
            </a:pPr>
            <a:r>
              <a:rPr sz="1100" b="0">
                <a:solidFill>
                  <a:srgbClr val="222A33"/>
                </a:solidFill>
                <a:latin typeface="微软雅黑"/>
                <a:ea typeface="微软雅黑"/>
                <a:cs typeface="微软雅黑"/>
              </a:rPr>
              <a:t>· 协助对接宁波舟山港相关展厅 / 港区及当地特色企业、孵化器</a:t>
            </a:r>
          </a:p>
          <a:p>
            <a:pPr algn="l">
              <a:lnSpc>
                <a:spcPct val="110000"/>
              </a:lnSpc>
              <a:spcAft>
                <a:spcPts val="500"/>
              </a:spcAft>
            </a:pPr>
            <a:r>
              <a:rPr sz="1100" b="0">
                <a:solidFill>
                  <a:srgbClr val="222A33"/>
                </a:solidFill>
                <a:latin typeface="微软雅黑"/>
                <a:ea typeface="微软雅黑"/>
                <a:cs typeface="微软雅黑"/>
              </a:rPr>
              <a:t>· 组织招商、投促与产业主管部门、企业代表座谈交流</a:t>
            </a:r>
          </a:p>
        </p:txBody>
      </p:sp>
      <p:sp>
        <p:nvSpPr>
          <p:cNvPr id="18" name="TextBox 17"/>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19" name="TextBox 18"/>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03 考察人员</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复旦校友 + 上海科技企业家</a:t>
            </a:r>
          </a:p>
          <a:p>
            <a:pPr algn="l">
              <a:lnSpc>
                <a:spcPct val="110000"/>
              </a:lnSpc>
              <a:spcAft>
                <a:spcPts val="400"/>
              </a:spcAft>
            </a:pPr>
            <a:r>
              <a:rPr sz="1200" b="0">
                <a:solidFill>
                  <a:srgbClr val="B8CFDC"/>
                </a:solidFill>
                <a:latin typeface="微软雅黑"/>
                <a:ea typeface="微软雅黑"/>
                <a:cs typeface="微软雅黑"/>
              </a:rPr>
              <a:t>建议规模：15–30 人（小而精、可深度交流）</a:t>
            </a:r>
          </a:p>
        </p:txBody>
      </p:sp>
      <p:sp>
        <p:nvSpPr>
          <p:cNvPr id="6" name="Rectangle 5"/>
          <p:cNvSpPr/>
          <p:nvPr/>
        </p:nvSpPr>
        <p:spPr>
          <a:xfrm>
            <a:off x="457200" y="1325880"/>
            <a:ext cx="11247120" cy="9144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325880"/>
            <a:ext cx="109728" cy="9144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490472"/>
            <a:ext cx="2926080" cy="594360"/>
          </a:xfrm>
          <a:prstGeom prst="rect">
            <a:avLst/>
          </a:prstGeom>
          <a:noFill/>
        </p:spPr>
        <p:txBody>
          <a:bodyPr wrap="square" anchor="ctr" lIns="50800" rIns="50800" tIns="25400" bIns="25400">
            <a:spAutoFit/>
          </a:bodyPr>
          <a:lstStyle/>
          <a:p>
            <a:pPr algn="l">
              <a:lnSpc>
                <a:spcPct val="110000"/>
              </a:lnSpc>
              <a:spcAft>
                <a:spcPts val="400"/>
              </a:spcAft>
            </a:pPr>
            <a:r>
              <a:rPr sz="1500" b="1">
                <a:solidFill>
                  <a:srgbClr val="0B3D5C"/>
                </a:solidFill>
                <a:latin typeface="微软雅黑"/>
                <a:ea typeface="微软雅黑"/>
                <a:cs typeface="微软雅黑"/>
              </a:rPr>
              <a:t>复旦大学校友</a:t>
            </a:r>
          </a:p>
        </p:txBody>
      </p:sp>
      <p:sp>
        <p:nvSpPr>
          <p:cNvPr id="9" name="TextBox 8"/>
          <p:cNvSpPr txBox="1"/>
          <p:nvPr/>
        </p:nvSpPr>
        <p:spPr>
          <a:xfrm>
            <a:off x="3931920" y="1490472"/>
            <a:ext cx="7498079" cy="59436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覆盖科技、制造、不动产与产业投资等领域的校友企业家与高管</a:t>
            </a:r>
          </a:p>
        </p:txBody>
      </p:sp>
      <p:sp>
        <p:nvSpPr>
          <p:cNvPr id="10" name="Rectangle 9"/>
          <p:cNvSpPr/>
          <p:nvPr/>
        </p:nvSpPr>
        <p:spPr>
          <a:xfrm>
            <a:off x="457200" y="2377440"/>
            <a:ext cx="11247120" cy="9144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377440"/>
            <a:ext cx="109728" cy="91440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542032"/>
            <a:ext cx="2926080" cy="594360"/>
          </a:xfrm>
          <a:prstGeom prst="rect">
            <a:avLst/>
          </a:prstGeom>
          <a:noFill/>
        </p:spPr>
        <p:txBody>
          <a:bodyPr wrap="square" anchor="ctr" lIns="50800" rIns="50800" tIns="25400" bIns="25400">
            <a:spAutoFit/>
          </a:bodyPr>
          <a:lstStyle/>
          <a:p>
            <a:pPr algn="l">
              <a:lnSpc>
                <a:spcPct val="110000"/>
              </a:lnSpc>
              <a:spcAft>
                <a:spcPts val="400"/>
              </a:spcAft>
            </a:pPr>
            <a:r>
              <a:rPr sz="1500" b="1">
                <a:solidFill>
                  <a:srgbClr val="0B3D5C"/>
                </a:solidFill>
                <a:latin typeface="微软雅黑"/>
                <a:ea typeface="微软雅黑"/>
                <a:cs typeface="微软雅黑"/>
              </a:rPr>
              <a:t>上海市科技企业家</a:t>
            </a:r>
          </a:p>
        </p:txBody>
      </p:sp>
      <p:sp>
        <p:nvSpPr>
          <p:cNvPr id="13" name="TextBox 12"/>
          <p:cNvSpPr txBox="1"/>
          <p:nvPr/>
        </p:nvSpPr>
        <p:spPr>
          <a:xfrm>
            <a:off x="3931920" y="2542032"/>
            <a:ext cx="7498079" cy="59436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杨浦及上海科创企业负责人、成长型企业与产业平台代表</a:t>
            </a:r>
          </a:p>
        </p:txBody>
      </p:sp>
      <p:sp>
        <p:nvSpPr>
          <p:cNvPr id="14" name="Rectangle 13"/>
          <p:cNvSpPr/>
          <p:nvPr/>
        </p:nvSpPr>
        <p:spPr>
          <a:xfrm>
            <a:off x="457200" y="3429000"/>
            <a:ext cx="11247120" cy="9144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429000"/>
            <a:ext cx="109728" cy="9144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93592"/>
            <a:ext cx="2926080" cy="594360"/>
          </a:xfrm>
          <a:prstGeom prst="rect">
            <a:avLst/>
          </a:prstGeom>
          <a:noFill/>
        </p:spPr>
        <p:txBody>
          <a:bodyPr wrap="square" anchor="ctr" lIns="50800" rIns="50800" tIns="25400" bIns="25400">
            <a:spAutoFit/>
          </a:bodyPr>
          <a:lstStyle/>
          <a:p>
            <a:pPr algn="l">
              <a:lnSpc>
                <a:spcPct val="110000"/>
              </a:lnSpc>
              <a:spcAft>
                <a:spcPts val="400"/>
              </a:spcAft>
            </a:pPr>
            <a:r>
              <a:rPr sz="1500" b="1">
                <a:solidFill>
                  <a:srgbClr val="0B3D5C"/>
                </a:solidFill>
                <a:latin typeface="微软雅黑"/>
                <a:ea typeface="微软雅黑"/>
                <a:cs typeface="微软雅黑"/>
              </a:rPr>
              <a:t>投资机构代表（拟）</a:t>
            </a:r>
          </a:p>
        </p:txBody>
      </p:sp>
      <p:sp>
        <p:nvSpPr>
          <p:cNvPr id="17" name="TextBox 16"/>
          <p:cNvSpPr txBox="1"/>
          <p:nvPr/>
        </p:nvSpPr>
        <p:spPr>
          <a:xfrm>
            <a:off x="3931920" y="3593592"/>
            <a:ext cx="7498079" cy="59436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关注长三角先进制造、临港产业与硬科技的 PE/VC、CVC 机构</a:t>
            </a:r>
          </a:p>
        </p:txBody>
      </p:sp>
      <p:sp>
        <p:nvSpPr>
          <p:cNvPr id="18" name="Rectangle 17"/>
          <p:cNvSpPr/>
          <p:nvPr/>
        </p:nvSpPr>
        <p:spPr>
          <a:xfrm>
            <a:off x="457200" y="4480560"/>
            <a:ext cx="11247120" cy="9144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480560"/>
            <a:ext cx="109728" cy="91440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645152"/>
            <a:ext cx="2926080" cy="594360"/>
          </a:xfrm>
          <a:prstGeom prst="rect">
            <a:avLst/>
          </a:prstGeom>
          <a:noFill/>
        </p:spPr>
        <p:txBody>
          <a:bodyPr wrap="square" anchor="ctr" lIns="50800" rIns="50800" tIns="25400" bIns="25400">
            <a:spAutoFit/>
          </a:bodyPr>
          <a:lstStyle/>
          <a:p>
            <a:pPr algn="l">
              <a:lnSpc>
                <a:spcPct val="110000"/>
              </a:lnSpc>
              <a:spcAft>
                <a:spcPts val="400"/>
              </a:spcAft>
            </a:pPr>
            <a:r>
              <a:rPr sz="1500" b="1">
                <a:solidFill>
                  <a:srgbClr val="0B3D5C"/>
                </a:solidFill>
                <a:latin typeface="微软雅黑"/>
                <a:ea typeface="微软雅黑"/>
                <a:cs typeface="微软雅黑"/>
              </a:rPr>
              <a:t>组织方工作人员</a:t>
            </a:r>
          </a:p>
        </p:txBody>
      </p:sp>
      <p:sp>
        <p:nvSpPr>
          <p:cNvPr id="21" name="TextBox 20"/>
          <p:cNvSpPr txBox="1"/>
          <p:nvPr/>
        </p:nvSpPr>
        <p:spPr>
          <a:xfrm>
            <a:off x="3931920" y="4645152"/>
            <a:ext cx="7498079" cy="59436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负责行程统筹、现场组织与会后线索跟进</a:t>
            </a:r>
          </a:p>
        </p:txBody>
      </p:sp>
      <p:sp>
        <p:nvSpPr>
          <p:cNvPr id="22" name="TextBox 21"/>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23" name="TextBox 22"/>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04 合作方向</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参访交流 + 长期投洽事项</a:t>
            </a:r>
          </a:p>
          <a:p>
            <a:pPr algn="l">
              <a:lnSpc>
                <a:spcPct val="110000"/>
              </a:lnSpc>
              <a:spcAft>
                <a:spcPts val="400"/>
              </a:spcAft>
            </a:pPr>
            <a:r>
              <a:rPr sz="1200" b="0">
                <a:solidFill>
                  <a:srgbClr val="B8CFDC"/>
                </a:solidFill>
                <a:latin typeface="微软雅黑"/>
                <a:ea typeface="微软雅黑"/>
                <a:cs typeface="微软雅黑"/>
              </a:rPr>
              <a:t>招商引资 · 科技孵化 · 产业导入 · PE/VC · CVC</a:t>
            </a:r>
          </a:p>
        </p:txBody>
      </p:sp>
      <p:sp>
        <p:nvSpPr>
          <p:cNvPr id="6" name="Rectangle 5"/>
          <p:cNvSpPr/>
          <p:nvPr/>
        </p:nvSpPr>
        <p:spPr>
          <a:xfrm>
            <a:off x="411480" y="1280160"/>
            <a:ext cx="5440680" cy="2286000"/>
          </a:xfrm>
          <a:prstGeom prst="rect">
            <a:avLst/>
          </a:prstGeom>
          <a:solidFill>
            <a:srgbClr val="F3F7F9"/>
          </a:solidFill>
          <a:ln w="12700">
            <a:solidFill>
              <a:srgbClr val="D0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280160"/>
            <a:ext cx="63500" cy="22860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389888"/>
            <a:ext cx="5166360" cy="32004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招商引资与产业导入</a:t>
            </a:r>
          </a:p>
        </p:txBody>
      </p:sp>
      <p:sp>
        <p:nvSpPr>
          <p:cNvPr id="9" name="TextBox 8"/>
          <p:cNvSpPr txBox="1"/>
          <p:nvPr/>
        </p:nvSpPr>
        <p:spPr>
          <a:xfrm>
            <a:off x="594360" y="1719072"/>
            <a:ext cx="5166360" cy="1783080"/>
          </a:xfrm>
          <a:prstGeom prst="rect">
            <a:avLst/>
          </a:prstGeom>
          <a:noFill/>
        </p:spPr>
        <p:txBody>
          <a:bodyPr wrap="square" anchor="t" lIns="50800" rIns="50800" tIns="25400" bIns="25400">
            <a:spAutoFit/>
          </a:bodyPr>
          <a:lstStyle/>
          <a:p>
            <a:pPr algn="l">
              <a:lnSpc>
                <a:spcPct val="110000"/>
              </a:lnSpc>
              <a:spcAft>
                <a:spcPts val="500"/>
              </a:spcAft>
            </a:pPr>
            <a:r>
              <a:rPr sz="1100" b="0">
                <a:solidFill>
                  <a:srgbClr val="222A33"/>
                </a:solidFill>
                <a:latin typeface="微软雅黑"/>
                <a:ea typeface="微软雅黑"/>
                <a:cs typeface="微软雅黑"/>
              </a:rPr>
              <a:t>· 了解开发区主导产业、重点招商目录与优惠政策</a:t>
            </a:r>
          </a:p>
          <a:p>
            <a:pPr algn="l">
              <a:lnSpc>
                <a:spcPct val="110000"/>
              </a:lnSpc>
              <a:spcAft>
                <a:spcPts val="500"/>
              </a:spcAft>
            </a:pPr>
            <a:r>
              <a:rPr sz="1100" b="0">
                <a:solidFill>
                  <a:srgbClr val="222A33"/>
                </a:solidFill>
                <a:latin typeface="微软雅黑"/>
                <a:ea typeface="微软雅黑"/>
                <a:cs typeface="微软雅黑"/>
              </a:rPr>
              <a:t>· 对接适合上海科技企业外溢落地、分支设立与产能布局的载体</a:t>
            </a:r>
          </a:p>
          <a:p>
            <a:pPr algn="l">
              <a:lnSpc>
                <a:spcPct val="110000"/>
              </a:lnSpc>
              <a:spcAft>
                <a:spcPts val="500"/>
              </a:spcAft>
            </a:pPr>
            <a:r>
              <a:rPr sz="1100" b="0">
                <a:solidFill>
                  <a:srgbClr val="222A33"/>
                </a:solidFill>
                <a:latin typeface="微软雅黑"/>
                <a:ea typeface="微软雅黑"/>
                <a:cs typeface="微软雅黑"/>
              </a:rPr>
              <a:t>· 形成“上海研发 / 总部 + 宁波制造 / 临港场景”的协同导入路径</a:t>
            </a:r>
          </a:p>
        </p:txBody>
      </p:sp>
      <p:sp>
        <p:nvSpPr>
          <p:cNvPr id="10" name="Rectangle 9"/>
          <p:cNvSpPr/>
          <p:nvPr/>
        </p:nvSpPr>
        <p:spPr>
          <a:xfrm>
            <a:off x="6263640" y="1280160"/>
            <a:ext cx="5440680" cy="2286000"/>
          </a:xfrm>
          <a:prstGeom prst="rect">
            <a:avLst/>
          </a:prstGeom>
          <a:solidFill>
            <a:srgbClr val="F3F7F9"/>
          </a:solidFill>
          <a:ln w="12700">
            <a:solidFill>
              <a:srgbClr val="D0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280160"/>
            <a:ext cx="63500" cy="2286000"/>
          </a:xfrm>
          <a:prstGeom prst="rect">
            <a:avLst/>
          </a:prstGeom>
          <a:solidFill>
            <a:srgbClr val="2A8F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389888"/>
            <a:ext cx="5166360" cy="32004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科技孵化与创新生态</a:t>
            </a:r>
          </a:p>
        </p:txBody>
      </p:sp>
      <p:sp>
        <p:nvSpPr>
          <p:cNvPr id="13" name="TextBox 12"/>
          <p:cNvSpPr txBox="1"/>
          <p:nvPr/>
        </p:nvSpPr>
        <p:spPr>
          <a:xfrm>
            <a:off x="6446520" y="1719072"/>
            <a:ext cx="5166360" cy="1783080"/>
          </a:xfrm>
          <a:prstGeom prst="rect">
            <a:avLst/>
          </a:prstGeom>
          <a:noFill/>
        </p:spPr>
        <p:txBody>
          <a:bodyPr wrap="square" anchor="t" lIns="50800" rIns="50800" tIns="25400" bIns="25400">
            <a:spAutoFit/>
          </a:bodyPr>
          <a:lstStyle/>
          <a:p>
            <a:pPr algn="l">
              <a:lnSpc>
                <a:spcPct val="110000"/>
              </a:lnSpc>
              <a:spcAft>
                <a:spcPts val="500"/>
              </a:spcAft>
            </a:pPr>
            <a:r>
              <a:rPr sz="1100" b="0">
                <a:solidFill>
                  <a:srgbClr val="222A33"/>
                </a:solidFill>
                <a:latin typeface="微软雅黑"/>
                <a:ea typeface="微软雅黑"/>
                <a:cs typeface="微软雅黑"/>
              </a:rPr>
              <a:t>· 参访开发区科技创业园、甬江科创区北仑片区等孵化加速载体</a:t>
            </a:r>
          </a:p>
          <a:p>
            <a:pPr algn="l">
              <a:lnSpc>
                <a:spcPct val="110000"/>
              </a:lnSpc>
              <a:spcAft>
                <a:spcPts val="500"/>
              </a:spcAft>
            </a:pPr>
            <a:r>
              <a:rPr sz="1100" b="0">
                <a:solidFill>
                  <a:srgbClr val="222A33"/>
                </a:solidFill>
                <a:latin typeface="微软雅黑"/>
                <a:ea typeface="微软雅黑"/>
                <a:cs typeface="微软雅黑"/>
              </a:rPr>
              <a:t>· 交流沪甬双城孵化协同、校友创业项目落地与导师资源互通</a:t>
            </a:r>
          </a:p>
          <a:p>
            <a:pPr algn="l">
              <a:lnSpc>
                <a:spcPct val="110000"/>
              </a:lnSpc>
              <a:spcAft>
                <a:spcPts val="500"/>
              </a:spcAft>
            </a:pPr>
            <a:r>
              <a:rPr sz="1100" b="0">
                <a:solidFill>
                  <a:srgbClr val="222A33"/>
                </a:solidFill>
                <a:latin typeface="微软雅黑"/>
                <a:ea typeface="微软雅黑"/>
                <a:cs typeface="微软雅黑"/>
              </a:rPr>
              <a:t>· 探讨联合路演、联合孵化与场景验证合作机制</a:t>
            </a:r>
          </a:p>
        </p:txBody>
      </p:sp>
      <p:sp>
        <p:nvSpPr>
          <p:cNvPr id="14" name="Rectangle 13"/>
          <p:cNvSpPr/>
          <p:nvPr/>
        </p:nvSpPr>
        <p:spPr>
          <a:xfrm>
            <a:off x="411480" y="3794760"/>
            <a:ext cx="5440680" cy="2286000"/>
          </a:xfrm>
          <a:prstGeom prst="rect">
            <a:avLst/>
          </a:prstGeom>
          <a:solidFill>
            <a:srgbClr val="F3F7F9"/>
          </a:solidFill>
          <a:ln w="12700">
            <a:solidFill>
              <a:srgbClr val="D0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3794760"/>
            <a:ext cx="63500" cy="228600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904488"/>
            <a:ext cx="5166360" cy="32004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宁波港与临港产业参访</a:t>
            </a:r>
          </a:p>
        </p:txBody>
      </p:sp>
      <p:sp>
        <p:nvSpPr>
          <p:cNvPr id="17" name="TextBox 16"/>
          <p:cNvSpPr txBox="1"/>
          <p:nvPr/>
        </p:nvSpPr>
        <p:spPr>
          <a:xfrm>
            <a:off x="594360" y="4233672"/>
            <a:ext cx="5166360" cy="1783080"/>
          </a:xfrm>
          <a:prstGeom prst="rect">
            <a:avLst/>
          </a:prstGeom>
          <a:noFill/>
        </p:spPr>
        <p:txBody>
          <a:bodyPr wrap="square" anchor="t" lIns="50800" rIns="50800" tIns="25400" bIns="25400">
            <a:spAutoFit/>
          </a:bodyPr>
          <a:lstStyle/>
          <a:p>
            <a:pPr algn="l">
              <a:lnSpc>
                <a:spcPct val="110000"/>
              </a:lnSpc>
              <a:spcAft>
                <a:spcPts val="500"/>
              </a:spcAft>
            </a:pPr>
            <a:r>
              <a:rPr sz="1100" b="0">
                <a:solidFill>
                  <a:srgbClr val="222A33"/>
                </a:solidFill>
                <a:latin typeface="微软雅黑"/>
                <a:ea typeface="微软雅黑"/>
                <a:cs typeface="微软雅黑"/>
              </a:rPr>
              <a:t>· 精选穿山港区、航运展示厅等可接待点位，直观认知世界级枢纽</a:t>
            </a:r>
          </a:p>
          <a:p>
            <a:pPr algn="l">
              <a:lnSpc>
                <a:spcPct val="110000"/>
              </a:lnSpc>
              <a:spcAft>
                <a:spcPts val="500"/>
              </a:spcAft>
            </a:pPr>
            <a:r>
              <a:rPr sz="1100" b="0">
                <a:solidFill>
                  <a:srgbClr val="222A33"/>
                </a:solidFill>
                <a:latin typeface="微软雅黑"/>
                <a:ea typeface="微软雅黑"/>
                <a:cs typeface="微软雅黑"/>
              </a:rPr>
              <a:t>· 对接外贸、供应链、海铁联运、港航服务与物流科技合作机会</a:t>
            </a:r>
          </a:p>
          <a:p>
            <a:pPr algn="l">
              <a:lnSpc>
                <a:spcPct val="110000"/>
              </a:lnSpc>
              <a:spcAft>
                <a:spcPts val="500"/>
              </a:spcAft>
            </a:pPr>
            <a:r>
              <a:rPr sz="1100" b="0">
                <a:solidFill>
                  <a:srgbClr val="222A33"/>
                </a:solidFill>
                <a:latin typeface="微软雅黑"/>
                <a:ea typeface="微软雅黑"/>
                <a:cs typeface="微软雅黑"/>
              </a:rPr>
              <a:t>· 把港口认知转化为企业家供应链与出海场景的务实对话</a:t>
            </a:r>
          </a:p>
        </p:txBody>
      </p:sp>
      <p:sp>
        <p:nvSpPr>
          <p:cNvPr id="18" name="Rectangle 17"/>
          <p:cNvSpPr/>
          <p:nvPr/>
        </p:nvSpPr>
        <p:spPr>
          <a:xfrm>
            <a:off x="6263640" y="3794760"/>
            <a:ext cx="5440680" cy="2286000"/>
          </a:xfrm>
          <a:prstGeom prst="rect">
            <a:avLst/>
          </a:prstGeom>
          <a:solidFill>
            <a:srgbClr val="F3F7F9"/>
          </a:solidFill>
          <a:ln w="12700">
            <a:solidFill>
              <a:srgbClr val="D0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3794760"/>
            <a:ext cx="63500" cy="228600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904488"/>
            <a:ext cx="5166360" cy="32004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PE/VC 与 CVC 投洽合作</a:t>
            </a:r>
          </a:p>
        </p:txBody>
      </p:sp>
      <p:sp>
        <p:nvSpPr>
          <p:cNvPr id="21" name="TextBox 20"/>
          <p:cNvSpPr txBox="1"/>
          <p:nvPr/>
        </p:nvSpPr>
        <p:spPr>
          <a:xfrm>
            <a:off x="6446520" y="4233672"/>
            <a:ext cx="5166360" cy="1783080"/>
          </a:xfrm>
          <a:prstGeom prst="rect">
            <a:avLst/>
          </a:prstGeom>
          <a:noFill/>
        </p:spPr>
        <p:txBody>
          <a:bodyPr wrap="square" anchor="t" lIns="50800" rIns="50800" tIns="25400" bIns="25400">
            <a:spAutoFit/>
          </a:bodyPr>
          <a:lstStyle/>
          <a:p>
            <a:pPr algn="l">
              <a:lnSpc>
                <a:spcPct val="110000"/>
              </a:lnSpc>
              <a:spcAft>
                <a:spcPts val="500"/>
              </a:spcAft>
            </a:pPr>
            <a:r>
              <a:rPr sz="1100" b="0">
                <a:solidFill>
                  <a:srgbClr val="222A33"/>
                </a:solidFill>
                <a:latin typeface="微软雅黑"/>
                <a:ea typeface="微软雅黑"/>
                <a:cs typeface="微软雅黑"/>
              </a:rPr>
              <a:t>· 组织投资机构与当地优质企业、项目方开展闭门投洽</a:t>
            </a:r>
          </a:p>
          <a:p>
            <a:pPr algn="l">
              <a:lnSpc>
                <a:spcPct val="110000"/>
              </a:lnSpc>
              <a:spcAft>
                <a:spcPts val="500"/>
              </a:spcAft>
            </a:pPr>
            <a:r>
              <a:rPr sz="1100" b="0">
                <a:solidFill>
                  <a:srgbClr val="222A33"/>
                </a:solidFill>
                <a:latin typeface="微软雅黑"/>
                <a:ea typeface="微软雅黑"/>
                <a:cs typeface="微软雅黑"/>
              </a:rPr>
              <a:t>· 围绕成长期项目融资、产业并购、CVC 战略投资等议题交流</a:t>
            </a:r>
          </a:p>
          <a:p>
            <a:pPr algn="l">
              <a:lnSpc>
                <a:spcPct val="110000"/>
              </a:lnSpc>
              <a:spcAft>
                <a:spcPts val="500"/>
              </a:spcAft>
            </a:pPr>
            <a:r>
              <a:rPr sz="1100" b="0">
                <a:solidFill>
                  <a:srgbClr val="222A33"/>
                </a:solidFill>
                <a:latin typeface="微软雅黑"/>
                <a:ea typeface="微软雅黑"/>
                <a:cs typeface="微软雅黑"/>
              </a:rPr>
              <a:t>· 建立项目信息互通与常态化投促对接机制</a:t>
            </a:r>
          </a:p>
        </p:txBody>
      </p:sp>
      <p:sp>
        <p:nvSpPr>
          <p:cNvPr id="22" name="TextBox 21"/>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23" name="TextBox 22"/>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04 资源筛选</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宁波港不宜走马观花 · 按三原则精选</a:t>
            </a:r>
          </a:p>
          <a:p>
            <a:pPr algn="l">
              <a:lnSpc>
                <a:spcPct val="110000"/>
              </a:lnSpc>
              <a:spcAft>
                <a:spcPts val="400"/>
              </a:spcAft>
            </a:pPr>
            <a:r>
              <a:rPr sz="1200" b="0">
                <a:solidFill>
                  <a:srgbClr val="B8CFDC"/>
                </a:solidFill>
                <a:latin typeface="微软雅黑"/>
                <a:ea typeface="微软雅黑"/>
                <a:cs typeface="微软雅黑"/>
              </a:rPr>
              <a:t>建议认知路径：港口枢纽（看世界）→ 港航服务（懂通道）→ 临港智造（见产业）→ 科创载体（谈落地）→ 资本投洽（促转化），形成“看—问—对—跟”完整闭环。</a:t>
            </a:r>
          </a:p>
        </p:txBody>
      </p:sp>
      <p:sp>
        <p:nvSpPr>
          <p:cNvPr id="6" name="TextBox 5"/>
          <p:cNvSpPr txBox="1"/>
          <p:nvPr/>
        </p:nvSpPr>
        <p:spPr>
          <a:xfrm>
            <a:off x="457200" y="12801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1200" b="0">
                <a:solidFill>
                  <a:srgbClr val="222A33"/>
                </a:solidFill>
                <a:latin typeface="微软雅黑"/>
                <a:ea typeface="微软雅黑"/>
                <a:cs typeface="微软雅黑"/>
              </a:rPr>
              <a:t>宁波港体量大、港区多，不宜“走马观花”。本策划案按“可接待、可对话、可转化”三原则，从港口枢纽、港航服务、临港智造、科创孵化四条线筛选值得考察的点位，并设计与复旦校友、上海科技企业家及投资机构之间的互动链接。</a:t>
            </a:r>
          </a:p>
        </p:txBody>
      </p:sp>
      <p:sp>
        <p:nvSpPr>
          <p:cNvPr id="7" name="Rectangle 6"/>
          <p:cNvSpPr/>
          <p:nvPr/>
        </p:nvSpPr>
        <p:spPr>
          <a:xfrm>
            <a:off x="457200" y="2194560"/>
            <a:ext cx="2743200" cy="32004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194560"/>
            <a:ext cx="2743200" cy="635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468880"/>
            <a:ext cx="2468880" cy="457200"/>
          </a:xfrm>
          <a:prstGeom prst="rect">
            <a:avLst/>
          </a:prstGeom>
          <a:noFill/>
        </p:spPr>
        <p:txBody>
          <a:bodyPr wrap="square" anchor="t" lIns="50800" rIns="50800" tIns="25400" bIns="25400">
            <a:spAutoFit/>
          </a:bodyPr>
          <a:lstStyle/>
          <a:p>
            <a:pPr algn="l">
              <a:lnSpc>
                <a:spcPct val="110000"/>
              </a:lnSpc>
              <a:spcAft>
                <a:spcPts val="400"/>
              </a:spcAft>
            </a:pPr>
            <a:r>
              <a:rPr sz="1800" b="1">
                <a:solidFill>
                  <a:srgbClr val="1A6B6B"/>
                </a:solidFill>
                <a:latin typeface="微软雅黑"/>
                <a:ea typeface="微软雅黑"/>
                <a:cs typeface="微软雅黑"/>
              </a:rPr>
              <a:t>01</a:t>
            </a:r>
          </a:p>
        </p:txBody>
      </p:sp>
      <p:sp>
        <p:nvSpPr>
          <p:cNvPr id="10" name="TextBox 9"/>
          <p:cNvSpPr txBox="1"/>
          <p:nvPr/>
        </p:nvSpPr>
        <p:spPr>
          <a:xfrm>
            <a:off x="594360" y="3017520"/>
            <a:ext cx="2468880" cy="45720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可接待性</a:t>
            </a:r>
          </a:p>
        </p:txBody>
      </p:sp>
      <p:sp>
        <p:nvSpPr>
          <p:cNvPr id="11" name="TextBox 10"/>
          <p:cNvSpPr txBox="1"/>
          <p:nvPr/>
        </p:nvSpPr>
        <p:spPr>
          <a:xfrm>
            <a:off x="594360" y="3611880"/>
            <a:ext cx="2468880" cy="1463040"/>
          </a:xfrm>
          <a:prstGeom prst="rect">
            <a:avLst/>
          </a:prstGeom>
          <a:noFill/>
        </p:spPr>
        <p:txBody>
          <a:bodyPr wrap="square" anchor="t"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具备展厅、观景平台或团队接待先例，便于投促局协调开放</a:t>
            </a:r>
          </a:p>
        </p:txBody>
      </p:sp>
      <p:sp>
        <p:nvSpPr>
          <p:cNvPr id="12" name="Rectangle 11"/>
          <p:cNvSpPr/>
          <p:nvPr/>
        </p:nvSpPr>
        <p:spPr>
          <a:xfrm>
            <a:off x="3337560" y="2194560"/>
            <a:ext cx="2743200" cy="32004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2194560"/>
            <a:ext cx="2743200" cy="635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2468880"/>
            <a:ext cx="2468880" cy="457200"/>
          </a:xfrm>
          <a:prstGeom prst="rect">
            <a:avLst/>
          </a:prstGeom>
          <a:noFill/>
        </p:spPr>
        <p:txBody>
          <a:bodyPr wrap="square" anchor="t" lIns="50800" rIns="50800" tIns="25400" bIns="25400">
            <a:spAutoFit/>
          </a:bodyPr>
          <a:lstStyle/>
          <a:p>
            <a:pPr algn="l">
              <a:lnSpc>
                <a:spcPct val="110000"/>
              </a:lnSpc>
              <a:spcAft>
                <a:spcPts val="400"/>
              </a:spcAft>
            </a:pPr>
            <a:r>
              <a:rPr sz="1800" b="1">
                <a:solidFill>
                  <a:srgbClr val="1A6B6B"/>
                </a:solidFill>
                <a:latin typeface="微软雅黑"/>
                <a:ea typeface="微软雅黑"/>
                <a:cs typeface="微软雅黑"/>
              </a:rPr>
              <a:t>02</a:t>
            </a:r>
          </a:p>
        </p:txBody>
      </p:sp>
      <p:sp>
        <p:nvSpPr>
          <p:cNvPr id="15" name="TextBox 14"/>
          <p:cNvSpPr txBox="1"/>
          <p:nvPr/>
        </p:nvSpPr>
        <p:spPr>
          <a:xfrm>
            <a:off x="3474720" y="3017520"/>
            <a:ext cx="2468880" cy="45720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认知价值</a:t>
            </a:r>
          </a:p>
        </p:txBody>
      </p:sp>
      <p:sp>
        <p:nvSpPr>
          <p:cNvPr id="16" name="TextBox 15"/>
          <p:cNvSpPr txBox="1"/>
          <p:nvPr/>
        </p:nvSpPr>
        <p:spPr>
          <a:xfrm>
            <a:off x="3474720" y="3611880"/>
            <a:ext cx="2468880" cy="1463040"/>
          </a:xfrm>
          <a:prstGeom prst="rect">
            <a:avLst/>
          </a:prstGeom>
          <a:noFill/>
        </p:spPr>
        <p:txBody>
          <a:bodyPr wrap="square" anchor="t"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能在有限时间内建立对世界级港口与临港产业的系统性认知</a:t>
            </a:r>
          </a:p>
        </p:txBody>
      </p:sp>
      <p:sp>
        <p:nvSpPr>
          <p:cNvPr id="17" name="Rectangle 16"/>
          <p:cNvSpPr/>
          <p:nvPr/>
        </p:nvSpPr>
        <p:spPr>
          <a:xfrm>
            <a:off x="6217920" y="2194560"/>
            <a:ext cx="2743200" cy="32004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20" y="2194560"/>
            <a:ext cx="2743200" cy="6350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2468880"/>
            <a:ext cx="2468880" cy="457200"/>
          </a:xfrm>
          <a:prstGeom prst="rect">
            <a:avLst/>
          </a:prstGeom>
          <a:noFill/>
        </p:spPr>
        <p:txBody>
          <a:bodyPr wrap="square" anchor="t" lIns="50800" rIns="50800" tIns="25400" bIns="25400">
            <a:spAutoFit/>
          </a:bodyPr>
          <a:lstStyle/>
          <a:p>
            <a:pPr algn="l">
              <a:lnSpc>
                <a:spcPct val="110000"/>
              </a:lnSpc>
              <a:spcAft>
                <a:spcPts val="400"/>
              </a:spcAft>
            </a:pPr>
            <a:r>
              <a:rPr sz="1800" b="1">
                <a:solidFill>
                  <a:srgbClr val="1A6B6B"/>
                </a:solidFill>
                <a:latin typeface="微软雅黑"/>
                <a:ea typeface="微软雅黑"/>
                <a:cs typeface="微软雅黑"/>
              </a:rPr>
              <a:t>03</a:t>
            </a:r>
          </a:p>
        </p:txBody>
      </p:sp>
      <p:sp>
        <p:nvSpPr>
          <p:cNvPr id="20" name="TextBox 19"/>
          <p:cNvSpPr txBox="1"/>
          <p:nvPr/>
        </p:nvSpPr>
        <p:spPr>
          <a:xfrm>
            <a:off x="6355080" y="3017520"/>
            <a:ext cx="2468880" cy="45720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产业匹配</a:t>
            </a:r>
          </a:p>
        </p:txBody>
      </p:sp>
      <p:sp>
        <p:nvSpPr>
          <p:cNvPr id="21" name="TextBox 20"/>
          <p:cNvSpPr txBox="1"/>
          <p:nvPr/>
        </p:nvSpPr>
        <p:spPr>
          <a:xfrm>
            <a:off x="6355080" y="3611880"/>
            <a:ext cx="2468880" cy="1463040"/>
          </a:xfrm>
          <a:prstGeom prst="rect">
            <a:avLst/>
          </a:prstGeom>
          <a:noFill/>
        </p:spPr>
        <p:txBody>
          <a:bodyPr wrap="square" anchor="t"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与上海科技企业外溢、供应链协同、智能制造、新能源等需求相关</a:t>
            </a:r>
          </a:p>
        </p:txBody>
      </p:sp>
      <p:sp>
        <p:nvSpPr>
          <p:cNvPr id="22" name="Rectangle 21"/>
          <p:cNvSpPr/>
          <p:nvPr/>
        </p:nvSpPr>
        <p:spPr>
          <a:xfrm>
            <a:off x="9098280" y="2194560"/>
            <a:ext cx="2743200" cy="32004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98280" y="2194560"/>
            <a:ext cx="2743200" cy="6350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2468880"/>
            <a:ext cx="2468880" cy="457200"/>
          </a:xfrm>
          <a:prstGeom prst="rect">
            <a:avLst/>
          </a:prstGeom>
          <a:noFill/>
        </p:spPr>
        <p:txBody>
          <a:bodyPr wrap="square" anchor="t" lIns="50800" rIns="50800" tIns="25400" bIns="25400">
            <a:spAutoFit/>
          </a:bodyPr>
          <a:lstStyle/>
          <a:p>
            <a:pPr algn="l">
              <a:lnSpc>
                <a:spcPct val="110000"/>
              </a:lnSpc>
              <a:spcAft>
                <a:spcPts val="400"/>
              </a:spcAft>
            </a:pPr>
            <a:r>
              <a:rPr sz="1800" b="1">
                <a:solidFill>
                  <a:srgbClr val="1A6B6B"/>
                </a:solidFill>
                <a:latin typeface="微软雅黑"/>
                <a:ea typeface="微软雅黑"/>
                <a:cs typeface="微软雅黑"/>
              </a:rPr>
              <a:t>04</a:t>
            </a:r>
          </a:p>
        </p:txBody>
      </p:sp>
      <p:sp>
        <p:nvSpPr>
          <p:cNvPr id="25" name="TextBox 24"/>
          <p:cNvSpPr txBox="1"/>
          <p:nvPr/>
        </p:nvSpPr>
        <p:spPr>
          <a:xfrm>
            <a:off x="9235440" y="3017520"/>
            <a:ext cx="2468880" cy="457200"/>
          </a:xfrm>
          <a:prstGeom prst="rect">
            <a:avLst/>
          </a:prstGeom>
          <a:noFill/>
        </p:spPr>
        <p:txBody>
          <a:bodyPr wrap="square" anchor="t" lIns="50800" rIns="50800" tIns="25400" bIns="25400">
            <a:spAutoFit/>
          </a:bodyPr>
          <a:lstStyle/>
          <a:p>
            <a:pPr algn="l">
              <a:lnSpc>
                <a:spcPct val="110000"/>
              </a:lnSpc>
              <a:spcAft>
                <a:spcPts val="400"/>
              </a:spcAft>
            </a:pPr>
            <a:r>
              <a:rPr sz="1600" b="1">
                <a:solidFill>
                  <a:srgbClr val="0B3D5C"/>
                </a:solidFill>
                <a:latin typeface="微软雅黑"/>
                <a:ea typeface="微软雅黑"/>
                <a:cs typeface="微软雅黑"/>
              </a:rPr>
              <a:t>互动转化</a:t>
            </a:r>
          </a:p>
        </p:txBody>
      </p:sp>
      <p:sp>
        <p:nvSpPr>
          <p:cNvPr id="26" name="TextBox 25"/>
          <p:cNvSpPr txBox="1"/>
          <p:nvPr/>
        </p:nvSpPr>
        <p:spPr>
          <a:xfrm>
            <a:off x="9235440" y="3611880"/>
            <a:ext cx="2468880" cy="1463040"/>
          </a:xfrm>
          <a:prstGeom prst="rect">
            <a:avLst/>
          </a:prstGeom>
          <a:noFill/>
        </p:spPr>
        <p:txBody>
          <a:bodyPr wrap="square" anchor="t"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现场或会后可形成座谈、供需对接、孵化落地或投融资线索</a:t>
            </a:r>
          </a:p>
        </p:txBody>
      </p:sp>
      <p:sp>
        <p:nvSpPr>
          <p:cNvPr id="27" name="TextBox 26"/>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28" name="TextBox 27"/>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04 港口线精选</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核心必看 + 推荐加深 + 文化选配</a:t>
            </a:r>
          </a:p>
          <a:p>
            <a:pPr algn="l">
              <a:lnSpc>
                <a:spcPct val="110000"/>
              </a:lnSpc>
              <a:spcAft>
                <a:spcPts val="400"/>
              </a:spcAft>
            </a:pPr>
            <a:r>
              <a:rPr sz="1200" b="0">
                <a:solidFill>
                  <a:srgbClr val="B8CFDC"/>
                </a:solidFill>
                <a:latin typeface="微软雅黑"/>
                <a:ea typeface="微软雅黑"/>
                <a:cs typeface="微软雅黑"/>
              </a:rPr>
              <a:t>穿山港区 · 航运展示厅 · 梅山港区 · 港口博物馆</a:t>
            </a:r>
          </a:p>
        </p:txBody>
      </p:sp>
      <p:sp>
        <p:nvSpPr>
          <p:cNvPr id="6" name="Rectangle 5"/>
          <p:cNvSpPr/>
          <p:nvPr/>
        </p:nvSpPr>
        <p:spPr>
          <a:xfrm>
            <a:off x="365760" y="1234440"/>
            <a:ext cx="5669280" cy="22860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234440"/>
            <a:ext cx="63500" cy="22860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44168"/>
            <a:ext cx="5303520" cy="320040"/>
          </a:xfrm>
          <a:prstGeom prst="rect">
            <a:avLst/>
          </a:prstGeom>
          <a:noFill/>
        </p:spPr>
        <p:txBody>
          <a:bodyPr wrap="square" anchor="t"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【核心必看】</a:t>
            </a:r>
          </a:p>
        </p:txBody>
      </p:sp>
      <p:sp>
        <p:nvSpPr>
          <p:cNvPr id="9" name="TextBox 8"/>
          <p:cNvSpPr txBox="1"/>
          <p:nvPr/>
        </p:nvSpPr>
        <p:spPr>
          <a:xfrm>
            <a:off x="548640" y="1618488"/>
            <a:ext cx="5303520" cy="50292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穿山港区 · 北仑第三集装箱码头（展厅 + 观景平台）</a:t>
            </a:r>
          </a:p>
        </p:txBody>
      </p:sp>
      <p:sp>
        <p:nvSpPr>
          <p:cNvPr id="10" name="TextBox 9"/>
          <p:cNvSpPr txBox="1"/>
          <p:nvPr/>
        </p:nvSpPr>
        <p:spPr>
          <a:xfrm>
            <a:off x="548640" y="2194560"/>
            <a:ext cx="5303520" cy="118872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22A33"/>
                </a:solidFill>
                <a:latin typeface="微软雅黑"/>
                <a:ea typeface="微软雅黑"/>
                <a:cs typeface="微软雅黑"/>
              </a:rPr>
              <a:t>看：码头展厅讲解、12 楼观景平台俯瞰集装箱作业、智慧港口与远控化作业介绍。</a:t>
            </a:r>
          </a:p>
          <a:p>
            <a:pPr algn="l">
              <a:lnSpc>
                <a:spcPct val="110000"/>
              </a:lnSpc>
              <a:spcAft>
                <a:spcPts val="400"/>
              </a:spcAft>
            </a:pPr>
            <a:r>
              <a:rPr sz="1100" b="0">
                <a:solidFill>
                  <a:srgbClr val="5A636E"/>
                </a:solidFill>
                <a:latin typeface="微软雅黑"/>
                <a:ea typeface="微软雅黑"/>
                <a:cs typeface="微软雅黑"/>
              </a:rPr>
              <a:t>互动：与港区运营方座谈：航线网络、海铁联运、外贸箱量、物流时效与企业用港痛点。</a:t>
            </a:r>
          </a:p>
        </p:txBody>
      </p:sp>
      <p:sp>
        <p:nvSpPr>
          <p:cNvPr id="11" name="Rectangle 10"/>
          <p:cNvSpPr/>
          <p:nvPr/>
        </p:nvSpPr>
        <p:spPr>
          <a:xfrm>
            <a:off x="6217920" y="1234440"/>
            <a:ext cx="5669280" cy="22860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234440"/>
            <a:ext cx="63500" cy="22860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344168"/>
            <a:ext cx="5303520" cy="320040"/>
          </a:xfrm>
          <a:prstGeom prst="rect">
            <a:avLst/>
          </a:prstGeom>
          <a:noFill/>
        </p:spPr>
        <p:txBody>
          <a:bodyPr wrap="square" anchor="t"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【核心必看】</a:t>
            </a:r>
          </a:p>
        </p:txBody>
      </p:sp>
      <p:sp>
        <p:nvSpPr>
          <p:cNvPr id="14" name="TextBox 13"/>
          <p:cNvSpPr txBox="1"/>
          <p:nvPr/>
        </p:nvSpPr>
        <p:spPr>
          <a:xfrm>
            <a:off x="6400800" y="1618488"/>
            <a:ext cx="5303520" cy="50292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宁波环球航运广场 · 宁波舟山港展示厅</a:t>
            </a:r>
          </a:p>
        </p:txBody>
      </p:sp>
      <p:sp>
        <p:nvSpPr>
          <p:cNvPr id="15" name="TextBox 14"/>
          <p:cNvSpPr txBox="1"/>
          <p:nvPr/>
        </p:nvSpPr>
        <p:spPr>
          <a:xfrm>
            <a:off x="6400800" y="2194560"/>
            <a:ext cx="5303520" cy="118872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22A33"/>
                </a:solidFill>
                <a:latin typeface="微软雅黑"/>
                <a:ea typeface="微软雅黑"/>
                <a:cs typeface="微软雅黑"/>
              </a:rPr>
              <a:t>看：港口全景展示、5D / 虚拟体验、集装箱作业模拟、港航服务与开放平台介绍。</a:t>
            </a:r>
          </a:p>
          <a:p>
            <a:pPr algn="l">
              <a:lnSpc>
                <a:spcPct val="110000"/>
              </a:lnSpc>
              <a:spcAft>
                <a:spcPts val="400"/>
              </a:spcAft>
            </a:pPr>
            <a:r>
              <a:rPr sz="1100" b="0">
                <a:solidFill>
                  <a:srgbClr val="5A636E"/>
                </a:solidFill>
                <a:latin typeface="微软雅黑"/>
                <a:ea typeface="微软雅黑"/>
                <a:cs typeface="微软雅黑"/>
              </a:rPr>
              <a:t>互动：港航服务圆桌：航运代理、仓储、报关、金融与数字化服务需求对接。</a:t>
            </a:r>
          </a:p>
        </p:txBody>
      </p:sp>
      <p:sp>
        <p:nvSpPr>
          <p:cNvPr id="16" name="Rectangle 15"/>
          <p:cNvSpPr/>
          <p:nvPr/>
        </p:nvSpPr>
        <p:spPr>
          <a:xfrm>
            <a:off x="365760" y="3703320"/>
            <a:ext cx="5669280" cy="22860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3703320"/>
            <a:ext cx="63500" cy="228600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813048"/>
            <a:ext cx="5303520" cy="320040"/>
          </a:xfrm>
          <a:prstGeom prst="rect">
            <a:avLst/>
          </a:prstGeom>
          <a:noFill/>
        </p:spPr>
        <p:txBody>
          <a:bodyPr wrap="square" anchor="t"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【推荐加深】</a:t>
            </a:r>
          </a:p>
        </p:txBody>
      </p:sp>
      <p:sp>
        <p:nvSpPr>
          <p:cNvPr id="19" name="TextBox 18"/>
          <p:cNvSpPr txBox="1"/>
          <p:nvPr/>
        </p:nvSpPr>
        <p:spPr>
          <a:xfrm>
            <a:off x="548640" y="4087368"/>
            <a:ext cx="5303520" cy="50292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梅山港区（集装箱码头 / LNG 加注能力认知）</a:t>
            </a:r>
          </a:p>
        </p:txBody>
      </p:sp>
      <p:sp>
        <p:nvSpPr>
          <p:cNvPr id="20" name="TextBox 19"/>
          <p:cNvSpPr txBox="1"/>
          <p:nvPr/>
        </p:nvSpPr>
        <p:spPr>
          <a:xfrm>
            <a:off x="548640" y="4663440"/>
            <a:ext cx="5303520" cy="118872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22A33"/>
                </a:solidFill>
                <a:latin typeface="微软雅黑"/>
                <a:ea typeface="微软雅黑"/>
                <a:cs typeface="微软雅黑"/>
              </a:rPr>
              <a:t>看：港区概览、绿色港口与加注服务能力介绍（具体开放范围以港方安排为准）。</a:t>
            </a:r>
          </a:p>
          <a:p>
            <a:pPr algn="l">
              <a:lnSpc>
                <a:spcPct val="110000"/>
              </a:lnSpc>
              <a:spcAft>
                <a:spcPts val="400"/>
              </a:spcAft>
            </a:pPr>
            <a:r>
              <a:rPr sz="1100" b="0">
                <a:solidFill>
                  <a:srgbClr val="5A636E"/>
                </a:solidFill>
                <a:latin typeface="微软雅黑"/>
                <a:ea typeface="微软雅黑"/>
                <a:cs typeface="微软雅黑"/>
              </a:rPr>
              <a:t>互动：绿色航运与新能源补给话题交流，对接绿色物流、船燃与低碳供应链议题。</a:t>
            </a:r>
          </a:p>
        </p:txBody>
      </p:sp>
      <p:sp>
        <p:nvSpPr>
          <p:cNvPr id="21" name="Rectangle 20"/>
          <p:cNvSpPr/>
          <p:nvPr/>
        </p:nvSpPr>
        <p:spPr>
          <a:xfrm>
            <a:off x="6217920" y="3703320"/>
            <a:ext cx="5669280" cy="22860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703320"/>
            <a:ext cx="63500" cy="228600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813048"/>
            <a:ext cx="5303520" cy="320040"/>
          </a:xfrm>
          <a:prstGeom prst="rect">
            <a:avLst/>
          </a:prstGeom>
          <a:noFill/>
        </p:spPr>
        <p:txBody>
          <a:bodyPr wrap="square" anchor="t"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【文化选配】</a:t>
            </a:r>
          </a:p>
        </p:txBody>
      </p:sp>
      <p:sp>
        <p:nvSpPr>
          <p:cNvPr id="24" name="TextBox 23"/>
          <p:cNvSpPr txBox="1"/>
          <p:nvPr/>
        </p:nvSpPr>
        <p:spPr>
          <a:xfrm>
            <a:off x="6400800" y="4087368"/>
            <a:ext cx="5303520" cy="50292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宁波中国港口博物馆（梅山湾 · 春晓）</a:t>
            </a:r>
          </a:p>
        </p:txBody>
      </p:sp>
      <p:sp>
        <p:nvSpPr>
          <p:cNvPr id="25" name="TextBox 24"/>
          <p:cNvSpPr txBox="1"/>
          <p:nvPr/>
        </p:nvSpPr>
        <p:spPr>
          <a:xfrm>
            <a:off x="6400800" y="4663440"/>
            <a:ext cx="5303520" cy="118872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22A33"/>
                </a:solidFill>
                <a:latin typeface="微软雅黑"/>
                <a:ea typeface="微软雅黑"/>
                <a:cs typeface="微软雅黑"/>
              </a:rPr>
              <a:t>看：港口史、航海科技与水下考古常设展；团队需提前预约讲解。</a:t>
            </a:r>
          </a:p>
          <a:p>
            <a:pPr algn="l">
              <a:lnSpc>
                <a:spcPct val="110000"/>
              </a:lnSpc>
              <a:spcAft>
                <a:spcPts val="400"/>
              </a:spcAft>
            </a:pPr>
            <a:r>
              <a:rPr sz="1100" b="0">
                <a:solidFill>
                  <a:srgbClr val="5A636E"/>
                </a:solidFill>
                <a:latin typeface="微软雅黑"/>
                <a:ea typeface="微软雅黑"/>
                <a:cs typeface="微软雅黑"/>
              </a:rPr>
              <a:t>互动：轻量文化分享 + 合影留念，增强考察仪式感与传播素材。</a:t>
            </a:r>
          </a:p>
        </p:txBody>
      </p:sp>
      <p:sp>
        <p:nvSpPr>
          <p:cNvPr id="26" name="TextBox 25"/>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27" name="TextBox 26"/>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04 产业与孵化线</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智造标杆 + 新能源 + 硬科技 + 落地载体</a:t>
            </a:r>
          </a:p>
          <a:p>
            <a:pPr algn="l">
              <a:lnSpc>
                <a:spcPct val="110000"/>
              </a:lnSpc>
              <a:spcAft>
                <a:spcPts val="400"/>
              </a:spcAft>
            </a:pPr>
            <a:r>
              <a:rPr sz="1200" b="0">
                <a:solidFill>
                  <a:srgbClr val="B8CFDC"/>
                </a:solidFill>
                <a:latin typeface="微软雅黑"/>
                <a:ea typeface="微软雅黑"/>
                <a:cs typeface="微软雅黑"/>
              </a:rPr>
              <a:t>与上海企业家、投资机构需求精准匹配</a:t>
            </a:r>
          </a:p>
        </p:txBody>
      </p:sp>
      <p:sp>
        <p:nvSpPr>
          <p:cNvPr id="6" name="Rectangle 5"/>
          <p:cNvSpPr/>
          <p:nvPr/>
        </p:nvSpPr>
        <p:spPr>
          <a:xfrm>
            <a:off x="365760" y="1234440"/>
            <a:ext cx="5669280" cy="22860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234440"/>
            <a:ext cx="63500" cy="2286000"/>
          </a:xfrm>
          <a:prstGeom prst="rect">
            <a:avLst/>
          </a:prstGeom>
          <a:solidFill>
            <a:srgbClr val="2A8F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44168"/>
            <a:ext cx="5303520" cy="274320"/>
          </a:xfrm>
          <a:prstGeom prst="rect">
            <a:avLst/>
          </a:prstGeom>
          <a:noFill/>
        </p:spPr>
        <p:txBody>
          <a:bodyPr wrap="square" anchor="t" lIns="50800" rIns="50800" tIns="25400" bIns="25400">
            <a:spAutoFit/>
          </a:bodyPr>
          <a:lstStyle/>
          <a:p>
            <a:pPr algn="l">
              <a:lnSpc>
                <a:spcPct val="110000"/>
              </a:lnSpc>
              <a:spcAft>
                <a:spcPts val="400"/>
              </a:spcAft>
            </a:pPr>
            <a:r>
              <a:rPr sz="1100" b="1">
                <a:solidFill>
                  <a:srgbClr val="2A8F8F"/>
                </a:solidFill>
                <a:latin typeface="微软雅黑"/>
                <a:ea typeface="微软雅黑"/>
                <a:cs typeface="微软雅黑"/>
              </a:rPr>
              <a:t>【核心必看】</a:t>
            </a:r>
          </a:p>
        </p:txBody>
      </p:sp>
      <p:sp>
        <p:nvSpPr>
          <p:cNvPr id="9" name="TextBox 8"/>
          <p:cNvSpPr txBox="1"/>
          <p:nvPr/>
        </p:nvSpPr>
        <p:spPr>
          <a:xfrm>
            <a:off x="548640" y="1600200"/>
            <a:ext cx="5303520" cy="45720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海天智能制造基地 / 海天高端精密产业园</a:t>
            </a:r>
          </a:p>
        </p:txBody>
      </p:sp>
      <p:sp>
        <p:nvSpPr>
          <p:cNvPr id="10" name="TextBox 9"/>
          <p:cNvSpPr txBox="1"/>
          <p:nvPr/>
        </p:nvSpPr>
        <p:spPr>
          <a:xfrm>
            <a:off x="548640" y="2148840"/>
            <a:ext cx="5303520" cy="118872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22A33"/>
                </a:solidFill>
                <a:latin typeface="微软雅黑"/>
                <a:ea typeface="微软雅黑"/>
                <a:cs typeface="微软雅黑"/>
              </a:rPr>
              <a:t>链接：匹配对象：智能硬件、新材料、装备自动化、消费电子制造企业；探讨设备采购、联合研发或产能落地。</a:t>
            </a:r>
          </a:p>
          <a:p>
            <a:pPr algn="l">
              <a:lnSpc>
                <a:spcPct val="110000"/>
              </a:lnSpc>
              <a:spcAft>
                <a:spcPts val="400"/>
              </a:spcAft>
            </a:pPr>
            <a:r>
              <a:rPr sz="1100" b="0">
                <a:solidFill>
                  <a:srgbClr val="5A636E"/>
                </a:solidFill>
                <a:latin typeface="微软雅黑"/>
                <a:ea typeface="微软雅黑"/>
                <a:cs typeface="微软雅黑"/>
              </a:rPr>
              <a:t>互动：智能制造闭门交流：设备升级、模具协同、出海产能与供应链配套。</a:t>
            </a:r>
          </a:p>
        </p:txBody>
      </p:sp>
      <p:sp>
        <p:nvSpPr>
          <p:cNvPr id="11" name="Rectangle 10"/>
          <p:cNvSpPr/>
          <p:nvPr/>
        </p:nvSpPr>
        <p:spPr>
          <a:xfrm>
            <a:off x="6217920" y="1234440"/>
            <a:ext cx="5669280" cy="22860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234440"/>
            <a:ext cx="63500" cy="2286000"/>
          </a:xfrm>
          <a:prstGeom prst="rect">
            <a:avLst/>
          </a:prstGeom>
          <a:solidFill>
            <a:srgbClr val="2A8F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344168"/>
            <a:ext cx="5303520" cy="274320"/>
          </a:xfrm>
          <a:prstGeom prst="rect">
            <a:avLst/>
          </a:prstGeom>
          <a:noFill/>
        </p:spPr>
        <p:txBody>
          <a:bodyPr wrap="square" anchor="t" lIns="50800" rIns="50800" tIns="25400" bIns="25400">
            <a:spAutoFit/>
          </a:bodyPr>
          <a:lstStyle/>
          <a:p>
            <a:pPr algn="l">
              <a:lnSpc>
                <a:spcPct val="110000"/>
              </a:lnSpc>
              <a:spcAft>
                <a:spcPts val="400"/>
              </a:spcAft>
            </a:pPr>
            <a:r>
              <a:rPr sz="1100" b="1">
                <a:solidFill>
                  <a:srgbClr val="2A8F8F"/>
                </a:solidFill>
                <a:latin typeface="微软雅黑"/>
                <a:ea typeface="微软雅黑"/>
                <a:cs typeface="微软雅黑"/>
              </a:rPr>
              <a:t>【核心必看】</a:t>
            </a:r>
          </a:p>
        </p:txBody>
      </p:sp>
      <p:sp>
        <p:nvSpPr>
          <p:cNvPr id="14" name="TextBox 13"/>
          <p:cNvSpPr txBox="1"/>
          <p:nvPr/>
        </p:nvSpPr>
        <p:spPr>
          <a:xfrm>
            <a:off x="6400800" y="1600200"/>
            <a:ext cx="5303520" cy="45720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极氪梅山智慧工厂（或吉利新能源相关载体）</a:t>
            </a:r>
          </a:p>
        </p:txBody>
      </p:sp>
      <p:sp>
        <p:nvSpPr>
          <p:cNvPr id="15" name="TextBox 14"/>
          <p:cNvSpPr txBox="1"/>
          <p:nvPr/>
        </p:nvSpPr>
        <p:spPr>
          <a:xfrm>
            <a:off x="6400800" y="2148840"/>
            <a:ext cx="5303520" cy="118872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22A33"/>
                </a:solidFill>
                <a:latin typeface="微软雅黑"/>
                <a:ea typeface="微软雅黑"/>
                <a:cs typeface="微软雅黑"/>
              </a:rPr>
              <a:t>链接：匹配对象：汽车电子、机器人、新材料、CVC / 产业资本；形成配套合作或战略投资线索。</a:t>
            </a:r>
          </a:p>
          <a:p>
            <a:pPr algn="l">
              <a:lnSpc>
                <a:spcPct val="110000"/>
              </a:lnSpc>
              <a:spcAft>
                <a:spcPts val="400"/>
              </a:spcAft>
            </a:pPr>
            <a:r>
              <a:rPr sz="1100" b="0">
                <a:solidFill>
                  <a:srgbClr val="5A636E"/>
                </a:solidFill>
                <a:latin typeface="微软雅黑"/>
                <a:ea typeface="微软雅黑"/>
                <a:cs typeface="微软雅黑"/>
              </a:rPr>
              <a:t>互动：汽车产业生态对话：零部件配套、智能座舱、机器人与轻量化材料协同。</a:t>
            </a:r>
          </a:p>
        </p:txBody>
      </p:sp>
      <p:sp>
        <p:nvSpPr>
          <p:cNvPr id="16" name="Rectangle 15"/>
          <p:cNvSpPr/>
          <p:nvPr/>
        </p:nvSpPr>
        <p:spPr>
          <a:xfrm>
            <a:off x="365760" y="3703320"/>
            <a:ext cx="5669280" cy="22860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3703320"/>
            <a:ext cx="63500" cy="228600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813048"/>
            <a:ext cx="5303520" cy="274320"/>
          </a:xfrm>
          <a:prstGeom prst="rect">
            <a:avLst/>
          </a:prstGeom>
          <a:noFill/>
        </p:spPr>
        <p:txBody>
          <a:bodyPr wrap="square" anchor="t" lIns="50800" rIns="50800" tIns="25400" bIns="25400">
            <a:spAutoFit/>
          </a:bodyPr>
          <a:lstStyle/>
          <a:p>
            <a:pPr algn="l">
              <a:lnSpc>
                <a:spcPct val="110000"/>
              </a:lnSpc>
              <a:spcAft>
                <a:spcPts val="400"/>
              </a:spcAft>
            </a:pPr>
            <a:r>
              <a:rPr sz="1100" b="1">
                <a:solidFill>
                  <a:srgbClr val="2A8F8F"/>
                </a:solidFill>
                <a:latin typeface="微软雅黑"/>
                <a:ea typeface="微软雅黑"/>
                <a:cs typeface="微软雅黑"/>
              </a:rPr>
              <a:t>【推荐加深】</a:t>
            </a:r>
          </a:p>
        </p:txBody>
      </p:sp>
      <p:sp>
        <p:nvSpPr>
          <p:cNvPr id="19" name="TextBox 18"/>
          <p:cNvSpPr txBox="1"/>
          <p:nvPr/>
        </p:nvSpPr>
        <p:spPr>
          <a:xfrm>
            <a:off x="548640" y="4069080"/>
            <a:ext cx="5303520" cy="45720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拓普集团 / 东方电缆（二选一深访）</a:t>
            </a:r>
          </a:p>
        </p:txBody>
      </p:sp>
      <p:sp>
        <p:nvSpPr>
          <p:cNvPr id="20" name="TextBox 19"/>
          <p:cNvSpPr txBox="1"/>
          <p:nvPr/>
        </p:nvSpPr>
        <p:spPr>
          <a:xfrm>
            <a:off x="548640" y="4617720"/>
            <a:ext cx="5303520" cy="118872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22A33"/>
                </a:solidFill>
                <a:latin typeface="微软雅黑"/>
                <a:ea typeface="微软雅黑"/>
                <a:cs typeface="微软雅黑"/>
              </a:rPr>
              <a:t>链接：匹配对象：硬科技创业企业、PE/VC、产业资本；适合作为两日行“深访一企”环节。</a:t>
            </a:r>
          </a:p>
          <a:p>
            <a:pPr algn="l">
              <a:lnSpc>
                <a:spcPct val="110000"/>
              </a:lnSpc>
              <a:spcAft>
                <a:spcPts val="400"/>
              </a:spcAft>
            </a:pPr>
            <a:r>
              <a:rPr sz="1100" b="0">
                <a:solidFill>
                  <a:srgbClr val="5A636E"/>
                </a:solidFill>
                <a:latin typeface="微软雅黑"/>
                <a:ea typeface="微软雅黑"/>
                <a:cs typeface="微软雅黑"/>
              </a:rPr>
              <a:t>互动：硬科技深度对谈：技术合作、场景验证、股权 / 产业投资可能性。</a:t>
            </a:r>
          </a:p>
        </p:txBody>
      </p:sp>
      <p:sp>
        <p:nvSpPr>
          <p:cNvPr id="21" name="Rectangle 20"/>
          <p:cNvSpPr/>
          <p:nvPr/>
        </p:nvSpPr>
        <p:spPr>
          <a:xfrm>
            <a:off x="6217920" y="3703320"/>
            <a:ext cx="5669280" cy="228600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703320"/>
            <a:ext cx="63500" cy="2286000"/>
          </a:xfrm>
          <a:prstGeom prst="rect">
            <a:avLst/>
          </a:prstGeom>
          <a:solidFill>
            <a:srgbClr val="2A8F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3813048"/>
            <a:ext cx="5303520" cy="274320"/>
          </a:xfrm>
          <a:prstGeom prst="rect">
            <a:avLst/>
          </a:prstGeom>
          <a:noFill/>
        </p:spPr>
        <p:txBody>
          <a:bodyPr wrap="square" anchor="t" lIns="50800" rIns="50800" tIns="25400" bIns="25400">
            <a:spAutoFit/>
          </a:bodyPr>
          <a:lstStyle/>
          <a:p>
            <a:pPr algn="l">
              <a:lnSpc>
                <a:spcPct val="110000"/>
              </a:lnSpc>
              <a:spcAft>
                <a:spcPts val="400"/>
              </a:spcAft>
            </a:pPr>
            <a:r>
              <a:rPr sz="1100" b="1">
                <a:solidFill>
                  <a:srgbClr val="2A8F8F"/>
                </a:solidFill>
                <a:latin typeface="微软雅黑"/>
                <a:ea typeface="微软雅黑"/>
                <a:cs typeface="微软雅黑"/>
              </a:rPr>
              <a:t>【核心必看】</a:t>
            </a:r>
          </a:p>
        </p:txBody>
      </p:sp>
      <p:sp>
        <p:nvSpPr>
          <p:cNvPr id="24" name="TextBox 23"/>
          <p:cNvSpPr txBox="1"/>
          <p:nvPr/>
        </p:nvSpPr>
        <p:spPr>
          <a:xfrm>
            <a:off x="6400800" y="4069080"/>
            <a:ext cx="5303520" cy="457200"/>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开发区科技创业园 2.0 / 甬江科创区北仑片区</a:t>
            </a:r>
          </a:p>
        </p:txBody>
      </p:sp>
      <p:sp>
        <p:nvSpPr>
          <p:cNvPr id="25" name="TextBox 24"/>
          <p:cNvSpPr txBox="1"/>
          <p:nvPr/>
        </p:nvSpPr>
        <p:spPr>
          <a:xfrm>
            <a:off x="6400800" y="4617720"/>
            <a:ext cx="5303520" cy="118872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22A33"/>
                </a:solidFill>
                <a:latin typeface="微软雅黑"/>
                <a:ea typeface="微软雅黑"/>
                <a:cs typeface="微软雅黑"/>
              </a:rPr>
              <a:t>链接：匹配对象：有外溢落地意向的上海科创企业与校友创业项目；输出《落地意向登记表》。</a:t>
            </a:r>
          </a:p>
          <a:p>
            <a:pPr algn="l">
              <a:lnSpc>
                <a:spcPct val="110000"/>
              </a:lnSpc>
              <a:spcAft>
                <a:spcPts val="400"/>
              </a:spcAft>
            </a:pPr>
            <a:r>
              <a:rPr sz="1100" b="0">
                <a:solidFill>
                  <a:srgbClr val="5A636E"/>
                </a:solidFill>
                <a:latin typeface="微软雅黑"/>
                <a:ea typeface="微软雅黑"/>
                <a:cs typeface="微软雅黑"/>
              </a:rPr>
              <a:t>互动：落地工作坊：入驻条件、科创飞地、人才与资金支持一对一答疑。</a:t>
            </a:r>
          </a:p>
        </p:txBody>
      </p:sp>
      <p:sp>
        <p:nvSpPr>
          <p:cNvPr id="26" name="TextBox 25"/>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27" name="TextBox 26"/>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05 互动链接</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把参访变成沟通与转化</a:t>
            </a:r>
          </a:p>
          <a:p>
            <a:pPr algn="l">
              <a:lnSpc>
                <a:spcPct val="110000"/>
              </a:lnSpc>
              <a:spcAft>
                <a:spcPts val="400"/>
              </a:spcAft>
            </a:pPr>
            <a:r>
              <a:rPr sz="1200" b="0">
                <a:solidFill>
                  <a:srgbClr val="B8CFDC"/>
                </a:solidFill>
                <a:latin typeface="微软雅黑"/>
                <a:ea typeface="微软雅黑"/>
                <a:cs typeface="微软雅黑"/>
              </a:rPr>
              <a:t>看—问—对—跟 闭环</a:t>
            </a:r>
          </a:p>
        </p:txBody>
      </p:sp>
      <p:sp>
        <p:nvSpPr>
          <p:cNvPr id="6" name="Rectangle 5"/>
          <p:cNvSpPr/>
          <p:nvPr/>
        </p:nvSpPr>
        <p:spPr>
          <a:xfrm>
            <a:off x="365760" y="1234440"/>
            <a:ext cx="5669280" cy="228600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17320"/>
            <a:ext cx="5212080" cy="365760"/>
          </a:xfrm>
          <a:prstGeom prst="rect">
            <a:avLst/>
          </a:prstGeom>
          <a:noFill/>
        </p:spPr>
        <p:txBody>
          <a:bodyPr wrap="square" anchor="t" lIns="50800" rIns="50800" tIns="25400" bIns="25400">
            <a:spAutoFit/>
          </a:bodyPr>
          <a:lstStyle/>
          <a:p>
            <a:pPr algn="l">
              <a:lnSpc>
                <a:spcPct val="110000"/>
              </a:lnSpc>
              <a:spcAft>
                <a:spcPts val="400"/>
              </a:spcAft>
            </a:pPr>
            <a:r>
              <a:rPr sz="1400" b="1">
                <a:solidFill>
                  <a:srgbClr val="C47E1A"/>
                </a:solidFill>
                <a:latin typeface="微软雅黑"/>
                <a:ea typeface="微软雅黑"/>
                <a:cs typeface="微软雅黑"/>
              </a:rPr>
              <a:t>链接一 · 港航供应链圆桌</a:t>
            </a:r>
          </a:p>
        </p:txBody>
      </p:sp>
      <p:sp>
        <p:nvSpPr>
          <p:cNvPr id="8" name="TextBox 7"/>
          <p:cNvSpPr txBox="1"/>
          <p:nvPr/>
        </p:nvSpPr>
        <p:spPr>
          <a:xfrm>
            <a:off x="594360" y="1828800"/>
            <a:ext cx="5212080" cy="32004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A8F8F"/>
                </a:solidFill>
                <a:latin typeface="微软雅黑"/>
                <a:ea typeface="微软雅黑"/>
                <a:cs typeface="微软雅黑"/>
              </a:rPr>
              <a:t>穿山港区 / 航运展示厅之后 ｜ 45–60 分钟闭门圆桌</a:t>
            </a:r>
          </a:p>
        </p:txBody>
      </p:sp>
      <p:sp>
        <p:nvSpPr>
          <p:cNvPr id="9" name="TextBox 8"/>
          <p:cNvSpPr txBox="1"/>
          <p:nvPr/>
        </p:nvSpPr>
        <p:spPr>
          <a:xfrm>
            <a:off x="594360" y="2240280"/>
            <a:ext cx="5212080" cy="1097280"/>
          </a:xfrm>
          <a:prstGeom prst="rect">
            <a:avLst/>
          </a:prstGeom>
          <a:noFill/>
        </p:spPr>
        <p:txBody>
          <a:bodyPr wrap="square" anchor="t" lIns="50800" rIns="50800" tIns="25400" bIns="25400">
            <a:spAutoFit/>
          </a:bodyPr>
          <a:lstStyle/>
          <a:p>
            <a:pPr algn="l">
              <a:lnSpc>
                <a:spcPct val="110000"/>
              </a:lnSpc>
              <a:spcAft>
                <a:spcPts val="500"/>
              </a:spcAft>
            </a:pPr>
            <a:r>
              <a:rPr sz="1200" b="0">
                <a:solidFill>
                  <a:srgbClr val="FFFFFF"/>
                </a:solidFill>
                <a:latin typeface="微软雅黑"/>
                <a:ea typeface="微软雅黑"/>
                <a:cs typeface="微软雅黑"/>
              </a:rPr>
              <a:t>· 港方介绍航线、海铁联运与企业用港服务包</a:t>
            </a:r>
          </a:p>
          <a:p>
            <a:pPr algn="l">
              <a:lnSpc>
                <a:spcPct val="110000"/>
              </a:lnSpc>
              <a:spcAft>
                <a:spcPts val="500"/>
              </a:spcAft>
            </a:pPr>
            <a:r>
              <a:rPr sz="1200" b="0">
                <a:solidFill>
                  <a:srgbClr val="FFFFFF"/>
                </a:solidFill>
                <a:latin typeface="微软雅黑"/>
                <a:ea typeface="微软雅黑"/>
                <a:cs typeface="微软雅黑"/>
              </a:rPr>
              <a:t>· 上海企业家提出外贸物流、仓配、时效与数字化痛点</a:t>
            </a:r>
          </a:p>
          <a:p>
            <a:pPr algn="l">
              <a:lnSpc>
                <a:spcPct val="110000"/>
              </a:lnSpc>
              <a:spcAft>
                <a:spcPts val="500"/>
              </a:spcAft>
            </a:pPr>
            <a:r>
              <a:rPr sz="1200" b="0">
                <a:solidFill>
                  <a:srgbClr val="FFFFFF"/>
                </a:solidFill>
                <a:latin typeface="微软雅黑"/>
                <a:ea typeface="微软雅黑"/>
                <a:cs typeface="微软雅黑"/>
              </a:rPr>
              <a:t>· 形成 3–5 条可跟进的供应链优化或合作线索</a:t>
            </a:r>
          </a:p>
        </p:txBody>
      </p:sp>
      <p:sp>
        <p:nvSpPr>
          <p:cNvPr id="10" name="Rectangle 9"/>
          <p:cNvSpPr/>
          <p:nvPr/>
        </p:nvSpPr>
        <p:spPr>
          <a:xfrm>
            <a:off x="6217920" y="1234440"/>
            <a:ext cx="5669280" cy="2286000"/>
          </a:xfrm>
          <a:prstGeom prst="rect">
            <a:avLst/>
          </a:prstGeom>
          <a:solidFill>
            <a:srgbClr val="07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417320"/>
            <a:ext cx="5212080" cy="365760"/>
          </a:xfrm>
          <a:prstGeom prst="rect">
            <a:avLst/>
          </a:prstGeom>
          <a:noFill/>
        </p:spPr>
        <p:txBody>
          <a:bodyPr wrap="square" anchor="t" lIns="50800" rIns="50800" tIns="25400" bIns="25400">
            <a:spAutoFit/>
          </a:bodyPr>
          <a:lstStyle/>
          <a:p>
            <a:pPr algn="l">
              <a:lnSpc>
                <a:spcPct val="110000"/>
              </a:lnSpc>
              <a:spcAft>
                <a:spcPts val="400"/>
              </a:spcAft>
            </a:pPr>
            <a:r>
              <a:rPr sz="1400" b="1">
                <a:solidFill>
                  <a:srgbClr val="C47E1A"/>
                </a:solidFill>
                <a:latin typeface="微软雅黑"/>
                <a:ea typeface="微软雅黑"/>
                <a:cs typeface="微软雅黑"/>
              </a:rPr>
              <a:t>链接二 · 智能制造供需对接</a:t>
            </a:r>
          </a:p>
        </p:txBody>
      </p:sp>
      <p:sp>
        <p:nvSpPr>
          <p:cNvPr id="12" name="TextBox 11"/>
          <p:cNvSpPr txBox="1"/>
          <p:nvPr/>
        </p:nvSpPr>
        <p:spPr>
          <a:xfrm>
            <a:off x="6446520" y="1828800"/>
            <a:ext cx="5212080" cy="32004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A8F8F"/>
                </a:solidFill>
                <a:latin typeface="微软雅黑"/>
                <a:ea typeface="微软雅黑"/>
                <a:cs typeface="微软雅黑"/>
              </a:rPr>
              <a:t>海天基地或精密产业园现场 ｜ 现场讲解 + 分组座谈</a:t>
            </a:r>
          </a:p>
        </p:txBody>
      </p:sp>
      <p:sp>
        <p:nvSpPr>
          <p:cNvPr id="13" name="TextBox 12"/>
          <p:cNvSpPr txBox="1"/>
          <p:nvPr/>
        </p:nvSpPr>
        <p:spPr>
          <a:xfrm>
            <a:off x="6446520" y="2240280"/>
            <a:ext cx="5212080" cy="1097280"/>
          </a:xfrm>
          <a:prstGeom prst="rect">
            <a:avLst/>
          </a:prstGeom>
          <a:noFill/>
        </p:spPr>
        <p:txBody>
          <a:bodyPr wrap="square" anchor="t" lIns="50800" rIns="50800" tIns="25400" bIns="25400">
            <a:spAutoFit/>
          </a:bodyPr>
          <a:lstStyle/>
          <a:p>
            <a:pPr algn="l">
              <a:lnSpc>
                <a:spcPct val="110000"/>
              </a:lnSpc>
              <a:spcAft>
                <a:spcPts val="500"/>
              </a:spcAft>
            </a:pPr>
            <a:r>
              <a:rPr sz="1200" b="0">
                <a:solidFill>
                  <a:srgbClr val="FFFFFF"/>
                </a:solidFill>
                <a:latin typeface="微软雅黑"/>
                <a:ea typeface="微软雅黑"/>
                <a:cs typeface="微软雅黑"/>
              </a:rPr>
              <a:t>· 当地龙头介绍产业链配套与合作接口</a:t>
            </a:r>
          </a:p>
          <a:p>
            <a:pPr algn="l">
              <a:lnSpc>
                <a:spcPct val="110000"/>
              </a:lnSpc>
              <a:spcAft>
                <a:spcPts val="500"/>
              </a:spcAft>
            </a:pPr>
            <a:r>
              <a:rPr sz="1200" b="0">
                <a:solidFill>
                  <a:srgbClr val="FFFFFF"/>
                </a:solidFill>
                <a:latin typeface="微软雅黑"/>
                <a:ea typeface="微软雅黑"/>
                <a:cs typeface="微软雅黑"/>
              </a:rPr>
              <a:t>· 上海侧企业按“采购 / 联合研发 / 产能落地”三类报需求</a:t>
            </a:r>
          </a:p>
          <a:p>
            <a:pPr algn="l">
              <a:lnSpc>
                <a:spcPct val="110000"/>
              </a:lnSpc>
              <a:spcAft>
                <a:spcPts val="500"/>
              </a:spcAft>
            </a:pPr>
            <a:r>
              <a:rPr sz="1200" b="0">
                <a:solidFill>
                  <a:srgbClr val="FFFFFF"/>
                </a:solidFill>
                <a:latin typeface="微软雅黑"/>
                <a:ea typeface="微软雅黑"/>
                <a:cs typeface="微软雅黑"/>
              </a:rPr>
              <a:t>· 投促局记录对接意向，会后一对一跟进</a:t>
            </a:r>
          </a:p>
        </p:txBody>
      </p:sp>
      <p:sp>
        <p:nvSpPr>
          <p:cNvPr id="14" name="Rectangle 13"/>
          <p:cNvSpPr/>
          <p:nvPr/>
        </p:nvSpPr>
        <p:spPr>
          <a:xfrm>
            <a:off x="365760" y="3703320"/>
            <a:ext cx="5669280" cy="228600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886200"/>
            <a:ext cx="5212080" cy="365760"/>
          </a:xfrm>
          <a:prstGeom prst="rect">
            <a:avLst/>
          </a:prstGeom>
          <a:noFill/>
        </p:spPr>
        <p:txBody>
          <a:bodyPr wrap="square" anchor="t" lIns="50800" rIns="50800" tIns="25400" bIns="25400">
            <a:spAutoFit/>
          </a:bodyPr>
          <a:lstStyle/>
          <a:p>
            <a:pPr algn="l">
              <a:lnSpc>
                <a:spcPct val="110000"/>
              </a:lnSpc>
              <a:spcAft>
                <a:spcPts val="400"/>
              </a:spcAft>
            </a:pPr>
            <a:r>
              <a:rPr sz="1400" b="1">
                <a:solidFill>
                  <a:srgbClr val="C47E1A"/>
                </a:solidFill>
                <a:latin typeface="微软雅黑"/>
                <a:ea typeface="微软雅黑"/>
                <a:cs typeface="微软雅黑"/>
              </a:rPr>
              <a:t>链接三 · 科创落地工作坊</a:t>
            </a:r>
          </a:p>
        </p:txBody>
      </p:sp>
      <p:sp>
        <p:nvSpPr>
          <p:cNvPr id="16" name="TextBox 15"/>
          <p:cNvSpPr txBox="1"/>
          <p:nvPr/>
        </p:nvSpPr>
        <p:spPr>
          <a:xfrm>
            <a:off x="594360" y="4297680"/>
            <a:ext cx="5212080" cy="32004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A8F8F"/>
                </a:solidFill>
                <a:latin typeface="微软雅黑"/>
                <a:ea typeface="微软雅黑"/>
                <a:cs typeface="微软雅黑"/>
              </a:rPr>
              <a:t>科技创业园 / 甬江科创区北仑片区 ｜ 政策宣讲 + 意向登记</a:t>
            </a:r>
          </a:p>
        </p:txBody>
      </p:sp>
      <p:sp>
        <p:nvSpPr>
          <p:cNvPr id="17" name="TextBox 16"/>
          <p:cNvSpPr txBox="1"/>
          <p:nvPr/>
        </p:nvSpPr>
        <p:spPr>
          <a:xfrm>
            <a:off x="594360" y="4709160"/>
            <a:ext cx="5212080" cy="1097280"/>
          </a:xfrm>
          <a:prstGeom prst="rect">
            <a:avLst/>
          </a:prstGeom>
          <a:noFill/>
        </p:spPr>
        <p:txBody>
          <a:bodyPr wrap="square" anchor="t" lIns="50800" rIns="50800" tIns="25400" bIns="25400">
            <a:spAutoFit/>
          </a:bodyPr>
          <a:lstStyle/>
          <a:p>
            <a:pPr algn="l">
              <a:lnSpc>
                <a:spcPct val="110000"/>
              </a:lnSpc>
              <a:spcAft>
                <a:spcPts val="500"/>
              </a:spcAft>
            </a:pPr>
            <a:r>
              <a:rPr sz="1200" b="0">
                <a:solidFill>
                  <a:srgbClr val="FFFFFF"/>
                </a:solidFill>
                <a:latin typeface="微软雅黑"/>
                <a:ea typeface="微软雅黑"/>
                <a:cs typeface="微软雅黑"/>
              </a:rPr>
              <a:t>· 载体、租金 / 补贴、人才与基金政策简介</a:t>
            </a:r>
          </a:p>
          <a:p>
            <a:pPr algn="l">
              <a:lnSpc>
                <a:spcPct val="110000"/>
              </a:lnSpc>
              <a:spcAft>
                <a:spcPts val="500"/>
              </a:spcAft>
            </a:pPr>
            <a:r>
              <a:rPr sz="1200" b="0">
                <a:solidFill>
                  <a:srgbClr val="FFFFFF"/>
                </a:solidFill>
                <a:latin typeface="微软雅黑"/>
                <a:ea typeface="微软雅黑"/>
                <a:cs typeface="微软雅黑"/>
              </a:rPr>
              <a:t>· 有意向企业填写落地需求（空间、用工、资金、配套）</a:t>
            </a:r>
          </a:p>
          <a:p>
            <a:pPr algn="l">
              <a:lnSpc>
                <a:spcPct val="110000"/>
              </a:lnSpc>
              <a:spcAft>
                <a:spcPts val="500"/>
              </a:spcAft>
            </a:pPr>
            <a:r>
              <a:rPr sz="1200" b="0">
                <a:solidFill>
                  <a:srgbClr val="FFFFFF"/>
                </a:solidFill>
                <a:latin typeface="微软雅黑"/>
                <a:ea typeface="微软雅黑"/>
                <a:cs typeface="微软雅黑"/>
              </a:rPr>
              <a:t>· 约定回访或线上复盘时间</a:t>
            </a:r>
          </a:p>
        </p:txBody>
      </p:sp>
      <p:sp>
        <p:nvSpPr>
          <p:cNvPr id="18" name="Rectangle 17"/>
          <p:cNvSpPr/>
          <p:nvPr/>
        </p:nvSpPr>
        <p:spPr>
          <a:xfrm>
            <a:off x="6217920" y="3703320"/>
            <a:ext cx="5669280" cy="2286000"/>
          </a:xfrm>
          <a:prstGeom prst="rect">
            <a:avLst/>
          </a:prstGeom>
          <a:solidFill>
            <a:srgbClr val="07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3886200"/>
            <a:ext cx="5212080" cy="365760"/>
          </a:xfrm>
          <a:prstGeom prst="rect">
            <a:avLst/>
          </a:prstGeom>
          <a:noFill/>
        </p:spPr>
        <p:txBody>
          <a:bodyPr wrap="square" anchor="t" lIns="50800" rIns="50800" tIns="25400" bIns="25400">
            <a:spAutoFit/>
          </a:bodyPr>
          <a:lstStyle/>
          <a:p>
            <a:pPr algn="l">
              <a:lnSpc>
                <a:spcPct val="110000"/>
              </a:lnSpc>
              <a:spcAft>
                <a:spcPts val="400"/>
              </a:spcAft>
            </a:pPr>
            <a:r>
              <a:rPr sz="1400" b="1">
                <a:solidFill>
                  <a:srgbClr val="C47E1A"/>
                </a:solidFill>
                <a:latin typeface="微软雅黑"/>
                <a:ea typeface="微软雅黑"/>
                <a:cs typeface="微软雅黑"/>
              </a:rPr>
              <a:t>链接四 · PE/VC · CVC 闭门投洽</a:t>
            </a:r>
          </a:p>
        </p:txBody>
      </p:sp>
      <p:sp>
        <p:nvSpPr>
          <p:cNvPr id="20" name="TextBox 19"/>
          <p:cNvSpPr txBox="1"/>
          <p:nvPr/>
        </p:nvSpPr>
        <p:spPr>
          <a:xfrm>
            <a:off x="6446520" y="4297680"/>
            <a:ext cx="5212080" cy="320040"/>
          </a:xfrm>
          <a:prstGeom prst="rect">
            <a:avLst/>
          </a:prstGeom>
          <a:noFill/>
        </p:spPr>
        <p:txBody>
          <a:bodyPr wrap="square" anchor="t" lIns="50800" rIns="50800" tIns="25400" bIns="25400">
            <a:spAutoFit/>
          </a:bodyPr>
          <a:lstStyle/>
          <a:p>
            <a:pPr algn="l">
              <a:lnSpc>
                <a:spcPct val="110000"/>
              </a:lnSpc>
              <a:spcAft>
                <a:spcPts val="400"/>
              </a:spcAft>
            </a:pPr>
            <a:r>
              <a:rPr sz="1100" b="0">
                <a:solidFill>
                  <a:srgbClr val="2A8F8F"/>
                </a:solidFill>
                <a:latin typeface="微软雅黑"/>
                <a:ea typeface="微软雅黑"/>
                <a:cs typeface="微软雅黑"/>
              </a:rPr>
              <a:t>第二日下午（推荐两日行） ｜ 路演或 1v1 对接</a:t>
            </a:r>
          </a:p>
        </p:txBody>
      </p:sp>
      <p:sp>
        <p:nvSpPr>
          <p:cNvPr id="21" name="TextBox 20"/>
          <p:cNvSpPr txBox="1"/>
          <p:nvPr/>
        </p:nvSpPr>
        <p:spPr>
          <a:xfrm>
            <a:off x="6446520" y="4709160"/>
            <a:ext cx="5212080" cy="1097280"/>
          </a:xfrm>
          <a:prstGeom prst="rect">
            <a:avLst/>
          </a:prstGeom>
          <a:noFill/>
        </p:spPr>
        <p:txBody>
          <a:bodyPr wrap="square" anchor="t" lIns="50800" rIns="50800" tIns="25400" bIns="25400">
            <a:spAutoFit/>
          </a:bodyPr>
          <a:lstStyle/>
          <a:p>
            <a:pPr algn="l">
              <a:lnSpc>
                <a:spcPct val="110000"/>
              </a:lnSpc>
              <a:spcAft>
                <a:spcPts val="500"/>
              </a:spcAft>
            </a:pPr>
            <a:r>
              <a:rPr sz="1200" b="0">
                <a:solidFill>
                  <a:srgbClr val="FFFFFF"/>
                </a:solidFill>
                <a:latin typeface="微软雅黑"/>
                <a:ea typeface="微软雅黑"/>
                <a:cs typeface="微软雅黑"/>
              </a:rPr>
              <a:t>· 当地优质项目 / 企业路演（3–5 个）</a:t>
            </a:r>
          </a:p>
          <a:p>
            <a:pPr algn="l">
              <a:lnSpc>
                <a:spcPct val="110000"/>
              </a:lnSpc>
              <a:spcAft>
                <a:spcPts val="500"/>
              </a:spcAft>
            </a:pPr>
            <a:r>
              <a:rPr sz="1200" b="0">
                <a:solidFill>
                  <a:srgbClr val="FFFFFF"/>
                </a:solidFill>
                <a:latin typeface="微软雅黑"/>
                <a:ea typeface="微软雅黑"/>
                <a:cs typeface="微软雅黑"/>
              </a:rPr>
              <a:t>· 上海投资机构与产业资本反馈关注点</a:t>
            </a:r>
          </a:p>
          <a:p>
            <a:pPr algn="l">
              <a:lnSpc>
                <a:spcPct val="110000"/>
              </a:lnSpc>
              <a:spcAft>
                <a:spcPts val="500"/>
              </a:spcAft>
            </a:pPr>
            <a:r>
              <a:rPr sz="1200" b="0">
                <a:solidFill>
                  <a:srgbClr val="FFFFFF"/>
                </a:solidFill>
                <a:latin typeface="微软雅黑"/>
                <a:ea typeface="微软雅黑"/>
                <a:cs typeface="微软雅黑"/>
              </a:rPr>
              <a:t>· 建立项目信息互通与后续尽调通道</a:t>
            </a:r>
          </a:p>
        </p:txBody>
      </p:sp>
      <p:sp>
        <p:nvSpPr>
          <p:cNvPr id="22" name="TextBox 21"/>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23" name="TextBox 22"/>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05 时间安排</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建议时间窗口：2026年8月至10月（择一两日）</a:t>
            </a:r>
          </a:p>
          <a:p>
            <a:pPr algn="l">
              <a:lnSpc>
                <a:spcPct val="110000"/>
              </a:lnSpc>
              <a:spcAft>
                <a:spcPts val="400"/>
              </a:spcAft>
            </a:pPr>
            <a:r>
              <a:rPr sz="1200" b="0">
                <a:solidFill>
                  <a:srgbClr val="B8CFDC"/>
                </a:solidFill>
                <a:latin typeface="微软雅黑"/>
                <a:ea typeface="微软雅黑"/>
                <a:cs typeface="微软雅黑"/>
              </a:rPr>
              <a:t>最终日期由组织方与接待单位协商确定，建议提前 3–4 周锁定；港口与工厂参访需预留审批时间。</a:t>
            </a:r>
          </a:p>
        </p:txBody>
      </p:sp>
      <p:sp>
        <p:nvSpPr>
          <p:cNvPr id="6" name="Rectangle 5"/>
          <p:cNvSpPr/>
          <p:nvPr/>
        </p:nvSpPr>
        <p:spPr>
          <a:xfrm>
            <a:off x="457200" y="1371600"/>
            <a:ext cx="5486400" cy="292608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371600"/>
            <a:ext cx="5486400" cy="635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0200"/>
            <a:ext cx="5029200" cy="2468880"/>
          </a:xfrm>
          <a:prstGeom prst="rect">
            <a:avLst/>
          </a:prstGeom>
          <a:noFill/>
        </p:spPr>
        <p:txBody>
          <a:bodyPr wrap="square" anchor="t" lIns="50800" rIns="50800" tIns="25400" bIns="25400">
            <a:spAutoFit/>
          </a:bodyPr>
          <a:lstStyle/>
          <a:p>
            <a:pPr algn="l">
              <a:lnSpc>
                <a:spcPct val="110000"/>
              </a:lnSpc>
              <a:spcAft>
                <a:spcPts val="800"/>
              </a:spcAft>
            </a:pPr>
            <a:r>
              <a:rPr sz="1600" b="1">
                <a:solidFill>
                  <a:srgbClr val="0B3D5C"/>
                </a:solidFill>
                <a:latin typeface="微软雅黑"/>
                <a:ea typeface="微软雅黑"/>
                <a:cs typeface="微软雅黑"/>
              </a:rPr>
              <a:t>方案 A · 一日精华行</a:t>
            </a:r>
          </a:p>
          <a:p>
            <a:pPr algn="l">
              <a:lnSpc>
                <a:spcPct val="110000"/>
              </a:lnSpc>
              <a:spcAft>
                <a:spcPts val="800"/>
              </a:spcAft>
            </a:pPr>
            <a:r>
              <a:rPr sz="1300" b="1">
                <a:solidFill>
                  <a:srgbClr val="1A6B6B"/>
                </a:solidFill>
                <a:latin typeface="微软雅黑"/>
                <a:ea typeface="微软雅黑"/>
                <a:cs typeface="微软雅黑"/>
              </a:rPr>
              <a:t>工作日一天</a:t>
            </a:r>
          </a:p>
          <a:p>
            <a:pPr algn="l">
              <a:lnSpc>
                <a:spcPct val="110000"/>
              </a:lnSpc>
              <a:spcAft>
                <a:spcPts val="1000"/>
              </a:spcAft>
            </a:pPr>
            <a:r>
              <a:rPr sz="1300" b="0">
                <a:solidFill>
                  <a:srgbClr val="222A33"/>
                </a:solidFill>
                <a:latin typeface="微软雅黑"/>
                <a:ea typeface="微软雅黑"/>
                <a:cs typeface="微软雅黑"/>
              </a:rPr>
              <a:t>港口核心点 + 一家智造标杆 + 政策座谈</a:t>
            </a:r>
          </a:p>
          <a:p>
            <a:pPr algn="l">
              <a:lnSpc>
                <a:spcPct val="110000"/>
              </a:lnSpc>
              <a:spcAft>
                <a:spcPts val="400"/>
              </a:spcAft>
            </a:pPr>
            <a:r>
              <a:rPr sz="1200" b="0">
                <a:solidFill>
                  <a:srgbClr val="5A636E"/>
                </a:solidFill>
                <a:latin typeface="微软雅黑"/>
                <a:ea typeface="微软雅黑"/>
                <a:cs typeface="微软雅黑"/>
              </a:rPr>
              <a:t>穿山港区 + 航运展厅 + 海天智造</a:t>
            </a:r>
          </a:p>
        </p:txBody>
      </p:sp>
      <p:sp>
        <p:nvSpPr>
          <p:cNvPr id="9" name="Rectangle 8"/>
          <p:cNvSpPr/>
          <p:nvPr/>
        </p:nvSpPr>
        <p:spPr>
          <a:xfrm>
            <a:off x="6217920" y="1371600"/>
            <a:ext cx="5486400" cy="2926080"/>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600200"/>
            <a:ext cx="5029200" cy="2468880"/>
          </a:xfrm>
          <a:prstGeom prst="rect">
            <a:avLst/>
          </a:prstGeom>
          <a:noFill/>
        </p:spPr>
        <p:txBody>
          <a:bodyPr wrap="square" anchor="t" lIns="50800" rIns="50800" tIns="25400" bIns="25400">
            <a:spAutoFit/>
          </a:bodyPr>
          <a:lstStyle/>
          <a:p>
            <a:pPr algn="l">
              <a:lnSpc>
                <a:spcPct val="110000"/>
              </a:lnSpc>
              <a:spcAft>
                <a:spcPts val="800"/>
              </a:spcAft>
            </a:pPr>
            <a:r>
              <a:rPr sz="1600" b="1">
                <a:solidFill>
                  <a:srgbClr val="C47E1A"/>
                </a:solidFill>
                <a:latin typeface="微软雅黑"/>
                <a:ea typeface="微软雅黑"/>
                <a:cs typeface="微软雅黑"/>
              </a:rPr>
              <a:t>方案 B · 两日深度行（推荐）</a:t>
            </a:r>
          </a:p>
          <a:p>
            <a:pPr algn="l">
              <a:lnSpc>
                <a:spcPct val="110000"/>
              </a:lnSpc>
              <a:spcAft>
                <a:spcPts val="800"/>
              </a:spcAft>
            </a:pPr>
            <a:r>
              <a:rPr sz="1300" b="1">
                <a:solidFill>
                  <a:srgbClr val="2A8F8F"/>
                </a:solidFill>
                <a:latin typeface="微软雅黑"/>
                <a:ea typeface="微软雅黑"/>
                <a:cs typeface="微软雅黑"/>
              </a:rPr>
              <a:t>连续两日</a:t>
            </a:r>
          </a:p>
          <a:p>
            <a:pPr algn="l">
              <a:lnSpc>
                <a:spcPct val="110000"/>
              </a:lnSpc>
              <a:spcAft>
                <a:spcPts val="1000"/>
              </a:spcAft>
            </a:pPr>
            <a:r>
              <a:rPr sz="1300" b="0">
                <a:solidFill>
                  <a:srgbClr val="FFFFFF"/>
                </a:solidFill>
                <a:latin typeface="微软雅黑"/>
                <a:ea typeface="微软雅黑"/>
                <a:cs typeface="微软雅黑"/>
              </a:rPr>
              <a:t>港口双点位 + 企业深访 + 孵化落地 + 投洽</a:t>
            </a:r>
          </a:p>
          <a:p>
            <a:pPr algn="l">
              <a:lnSpc>
                <a:spcPct val="110000"/>
              </a:lnSpc>
              <a:spcAft>
                <a:spcPts val="400"/>
              </a:spcAft>
            </a:pPr>
            <a:r>
              <a:rPr sz="1200" b="0">
                <a:solidFill>
                  <a:srgbClr val="B8CFDC"/>
                </a:solidFill>
                <a:latin typeface="微软雅黑"/>
                <a:ea typeface="微软雅黑"/>
                <a:cs typeface="微软雅黑"/>
              </a:rPr>
              <a:t>加极氪/硬科技深访 + 孵化落地 + 投洽</a:t>
            </a:r>
          </a:p>
        </p:txBody>
      </p:sp>
      <p:sp>
        <p:nvSpPr>
          <p:cNvPr id="11" name="TextBox 10"/>
          <p:cNvSpPr txBox="1"/>
          <p:nvPr/>
        </p:nvSpPr>
        <p:spPr>
          <a:xfrm>
            <a:off x="457200" y="4572000"/>
            <a:ext cx="11247120" cy="1463040"/>
          </a:xfrm>
          <a:prstGeom prst="rect">
            <a:avLst/>
          </a:prstGeom>
          <a:noFill/>
        </p:spPr>
        <p:txBody>
          <a:bodyPr wrap="square" anchor="t" lIns="50800" rIns="50800" tIns="25400" bIns="25400">
            <a:spAutoFit/>
          </a:bodyPr>
          <a:lstStyle/>
          <a:p>
            <a:pPr algn="l">
              <a:lnSpc>
                <a:spcPct val="110000"/>
              </a:lnSpc>
              <a:spcAft>
                <a:spcPts val="600"/>
              </a:spcAft>
            </a:pPr>
            <a:r>
              <a:rPr sz="1300" b="1">
                <a:solidFill>
                  <a:srgbClr val="1A6B6B"/>
                </a:solidFill>
                <a:latin typeface="微软雅黑"/>
                <a:ea typeface="微软雅黑"/>
                <a:cs typeface="微软雅黑"/>
              </a:rPr>
              <a:t>建议窗口</a:t>
            </a:r>
          </a:p>
          <a:p>
            <a:pPr algn="l">
              <a:lnSpc>
                <a:spcPct val="110000"/>
              </a:lnSpc>
              <a:spcAft>
                <a:spcPts val="500"/>
              </a:spcAft>
            </a:pPr>
            <a:r>
              <a:rPr sz="1200" b="0">
                <a:solidFill>
                  <a:srgbClr val="222A33"/>
                </a:solidFill>
                <a:latin typeface="微软雅黑"/>
                <a:ea typeface="微软雅黑"/>
                <a:cs typeface="微软雅黑"/>
              </a:rPr>
              <a:t>· 8月下旬：暑期收尾、企业负责人相对灵活</a:t>
            </a:r>
          </a:p>
          <a:p>
            <a:pPr algn="l">
              <a:lnSpc>
                <a:spcPct val="110000"/>
              </a:lnSpc>
              <a:spcAft>
                <a:spcPts val="500"/>
              </a:spcAft>
            </a:pPr>
            <a:r>
              <a:rPr sz="1200" b="0">
                <a:solidFill>
                  <a:srgbClr val="222A33"/>
                </a:solidFill>
                <a:latin typeface="微软雅黑"/>
                <a:ea typeface="微软雅黑"/>
                <a:cs typeface="微软雅黑"/>
              </a:rPr>
              <a:t>· 9月中下旬：避开开学高峰后的稳定窗口</a:t>
            </a:r>
          </a:p>
          <a:p>
            <a:pPr algn="l">
              <a:lnSpc>
                <a:spcPct val="110000"/>
              </a:lnSpc>
              <a:spcAft>
                <a:spcPts val="500"/>
              </a:spcAft>
            </a:pPr>
            <a:r>
              <a:rPr sz="1200" b="0">
                <a:solidFill>
                  <a:srgbClr val="222A33"/>
                </a:solidFill>
                <a:latin typeface="微软雅黑"/>
                <a:ea typeface="微软雅黑"/>
                <a:cs typeface="微软雅黑"/>
              </a:rPr>
              <a:t>· 10月中上旬：国庆后、适合深度对接与回访安排</a:t>
            </a:r>
          </a:p>
        </p:txBody>
      </p:sp>
      <p:sp>
        <p:nvSpPr>
          <p:cNvPr id="12" name="TextBox 11"/>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13" name="TextBox 12"/>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05 行程 · 第一日</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已嵌入港口精选点位与互动链接一、二</a:t>
            </a:r>
          </a:p>
          <a:p>
            <a:pPr algn="l">
              <a:lnSpc>
                <a:spcPct val="110000"/>
              </a:lnSpc>
              <a:spcAft>
                <a:spcPts val="400"/>
              </a:spcAft>
            </a:pPr>
            <a:r>
              <a:rPr sz="1200" b="0">
                <a:solidFill>
                  <a:srgbClr val="B8CFDC"/>
                </a:solidFill>
                <a:latin typeface="微软雅黑"/>
                <a:ea typeface="微软雅黑"/>
                <a:cs typeface="微软雅黑"/>
              </a:rPr>
              <a:t>一日行至此结束</a:t>
            </a:r>
          </a:p>
        </p:txBody>
      </p:sp>
      <p:sp>
        <p:nvSpPr>
          <p:cNvPr id="6" name="Rectangle 5"/>
          <p:cNvSpPr/>
          <p:nvPr/>
        </p:nvSpPr>
        <p:spPr>
          <a:xfrm>
            <a:off x="411480" y="1234440"/>
            <a:ext cx="11338560" cy="530352"/>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07592"/>
            <a:ext cx="2103120" cy="384048"/>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08:30–10:30</a:t>
            </a:r>
          </a:p>
        </p:txBody>
      </p:sp>
      <p:sp>
        <p:nvSpPr>
          <p:cNvPr id="8" name="TextBox 7"/>
          <p:cNvSpPr txBox="1"/>
          <p:nvPr/>
        </p:nvSpPr>
        <p:spPr>
          <a:xfrm>
            <a:off x="2651760" y="1307592"/>
            <a:ext cx="3840480" cy="384048"/>
          </a:xfrm>
          <a:prstGeom prst="rect">
            <a:avLst/>
          </a:prstGeom>
          <a:noFill/>
        </p:spPr>
        <p:txBody>
          <a:bodyPr wrap="square" anchor="ctr" lIns="50800" rIns="50800" tIns="25400" bIns="25400">
            <a:spAutoFit/>
          </a:bodyPr>
          <a:lstStyle/>
          <a:p>
            <a:pPr algn="l">
              <a:lnSpc>
                <a:spcPct val="110000"/>
              </a:lnSpc>
              <a:spcAft>
                <a:spcPts val="400"/>
              </a:spcAft>
            </a:pPr>
            <a:r>
              <a:rPr sz="1150" b="1">
                <a:solidFill>
                  <a:srgbClr val="0B3D5C"/>
                </a:solidFill>
                <a:latin typeface="微软雅黑"/>
                <a:ea typeface="微软雅黑"/>
                <a:cs typeface="微软雅黑"/>
              </a:rPr>
              <a:t>上海出发 → 宁波经开区（北仑）</a:t>
            </a:r>
          </a:p>
        </p:txBody>
      </p:sp>
      <p:sp>
        <p:nvSpPr>
          <p:cNvPr id="9" name="TextBox 8"/>
          <p:cNvSpPr txBox="1"/>
          <p:nvPr/>
        </p:nvSpPr>
        <p:spPr>
          <a:xfrm>
            <a:off x="6583680" y="1307592"/>
            <a:ext cx="4937760" cy="384048"/>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高铁 / 大巴，统一集合</a:t>
            </a:r>
          </a:p>
        </p:txBody>
      </p:sp>
      <p:sp>
        <p:nvSpPr>
          <p:cNvPr id="10" name="Rectangle 9"/>
          <p:cNvSpPr/>
          <p:nvPr/>
        </p:nvSpPr>
        <p:spPr>
          <a:xfrm>
            <a:off x="411480" y="1828800"/>
            <a:ext cx="1133856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901952"/>
            <a:ext cx="2103120" cy="384048"/>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10:30–11:00</a:t>
            </a:r>
          </a:p>
        </p:txBody>
      </p:sp>
      <p:sp>
        <p:nvSpPr>
          <p:cNvPr id="12" name="TextBox 11"/>
          <p:cNvSpPr txBox="1"/>
          <p:nvPr/>
        </p:nvSpPr>
        <p:spPr>
          <a:xfrm>
            <a:off x="2651760" y="1901952"/>
            <a:ext cx="3840480" cy="384048"/>
          </a:xfrm>
          <a:prstGeom prst="rect">
            <a:avLst/>
          </a:prstGeom>
          <a:noFill/>
        </p:spPr>
        <p:txBody>
          <a:bodyPr wrap="square" anchor="ctr" lIns="50800" rIns="50800" tIns="25400" bIns="25400">
            <a:spAutoFit/>
          </a:bodyPr>
          <a:lstStyle/>
          <a:p>
            <a:pPr algn="l">
              <a:lnSpc>
                <a:spcPct val="110000"/>
              </a:lnSpc>
              <a:spcAft>
                <a:spcPts val="400"/>
              </a:spcAft>
            </a:pPr>
            <a:r>
              <a:rPr sz="1150" b="1">
                <a:solidFill>
                  <a:srgbClr val="0B3D5C"/>
                </a:solidFill>
                <a:latin typeface="微软雅黑"/>
                <a:ea typeface="微软雅黑"/>
                <a:cs typeface="微软雅黑"/>
              </a:rPr>
              <a:t>抵达 · 简短欢迎</a:t>
            </a:r>
          </a:p>
        </p:txBody>
      </p:sp>
      <p:sp>
        <p:nvSpPr>
          <p:cNvPr id="13" name="TextBox 12"/>
          <p:cNvSpPr txBox="1"/>
          <p:nvPr/>
        </p:nvSpPr>
        <p:spPr>
          <a:xfrm>
            <a:off x="6583680" y="1901952"/>
            <a:ext cx="4937760" cy="384048"/>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投促局致辞，发放手册与精选点位导览</a:t>
            </a:r>
          </a:p>
        </p:txBody>
      </p:sp>
      <p:sp>
        <p:nvSpPr>
          <p:cNvPr id="14" name="Rectangle 13"/>
          <p:cNvSpPr/>
          <p:nvPr/>
        </p:nvSpPr>
        <p:spPr>
          <a:xfrm>
            <a:off x="411480" y="2423160"/>
            <a:ext cx="11338560" cy="530352"/>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496312"/>
            <a:ext cx="2103120" cy="384048"/>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11:00–12:00</a:t>
            </a:r>
          </a:p>
        </p:txBody>
      </p:sp>
      <p:sp>
        <p:nvSpPr>
          <p:cNvPr id="16" name="TextBox 15"/>
          <p:cNvSpPr txBox="1"/>
          <p:nvPr/>
        </p:nvSpPr>
        <p:spPr>
          <a:xfrm>
            <a:off x="2651760" y="2496312"/>
            <a:ext cx="3840480" cy="384048"/>
          </a:xfrm>
          <a:prstGeom prst="rect">
            <a:avLst/>
          </a:prstGeom>
          <a:noFill/>
        </p:spPr>
        <p:txBody>
          <a:bodyPr wrap="square" anchor="ctr" lIns="50800" rIns="50800" tIns="25400" bIns="25400">
            <a:spAutoFit/>
          </a:bodyPr>
          <a:lstStyle/>
          <a:p>
            <a:pPr algn="l">
              <a:lnSpc>
                <a:spcPct val="110000"/>
              </a:lnSpc>
              <a:spcAft>
                <a:spcPts val="400"/>
              </a:spcAft>
            </a:pPr>
            <a:r>
              <a:rPr sz="1150" b="1">
                <a:solidFill>
                  <a:srgbClr val="0B3D5C"/>
                </a:solidFill>
                <a:latin typeface="微软雅黑"/>
                <a:ea typeface="微软雅黑"/>
                <a:cs typeface="微软雅黑"/>
              </a:rPr>
              <a:t>开发区概况与招商政策介绍</a:t>
            </a:r>
          </a:p>
        </p:txBody>
      </p:sp>
      <p:sp>
        <p:nvSpPr>
          <p:cNvPr id="17" name="TextBox 16"/>
          <p:cNvSpPr txBox="1"/>
          <p:nvPr/>
        </p:nvSpPr>
        <p:spPr>
          <a:xfrm>
            <a:off x="6583680" y="2496312"/>
            <a:ext cx="4937760" cy="384048"/>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主导产业、甬江科创区、载体与政策</a:t>
            </a:r>
          </a:p>
        </p:txBody>
      </p:sp>
      <p:sp>
        <p:nvSpPr>
          <p:cNvPr id="18" name="Rectangle 17"/>
          <p:cNvSpPr/>
          <p:nvPr/>
        </p:nvSpPr>
        <p:spPr>
          <a:xfrm>
            <a:off x="411480" y="3017520"/>
            <a:ext cx="1133856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3090672"/>
            <a:ext cx="2103120" cy="384048"/>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12:00–13:20</a:t>
            </a:r>
          </a:p>
        </p:txBody>
      </p:sp>
      <p:sp>
        <p:nvSpPr>
          <p:cNvPr id="20" name="TextBox 19"/>
          <p:cNvSpPr txBox="1"/>
          <p:nvPr/>
        </p:nvSpPr>
        <p:spPr>
          <a:xfrm>
            <a:off x="2651760" y="3090672"/>
            <a:ext cx="3840480" cy="384048"/>
          </a:xfrm>
          <a:prstGeom prst="rect">
            <a:avLst/>
          </a:prstGeom>
          <a:noFill/>
        </p:spPr>
        <p:txBody>
          <a:bodyPr wrap="square" anchor="ctr" lIns="50800" rIns="50800" tIns="25400" bIns="25400">
            <a:spAutoFit/>
          </a:bodyPr>
          <a:lstStyle/>
          <a:p>
            <a:pPr algn="l">
              <a:lnSpc>
                <a:spcPct val="110000"/>
              </a:lnSpc>
              <a:spcAft>
                <a:spcPts val="400"/>
              </a:spcAft>
            </a:pPr>
            <a:r>
              <a:rPr sz="1150" b="1">
                <a:solidFill>
                  <a:srgbClr val="0B3D5C"/>
                </a:solidFill>
                <a:latin typeface="微软雅黑"/>
                <a:ea typeface="微软雅黑"/>
                <a:cs typeface="微软雅黑"/>
              </a:rPr>
              <a:t>工作午餐</a:t>
            </a:r>
          </a:p>
        </p:txBody>
      </p:sp>
      <p:sp>
        <p:nvSpPr>
          <p:cNvPr id="21" name="TextBox 20"/>
          <p:cNvSpPr txBox="1"/>
          <p:nvPr/>
        </p:nvSpPr>
        <p:spPr>
          <a:xfrm>
            <a:off x="6583680" y="3090672"/>
            <a:ext cx="4937760" cy="384048"/>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与投促干部、企业代表破冰交流</a:t>
            </a:r>
          </a:p>
        </p:txBody>
      </p:sp>
      <p:sp>
        <p:nvSpPr>
          <p:cNvPr id="22" name="Rectangle 21"/>
          <p:cNvSpPr/>
          <p:nvPr/>
        </p:nvSpPr>
        <p:spPr>
          <a:xfrm>
            <a:off x="411480" y="3611880"/>
            <a:ext cx="11338560" cy="530352"/>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685032"/>
            <a:ext cx="2103120" cy="384048"/>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13:30–15:00</a:t>
            </a:r>
          </a:p>
        </p:txBody>
      </p:sp>
      <p:sp>
        <p:nvSpPr>
          <p:cNvPr id="24" name="TextBox 23"/>
          <p:cNvSpPr txBox="1"/>
          <p:nvPr/>
        </p:nvSpPr>
        <p:spPr>
          <a:xfrm>
            <a:off x="2651760" y="3685032"/>
            <a:ext cx="3840480" cy="384048"/>
          </a:xfrm>
          <a:prstGeom prst="rect">
            <a:avLst/>
          </a:prstGeom>
          <a:noFill/>
        </p:spPr>
        <p:txBody>
          <a:bodyPr wrap="square" anchor="ctr" lIns="50800" rIns="50800" tIns="25400" bIns="25400">
            <a:spAutoFit/>
          </a:bodyPr>
          <a:lstStyle/>
          <a:p>
            <a:pPr algn="l">
              <a:lnSpc>
                <a:spcPct val="110000"/>
              </a:lnSpc>
              <a:spcAft>
                <a:spcPts val="400"/>
              </a:spcAft>
            </a:pPr>
            <a:r>
              <a:rPr sz="1150" b="1">
                <a:solidFill>
                  <a:srgbClr val="0B3D5C"/>
                </a:solidFill>
                <a:latin typeface="微软雅黑"/>
                <a:ea typeface="微软雅黑"/>
                <a:cs typeface="微软雅黑"/>
              </a:rPr>
              <a:t>穿山港区 · 北三集司展厅 + 观景平台</a:t>
            </a:r>
          </a:p>
        </p:txBody>
      </p:sp>
      <p:sp>
        <p:nvSpPr>
          <p:cNvPr id="25" name="TextBox 24"/>
          <p:cNvSpPr txBox="1"/>
          <p:nvPr/>
        </p:nvSpPr>
        <p:spPr>
          <a:xfrm>
            <a:off x="6583680" y="3685032"/>
            <a:ext cx="4937760" cy="384048"/>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世界级集装箱枢纽与智慧港口体验</a:t>
            </a:r>
          </a:p>
        </p:txBody>
      </p:sp>
      <p:sp>
        <p:nvSpPr>
          <p:cNvPr id="26" name="Rectangle 25"/>
          <p:cNvSpPr/>
          <p:nvPr/>
        </p:nvSpPr>
        <p:spPr>
          <a:xfrm>
            <a:off x="411480" y="4206240"/>
            <a:ext cx="1133856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4279392"/>
            <a:ext cx="2103120" cy="384048"/>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15:20–16:20</a:t>
            </a:r>
          </a:p>
        </p:txBody>
      </p:sp>
      <p:sp>
        <p:nvSpPr>
          <p:cNvPr id="28" name="TextBox 27"/>
          <p:cNvSpPr txBox="1"/>
          <p:nvPr/>
        </p:nvSpPr>
        <p:spPr>
          <a:xfrm>
            <a:off x="2651760" y="4279392"/>
            <a:ext cx="3840480" cy="384048"/>
          </a:xfrm>
          <a:prstGeom prst="rect">
            <a:avLst/>
          </a:prstGeom>
          <a:noFill/>
        </p:spPr>
        <p:txBody>
          <a:bodyPr wrap="square" anchor="ctr" lIns="50800" rIns="50800" tIns="25400" bIns="25400">
            <a:spAutoFit/>
          </a:bodyPr>
          <a:lstStyle/>
          <a:p>
            <a:pPr algn="l">
              <a:lnSpc>
                <a:spcPct val="110000"/>
              </a:lnSpc>
              <a:spcAft>
                <a:spcPts val="400"/>
              </a:spcAft>
            </a:pPr>
            <a:r>
              <a:rPr sz="1150" b="1">
                <a:solidFill>
                  <a:srgbClr val="0B3D5C"/>
                </a:solidFill>
                <a:latin typeface="微软雅黑"/>
                <a:ea typeface="微软雅黑"/>
                <a:cs typeface="微软雅黑"/>
              </a:rPr>
              <a:t>环球航运广场 · 宁波舟山港展示厅</a:t>
            </a:r>
          </a:p>
        </p:txBody>
      </p:sp>
      <p:sp>
        <p:nvSpPr>
          <p:cNvPr id="29" name="TextBox 28"/>
          <p:cNvSpPr txBox="1"/>
          <p:nvPr/>
        </p:nvSpPr>
        <p:spPr>
          <a:xfrm>
            <a:off x="6583680" y="4279392"/>
            <a:ext cx="4937760" cy="384048"/>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港航全景认知 + 港航供应链圆桌（链接一）</a:t>
            </a:r>
          </a:p>
        </p:txBody>
      </p:sp>
      <p:sp>
        <p:nvSpPr>
          <p:cNvPr id="30" name="Rectangle 29"/>
          <p:cNvSpPr/>
          <p:nvPr/>
        </p:nvSpPr>
        <p:spPr>
          <a:xfrm>
            <a:off x="411480" y="4800600"/>
            <a:ext cx="11338560" cy="530352"/>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873752"/>
            <a:ext cx="2103120" cy="384048"/>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16:40–18:00</a:t>
            </a:r>
          </a:p>
        </p:txBody>
      </p:sp>
      <p:sp>
        <p:nvSpPr>
          <p:cNvPr id="32" name="TextBox 31"/>
          <p:cNvSpPr txBox="1"/>
          <p:nvPr/>
        </p:nvSpPr>
        <p:spPr>
          <a:xfrm>
            <a:off x="2651760" y="4873752"/>
            <a:ext cx="3840480" cy="384048"/>
          </a:xfrm>
          <a:prstGeom prst="rect">
            <a:avLst/>
          </a:prstGeom>
          <a:noFill/>
        </p:spPr>
        <p:txBody>
          <a:bodyPr wrap="square" anchor="ctr" lIns="50800" rIns="50800" tIns="25400" bIns="25400">
            <a:spAutoFit/>
          </a:bodyPr>
          <a:lstStyle/>
          <a:p>
            <a:pPr algn="l">
              <a:lnSpc>
                <a:spcPct val="110000"/>
              </a:lnSpc>
              <a:spcAft>
                <a:spcPts val="400"/>
              </a:spcAft>
            </a:pPr>
            <a:r>
              <a:rPr sz="1150" b="1">
                <a:solidFill>
                  <a:srgbClr val="0B3D5C"/>
                </a:solidFill>
                <a:latin typeface="微软雅黑"/>
                <a:ea typeface="微软雅黑"/>
                <a:cs typeface="微软雅黑"/>
              </a:rPr>
              <a:t>海天智能制造基地 / 精密产业园</a:t>
            </a:r>
          </a:p>
        </p:txBody>
      </p:sp>
      <p:sp>
        <p:nvSpPr>
          <p:cNvPr id="33" name="TextBox 32"/>
          <p:cNvSpPr txBox="1"/>
          <p:nvPr/>
        </p:nvSpPr>
        <p:spPr>
          <a:xfrm>
            <a:off x="6583680" y="4873752"/>
            <a:ext cx="4937760" cy="384048"/>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智能工厂参访 + 供需对接（链接二）</a:t>
            </a:r>
          </a:p>
        </p:txBody>
      </p:sp>
      <p:sp>
        <p:nvSpPr>
          <p:cNvPr id="34" name="Rectangle 33"/>
          <p:cNvSpPr/>
          <p:nvPr/>
        </p:nvSpPr>
        <p:spPr>
          <a:xfrm>
            <a:off x="411480" y="5394960"/>
            <a:ext cx="11338560"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5468112"/>
            <a:ext cx="2103120" cy="384048"/>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18:20 后</a:t>
            </a:r>
          </a:p>
        </p:txBody>
      </p:sp>
      <p:sp>
        <p:nvSpPr>
          <p:cNvPr id="36" name="TextBox 35"/>
          <p:cNvSpPr txBox="1"/>
          <p:nvPr/>
        </p:nvSpPr>
        <p:spPr>
          <a:xfrm>
            <a:off x="2651760" y="5468112"/>
            <a:ext cx="3840480" cy="384048"/>
          </a:xfrm>
          <a:prstGeom prst="rect">
            <a:avLst/>
          </a:prstGeom>
          <a:noFill/>
        </p:spPr>
        <p:txBody>
          <a:bodyPr wrap="square" anchor="ctr" lIns="50800" rIns="50800" tIns="25400" bIns="25400">
            <a:spAutoFit/>
          </a:bodyPr>
          <a:lstStyle/>
          <a:p>
            <a:pPr algn="l">
              <a:lnSpc>
                <a:spcPct val="110000"/>
              </a:lnSpc>
              <a:spcAft>
                <a:spcPts val="400"/>
              </a:spcAft>
            </a:pPr>
            <a:r>
              <a:rPr sz="1150" b="1">
                <a:solidFill>
                  <a:srgbClr val="0B3D5C"/>
                </a:solidFill>
                <a:latin typeface="微软雅黑"/>
                <a:ea typeface="微软雅黑"/>
                <a:cs typeface="微软雅黑"/>
              </a:rPr>
              <a:t>返程或欢迎晚宴</a:t>
            </a:r>
          </a:p>
        </p:txBody>
      </p:sp>
      <p:sp>
        <p:nvSpPr>
          <p:cNvPr id="37" name="TextBox 36"/>
          <p:cNvSpPr txBox="1"/>
          <p:nvPr/>
        </p:nvSpPr>
        <p:spPr>
          <a:xfrm>
            <a:off x="6583680" y="5468112"/>
            <a:ext cx="4937760" cy="384048"/>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一日行返沪；两日行晚宴深化非正式交流</a:t>
            </a:r>
          </a:p>
        </p:txBody>
      </p:sp>
      <p:sp>
        <p:nvSpPr>
          <p:cNvPr id="38" name="TextBox 37"/>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39" name="TextBox 38"/>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05 行程 · 第二日</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孵化落地 · 新能源智造 · 硬科技 · 投洽</a:t>
            </a:r>
          </a:p>
          <a:p>
            <a:pPr algn="l">
              <a:lnSpc>
                <a:spcPct val="110000"/>
              </a:lnSpc>
              <a:spcAft>
                <a:spcPts val="400"/>
              </a:spcAft>
            </a:pPr>
            <a:r>
              <a:rPr sz="1200" b="0">
                <a:solidFill>
                  <a:srgbClr val="B8CFDC"/>
                </a:solidFill>
                <a:latin typeface="微软雅黑"/>
                <a:ea typeface="微软雅黑"/>
                <a:cs typeface="微软雅黑"/>
              </a:rPr>
              <a:t>推荐两日深度行</a:t>
            </a:r>
          </a:p>
        </p:txBody>
      </p:sp>
      <p:sp>
        <p:nvSpPr>
          <p:cNvPr id="6" name="Rectangle 5"/>
          <p:cNvSpPr/>
          <p:nvPr/>
        </p:nvSpPr>
        <p:spPr>
          <a:xfrm>
            <a:off x="457200" y="1234440"/>
            <a:ext cx="11247120" cy="59436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63500" cy="59436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194560" cy="411480"/>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09:00–10:30</a:t>
            </a:r>
          </a:p>
        </p:txBody>
      </p:sp>
      <p:sp>
        <p:nvSpPr>
          <p:cNvPr id="9" name="TextBox 8"/>
          <p:cNvSpPr txBox="1"/>
          <p:nvPr/>
        </p:nvSpPr>
        <p:spPr>
          <a:xfrm>
            <a:off x="3017520" y="1325880"/>
            <a:ext cx="4114800" cy="411480"/>
          </a:xfrm>
          <a:prstGeom prst="rect">
            <a:avLst/>
          </a:prstGeom>
          <a:noFill/>
        </p:spPr>
        <p:txBody>
          <a:bodyPr wrap="square" anchor="ctr" lIns="50800" rIns="50800" tIns="25400" bIns="25400">
            <a:spAutoFit/>
          </a:bodyPr>
          <a:lstStyle/>
          <a:p>
            <a:pPr algn="l">
              <a:lnSpc>
                <a:spcPct val="110000"/>
              </a:lnSpc>
              <a:spcAft>
                <a:spcPts val="400"/>
              </a:spcAft>
            </a:pPr>
            <a:r>
              <a:rPr sz="1200" b="1">
                <a:solidFill>
                  <a:srgbClr val="0B3D5C"/>
                </a:solidFill>
                <a:latin typeface="微软雅黑"/>
                <a:ea typeface="微软雅黑"/>
                <a:cs typeface="微软雅黑"/>
              </a:rPr>
              <a:t>开发区科技创业园 2.0 / 甬江科创区北仑片</a:t>
            </a:r>
          </a:p>
        </p:txBody>
      </p:sp>
      <p:sp>
        <p:nvSpPr>
          <p:cNvPr id="10" name="TextBox 9"/>
          <p:cNvSpPr txBox="1"/>
          <p:nvPr/>
        </p:nvSpPr>
        <p:spPr>
          <a:xfrm>
            <a:off x="7223760" y="1325880"/>
            <a:ext cx="4297680" cy="411480"/>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孵化载体参访 + 落地工作坊（链接三）</a:t>
            </a:r>
          </a:p>
        </p:txBody>
      </p:sp>
      <p:sp>
        <p:nvSpPr>
          <p:cNvPr id="11" name="Rectangle 10"/>
          <p:cNvSpPr/>
          <p:nvPr/>
        </p:nvSpPr>
        <p:spPr>
          <a:xfrm>
            <a:off x="457200" y="1892808"/>
            <a:ext cx="11247120" cy="594360"/>
          </a:xfrm>
          <a:prstGeom prst="rect">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63500" cy="59436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984248"/>
            <a:ext cx="2194560" cy="411480"/>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10:45–12:15</a:t>
            </a:r>
          </a:p>
        </p:txBody>
      </p:sp>
      <p:sp>
        <p:nvSpPr>
          <p:cNvPr id="14" name="TextBox 13"/>
          <p:cNvSpPr txBox="1"/>
          <p:nvPr/>
        </p:nvSpPr>
        <p:spPr>
          <a:xfrm>
            <a:off x="3017520" y="1984248"/>
            <a:ext cx="4114800" cy="411480"/>
          </a:xfrm>
          <a:prstGeom prst="rect">
            <a:avLst/>
          </a:prstGeom>
          <a:noFill/>
        </p:spPr>
        <p:txBody>
          <a:bodyPr wrap="square" anchor="ctr" lIns="50800" rIns="50800" tIns="25400" bIns="25400">
            <a:spAutoFit/>
          </a:bodyPr>
          <a:lstStyle/>
          <a:p>
            <a:pPr algn="l">
              <a:lnSpc>
                <a:spcPct val="110000"/>
              </a:lnSpc>
              <a:spcAft>
                <a:spcPts val="400"/>
              </a:spcAft>
            </a:pPr>
            <a:r>
              <a:rPr sz="1200" b="1">
                <a:solidFill>
                  <a:srgbClr val="0B3D5C"/>
                </a:solidFill>
                <a:latin typeface="微软雅黑"/>
                <a:ea typeface="微软雅黑"/>
                <a:cs typeface="微软雅黑"/>
              </a:rPr>
              <a:t>极氪梅山智慧工厂（或吉利新能源载体）</a:t>
            </a:r>
          </a:p>
        </p:txBody>
      </p:sp>
      <p:sp>
        <p:nvSpPr>
          <p:cNvPr id="15" name="TextBox 14"/>
          <p:cNvSpPr txBox="1"/>
          <p:nvPr/>
        </p:nvSpPr>
        <p:spPr>
          <a:xfrm>
            <a:off x="7223760" y="1984248"/>
            <a:ext cx="4297680" cy="411480"/>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新能源智造现场 + 产业生态对话</a:t>
            </a:r>
          </a:p>
        </p:txBody>
      </p:sp>
      <p:sp>
        <p:nvSpPr>
          <p:cNvPr id="16" name="Rectangle 15"/>
          <p:cNvSpPr/>
          <p:nvPr/>
        </p:nvSpPr>
        <p:spPr>
          <a:xfrm>
            <a:off x="457200" y="2551176"/>
            <a:ext cx="11247120" cy="59436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551176"/>
            <a:ext cx="63500" cy="59436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642616"/>
            <a:ext cx="2194560" cy="411480"/>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12:15–13:30</a:t>
            </a:r>
          </a:p>
        </p:txBody>
      </p:sp>
      <p:sp>
        <p:nvSpPr>
          <p:cNvPr id="19" name="TextBox 18"/>
          <p:cNvSpPr txBox="1"/>
          <p:nvPr/>
        </p:nvSpPr>
        <p:spPr>
          <a:xfrm>
            <a:off x="3017520" y="2642616"/>
            <a:ext cx="4114800" cy="411480"/>
          </a:xfrm>
          <a:prstGeom prst="rect">
            <a:avLst/>
          </a:prstGeom>
          <a:noFill/>
        </p:spPr>
        <p:txBody>
          <a:bodyPr wrap="square" anchor="ctr" lIns="50800" rIns="50800" tIns="25400" bIns="25400">
            <a:spAutoFit/>
          </a:bodyPr>
          <a:lstStyle/>
          <a:p>
            <a:pPr algn="l">
              <a:lnSpc>
                <a:spcPct val="110000"/>
              </a:lnSpc>
              <a:spcAft>
                <a:spcPts val="400"/>
              </a:spcAft>
            </a:pPr>
            <a:r>
              <a:rPr sz="1200" b="1">
                <a:solidFill>
                  <a:srgbClr val="0B3D5C"/>
                </a:solidFill>
                <a:latin typeface="微软雅黑"/>
                <a:ea typeface="微软雅黑"/>
                <a:cs typeface="微软雅黑"/>
              </a:rPr>
              <a:t>工作午餐</a:t>
            </a:r>
          </a:p>
        </p:txBody>
      </p:sp>
      <p:sp>
        <p:nvSpPr>
          <p:cNvPr id="20" name="TextBox 19"/>
          <p:cNvSpPr txBox="1"/>
          <p:nvPr/>
        </p:nvSpPr>
        <p:spPr>
          <a:xfrm>
            <a:off x="7223760" y="2642616"/>
            <a:ext cx="4297680" cy="411480"/>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分组交流：制造配套 / 出海 / 投资</a:t>
            </a:r>
          </a:p>
        </p:txBody>
      </p:sp>
      <p:sp>
        <p:nvSpPr>
          <p:cNvPr id="21" name="Rectangle 20"/>
          <p:cNvSpPr/>
          <p:nvPr/>
        </p:nvSpPr>
        <p:spPr>
          <a:xfrm>
            <a:off x="457200" y="3209544"/>
            <a:ext cx="11247120" cy="594360"/>
          </a:xfrm>
          <a:prstGeom prst="rect">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209544"/>
            <a:ext cx="63500" cy="59436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300984"/>
            <a:ext cx="2194560" cy="411480"/>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13:45–15:15</a:t>
            </a:r>
          </a:p>
        </p:txBody>
      </p:sp>
      <p:sp>
        <p:nvSpPr>
          <p:cNvPr id="24" name="TextBox 23"/>
          <p:cNvSpPr txBox="1"/>
          <p:nvPr/>
        </p:nvSpPr>
        <p:spPr>
          <a:xfrm>
            <a:off x="3017520" y="3300984"/>
            <a:ext cx="4114800" cy="411480"/>
          </a:xfrm>
          <a:prstGeom prst="rect">
            <a:avLst/>
          </a:prstGeom>
          <a:noFill/>
        </p:spPr>
        <p:txBody>
          <a:bodyPr wrap="square" anchor="ctr" lIns="50800" rIns="50800" tIns="25400" bIns="25400">
            <a:spAutoFit/>
          </a:bodyPr>
          <a:lstStyle/>
          <a:p>
            <a:pPr algn="l">
              <a:lnSpc>
                <a:spcPct val="110000"/>
              </a:lnSpc>
              <a:spcAft>
                <a:spcPts val="400"/>
              </a:spcAft>
            </a:pPr>
            <a:r>
              <a:rPr sz="1200" b="1">
                <a:solidFill>
                  <a:srgbClr val="0B3D5C"/>
                </a:solidFill>
                <a:latin typeface="微软雅黑"/>
                <a:ea typeface="微软雅黑"/>
                <a:cs typeface="微软雅黑"/>
              </a:rPr>
              <a:t>拓普 / 东方电缆（二选一深访）或梅山港区</a:t>
            </a:r>
          </a:p>
        </p:txBody>
      </p:sp>
      <p:sp>
        <p:nvSpPr>
          <p:cNvPr id="25" name="TextBox 24"/>
          <p:cNvSpPr txBox="1"/>
          <p:nvPr/>
        </p:nvSpPr>
        <p:spPr>
          <a:xfrm>
            <a:off x="7223760" y="3300984"/>
            <a:ext cx="4297680" cy="411480"/>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硬科技深访或绿色港口能力补充</a:t>
            </a:r>
          </a:p>
        </p:txBody>
      </p:sp>
      <p:sp>
        <p:nvSpPr>
          <p:cNvPr id="26" name="Rectangle 25"/>
          <p:cNvSpPr/>
          <p:nvPr/>
        </p:nvSpPr>
        <p:spPr>
          <a:xfrm>
            <a:off x="457200" y="3867912"/>
            <a:ext cx="11247120" cy="59436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3867912"/>
            <a:ext cx="63500" cy="594360"/>
          </a:xfrm>
          <a:prstGeom prst="rect">
            <a:avLst/>
          </a:prstGeom>
          <a:solidFill>
            <a:srgbClr val="C47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959352"/>
            <a:ext cx="2194560" cy="411480"/>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15:30–17:00</a:t>
            </a:r>
          </a:p>
        </p:txBody>
      </p:sp>
      <p:sp>
        <p:nvSpPr>
          <p:cNvPr id="29" name="TextBox 28"/>
          <p:cNvSpPr txBox="1"/>
          <p:nvPr/>
        </p:nvSpPr>
        <p:spPr>
          <a:xfrm>
            <a:off x="3017520" y="3959352"/>
            <a:ext cx="4114800" cy="411480"/>
          </a:xfrm>
          <a:prstGeom prst="rect">
            <a:avLst/>
          </a:prstGeom>
          <a:noFill/>
        </p:spPr>
        <p:txBody>
          <a:bodyPr wrap="square" anchor="ctr" lIns="50800" rIns="50800" tIns="25400" bIns="25400">
            <a:spAutoFit/>
          </a:bodyPr>
          <a:lstStyle/>
          <a:p>
            <a:pPr algn="l">
              <a:lnSpc>
                <a:spcPct val="110000"/>
              </a:lnSpc>
              <a:spcAft>
                <a:spcPts val="400"/>
              </a:spcAft>
            </a:pPr>
            <a:r>
              <a:rPr sz="1200" b="1">
                <a:solidFill>
                  <a:srgbClr val="0B3D5C"/>
                </a:solidFill>
                <a:latin typeface="微软雅黑"/>
                <a:ea typeface="微软雅黑"/>
                <a:cs typeface="微软雅黑"/>
              </a:rPr>
              <a:t>PE/VC · CVC 闭门投洽会</a:t>
            </a:r>
          </a:p>
        </p:txBody>
      </p:sp>
      <p:sp>
        <p:nvSpPr>
          <p:cNvPr id="30" name="TextBox 29"/>
          <p:cNvSpPr txBox="1"/>
          <p:nvPr/>
        </p:nvSpPr>
        <p:spPr>
          <a:xfrm>
            <a:off x="7223760" y="3959352"/>
            <a:ext cx="4297680" cy="411480"/>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路演或 1v1（链接四）</a:t>
            </a:r>
          </a:p>
        </p:txBody>
      </p:sp>
      <p:sp>
        <p:nvSpPr>
          <p:cNvPr id="31" name="Rectangle 30"/>
          <p:cNvSpPr/>
          <p:nvPr/>
        </p:nvSpPr>
        <p:spPr>
          <a:xfrm>
            <a:off x="457200" y="4526280"/>
            <a:ext cx="11247120" cy="594360"/>
          </a:xfrm>
          <a:prstGeom prst="rect">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526280"/>
            <a:ext cx="63500" cy="59436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617720"/>
            <a:ext cx="2194560" cy="411480"/>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17:00–17:40</a:t>
            </a:r>
          </a:p>
        </p:txBody>
      </p:sp>
      <p:sp>
        <p:nvSpPr>
          <p:cNvPr id="34" name="TextBox 33"/>
          <p:cNvSpPr txBox="1"/>
          <p:nvPr/>
        </p:nvSpPr>
        <p:spPr>
          <a:xfrm>
            <a:off x="3017520" y="4617720"/>
            <a:ext cx="4114800" cy="411480"/>
          </a:xfrm>
          <a:prstGeom prst="rect">
            <a:avLst/>
          </a:prstGeom>
          <a:noFill/>
        </p:spPr>
        <p:txBody>
          <a:bodyPr wrap="square" anchor="ctr" lIns="50800" rIns="50800" tIns="25400" bIns="25400">
            <a:spAutoFit/>
          </a:bodyPr>
          <a:lstStyle/>
          <a:p>
            <a:pPr algn="l">
              <a:lnSpc>
                <a:spcPct val="110000"/>
              </a:lnSpc>
              <a:spcAft>
                <a:spcPts val="400"/>
              </a:spcAft>
            </a:pPr>
            <a:r>
              <a:rPr sz="1200" b="1">
                <a:solidFill>
                  <a:srgbClr val="0B3D5C"/>
                </a:solidFill>
                <a:latin typeface="微软雅黑"/>
                <a:ea typeface="微软雅黑"/>
                <a:cs typeface="微软雅黑"/>
              </a:rPr>
              <a:t>总结座谈 · 合作备忘</a:t>
            </a:r>
          </a:p>
        </p:txBody>
      </p:sp>
      <p:sp>
        <p:nvSpPr>
          <p:cNvPr id="35" name="TextBox 34"/>
          <p:cNvSpPr txBox="1"/>
          <p:nvPr/>
        </p:nvSpPr>
        <p:spPr>
          <a:xfrm>
            <a:off x="7223760" y="4617720"/>
            <a:ext cx="4297680" cy="411480"/>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梳理线索、明确跟进人与时间表</a:t>
            </a:r>
          </a:p>
        </p:txBody>
      </p:sp>
      <p:sp>
        <p:nvSpPr>
          <p:cNvPr id="36" name="Rectangle 35"/>
          <p:cNvSpPr/>
          <p:nvPr/>
        </p:nvSpPr>
        <p:spPr>
          <a:xfrm>
            <a:off x="457200" y="5184648"/>
            <a:ext cx="11247120" cy="59436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57200" y="5184648"/>
            <a:ext cx="63500" cy="59436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5276088"/>
            <a:ext cx="2194560" cy="411480"/>
          </a:xfrm>
          <a:prstGeom prst="rect">
            <a:avLst/>
          </a:prstGeom>
          <a:noFill/>
        </p:spPr>
        <p:txBody>
          <a:bodyPr wrap="square" anchor="ctr" lIns="50800" rIns="50800" tIns="25400" bIns="25400">
            <a:spAutoFit/>
          </a:bodyPr>
          <a:lstStyle/>
          <a:p>
            <a:pPr algn="l">
              <a:lnSpc>
                <a:spcPct val="110000"/>
              </a:lnSpc>
              <a:spcAft>
                <a:spcPts val="400"/>
              </a:spcAft>
            </a:pPr>
            <a:r>
              <a:rPr sz="1100" b="1">
                <a:solidFill>
                  <a:srgbClr val="1A6B6B"/>
                </a:solidFill>
                <a:latin typeface="微软雅黑"/>
                <a:ea typeface="微软雅黑"/>
                <a:cs typeface="微软雅黑"/>
              </a:rPr>
              <a:t>17:40 后</a:t>
            </a:r>
          </a:p>
        </p:txBody>
      </p:sp>
      <p:sp>
        <p:nvSpPr>
          <p:cNvPr id="39" name="TextBox 38"/>
          <p:cNvSpPr txBox="1"/>
          <p:nvPr/>
        </p:nvSpPr>
        <p:spPr>
          <a:xfrm>
            <a:off x="3017520" y="5276088"/>
            <a:ext cx="4114800" cy="411480"/>
          </a:xfrm>
          <a:prstGeom prst="rect">
            <a:avLst/>
          </a:prstGeom>
          <a:noFill/>
        </p:spPr>
        <p:txBody>
          <a:bodyPr wrap="square" anchor="ctr" lIns="50800" rIns="50800" tIns="25400" bIns="25400">
            <a:spAutoFit/>
          </a:bodyPr>
          <a:lstStyle/>
          <a:p>
            <a:pPr algn="l">
              <a:lnSpc>
                <a:spcPct val="110000"/>
              </a:lnSpc>
              <a:spcAft>
                <a:spcPts val="400"/>
              </a:spcAft>
            </a:pPr>
            <a:r>
              <a:rPr sz="1200" b="1">
                <a:solidFill>
                  <a:srgbClr val="0B3D5C"/>
                </a:solidFill>
                <a:latin typeface="微软雅黑"/>
                <a:ea typeface="微软雅黑"/>
                <a:cs typeface="微软雅黑"/>
              </a:rPr>
              <a:t>返程上海</a:t>
            </a:r>
          </a:p>
        </p:txBody>
      </p:sp>
      <p:sp>
        <p:nvSpPr>
          <p:cNvPr id="40" name="TextBox 39"/>
          <p:cNvSpPr txBox="1"/>
          <p:nvPr/>
        </p:nvSpPr>
        <p:spPr>
          <a:xfrm>
            <a:off x="7223760" y="5276088"/>
            <a:ext cx="4297680" cy="411480"/>
          </a:xfrm>
          <a:prstGeom prst="rect">
            <a:avLst/>
          </a:prstGeom>
          <a:noFill/>
        </p:spPr>
        <p:txBody>
          <a:bodyPr wrap="square" anchor="ctr" lIns="50800" rIns="50800" tIns="25400" bIns="25400">
            <a:spAutoFit/>
          </a:bodyPr>
          <a:lstStyle/>
          <a:p>
            <a:pPr algn="l">
              <a:lnSpc>
                <a:spcPct val="110000"/>
              </a:lnSpc>
              <a:spcAft>
                <a:spcPts val="400"/>
              </a:spcAft>
            </a:pPr>
            <a:r>
              <a:rPr sz="1100" b="0">
                <a:solidFill>
                  <a:srgbClr val="5A636E"/>
                </a:solidFill>
                <a:latin typeface="微软雅黑"/>
                <a:ea typeface="微软雅黑"/>
                <a:cs typeface="微软雅黑"/>
              </a:rPr>
              <a:t>行程结束；港口博物馆可作为弹性插空选配</a:t>
            </a:r>
          </a:p>
        </p:txBody>
      </p:sp>
      <p:sp>
        <p:nvSpPr>
          <p:cNvPr id="41" name="TextBox 40"/>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42" name="TextBox 41"/>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06 预期成果</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四类线索清单 · 可跟进可转化</a:t>
            </a:r>
          </a:p>
        </p:txBody>
      </p:sp>
      <p:sp>
        <p:nvSpPr>
          <p:cNvPr id="6" name="TextBox 5"/>
          <p:cNvSpPr txBox="1"/>
          <p:nvPr/>
        </p:nvSpPr>
        <p:spPr>
          <a:xfrm>
            <a:off x="457200" y="1280160"/>
            <a:ext cx="5669280" cy="4754880"/>
          </a:xfrm>
          <a:prstGeom prst="rect">
            <a:avLst/>
          </a:prstGeom>
          <a:noFill/>
        </p:spPr>
        <p:txBody>
          <a:bodyPr wrap="square" anchor="t" lIns="50800" rIns="50800" tIns="25400" bIns="25400">
            <a:spAutoFit/>
          </a:bodyPr>
          <a:lstStyle/>
          <a:p>
            <a:pPr algn="l">
              <a:lnSpc>
                <a:spcPct val="110000"/>
              </a:lnSpc>
              <a:spcAft>
                <a:spcPts val="800"/>
              </a:spcAft>
            </a:pPr>
            <a:r>
              <a:rPr sz="1400" b="1">
                <a:solidFill>
                  <a:srgbClr val="1A6B6B"/>
                </a:solidFill>
                <a:latin typeface="微软雅黑"/>
                <a:ea typeface="微软雅黑"/>
                <a:cs typeface="微软雅黑"/>
              </a:rPr>
              <a:t>本次预期成果</a:t>
            </a:r>
          </a:p>
          <a:p>
            <a:pPr algn="l">
              <a:lnSpc>
                <a:spcPct val="110000"/>
              </a:lnSpc>
              <a:spcAft>
                <a:spcPts val="1000"/>
              </a:spcAft>
            </a:pPr>
            <a:r>
              <a:rPr sz="1250" b="0">
                <a:solidFill>
                  <a:srgbClr val="222A33"/>
                </a:solidFill>
                <a:latin typeface="微软雅黑"/>
                <a:ea typeface="微软雅黑"/>
                <a:cs typeface="微软雅黑"/>
              </a:rPr>
              <a:t>· 形成《宁波港精选点位考察纪要》与参访影像资料（含港口 / 企业现场要点）。</a:t>
            </a:r>
          </a:p>
          <a:p>
            <a:pPr algn="l">
              <a:lnSpc>
                <a:spcPct val="110000"/>
              </a:lnSpc>
              <a:spcAft>
                <a:spcPts val="1000"/>
              </a:spcAft>
            </a:pPr>
            <a:r>
              <a:rPr sz="1250" b="0">
                <a:solidFill>
                  <a:srgbClr val="222A33"/>
                </a:solidFill>
                <a:latin typeface="微软雅黑"/>
                <a:ea typeface="微软雅黑"/>
                <a:cs typeface="微软雅黑"/>
              </a:rPr>
              <a:t>· 形成“港航供应链 / 智能制造配套 / 孵化落地 / 投融资”四类合作意向清单，明确责任人与跟进节点。</a:t>
            </a:r>
          </a:p>
          <a:p>
            <a:pPr algn="l">
              <a:lnSpc>
                <a:spcPct val="110000"/>
              </a:lnSpc>
              <a:spcAft>
                <a:spcPts val="1000"/>
              </a:spcAft>
            </a:pPr>
            <a:r>
              <a:rPr sz="1250" b="0">
                <a:solidFill>
                  <a:srgbClr val="222A33"/>
                </a:solidFill>
                <a:latin typeface="微软雅黑"/>
                <a:ea typeface="微软雅黑"/>
                <a:cs typeface="微软雅黑"/>
              </a:rPr>
              <a:t>· 推动 1–若干个可落地事项：用港与供应链优化、企业考察回访、分支或产能落地、孵化入驻、投融资对接。</a:t>
            </a:r>
          </a:p>
          <a:p>
            <a:pPr algn="l">
              <a:lnSpc>
                <a:spcPct val="110000"/>
              </a:lnSpc>
              <a:spcAft>
                <a:spcPts val="1000"/>
              </a:spcAft>
            </a:pPr>
            <a:r>
              <a:rPr sz="1250" b="0">
                <a:solidFill>
                  <a:srgbClr val="222A33"/>
                </a:solidFill>
                <a:latin typeface="微软雅黑"/>
                <a:ea typeface="微软雅黑"/>
                <a:cs typeface="微软雅黑"/>
              </a:rPr>
              <a:t>· 建立组织方与宁波经济技术开发区投资促进局的常态化联络机制，约定后续双向交流频次。</a:t>
            </a:r>
          </a:p>
        </p:txBody>
      </p:sp>
      <p:sp>
        <p:nvSpPr>
          <p:cNvPr id="7" name="Rectangle 6"/>
          <p:cNvSpPr/>
          <p:nvPr/>
        </p:nvSpPr>
        <p:spPr>
          <a:xfrm>
            <a:off x="6309360" y="1280160"/>
            <a:ext cx="5394960" cy="4754880"/>
          </a:xfrm>
          <a:prstGeom prst="rect">
            <a:avLst/>
          </a:prstGeom>
          <a:solidFill>
            <a:srgbClr val="07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08760"/>
            <a:ext cx="4937760" cy="365760"/>
          </a:xfrm>
          <a:prstGeom prst="rect">
            <a:avLst/>
          </a:prstGeom>
          <a:noFill/>
        </p:spPr>
        <p:txBody>
          <a:bodyPr wrap="square" anchor="t" lIns="50800" rIns="50800" tIns="25400" bIns="25400">
            <a:spAutoFit/>
          </a:bodyPr>
          <a:lstStyle/>
          <a:p>
            <a:pPr algn="l">
              <a:lnSpc>
                <a:spcPct val="110000"/>
              </a:lnSpc>
              <a:spcAft>
                <a:spcPts val="400"/>
              </a:spcAft>
            </a:pPr>
            <a:r>
              <a:rPr sz="1400" b="1">
                <a:solidFill>
                  <a:srgbClr val="C47E1A"/>
                </a:solidFill>
                <a:latin typeface="微软雅黑"/>
                <a:ea typeface="微软雅黑"/>
                <a:cs typeface="微软雅黑"/>
              </a:rPr>
              <a:t>长效合作设想</a:t>
            </a:r>
          </a:p>
        </p:txBody>
      </p:sp>
      <p:sp>
        <p:nvSpPr>
          <p:cNvPr id="9" name="TextBox 8"/>
          <p:cNvSpPr txBox="1"/>
          <p:nvPr/>
        </p:nvSpPr>
        <p:spPr>
          <a:xfrm>
            <a:off x="6583680" y="2011680"/>
            <a:ext cx="4937760" cy="3749039"/>
          </a:xfrm>
          <a:prstGeom prst="rect">
            <a:avLst/>
          </a:prstGeom>
          <a:noFill/>
        </p:spPr>
        <p:txBody>
          <a:bodyPr wrap="square" anchor="t" lIns="50800" rIns="50800" tIns="25400" bIns="25400">
            <a:spAutoFit/>
          </a:bodyPr>
          <a:lstStyle/>
          <a:p>
            <a:pPr algn="l">
              <a:lnSpc>
                <a:spcPct val="110000"/>
              </a:lnSpc>
              <a:spcAft>
                <a:spcPts val="400"/>
              </a:spcAft>
            </a:pPr>
            <a:r>
              <a:rPr sz="1300" b="1">
                <a:solidFill>
                  <a:srgbClr val="2A8F8F"/>
                </a:solidFill>
                <a:latin typeface="微软雅黑"/>
                <a:ea typeface="微软雅黑"/>
                <a:cs typeface="微软雅黑"/>
              </a:rPr>
              <a:t>机制共建</a:t>
            </a:r>
          </a:p>
          <a:p>
            <a:pPr algn="l">
              <a:lnSpc>
                <a:spcPct val="110000"/>
              </a:lnSpc>
              <a:spcAft>
                <a:spcPts val="1000"/>
              </a:spcAft>
            </a:pPr>
            <a:r>
              <a:rPr sz="1200" b="0">
                <a:solidFill>
                  <a:srgbClr val="FFFFFF"/>
                </a:solidFill>
                <a:latin typeface="微软雅黑"/>
                <a:ea typeface="微软雅黑"/>
                <a:cs typeface="微软雅黑"/>
              </a:rPr>
              <a:t>探索“沪甬科技企业家定期互访 + 港口 / 产业专题投促日”常态机制</a:t>
            </a:r>
          </a:p>
          <a:p>
            <a:pPr algn="l">
              <a:lnSpc>
                <a:spcPct val="110000"/>
              </a:lnSpc>
              <a:spcAft>
                <a:spcPts val="400"/>
              </a:spcAft>
            </a:pPr>
            <a:r>
              <a:rPr sz="1300" b="1">
                <a:solidFill>
                  <a:srgbClr val="2A8F8F"/>
                </a:solidFill>
                <a:latin typeface="微软雅黑"/>
                <a:ea typeface="微软雅黑"/>
                <a:cs typeface="微软雅黑"/>
              </a:rPr>
              <a:t>项目共推</a:t>
            </a:r>
          </a:p>
          <a:p>
            <a:pPr algn="l">
              <a:lnSpc>
                <a:spcPct val="110000"/>
              </a:lnSpc>
              <a:spcAft>
                <a:spcPts val="1000"/>
              </a:spcAft>
            </a:pPr>
            <a:r>
              <a:rPr sz="1200" b="0">
                <a:solidFill>
                  <a:srgbClr val="FFFFFF"/>
                </a:solidFill>
                <a:latin typeface="微软雅黑"/>
                <a:ea typeface="微软雅黑"/>
                <a:cs typeface="微软雅黑"/>
              </a:rPr>
              <a:t>共同筛选适配开发区产业方向的上海企业与校友项目，对接科技创业园与科创飞地</a:t>
            </a:r>
          </a:p>
          <a:p>
            <a:pPr algn="l">
              <a:lnSpc>
                <a:spcPct val="110000"/>
              </a:lnSpc>
              <a:spcAft>
                <a:spcPts val="400"/>
              </a:spcAft>
            </a:pPr>
            <a:r>
              <a:rPr sz="1300" b="1">
                <a:solidFill>
                  <a:srgbClr val="2A8F8F"/>
                </a:solidFill>
                <a:latin typeface="微软雅黑"/>
                <a:ea typeface="微软雅黑"/>
                <a:cs typeface="微软雅黑"/>
              </a:rPr>
              <a:t>资本协同</a:t>
            </a:r>
          </a:p>
          <a:p>
            <a:pPr algn="l">
              <a:lnSpc>
                <a:spcPct val="110000"/>
              </a:lnSpc>
              <a:spcAft>
                <a:spcPts val="1000"/>
              </a:spcAft>
            </a:pPr>
            <a:r>
              <a:rPr sz="1200" b="0">
                <a:solidFill>
                  <a:srgbClr val="FFFFFF"/>
                </a:solidFill>
                <a:latin typeface="微软雅黑"/>
                <a:ea typeface="微软雅黑"/>
                <a:cs typeface="微软雅黑"/>
              </a:rPr>
              <a:t>引入 PE/VC、CVC 关注当地优质项目，促进资本与产业双向奔赴</a:t>
            </a:r>
          </a:p>
          <a:p>
            <a:pPr algn="l">
              <a:lnSpc>
                <a:spcPct val="110000"/>
              </a:lnSpc>
              <a:spcAft>
                <a:spcPts val="400"/>
              </a:spcAft>
            </a:pPr>
            <a:r>
              <a:rPr sz="1300" b="1">
                <a:solidFill>
                  <a:srgbClr val="2A8F8F"/>
                </a:solidFill>
                <a:latin typeface="微软雅黑"/>
                <a:ea typeface="微软雅黑"/>
                <a:cs typeface="微软雅黑"/>
              </a:rPr>
              <a:t>港产联动</a:t>
            </a:r>
          </a:p>
          <a:p>
            <a:pPr algn="l">
              <a:lnSpc>
                <a:spcPct val="110000"/>
              </a:lnSpc>
              <a:spcAft>
                <a:spcPts val="1000"/>
              </a:spcAft>
            </a:pPr>
            <a:r>
              <a:rPr sz="1200" b="0">
                <a:solidFill>
                  <a:srgbClr val="FFFFFF"/>
                </a:solidFill>
                <a:latin typeface="微软雅黑"/>
                <a:ea typeface="微软雅黑"/>
                <a:cs typeface="微软雅黑"/>
              </a:rPr>
              <a:t>以宁波港为纽带，持续组织外贸、物流科技与临港制造专题对接</a:t>
            </a:r>
          </a:p>
        </p:txBody>
      </p:sp>
      <p:sp>
        <p:nvSpPr>
          <p:cNvPr id="10" name="TextBox 9"/>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11" name="TextBox 10"/>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06 恳请支持</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请贵局协助协调港口、企业与互动环节</a:t>
            </a:r>
          </a:p>
        </p:txBody>
      </p:sp>
      <p:sp>
        <p:nvSpPr>
          <p:cNvPr id="6" name="Rectangle 5"/>
          <p:cNvSpPr/>
          <p:nvPr/>
        </p:nvSpPr>
        <p:spPr>
          <a:xfrm>
            <a:off x="457200" y="1207008"/>
            <a:ext cx="11247120" cy="621792"/>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16736"/>
            <a:ext cx="2560320" cy="411480"/>
          </a:xfrm>
          <a:prstGeom prst="rect">
            <a:avLst/>
          </a:prstGeom>
          <a:noFill/>
        </p:spPr>
        <p:txBody>
          <a:bodyPr wrap="square" anchor="ctr"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1. 接待统筹</a:t>
            </a:r>
          </a:p>
        </p:txBody>
      </p:sp>
      <p:sp>
        <p:nvSpPr>
          <p:cNvPr id="8" name="TextBox 7"/>
          <p:cNvSpPr txBox="1"/>
          <p:nvPr/>
        </p:nvSpPr>
        <p:spPr>
          <a:xfrm>
            <a:off x="3291840" y="1316736"/>
            <a:ext cx="8229600" cy="411480"/>
          </a:xfrm>
          <a:prstGeom prst="rect">
            <a:avLst/>
          </a:prstGeom>
          <a:noFill/>
        </p:spPr>
        <p:txBody>
          <a:bodyPr wrap="square" anchor="ctr" lIns="50800" rIns="50800" tIns="25400" bIns="25400">
            <a:spAutoFit/>
          </a:bodyPr>
          <a:lstStyle/>
          <a:p>
            <a:pPr algn="l">
              <a:lnSpc>
                <a:spcPct val="110000"/>
              </a:lnSpc>
              <a:spcAft>
                <a:spcPts val="400"/>
              </a:spcAft>
            </a:pPr>
            <a:r>
              <a:rPr sz="1200" b="0">
                <a:solidFill>
                  <a:srgbClr val="222A33"/>
                </a:solidFill>
                <a:latin typeface="微软雅黑"/>
                <a:ea typeface="微软雅黑"/>
                <a:cs typeface="微软雅黑"/>
              </a:rPr>
              <a:t>指定对接人，统筹行程、车辆、会场与安全保障</a:t>
            </a:r>
          </a:p>
        </p:txBody>
      </p:sp>
      <p:sp>
        <p:nvSpPr>
          <p:cNvPr id="9" name="Rectangle 8"/>
          <p:cNvSpPr/>
          <p:nvPr/>
        </p:nvSpPr>
        <p:spPr>
          <a:xfrm>
            <a:off x="457200" y="1892808"/>
            <a:ext cx="11247120" cy="621792"/>
          </a:xfrm>
          <a:prstGeom prst="rect">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002536"/>
            <a:ext cx="2560320" cy="411480"/>
          </a:xfrm>
          <a:prstGeom prst="rect">
            <a:avLst/>
          </a:prstGeom>
          <a:noFill/>
        </p:spPr>
        <p:txBody>
          <a:bodyPr wrap="square" anchor="ctr"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2. 港口点位协调</a:t>
            </a:r>
          </a:p>
        </p:txBody>
      </p:sp>
      <p:sp>
        <p:nvSpPr>
          <p:cNvPr id="11" name="TextBox 10"/>
          <p:cNvSpPr txBox="1"/>
          <p:nvPr/>
        </p:nvSpPr>
        <p:spPr>
          <a:xfrm>
            <a:off x="3291840" y="2002536"/>
            <a:ext cx="8229600" cy="411480"/>
          </a:xfrm>
          <a:prstGeom prst="rect">
            <a:avLst/>
          </a:prstGeom>
          <a:noFill/>
        </p:spPr>
        <p:txBody>
          <a:bodyPr wrap="square" anchor="ctr" lIns="50800" rIns="50800" tIns="25400" bIns="25400">
            <a:spAutoFit/>
          </a:bodyPr>
          <a:lstStyle/>
          <a:p>
            <a:pPr algn="l">
              <a:lnSpc>
                <a:spcPct val="110000"/>
              </a:lnSpc>
              <a:spcAft>
                <a:spcPts val="400"/>
              </a:spcAft>
            </a:pPr>
            <a:r>
              <a:rPr sz="1200" b="0">
                <a:solidFill>
                  <a:srgbClr val="222A33"/>
                </a:solidFill>
                <a:latin typeface="微软雅黑"/>
                <a:ea typeface="微软雅黑"/>
                <a:cs typeface="微软雅黑"/>
              </a:rPr>
              <a:t>协助对接穿山港区（北三集司）、环球航运广场展示厅；视情况安排梅山港区</a:t>
            </a:r>
          </a:p>
        </p:txBody>
      </p:sp>
      <p:sp>
        <p:nvSpPr>
          <p:cNvPr id="12" name="Rectangle 11"/>
          <p:cNvSpPr/>
          <p:nvPr/>
        </p:nvSpPr>
        <p:spPr>
          <a:xfrm>
            <a:off x="457200" y="2578608"/>
            <a:ext cx="11247120" cy="621792"/>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2688336"/>
            <a:ext cx="2560320" cy="411480"/>
          </a:xfrm>
          <a:prstGeom prst="rect">
            <a:avLst/>
          </a:prstGeom>
          <a:noFill/>
        </p:spPr>
        <p:txBody>
          <a:bodyPr wrap="square" anchor="ctr"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3. 标杆企业协调</a:t>
            </a:r>
          </a:p>
        </p:txBody>
      </p:sp>
      <p:sp>
        <p:nvSpPr>
          <p:cNvPr id="14" name="TextBox 13"/>
          <p:cNvSpPr txBox="1"/>
          <p:nvPr/>
        </p:nvSpPr>
        <p:spPr>
          <a:xfrm>
            <a:off x="3291840" y="2688336"/>
            <a:ext cx="8229600" cy="411480"/>
          </a:xfrm>
          <a:prstGeom prst="rect">
            <a:avLst/>
          </a:prstGeom>
          <a:noFill/>
        </p:spPr>
        <p:txBody>
          <a:bodyPr wrap="square" anchor="ctr" lIns="50800" rIns="50800" tIns="25400" bIns="25400">
            <a:spAutoFit/>
          </a:bodyPr>
          <a:lstStyle/>
          <a:p>
            <a:pPr algn="l">
              <a:lnSpc>
                <a:spcPct val="110000"/>
              </a:lnSpc>
              <a:spcAft>
                <a:spcPts val="400"/>
              </a:spcAft>
            </a:pPr>
            <a:r>
              <a:rPr sz="1200" b="0">
                <a:solidFill>
                  <a:srgbClr val="222A33"/>
                </a:solidFill>
                <a:latin typeface="微软雅黑"/>
                <a:ea typeface="微软雅黑"/>
                <a:cs typeface="微软雅黑"/>
              </a:rPr>
              <a:t>协助联系海天、极氪（或吉利新能源）、拓普 / 东方电缆等 2–3 家开放接待</a:t>
            </a:r>
          </a:p>
        </p:txBody>
      </p:sp>
      <p:sp>
        <p:nvSpPr>
          <p:cNvPr id="15" name="Rectangle 14"/>
          <p:cNvSpPr/>
          <p:nvPr/>
        </p:nvSpPr>
        <p:spPr>
          <a:xfrm>
            <a:off x="457200" y="3264408"/>
            <a:ext cx="11247120" cy="621792"/>
          </a:xfrm>
          <a:prstGeom prst="rect">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374136"/>
            <a:ext cx="2560320" cy="411480"/>
          </a:xfrm>
          <a:prstGeom prst="rect">
            <a:avLst/>
          </a:prstGeom>
          <a:noFill/>
        </p:spPr>
        <p:txBody>
          <a:bodyPr wrap="square" anchor="ctr"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4. 孵化载体安排</a:t>
            </a:r>
          </a:p>
        </p:txBody>
      </p:sp>
      <p:sp>
        <p:nvSpPr>
          <p:cNvPr id="17" name="TextBox 16"/>
          <p:cNvSpPr txBox="1"/>
          <p:nvPr/>
        </p:nvSpPr>
        <p:spPr>
          <a:xfrm>
            <a:off x="3291840" y="3374136"/>
            <a:ext cx="8229600" cy="411480"/>
          </a:xfrm>
          <a:prstGeom prst="rect">
            <a:avLst/>
          </a:prstGeom>
          <a:noFill/>
        </p:spPr>
        <p:txBody>
          <a:bodyPr wrap="square" anchor="ctr" lIns="50800" rIns="50800" tIns="25400" bIns="25400">
            <a:spAutoFit/>
          </a:bodyPr>
          <a:lstStyle/>
          <a:p>
            <a:pPr algn="l">
              <a:lnSpc>
                <a:spcPct val="110000"/>
              </a:lnSpc>
              <a:spcAft>
                <a:spcPts val="400"/>
              </a:spcAft>
            </a:pPr>
            <a:r>
              <a:rPr sz="1200" b="0">
                <a:solidFill>
                  <a:srgbClr val="222A33"/>
                </a:solidFill>
                <a:latin typeface="微软雅黑"/>
                <a:ea typeface="微软雅黑"/>
                <a:cs typeface="微软雅黑"/>
              </a:rPr>
              <a:t>安排科技创业园 2.0 或甬江科创区北仑片区参观与政策答疑</a:t>
            </a:r>
          </a:p>
        </p:txBody>
      </p:sp>
      <p:sp>
        <p:nvSpPr>
          <p:cNvPr id="18" name="Rectangle 17"/>
          <p:cNvSpPr/>
          <p:nvPr/>
        </p:nvSpPr>
        <p:spPr>
          <a:xfrm>
            <a:off x="457200" y="3950208"/>
            <a:ext cx="11247120" cy="621792"/>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059936"/>
            <a:ext cx="2560320" cy="411480"/>
          </a:xfrm>
          <a:prstGeom prst="rect">
            <a:avLst/>
          </a:prstGeom>
          <a:noFill/>
        </p:spPr>
        <p:txBody>
          <a:bodyPr wrap="square" anchor="ctr"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5. 互动环节组织</a:t>
            </a:r>
          </a:p>
        </p:txBody>
      </p:sp>
      <p:sp>
        <p:nvSpPr>
          <p:cNvPr id="20" name="TextBox 19"/>
          <p:cNvSpPr txBox="1"/>
          <p:nvPr/>
        </p:nvSpPr>
        <p:spPr>
          <a:xfrm>
            <a:off x="3291840" y="4059936"/>
            <a:ext cx="8229600" cy="411480"/>
          </a:xfrm>
          <a:prstGeom prst="rect">
            <a:avLst/>
          </a:prstGeom>
          <a:noFill/>
        </p:spPr>
        <p:txBody>
          <a:bodyPr wrap="square" anchor="ctr" lIns="50800" rIns="50800" tIns="25400" bIns="25400">
            <a:spAutoFit/>
          </a:bodyPr>
          <a:lstStyle/>
          <a:p>
            <a:pPr algn="l">
              <a:lnSpc>
                <a:spcPct val="110000"/>
              </a:lnSpc>
              <a:spcAft>
                <a:spcPts val="400"/>
              </a:spcAft>
            </a:pPr>
            <a:r>
              <a:rPr sz="1200" b="0">
                <a:solidFill>
                  <a:srgbClr val="222A33"/>
                </a:solidFill>
                <a:latin typeface="微软雅黑"/>
                <a:ea typeface="微软雅黑"/>
                <a:cs typeface="微软雅黑"/>
              </a:rPr>
              <a:t>配合组织港航圆桌、制造对接、落地工作坊及（可选）投洽会</a:t>
            </a:r>
          </a:p>
        </p:txBody>
      </p:sp>
      <p:sp>
        <p:nvSpPr>
          <p:cNvPr id="21" name="Rectangle 20"/>
          <p:cNvSpPr/>
          <p:nvPr/>
        </p:nvSpPr>
        <p:spPr>
          <a:xfrm>
            <a:off x="457200" y="4636008"/>
            <a:ext cx="11247120" cy="621792"/>
          </a:xfrm>
          <a:prstGeom prst="rect">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745736"/>
            <a:ext cx="2560320" cy="411480"/>
          </a:xfrm>
          <a:prstGeom prst="rect">
            <a:avLst/>
          </a:prstGeom>
          <a:noFill/>
        </p:spPr>
        <p:txBody>
          <a:bodyPr wrap="square" anchor="ctr"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6. 资料支持</a:t>
            </a:r>
          </a:p>
        </p:txBody>
      </p:sp>
      <p:sp>
        <p:nvSpPr>
          <p:cNvPr id="23" name="TextBox 22"/>
          <p:cNvSpPr txBox="1"/>
          <p:nvPr/>
        </p:nvSpPr>
        <p:spPr>
          <a:xfrm>
            <a:off x="3291840" y="4745736"/>
            <a:ext cx="8229600" cy="411480"/>
          </a:xfrm>
          <a:prstGeom prst="rect">
            <a:avLst/>
          </a:prstGeom>
          <a:noFill/>
        </p:spPr>
        <p:txBody>
          <a:bodyPr wrap="square" anchor="ctr" lIns="50800" rIns="50800" tIns="25400" bIns="25400">
            <a:spAutoFit/>
          </a:bodyPr>
          <a:lstStyle/>
          <a:p>
            <a:pPr algn="l">
              <a:lnSpc>
                <a:spcPct val="110000"/>
              </a:lnSpc>
              <a:spcAft>
                <a:spcPts val="400"/>
              </a:spcAft>
            </a:pPr>
            <a:r>
              <a:rPr sz="1200" b="0">
                <a:solidFill>
                  <a:srgbClr val="222A33"/>
                </a:solidFill>
                <a:latin typeface="微软雅黑"/>
                <a:ea typeface="微软雅黑"/>
                <a:cs typeface="微软雅黑"/>
              </a:rPr>
              <a:t>提供开发区简介、产业图谱、招商手册及可公开的项目信息</a:t>
            </a:r>
          </a:p>
        </p:txBody>
      </p:sp>
      <p:sp>
        <p:nvSpPr>
          <p:cNvPr id="24" name="Rectangle 23"/>
          <p:cNvSpPr/>
          <p:nvPr/>
        </p:nvSpPr>
        <p:spPr>
          <a:xfrm>
            <a:off x="457200" y="5321808"/>
            <a:ext cx="11247120" cy="621792"/>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431536"/>
            <a:ext cx="2560320" cy="411480"/>
          </a:xfrm>
          <a:prstGeom prst="rect">
            <a:avLst/>
          </a:prstGeom>
          <a:noFill/>
        </p:spPr>
        <p:txBody>
          <a:bodyPr wrap="square" anchor="ctr" lIns="50800" rIns="50800" tIns="25400" bIns="25400">
            <a:spAutoFit/>
          </a:bodyPr>
          <a:lstStyle/>
          <a:p>
            <a:pPr algn="l">
              <a:lnSpc>
                <a:spcPct val="110000"/>
              </a:lnSpc>
              <a:spcAft>
                <a:spcPts val="400"/>
              </a:spcAft>
            </a:pPr>
            <a:r>
              <a:rPr sz="1300" b="1">
                <a:solidFill>
                  <a:srgbClr val="0B3D5C"/>
                </a:solidFill>
                <a:latin typeface="微软雅黑"/>
                <a:ea typeface="微软雅黑"/>
                <a:cs typeface="微软雅黑"/>
              </a:rPr>
              <a:t>7. 日程确认</a:t>
            </a:r>
          </a:p>
        </p:txBody>
      </p:sp>
      <p:sp>
        <p:nvSpPr>
          <p:cNvPr id="26" name="TextBox 25"/>
          <p:cNvSpPr txBox="1"/>
          <p:nvPr/>
        </p:nvSpPr>
        <p:spPr>
          <a:xfrm>
            <a:off x="3291840" y="5431536"/>
            <a:ext cx="8229600" cy="411480"/>
          </a:xfrm>
          <a:prstGeom prst="rect">
            <a:avLst/>
          </a:prstGeom>
          <a:noFill/>
        </p:spPr>
        <p:txBody>
          <a:bodyPr wrap="square" anchor="ctr" lIns="50800" rIns="50800" tIns="25400" bIns="25400">
            <a:spAutoFit/>
          </a:bodyPr>
          <a:lstStyle/>
          <a:p>
            <a:pPr algn="l">
              <a:lnSpc>
                <a:spcPct val="110000"/>
              </a:lnSpc>
              <a:spcAft>
                <a:spcPts val="400"/>
              </a:spcAft>
            </a:pPr>
            <a:r>
              <a:rPr sz="1200" b="0">
                <a:solidFill>
                  <a:srgbClr val="222A33"/>
                </a:solidFill>
                <a:latin typeface="微软雅黑"/>
                <a:ea typeface="微软雅黑"/>
                <a:cs typeface="微软雅黑"/>
              </a:rPr>
              <a:t>就 8–10 月窗口、各点位接待容量与审批周期给予反馈</a:t>
            </a:r>
          </a:p>
        </p:txBody>
      </p:sp>
      <p:sp>
        <p:nvSpPr>
          <p:cNvPr id="27" name="TextBox 26"/>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28" name="TextBox 27"/>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24128"/>
          </a:xfrm>
          <a:prstGeom prst="rect">
            <a:avLst/>
          </a:prstGeom>
          <a:solidFill>
            <a:srgbClr val="0B3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2191695" cy="381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7315200" cy="320040"/>
          </a:xfrm>
          <a:prstGeom prst="rect">
            <a:avLst/>
          </a:prstGeom>
          <a:noFill/>
        </p:spPr>
        <p:txBody>
          <a:bodyPr wrap="square" anchor="t" lIns="50800" rIns="50800" tIns="25400" bIns="25400">
            <a:spAutoFit/>
          </a:bodyPr>
          <a:lstStyle/>
          <a:p>
            <a:pPr algn="l">
              <a:lnSpc>
                <a:spcPct val="110000"/>
              </a:lnSpc>
              <a:spcAft>
                <a:spcPts val="400"/>
              </a:spcAft>
            </a:pPr>
            <a:r>
              <a:rPr sz="1200" b="1">
                <a:solidFill>
                  <a:srgbClr val="C47E1A"/>
                </a:solidFill>
                <a:latin typeface="微软雅黑"/>
                <a:ea typeface="微软雅黑"/>
                <a:cs typeface="微软雅黑"/>
              </a:rPr>
              <a:t>下一步</a:t>
            </a:r>
          </a:p>
        </p:txBody>
      </p:sp>
      <p:sp>
        <p:nvSpPr>
          <p:cNvPr id="5" name="TextBox 4"/>
          <p:cNvSpPr txBox="1"/>
          <p:nvPr/>
        </p:nvSpPr>
        <p:spPr>
          <a:xfrm>
            <a:off x="457200" y="365760"/>
            <a:ext cx="11247120" cy="640080"/>
          </a:xfrm>
          <a:prstGeom prst="rect">
            <a:avLst/>
          </a:prstGeom>
          <a:noFill/>
        </p:spPr>
        <p:txBody>
          <a:bodyPr wrap="square" anchor="t" lIns="50800" rIns="50800" tIns="25400" bIns="25400">
            <a:spAutoFit/>
          </a:bodyPr>
          <a:lstStyle/>
          <a:p>
            <a:pPr algn="l">
              <a:lnSpc>
                <a:spcPct val="110000"/>
              </a:lnSpc>
              <a:spcAft>
                <a:spcPts val="400"/>
              </a:spcAft>
            </a:pPr>
            <a:r>
              <a:rPr sz="2400" b="1">
                <a:solidFill>
                  <a:srgbClr val="FFFFFF"/>
                </a:solidFill>
                <a:latin typeface="微软雅黑"/>
                <a:ea typeface="微软雅黑"/>
                <a:cs typeface="微软雅黑"/>
              </a:rPr>
              <a:t>从策划案到成行：先锁定点位再确认人员</a:t>
            </a:r>
          </a:p>
        </p:txBody>
      </p:sp>
      <p:sp>
        <p:nvSpPr>
          <p:cNvPr id="6" name="Rectangle 5"/>
          <p:cNvSpPr/>
          <p:nvPr/>
        </p:nvSpPr>
        <p:spPr>
          <a:xfrm>
            <a:off x="457200" y="1371600"/>
            <a:ext cx="11247120" cy="7772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54480"/>
            <a:ext cx="3200400" cy="411480"/>
          </a:xfrm>
          <a:prstGeom prst="rect">
            <a:avLst/>
          </a:prstGeom>
          <a:noFill/>
        </p:spPr>
        <p:txBody>
          <a:bodyPr wrap="square" anchor="ctr" lIns="50800" rIns="50800" tIns="25400" bIns="25400">
            <a:spAutoFit/>
          </a:bodyPr>
          <a:lstStyle/>
          <a:p>
            <a:pPr algn="l">
              <a:lnSpc>
                <a:spcPct val="110000"/>
              </a:lnSpc>
              <a:spcAft>
                <a:spcPts val="400"/>
              </a:spcAft>
            </a:pPr>
            <a:r>
              <a:rPr sz="1400" b="1">
                <a:solidFill>
                  <a:srgbClr val="1A6B6B"/>
                </a:solidFill>
                <a:latin typeface="微软雅黑"/>
                <a:ea typeface="微软雅黑"/>
                <a:cs typeface="微软雅黑"/>
              </a:rPr>
              <a:t>① 本策划案送达</a:t>
            </a:r>
          </a:p>
        </p:txBody>
      </p:sp>
      <p:sp>
        <p:nvSpPr>
          <p:cNvPr id="8" name="TextBox 7"/>
          <p:cNvSpPr txBox="1"/>
          <p:nvPr/>
        </p:nvSpPr>
        <p:spPr>
          <a:xfrm>
            <a:off x="4023360" y="1554480"/>
            <a:ext cx="7406640" cy="41148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提交宁波经济技术开发区投资促进局审阅</a:t>
            </a:r>
          </a:p>
        </p:txBody>
      </p:sp>
      <p:sp>
        <p:nvSpPr>
          <p:cNvPr id="9" name="Rectangle 8"/>
          <p:cNvSpPr/>
          <p:nvPr/>
        </p:nvSpPr>
        <p:spPr>
          <a:xfrm>
            <a:off x="457200" y="2240280"/>
            <a:ext cx="11247120" cy="777240"/>
          </a:xfrm>
          <a:prstGeom prst="rect">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23160"/>
            <a:ext cx="3200400" cy="411480"/>
          </a:xfrm>
          <a:prstGeom prst="rect">
            <a:avLst/>
          </a:prstGeom>
          <a:noFill/>
        </p:spPr>
        <p:txBody>
          <a:bodyPr wrap="square" anchor="ctr" lIns="50800" rIns="50800" tIns="25400" bIns="25400">
            <a:spAutoFit/>
          </a:bodyPr>
          <a:lstStyle/>
          <a:p>
            <a:pPr algn="l">
              <a:lnSpc>
                <a:spcPct val="110000"/>
              </a:lnSpc>
              <a:spcAft>
                <a:spcPts val="400"/>
              </a:spcAft>
            </a:pPr>
            <a:r>
              <a:rPr sz="1400" b="1">
                <a:solidFill>
                  <a:srgbClr val="1A6B6B"/>
                </a:solidFill>
                <a:latin typeface="微软雅黑"/>
                <a:ea typeface="微软雅黑"/>
                <a:cs typeface="微软雅黑"/>
              </a:rPr>
              <a:t>② 点位确认</a:t>
            </a:r>
          </a:p>
        </p:txBody>
      </p:sp>
      <p:sp>
        <p:nvSpPr>
          <p:cNvPr id="11" name="TextBox 10"/>
          <p:cNvSpPr txBox="1"/>
          <p:nvPr/>
        </p:nvSpPr>
        <p:spPr>
          <a:xfrm>
            <a:off x="4023360" y="2423160"/>
            <a:ext cx="7406640" cy="41148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双方勾选港口 / 企业 / 孵化核心点位，确认可开放接待对象</a:t>
            </a:r>
          </a:p>
        </p:txBody>
      </p:sp>
      <p:sp>
        <p:nvSpPr>
          <p:cNvPr id="12" name="Rectangle 11"/>
          <p:cNvSpPr/>
          <p:nvPr/>
        </p:nvSpPr>
        <p:spPr>
          <a:xfrm>
            <a:off x="457200" y="3108960"/>
            <a:ext cx="11247120" cy="7772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291840"/>
            <a:ext cx="3200400" cy="411480"/>
          </a:xfrm>
          <a:prstGeom prst="rect">
            <a:avLst/>
          </a:prstGeom>
          <a:noFill/>
        </p:spPr>
        <p:txBody>
          <a:bodyPr wrap="square" anchor="ctr" lIns="50800" rIns="50800" tIns="25400" bIns="25400">
            <a:spAutoFit/>
          </a:bodyPr>
          <a:lstStyle/>
          <a:p>
            <a:pPr algn="l">
              <a:lnSpc>
                <a:spcPct val="110000"/>
              </a:lnSpc>
              <a:spcAft>
                <a:spcPts val="400"/>
              </a:spcAft>
            </a:pPr>
            <a:r>
              <a:rPr sz="1400" b="1">
                <a:solidFill>
                  <a:srgbClr val="1A6B6B"/>
                </a:solidFill>
                <a:latin typeface="微软雅黑"/>
                <a:ea typeface="微软雅黑"/>
                <a:cs typeface="微软雅黑"/>
              </a:rPr>
              <a:t>③ 人员与需求</a:t>
            </a:r>
          </a:p>
        </p:txBody>
      </p:sp>
      <p:sp>
        <p:nvSpPr>
          <p:cNvPr id="14" name="TextBox 13"/>
          <p:cNvSpPr txBox="1"/>
          <p:nvPr/>
        </p:nvSpPr>
        <p:spPr>
          <a:xfrm>
            <a:off x="4023360" y="3291840"/>
            <a:ext cx="7406640" cy="41148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组织方提交名单及“用港 / 落地 / 投资”三类需求问卷</a:t>
            </a:r>
          </a:p>
        </p:txBody>
      </p:sp>
      <p:sp>
        <p:nvSpPr>
          <p:cNvPr id="15" name="Rectangle 14"/>
          <p:cNvSpPr/>
          <p:nvPr/>
        </p:nvSpPr>
        <p:spPr>
          <a:xfrm>
            <a:off x="457200" y="3977640"/>
            <a:ext cx="11247120" cy="777240"/>
          </a:xfrm>
          <a:prstGeom prst="rect">
            <a:avLst/>
          </a:prstGeom>
          <a:solidFill>
            <a:srgbClr val="E8F0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60520"/>
            <a:ext cx="3200400" cy="411480"/>
          </a:xfrm>
          <a:prstGeom prst="rect">
            <a:avLst/>
          </a:prstGeom>
          <a:noFill/>
        </p:spPr>
        <p:txBody>
          <a:bodyPr wrap="square" anchor="ctr" lIns="50800" rIns="50800" tIns="25400" bIns="25400">
            <a:spAutoFit/>
          </a:bodyPr>
          <a:lstStyle/>
          <a:p>
            <a:pPr algn="l">
              <a:lnSpc>
                <a:spcPct val="110000"/>
              </a:lnSpc>
              <a:spcAft>
                <a:spcPts val="400"/>
              </a:spcAft>
            </a:pPr>
            <a:r>
              <a:rPr sz="1400" b="1">
                <a:solidFill>
                  <a:srgbClr val="1A6B6B"/>
                </a:solidFill>
                <a:latin typeface="微软雅黑"/>
                <a:ea typeface="微软雅黑"/>
                <a:cs typeface="微软雅黑"/>
              </a:rPr>
              <a:t>④ 正式行程锁定</a:t>
            </a:r>
          </a:p>
        </p:txBody>
      </p:sp>
      <p:sp>
        <p:nvSpPr>
          <p:cNvPr id="17" name="TextBox 16"/>
          <p:cNvSpPr txBox="1"/>
          <p:nvPr/>
        </p:nvSpPr>
        <p:spPr>
          <a:xfrm>
            <a:off x="4023360" y="4160520"/>
            <a:ext cx="7406640" cy="41148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形成最终日程、互动环节主持人与对接会议安排</a:t>
            </a:r>
          </a:p>
        </p:txBody>
      </p:sp>
      <p:sp>
        <p:nvSpPr>
          <p:cNvPr id="18" name="Rectangle 17"/>
          <p:cNvSpPr/>
          <p:nvPr/>
        </p:nvSpPr>
        <p:spPr>
          <a:xfrm>
            <a:off x="457200" y="4846320"/>
            <a:ext cx="11247120" cy="777240"/>
          </a:xfrm>
          <a:prstGeom prst="rect">
            <a:avLst/>
          </a:prstGeom>
          <a:solidFill>
            <a:srgbClr val="F3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029200"/>
            <a:ext cx="3200400" cy="411480"/>
          </a:xfrm>
          <a:prstGeom prst="rect">
            <a:avLst/>
          </a:prstGeom>
          <a:noFill/>
        </p:spPr>
        <p:txBody>
          <a:bodyPr wrap="square" anchor="ctr" lIns="50800" rIns="50800" tIns="25400" bIns="25400">
            <a:spAutoFit/>
          </a:bodyPr>
          <a:lstStyle/>
          <a:p>
            <a:pPr algn="l">
              <a:lnSpc>
                <a:spcPct val="110000"/>
              </a:lnSpc>
              <a:spcAft>
                <a:spcPts val="400"/>
              </a:spcAft>
            </a:pPr>
            <a:r>
              <a:rPr sz="1400" b="1">
                <a:solidFill>
                  <a:srgbClr val="1A6B6B"/>
                </a:solidFill>
                <a:latin typeface="微软雅黑"/>
                <a:ea typeface="微软雅黑"/>
                <a:cs typeface="微软雅黑"/>
              </a:rPr>
              <a:t>⑤ 成行与复盘</a:t>
            </a:r>
          </a:p>
        </p:txBody>
      </p:sp>
      <p:sp>
        <p:nvSpPr>
          <p:cNvPr id="20" name="TextBox 19"/>
          <p:cNvSpPr txBox="1"/>
          <p:nvPr/>
        </p:nvSpPr>
        <p:spPr>
          <a:xfrm>
            <a:off x="4023360" y="5029200"/>
            <a:ext cx="7406640" cy="411480"/>
          </a:xfrm>
          <a:prstGeom prst="rect">
            <a:avLst/>
          </a:prstGeom>
          <a:noFill/>
        </p:spPr>
        <p:txBody>
          <a:bodyPr wrap="square" anchor="ctr" lIns="50800" rIns="50800" tIns="25400" bIns="25400">
            <a:spAutoFit/>
          </a:bodyPr>
          <a:lstStyle/>
          <a:p>
            <a:pPr algn="l">
              <a:lnSpc>
                <a:spcPct val="110000"/>
              </a:lnSpc>
              <a:spcAft>
                <a:spcPts val="400"/>
              </a:spcAft>
            </a:pPr>
            <a:r>
              <a:rPr sz="1300" b="0">
                <a:solidFill>
                  <a:srgbClr val="222A33"/>
                </a:solidFill>
                <a:latin typeface="微软雅黑"/>
                <a:ea typeface="微软雅黑"/>
                <a:cs typeface="微软雅黑"/>
              </a:rPr>
              <a:t>完成考察交流，一周内形成纪要与四类线索跟进表</a:t>
            </a:r>
          </a:p>
        </p:txBody>
      </p:sp>
      <p:sp>
        <p:nvSpPr>
          <p:cNvPr id="21" name="TextBox 20"/>
          <p:cNvSpPr txBox="1"/>
          <p:nvPr/>
        </p:nvSpPr>
        <p:spPr>
          <a:xfrm>
            <a:off x="457200" y="6473952"/>
            <a:ext cx="9144000" cy="274320"/>
          </a:xfrm>
          <a:prstGeom prst="rect">
            <a:avLst/>
          </a:prstGeom>
          <a:noFill/>
        </p:spPr>
        <p:txBody>
          <a:bodyPr wrap="square" anchor="t" lIns="50800" rIns="50800" tIns="25400" bIns="25400">
            <a:spAutoFit/>
          </a:bodyPr>
          <a:lstStyle/>
          <a:p>
            <a:pPr algn="l">
              <a:lnSpc>
                <a:spcPct val="110000"/>
              </a:lnSpc>
              <a:spcAft>
                <a:spcPts val="400"/>
              </a:spcAft>
            </a:pPr>
            <a:r>
              <a:rPr sz="900" b="0">
                <a:solidFill>
                  <a:srgbClr val="5A636E"/>
                </a:solidFill>
                <a:latin typeface="微软雅黑"/>
                <a:ea typeface="微软雅黑"/>
                <a:cs typeface="微软雅黑"/>
              </a:rPr>
              <a:t>复旦大学住房政策研究中心 · 上海市杨浦区科技企业联合会 → 宁波经开区投促局</a:t>
            </a:r>
          </a:p>
        </p:txBody>
      </p:sp>
      <p:sp>
        <p:nvSpPr>
          <p:cNvPr id="22" name="TextBox 21"/>
          <p:cNvSpPr txBox="1"/>
          <p:nvPr/>
        </p:nvSpPr>
        <p:spPr>
          <a:xfrm>
            <a:off x="10881360" y="6473952"/>
            <a:ext cx="1005840" cy="274320"/>
          </a:xfrm>
          <a:prstGeom prst="rect">
            <a:avLst/>
          </a:prstGeom>
          <a:noFill/>
        </p:spPr>
        <p:txBody>
          <a:bodyPr wrap="square" anchor="t" lIns="50800" rIns="50800" tIns="25400" bIns="25400">
            <a:spAutoFit/>
          </a:bodyPr>
          <a:lstStyle/>
          <a:p>
            <a:pPr algn="r">
              <a:lnSpc>
                <a:spcPct val="110000"/>
              </a:lnSpc>
              <a:spcAft>
                <a:spcPts val="400"/>
              </a:spcAft>
            </a:pPr>
            <a:r>
              <a:rPr sz="900" b="0">
                <a:solidFill>
                  <a:srgbClr val="5A636E"/>
                </a:solidFill>
                <a:latin typeface="微软雅黑"/>
                <a:ea typeface="微软雅黑"/>
                <a:cs typeface="微软雅黑"/>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A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457200"/>
          </a:xfrm>
          <a:prstGeom prst="rect">
            <a:avLst/>
          </a:prstGeom>
          <a:noFill/>
        </p:spPr>
        <p:txBody>
          <a:bodyPr wrap="square" anchor="t" lIns="50800" rIns="50800" tIns="25400" bIns="25400">
            <a:spAutoFit/>
          </a:bodyPr>
          <a:lstStyle/>
          <a:p>
            <a:pPr algn="l">
              <a:lnSpc>
                <a:spcPct val="110000"/>
              </a:lnSpc>
              <a:spcAft>
                <a:spcPts val="400"/>
              </a:spcAft>
            </a:pPr>
            <a:r>
              <a:rPr sz="1400" b="1">
                <a:solidFill>
                  <a:srgbClr val="2A8F8F"/>
                </a:solidFill>
                <a:latin typeface="微软雅黑"/>
                <a:ea typeface="微软雅黑"/>
                <a:cs typeface="微软雅黑"/>
              </a:rPr>
              <a:t>期待与贵局携手</a:t>
            </a:r>
          </a:p>
        </p:txBody>
      </p:sp>
      <p:sp>
        <p:nvSpPr>
          <p:cNvPr id="5" name="TextBox 4"/>
          <p:cNvSpPr txBox="1"/>
          <p:nvPr/>
        </p:nvSpPr>
        <p:spPr>
          <a:xfrm>
            <a:off x="731520" y="2194560"/>
            <a:ext cx="10515600" cy="1371600"/>
          </a:xfrm>
          <a:prstGeom prst="rect">
            <a:avLst/>
          </a:prstGeom>
          <a:noFill/>
        </p:spPr>
        <p:txBody>
          <a:bodyPr wrap="square" anchor="t" lIns="50800" rIns="50800" tIns="25400" bIns="25400">
            <a:spAutoFit/>
          </a:bodyPr>
          <a:lstStyle/>
          <a:p>
            <a:pPr algn="l">
              <a:lnSpc>
                <a:spcPct val="110000"/>
              </a:lnSpc>
              <a:spcAft>
                <a:spcPts val="1000"/>
              </a:spcAft>
            </a:pPr>
            <a:r>
              <a:rPr sz="2600" b="1">
                <a:solidFill>
                  <a:srgbClr val="FFFFFF"/>
                </a:solidFill>
                <a:latin typeface="微软雅黑"/>
                <a:ea typeface="微软雅黑"/>
                <a:cs typeface="微软雅黑"/>
              </a:rPr>
              <a:t>精选港口点位 · 链接产业与资本</a:t>
            </a:r>
          </a:p>
          <a:p>
            <a:pPr algn="l">
              <a:lnSpc>
                <a:spcPct val="110000"/>
              </a:lnSpc>
              <a:spcAft>
                <a:spcPts val="400"/>
              </a:spcAft>
            </a:pPr>
            <a:r>
              <a:rPr sz="2600" b="1">
                <a:solidFill>
                  <a:srgbClr val="FFFFFF"/>
                </a:solidFill>
                <a:latin typeface="微软雅黑"/>
                <a:ea typeface="微软雅黑"/>
                <a:cs typeface="微软雅黑"/>
              </a:rPr>
              <a:t>推动沪甬可跟进、可转化的务实合作</a:t>
            </a:r>
          </a:p>
        </p:txBody>
      </p:sp>
      <p:sp>
        <p:nvSpPr>
          <p:cNvPr id="6" name="TextBox 5"/>
          <p:cNvSpPr txBox="1"/>
          <p:nvPr/>
        </p:nvSpPr>
        <p:spPr>
          <a:xfrm>
            <a:off x="731520" y="4114800"/>
            <a:ext cx="10515600" cy="914400"/>
          </a:xfrm>
          <a:prstGeom prst="rect">
            <a:avLst/>
          </a:prstGeom>
          <a:noFill/>
        </p:spPr>
        <p:txBody>
          <a:bodyPr wrap="square" anchor="t" lIns="50800" rIns="50800" tIns="25400" bIns="25400">
            <a:spAutoFit/>
          </a:bodyPr>
          <a:lstStyle/>
          <a:p>
            <a:pPr algn="l">
              <a:lnSpc>
                <a:spcPct val="110000"/>
              </a:lnSpc>
              <a:spcAft>
                <a:spcPts val="400"/>
              </a:spcAft>
            </a:pPr>
            <a:r>
              <a:rPr sz="1400" b="0">
                <a:solidFill>
                  <a:srgbClr val="B8CFDC"/>
                </a:solidFill>
                <a:latin typeface="微软雅黑"/>
                <a:ea typeface="微软雅黑"/>
                <a:cs typeface="微软雅黑"/>
              </a:rPr>
              <a:t>港口枢纽 → 港航服务 → 临港智造 → 科创落地 → 资本投洽</a:t>
            </a:r>
          </a:p>
        </p:txBody>
      </p:sp>
      <p:sp>
        <p:nvSpPr>
          <p:cNvPr id="7" name="TextBox 6"/>
          <p:cNvSpPr txBox="1"/>
          <p:nvPr/>
        </p:nvSpPr>
        <p:spPr>
          <a:xfrm>
            <a:off x="731520" y="5303520"/>
            <a:ext cx="10515600" cy="914400"/>
          </a:xfrm>
          <a:prstGeom prst="rect">
            <a:avLst/>
          </a:prstGeom>
          <a:noFill/>
        </p:spPr>
        <p:txBody>
          <a:bodyPr wrap="square" anchor="t" lIns="50800" rIns="50800" tIns="25400" bIns="25400">
            <a:spAutoFit/>
          </a:bodyPr>
          <a:lstStyle/>
          <a:p>
            <a:pPr algn="l">
              <a:lnSpc>
                <a:spcPct val="110000"/>
              </a:lnSpc>
              <a:spcAft>
                <a:spcPts val="600"/>
              </a:spcAft>
            </a:pPr>
            <a:r>
              <a:rPr sz="1400" b="1">
                <a:solidFill>
                  <a:srgbClr val="FFFFFF"/>
                </a:solidFill>
                <a:latin typeface="微软雅黑"/>
                <a:ea typeface="微软雅黑"/>
                <a:cs typeface="微软雅黑"/>
              </a:rPr>
              <a:t>复旦大学住房政策研究中心</a:t>
            </a:r>
          </a:p>
          <a:p>
            <a:pPr algn="l">
              <a:lnSpc>
                <a:spcPct val="110000"/>
              </a:lnSpc>
              <a:spcAft>
                <a:spcPts val="600"/>
              </a:spcAft>
            </a:pPr>
            <a:r>
              <a:rPr sz="1400" b="1">
                <a:solidFill>
                  <a:srgbClr val="FFFFFF"/>
                </a:solidFill>
                <a:latin typeface="微软雅黑"/>
                <a:ea typeface="微软雅黑"/>
                <a:cs typeface="微软雅黑"/>
              </a:rPr>
              <a:t>上海市杨浦区科技企业联合会</a:t>
            </a:r>
          </a:p>
          <a:p>
            <a:pPr algn="l">
              <a:lnSpc>
                <a:spcPct val="110000"/>
              </a:lnSpc>
              <a:spcAft>
                <a:spcPts val="400"/>
              </a:spcAft>
            </a:pPr>
            <a:r>
              <a:rPr sz="1200" b="0">
                <a:solidFill>
                  <a:srgbClr val="C47E1A"/>
                </a:solidFill>
                <a:latin typeface="微软雅黑"/>
                <a:ea typeface="微软雅黑"/>
                <a:cs typeface="微软雅黑"/>
              </a:rPr>
              <a:t>提交：宁波经济技术开发区投资促进局  ·  2026年7月  ·  V1.1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