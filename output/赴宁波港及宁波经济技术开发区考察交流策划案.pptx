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434840"/>
            <a:ext cx="12191695" cy="24231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10515600" cy="36576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2A8F8F"/>
                </a:solidFill>
                <a:latin typeface="微软雅黑"/>
                <a:ea typeface="微软雅黑"/>
                <a:cs typeface="微软雅黑"/>
              </a:rPr>
              <a:t>考察交流策划案  ·  V1.0</a:t>
            </a:r>
          </a:p>
        </p:txBody>
      </p:sp>
      <p:sp>
        <p:nvSpPr>
          <p:cNvPr id="6" name="TextBox 5"/>
          <p:cNvSpPr txBox="1"/>
          <p:nvPr/>
        </p:nvSpPr>
        <p:spPr>
          <a:xfrm>
            <a:off x="731520" y="1920240"/>
            <a:ext cx="10515600" cy="1097280"/>
          </a:xfrm>
          <a:prstGeom prst="rect">
            <a:avLst/>
          </a:prstGeom>
          <a:noFill/>
        </p:spPr>
        <p:txBody>
          <a:bodyPr wrap="square" anchor="t" lIns="50800" rIns="50800" tIns="25400" bIns="25400">
            <a:spAutoFit/>
          </a:bodyPr>
          <a:lstStyle/>
          <a:p>
            <a:pPr algn="l">
              <a:lnSpc>
                <a:spcPct val="110000"/>
              </a:lnSpc>
              <a:spcAft>
                <a:spcPts val="800"/>
              </a:spcAft>
            </a:pPr>
            <a:r>
              <a:rPr sz="3200" b="1">
                <a:solidFill>
                  <a:srgbClr val="FFFFFF"/>
                </a:solidFill>
                <a:latin typeface="微软雅黑"/>
                <a:ea typeface="微软雅黑"/>
                <a:cs typeface="微软雅黑"/>
              </a:rPr>
              <a:t>赴宁波港及宁波经济技术开发区考察交流策划案</a:t>
            </a:r>
          </a:p>
        </p:txBody>
      </p:sp>
      <p:sp>
        <p:nvSpPr>
          <p:cNvPr id="7" name="TextBox 6"/>
          <p:cNvSpPr txBox="1"/>
          <p:nvPr/>
        </p:nvSpPr>
        <p:spPr>
          <a:xfrm>
            <a:off x="731520" y="3108960"/>
            <a:ext cx="10515600" cy="457200"/>
          </a:xfrm>
          <a:prstGeom prst="rect">
            <a:avLst/>
          </a:prstGeom>
          <a:noFill/>
        </p:spPr>
        <p:txBody>
          <a:bodyPr wrap="square" anchor="t" lIns="50800" rIns="50800" tIns="25400" bIns="25400">
            <a:spAutoFit/>
          </a:bodyPr>
          <a:lstStyle/>
          <a:p>
            <a:pPr algn="l">
              <a:lnSpc>
                <a:spcPct val="110000"/>
              </a:lnSpc>
              <a:spcAft>
                <a:spcPts val="400"/>
              </a:spcAft>
            </a:pPr>
            <a:r>
              <a:rPr sz="1600" b="0">
                <a:solidFill>
                  <a:srgbClr val="C47E1A"/>
                </a:solidFill>
                <a:latin typeface="微软雅黑"/>
                <a:ea typeface="微软雅黑"/>
                <a:cs typeface="微软雅黑"/>
              </a:rPr>
              <a:t>招商引资 · 科技孵化 · 产业导入 · PE/VC · CVC 投洽合作</a:t>
            </a:r>
          </a:p>
        </p:txBody>
      </p:sp>
      <p:sp>
        <p:nvSpPr>
          <p:cNvPr id="8" name="TextBox 7"/>
          <p:cNvSpPr txBox="1"/>
          <p:nvPr/>
        </p:nvSpPr>
        <p:spPr>
          <a:xfrm>
            <a:off x="731520" y="4709160"/>
            <a:ext cx="10515600" cy="1645920"/>
          </a:xfrm>
          <a:prstGeom prst="rect">
            <a:avLst/>
          </a:prstGeom>
          <a:noFill/>
        </p:spPr>
        <p:txBody>
          <a:bodyPr wrap="square" anchor="t" lIns="50800" rIns="50800" tIns="25400" bIns="25400">
            <a:spAutoFit/>
          </a:bodyPr>
          <a:lstStyle/>
          <a:p>
            <a:pPr algn="l">
              <a:lnSpc>
                <a:spcPct val="110000"/>
              </a:lnSpc>
              <a:spcAft>
                <a:spcPts val="800"/>
              </a:spcAft>
            </a:pPr>
            <a:r>
              <a:rPr sz="1400" b="1">
                <a:solidFill>
                  <a:srgbClr val="FFFFFF"/>
                </a:solidFill>
                <a:latin typeface="微软雅黑"/>
                <a:ea typeface="微软雅黑"/>
                <a:cs typeface="微软雅黑"/>
              </a:rPr>
              <a:t>组织方：复旦大学住房政策研究中心 · 上海市杨浦区科技企业联合会</a:t>
            </a:r>
          </a:p>
          <a:p>
            <a:pPr algn="l">
              <a:lnSpc>
                <a:spcPct val="110000"/>
              </a:lnSpc>
              <a:spcAft>
                <a:spcPts val="800"/>
              </a:spcAft>
            </a:pPr>
            <a:r>
              <a:rPr sz="1400" b="1">
                <a:solidFill>
                  <a:srgbClr val="2A8F8F"/>
                </a:solidFill>
                <a:latin typeface="微软雅黑"/>
                <a:ea typeface="微软雅黑"/>
                <a:cs typeface="微软雅黑"/>
              </a:rPr>
              <a:t>提交对象：宁波经济技术开发区投资促进局</a:t>
            </a:r>
          </a:p>
          <a:p>
            <a:pPr algn="l">
              <a:lnSpc>
                <a:spcPct val="110000"/>
              </a:lnSpc>
              <a:spcAft>
                <a:spcPts val="800"/>
              </a:spcAft>
            </a:pPr>
            <a:r>
              <a:rPr sz="1300" b="0">
                <a:solidFill>
                  <a:srgbClr val="B8CFDC"/>
                </a:solidFill>
                <a:latin typeface="微软雅黑"/>
                <a:ea typeface="微软雅黑"/>
                <a:cs typeface="微软雅黑"/>
              </a:rPr>
              <a:t>考察人员：复旦大学校友及上海市科技企业家</a:t>
            </a:r>
          </a:p>
          <a:p>
            <a:pPr algn="l">
              <a:lnSpc>
                <a:spcPct val="110000"/>
              </a:lnSpc>
              <a:spcAft>
                <a:spcPts val="400"/>
              </a:spcAft>
            </a:pPr>
            <a:r>
              <a:rPr sz="1200" b="0">
                <a:solidFill>
                  <a:srgbClr val="9AB8C8"/>
                </a:solidFill>
                <a:latin typeface="微软雅黑"/>
                <a:ea typeface="微软雅黑"/>
                <a:cs typeface="微软雅黑"/>
              </a:rPr>
              <a:t>建议时间窗口：2026年8月至10月（择一两日）  ·  2026年7月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7315200" cy="320040"/>
          </a:xfrm>
          <a:prstGeom prst="rect">
            <a:avLst/>
          </a:prstGeom>
          <a:noFill/>
        </p:spPr>
        <p:txBody>
          <a:bodyPr wrap="square" anchor="t" lIns="50800" rIns="50800" tIns="25400" bIns="25400">
            <a:spAutoFit/>
          </a:bodyPr>
          <a:lstStyle/>
          <a:p>
            <a:pPr algn="l">
              <a:lnSpc>
                <a:spcPct val="110000"/>
              </a:lnSpc>
              <a:spcAft>
                <a:spcPts val="400"/>
              </a:spcAft>
            </a:pPr>
            <a:r>
              <a:rPr sz="1200" b="1">
                <a:solidFill>
                  <a:srgbClr val="C47E1A"/>
                </a:solidFill>
                <a:latin typeface="微软雅黑"/>
                <a:ea typeface="微软雅黑"/>
                <a:cs typeface="微软雅黑"/>
              </a:rPr>
              <a:t>目录</a:t>
            </a:r>
          </a:p>
        </p:txBody>
      </p:sp>
      <p:sp>
        <p:nvSpPr>
          <p:cNvPr id="5" name="TextBox 4"/>
          <p:cNvSpPr txBox="1"/>
          <p:nvPr/>
        </p:nvSpPr>
        <p:spPr>
          <a:xfrm>
            <a:off x="457200" y="365760"/>
            <a:ext cx="11247120" cy="640080"/>
          </a:xfrm>
          <a:prstGeom prst="rect">
            <a:avLst/>
          </a:prstGeom>
          <a:noFill/>
        </p:spPr>
        <p:txBody>
          <a:bodyPr wrap="square" anchor="t" lIns="50800" rIns="50800" tIns="25400" bIns="25400">
            <a:spAutoFit/>
          </a:bodyPr>
          <a:lstStyle/>
          <a:p>
            <a:pPr algn="l">
              <a:lnSpc>
                <a:spcPct val="110000"/>
              </a:lnSpc>
              <a:spcAft>
                <a:spcPts val="400"/>
              </a:spcAft>
            </a:pPr>
            <a:r>
              <a:rPr sz="2400" b="1">
                <a:solidFill>
                  <a:srgbClr val="FFFFFF"/>
                </a:solidFill>
                <a:latin typeface="微软雅黑"/>
                <a:ea typeface="微软雅黑"/>
                <a:cs typeface="微软雅黑"/>
              </a:rPr>
              <a:t>策划案结构</a:t>
            </a:r>
          </a:p>
          <a:p>
            <a:pPr algn="l">
              <a:lnSpc>
                <a:spcPct val="110000"/>
              </a:lnSpc>
              <a:spcAft>
                <a:spcPts val="400"/>
              </a:spcAft>
            </a:pPr>
            <a:r>
              <a:rPr sz="1200" b="0">
                <a:solidFill>
                  <a:srgbClr val="B8CFDC"/>
                </a:solidFill>
                <a:latin typeface="微软雅黑"/>
                <a:ea typeface="微软雅黑"/>
                <a:cs typeface="微软雅黑"/>
              </a:rPr>
              <a:t>提交贵局审阅 · 便于对接落地</a:t>
            </a:r>
          </a:p>
        </p:txBody>
      </p:sp>
      <p:sp>
        <p:nvSpPr>
          <p:cNvPr id="6" name="Rectangle 5"/>
          <p:cNvSpPr/>
          <p:nvPr/>
        </p:nvSpPr>
        <p:spPr>
          <a:xfrm>
            <a:off x="548640" y="1828800"/>
            <a:ext cx="3474720" cy="146304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28800"/>
            <a:ext cx="3474720" cy="508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48840"/>
            <a:ext cx="3017520" cy="457200"/>
          </a:xfrm>
          <a:prstGeom prst="rect">
            <a:avLst/>
          </a:prstGeom>
          <a:noFill/>
        </p:spPr>
        <p:txBody>
          <a:bodyPr wrap="square" anchor="t" lIns="50800" rIns="50800" tIns="25400" bIns="25400">
            <a:spAutoFit/>
          </a:bodyPr>
          <a:lstStyle/>
          <a:p>
            <a:pPr algn="l">
              <a:lnSpc>
                <a:spcPct val="110000"/>
              </a:lnSpc>
              <a:spcAft>
                <a:spcPts val="400"/>
              </a:spcAft>
            </a:pPr>
            <a:r>
              <a:rPr sz="2200" b="1">
                <a:solidFill>
                  <a:srgbClr val="1A6B6B"/>
                </a:solidFill>
                <a:latin typeface="微软雅黑"/>
                <a:ea typeface="微软雅黑"/>
                <a:cs typeface="微软雅黑"/>
              </a:rPr>
              <a:t>01</a:t>
            </a:r>
          </a:p>
        </p:txBody>
      </p:sp>
      <p:sp>
        <p:nvSpPr>
          <p:cNvPr id="9" name="TextBox 8"/>
          <p:cNvSpPr txBox="1"/>
          <p:nvPr/>
        </p:nvSpPr>
        <p:spPr>
          <a:xfrm>
            <a:off x="777240" y="2651760"/>
            <a:ext cx="3017520" cy="411480"/>
          </a:xfrm>
          <a:prstGeom prst="rect">
            <a:avLst/>
          </a:prstGeom>
          <a:noFill/>
        </p:spPr>
        <p:txBody>
          <a:bodyPr wrap="square" anchor="t" lIns="50800" rIns="50800" tIns="25400" bIns="25400">
            <a:spAutoFit/>
          </a:bodyPr>
          <a:lstStyle/>
          <a:p>
            <a:pPr algn="l">
              <a:lnSpc>
                <a:spcPct val="110000"/>
              </a:lnSpc>
              <a:spcAft>
                <a:spcPts val="400"/>
              </a:spcAft>
            </a:pPr>
            <a:r>
              <a:rPr sz="1600" b="1">
                <a:solidFill>
                  <a:srgbClr val="0B3D5C"/>
                </a:solidFill>
                <a:latin typeface="微软雅黑"/>
                <a:ea typeface="微软雅黑"/>
                <a:cs typeface="微软雅黑"/>
              </a:rPr>
              <a:t>背景与目的</a:t>
            </a:r>
          </a:p>
        </p:txBody>
      </p:sp>
      <p:sp>
        <p:nvSpPr>
          <p:cNvPr id="10" name="Rectangle 9"/>
          <p:cNvSpPr/>
          <p:nvPr/>
        </p:nvSpPr>
        <p:spPr>
          <a:xfrm>
            <a:off x="4297679" y="1828800"/>
            <a:ext cx="3474720" cy="146304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79" y="1828800"/>
            <a:ext cx="3474720" cy="508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79" y="2148840"/>
            <a:ext cx="3017520" cy="457200"/>
          </a:xfrm>
          <a:prstGeom prst="rect">
            <a:avLst/>
          </a:prstGeom>
          <a:noFill/>
        </p:spPr>
        <p:txBody>
          <a:bodyPr wrap="square" anchor="t" lIns="50800" rIns="50800" tIns="25400" bIns="25400">
            <a:spAutoFit/>
          </a:bodyPr>
          <a:lstStyle/>
          <a:p>
            <a:pPr algn="l">
              <a:lnSpc>
                <a:spcPct val="110000"/>
              </a:lnSpc>
              <a:spcAft>
                <a:spcPts val="400"/>
              </a:spcAft>
            </a:pPr>
            <a:r>
              <a:rPr sz="2200" b="1">
                <a:solidFill>
                  <a:srgbClr val="1A6B6B"/>
                </a:solidFill>
                <a:latin typeface="微软雅黑"/>
                <a:ea typeface="微软雅黑"/>
                <a:cs typeface="微软雅黑"/>
              </a:rPr>
              <a:t>02</a:t>
            </a:r>
          </a:p>
        </p:txBody>
      </p:sp>
      <p:sp>
        <p:nvSpPr>
          <p:cNvPr id="13" name="TextBox 12"/>
          <p:cNvSpPr txBox="1"/>
          <p:nvPr/>
        </p:nvSpPr>
        <p:spPr>
          <a:xfrm>
            <a:off x="4526279" y="2651760"/>
            <a:ext cx="3017520" cy="411480"/>
          </a:xfrm>
          <a:prstGeom prst="rect">
            <a:avLst/>
          </a:prstGeom>
          <a:noFill/>
        </p:spPr>
        <p:txBody>
          <a:bodyPr wrap="square" anchor="t" lIns="50800" rIns="50800" tIns="25400" bIns="25400">
            <a:spAutoFit/>
          </a:bodyPr>
          <a:lstStyle/>
          <a:p>
            <a:pPr algn="l">
              <a:lnSpc>
                <a:spcPct val="110000"/>
              </a:lnSpc>
              <a:spcAft>
                <a:spcPts val="400"/>
              </a:spcAft>
            </a:pPr>
            <a:r>
              <a:rPr sz="1600" b="1">
                <a:solidFill>
                  <a:srgbClr val="0B3D5C"/>
                </a:solidFill>
                <a:latin typeface="微软雅黑"/>
                <a:ea typeface="微软雅黑"/>
                <a:cs typeface="微软雅黑"/>
              </a:rPr>
              <a:t>组织方与接待单位</a:t>
            </a:r>
          </a:p>
        </p:txBody>
      </p:sp>
      <p:sp>
        <p:nvSpPr>
          <p:cNvPr id="14" name="Rectangle 13"/>
          <p:cNvSpPr/>
          <p:nvPr/>
        </p:nvSpPr>
        <p:spPr>
          <a:xfrm>
            <a:off x="8046718" y="1828800"/>
            <a:ext cx="3474720" cy="146304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18" y="1828800"/>
            <a:ext cx="3474720" cy="508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18" y="2148840"/>
            <a:ext cx="3017520" cy="457200"/>
          </a:xfrm>
          <a:prstGeom prst="rect">
            <a:avLst/>
          </a:prstGeom>
          <a:noFill/>
        </p:spPr>
        <p:txBody>
          <a:bodyPr wrap="square" anchor="t" lIns="50800" rIns="50800" tIns="25400" bIns="25400">
            <a:spAutoFit/>
          </a:bodyPr>
          <a:lstStyle/>
          <a:p>
            <a:pPr algn="l">
              <a:lnSpc>
                <a:spcPct val="110000"/>
              </a:lnSpc>
              <a:spcAft>
                <a:spcPts val="400"/>
              </a:spcAft>
            </a:pPr>
            <a:r>
              <a:rPr sz="2200" b="1">
                <a:solidFill>
                  <a:srgbClr val="1A6B6B"/>
                </a:solidFill>
                <a:latin typeface="微软雅黑"/>
                <a:ea typeface="微软雅黑"/>
                <a:cs typeface="微软雅黑"/>
              </a:rPr>
              <a:t>03</a:t>
            </a:r>
          </a:p>
        </p:txBody>
      </p:sp>
      <p:sp>
        <p:nvSpPr>
          <p:cNvPr id="17" name="TextBox 16"/>
          <p:cNvSpPr txBox="1"/>
          <p:nvPr/>
        </p:nvSpPr>
        <p:spPr>
          <a:xfrm>
            <a:off x="8275318" y="2651760"/>
            <a:ext cx="3017520" cy="411480"/>
          </a:xfrm>
          <a:prstGeom prst="rect">
            <a:avLst/>
          </a:prstGeom>
          <a:noFill/>
        </p:spPr>
        <p:txBody>
          <a:bodyPr wrap="square" anchor="t" lIns="50800" rIns="50800" tIns="25400" bIns="25400">
            <a:spAutoFit/>
          </a:bodyPr>
          <a:lstStyle/>
          <a:p>
            <a:pPr algn="l">
              <a:lnSpc>
                <a:spcPct val="110000"/>
              </a:lnSpc>
              <a:spcAft>
                <a:spcPts val="400"/>
              </a:spcAft>
            </a:pPr>
            <a:r>
              <a:rPr sz="1600" b="1">
                <a:solidFill>
                  <a:srgbClr val="0B3D5C"/>
                </a:solidFill>
                <a:latin typeface="微软雅黑"/>
                <a:ea typeface="微软雅黑"/>
                <a:cs typeface="微软雅黑"/>
              </a:rPr>
              <a:t>考察人员构成</a:t>
            </a:r>
          </a:p>
        </p:txBody>
      </p:sp>
      <p:sp>
        <p:nvSpPr>
          <p:cNvPr id="18" name="Rectangle 17"/>
          <p:cNvSpPr/>
          <p:nvPr/>
        </p:nvSpPr>
        <p:spPr>
          <a:xfrm>
            <a:off x="548640" y="3657600"/>
            <a:ext cx="3474720" cy="146304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657600"/>
            <a:ext cx="3474720" cy="508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977640"/>
            <a:ext cx="3017520" cy="457200"/>
          </a:xfrm>
          <a:prstGeom prst="rect">
            <a:avLst/>
          </a:prstGeom>
          <a:noFill/>
        </p:spPr>
        <p:txBody>
          <a:bodyPr wrap="square" anchor="t" lIns="50800" rIns="50800" tIns="25400" bIns="25400">
            <a:spAutoFit/>
          </a:bodyPr>
          <a:lstStyle/>
          <a:p>
            <a:pPr algn="l">
              <a:lnSpc>
                <a:spcPct val="110000"/>
              </a:lnSpc>
              <a:spcAft>
                <a:spcPts val="400"/>
              </a:spcAft>
            </a:pPr>
            <a:r>
              <a:rPr sz="2200" b="1">
                <a:solidFill>
                  <a:srgbClr val="1A6B6B"/>
                </a:solidFill>
                <a:latin typeface="微软雅黑"/>
                <a:ea typeface="微软雅黑"/>
                <a:cs typeface="微软雅黑"/>
              </a:rPr>
              <a:t>04</a:t>
            </a:r>
          </a:p>
        </p:txBody>
      </p:sp>
      <p:sp>
        <p:nvSpPr>
          <p:cNvPr id="21" name="TextBox 20"/>
          <p:cNvSpPr txBox="1"/>
          <p:nvPr/>
        </p:nvSpPr>
        <p:spPr>
          <a:xfrm>
            <a:off x="777240" y="4480560"/>
            <a:ext cx="3017520" cy="411480"/>
          </a:xfrm>
          <a:prstGeom prst="rect">
            <a:avLst/>
          </a:prstGeom>
          <a:noFill/>
        </p:spPr>
        <p:txBody>
          <a:bodyPr wrap="square" anchor="t" lIns="50800" rIns="50800" tIns="25400" bIns="25400">
            <a:spAutoFit/>
          </a:bodyPr>
          <a:lstStyle/>
          <a:p>
            <a:pPr algn="l">
              <a:lnSpc>
                <a:spcPct val="110000"/>
              </a:lnSpc>
              <a:spcAft>
                <a:spcPts val="400"/>
              </a:spcAft>
            </a:pPr>
            <a:r>
              <a:rPr sz="1600" b="1">
                <a:solidFill>
                  <a:srgbClr val="0B3D5C"/>
                </a:solidFill>
                <a:latin typeface="微软雅黑"/>
                <a:ea typeface="微软雅黑"/>
                <a:cs typeface="微软雅黑"/>
              </a:rPr>
              <a:t>合作主题与方向</a:t>
            </a:r>
          </a:p>
        </p:txBody>
      </p:sp>
      <p:sp>
        <p:nvSpPr>
          <p:cNvPr id="22" name="Rectangle 21"/>
          <p:cNvSpPr/>
          <p:nvPr/>
        </p:nvSpPr>
        <p:spPr>
          <a:xfrm>
            <a:off x="4297679" y="3657600"/>
            <a:ext cx="3474720" cy="146304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97679" y="3657600"/>
            <a:ext cx="3474720" cy="508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26279" y="3977640"/>
            <a:ext cx="3017520" cy="457200"/>
          </a:xfrm>
          <a:prstGeom prst="rect">
            <a:avLst/>
          </a:prstGeom>
          <a:noFill/>
        </p:spPr>
        <p:txBody>
          <a:bodyPr wrap="square" anchor="t" lIns="50800" rIns="50800" tIns="25400" bIns="25400">
            <a:spAutoFit/>
          </a:bodyPr>
          <a:lstStyle/>
          <a:p>
            <a:pPr algn="l">
              <a:lnSpc>
                <a:spcPct val="110000"/>
              </a:lnSpc>
              <a:spcAft>
                <a:spcPts val="400"/>
              </a:spcAft>
            </a:pPr>
            <a:r>
              <a:rPr sz="2200" b="1">
                <a:solidFill>
                  <a:srgbClr val="1A6B6B"/>
                </a:solidFill>
                <a:latin typeface="微软雅黑"/>
                <a:ea typeface="微软雅黑"/>
                <a:cs typeface="微软雅黑"/>
              </a:rPr>
              <a:t>05</a:t>
            </a:r>
          </a:p>
        </p:txBody>
      </p:sp>
      <p:sp>
        <p:nvSpPr>
          <p:cNvPr id="25" name="TextBox 24"/>
          <p:cNvSpPr txBox="1"/>
          <p:nvPr/>
        </p:nvSpPr>
        <p:spPr>
          <a:xfrm>
            <a:off x="4526279" y="4480560"/>
            <a:ext cx="3017520" cy="411480"/>
          </a:xfrm>
          <a:prstGeom prst="rect">
            <a:avLst/>
          </a:prstGeom>
          <a:noFill/>
        </p:spPr>
        <p:txBody>
          <a:bodyPr wrap="square" anchor="t" lIns="50800" rIns="50800" tIns="25400" bIns="25400">
            <a:spAutoFit/>
          </a:bodyPr>
          <a:lstStyle/>
          <a:p>
            <a:pPr algn="l">
              <a:lnSpc>
                <a:spcPct val="110000"/>
              </a:lnSpc>
              <a:spcAft>
                <a:spcPts val="400"/>
              </a:spcAft>
            </a:pPr>
            <a:r>
              <a:rPr sz="1600" b="1">
                <a:solidFill>
                  <a:srgbClr val="0B3D5C"/>
                </a:solidFill>
                <a:latin typeface="微软雅黑"/>
                <a:ea typeface="微软雅黑"/>
                <a:cs typeface="微软雅黑"/>
              </a:rPr>
              <a:t>时间与行程方案</a:t>
            </a:r>
          </a:p>
        </p:txBody>
      </p:sp>
      <p:sp>
        <p:nvSpPr>
          <p:cNvPr id="26" name="Rectangle 25"/>
          <p:cNvSpPr/>
          <p:nvPr/>
        </p:nvSpPr>
        <p:spPr>
          <a:xfrm>
            <a:off x="8046718" y="3657600"/>
            <a:ext cx="3474720" cy="146304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46718" y="3657600"/>
            <a:ext cx="3474720" cy="508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5318" y="3977640"/>
            <a:ext cx="3017520" cy="457200"/>
          </a:xfrm>
          <a:prstGeom prst="rect">
            <a:avLst/>
          </a:prstGeom>
          <a:noFill/>
        </p:spPr>
        <p:txBody>
          <a:bodyPr wrap="square" anchor="t" lIns="50800" rIns="50800" tIns="25400" bIns="25400">
            <a:spAutoFit/>
          </a:bodyPr>
          <a:lstStyle/>
          <a:p>
            <a:pPr algn="l">
              <a:lnSpc>
                <a:spcPct val="110000"/>
              </a:lnSpc>
              <a:spcAft>
                <a:spcPts val="400"/>
              </a:spcAft>
            </a:pPr>
            <a:r>
              <a:rPr sz="2200" b="1">
                <a:solidFill>
                  <a:srgbClr val="1A6B6B"/>
                </a:solidFill>
                <a:latin typeface="微软雅黑"/>
                <a:ea typeface="微软雅黑"/>
                <a:cs typeface="微软雅黑"/>
              </a:rPr>
              <a:t>06</a:t>
            </a:r>
          </a:p>
        </p:txBody>
      </p:sp>
      <p:sp>
        <p:nvSpPr>
          <p:cNvPr id="29" name="TextBox 28"/>
          <p:cNvSpPr txBox="1"/>
          <p:nvPr/>
        </p:nvSpPr>
        <p:spPr>
          <a:xfrm>
            <a:off x="8275318" y="4480560"/>
            <a:ext cx="3017520" cy="411480"/>
          </a:xfrm>
          <a:prstGeom prst="rect">
            <a:avLst/>
          </a:prstGeom>
          <a:noFill/>
        </p:spPr>
        <p:txBody>
          <a:bodyPr wrap="square" anchor="t" lIns="50800" rIns="50800" tIns="25400" bIns="25400">
            <a:spAutoFit/>
          </a:bodyPr>
          <a:lstStyle/>
          <a:p>
            <a:pPr algn="l">
              <a:lnSpc>
                <a:spcPct val="110000"/>
              </a:lnSpc>
              <a:spcAft>
                <a:spcPts val="400"/>
              </a:spcAft>
            </a:pPr>
            <a:r>
              <a:rPr sz="1600" b="1">
                <a:solidFill>
                  <a:srgbClr val="0B3D5C"/>
                </a:solidFill>
                <a:latin typeface="微软雅黑"/>
                <a:ea typeface="微软雅黑"/>
                <a:cs typeface="微软雅黑"/>
              </a:rPr>
              <a:t>预期成果与恳请支持</a:t>
            </a:r>
          </a:p>
        </p:txBody>
      </p:sp>
      <p:sp>
        <p:nvSpPr>
          <p:cNvPr id="30" name="TextBox 29"/>
          <p:cNvSpPr txBox="1"/>
          <p:nvPr/>
        </p:nvSpPr>
        <p:spPr>
          <a:xfrm>
            <a:off x="457200" y="6473952"/>
            <a:ext cx="9144000" cy="274320"/>
          </a:xfrm>
          <a:prstGeom prst="rect">
            <a:avLst/>
          </a:prstGeom>
          <a:noFill/>
        </p:spPr>
        <p:txBody>
          <a:bodyPr wrap="square" anchor="t" lIns="50800" rIns="50800" tIns="25400" bIns="25400">
            <a:spAutoFit/>
          </a:bodyPr>
          <a:lstStyle/>
          <a:p>
            <a:pPr algn="l">
              <a:lnSpc>
                <a:spcPct val="110000"/>
              </a:lnSpc>
              <a:spcAft>
                <a:spcPts val="400"/>
              </a:spcAft>
            </a:pPr>
            <a:r>
              <a:rPr sz="900" b="0">
                <a:solidFill>
                  <a:srgbClr val="5A636E"/>
                </a:solidFill>
                <a:latin typeface="微软雅黑"/>
                <a:ea typeface="微软雅黑"/>
                <a:cs typeface="微软雅黑"/>
              </a:rPr>
              <a:t>复旦大学住房政策研究中心 · 上海市杨浦区科技企业联合会 → 宁波经开区投促局</a:t>
            </a:r>
          </a:p>
        </p:txBody>
      </p:sp>
      <p:sp>
        <p:nvSpPr>
          <p:cNvPr id="31" name="TextBox 30"/>
          <p:cNvSpPr txBox="1"/>
          <p:nvPr/>
        </p:nvSpPr>
        <p:spPr>
          <a:xfrm>
            <a:off x="10881360" y="6473952"/>
            <a:ext cx="1005840" cy="274320"/>
          </a:xfrm>
          <a:prstGeom prst="rect">
            <a:avLst/>
          </a:prstGeom>
          <a:noFill/>
        </p:spPr>
        <p:txBody>
          <a:bodyPr wrap="square" anchor="t" lIns="50800" rIns="50800" tIns="25400" bIns="25400">
            <a:spAutoFit/>
          </a:bodyPr>
          <a:lstStyle/>
          <a:p>
            <a:pPr algn="r">
              <a:lnSpc>
                <a:spcPct val="110000"/>
              </a:lnSpc>
              <a:spcAft>
                <a:spcPts val="400"/>
              </a:spcAft>
            </a:pPr>
            <a:r>
              <a:rPr sz="900" b="0">
                <a:solidFill>
                  <a:srgbClr val="5A636E"/>
                </a:solidFill>
                <a:latin typeface="微软雅黑"/>
                <a:ea typeface="微软雅黑"/>
                <a:cs typeface="微软雅黑"/>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7315200" cy="320040"/>
          </a:xfrm>
          <a:prstGeom prst="rect">
            <a:avLst/>
          </a:prstGeom>
          <a:noFill/>
        </p:spPr>
        <p:txBody>
          <a:bodyPr wrap="square" anchor="t" lIns="50800" rIns="50800" tIns="25400" bIns="25400">
            <a:spAutoFit/>
          </a:bodyPr>
          <a:lstStyle/>
          <a:p>
            <a:pPr algn="l">
              <a:lnSpc>
                <a:spcPct val="110000"/>
              </a:lnSpc>
              <a:spcAft>
                <a:spcPts val="400"/>
              </a:spcAft>
            </a:pPr>
            <a:r>
              <a:rPr sz="1200" b="1">
                <a:solidFill>
                  <a:srgbClr val="C47E1A"/>
                </a:solidFill>
                <a:latin typeface="微软雅黑"/>
                <a:ea typeface="微软雅黑"/>
                <a:cs typeface="微软雅黑"/>
              </a:rPr>
              <a:t>01 背景与目的</a:t>
            </a:r>
          </a:p>
        </p:txBody>
      </p:sp>
      <p:sp>
        <p:nvSpPr>
          <p:cNvPr id="5" name="TextBox 4"/>
          <p:cNvSpPr txBox="1"/>
          <p:nvPr/>
        </p:nvSpPr>
        <p:spPr>
          <a:xfrm>
            <a:off x="457200" y="365760"/>
            <a:ext cx="11247120" cy="640080"/>
          </a:xfrm>
          <a:prstGeom prst="rect">
            <a:avLst/>
          </a:prstGeom>
          <a:noFill/>
        </p:spPr>
        <p:txBody>
          <a:bodyPr wrap="square" anchor="t" lIns="50800" rIns="50800" tIns="25400" bIns="25400">
            <a:spAutoFit/>
          </a:bodyPr>
          <a:lstStyle/>
          <a:p>
            <a:pPr algn="l">
              <a:lnSpc>
                <a:spcPct val="110000"/>
              </a:lnSpc>
              <a:spcAft>
                <a:spcPts val="400"/>
              </a:spcAft>
            </a:pPr>
            <a:r>
              <a:rPr sz="2400" b="1">
                <a:solidFill>
                  <a:srgbClr val="FFFFFF"/>
                </a:solidFill>
                <a:latin typeface="微软雅黑"/>
                <a:ea typeface="微软雅黑"/>
                <a:cs typeface="微软雅黑"/>
              </a:rPr>
              <a:t>为何赴宁波 · 希望达成什么</a:t>
            </a:r>
          </a:p>
          <a:p>
            <a:pPr algn="l">
              <a:lnSpc>
                <a:spcPct val="110000"/>
              </a:lnSpc>
              <a:spcAft>
                <a:spcPts val="400"/>
              </a:spcAft>
            </a:pPr>
            <a:r>
              <a:rPr sz="1200" b="0">
                <a:solidFill>
                  <a:srgbClr val="B8CFDC"/>
                </a:solidFill>
                <a:latin typeface="微软雅黑"/>
                <a:ea typeface="微软雅黑"/>
                <a:cs typeface="微软雅黑"/>
              </a:rPr>
              <a:t>以一次考察开启沪甬长效投促合作</a:t>
            </a:r>
          </a:p>
        </p:txBody>
      </p:sp>
      <p:sp>
        <p:nvSpPr>
          <p:cNvPr id="6" name="TextBox 5"/>
          <p:cNvSpPr txBox="1"/>
          <p:nvPr/>
        </p:nvSpPr>
        <p:spPr>
          <a:xfrm>
            <a:off x="457200" y="1280160"/>
            <a:ext cx="5486400" cy="4754880"/>
          </a:xfrm>
          <a:prstGeom prst="rect">
            <a:avLst/>
          </a:prstGeom>
          <a:noFill/>
        </p:spPr>
        <p:txBody>
          <a:bodyPr wrap="square" anchor="t" lIns="50800" rIns="50800" tIns="25400" bIns="25400">
            <a:spAutoFit/>
          </a:bodyPr>
          <a:lstStyle/>
          <a:p>
            <a:pPr algn="l">
              <a:lnSpc>
                <a:spcPct val="110000"/>
              </a:lnSpc>
              <a:spcAft>
                <a:spcPts val="800"/>
              </a:spcAft>
            </a:pPr>
            <a:r>
              <a:rPr sz="1400" b="1">
                <a:solidFill>
                  <a:srgbClr val="1A6B6B"/>
                </a:solidFill>
                <a:latin typeface="微软雅黑"/>
                <a:ea typeface="微软雅黑"/>
                <a:cs typeface="微软雅黑"/>
              </a:rPr>
              <a:t>项目背景</a:t>
            </a:r>
          </a:p>
          <a:p>
            <a:pPr algn="l">
              <a:lnSpc>
                <a:spcPct val="110000"/>
              </a:lnSpc>
              <a:spcAft>
                <a:spcPts val="1000"/>
              </a:spcAft>
            </a:pPr>
            <a:r>
              <a:rPr sz="1200" b="0">
                <a:solidFill>
                  <a:srgbClr val="222A33"/>
                </a:solidFill>
                <a:latin typeface="微软雅黑"/>
                <a:ea typeface="微软雅黑"/>
                <a:cs typeface="微软雅黑"/>
              </a:rPr>
              <a:t>· 复旦大学住房政策研究中心与上海市杨浦区科技企业联合会长期服务上海及长三角科技企业、校友企业家与产业投资机构，持续开展政产学研协同、产业考察与投促对接。</a:t>
            </a:r>
          </a:p>
          <a:p>
            <a:pPr algn="l">
              <a:lnSpc>
                <a:spcPct val="110000"/>
              </a:lnSpc>
              <a:spcAft>
                <a:spcPts val="1000"/>
              </a:spcAft>
            </a:pPr>
            <a:r>
              <a:rPr sz="1200" b="0">
                <a:solidFill>
                  <a:srgbClr val="222A33"/>
                </a:solidFill>
                <a:latin typeface="微软雅黑"/>
                <a:ea typeface="微软雅黑"/>
                <a:cs typeface="微软雅黑"/>
              </a:rPr>
              <a:t>· 宁波港是全球重要枢纽港，宁波经济技术开发区产业基础扎实、开放优势突出，在先进制造、临港产业、新材料、数字经济与科技孵化等方面具备显著吸引力。</a:t>
            </a:r>
          </a:p>
          <a:p>
            <a:pPr algn="l">
              <a:lnSpc>
                <a:spcPct val="110000"/>
              </a:lnSpc>
              <a:spcAft>
                <a:spcPts val="1000"/>
              </a:spcAft>
            </a:pPr>
            <a:r>
              <a:rPr sz="1200" b="0">
                <a:solidFill>
                  <a:srgbClr val="222A33"/>
                </a:solidFill>
                <a:latin typeface="微软雅黑"/>
                <a:ea typeface="微软雅黑"/>
                <a:cs typeface="微软雅黑"/>
              </a:rPr>
              <a:t>· 为深化沪甬产业协同与资源互通，拟组织复旦校友及上海市科技企业家赴宁波港及当地特色企业开展参访与投促交流，推动招商引资、科技孵化、产业导入与资本对接落地。</a:t>
            </a:r>
          </a:p>
        </p:txBody>
      </p:sp>
      <p:sp>
        <p:nvSpPr>
          <p:cNvPr id="7" name="Rectangle 6"/>
          <p:cNvSpPr/>
          <p:nvPr/>
        </p:nvSpPr>
        <p:spPr>
          <a:xfrm>
            <a:off x="6217920" y="1280160"/>
            <a:ext cx="5394960" cy="475488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937760" cy="36576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C47E1A"/>
                </a:solidFill>
                <a:latin typeface="微软雅黑"/>
                <a:ea typeface="微软雅黑"/>
                <a:cs typeface="微软雅黑"/>
              </a:rPr>
              <a:t>考察目的</a:t>
            </a:r>
          </a:p>
        </p:txBody>
      </p:sp>
      <p:sp>
        <p:nvSpPr>
          <p:cNvPr id="9" name="TextBox 8"/>
          <p:cNvSpPr txBox="1"/>
          <p:nvPr/>
        </p:nvSpPr>
        <p:spPr>
          <a:xfrm>
            <a:off x="6492240" y="2011680"/>
            <a:ext cx="4937760" cy="3749039"/>
          </a:xfrm>
          <a:prstGeom prst="rect">
            <a:avLst/>
          </a:prstGeom>
          <a:noFill/>
        </p:spPr>
        <p:txBody>
          <a:bodyPr wrap="square" anchor="t" lIns="50800" rIns="50800" tIns="25400" bIns="25400">
            <a:spAutoFit/>
          </a:bodyPr>
          <a:lstStyle/>
          <a:p>
            <a:pPr algn="l">
              <a:lnSpc>
                <a:spcPct val="110000"/>
              </a:lnSpc>
              <a:spcAft>
                <a:spcPts val="1200"/>
              </a:spcAft>
            </a:pPr>
            <a:r>
              <a:rPr sz="1300" b="0">
                <a:solidFill>
                  <a:srgbClr val="FFFFFF"/>
                </a:solidFill>
                <a:latin typeface="微软雅黑"/>
                <a:ea typeface="微软雅黑"/>
                <a:cs typeface="微软雅黑"/>
              </a:rPr>
              <a:t>1. 实地了解宁波港枢纽能力、临港产业生态及开发区招商政策与载体资源。</a:t>
            </a:r>
          </a:p>
          <a:p>
            <a:pPr algn="l">
              <a:lnSpc>
                <a:spcPct val="110000"/>
              </a:lnSpc>
              <a:spcAft>
                <a:spcPts val="1200"/>
              </a:spcAft>
            </a:pPr>
            <a:r>
              <a:rPr sz="1300" b="0">
                <a:solidFill>
                  <a:srgbClr val="FFFFFF"/>
                </a:solidFill>
                <a:latin typeface="微软雅黑"/>
                <a:ea typeface="微软雅黑"/>
                <a:cs typeface="微软雅黑"/>
              </a:rPr>
              <a:t>2. 组织复旦校友与上海科技企业家与当地特色企业、园区、投促机构面对面交流。</a:t>
            </a:r>
          </a:p>
          <a:p>
            <a:pPr algn="l">
              <a:lnSpc>
                <a:spcPct val="110000"/>
              </a:lnSpc>
              <a:spcAft>
                <a:spcPts val="1200"/>
              </a:spcAft>
            </a:pPr>
            <a:r>
              <a:rPr sz="1300" b="0">
                <a:solidFill>
                  <a:srgbClr val="FFFFFF"/>
                </a:solidFill>
                <a:latin typeface="微软雅黑"/>
                <a:ea typeface="微软雅黑"/>
                <a:cs typeface="微软雅黑"/>
              </a:rPr>
              <a:t>3. 围绕招商引资、科技孵化、产业导入、PE/VC 与 CVC 投资等议题建立长效合作通道。</a:t>
            </a:r>
          </a:p>
          <a:p>
            <a:pPr algn="l">
              <a:lnSpc>
                <a:spcPct val="110000"/>
              </a:lnSpc>
              <a:spcAft>
                <a:spcPts val="1200"/>
              </a:spcAft>
            </a:pPr>
            <a:r>
              <a:rPr sz="1300" b="0">
                <a:solidFill>
                  <a:srgbClr val="FFFFFF"/>
                </a:solidFill>
                <a:latin typeface="微软雅黑"/>
                <a:ea typeface="微软雅黑"/>
                <a:cs typeface="微软雅黑"/>
              </a:rPr>
              <a:t>4. 形成可跟进的项目线索与合作意向清单，为后续双向走访、专题对接与落地转化奠基。</a:t>
            </a:r>
          </a:p>
        </p:txBody>
      </p:sp>
      <p:sp>
        <p:nvSpPr>
          <p:cNvPr id="10" name="TextBox 9"/>
          <p:cNvSpPr txBox="1"/>
          <p:nvPr/>
        </p:nvSpPr>
        <p:spPr>
          <a:xfrm>
            <a:off x="457200" y="6473952"/>
            <a:ext cx="9144000" cy="274320"/>
          </a:xfrm>
          <a:prstGeom prst="rect">
            <a:avLst/>
          </a:prstGeom>
          <a:noFill/>
        </p:spPr>
        <p:txBody>
          <a:bodyPr wrap="square" anchor="t" lIns="50800" rIns="50800" tIns="25400" bIns="25400">
            <a:spAutoFit/>
          </a:bodyPr>
          <a:lstStyle/>
          <a:p>
            <a:pPr algn="l">
              <a:lnSpc>
                <a:spcPct val="110000"/>
              </a:lnSpc>
              <a:spcAft>
                <a:spcPts val="400"/>
              </a:spcAft>
            </a:pPr>
            <a:r>
              <a:rPr sz="900" b="0">
                <a:solidFill>
                  <a:srgbClr val="5A636E"/>
                </a:solidFill>
                <a:latin typeface="微软雅黑"/>
                <a:ea typeface="微软雅黑"/>
                <a:cs typeface="微软雅黑"/>
              </a:rPr>
              <a:t>复旦大学住房政策研究中心 · 上海市杨浦区科技企业联合会 → 宁波经开区投促局</a:t>
            </a:r>
          </a:p>
        </p:txBody>
      </p:sp>
      <p:sp>
        <p:nvSpPr>
          <p:cNvPr id="11" name="TextBox 10"/>
          <p:cNvSpPr txBox="1"/>
          <p:nvPr/>
        </p:nvSpPr>
        <p:spPr>
          <a:xfrm>
            <a:off x="10881360" y="6473952"/>
            <a:ext cx="1005840" cy="274320"/>
          </a:xfrm>
          <a:prstGeom prst="rect">
            <a:avLst/>
          </a:prstGeom>
          <a:noFill/>
        </p:spPr>
        <p:txBody>
          <a:bodyPr wrap="square" anchor="t" lIns="50800" rIns="50800" tIns="25400" bIns="25400">
            <a:spAutoFit/>
          </a:bodyPr>
          <a:lstStyle/>
          <a:p>
            <a:pPr algn="r">
              <a:lnSpc>
                <a:spcPct val="110000"/>
              </a:lnSpc>
              <a:spcAft>
                <a:spcPts val="400"/>
              </a:spcAft>
            </a:pPr>
            <a:r>
              <a:rPr sz="900" b="0">
                <a:solidFill>
                  <a:srgbClr val="5A636E"/>
                </a:solidFill>
                <a:latin typeface="微软雅黑"/>
                <a:ea typeface="微软雅黑"/>
                <a:cs typeface="微软雅黑"/>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7315200" cy="320040"/>
          </a:xfrm>
          <a:prstGeom prst="rect">
            <a:avLst/>
          </a:prstGeom>
          <a:noFill/>
        </p:spPr>
        <p:txBody>
          <a:bodyPr wrap="square" anchor="t" lIns="50800" rIns="50800" tIns="25400" bIns="25400">
            <a:spAutoFit/>
          </a:bodyPr>
          <a:lstStyle/>
          <a:p>
            <a:pPr algn="l">
              <a:lnSpc>
                <a:spcPct val="110000"/>
              </a:lnSpc>
              <a:spcAft>
                <a:spcPts val="400"/>
              </a:spcAft>
            </a:pPr>
            <a:r>
              <a:rPr sz="1200" b="1">
                <a:solidFill>
                  <a:srgbClr val="C47E1A"/>
                </a:solidFill>
                <a:latin typeface="微软雅黑"/>
                <a:ea typeface="微软雅黑"/>
                <a:cs typeface="微软雅黑"/>
              </a:rPr>
              <a:t>02 组织与接待</a:t>
            </a:r>
          </a:p>
        </p:txBody>
      </p:sp>
      <p:sp>
        <p:nvSpPr>
          <p:cNvPr id="5" name="TextBox 4"/>
          <p:cNvSpPr txBox="1"/>
          <p:nvPr/>
        </p:nvSpPr>
        <p:spPr>
          <a:xfrm>
            <a:off x="457200" y="365760"/>
            <a:ext cx="11247120" cy="640080"/>
          </a:xfrm>
          <a:prstGeom prst="rect">
            <a:avLst/>
          </a:prstGeom>
          <a:noFill/>
        </p:spPr>
        <p:txBody>
          <a:bodyPr wrap="square" anchor="t" lIns="50800" rIns="50800" tIns="25400" bIns="25400">
            <a:spAutoFit/>
          </a:bodyPr>
          <a:lstStyle/>
          <a:p>
            <a:pPr algn="l">
              <a:lnSpc>
                <a:spcPct val="110000"/>
              </a:lnSpc>
              <a:spcAft>
                <a:spcPts val="400"/>
              </a:spcAft>
            </a:pPr>
            <a:r>
              <a:rPr sz="2400" b="1">
                <a:solidFill>
                  <a:srgbClr val="FFFFFF"/>
                </a:solidFill>
                <a:latin typeface="微软雅黑"/>
                <a:ea typeface="微软雅黑"/>
                <a:cs typeface="微软雅黑"/>
              </a:rPr>
              <a:t>三方分工清晰 · 便于落地执行</a:t>
            </a:r>
          </a:p>
        </p:txBody>
      </p:sp>
      <p:sp>
        <p:nvSpPr>
          <p:cNvPr id="6" name="Rectangle 5"/>
          <p:cNvSpPr/>
          <p:nvPr/>
        </p:nvSpPr>
        <p:spPr>
          <a:xfrm>
            <a:off x="457200" y="1371600"/>
            <a:ext cx="3566160" cy="4663440"/>
          </a:xfrm>
          <a:prstGeom prst="rect">
            <a:avLst/>
          </a:prstGeom>
          <a:solidFill>
            <a:srgbClr val="F3F7F9"/>
          </a:solidFill>
          <a:ln w="12700">
            <a:solidFill>
              <a:srgbClr val="D0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71600"/>
            <a:ext cx="63500" cy="466344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81328"/>
            <a:ext cx="3291840" cy="320040"/>
          </a:xfrm>
          <a:prstGeom prst="rect">
            <a:avLst/>
          </a:prstGeom>
          <a:noFill/>
        </p:spPr>
        <p:txBody>
          <a:bodyPr wrap="square" anchor="t" lIns="50800" rIns="50800" tIns="25400" bIns="25400">
            <a:spAutoFit/>
          </a:bodyPr>
          <a:lstStyle/>
          <a:p>
            <a:pPr algn="l">
              <a:lnSpc>
                <a:spcPct val="110000"/>
              </a:lnSpc>
              <a:spcAft>
                <a:spcPts val="400"/>
              </a:spcAft>
            </a:pPr>
            <a:r>
              <a:rPr sz="1300" b="1">
                <a:solidFill>
                  <a:srgbClr val="0B3D5C"/>
                </a:solidFill>
                <a:latin typeface="微软雅黑"/>
                <a:ea typeface="微软雅黑"/>
                <a:cs typeface="微软雅黑"/>
              </a:rPr>
              <a:t>组织方 · 学术与产业平台</a:t>
            </a:r>
          </a:p>
        </p:txBody>
      </p:sp>
      <p:sp>
        <p:nvSpPr>
          <p:cNvPr id="9" name="TextBox 8"/>
          <p:cNvSpPr txBox="1"/>
          <p:nvPr/>
        </p:nvSpPr>
        <p:spPr>
          <a:xfrm>
            <a:off x="640080" y="1810512"/>
            <a:ext cx="3291840" cy="4160520"/>
          </a:xfrm>
          <a:prstGeom prst="rect">
            <a:avLst/>
          </a:prstGeom>
          <a:noFill/>
        </p:spPr>
        <p:txBody>
          <a:bodyPr wrap="square" anchor="t" lIns="50800" rIns="50800" tIns="25400" bIns="25400">
            <a:spAutoFit/>
          </a:bodyPr>
          <a:lstStyle/>
          <a:p>
            <a:pPr algn="l">
              <a:lnSpc>
                <a:spcPct val="110000"/>
              </a:lnSpc>
              <a:spcAft>
                <a:spcPts val="500"/>
              </a:spcAft>
            </a:pPr>
            <a:r>
              <a:rPr sz="1100" b="0">
                <a:solidFill>
                  <a:srgbClr val="222A33"/>
                </a:solidFill>
                <a:latin typeface="微软雅黑"/>
                <a:ea typeface="微软雅黑"/>
                <a:cs typeface="微软雅黑"/>
              </a:rPr>
              <a:t>复旦大学住房政策研究中心</a:t>
            </a:r>
          </a:p>
          <a:p>
            <a:pPr algn="l">
              <a:lnSpc>
                <a:spcPct val="110000"/>
              </a:lnSpc>
              <a:spcAft>
                <a:spcPts val="500"/>
              </a:spcAft>
            </a:pPr>
            <a:r>
              <a:rPr sz="1100" b="0">
                <a:solidFill>
                  <a:srgbClr val="222A33"/>
                </a:solidFill>
                <a:latin typeface="微软雅黑"/>
                <a:ea typeface="微软雅黑"/>
                <a:cs typeface="微软雅黑"/>
              </a:rPr>
              <a:t/>
            </a:r>
          </a:p>
          <a:p>
            <a:pPr algn="l">
              <a:lnSpc>
                <a:spcPct val="110000"/>
              </a:lnSpc>
              <a:spcAft>
                <a:spcPts val="500"/>
              </a:spcAft>
            </a:pPr>
            <a:r>
              <a:rPr sz="1100" b="0">
                <a:solidFill>
                  <a:srgbClr val="222A33"/>
                </a:solidFill>
                <a:latin typeface="微软雅黑"/>
                <a:ea typeface="微软雅黑"/>
                <a:cs typeface="微软雅黑"/>
              </a:rPr>
              <a:t>· 统筹考察主题、议程设计与总结形成</a:t>
            </a:r>
          </a:p>
          <a:p>
            <a:pPr algn="l">
              <a:lnSpc>
                <a:spcPct val="110000"/>
              </a:lnSpc>
              <a:spcAft>
                <a:spcPts val="500"/>
              </a:spcAft>
            </a:pPr>
            <a:r>
              <a:rPr sz="1100" b="0">
                <a:solidFill>
                  <a:srgbClr val="222A33"/>
                </a:solidFill>
                <a:latin typeface="微软雅黑"/>
                <a:ea typeface="微软雅黑"/>
                <a:cs typeface="微软雅黑"/>
              </a:rPr>
              <a:t>· 发挥复旦校友网络与政策研究优势，提升交流层级与专业深度</a:t>
            </a:r>
          </a:p>
          <a:p>
            <a:pPr algn="l">
              <a:lnSpc>
                <a:spcPct val="110000"/>
              </a:lnSpc>
              <a:spcAft>
                <a:spcPts val="500"/>
              </a:spcAft>
            </a:pPr>
            <a:r>
              <a:rPr sz="1100" b="0">
                <a:solidFill>
                  <a:srgbClr val="222A33"/>
                </a:solidFill>
                <a:latin typeface="微软雅黑"/>
                <a:ea typeface="微软雅黑"/>
                <a:cs typeface="微软雅黑"/>
              </a:rPr>
              <a:t>· 协助梳理产业导入、空间载体与长效合作机制建议</a:t>
            </a:r>
          </a:p>
        </p:txBody>
      </p:sp>
      <p:sp>
        <p:nvSpPr>
          <p:cNvPr id="10" name="Rectangle 9"/>
          <p:cNvSpPr/>
          <p:nvPr/>
        </p:nvSpPr>
        <p:spPr>
          <a:xfrm>
            <a:off x="4206240" y="1371600"/>
            <a:ext cx="3566160" cy="4663440"/>
          </a:xfrm>
          <a:prstGeom prst="rect">
            <a:avLst/>
          </a:prstGeom>
          <a:solidFill>
            <a:srgbClr val="F3F7F9"/>
          </a:solidFill>
          <a:ln w="12700">
            <a:solidFill>
              <a:srgbClr val="D0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06240" y="1371600"/>
            <a:ext cx="63500" cy="4663440"/>
          </a:xfrm>
          <a:prstGeom prst="rect">
            <a:avLst/>
          </a:prstGeom>
          <a:solidFill>
            <a:srgbClr val="2A8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481328"/>
            <a:ext cx="3291840" cy="320040"/>
          </a:xfrm>
          <a:prstGeom prst="rect">
            <a:avLst/>
          </a:prstGeom>
          <a:noFill/>
        </p:spPr>
        <p:txBody>
          <a:bodyPr wrap="square" anchor="t" lIns="50800" rIns="50800" tIns="25400" bIns="25400">
            <a:spAutoFit/>
          </a:bodyPr>
          <a:lstStyle/>
          <a:p>
            <a:pPr algn="l">
              <a:lnSpc>
                <a:spcPct val="110000"/>
              </a:lnSpc>
              <a:spcAft>
                <a:spcPts val="400"/>
              </a:spcAft>
            </a:pPr>
            <a:r>
              <a:rPr sz="1300" b="1">
                <a:solidFill>
                  <a:srgbClr val="0B3D5C"/>
                </a:solidFill>
                <a:latin typeface="微软雅黑"/>
                <a:ea typeface="微软雅黑"/>
                <a:cs typeface="微软雅黑"/>
              </a:rPr>
              <a:t>组织方 · 企业与资本组织</a:t>
            </a:r>
          </a:p>
        </p:txBody>
      </p:sp>
      <p:sp>
        <p:nvSpPr>
          <p:cNvPr id="13" name="TextBox 12"/>
          <p:cNvSpPr txBox="1"/>
          <p:nvPr/>
        </p:nvSpPr>
        <p:spPr>
          <a:xfrm>
            <a:off x="4389120" y="1810512"/>
            <a:ext cx="3291840" cy="4160520"/>
          </a:xfrm>
          <a:prstGeom prst="rect">
            <a:avLst/>
          </a:prstGeom>
          <a:noFill/>
        </p:spPr>
        <p:txBody>
          <a:bodyPr wrap="square" anchor="t" lIns="50800" rIns="50800" tIns="25400" bIns="25400">
            <a:spAutoFit/>
          </a:bodyPr>
          <a:lstStyle/>
          <a:p>
            <a:pPr algn="l">
              <a:lnSpc>
                <a:spcPct val="110000"/>
              </a:lnSpc>
              <a:spcAft>
                <a:spcPts val="500"/>
              </a:spcAft>
            </a:pPr>
            <a:r>
              <a:rPr sz="1100" b="0">
                <a:solidFill>
                  <a:srgbClr val="222A33"/>
                </a:solidFill>
                <a:latin typeface="微软雅黑"/>
                <a:ea typeface="微软雅黑"/>
                <a:cs typeface="微软雅黑"/>
              </a:rPr>
              <a:t>上海市杨浦区科技企业联合会</a:t>
            </a:r>
          </a:p>
          <a:p>
            <a:pPr algn="l">
              <a:lnSpc>
                <a:spcPct val="110000"/>
              </a:lnSpc>
              <a:spcAft>
                <a:spcPts val="500"/>
              </a:spcAft>
            </a:pPr>
            <a:r>
              <a:rPr sz="1100" b="0">
                <a:solidFill>
                  <a:srgbClr val="222A33"/>
                </a:solidFill>
                <a:latin typeface="微软雅黑"/>
                <a:ea typeface="微软雅黑"/>
                <a:cs typeface="微软雅黑"/>
              </a:rPr>
              <a:t/>
            </a:r>
          </a:p>
          <a:p>
            <a:pPr algn="l">
              <a:lnSpc>
                <a:spcPct val="110000"/>
              </a:lnSpc>
              <a:spcAft>
                <a:spcPts val="500"/>
              </a:spcAft>
            </a:pPr>
            <a:r>
              <a:rPr sz="1100" b="0">
                <a:solidFill>
                  <a:srgbClr val="222A33"/>
                </a:solidFill>
                <a:latin typeface="微软雅黑"/>
                <a:ea typeface="微软雅黑"/>
                <a:cs typeface="微软雅黑"/>
              </a:rPr>
              <a:t>· 组织上海市科技企业家、科创企业与相关投资机构参与</a:t>
            </a:r>
          </a:p>
          <a:p>
            <a:pPr algn="l">
              <a:lnSpc>
                <a:spcPct val="110000"/>
              </a:lnSpc>
              <a:spcAft>
                <a:spcPts val="500"/>
              </a:spcAft>
            </a:pPr>
            <a:r>
              <a:rPr sz="1100" b="0">
                <a:solidFill>
                  <a:srgbClr val="222A33"/>
                </a:solidFill>
                <a:latin typeface="微软雅黑"/>
                <a:ea typeface="微软雅黑"/>
                <a:cs typeface="微软雅黑"/>
              </a:rPr>
              <a:t>· 负责企业侧需求征集、参访对接与会后跟进撮合</a:t>
            </a:r>
          </a:p>
          <a:p>
            <a:pPr algn="l">
              <a:lnSpc>
                <a:spcPct val="110000"/>
              </a:lnSpc>
              <a:spcAft>
                <a:spcPts val="500"/>
              </a:spcAft>
            </a:pPr>
            <a:r>
              <a:rPr sz="1100" b="0">
                <a:solidFill>
                  <a:srgbClr val="222A33"/>
                </a:solidFill>
                <a:latin typeface="微软雅黑"/>
                <a:ea typeface="微软雅黑"/>
                <a:cs typeface="微软雅黑"/>
              </a:rPr>
              <a:t>· 推动 PE/VC、CVC 与产业项目之间的投洽交流</a:t>
            </a:r>
          </a:p>
        </p:txBody>
      </p:sp>
      <p:sp>
        <p:nvSpPr>
          <p:cNvPr id="14" name="Rectangle 13"/>
          <p:cNvSpPr/>
          <p:nvPr/>
        </p:nvSpPr>
        <p:spPr>
          <a:xfrm>
            <a:off x="7955280" y="1371600"/>
            <a:ext cx="3566160" cy="4663440"/>
          </a:xfrm>
          <a:prstGeom prst="rect">
            <a:avLst/>
          </a:prstGeom>
          <a:solidFill>
            <a:srgbClr val="F3F7F9"/>
          </a:solidFill>
          <a:ln w="12700">
            <a:solidFill>
              <a:srgbClr val="D0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80" y="1371600"/>
            <a:ext cx="63500" cy="4663440"/>
          </a:xfrm>
          <a:prstGeom prst="rect">
            <a:avLst/>
          </a:prstGeom>
          <a:solidFill>
            <a:srgbClr val="C47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1481328"/>
            <a:ext cx="3291840" cy="320040"/>
          </a:xfrm>
          <a:prstGeom prst="rect">
            <a:avLst/>
          </a:prstGeom>
          <a:noFill/>
        </p:spPr>
        <p:txBody>
          <a:bodyPr wrap="square" anchor="t" lIns="50800" rIns="50800" tIns="25400" bIns="25400">
            <a:spAutoFit/>
          </a:bodyPr>
          <a:lstStyle/>
          <a:p>
            <a:pPr algn="l">
              <a:lnSpc>
                <a:spcPct val="110000"/>
              </a:lnSpc>
              <a:spcAft>
                <a:spcPts val="400"/>
              </a:spcAft>
            </a:pPr>
            <a:r>
              <a:rPr sz="1300" b="1">
                <a:solidFill>
                  <a:srgbClr val="0B3D5C"/>
                </a:solidFill>
                <a:latin typeface="微软雅黑"/>
                <a:ea typeface="微软雅黑"/>
                <a:cs typeface="微软雅黑"/>
              </a:rPr>
              <a:t>接待单位 · 投促主责方</a:t>
            </a:r>
          </a:p>
        </p:txBody>
      </p:sp>
      <p:sp>
        <p:nvSpPr>
          <p:cNvPr id="17" name="TextBox 16"/>
          <p:cNvSpPr txBox="1"/>
          <p:nvPr/>
        </p:nvSpPr>
        <p:spPr>
          <a:xfrm>
            <a:off x="8138160" y="1810512"/>
            <a:ext cx="3291840" cy="4160520"/>
          </a:xfrm>
          <a:prstGeom prst="rect">
            <a:avLst/>
          </a:prstGeom>
          <a:noFill/>
        </p:spPr>
        <p:txBody>
          <a:bodyPr wrap="square" anchor="t" lIns="50800" rIns="50800" tIns="25400" bIns="25400">
            <a:spAutoFit/>
          </a:bodyPr>
          <a:lstStyle/>
          <a:p>
            <a:pPr algn="l">
              <a:lnSpc>
                <a:spcPct val="110000"/>
              </a:lnSpc>
              <a:spcAft>
                <a:spcPts val="500"/>
              </a:spcAft>
            </a:pPr>
            <a:r>
              <a:rPr sz="1100" b="0">
                <a:solidFill>
                  <a:srgbClr val="222A33"/>
                </a:solidFill>
                <a:latin typeface="微软雅黑"/>
                <a:ea typeface="微软雅黑"/>
                <a:cs typeface="微软雅黑"/>
              </a:rPr>
              <a:t>宁波经济技术开发区投资促进局</a:t>
            </a:r>
          </a:p>
          <a:p>
            <a:pPr algn="l">
              <a:lnSpc>
                <a:spcPct val="110000"/>
              </a:lnSpc>
              <a:spcAft>
                <a:spcPts val="500"/>
              </a:spcAft>
            </a:pPr>
            <a:r>
              <a:rPr sz="1100" b="0">
                <a:solidFill>
                  <a:srgbClr val="222A33"/>
                </a:solidFill>
                <a:latin typeface="微软雅黑"/>
                <a:ea typeface="微软雅黑"/>
                <a:cs typeface="微软雅黑"/>
              </a:rPr>
              <a:t/>
            </a:r>
          </a:p>
          <a:p>
            <a:pPr algn="l">
              <a:lnSpc>
                <a:spcPct val="110000"/>
              </a:lnSpc>
              <a:spcAft>
                <a:spcPts val="500"/>
              </a:spcAft>
            </a:pPr>
            <a:r>
              <a:rPr sz="1100" b="0">
                <a:solidFill>
                  <a:srgbClr val="222A33"/>
                </a:solidFill>
                <a:latin typeface="微软雅黑"/>
                <a:ea typeface="微软雅黑"/>
                <a:cs typeface="微软雅黑"/>
              </a:rPr>
              <a:t>· 统筹接待安排、政策宣讲与重点园区 / 企业参访协调</a:t>
            </a:r>
          </a:p>
          <a:p>
            <a:pPr algn="l">
              <a:lnSpc>
                <a:spcPct val="110000"/>
              </a:lnSpc>
              <a:spcAft>
                <a:spcPts val="500"/>
              </a:spcAft>
            </a:pPr>
            <a:r>
              <a:rPr sz="1100" b="0">
                <a:solidFill>
                  <a:srgbClr val="222A33"/>
                </a:solidFill>
                <a:latin typeface="微软雅黑"/>
                <a:ea typeface="微软雅黑"/>
                <a:cs typeface="微软雅黑"/>
              </a:rPr>
              <a:t>· 安排宁波港及当地特色企业、孵化器、产业载体参访</a:t>
            </a:r>
          </a:p>
          <a:p>
            <a:pPr algn="l">
              <a:lnSpc>
                <a:spcPct val="110000"/>
              </a:lnSpc>
              <a:spcAft>
                <a:spcPts val="500"/>
              </a:spcAft>
            </a:pPr>
            <a:r>
              <a:rPr sz="1100" b="0">
                <a:solidFill>
                  <a:srgbClr val="222A33"/>
                </a:solidFill>
                <a:latin typeface="微软雅黑"/>
                <a:ea typeface="微软雅黑"/>
                <a:cs typeface="微软雅黑"/>
              </a:rPr>
              <a:t>· 组织招商、投促与产业主管部门、企业代表座谈交流</a:t>
            </a:r>
          </a:p>
        </p:txBody>
      </p:sp>
      <p:sp>
        <p:nvSpPr>
          <p:cNvPr id="18" name="TextBox 17"/>
          <p:cNvSpPr txBox="1"/>
          <p:nvPr/>
        </p:nvSpPr>
        <p:spPr>
          <a:xfrm>
            <a:off x="457200" y="6473952"/>
            <a:ext cx="9144000" cy="274320"/>
          </a:xfrm>
          <a:prstGeom prst="rect">
            <a:avLst/>
          </a:prstGeom>
          <a:noFill/>
        </p:spPr>
        <p:txBody>
          <a:bodyPr wrap="square" anchor="t" lIns="50800" rIns="50800" tIns="25400" bIns="25400">
            <a:spAutoFit/>
          </a:bodyPr>
          <a:lstStyle/>
          <a:p>
            <a:pPr algn="l">
              <a:lnSpc>
                <a:spcPct val="110000"/>
              </a:lnSpc>
              <a:spcAft>
                <a:spcPts val="400"/>
              </a:spcAft>
            </a:pPr>
            <a:r>
              <a:rPr sz="900" b="0">
                <a:solidFill>
                  <a:srgbClr val="5A636E"/>
                </a:solidFill>
                <a:latin typeface="微软雅黑"/>
                <a:ea typeface="微软雅黑"/>
                <a:cs typeface="微软雅黑"/>
              </a:rPr>
              <a:t>复旦大学住房政策研究中心 · 上海市杨浦区科技企业联合会 → 宁波经开区投促局</a:t>
            </a:r>
          </a:p>
        </p:txBody>
      </p:sp>
      <p:sp>
        <p:nvSpPr>
          <p:cNvPr id="19" name="TextBox 18"/>
          <p:cNvSpPr txBox="1"/>
          <p:nvPr/>
        </p:nvSpPr>
        <p:spPr>
          <a:xfrm>
            <a:off x="10881360" y="6473952"/>
            <a:ext cx="1005840" cy="274320"/>
          </a:xfrm>
          <a:prstGeom prst="rect">
            <a:avLst/>
          </a:prstGeom>
          <a:noFill/>
        </p:spPr>
        <p:txBody>
          <a:bodyPr wrap="square" anchor="t" lIns="50800" rIns="50800" tIns="25400" bIns="25400">
            <a:spAutoFit/>
          </a:bodyPr>
          <a:lstStyle/>
          <a:p>
            <a:pPr algn="r">
              <a:lnSpc>
                <a:spcPct val="110000"/>
              </a:lnSpc>
              <a:spcAft>
                <a:spcPts val="400"/>
              </a:spcAft>
            </a:pPr>
            <a:r>
              <a:rPr sz="900" b="0">
                <a:solidFill>
                  <a:srgbClr val="5A636E"/>
                </a:solidFill>
                <a:latin typeface="微软雅黑"/>
                <a:ea typeface="微软雅黑"/>
                <a:cs typeface="微软雅黑"/>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7315200" cy="320040"/>
          </a:xfrm>
          <a:prstGeom prst="rect">
            <a:avLst/>
          </a:prstGeom>
          <a:noFill/>
        </p:spPr>
        <p:txBody>
          <a:bodyPr wrap="square" anchor="t" lIns="50800" rIns="50800" tIns="25400" bIns="25400">
            <a:spAutoFit/>
          </a:bodyPr>
          <a:lstStyle/>
          <a:p>
            <a:pPr algn="l">
              <a:lnSpc>
                <a:spcPct val="110000"/>
              </a:lnSpc>
              <a:spcAft>
                <a:spcPts val="400"/>
              </a:spcAft>
            </a:pPr>
            <a:r>
              <a:rPr sz="1200" b="1">
                <a:solidFill>
                  <a:srgbClr val="C47E1A"/>
                </a:solidFill>
                <a:latin typeface="微软雅黑"/>
                <a:ea typeface="微软雅黑"/>
                <a:cs typeface="微软雅黑"/>
              </a:rPr>
              <a:t>03 考察人员</a:t>
            </a:r>
          </a:p>
        </p:txBody>
      </p:sp>
      <p:sp>
        <p:nvSpPr>
          <p:cNvPr id="5" name="TextBox 4"/>
          <p:cNvSpPr txBox="1"/>
          <p:nvPr/>
        </p:nvSpPr>
        <p:spPr>
          <a:xfrm>
            <a:off x="457200" y="365760"/>
            <a:ext cx="11247120" cy="640080"/>
          </a:xfrm>
          <a:prstGeom prst="rect">
            <a:avLst/>
          </a:prstGeom>
          <a:noFill/>
        </p:spPr>
        <p:txBody>
          <a:bodyPr wrap="square" anchor="t" lIns="50800" rIns="50800" tIns="25400" bIns="25400">
            <a:spAutoFit/>
          </a:bodyPr>
          <a:lstStyle/>
          <a:p>
            <a:pPr algn="l">
              <a:lnSpc>
                <a:spcPct val="110000"/>
              </a:lnSpc>
              <a:spcAft>
                <a:spcPts val="400"/>
              </a:spcAft>
            </a:pPr>
            <a:r>
              <a:rPr sz="2400" b="1">
                <a:solidFill>
                  <a:srgbClr val="FFFFFF"/>
                </a:solidFill>
                <a:latin typeface="微软雅黑"/>
                <a:ea typeface="微软雅黑"/>
                <a:cs typeface="微软雅黑"/>
              </a:rPr>
              <a:t>复旦校友 + 上海科技企业家</a:t>
            </a:r>
          </a:p>
          <a:p>
            <a:pPr algn="l">
              <a:lnSpc>
                <a:spcPct val="110000"/>
              </a:lnSpc>
              <a:spcAft>
                <a:spcPts val="400"/>
              </a:spcAft>
            </a:pPr>
            <a:r>
              <a:rPr sz="1200" b="0">
                <a:solidFill>
                  <a:srgbClr val="B8CFDC"/>
                </a:solidFill>
                <a:latin typeface="微软雅黑"/>
                <a:ea typeface="微软雅黑"/>
                <a:cs typeface="微软雅黑"/>
              </a:rPr>
              <a:t>建议规模：15–30 人（小而精、可深度交流）</a:t>
            </a:r>
          </a:p>
        </p:txBody>
      </p:sp>
      <p:sp>
        <p:nvSpPr>
          <p:cNvPr id="6" name="Rectangle 5"/>
          <p:cNvSpPr/>
          <p:nvPr/>
        </p:nvSpPr>
        <p:spPr>
          <a:xfrm>
            <a:off x="457200" y="1325880"/>
            <a:ext cx="11247120" cy="9144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25880"/>
            <a:ext cx="109728" cy="9144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490472"/>
            <a:ext cx="2926080" cy="594360"/>
          </a:xfrm>
          <a:prstGeom prst="rect">
            <a:avLst/>
          </a:prstGeom>
          <a:noFill/>
        </p:spPr>
        <p:txBody>
          <a:bodyPr wrap="square" anchor="ctr" lIns="50800" rIns="50800" tIns="25400" bIns="25400">
            <a:spAutoFit/>
          </a:bodyPr>
          <a:lstStyle/>
          <a:p>
            <a:pPr algn="l">
              <a:lnSpc>
                <a:spcPct val="110000"/>
              </a:lnSpc>
              <a:spcAft>
                <a:spcPts val="400"/>
              </a:spcAft>
            </a:pPr>
            <a:r>
              <a:rPr sz="1500" b="1">
                <a:solidFill>
                  <a:srgbClr val="0B3D5C"/>
                </a:solidFill>
                <a:latin typeface="微软雅黑"/>
                <a:ea typeface="微软雅黑"/>
                <a:cs typeface="微软雅黑"/>
              </a:rPr>
              <a:t>复旦大学校友</a:t>
            </a:r>
          </a:p>
        </p:txBody>
      </p:sp>
      <p:sp>
        <p:nvSpPr>
          <p:cNvPr id="9" name="TextBox 8"/>
          <p:cNvSpPr txBox="1"/>
          <p:nvPr/>
        </p:nvSpPr>
        <p:spPr>
          <a:xfrm>
            <a:off x="3931920" y="1490472"/>
            <a:ext cx="7498079" cy="594360"/>
          </a:xfrm>
          <a:prstGeom prst="rect">
            <a:avLst/>
          </a:prstGeom>
          <a:noFill/>
        </p:spPr>
        <p:txBody>
          <a:bodyPr wrap="square" anchor="ctr" lIns="50800" rIns="50800" tIns="25400" bIns="25400">
            <a:spAutoFit/>
          </a:bodyPr>
          <a:lstStyle/>
          <a:p>
            <a:pPr algn="l">
              <a:lnSpc>
                <a:spcPct val="110000"/>
              </a:lnSpc>
              <a:spcAft>
                <a:spcPts val="400"/>
              </a:spcAft>
            </a:pPr>
            <a:r>
              <a:rPr sz="1300" b="0">
                <a:solidFill>
                  <a:srgbClr val="222A33"/>
                </a:solidFill>
                <a:latin typeface="微软雅黑"/>
                <a:ea typeface="微软雅黑"/>
                <a:cs typeface="微软雅黑"/>
              </a:rPr>
              <a:t>覆盖科技、制造、不动产与产业投资等领域的校友企业家与高管</a:t>
            </a:r>
          </a:p>
        </p:txBody>
      </p:sp>
      <p:sp>
        <p:nvSpPr>
          <p:cNvPr id="10" name="Rectangle 9"/>
          <p:cNvSpPr/>
          <p:nvPr/>
        </p:nvSpPr>
        <p:spPr>
          <a:xfrm>
            <a:off x="457200" y="2377440"/>
            <a:ext cx="11247120" cy="9144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77440"/>
            <a:ext cx="109728" cy="914400"/>
          </a:xfrm>
          <a:prstGeom prst="rect">
            <a:avLst/>
          </a:prstGeom>
          <a:solidFill>
            <a:srgbClr val="C47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542032"/>
            <a:ext cx="2926080" cy="594360"/>
          </a:xfrm>
          <a:prstGeom prst="rect">
            <a:avLst/>
          </a:prstGeom>
          <a:noFill/>
        </p:spPr>
        <p:txBody>
          <a:bodyPr wrap="square" anchor="ctr" lIns="50800" rIns="50800" tIns="25400" bIns="25400">
            <a:spAutoFit/>
          </a:bodyPr>
          <a:lstStyle/>
          <a:p>
            <a:pPr algn="l">
              <a:lnSpc>
                <a:spcPct val="110000"/>
              </a:lnSpc>
              <a:spcAft>
                <a:spcPts val="400"/>
              </a:spcAft>
            </a:pPr>
            <a:r>
              <a:rPr sz="1500" b="1">
                <a:solidFill>
                  <a:srgbClr val="0B3D5C"/>
                </a:solidFill>
                <a:latin typeface="微软雅黑"/>
                <a:ea typeface="微软雅黑"/>
                <a:cs typeface="微软雅黑"/>
              </a:rPr>
              <a:t>上海市科技企业家</a:t>
            </a:r>
          </a:p>
        </p:txBody>
      </p:sp>
      <p:sp>
        <p:nvSpPr>
          <p:cNvPr id="13" name="TextBox 12"/>
          <p:cNvSpPr txBox="1"/>
          <p:nvPr/>
        </p:nvSpPr>
        <p:spPr>
          <a:xfrm>
            <a:off x="3931920" y="2542032"/>
            <a:ext cx="7498079" cy="594360"/>
          </a:xfrm>
          <a:prstGeom prst="rect">
            <a:avLst/>
          </a:prstGeom>
          <a:noFill/>
        </p:spPr>
        <p:txBody>
          <a:bodyPr wrap="square" anchor="ctr" lIns="50800" rIns="50800" tIns="25400" bIns="25400">
            <a:spAutoFit/>
          </a:bodyPr>
          <a:lstStyle/>
          <a:p>
            <a:pPr algn="l">
              <a:lnSpc>
                <a:spcPct val="110000"/>
              </a:lnSpc>
              <a:spcAft>
                <a:spcPts val="400"/>
              </a:spcAft>
            </a:pPr>
            <a:r>
              <a:rPr sz="1300" b="0">
                <a:solidFill>
                  <a:srgbClr val="222A33"/>
                </a:solidFill>
                <a:latin typeface="微软雅黑"/>
                <a:ea typeface="微软雅黑"/>
                <a:cs typeface="微软雅黑"/>
              </a:rPr>
              <a:t>杨浦及上海科创企业负责人、成长型企业与产业平台代表</a:t>
            </a:r>
          </a:p>
        </p:txBody>
      </p:sp>
      <p:sp>
        <p:nvSpPr>
          <p:cNvPr id="14" name="Rectangle 13"/>
          <p:cNvSpPr/>
          <p:nvPr/>
        </p:nvSpPr>
        <p:spPr>
          <a:xfrm>
            <a:off x="457200" y="3429000"/>
            <a:ext cx="11247120" cy="9144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429000"/>
            <a:ext cx="109728" cy="9144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593592"/>
            <a:ext cx="2926080" cy="594360"/>
          </a:xfrm>
          <a:prstGeom prst="rect">
            <a:avLst/>
          </a:prstGeom>
          <a:noFill/>
        </p:spPr>
        <p:txBody>
          <a:bodyPr wrap="square" anchor="ctr" lIns="50800" rIns="50800" tIns="25400" bIns="25400">
            <a:spAutoFit/>
          </a:bodyPr>
          <a:lstStyle/>
          <a:p>
            <a:pPr algn="l">
              <a:lnSpc>
                <a:spcPct val="110000"/>
              </a:lnSpc>
              <a:spcAft>
                <a:spcPts val="400"/>
              </a:spcAft>
            </a:pPr>
            <a:r>
              <a:rPr sz="1500" b="1">
                <a:solidFill>
                  <a:srgbClr val="0B3D5C"/>
                </a:solidFill>
                <a:latin typeface="微软雅黑"/>
                <a:ea typeface="微软雅黑"/>
                <a:cs typeface="微软雅黑"/>
              </a:rPr>
              <a:t>投资机构代表（拟）</a:t>
            </a:r>
          </a:p>
        </p:txBody>
      </p:sp>
      <p:sp>
        <p:nvSpPr>
          <p:cNvPr id="17" name="TextBox 16"/>
          <p:cNvSpPr txBox="1"/>
          <p:nvPr/>
        </p:nvSpPr>
        <p:spPr>
          <a:xfrm>
            <a:off x="3931920" y="3593592"/>
            <a:ext cx="7498079" cy="594360"/>
          </a:xfrm>
          <a:prstGeom prst="rect">
            <a:avLst/>
          </a:prstGeom>
          <a:noFill/>
        </p:spPr>
        <p:txBody>
          <a:bodyPr wrap="square" anchor="ctr" lIns="50800" rIns="50800" tIns="25400" bIns="25400">
            <a:spAutoFit/>
          </a:bodyPr>
          <a:lstStyle/>
          <a:p>
            <a:pPr algn="l">
              <a:lnSpc>
                <a:spcPct val="110000"/>
              </a:lnSpc>
              <a:spcAft>
                <a:spcPts val="400"/>
              </a:spcAft>
            </a:pPr>
            <a:r>
              <a:rPr sz="1300" b="0">
                <a:solidFill>
                  <a:srgbClr val="222A33"/>
                </a:solidFill>
                <a:latin typeface="微软雅黑"/>
                <a:ea typeface="微软雅黑"/>
                <a:cs typeface="微软雅黑"/>
              </a:rPr>
              <a:t>关注长三角先进制造、临港产业与硬科技的 PE/VC、CVC 机构</a:t>
            </a:r>
          </a:p>
        </p:txBody>
      </p:sp>
      <p:sp>
        <p:nvSpPr>
          <p:cNvPr id="18" name="Rectangle 17"/>
          <p:cNvSpPr/>
          <p:nvPr/>
        </p:nvSpPr>
        <p:spPr>
          <a:xfrm>
            <a:off x="457200" y="4480560"/>
            <a:ext cx="11247120" cy="9144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4480560"/>
            <a:ext cx="109728" cy="914400"/>
          </a:xfrm>
          <a:prstGeom prst="rect">
            <a:avLst/>
          </a:prstGeom>
          <a:solidFill>
            <a:srgbClr val="C47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645152"/>
            <a:ext cx="2926080" cy="594360"/>
          </a:xfrm>
          <a:prstGeom prst="rect">
            <a:avLst/>
          </a:prstGeom>
          <a:noFill/>
        </p:spPr>
        <p:txBody>
          <a:bodyPr wrap="square" anchor="ctr" lIns="50800" rIns="50800" tIns="25400" bIns="25400">
            <a:spAutoFit/>
          </a:bodyPr>
          <a:lstStyle/>
          <a:p>
            <a:pPr algn="l">
              <a:lnSpc>
                <a:spcPct val="110000"/>
              </a:lnSpc>
              <a:spcAft>
                <a:spcPts val="400"/>
              </a:spcAft>
            </a:pPr>
            <a:r>
              <a:rPr sz="1500" b="1">
                <a:solidFill>
                  <a:srgbClr val="0B3D5C"/>
                </a:solidFill>
                <a:latin typeface="微软雅黑"/>
                <a:ea typeface="微软雅黑"/>
                <a:cs typeface="微软雅黑"/>
              </a:rPr>
              <a:t>组织方工作人员</a:t>
            </a:r>
          </a:p>
        </p:txBody>
      </p:sp>
      <p:sp>
        <p:nvSpPr>
          <p:cNvPr id="21" name="TextBox 20"/>
          <p:cNvSpPr txBox="1"/>
          <p:nvPr/>
        </p:nvSpPr>
        <p:spPr>
          <a:xfrm>
            <a:off x="3931920" y="4645152"/>
            <a:ext cx="7498079" cy="594360"/>
          </a:xfrm>
          <a:prstGeom prst="rect">
            <a:avLst/>
          </a:prstGeom>
          <a:noFill/>
        </p:spPr>
        <p:txBody>
          <a:bodyPr wrap="square" anchor="ctr" lIns="50800" rIns="50800" tIns="25400" bIns="25400">
            <a:spAutoFit/>
          </a:bodyPr>
          <a:lstStyle/>
          <a:p>
            <a:pPr algn="l">
              <a:lnSpc>
                <a:spcPct val="110000"/>
              </a:lnSpc>
              <a:spcAft>
                <a:spcPts val="400"/>
              </a:spcAft>
            </a:pPr>
            <a:r>
              <a:rPr sz="1300" b="0">
                <a:solidFill>
                  <a:srgbClr val="222A33"/>
                </a:solidFill>
                <a:latin typeface="微软雅黑"/>
                <a:ea typeface="微软雅黑"/>
                <a:cs typeface="微软雅黑"/>
              </a:rPr>
              <a:t>负责行程统筹、现场组织与会后线索跟进</a:t>
            </a:r>
          </a:p>
        </p:txBody>
      </p:sp>
      <p:sp>
        <p:nvSpPr>
          <p:cNvPr id="22" name="TextBox 21"/>
          <p:cNvSpPr txBox="1"/>
          <p:nvPr/>
        </p:nvSpPr>
        <p:spPr>
          <a:xfrm>
            <a:off x="457200" y="6473952"/>
            <a:ext cx="9144000" cy="274320"/>
          </a:xfrm>
          <a:prstGeom prst="rect">
            <a:avLst/>
          </a:prstGeom>
          <a:noFill/>
        </p:spPr>
        <p:txBody>
          <a:bodyPr wrap="square" anchor="t" lIns="50800" rIns="50800" tIns="25400" bIns="25400">
            <a:spAutoFit/>
          </a:bodyPr>
          <a:lstStyle/>
          <a:p>
            <a:pPr algn="l">
              <a:lnSpc>
                <a:spcPct val="110000"/>
              </a:lnSpc>
              <a:spcAft>
                <a:spcPts val="400"/>
              </a:spcAft>
            </a:pPr>
            <a:r>
              <a:rPr sz="900" b="0">
                <a:solidFill>
                  <a:srgbClr val="5A636E"/>
                </a:solidFill>
                <a:latin typeface="微软雅黑"/>
                <a:ea typeface="微软雅黑"/>
                <a:cs typeface="微软雅黑"/>
              </a:rPr>
              <a:t>复旦大学住房政策研究中心 · 上海市杨浦区科技企业联合会 → 宁波经开区投促局</a:t>
            </a:r>
          </a:p>
        </p:txBody>
      </p:sp>
      <p:sp>
        <p:nvSpPr>
          <p:cNvPr id="23" name="TextBox 22"/>
          <p:cNvSpPr txBox="1"/>
          <p:nvPr/>
        </p:nvSpPr>
        <p:spPr>
          <a:xfrm>
            <a:off x="10881360" y="6473952"/>
            <a:ext cx="1005840" cy="274320"/>
          </a:xfrm>
          <a:prstGeom prst="rect">
            <a:avLst/>
          </a:prstGeom>
          <a:noFill/>
        </p:spPr>
        <p:txBody>
          <a:bodyPr wrap="square" anchor="t" lIns="50800" rIns="50800" tIns="25400" bIns="25400">
            <a:spAutoFit/>
          </a:bodyPr>
          <a:lstStyle/>
          <a:p>
            <a:pPr algn="r">
              <a:lnSpc>
                <a:spcPct val="110000"/>
              </a:lnSpc>
              <a:spcAft>
                <a:spcPts val="400"/>
              </a:spcAft>
            </a:pPr>
            <a:r>
              <a:rPr sz="900" b="0">
                <a:solidFill>
                  <a:srgbClr val="5A636E"/>
                </a:solidFill>
                <a:latin typeface="微软雅黑"/>
                <a:ea typeface="微软雅黑"/>
                <a:cs typeface="微软雅黑"/>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7315200" cy="320040"/>
          </a:xfrm>
          <a:prstGeom prst="rect">
            <a:avLst/>
          </a:prstGeom>
          <a:noFill/>
        </p:spPr>
        <p:txBody>
          <a:bodyPr wrap="square" anchor="t" lIns="50800" rIns="50800" tIns="25400" bIns="25400">
            <a:spAutoFit/>
          </a:bodyPr>
          <a:lstStyle/>
          <a:p>
            <a:pPr algn="l">
              <a:lnSpc>
                <a:spcPct val="110000"/>
              </a:lnSpc>
              <a:spcAft>
                <a:spcPts val="400"/>
              </a:spcAft>
            </a:pPr>
            <a:r>
              <a:rPr sz="1200" b="1">
                <a:solidFill>
                  <a:srgbClr val="C47E1A"/>
                </a:solidFill>
                <a:latin typeface="微软雅黑"/>
                <a:ea typeface="微软雅黑"/>
                <a:cs typeface="微软雅黑"/>
              </a:rPr>
              <a:t>04 合作方向</a:t>
            </a:r>
          </a:p>
        </p:txBody>
      </p:sp>
      <p:sp>
        <p:nvSpPr>
          <p:cNvPr id="5" name="TextBox 4"/>
          <p:cNvSpPr txBox="1"/>
          <p:nvPr/>
        </p:nvSpPr>
        <p:spPr>
          <a:xfrm>
            <a:off x="457200" y="365760"/>
            <a:ext cx="11247120" cy="640080"/>
          </a:xfrm>
          <a:prstGeom prst="rect">
            <a:avLst/>
          </a:prstGeom>
          <a:noFill/>
        </p:spPr>
        <p:txBody>
          <a:bodyPr wrap="square" anchor="t" lIns="50800" rIns="50800" tIns="25400" bIns="25400">
            <a:spAutoFit/>
          </a:bodyPr>
          <a:lstStyle/>
          <a:p>
            <a:pPr algn="l">
              <a:lnSpc>
                <a:spcPct val="110000"/>
              </a:lnSpc>
              <a:spcAft>
                <a:spcPts val="400"/>
              </a:spcAft>
            </a:pPr>
            <a:r>
              <a:rPr sz="2400" b="1">
                <a:solidFill>
                  <a:srgbClr val="FFFFFF"/>
                </a:solidFill>
                <a:latin typeface="微软雅黑"/>
                <a:ea typeface="微软雅黑"/>
                <a:cs typeface="微软雅黑"/>
              </a:rPr>
              <a:t>参访交流 + 长期投洽事项</a:t>
            </a:r>
          </a:p>
          <a:p>
            <a:pPr algn="l">
              <a:lnSpc>
                <a:spcPct val="110000"/>
              </a:lnSpc>
              <a:spcAft>
                <a:spcPts val="400"/>
              </a:spcAft>
            </a:pPr>
            <a:r>
              <a:rPr sz="1200" b="0">
                <a:solidFill>
                  <a:srgbClr val="B8CFDC"/>
                </a:solidFill>
                <a:latin typeface="微软雅黑"/>
                <a:ea typeface="微软雅黑"/>
                <a:cs typeface="微软雅黑"/>
              </a:rPr>
              <a:t>招商引资 · 科技孵化 · 产业导入 · PE/VC · CVC</a:t>
            </a:r>
          </a:p>
        </p:txBody>
      </p:sp>
      <p:sp>
        <p:nvSpPr>
          <p:cNvPr id="6" name="Rectangle 5"/>
          <p:cNvSpPr/>
          <p:nvPr/>
        </p:nvSpPr>
        <p:spPr>
          <a:xfrm>
            <a:off x="411480" y="1280160"/>
            <a:ext cx="5440680" cy="2286000"/>
          </a:xfrm>
          <a:prstGeom prst="rect">
            <a:avLst/>
          </a:prstGeom>
          <a:solidFill>
            <a:srgbClr val="F3F7F9"/>
          </a:solidFill>
          <a:ln w="12700">
            <a:solidFill>
              <a:srgbClr val="D0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280160"/>
            <a:ext cx="63500" cy="22860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89888"/>
            <a:ext cx="5166360" cy="320040"/>
          </a:xfrm>
          <a:prstGeom prst="rect">
            <a:avLst/>
          </a:prstGeom>
          <a:noFill/>
        </p:spPr>
        <p:txBody>
          <a:bodyPr wrap="square" anchor="t" lIns="50800" rIns="50800" tIns="25400" bIns="25400">
            <a:spAutoFit/>
          </a:bodyPr>
          <a:lstStyle/>
          <a:p>
            <a:pPr algn="l">
              <a:lnSpc>
                <a:spcPct val="110000"/>
              </a:lnSpc>
              <a:spcAft>
                <a:spcPts val="400"/>
              </a:spcAft>
            </a:pPr>
            <a:r>
              <a:rPr sz="1300" b="1">
                <a:solidFill>
                  <a:srgbClr val="0B3D5C"/>
                </a:solidFill>
                <a:latin typeface="微软雅黑"/>
                <a:ea typeface="微软雅黑"/>
                <a:cs typeface="微软雅黑"/>
              </a:rPr>
              <a:t>招商引资与产业导入</a:t>
            </a:r>
          </a:p>
        </p:txBody>
      </p:sp>
      <p:sp>
        <p:nvSpPr>
          <p:cNvPr id="9" name="TextBox 8"/>
          <p:cNvSpPr txBox="1"/>
          <p:nvPr/>
        </p:nvSpPr>
        <p:spPr>
          <a:xfrm>
            <a:off x="594360" y="1719072"/>
            <a:ext cx="5166360" cy="1783080"/>
          </a:xfrm>
          <a:prstGeom prst="rect">
            <a:avLst/>
          </a:prstGeom>
          <a:noFill/>
        </p:spPr>
        <p:txBody>
          <a:bodyPr wrap="square" anchor="t" lIns="50800" rIns="50800" tIns="25400" bIns="25400">
            <a:spAutoFit/>
          </a:bodyPr>
          <a:lstStyle/>
          <a:p>
            <a:pPr algn="l">
              <a:lnSpc>
                <a:spcPct val="110000"/>
              </a:lnSpc>
              <a:spcAft>
                <a:spcPts val="500"/>
              </a:spcAft>
            </a:pPr>
            <a:r>
              <a:rPr sz="1100" b="0">
                <a:solidFill>
                  <a:srgbClr val="222A33"/>
                </a:solidFill>
                <a:latin typeface="微软雅黑"/>
                <a:ea typeface="微软雅黑"/>
                <a:cs typeface="微软雅黑"/>
              </a:rPr>
              <a:t>· 了解开发区主导产业、重点招商目录与优惠政策</a:t>
            </a:r>
          </a:p>
          <a:p>
            <a:pPr algn="l">
              <a:lnSpc>
                <a:spcPct val="110000"/>
              </a:lnSpc>
              <a:spcAft>
                <a:spcPts val="500"/>
              </a:spcAft>
            </a:pPr>
            <a:r>
              <a:rPr sz="1100" b="0">
                <a:solidFill>
                  <a:srgbClr val="222A33"/>
                </a:solidFill>
                <a:latin typeface="微软雅黑"/>
                <a:ea typeface="微软雅黑"/>
                <a:cs typeface="微软雅黑"/>
              </a:rPr>
              <a:t>· 对接适合上海科技企业外溢落地、分支设立与产能布局的载体</a:t>
            </a:r>
          </a:p>
          <a:p>
            <a:pPr algn="l">
              <a:lnSpc>
                <a:spcPct val="110000"/>
              </a:lnSpc>
              <a:spcAft>
                <a:spcPts val="500"/>
              </a:spcAft>
            </a:pPr>
            <a:r>
              <a:rPr sz="1100" b="0">
                <a:solidFill>
                  <a:srgbClr val="222A33"/>
                </a:solidFill>
                <a:latin typeface="微软雅黑"/>
                <a:ea typeface="微软雅黑"/>
                <a:cs typeface="微软雅黑"/>
              </a:rPr>
              <a:t>· 形成“上海研发 / 总部 + 宁波制造 / 临港场景”的协同导入路径</a:t>
            </a:r>
          </a:p>
        </p:txBody>
      </p:sp>
      <p:sp>
        <p:nvSpPr>
          <p:cNvPr id="10" name="Rectangle 9"/>
          <p:cNvSpPr/>
          <p:nvPr/>
        </p:nvSpPr>
        <p:spPr>
          <a:xfrm>
            <a:off x="6263640" y="1280160"/>
            <a:ext cx="5440680" cy="2286000"/>
          </a:xfrm>
          <a:prstGeom prst="rect">
            <a:avLst/>
          </a:prstGeom>
          <a:solidFill>
            <a:srgbClr val="F3F7F9"/>
          </a:solidFill>
          <a:ln w="12700">
            <a:solidFill>
              <a:srgbClr val="D0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280160"/>
            <a:ext cx="63500" cy="2286000"/>
          </a:xfrm>
          <a:prstGeom prst="rect">
            <a:avLst/>
          </a:prstGeom>
          <a:solidFill>
            <a:srgbClr val="2A8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389888"/>
            <a:ext cx="5166360" cy="320040"/>
          </a:xfrm>
          <a:prstGeom prst="rect">
            <a:avLst/>
          </a:prstGeom>
          <a:noFill/>
        </p:spPr>
        <p:txBody>
          <a:bodyPr wrap="square" anchor="t" lIns="50800" rIns="50800" tIns="25400" bIns="25400">
            <a:spAutoFit/>
          </a:bodyPr>
          <a:lstStyle/>
          <a:p>
            <a:pPr algn="l">
              <a:lnSpc>
                <a:spcPct val="110000"/>
              </a:lnSpc>
              <a:spcAft>
                <a:spcPts val="400"/>
              </a:spcAft>
            </a:pPr>
            <a:r>
              <a:rPr sz="1300" b="1">
                <a:solidFill>
                  <a:srgbClr val="0B3D5C"/>
                </a:solidFill>
                <a:latin typeface="微软雅黑"/>
                <a:ea typeface="微软雅黑"/>
                <a:cs typeface="微软雅黑"/>
              </a:rPr>
              <a:t>科技孵化与创新生态</a:t>
            </a:r>
          </a:p>
        </p:txBody>
      </p:sp>
      <p:sp>
        <p:nvSpPr>
          <p:cNvPr id="13" name="TextBox 12"/>
          <p:cNvSpPr txBox="1"/>
          <p:nvPr/>
        </p:nvSpPr>
        <p:spPr>
          <a:xfrm>
            <a:off x="6446520" y="1719072"/>
            <a:ext cx="5166360" cy="1783080"/>
          </a:xfrm>
          <a:prstGeom prst="rect">
            <a:avLst/>
          </a:prstGeom>
          <a:noFill/>
        </p:spPr>
        <p:txBody>
          <a:bodyPr wrap="square" anchor="t" lIns="50800" rIns="50800" tIns="25400" bIns="25400">
            <a:spAutoFit/>
          </a:bodyPr>
          <a:lstStyle/>
          <a:p>
            <a:pPr algn="l">
              <a:lnSpc>
                <a:spcPct val="110000"/>
              </a:lnSpc>
              <a:spcAft>
                <a:spcPts val="500"/>
              </a:spcAft>
            </a:pPr>
            <a:r>
              <a:rPr sz="1100" b="0">
                <a:solidFill>
                  <a:srgbClr val="222A33"/>
                </a:solidFill>
                <a:latin typeface="微软雅黑"/>
                <a:ea typeface="微软雅黑"/>
                <a:cs typeface="微软雅黑"/>
              </a:rPr>
              <a:t>· 参访当地科技企业孵化器、加速器与特色产业园区</a:t>
            </a:r>
          </a:p>
          <a:p>
            <a:pPr algn="l">
              <a:lnSpc>
                <a:spcPct val="110000"/>
              </a:lnSpc>
              <a:spcAft>
                <a:spcPts val="500"/>
              </a:spcAft>
            </a:pPr>
            <a:r>
              <a:rPr sz="1100" b="0">
                <a:solidFill>
                  <a:srgbClr val="222A33"/>
                </a:solidFill>
                <a:latin typeface="微软雅黑"/>
                <a:ea typeface="微软雅黑"/>
                <a:cs typeface="微软雅黑"/>
              </a:rPr>
              <a:t>· 交流沪甬双城孵化协同、校友创业项目落地与导师资源互通</a:t>
            </a:r>
          </a:p>
          <a:p>
            <a:pPr algn="l">
              <a:lnSpc>
                <a:spcPct val="110000"/>
              </a:lnSpc>
              <a:spcAft>
                <a:spcPts val="500"/>
              </a:spcAft>
            </a:pPr>
            <a:r>
              <a:rPr sz="1100" b="0">
                <a:solidFill>
                  <a:srgbClr val="222A33"/>
                </a:solidFill>
                <a:latin typeface="微软雅黑"/>
                <a:ea typeface="微软雅黑"/>
                <a:cs typeface="微软雅黑"/>
              </a:rPr>
              <a:t>· 探讨联合路演、联合孵化与场景验证合作机制</a:t>
            </a:r>
          </a:p>
        </p:txBody>
      </p:sp>
      <p:sp>
        <p:nvSpPr>
          <p:cNvPr id="14" name="Rectangle 13"/>
          <p:cNvSpPr/>
          <p:nvPr/>
        </p:nvSpPr>
        <p:spPr>
          <a:xfrm>
            <a:off x="411480" y="3794760"/>
            <a:ext cx="5440680" cy="2286000"/>
          </a:xfrm>
          <a:prstGeom prst="rect">
            <a:avLst/>
          </a:prstGeom>
          <a:solidFill>
            <a:srgbClr val="F3F7F9"/>
          </a:solidFill>
          <a:ln w="12700">
            <a:solidFill>
              <a:srgbClr val="D0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3794760"/>
            <a:ext cx="63500" cy="2286000"/>
          </a:xfrm>
          <a:prstGeom prst="rect">
            <a:avLst/>
          </a:prstGeom>
          <a:solidFill>
            <a:srgbClr val="C47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904488"/>
            <a:ext cx="5166360" cy="320040"/>
          </a:xfrm>
          <a:prstGeom prst="rect">
            <a:avLst/>
          </a:prstGeom>
          <a:noFill/>
        </p:spPr>
        <p:txBody>
          <a:bodyPr wrap="square" anchor="t" lIns="50800" rIns="50800" tIns="25400" bIns="25400">
            <a:spAutoFit/>
          </a:bodyPr>
          <a:lstStyle/>
          <a:p>
            <a:pPr algn="l">
              <a:lnSpc>
                <a:spcPct val="110000"/>
              </a:lnSpc>
              <a:spcAft>
                <a:spcPts val="400"/>
              </a:spcAft>
            </a:pPr>
            <a:r>
              <a:rPr sz="1300" b="1">
                <a:solidFill>
                  <a:srgbClr val="0B3D5C"/>
                </a:solidFill>
                <a:latin typeface="微软雅黑"/>
                <a:ea typeface="微软雅黑"/>
                <a:cs typeface="微软雅黑"/>
              </a:rPr>
              <a:t>宁波港与临港产业参访</a:t>
            </a:r>
          </a:p>
        </p:txBody>
      </p:sp>
      <p:sp>
        <p:nvSpPr>
          <p:cNvPr id="17" name="TextBox 16"/>
          <p:cNvSpPr txBox="1"/>
          <p:nvPr/>
        </p:nvSpPr>
        <p:spPr>
          <a:xfrm>
            <a:off x="594360" y="4233672"/>
            <a:ext cx="5166360" cy="1783080"/>
          </a:xfrm>
          <a:prstGeom prst="rect">
            <a:avLst/>
          </a:prstGeom>
          <a:noFill/>
        </p:spPr>
        <p:txBody>
          <a:bodyPr wrap="square" anchor="t" lIns="50800" rIns="50800" tIns="25400" bIns="25400">
            <a:spAutoFit/>
          </a:bodyPr>
          <a:lstStyle/>
          <a:p>
            <a:pPr algn="l">
              <a:lnSpc>
                <a:spcPct val="110000"/>
              </a:lnSpc>
              <a:spcAft>
                <a:spcPts val="500"/>
              </a:spcAft>
            </a:pPr>
            <a:r>
              <a:rPr sz="1100" b="0">
                <a:solidFill>
                  <a:srgbClr val="222A33"/>
                </a:solidFill>
                <a:latin typeface="微软雅黑"/>
                <a:ea typeface="微软雅黑"/>
                <a:cs typeface="微软雅黑"/>
              </a:rPr>
              <a:t>· 了解港口物流、航运服务与临港产业链配套能力</a:t>
            </a:r>
          </a:p>
          <a:p>
            <a:pPr algn="l">
              <a:lnSpc>
                <a:spcPct val="110000"/>
              </a:lnSpc>
              <a:spcAft>
                <a:spcPts val="500"/>
              </a:spcAft>
            </a:pPr>
            <a:r>
              <a:rPr sz="1100" b="0">
                <a:solidFill>
                  <a:srgbClr val="222A33"/>
                </a:solidFill>
                <a:latin typeface="微软雅黑"/>
                <a:ea typeface="微软雅黑"/>
                <a:cs typeface="微软雅黑"/>
              </a:rPr>
              <a:t>· 对接外贸、供应链、高端制造与港航服务相关合作机会</a:t>
            </a:r>
          </a:p>
          <a:p>
            <a:pPr algn="l">
              <a:lnSpc>
                <a:spcPct val="110000"/>
              </a:lnSpc>
              <a:spcAft>
                <a:spcPts val="500"/>
              </a:spcAft>
            </a:pPr>
            <a:r>
              <a:rPr sz="1100" b="0">
                <a:solidFill>
                  <a:srgbClr val="222A33"/>
                </a:solidFill>
                <a:latin typeface="微软雅黑"/>
                <a:ea typeface="微软雅黑"/>
                <a:cs typeface="微软雅黑"/>
              </a:rPr>
              <a:t>· 为企业家提供港口枢纽与开放平台的直观认知</a:t>
            </a:r>
          </a:p>
        </p:txBody>
      </p:sp>
      <p:sp>
        <p:nvSpPr>
          <p:cNvPr id="18" name="Rectangle 17"/>
          <p:cNvSpPr/>
          <p:nvPr/>
        </p:nvSpPr>
        <p:spPr>
          <a:xfrm>
            <a:off x="6263640" y="3794760"/>
            <a:ext cx="5440680" cy="2286000"/>
          </a:xfrm>
          <a:prstGeom prst="rect">
            <a:avLst/>
          </a:prstGeom>
          <a:solidFill>
            <a:srgbClr val="F3F7F9"/>
          </a:solidFill>
          <a:ln w="12700">
            <a:solidFill>
              <a:srgbClr val="D0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3794760"/>
            <a:ext cx="63500" cy="228600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904488"/>
            <a:ext cx="5166360" cy="320040"/>
          </a:xfrm>
          <a:prstGeom prst="rect">
            <a:avLst/>
          </a:prstGeom>
          <a:noFill/>
        </p:spPr>
        <p:txBody>
          <a:bodyPr wrap="square" anchor="t" lIns="50800" rIns="50800" tIns="25400" bIns="25400">
            <a:spAutoFit/>
          </a:bodyPr>
          <a:lstStyle/>
          <a:p>
            <a:pPr algn="l">
              <a:lnSpc>
                <a:spcPct val="110000"/>
              </a:lnSpc>
              <a:spcAft>
                <a:spcPts val="400"/>
              </a:spcAft>
            </a:pPr>
            <a:r>
              <a:rPr sz="1300" b="1">
                <a:solidFill>
                  <a:srgbClr val="0B3D5C"/>
                </a:solidFill>
                <a:latin typeface="微软雅黑"/>
                <a:ea typeface="微软雅黑"/>
                <a:cs typeface="微软雅黑"/>
              </a:rPr>
              <a:t>PE/VC 与 CVC 投洽合作</a:t>
            </a:r>
          </a:p>
        </p:txBody>
      </p:sp>
      <p:sp>
        <p:nvSpPr>
          <p:cNvPr id="21" name="TextBox 20"/>
          <p:cNvSpPr txBox="1"/>
          <p:nvPr/>
        </p:nvSpPr>
        <p:spPr>
          <a:xfrm>
            <a:off x="6446520" y="4233672"/>
            <a:ext cx="5166360" cy="1783080"/>
          </a:xfrm>
          <a:prstGeom prst="rect">
            <a:avLst/>
          </a:prstGeom>
          <a:noFill/>
        </p:spPr>
        <p:txBody>
          <a:bodyPr wrap="square" anchor="t" lIns="50800" rIns="50800" tIns="25400" bIns="25400">
            <a:spAutoFit/>
          </a:bodyPr>
          <a:lstStyle/>
          <a:p>
            <a:pPr algn="l">
              <a:lnSpc>
                <a:spcPct val="110000"/>
              </a:lnSpc>
              <a:spcAft>
                <a:spcPts val="500"/>
              </a:spcAft>
            </a:pPr>
            <a:r>
              <a:rPr sz="1100" b="0">
                <a:solidFill>
                  <a:srgbClr val="222A33"/>
                </a:solidFill>
                <a:latin typeface="微软雅黑"/>
                <a:ea typeface="微软雅黑"/>
                <a:cs typeface="微软雅黑"/>
              </a:rPr>
              <a:t>· 组织投资机构与当地优质企业、项目方开展闭门投洽</a:t>
            </a:r>
          </a:p>
          <a:p>
            <a:pPr algn="l">
              <a:lnSpc>
                <a:spcPct val="110000"/>
              </a:lnSpc>
              <a:spcAft>
                <a:spcPts val="500"/>
              </a:spcAft>
            </a:pPr>
            <a:r>
              <a:rPr sz="1100" b="0">
                <a:solidFill>
                  <a:srgbClr val="222A33"/>
                </a:solidFill>
                <a:latin typeface="微软雅黑"/>
                <a:ea typeface="微软雅黑"/>
                <a:cs typeface="微软雅黑"/>
              </a:rPr>
              <a:t>· 围绕成长期项目融资、产业并购、CVC 战略投资等议题交流</a:t>
            </a:r>
          </a:p>
          <a:p>
            <a:pPr algn="l">
              <a:lnSpc>
                <a:spcPct val="110000"/>
              </a:lnSpc>
              <a:spcAft>
                <a:spcPts val="500"/>
              </a:spcAft>
            </a:pPr>
            <a:r>
              <a:rPr sz="1100" b="0">
                <a:solidFill>
                  <a:srgbClr val="222A33"/>
                </a:solidFill>
                <a:latin typeface="微软雅黑"/>
                <a:ea typeface="微软雅黑"/>
                <a:cs typeface="微软雅黑"/>
              </a:rPr>
              <a:t>· 建立项目信息互通与常态化投促对接机制</a:t>
            </a:r>
          </a:p>
        </p:txBody>
      </p:sp>
      <p:sp>
        <p:nvSpPr>
          <p:cNvPr id="22" name="TextBox 21"/>
          <p:cNvSpPr txBox="1"/>
          <p:nvPr/>
        </p:nvSpPr>
        <p:spPr>
          <a:xfrm>
            <a:off x="457200" y="6473952"/>
            <a:ext cx="9144000" cy="274320"/>
          </a:xfrm>
          <a:prstGeom prst="rect">
            <a:avLst/>
          </a:prstGeom>
          <a:noFill/>
        </p:spPr>
        <p:txBody>
          <a:bodyPr wrap="square" anchor="t" lIns="50800" rIns="50800" tIns="25400" bIns="25400">
            <a:spAutoFit/>
          </a:bodyPr>
          <a:lstStyle/>
          <a:p>
            <a:pPr algn="l">
              <a:lnSpc>
                <a:spcPct val="110000"/>
              </a:lnSpc>
              <a:spcAft>
                <a:spcPts val="400"/>
              </a:spcAft>
            </a:pPr>
            <a:r>
              <a:rPr sz="900" b="0">
                <a:solidFill>
                  <a:srgbClr val="5A636E"/>
                </a:solidFill>
                <a:latin typeface="微软雅黑"/>
                <a:ea typeface="微软雅黑"/>
                <a:cs typeface="微软雅黑"/>
              </a:rPr>
              <a:t>复旦大学住房政策研究中心 · 上海市杨浦区科技企业联合会 → 宁波经开区投促局</a:t>
            </a:r>
          </a:p>
        </p:txBody>
      </p:sp>
      <p:sp>
        <p:nvSpPr>
          <p:cNvPr id="23" name="TextBox 22"/>
          <p:cNvSpPr txBox="1"/>
          <p:nvPr/>
        </p:nvSpPr>
        <p:spPr>
          <a:xfrm>
            <a:off x="10881360" y="6473952"/>
            <a:ext cx="1005840" cy="274320"/>
          </a:xfrm>
          <a:prstGeom prst="rect">
            <a:avLst/>
          </a:prstGeom>
          <a:noFill/>
        </p:spPr>
        <p:txBody>
          <a:bodyPr wrap="square" anchor="t" lIns="50800" rIns="50800" tIns="25400" bIns="25400">
            <a:spAutoFit/>
          </a:bodyPr>
          <a:lstStyle/>
          <a:p>
            <a:pPr algn="r">
              <a:lnSpc>
                <a:spcPct val="110000"/>
              </a:lnSpc>
              <a:spcAft>
                <a:spcPts val="400"/>
              </a:spcAft>
            </a:pPr>
            <a:r>
              <a:rPr sz="900" b="0">
                <a:solidFill>
                  <a:srgbClr val="5A636E"/>
                </a:solidFill>
                <a:latin typeface="微软雅黑"/>
                <a:ea typeface="微软雅黑"/>
                <a:cs typeface="微软雅黑"/>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7315200" cy="320040"/>
          </a:xfrm>
          <a:prstGeom prst="rect">
            <a:avLst/>
          </a:prstGeom>
          <a:noFill/>
        </p:spPr>
        <p:txBody>
          <a:bodyPr wrap="square" anchor="t" lIns="50800" rIns="50800" tIns="25400" bIns="25400">
            <a:spAutoFit/>
          </a:bodyPr>
          <a:lstStyle/>
          <a:p>
            <a:pPr algn="l">
              <a:lnSpc>
                <a:spcPct val="110000"/>
              </a:lnSpc>
              <a:spcAft>
                <a:spcPts val="400"/>
              </a:spcAft>
            </a:pPr>
            <a:r>
              <a:rPr sz="1200" b="1">
                <a:solidFill>
                  <a:srgbClr val="C47E1A"/>
                </a:solidFill>
                <a:latin typeface="微软雅黑"/>
                <a:ea typeface="微软雅黑"/>
                <a:cs typeface="微软雅黑"/>
              </a:rPr>
              <a:t>05 时间安排</a:t>
            </a:r>
          </a:p>
        </p:txBody>
      </p:sp>
      <p:sp>
        <p:nvSpPr>
          <p:cNvPr id="5" name="TextBox 4"/>
          <p:cNvSpPr txBox="1"/>
          <p:nvPr/>
        </p:nvSpPr>
        <p:spPr>
          <a:xfrm>
            <a:off x="457200" y="365760"/>
            <a:ext cx="11247120" cy="640080"/>
          </a:xfrm>
          <a:prstGeom prst="rect">
            <a:avLst/>
          </a:prstGeom>
          <a:noFill/>
        </p:spPr>
        <p:txBody>
          <a:bodyPr wrap="square" anchor="t" lIns="50800" rIns="50800" tIns="25400" bIns="25400">
            <a:spAutoFit/>
          </a:bodyPr>
          <a:lstStyle/>
          <a:p>
            <a:pPr algn="l">
              <a:lnSpc>
                <a:spcPct val="110000"/>
              </a:lnSpc>
              <a:spcAft>
                <a:spcPts val="400"/>
              </a:spcAft>
            </a:pPr>
            <a:r>
              <a:rPr sz="2400" b="1">
                <a:solidFill>
                  <a:srgbClr val="FFFFFF"/>
                </a:solidFill>
                <a:latin typeface="微软雅黑"/>
                <a:ea typeface="微软雅黑"/>
                <a:cs typeface="微软雅黑"/>
              </a:rPr>
              <a:t>建议时间窗口：2026年8月至10月（择一两日）</a:t>
            </a:r>
          </a:p>
          <a:p>
            <a:pPr algn="l">
              <a:lnSpc>
                <a:spcPct val="110000"/>
              </a:lnSpc>
              <a:spcAft>
                <a:spcPts val="400"/>
              </a:spcAft>
            </a:pPr>
            <a:r>
              <a:rPr sz="1200" b="0">
                <a:solidFill>
                  <a:srgbClr val="B8CFDC"/>
                </a:solidFill>
                <a:latin typeface="微软雅黑"/>
                <a:ea typeface="微软雅黑"/>
                <a:cs typeface="微软雅黑"/>
              </a:rPr>
              <a:t>最终日期由组织方与接待单位协商确定，建议提前 3–4 周锁定。</a:t>
            </a:r>
          </a:p>
        </p:txBody>
      </p:sp>
      <p:sp>
        <p:nvSpPr>
          <p:cNvPr id="6" name="Rectangle 5"/>
          <p:cNvSpPr/>
          <p:nvPr/>
        </p:nvSpPr>
        <p:spPr>
          <a:xfrm>
            <a:off x="457200" y="1371600"/>
            <a:ext cx="5486400" cy="292608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71600"/>
            <a:ext cx="5486400" cy="635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00200"/>
            <a:ext cx="5029200" cy="2468880"/>
          </a:xfrm>
          <a:prstGeom prst="rect">
            <a:avLst/>
          </a:prstGeom>
          <a:noFill/>
        </p:spPr>
        <p:txBody>
          <a:bodyPr wrap="square" anchor="t" lIns="50800" rIns="50800" tIns="25400" bIns="25400">
            <a:spAutoFit/>
          </a:bodyPr>
          <a:lstStyle/>
          <a:p>
            <a:pPr algn="l">
              <a:lnSpc>
                <a:spcPct val="110000"/>
              </a:lnSpc>
              <a:spcAft>
                <a:spcPts val="800"/>
              </a:spcAft>
            </a:pPr>
            <a:r>
              <a:rPr sz="1600" b="1">
                <a:solidFill>
                  <a:srgbClr val="0B3D5C"/>
                </a:solidFill>
                <a:latin typeface="微软雅黑"/>
                <a:ea typeface="微软雅黑"/>
                <a:cs typeface="微软雅黑"/>
              </a:rPr>
              <a:t>方案 A · 一日精华行</a:t>
            </a:r>
          </a:p>
          <a:p>
            <a:pPr algn="l">
              <a:lnSpc>
                <a:spcPct val="110000"/>
              </a:lnSpc>
              <a:spcAft>
                <a:spcPts val="800"/>
              </a:spcAft>
            </a:pPr>
            <a:r>
              <a:rPr sz="1300" b="1">
                <a:solidFill>
                  <a:srgbClr val="1A6B6B"/>
                </a:solidFill>
                <a:latin typeface="微软雅黑"/>
                <a:ea typeface="微软雅黑"/>
                <a:cs typeface="微软雅黑"/>
              </a:rPr>
              <a:t>工作日一天</a:t>
            </a:r>
          </a:p>
          <a:p>
            <a:pPr algn="l">
              <a:lnSpc>
                <a:spcPct val="110000"/>
              </a:lnSpc>
              <a:spcAft>
                <a:spcPts val="1000"/>
              </a:spcAft>
            </a:pPr>
            <a:r>
              <a:rPr sz="1300" b="0">
                <a:solidFill>
                  <a:srgbClr val="222A33"/>
                </a:solidFill>
                <a:latin typeface="微软雅黑"/>
                <a:ea typeface="微软雅黑"/>
                <a:cs typeface="微软雅黑"/>
              </a:rPr>
              <a:t>适合时间紧张、聚焦港口 + 园区 + 座谈</a:t>
            </a:r>
          </a:p>
          <a:p>
            <a:pPr algn="l">
              <a:lnSpc>
                <a:spcPct val="110000"/>
              </a:lnSpc>
              <a:spcAft>
                <a:spcPts val="400"/>
              </a:spcAft>
            </a:pPr>
            <a:r>
              <a:rPr sz="1200" b="0">
                <a:solidFill>
                  <a:srgbClr val="5A636E"/>
                </a:solidFill>
                <a:latin typeface="微软雅黑"/>
                <a:ea typeface="微软雅黑"/>
                <a:cs typeface="微软雅黑"/>
              </a:rPr>
              <a:t>适合：港口 + 园区 + 政策座谈精华行程</a:t>
            </a:r>
          </a:p>
        </p:txBody>
      </p:sp>
      <p:sp>
        <p:nvSpPr>
          <p:cNvPr id="9" name="Rectangle 8"/>
          <p:cNvSpPr/>
          <p:nvPr/>
        </p:nvSpPr>
        <p:spPr>
          <a:xfrm>
            <a:off x="6217920" y="1371600"/>
            <a:ext cx="5486400" cy="292608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00200"/>
            <a:ext cx="5029200" cy="2468880"/>
          </a:xfrm>
          <a:prstGeom prst="rect">
            <a:avLst/>
          </a:prstGeom>
          <a:noFill/>
        </p:spPr>
        <p:txBody>
          <a:bodyPr wrap="square" anchor="t" lIns="50800" rIns="50800" tIns="25400" bIns="25400">
            <a:spAutoFit/>
          </a:bodyPr>
          <a:lstStyle/>
          <a:p>
            <a:pPr algn="l">
              <a:lnSpc>
                <a:spcPct val="110000"/>
              </a:lnSpc>
              <a:spcAft>
                <a:spcPts val="800"/>
              </a:spcAft>
            </a:pPr>
            <a:r>
              <a:rPr sz="1600" b="1">
                <a:solidFill>
                  <a:srgbClr val="C47E1A"/>
                </a:solidFill>
                <a:latin typeface="微软雅黑"/>
                <a:ea typeface="微软雅黑"/>
                <a:cs typeface="微软雅黑"/>
              </a:rPr>
              <a:t>方案 B · 两日深度行（推荐）</a:t>
            </a:r>
          </a:p>
          <a:p>
            <a:pPr algn="l">
              <a:lnSpc>
                <a:spcPct val="110000"/>
              </a:lnSpc>
              <a:spcAft>
                <a:spcPts val="800"/>
              </a:spcAft>
            </a:pPr>
            <a:r>
              <a:rPr sz="1300" b="1">
                <a:solidFill>
                  <a:srgbClr val="2A8F8F"/>
                </a:solidFill>
                <a:latin typeface="微软雅黑"/>
                <a:ea typeface="微软雅黑"/>
                <a:cs typeface="微软雅黑"/>
              </a:rPr>
              <a:t>连续两日</a:t>
            </a:r>
          </a:p>
          <a:p>
            <a:pPr algn="l">
              <a:lnSpc>
                <a:spcPct val="110000"/>
              </a:lnSpc>
              <a:spcAft>
                <a:spcPts val="1000"/>
              </a:spcAft>
            </a:pPr>
            <a:r>
              <a:rPr sz="1300" b="0">
                <a:solidFill>
                  <a:srgbClr val="FFFFFF"/>
                </a:solidFill>
                <a:latin typeface="微软雅黑"/>
                <a:ea typeface="微软雅黑"/>
                <a:cs typeface="微软雅黑"/>
              </a:rPr>
              <a:t>增加特色企业参访、投洽对接与非正式交流</a:t>
            </a:r>
          </a:p>
          <a:p>
            <a:pPr algn="l">
              <a:lnSpc>
                <a:spcPct val="110000"/>
              </a:lnSpc>
              <a:spcAft>
                <a:spcPts val="400"/>
              </a:spcAft>
            </a:pPr>
            <a:r>
              <a:rPr sz="1200" b="0">
                <a:solidFill>
                  <a:srgbClr val="B8CFDC"/>
                </a:solidFill>
                <a:latin typeface="微软雅黑"/>
                <a:ea typeface="微软雅黑"/>
                <a:cs typeface="微软雅黑"/>
              </a:rPr>
              <a:t>推荐：增加企业深访 + PE/VC·CVC 投洽</a:t>
            </a:r>
          </a:p>
        </p:txBody>
      </p:sp>
      <p:sp>
        <p:nvSpPr>
          <p:cNvPr id="11" name="TextBox 10"/>
          <p:cNvSpPr txBox="1"/>
          <p:nvPr/>
        </p:nvSpPr>
        <p:spPr>
          <a:xfrm>
            <a:off x="457200" y="4572000"/>
            <a:ext cx="11247120" cy="1463040"/>
          </a:xfrm>
          <a:prstGeom prst="rect">
            <a:avLst/>
          </a:prstGeom>
          <a:noFill/>
        </p:spPr>
        <p:txBody>
          <a:bodyPr wrap="square" anchor="t" lIns="50800" rIns="50800" tIns="25400" bIns="25400">
            <a:spAutoFit/>
          </a:bodyPr>
          <a:lstStyle/>
          <a:p>
            <a:pPr algn="l">
              <a:lnSpc>
                <a:spcPct val="110000"/>
              </a:lnSpc>
              <a:spcAft>
                <a:spcPts val="600"/>
              </a:spcAft>
            </a:pPr>
            <a:r>
              <a:rPr sz="1300" b="1">
                <a:solidFill>
                  <a:srgbClr val="1A6B6B"/>
                </a:solidFill>
                <a:latin typeface="微软雅黑"/>
                <a:ea typeface="微软雅黑"/>
                <a:cs typeface="微软雅黑"/>
              </a:rPr>
              <a:t>建议窗口</a:t>
            </a:r>
          </a:p>
          <a:p>
            <a:pPr algn="l">
              <a:lnSpc>
                <a:spcPct val="110000"/>
              </a:lnSpc>
              <a:spcAft>
                <a:spcPts val="500"/>
              </a:spcAft>
            </a:pPr>
            <a:r>
              <a:rPr sz="1200" b="0">
                <a:solidFill>
                  <a:srgbClr val="222A33"/>
                </a:solidFill>
                <a:latin typeface="微软雅黑"/>
                <a:ea typeface="微软雅黑"/>
                <a:cs typeface="微软雅黑"/>
              </a:rPr>
              <a:t>· 8月下旬：暑期收尾、企业负责人相对灵活</a:t>
            </a:r>
          </a:p>
          <a:p>
            <a:pPr algn="l">
              <a:lnSpc>
                <a:spcPct val="110000"/>
              </a:lnSpc>
              <a:spcAft>
                <a:spcPts val="500"/>
              </a:spcAft>
            </a:pPr>
            <a:r>
              <a:rPr sz="1200" b="0">
                <a:solidFill>
                  <a:srgbClr val="222A33"/>
                </a:solidFill>
                <a:latin typeface="微软雅黑"/>
                <a:ea typeface="微软雅黑"/>
                <a:cs typeface="微软雅黑"/>
              </a:rPr>
              <a:t>· 9月中下旬：避开开学高峰后的稳定窗口</a:t>
            </a:r>
          </a:p>
          <a:p>
            <a:pPr algn="l">
              <a:lnSpc>
                <a:spcPct val="110000"/>
              </a:lnSpc>
              <a:spcAft>
                <a:spcPts val="500"/>
              </a:spcAft>
            </a:pPr>
            <a:r>
              <a:rPr sz="1200" b="0">
                <a:solidFill>
                  <a:srgbClr val="222A33"/>
                </a:solidFill>
                <a:latin typeface="微软雅黑"/>
                <a:ea typeface="微软雅黑"/>
                <a:cs typeface="微软雅黑"/>
              </a:rPr>
              <a:t>· 10月中上旬：国庆后、适合深度对接与回访安排</a:t>
            </a:r>
          </a:p>
        </p:txBody>
      </p:sp>
      <p:sp>
        <p:nvSpPr>
          <p:cNvPr id="12" name="TextBox 11"/>
          <p:cNvSpPr txBox="1"/>
          <p:nvPr/>
        </p:nvSpPr>
        <p:spPr>
          <a:xfrm>
            <a:off x="457200" y="6473952"/>
            <a:ext cx="9144000" cy="274320"/>
          </a:xfrm>
          <a:prstGeom prst="rect">
            <a:avLst/>
          </a:prstGeom>
          <a:noFill/>
        </p:spPr>
        <p:txBody>
          <a:bodyPr wrap="square" anchor="t" lIns="50800" rIns="50800" tIns="25400" bIns="25400">
            <a:spAutoFit/>
          </a:bodyPr>
          <a:lstStyle/>
          <a:p>
            <a:pPr algn="l">
              <a:lnSpc>
                <a:spcPct val="110000"/>
              </a:lnSpc>
              <a:spcAft>
                <a:spcPts val="400"/>
              </a:spcAft>
            </a:pPr>
            <a:r>
              <a:rPr sz="900" b="0">
                <a:solidFill>
                  <a:srgbClr val="5A636E"/>
                </a:solidFill>
                <a:latin typeface="微软雅黑"/>
                <a:ea typeface="微软雅黑"/>
                <a:cs typeface="微软雅黑"/>
              </a:rPr>
              <a:t>复旦大学住房政策研究中心 · 上海市杨浦区科技企业联合会 → 宁波经开区投促局</a:t>
            </a:r>
          </a:p>
        </p:txBody>
      </p:sp>
      <p:sp>
        <p:nvSpPr>
          <p:cNvPr id="13" name="TextBox 12"/>
          <p:cNvSpPr txBox="1"/>
          <p:nvPr/>
        </p:nvSpPr>
        <p:spPr>
          <a:xfrm>
            <a:off x="10881360" y="6473952"/>
            <a:ext cx="1005840" cy="274320"/>
          </a:xfrm>
          <a:prstGeom prst="rect">
            <a:avLst/>
          </a:prstGeom>
          <a:noFill/>
        </p:spPr>
        <p:txBody>
          <a:bodyPr wrap="square" anchor="t" lIns="50800" rIns="50800" tIns="25400" bIns="25400">
            <a:spAutoFit/>
          </a:bodyPr>
          <a:lstStyle/>
          <a:p>
            <a:pPr algn="r">
              <a:lnSpc>
                <a:spcPct val="110000"/>
              </a:lnSpc>
              <a:spcAft>
                <a:spcPts val="400"/>
              </a:spcAft>
            </a:pPr>
            <a:r>
              <a:rPr sz="900" b="0">
                <a:solidFill>
                  <a:srgbClr val="5A636E"/>
                </a:solidFill>
                <a:latin typeface="微软雅黑"/>
                <a:ea typeface="微软雅黑"/>
                <a:cs typeface="微软雅黑"/>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7315200" cy="320040"/>
          </a:xfrm>
          <a:prstGeom prst="rect">
            <a:avLst/>
          </a:prstGeom>
          <a:noFill/>
        </p:spPr>
        <p:txBody>
          <a:bodyPr wrap="square" anchor="t" lIns="50800" rIns="50800" tIns="25400" bIns="25400">
            <a:spAutoFit/>
          </a:bodyPr>
          <a:lstStyle/>
          <a:p>
            <a:pPr algn="l">
              <a:lnSpc>
                <a:spcPct val="110000"/>
              </a:lnSpc>
              <a:spcAft>
                <a:spcPts val="400"/>
              </a:spcAft>
            </a:pPr>
            <a:r>
              <a:rPr sz="1200" b="1">
                <a:solidFill>
                  <a:srgbClr val="C47E1A"/>
                </a:solidFill>
                <a:latin typeface="微软雅黑"/>
                <a:ea typeface="微软雅黑"/>
                <a:cs typeface="微软雅黑"/>
              </a:rPr>
              <a:t>05 行程 · 第一日</a:t>
            </a:r>
          </a:p>
        </p:txBody>
      </p:sp>
      <p:sp>
        <p:nvSpPr>
          <p:cNvPr id="5" name="TextBox 4"/>
          <p:cNvSpPr txBox="1"/>
          <p:nvPr/>
        </p:nvSpPr>
        <p:spPr>
          <a:xfrm>
            <a:off x="457200" y="365760"/>
            <a:ext cx="11247120" cy="640080"/>
          </a:xfrm>
          <a:prstGeom prst="rect">
            <a:avLst/>
          </a:prstGeom>
          <a:noFill/>
        </p:spPr>
        <p:txBody>
          <a:bodyPr wrap="square" anchor="t" lIns="50800" rIns="50800" tIns="25400" bIns="25400">
            <a:spAutoFit/>
          </a:bodyPr>
          <a:lstStyle/>
          <a:p>
            <a:pPr algn="l">
              <a:lnSpc>
                <a:spcPct val="110000"/>
              </a:lnSpc>
              <a:spcAft>
                <a:spcPts val="400"/>
              </a:spcAft>
            </a:pPr>
            <a:r>
              <a:rPr sz="2400" b="1">
                <a:solidFill>
                  <a:srgbClr val="FFFFFF"/>
                </a:solidFill>
                <a:latin typeface="微软雅黑"/>
                <a:ea typeface="微软雅黑"/>
                <a:cs typeface="微软雅黑"/>
              </a:rPr>
              <a:t>精华行程（一日行至此结束）</a:t>
            </a:r>
          </a:p>
          <a:p>
            <a:pPr algn="l">
              <a:lnSpc>
                <a:spcPct val="110000"/>
              </a:lnSpc>
              <a:spcAft>
                <a:spcPts val="400"/>
              </a:spcAft>
            </a:pPr>
            <a:r>
              <a:rPr sz="1200" b="0">
                <a:solidFill>
                  <a:srgbClr val="B8CFDC"/>
                </a:solidFill>
                <a:latin typeface="微软雅黑"/>
                <a:ea typeface="微软雅黑"/>
                <a:cs typeface="微软雅黑"/>
              </a:rPr>
              <a:t>具体点位可与贵局协商微调</a:t>
            </a:r>
          </a:p>
        </p:txBody>
      </p:sp>
      <p:sp>
        <p:nvSpPr>
          <p:cNvPr id="6" name="Rectangle 5"/>
          <p:cNvSpPr/>
          <p:nvPr/>
        </p:nvSpPr>
        <p:spPr>
          <a:xfrm>
            <a:off x="411480" y="1234440"/>
            <a:ext cx="11338560" cy="530352"/>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07592"/>
            <a:ext cx="2103120" cy="384048"/>
          </a:xfrm>
          <a:prstGeom prst="rect">
            <a:avLst/>
          </a:prstGeom>
          <a:noFill/>
        </p:spPr>
        <p:txBody>
          <a:bodyPr wrap="square" anchor="ctr" lIns="50800" rIns="50800" tIns="25400" bIns="25400">
            <a:spAutoFit/>
          </a:bodyPr>
          <a:lstStyle/>
          <a:p>
            <a:pPr algn="l">
              <a:lnSpc>
                <a:spcPct val="110000"/>
              </a:lnSpc>
              <a:spcAft>
                <a:spcPts val="400"/>
              </a:spcAft>
            </a:pPr>
            <a:r>
              <a:rPr sz="1100" b="1">
                <a:solidFill>
                  <a:srgbClr val="1A6B6B"/>
                </a:solidFill>
                <a:latin typeface="微软雅黑"/>
                <a:ea typeface="微软雅黑"/>
                <a:cs typeface="微软雅黑"/>
              </a:rPr>
              <a:t>08:30–10:30</a:t>
            </a:r>
          </a:p>
        </p:txBody>
      </p:sp>
      <p:sp>
        <p:nvSpPr>
          <p:cNvPr id="8" name="TextBox 7"/>
          <p:cNvSpPr txBox="1"/>
          <p:nvPr/>
        </p:nvSpPr>
        <p:spPr>
          <a:xfrm>
            <a:off x="2651760" y="1307592"/>
            <a:ext cx="3657600" cy="384048"/>
          </a:xfrm>
          <a:prstGeom prst="rect">
            <a:avLst/>
          </a:prstGeom>
          <a:noFill/>
        </p:spPr>
        <p:txBody>
          <a:bodyPr wrap="square" anchor="ctr" lIns="50800" rIns="50800" tIns="25400" bIns="25400">
            <a:spAutoFit/>
          </a:bodyPr>
          <a:lstStyle/>
          <a:p>
            <a:pPr algn="l">
              <a:lnSpc>
                <a:spcPct val="110000"/>
              </a:lnSpc>
              <a:spcAft>
                <a:spcPts val="400"/>
              </a:spcAft>
            </a:pPr>
            <a:r>
              <a:rPr sz="1200" b="1">
                <a:solidFill>
                  <a:srgbClr val="0B3D5C"/>
                </a:solidFill>
                <a:latin typeface="微软雅黑"/>
                <a:ea typeface="微软雅黑"/>
                <a:cs typeface="微软雅黑"/>
              </a:rPr>
              <a:t>上海出发 → 宁波经开区</a:t>
            </a:r>
          </a:p>
        </p:txBody>
      </p:sp>
      <p:sp>
        <p:nvSpPr>
          <p:cNvPr id="9" name="TextBox 8"/>
          <p:cNvSpPr txBox="1"/>
          <p:nvPr/>
        </p:nvSpPr>
        <p:spPr>
          <a:xfrm>
            <a:off x="6400800" y="1307592"/>
            <a:ext cx="5120640" cy="384048"/>
          </a:xfrm>
          <a:prstGeom prst="rect">
            <a:avLst/>
          </a:prstGeom>
          <a:noFill/>
        </p:spPr>
        <p:txBody>
          <a:bodyPr wrap="square" anchor="ctr" lIns="50800" rIns="50800" tIns="25400" bIns="25400">
            <a:spAutoFit/>
          </a:bodyPr>
          <a:lstStyle/>
          <a:p>
            <a:pPr algn="l">
              <a:lnSpc>
                <a:spcPct val="110000"/>
              </a:lnSpc>
              <a:spcAft>
                <a:spcPts val="400"/>
              </a:spcAft>
            </a:pPr>
            <a:r>
              <a:rPr sz="1100" b="0">
                <a:solidFill>
                  <a:srgbClr val="5A636E"/>
                </a:solidFill>
                <a:latin typeface="微软雅黑"/>
                <a:ea typeface="微软雅黑"/>
                <a:cs typeface="微软雅黑"/>
              </a:rPr>
              <a:t>高铁 / 大巴，统一集合</a:t>
            </a:r>
          </a:p>
        </p:txBody>
      </p:sp>
      <p:sp>
        <p:nvSpPr>
          <p:cNvPr id="10" name="Rectangle 9"/>
          <p:cNvSpPr/>
          <p:nvPr/>
        </p:nvSpPr>
        <p:spPr>
          <a:xfrm>
            <a:off x="411480" y="1828800"/>
            <a:ext cx="1133856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901952"/>
            <a:ext cx="2103120" cy="384048"/>
          </a:xfrm>
          <a:prstGeom prst="rect">
            <a:avLst/>
          </a:prstGeom>
          <a:noFill/>
        </p:spPr>
        <p:txBody>
          <a:bodyPr wrap="square" anchor="ctr" lIns="50800" rIns="50800" tIns="25400" bIns="25400">
            <a:spAutoFit/>
          </a:bodyPr>
          <a:lstStyle/>
          <a:p>
            <a:pPr algn="l">
              <a:lnSpc>
                <a:spcPct val="110000"/>
              </a:lnSpc>
              <a:spcAft>
                <a:spcPts val="400"/>
              </a:spcAft>
            </a:pPr>
            <a:r>
              <a:rPr sz="1100" b="1">
                <a:solidFill>
                  <a:srgbClr val="1A6B6B"/>
                </a:solidFill>
                <a:latin typeface="微软雅黑"/>
                <a:ea typeface="微软雅黑"/>
                <a:cs typeface="微软雅黑"/>
              </a:rPr>
              <a:t>10:30–11:00</a:t>
            </a:r>
          </a:p>
        </p:txBody>
      </p:sp>
      <p:sp>
        <p:nvSpPr>
          <p:cNvPr id="12" name="TextBox 11"/>
          <p:cNvSpPr txBox="1"/>
          <p:nvPr/>
        </p:nvSpPr>
        <p:spPr>
          <a:xfrm>
            <a:off x="2651760" y="1901952"/>
            <a:ext cx="3657600" cy="384048"/>
          </a:xfrm>
          <a:prstGeom prst="rect">
            <a:avLst/>
          </a:prstGeom>
          <a:noFill/>
        </p:spPr>
        <p:txBody>
          <a:bodyPr wrap="square" anchor="ctr" lIns="50800" rIns="50800" tIns="25400" bIns="25400">
            <a:spAutoFit/>
          </a:bodyPr>
          <a:lstStyle/>
          <a:p>
            <a:pPr algn="l">
              <a:lnSpc>
                <a:spcPct val="110000"/>
              </a:lnSpc>
              <a:spcAft>
                <a:spcPts val="400"/>
              </a:spcAft>
            </a:pPr>
            <a:r>
              <a:rPr sz="1200" b="1">
                <a:solidFill>
                  <a:srgbClr val="0B3D5C"/>
                </a:solidFill>
                <a:latin typeface="微软雅黑"/>
                <a:ea typeface="微软雅黑"/>
                <a:cs typeface="微软雅黑"/>
              </a:rPr>
              <a:t>抵达 · 简短欢迎</a:t>
            </a:r>
          </a:p>
        </p:txBody>
      </p:sp>
      <p:sp>
        <p:nvSpPr>
          <p:cNvPr id="13" name="TextBox 12"/>
          <p:cNvSpPr txBox="1"/>
          <p:nvPr/>
        </p:nvSpPr>
        <p:spPr>
          <a:xfrm>
            <a:off x="6400800" y="1901952"/>
            <a:ext cx="5120640" cy="384048"/>
          </a:xfrm>
          <a:prstGeom prst="rect">
            <a:avLst/>
          </a:prstGeom>
          <a:noFill/>
        </p:spPr>
        <p:txBody>
          <a:bodyPr wrap="square" anchor="ctr" lIns="50800" rIns="50800" tIns="25400" bIns="25400">
            <a:spAutoFit/>
          </a:bodyPr>
          <a:lstStyle/>
          <a:p>
            <a:pPr algn="l">
              <a:lnSpc>
                <a:spcPct val="110000"/>
              </a:lnSpc>
              <a:spcAft>
                <a:spcPts val="400"/>
              </a:spcAft>
            </a:pPr>
            <a:r>
              <a:rPr sz="1100" b="0">
                <a:solidFill>
                  <a:srgbClr val="5A636E"/>
                </a:solidFill>
                <a:latin typeface="微软雅黑"/>
                <a:ea typeface="微软雅黑"/>
                <a:cs typeface="微软雅黑"/>
              </a:rPr>
              <a:t>接待单位致辞，发放手册与日程</a:t>
            </a:r>
          </a:p>
        </p:txBody>
      </p:sp>
      <p:sp>
        <p:nvSpPr>
          <p:cNvPr id="14" name="Rectangle 13"/>
          <p:cNvSpPr/>
          <p:nvPr/>
        </p:nvSpPr>
        <p:spPr>
          <a:xfrm>
            <a:off x="411480" y="2423160"/>
            <a:ext cx="11338560" cy="530352"/>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2496312"/>
            <a:ext cx="2103120" cy="384048"/>
          </a:xfrm>
          <a:prstGeom prst="rect">
            <a:avLst/>
          </a:prstGeom>
          <a:noFill/>
        </p:spPr>
        <p:txBody>
          <a:bodyPr wrap="square" anchor="ctr" lIns="50800" rIns="50800" tIns="25400" bIns="25400">
            <a:spAutoFit/>
          </a:bodyPr>
          <a:lstStyle/>
          <a:p>
            <a:pPr algn="l">
              <a:lnSpc>
                <a:spcPct val="110000"/>
              </a:lnSpc>
              <a:spcAft>
                <a:spcPts val="400"/>
              </a:spcAft>
            </a:pPr>
            <a:r>
              <a:rPr sz="1100" b="1">
                <a:solidFill>
                  <a:srgbClr val="1A6B6B"/>
                </a:solidFill>
                <a:latin typeface="微软雅黑"/>
                <a:ea typeface="微软雅黑"/>
                <a:cs typeface="微软雅黑"/>
              </a:rPr>
              <a:t>11:00–12:00</a:t>
            </a:r>
          </a:p>
        </p:txBody>
      </p:sp>
      <p:sp>
        <p:nvSpPr>
          <p:cNvPr id="16" name="TextBox 15"/>
          <p:cNvSpPr txBox="1"/>
          <p:nvPr/>
        </p:nvSpPr>
        <p:spPr>
          <a:xfrm>
            <a:off x="2651760" y="2496312"/>
            <a:ext cx="3657600" cy="384048"/>
          </a:xfrm>
          <a:prstGeom prst="rect">
            <a:avLst/>
          </a:prstGeom>
          <a:noFill/>
        </p:spPr>
        <p:txBody>
          <a:bodyPr wrap="square" anchor="ctr" lIns="50800" rIns="50800" tIns="25400" bIns="25400">
            <a:spAutoFit/>
          </a:bodyPr>
          <a:lstStyle/>
          <a:p>
            <a:pPr algn="l">
              <a:lnSpc>
                <a:spcPct val="110000"/>
              </a:lnSpc>
              <a:spcAft>
                <a:spcPts val="400"/>
              </a:spcAft>
            </a:pPr>
            <a:r>
              <a:rPr sz="1200" b="1">
                <a:solidFill>
                  <a:srgbClr val="0B3D5C"/>
                </a:solidFill>
                <a:latin typeface="微软雅黑"/>
                <a:ea typeface="微软雅黑"/>
                <a:cs typeface="微软雅黑"/>
              </a:rPr>
              <a:t>开发区概况与招商政策介绍</a:t>
            </a:r>
          </a:p>
        </p:txBody>
      </p:sp>
      <p:sp>
        <p:nvSpPr>
          <p:cNvPr id="17" name="TextBox 16"/>
          <p:cNvSpPr txBox="1"/>
          <p:nvPr/>
        </p:nvSpPr>
        <p:spPr>
          <a:xfrm>
            <a:off x="6400800" y="2496312"/>
            <a:ext cx="5120640" cy="384048"/>
          </a:xfrm>
          <a:prstGeom prst="rect">
            <a:avLst/>
          </a:prstGeom>
          <a:noFill/>
        </p:spPr>
        <p:txBody>
          <a:bodyPr wrap="square" anchor="ctr" lIns="50800" rIns="50800" tIns="25400" bIns="25400">
            <a:spAutoFit/>
          </a:bodyPr>
          <a:lstStyle/>
          <a:p>
            <a:pPr algn="l">
              <a:lnSpc>
                <a:spcPct val="110000"/>
              </a:lnSpc>
              <a:spcAft>
                <a:spcPts val="400"/>
              </a:spcAft>
            </a:pPr>
            <a:r>
              <a:rPr sz="1100" b="0">
                <a:solidFill>
                  <a:srgbClr val="5A636E"/>
                </a:solidFill>
                <a:latin typeface="微软雅黑"/>
                <a:ea typeface="微软雅黑"/>
                <a:cs typeface="微软雅黑"/>
              </a:rPr>
              <a:t>主导产业、载体资源、支持政策宣讲</a:t>
            </a:r>
          </a:p>
        </p:txBody>
      </p:sp>
      <p:sp>
        <p:nvSpPr>
          <p:cNvPr id="18" name="Rectangle 17"/>
          <p:cNvSpPr/>
          <p:nvPr/>
        </p:nvSpPr>
        <p:spPr>
          <a:xfrm>
            <a:off x="411480" y="3017520"/>
            <a:ext cx="1133856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3090672"/>
            <a:ext cx="2103120" cy="384048"/>
          </a:xfrm>
          <a:prstGeom prst="rect">
            <a:avLst/>
          </a:prstGeom>
          <a:noFill/>
        </p:spPr>
        <p:txBody>
          <a:bodyPr wrap="square" anchor="ctr" lIns="50800" rIns="50800" tIns="25400" bIns="25400">
            <a:spAutoFit/>
          </a:bodyPr>
          <a:lstStyle/>
          <a:p>
            <a:pPr algn="l">
              <a:lnSpc>
                <a:spcPct val="110000"/>
              </a:lnSpc>
              <a:spcAft>
                <a:spcPts val="400"/>
              </a:spcAft>
            </a:pPr>
            <a:r>
              <a:rPr sz="1100" b="1">
                <a:solidFill>
                  <a:srgbClr val="1A6B6B"/>
                </a:solidFill>
                <a:latin typeface="微软雅黑"/>
                <a:ea typeface="微软雅黑"/>
                <a:cs typeface="微软雅黑"/>
              </a:rPr>
              <a:t>12:00–13:30</a:t>
            </a:r>
          </a:p>
        </p:txBody>
      </p:sp>
      <p:sp>
        <p:nvSpPr>
          <p:cNvPr id="20" name="TextBox 19"/>
          <p:cNvSpPr txBox="1"/>
          <p:nvPr/>
        </p:nvSpPr>
        <p:spPr>
          <a:xfrm>
            <a:off x="2651760" y="3090672"/>
            <a:ext cx="3657600" cy="384048"/>
          </a:xfrm>
          <a:prstGeom prst="rect">
            <a:avLst/>
          </a:prstGeom>
          <a:noFill/>
        </p:spPr>
        <p:txBody>
          <a:bodyPr wrap="square" anchor="ctr" lIns="50800" rIns="50800" tIns="25400" bIns="25400">
            <a:spAutoFit/>
          </a:bodyPr>
          <a:lstStyle/>
          <a:p>
            <a:pPr algn="l">
              <a:lnSpc>
                <a:spcPct val="110000"/>
              </a:lnSpc>
              <a:spcAft>
                <a:spcPts val="400"/>
              </a:spcAft>
            </a:pPr>
            <a:r>
              <a:rPr sz="1200" b="1">
                <a:solidFill>
                  <a:srgbClr val="0B3D5C"/>
                </a:solidFill>
                <a:latin typeface="微软雅黑"/>
                <a:ea typeface="微软雅黑"/>
                <a:cs typeface="微软雅黑"/>
              </a:rPr>
              <a:t>工作午餐</a:t>
            </a:r>
          </a:p>
        </p:txBody>
      </p:sp>
      <p:sp>
        <p:nvSpPr>
          <p:cNvPr id="21" name="TextBox 20"/>
          <p:cNvSpPr txBox="1"/>
          <p:nvPr/>
        </p:nvSpPr>
        <p:spPr>
          <a:xfrm>
            <a:off x="6400800" y="3090672"/>
            <a:ext cx="5120640" cy="384048"/>
          </a:xfrm>
          <a:prstGeom prst="rect">
            <a:avLst/>
          </a:prstGeom>
          <a:noFill/>
        </p:spPr>
        <p:txBody>
          <a:bodyPr wrap="square" anchor="ctr" lIns="50800" rIns="50800" tIns="25400" bIns="25400">
            <a:spAutoFit/>
          </a:bodyPr>
          <a:lstStyle/>
          <a:p>
            <a:pPr algn="l">
              <a:lnSpc>
                <a:spcPct val="110000"/>
              </a:lnSpc>
              <a:spcAft>
                <a:spcPts val="400"/>
              </a:spcAft>
            </a:pPr>
            <a:r>
              <a:rPr sz="1100" b="0">
                <a:solidFill>
                  <a:srgbClr val="5A636E"/>
                </a:solidFill>
                <a:latin typeface="微软雅黑"/>
                <a:ea typeface="微软雅黑"/>
                <a:cs typeface="微软雅黑"/>
              </a:rPr>
              <a:t>与投促干部、企业代表交流</a:t>
            </a:r>
          </a:p>
        </p:txBody>
      </p:sp>
      <p:sp>
        <p:nvSpPr>
          <p:cNvPr id="22" name="Rectangle 21"/>
          <p:cNvSpPr/>
          <p:nvPr/>
        </p:nvSpPr>
        <p:spPr>
          <a:xfrm>
            <a:off x="411480" y="3611880"/>
            <a:ext cx="11338560" cy="530352"/>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3685032"/>
            <a:ext cx="2103120" cy="384048"/>
          </a:xfrm>
          <a:prstGeom prst="rect">
            <a:avLst/>
          </a:prstGeom>
          <a:noFill/>
        </p:spPr>
        <p:txBody>
          <a:bodyPr wrap="square" anchor="ctr" lIns="50800" rIns="50800" tIns="25400" bIns="25400">
            <a:spAutoFit/>
          </a:bodyPr>
          <a:lstStyle/>
          <a:p>
            <a:pPr algn="l">
              <a:lnSpc>
                <a:spcPct val="110000"/>
              </a:lnSpc>
              <a:spcAft>
                <a:spcPts val="400"/>
              </a:spcAft>
            </a:pPr>
            <a:r>
              <a:rPr sz="1100" b="1">
                <a:solidFill>
                  <a:srgbClr val="1A6B6B"/>
                </a:solidFill>
                <a:latin typeface="微软雅黑"/>
                <a:ea typeface="微软雅黑"/>
                <a:cs typeface="微软雅黑"/>
              </a:rPr>
              <a:t>13:30–15:30</a:t>
            </a:r>
          </a:p>
        </p:txBody>
      </p:sp>
      <p:sp>
        <p:nvSpPr>
          <p:cNvPr id="24" name="TextBox 23"/>
          <p:cNvSpPr txBox="1"/>
          <p:nvPr/>
        </p:nvSpPr>
        <p:spPr>
          <a:xfrm>
            <a:off x="2651760" y="3685032"/>
            <a:ext cx="3657600" cy="384048"/>
          </a:xfrm>
          <a:prstGeom prst="rect">
            <a:avLst/>
          </a:prstGeom>
          <a:noFill/>
        </p:spPr>
        <p:txBody>
          <a:bodyPr wrap="square" anchor="ctr" lIns="50800" rIns="50800" tIns="25400" bIns="25400">
            <a:spAutoFit/>
          </a:bodyPr>
          <a:lstStyle/>
          <a:p>
            <a:pPr algn="l">
              <a:lnSpc>
                <a:spcPct val="110000"/>
              </a:lnSpc>
              <a:spcAft>
                <a:spcPts val="400"/>
              </a:spcAft>
            </a:pPr>
            <a:r>
              <a:rPr sz="1200" b="1">
                <a:solidFill>
                  <a:srgbClr val="0B3D5C"/>
                </a:solidFill>
                <a:latin typeface="微软雅黑"/>
                <a:ea typeface="微软雅黑"/>
                <a:cs typeface="微软雅黑"/>
              </a:rPr>
              <a:t>宁波港 / 临港片区参访</a:t>
            </a:r>
          </a:p>
        </p:txBody>
      </p:sp>
      <p:sp>
        <p:nvSpPr>
          <p:cNvPr id="25" name="TextBox 24"/>
          <p:cNvSpPr txBox="1"/>
          <p:nvPr/>
        </p:nvSpPr>
        <p:spPr>
          <a:xfrm>
            <a:off x="6400800" y="3685032"/>
            <a:ext cx="5120640" cy="384048"/>
          </a:xfrm>
          <a:prstGeom prst="rect">
            <a:avLst/>
          </a:prstGeom>
          <a:noFill/>
        </p:spPr>
        <p:txBody>
          <a:bodyPr wrap="square" anchor="ctr" lIns="50800" rIns="50800" tIns="25400" bIns="25400">
            <a:spAutoFit/>
          </a:bodyPr>
          <a:lstStyle/>
          <a:p>
            <a:pPr algn="l">
              <a:lnSpc>
                <a:spcPct val="110000"/>
              </a:lnSpc>
              <a:spcAft>
                <a:spcPts val="400"/>
              </a:spcAft>
            </a:pPr>
            <a:r>
              <a:rPr sz="1100" b="0">
                <a:solidFill>
                  <a:srgbClr val="5A636E"/>
                </a:solidFill>
                <a:latin typeface="微软雅黑"/>
                <a:ea typeface="微软雅黑"/>
                <a:cs typeface="微软雅黑"/>
              </a:rPr>
              <a:t>港口枢纽、物流与临港产业现场讲解</a:t>
            </a:r>
          </a:p>
        </p:txBody>
      </p:sp>
      <p:sp>
        <p:nvSpPr>
          <p:cNvPr id="26" name="Rectangle 25"/>
          <p:cNvSpPr/>
          <p:nvPr/>
        </p:nvSpPr>
        <p:spPr>
          <a:xfrm>
            <a:off x="411480" y="4206240"/>
            <a:ext cx="1133856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4279392"/>
            <a:ext cx="2103120" cy="384048"/>
          </a:xfrm>
          <a:prstGeom prst="rect">
            <a:avLst/>
          </a:prstGeom>
          <a:noFill/>
        </p:spPr>
        <p:txBody>
          <a:bodyPr wrap="square" anchor="ctr" lIns="50800" rIns="50800" tIns="25400" bIns="25400">
            <a:spAutoFit/>
          </a:bodyPr>
          <a:lstStyle/>
          <a:p>
            <a:pPr algn="l">
              <a:lnSpc>
                <a:spcPct val="110000"/>
              </a:lnSpc>
              <a:spcAft>
                <a:spcPts val="400"/>
              </a:spcAft>
            </a:pPr>
            <a:r>
              <a:rPr sz="1100" b="1">
                <a:solidFill>
                  <a:srgbClr val="1A6B6B"/>
                </a:solidFill>
                <a:latin typeface="微软雅黑"/>
                <a:ea typeface="微软雅黑"/>
                <a:cs typeface="微软雅黑"/>
              </a:rPr>
              <a:t>15:45–17:15</a:t>
            </a:r>
          </a:p>
        </p:txBody>
      </p:sp>
      <p:sp>
        <p:nvSpPr>
          <p:cNvPr id="28" name="TextBox 27"/>
          <p:cNvSpPr txBox="1"/>
          <p:nvPr/>
        </p:nvSpPr>
        <p:spPr>
          <a:xfrm>
            <a:off x="2651760" y="4279392"/>
            <a:ext cx="3657600" cy="384048"/>
          </a:xfrm>
          <a:prstGeom prst="rect">
            <a:avLst/>
          </a:prstGeom>
          <a:noFill/>
        </p:spPr>
        <p:txBody>
          <a:bodyPr wrap="square" anchor="ctr" lIns="50800" rIns="50800" tIns="25400" bIns="25400">
            <a:spAutoFit/>
          </a:bodyPr>
          <a:lstStyle/>
          <a:p>
            <a:pPr algn="l">
              <a:lnSpc>
                <a:spcPct val="110000"/>
              </a:lnSpc>
              <a:spcAft>
                <a:spcPts val="400"/>
              </a:spcAft>
            </a:pPr>
            <a:r>
              <a:rPr sz="1200" b="1">
                <a:solidFill>
                  <a:srgbClr val="0B3D5C"/>
                </a:solidFill>
                <a:latin typeface="微软雅黑"/>
                <a:ea typeface="微软雅黑"/>
                <a:cs typeface="微软雅黑"/>
              </a:rPr>
              <a:t>特色企业 / 科技园区参访</a:t>
            </a:r>
          </a:p>
        </p:txBody>
      </p:sp>
      <p:sp>
        <p:nvSpPr>
          <p:cNvPr id="29" name="TextBox 28"/>
          <p:cNvSpPr txBox="1"/>
          <p:nvPr/>
        </p:nvSpPr>
        <p:spPr>
          <a:xfrm>
            <a:off x="6400800" y="4279392"/>
            <a:ext cx="5120640" cy="384048"/>
          </a:xfrm>
          <a:prstGeom prst="rect">
            <a:avLst/>
          </a:prstGeom>
          <a:noFill/>
        </p:spPr>
        <p:txBody>
          <a:bodyPr wrap="square" anchor="ctr" lIns="50800" rIns="50800" tIns="25400" bIns="25400">
            <a:spAutoFit/>
          </a:bodyPr>
          <a:lstStyle/>
          <a:p>
            <a:pPr algn="l">
              <a:lnSpc>
                <a:spcPct val="110000"/>
              </a:lnSpc>
              <a:spcAft>
                <a:spcPts val="400"/>
              </a:spcAft>
            </a:pPr>
            <a:r>
              <a:rPr sz="1100" b="0">
                <a:solidFill>
                  <a:srgbClr val="5A636E"/>
                </a:solidFill>
                <a:latin typeface="微软雅黑"/>
                <a:ea typeface="微软雅黑"/>
                <a:cs typeface="微软雅黑"/>
              </a:rPr>
              <a:t>先进制造、新材料或数字经济标杆企业</a:t>
            </a:r>
          </a:p>
        </p:txBody>
      </p:sp>
      <p:sp>
        <p:nvSpPr>
          <p:cNvPr id="30" name="Rectangle 29"/>
          <p:cNvSpPr/>
          <p:nvPr/>
        </p:nvSpPr>
        <p:spPr>
          <a:xfrm>
            <a:off x="411480" y="4800600"/>
            <a:ext cx="11338560" cy="530352"/>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4873752"/>
            <a:ext cx="2103120" cy="384048"/>
          </a:xfrm>
          <a:prstGeom prst="rect">
            <a:avLst/>
          </a:prstGeom>
          <a:noFill/>
        </p:spPr>
        <p:txBody>
          <a:bodyPr wrap="square" anchor="ctr" lIns="50800" rIns="50800" tIns="25400" bIns="25400">
            <a:spAutoFit/>
          </a:bodyPr>
          <a:lstStyle/>
          <a:p>
            <a:pPr algn="l">
              <a:lnSpc>
                <a:spcPct val="110000"/>
              </a:lnSpc>
              <a:spcAft>
                <a:spcPts val="400"/>
              </a:spcAft>
            </a:pPr>
            <a:r>
              <a:rPr sz="1100" b="1">
                <a:solidFill>
                  <a:srgbClr val="1A6B6B"/>
                </a:solidFill>
                <a:latin typeface="微软雅黑"/>
                <a:ea typeface="微软雅黑"/>
                <a:cs typeface="微软雅黑"/>
              </a:rPr>
              <a:t>17:30–18:30</a:t>
            </a:r>
          </a:p>
        </p:txBody>
      </p:sp>
      <p:sp>
        <p:nvSpPr>
          <p:cNvPr id="32" name="TextBox 31"/>
          <p:cNvSpPr txBox="1"/>
          <p:nvPr/>
        </p:nvSpPr>
        <p:spPr>
          <a:xfrm>
            <a:off x="2651760" y="4873752"/>
            <a:ext cx="3657600" cy="384048"/>
          </a:xfrm>
          <a:prstGeom prst="rect">
            <a:avLst/>
          </a:prstGeom>
          <a:noFill/>
        </p:spPr>
        <p:txBody>
          <a:bodyPr wrap="square" anchor="ctr" lIns="50800" rIns="50800" tIns="25400" bIns="25400">
            <a:spAutoFit/>
          </a:bodyPr>
          <a:lstStyle/>
          <a:p>
            <a:pPr algn="l">
              <a:lnSpc>
                <a:spcPct val="110000"/>
              </a:lnSpc>
              <a:spcAft>
                <a:spcPts val="400"/>
              </a:spcAft>
            </a:pPr>
            <a:r>
              <a:rPr sz="1200" b="1">
                <a:solidFill>
                  <a:srgbClr val="0B3D5C"/>
                </a:solidFill>
                <a:latin typeface="微软雅黑"/>
                <a:ea typeface="微软雅黑"/>
                <a:cs typeface="微软雅黑"/>
              </a:rPr>
              <a:t>座谈交流 · 合作意向对接</a:t>
            </a:r>
          </a:p>
        </p:txBody>
      </p:sp>
      <p:sp>
        <p:nvSpPr>
          <p:cNvPr id="33" name="TextBox 32"/>
          <p:cNvSpPr txBox="1"/>
          <p:nvPr/>
        </p:nvSpPr>
        <p:spPr>
          <a:xfrm>
            <a:off x="6400800" y="4873752"/>
            <a:ext cx="5120640" cy="384048"/>
          </a:xfrm>
          <a:prstGeom prst="rect">
            <a:avLst/>
          </a:prstGeom>
          <a:noFill/>
        </p:spPr>
        <p:txBody>
          <a:bodyPr wrap="square" anchor="ctr" lIns="50800" rIns="50800" tIns="25400" bIns="25400">
            <a:spAutoFit/>
          </a:bodyPr>
          <a:lstStyle/>
          <a:p>
            <a:pPr algn="l">
              <a:lnSpc>
                <a:spcPct val="110000"/>
              </a:lnSpc>
              <a:spcAft>
                <a:spcPts val="400"/>
              </a:spcAft>
            </a:pPr>
            <a:r>
              <a:rPr sz="1100" b="0">
                <a:solidFill>
                  <a:srgbClr val="5A636E"/>
                </a:solidFill>
                <a:latin typeface="微软雅黑"/>
                <a:ea typeface="微软雅黑"/>
                <a:cs typeface="微软雅黑"/>
              </a:rPr>
              <a:t>招商引资、产业导入、孵化与投资议题</a:t>
            </a:r>
          </a:p>
        </p:txBody>
      </p:sp>
      <p:sp>
        <p:nvSpPr>
          <p:cNvPr id="34" name="Rectangle 33"/>
          <p:cNvSpPr/>
          <p:nvPr/>
        </p:nvSpPr>
        <p:spPr>
          <a:xfrm>
            <a:off x="411480" y="5394960"/>
            <a:ext cx="1133856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5468112"/>
            <a:ext cx="2103120" cy="384048"/>
          </a:xfrm>
          <a:prstGeom prst="rect">
            <a:avLst/>
          </a:prstGeom>
          <a:noFill/>
        </p:spPr>
        <p:txBody>
          <a:bodyPr wrap="square" anchor="ctr" lIns="50800" rIns="50800" tIns="25400" bIns="25400">
            <a:spAutoFit/>
          </a:bodyPr>
          <a:lstStyle/>
          <a:p>
            <a:pPr algn="l">
              <a:lnSpc>
                <a:spcPct val="110000"/>
              </a:lnSpc>
              <a:spcAft>
                <a:spcPts val="400"/>
              </a:spcAft>
            </a:pPr>
            <a:r>
              <a:rPr sz="1100" b="1">
                <a:solidFill>
                  <a:srgbClr val="1A6B6B"/>
                </a:solidFill>
                <a:latin typeface="微软雅黑"/>
                <a:ea typeface="微软雅黑"/>
                <a:cs typeface="微软雅黑"/>
              </a:rPr>
              <a:t>18:30 后</a:t>
            </a:r>
          </a:p>
        </p:txBody>
      </p:sp>
      <p:sp>
        <p:nvSpPr>
          <p:cNvPr id="36" name="TextBox 35"/>
          <p:cNvSpPr txBox="1"/>
          <p:nvPr/>
        </p:nvSpPr>
        <p:spPr>
          <a:xfrm>
            <a:off x="2651760" y="5468112"/>
            <a:ext cx="3657600" cy="384048"/>
          </a:xfrm>
          <a:prstGeom prst="rect">
            <a:avLst/>
          </a:prstGeom>
          <a:noFill/>
        </p:spPr>
        <p:txBody>
          <a:bodyPr wrap="square" anchor="ctr" lIns="50800" rIns="50800" tIns="25400" bIns="25400">
            <a:spAutoFit/>
          </a:bodyPr>
          <a:lstStyle/>
          <a:p>
            <a:pPr algn="l">
              <a:lnSpc>
                <a:spcPct val="110000"/>
              </a:lnSpc>
              <a:spcAft>
                <a:spcPts val="400"/>
              </a:spcAft>
            </a:pPr>
            <a:r>
              <a:rPr sz="1200" b="1">
                <a:solidFill>
                  <a:srgbClr val="0B3D5C"/>
                </a:solidFill>
                <a:latin typeface="微软雅黑"/>
                <a:ea typeface="微软雅黑"/>
                <a:cs typeface="微软雅黑"/>
              </a:rPr>
              <a:t>返程或晚宴（视方案）</a:t>
            </a:r>
          </a:p>
        </p:txBody>
      </p:sp>
      <p:sp>
        <p:nvSpPr>
          <p:cNvPr id="37" name="TextBox 36"/>
          <p:cNvSpPr txBox="1"/>
          <p:nvPr/>
        </p:nvSpPr>
        <p:spPr>
          <a:xfrm>
            <a:off x="6400800" y="5468112"/>
            <a:ext cx="5120640" cy="384048"/>
          </a:xfrm>
          <a:prstGeom prst="rect">
            <a:avLst/>
          </a:prstGeom>
          <a:noFill/>
        </p:spPr>
        <p:txBody>
          <a:bodyPr wrap="square" anchor="ctr" lIns="50800" rIns="50800" tIns="25400" bIns="25400">
            <a:spAutoFit/>
          </a:bodyPr>
          <a:lstStyle/>
          <a:p>
            <a:pPr algn="l">
              <a:lnSpc>
                <a:spcPct val="110000"/>
              </a:lnSpc>
              <a:spcAft>
                <a:spcPts val="400"/>
              </a:spcAft>
            </a:pPr>
            <a:r>
              <a:rPr sz="1100" b="0">
                <a:solidFill>
                  <a:srgbClr val="5A636E"/>
                </a:solidFill>
                <a:latin typeface="微软雅黑"/>
                <a:ea typeface="微软雅黑"/>
                <a:cs typeface="微软雅黑"/>
              </a:rPr>
              <a:t>一日行返沪；两日行安排欢迎晚宴</a:t>
            </a:r>
          </a:p>
        </p:txBody>
      </p:sp>
      <p:sp>
        <p:nvSpPr>
          <p:cNvPr id="38" name="TextBox 37"/>
          <p:cNvSpPr txBox="1"/>
          <p:nvPr/>
        </p:nvSpPr>
        <p:spPr>
          <a:xfrm>
            <a:off x="457200" y="6473952"/>
            <a:ext cx="9144000" cy="274320"/>
          </a:xfrm>
          <a:prstGeom prst="rect">
            <a:avLst/>
          </a:prstGeom>
          <a:noFill/>
        </p:spPr>
        <p:txBody>
          <a:bodyPr wrap="square" anchor="t" lIns="50800" rIns="50800" tIns="25400" bIns="25400">
            <a:spAutoFit/>
          </a:bodyPr>
          <a:lstStyle/>
          <a:p>
            <a:pPr algn="l">
              <a:lnSpc>
                <a:spcPct val="110000"/>
              </a:lnSpc>
              <a:spcAft>
                <a:spcPts val="400"/>
              </a:spcAft>
            </a:pPr>
            <a:r>
              <a:rPr sz="900" b="0">
                <a:solidFill>
                  <a:srgbClr val="5A636E"/>
                </a:solidFill>
                <a:latin typeface="微软雅黑"/>
                <a:ea typeface="微软雅黑"/>
                <a:cs typeface="微软雅黑"/>
              </a:rPr>
              <a:t>复旦大学住房政策研究中心 · 上海市杨浦区科技企业联合会 → 宁波经开区投促局</a:t>
            </a:r>
          </a:p>
        </p:txBody>
      </p:sp>
      <p:sp>
        <p:nvSpPr>
          <p:cNvPr id="39" name="TextBox 38"/>
          <p:cNvSpPr txBox="1"/>
          <p:nvPr/>
        </p:nvSpPr>
        <p:spPr>
          <a:xfrm>
            <a:off x="10881360" y="6473952"/>
            <a:ext cx="1005840" cy="274320"/>
          </a:xfrm>
          <a:prstGeom prst="rect">
            <a:avLst/>
          </a:prstGeom>
          <a:noFill/>
        </p:spPr>
        <p:txBody>
          <a:bodyPr wrap="square" anchor="t" lIns="50800" rIns="50800" tIns="25400" bIns="25400">
            <a:spAutoFit/>
          </a:bodyPr>
          <a:lstStyle/>
          <a:p>
            <a:pPr algn="r">
              <a:lnSpc>
                <a:spcPct val="110000"/>
              </a:lnSpc>
              <a:spcAft>
                <a:spcPts val="400"/>
              </a:spcAft>
            </a:pPr>
            <a:r>
              <a:rPr sz="900" b="0">
                <a:solidFill>
                  <a:srgbClr val="5A636E"/>
                </a:solidFill>
                <a:latin typeface="微软雅黑"/>
                <a:ea typeface="微软雅黑"/>
                <a:cs typeface="微软雅黑"/>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7315200" cy="320040"/>
          </a:xfrm>
          <a:prstGeom prst="rect">
            <a:avLst/>
          </a:prstGeom>
          <a:noFill/>
        </p:spPr>
        <p:txBody>
          <a:bodyPr wrap="square" anchor="t" lIns="50800" rIns="50800" tIns="25400" bIns="25400">
            <a:spAutoFit/>
          </a:bodyPr>
          <a:lstStyle/>
          <a:p>
            <a:pPr algn="l">
              <a:lnSpc>
                <a:spcPct val="110000"/>
              </a:lnSpc>
              <a:spcAft>
                <a:spcPts val="400"/>
              </a:spcAft>
            </a:pPr>
            <a:r>
              <a:rPr sz="1200" b="1">
                <a:solidFill>
                  <a:srgbClr val="C47E1A"/>
                </a:solidFill>
                <a:latin typeface="微软雅黑"/>
                <a:ea typeface="微软雅黑"/>
                <a:cs typeface="微软雅黑"/>
              </a:rPr>
              <a:t>05 行程 · 第二日</a:t>
            </a:r>
          </a:p>
        </p:txBody>
      </p:sp>
      <p:sp>
        <p:nvSpPr>
          <p:cNvPr id="5" name="TextBox 4"/>
          <p:cNvSpPr txBox="1"/>
          <p:nvPr/>
        </p:nvSpPr>
        <p:spPr>
          <a:xfrm>
            <a:off x="457200" y="365760"/>
            <a:ext cx="11247120" cy="640080"/>
          </a:xfrm>
          <a:prstGeom prst="rect">
            <a:avLst/>
          </a:prstGeom>
          <a:noFill/>
        </p:spPr>
        <p:txBody>
          <a:bodyPr wrap="square" anchor="t" lIns="50800" rIns="50800" tIns="25400" bIns="25400">
            <a:spAutoFit/>
          </a:bodyPr>
          <a:lstStyle/>
          <a:p>
            <a:pPr algn="l">
              <a:lnSpc>
                <a:spcPct val="110000"/>
              </a:lnSpc>
              <a:spcAft>
                <a:spcPts val="400"/>
              </a:spcAft>
            </a:pPr>
            <a:r>
              <a:rPr sz="2400" b="1">
                <a:solidFill>
                  <a:srgbClr val="FFFFFF"/>
                </a:solidFill>
                <a:latin typeface="微软雅黑"/>
                <a:ea typeface="微软雅黑"/>
                <a:cs typeface="微软雅黑"/>
              </a:rPr>
              <a:t>两日深度行（推荐）</a:t>
            </a:r>
          </a:p>
          <a:p>
            <a:pPr algn="l">
              <a:lnSpc>
                <a:spcPct val="110000"/>
              </a:lnSpc>
              <a:spcAft>
                <a:spcPts val="400"/>
              </a:spcAft>
            </a:pPr>
            <a:r>
              <a:rPr sz="1200" b="0">
                <a:solidFill>
                  <a:srgbClr val="B8CFDC"/>
                </a:solidFill>
                <a:latin typeface="微软雅黑"/>
                <a:ea typeface="微软雅黑"/>
                <a:cs typeface="微软雅黑"/>
              </a:rPr>
              <a:t>科技孵化 · 企业深访 · 资本投洽</a:t>
            </a:r>
          </a:p>
        </p:txBody>
      </p:sp>
      <p:sp>
        <p:nvSpPr>
          <p:cNvPr id="6" name="Rectangle 5"/>
          <p:cNvSpPr/>
          <p:nvPr/>
        </p:nvSpPr>
        <p:spPr>
          <a:xfrm>
            <a:off x="457200" y="1325880"/>
            <a:ext cx="11247120" cy="64008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25880"/>
            <a:ext cx="63500" cy="64008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35608"/>
            <a:ext cx="2194560" cy="411480"/>
          </a:xfrm>
          <a:prstGeom prst="rect">
            <a:avLst/>
          </a:prstGeom>
          <a:noFill/>
        </p:spPr>
        <p:txBody>
          <a:bodyPr wrap="square" anchor="ctr" lIns="50800" rIns="50800" tIns="25400" bIns="25400">
            <a:spAutoFit/>
          </a:bodyPr>
          <a:lstStyle/>
          <a:p>
            <a:pPr algn="l">
              <a:lnSpc>
                <a:spcPct val="110000"/>
              </a:lnSpc>
              <a:spcAft>
                <a:spcPts val="400"/>
              </a:spcAft>
            </a:pPr>
            <a:r>
              <a:rPr sz="1200" b="1">
                <a:solidFill>
                  <a:srgbClr val="1A6B6B"/>
                </a:solidFill>
                <a:latin typeface="微软雅黑"/>
                <a:ea typeface="微软雅黑"/>
                <a:cs typeface="微软雅黑"/>
              </a:rPr>
              <a:t>09:00–10:30</a:t>
            </a:r>
          </a:p>
        </p:txBody>
      </p:sp>
      <p:sp>
        <p:nvSpPr>
          <p:cNvPr id="9" name="TextBox 8"/>
          <p:cNvSpPr txBox="1"/>
          <p:nvPr/>
        </p:nvSpPr>
        <p:spPr>
          <a:xfrm>
            <a:off x="3017520" y="1435608"/>
            <a:ext cx="3840480" cy="411480"/>
          </a:xfrm>
          <a:prstGeom prst="rect">
            <a:avLst/>
          </a:prstGeom>
          <a:noFill/>
        </p:spPr>
        <p:txBody>
          <a:bodyPr wrap="square" anchor="ctr" lIns="50800" rIns="50800" tIns="25400" bIns="25400">
            <a:spAutoFit/>
          </a:bodyPr>
          <a:lstStyle/>
          <a:p>
            <a:pPr algn="l">
              <a:lnSpc>
                <a:spcPct val="110000"/>
              </a:lnSpc>
              <a:spcAft>
                <a:spcPts val="400"/>
              </a:spcAft>
            </a:pPr>
            <a:r>
              <a:rPr sz="1300" b="1">
                <a:solidFill>
                  <a:srgbClr val="0B3D5C"/>
                </a:solidFill>
                <a:latin typeface="微软雅黑"/>
                <a:ea typeface="微软雅黑"/>
                <a:cs typeface="微软雅黑"/>
              </a:rPr>
              <a:t>科技孵化载体参访</a:t>
            </a:r>
          </a:p>
        </p:txBody>
      </p:sp>
      <p:sp>
        <p:nvSpPr>
          <p:cNvPr id="10" name="TextBox 9"/>
          <p:cNvSpPr txBox="1"/>
          <p:nvPr/>
        </p:nvSpPr>
        <p:spPr>
          <a:xfrm>
            <a:off x="6949440" y="1435608"/>
            <a:ext cx="4572000" cy="411480"/>
          </a:xfrm>
          <a:prstGeom prst="rect">
            <a:avLst/>
          </a:prstGeom>
          <a:noFill/>
        </p:spPr>
        <p:txBody>
          <a:bodyPr wrap="square" anchor="ctr" lIns="50800" rIns="50800" tIns="25400" bIns="25400">
            <a:spAutoFit/>
          </a:bodyPr>
          <a:lstStyle/>
          <a:p>
            <a:pPr algn="l">
              <a:lnSpc>
                <a:spcPct val="110000"/>
              </a:lnSpc>
              <a:spcAft>
                <a:spcPts val="400"/>
              </a:spcAft>
            </a:pPr>
            <a:r>
              <a:rPr sz="1200" b="0">
                <a:solidFill>
                  <a:srgbClr val="5A636E"/>
                </a:solidFill>
                <a:latin typeface="微软雅黑"/>
                <a:ea typeface="微软雅黑"/>
                <a:cs typeface="微软雅黑"/>
              </a:rPr>
              <a:t>孵化器 / 加速器 / 特色产业园</a:t>
            </a:r>
          </a:p>
        </p:txBody>
      </p:sp>
      <p:sp>
        <p:nvSpPr>
          <p:cNvPr id="11" name="Rectangle 10"/>
          <p:cNvSpPr/>
          <p:nvPr/>
        </p:nvSpPr>
        <p:spPr>
          <a:xfrm>
            <a:off x="457200" y="2057400"/>
            <a:ext cx="11247120" cy="640080"/>
          </a:xfrm>
          <a:prstGeom prst="rect">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057400"/>
            <a:ext cx="63500" cy="64008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167128"/>
            <a:ext cx="2194560" cy="411480"/>
          </a:xfrm>
          <a:prstGeom prst="rect">
            <a:avLst/>
          </a:prstGeom>
          <a:noFill/>
        </p:spPr>
        <p:txBody>
          <a:bodyPr wrap="square" anchor="ctr" lIns="50800" rIns="50800" tIns="25400" bIns="25400">
            <a:spAutoFit/>
          </a:bodyPr>
          <a:lstStyle/>
          <a:p>
            <a:pPr algn="l">
              <a:lnSpc>
                <a:spcPct val="110000"/>
              </a:lnSpc>
              <a:spcAft>
                <a:spcPts val="400"/>
              </a:spcAft>
            </a:pPr>
            <a:r>
              <a:rPr sz="1200" b="1">
                <a:solidFill>
                  <a:srgbClr val="1A6B6B"/>
                </a:solidFill>
                <a:latin typeface="微软雅黑"/>
                <a:ea typeface="微软雅黑"/>
                <a:cs typeface="微软雅黑"/>
              </a:rPr>
              <a:t>10:45–12:00</a:t>
            </a:r>
          </a:p>
        </p:txBody>
      </p:sp>
      <p:sp>
        <p:nvSpPr>
          <p:cNvPr id="14" name="TextBox 13"/>
          <p:cNvSpPr txBox="1"/>
          <p:nvPr/>
        </p:nvSpPr>
        <p:spPr>
          <a:xfrm>
            <a:off x="3017520" y="2167128"/>
            <a:ext cx="3840480" cy="411480"/>
          </a:xfrm>
          <a:prstGeom prst="rect">
            <a:avLst/>
          </a:prstGeom>
          <a:noFill/>
        </p:spPr>
        <p:txBody>
          <a:bodyPr wrap="square" anchor="ctr" lIns="50800" rIns="50800" tIns="25400" bIns="25400">
            <a:spAutoFit/>
          </a:bodyPr>
          <a:lstStyle/>
          <a:p>
            <a:pPr algn="l">
              <a:lnSpc>
                <a:spcPct val="110000"/>
              </a:lnSpc>
              <a:spcAft>
                <a:spcPts val="400"/>
              </a:spcAft>
            </a:pPr>
            <a:r>
              <a:rPr sz="1300" b="1">
                <a:solidFill>
                  <a:srgbClr val="0B3D5C"/>
                </a:solidFill>
                <a:latin typeface="微软雅黑"/>
                <a:ea typeface="微软雅黑"/>
                <a:cs typeface="微软雅黑"/>
              </a:rPr>
              <a:t>第二家特色企业深度交流</a:t>
            </a:r>
          </a:p>
        </p:txBody>
      </p:sp>
      <p:sp>
        <p:nvSpPr>
          <p:cNvPr id="15" name="TextBox 14"/>
          <p:cNvSpPr txBox="1"/>
          <p:nvPr/>
        </p:nvSpPr>
        <p:spPr>
          <a:xfrm>
            <a:off x="6949440" y="2167128"/>
            <a:ext cx="4572000" cy="411480"/>
          </a:xfrm>
          <a:prstGeom prst="rect">
            <a:avLst/>
          </a:prstGeom>
          <a:noFill/>
        </p:spPr>
        <p:txBody>
          <a:bodyPr wrap="square" anchor="ctr" lIns="50800" rIns="50800" tIns="25400" bIns="25400">
            <a:spAutoFit/>
          </a:bodyPr>
          <a:lstStyle/>
          <a:p>
            <a:pPr algn="l">
              <a:lnSpc>
                <a:spcPct val="110000"/>
              </a:lnSpc>
              <a:spcAft>
                <a:spcPts val="400"/>
              </a:spcAft>
            </a:pPr>
            <a:r>
              <a:rPr sz="1200" b="0">
                <a:solidFill>
                  <a:srgbClr val="5A636E"/>
                </a:solidFill>
                <a:latin typeface="微软雅黑"/>
                <a:ea typeface="微软雅黑"/>
                <a:cs typeface="微软雅黑"/>
              </a:rPr>
              <a:t>产能、技术与合作场景对接</a:t>
            </a:r>
          </a:p>
        </p:txBody>
      </p:sp>
      <p:sp>
        <p:nvSpPr>
          <p:cNvPr id="16" name="Rectangle 15"/>
          <p:cNvSpPr/>
          <p:nvPr/>
        </p:nvSpPr>
        <p:spPr>
          <a:xfrm>
            <a:off x="457200" y="2788920"/>
            <a:ext cx="11247120" cy="64008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788920"/>
            <a:ext cx="63500" cy="64008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898648"/>
            <a:ext cx="2194560" cy="411480"/>
          </a:xfrm>
          <a:prstGeom prst="rect">
            <a:avLst/>
          </a:prstGeom>
          <a:noFill/>
        </p:spPr>
        <p:txBody>
          <a:bodyPr wrap="square" anchor="ctr" lIns="50800" rIns="50800" tIns="25400" bIns="25400">
            <a:spAutoFit/>
          </a:bodyPr>
          <a:lstStyle/>
          <a:p>
            <a:pPr algn="l">
              <a:lnSpc>
                <a:spcPct val="110000"/>
              </a:lnSpc>
              <a:spcAft>
                <a:spcPts val="400"/>
              </a:spcAft>
            </a:pPr>
            <a:r>
              <a:rPr sz="1200" b="1">
                <a:solidFill>
                  <a:srgbClr val="1A6B6B"/>
                </a:solidFill>
                <a:latin typeface="微软雅黑"/>
                <a:ea typeface="微软雅黑"/>
                <a:cs typeface="微软雅黑"/>
              </a:rPr>
              <a:t>12:00–13:30</a:t>
            </a:r>
          </a:p>
        </p:txBody>
      </p:sp>
      <p:sp>
        <p:nvSpPr>
          <p:cNvPr id="19" name="TextBox 18"/>
          <p:cNvSpPr txBox="1"/>
          <p:nvPr/>
        </p:nvSpPr>
        <p:spPr>
          <a:xfrm>
            <a:off x="3017520" y="2898648"/>
            <a:ext cx="3840480" cy="411480"/>
          </a:xfrm>
          <a:prstGeom prst="rect">
            <a:avLst/>
          </a:prstGeom>
          <a:noFill/>
        </p:spPr>
        <p:txBody>
          <a:bodyPr wrap="square" anchor="ctr" lIns="50800" rIns="50800" tIns="25400" bIns="25400">
            <a:spAutoFit/>
          </a:bodyPr>
          <a:lstStyle/>
          <a:p>
            <a:pPr algn="l">
              <a:lnSpc>
                <a:spcPct val="110000"/>
              </a:lnSpc>
              <a:spcAft>
                <a:spcPts val="400"/>
              </a:spcAft>
            </a:pPr>
            <a:r>
              <a:rPr sz="1300" b="1">
                <a:solidFill>
                  <a:srgbClr val="0B3D5C"/>
                </a:solidFill>
                <a:latin typeface="微软雅黑"/>
                <a:ea typeface="微软雅黑"/>
                <a:cs typeface="微软雅黑"/>
              </a:rPr>
              <a:t>工作午餐</a:t>
            </a:r>
          </a:p>
        </p:txBody>
      </p:sp>
      <p:sp>
        <p:nvSpPr>
          <p:cNvPr id="20" name="TextBox 19"/>
          <p:cNvSpPr txBox="1"/>
          <p:nvPr/>
        </p:nvSpPr>
        <p:spPr>
          <a:xfrm>
            <a:off x="6949440" y="2898648"/>
            <a:ext cx="4572000" cy="411480"/>
          </a:xfrm>
          <a:prstGeom prst="rect">
            <a:avLst/>
          </a:prstGeom>
          <a:noFill/>
        </p:spPr>
        <p:txBody>
          <a:bodyPr wrap="square" anchor="ctr" lIns="50800" rIns="50800" tIns="25400" bIns="25400">
            <a:spAutoFit/>
          </a:bodyPr>
          <a:lstStyle/>
          <a:p>
            <a:pPr algn="l">
              <a:lnSpc>
                <a:spcPct val="110000"/>
              </a:lnSpc>
              <a:spcAft>
                <a:spcPts val="400"/>
              </a:spcAft>
            </a:pPr>
            <a:r>
              <a:rPr sz="1200" b="0">
                <a:solidFill>
                  <a:srgbClr val="5A636E"/>
                </a:solidFill>
                <a:latin typeface="微软雅黑"/>
                <a:ea typeface="微软雅黑"/>
                <a:cs typeface="微软雅黑"/>
              </a:rPr>
              <a:t>分组交流</a:t>
            </a:r>
          </a:p>
        </p:txBody>
      </p:sp>
      <p:sp>
        <p:nvSpPr>
          <p:cNvPr id="21" name="Rectangle 20"/>
          <p:cNvSpPr/>
          <p:nvPr/>
        </p:nvSpPr>
        <p:spPr>
          <a:xfrm>
            <a:off x="457200" y="3520440"/>
            <a:ext cx="11247120" cy="640080"/>
          </a:xfrm>
          <a:prstGeom prst="rect">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520440"/>
            <a:ext cx="63500" cy="640080"/>
          </a:xfrm>
          <a:prstGeom prst="rect">
            <a:avLst/>
          </a:prstGeom>
          <a:solidFill>
            <a:srgbClr val="C47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630168"/>
            <a:ext cx="2194560" cy="411480"/>
          </a:xfrm>
          <a:prstGeom prst="rect">
            <a:avLst/>
          </a:prstGeom>
          <a:noFill/>
        </p:spPr>
        <p:txBody>
          <a:bodyPr wrap="square" anchor="ctr" lIns="50800" rIns="50800" tIns="25400" bIns="25400">
            <a:spAutoFit/>
          </a:bodyPr>
          <a:lstStyle/>
          <a:p>
            <a:pPr algn="l">
              <a:lnSpc>
                <a:spcPct val="110000"/>
              </a:lnSpc>
              <a:spcAft>
                <a:spcPts val="400"/>
              </a:spcAft>
            </a:pPr>
            <a:r>
              <a:rPr sz="1200" b="1">
                <a:solidFill>
                  <a:srgbClr val="1A6B6B"/>
                </a:solidFill>
                <a:latin typeface="微软雅黑"/>
                <a:ea typeface="微软雅黑"/>
                <a:cs typeface="微软雅黑"/>
              </a:rPr>
              <a:t>13:30–15:30</a:t>
            </a:r>
          </a:p>
        </p:txBody>
      </p:sp>
      <p:sp>
        <p:nvSpPr>
          <p:cNvPr id="24" name="TextBox 23"/>
          <p:cNvSpPr txBox="1"/>
          <p:nvPr/>
        </p:nvSpPr>
        <p:spPr>
          <a:xfrm>
            <a:off x="3017520" y="3630168"/>
            <a:ext cx="3840480" cy="411480"/>
          </a:xfrm>
          <a:prstGeom prst="rect">
            <a:avLst/>
          </a:prstGeom>
          <a:noFill/>
        </p:spPr>
        <p:txBody>
          <a:bodyPr wrap="square" anchor="ctr" lIns="50800" rIns="50800" tIns="25400" bIns="25400">
            <a:spAutoFit/>
          </a:bodyPr>
          <a:lstStyle/>
          <a:p>
            <a:pPr algn="l">
              <a:lnSpc>
                <a:spcPct val="110000"/>
              </a:lnSpc>
              <a:spcAft>
                <a:spcPts val="400"/>
              </a:spcAft>
            </a:pPr>
            <a:r>
              <a:rPr sz="1300" b="1">
                <a:solidFill>
                  <a:srgbClr val="0B3D5C"/>
                </a:solidFill>
                <a:latin typeface="微软雅黑"/>
                <a:ea typeface="微软雅黑"/>
                <a:cs typeface="微软雅黑"/>
              </a:rPr>
              <a:t>PE/VC · CVC 闭门投洽会</a:t>
            </a:r>
          </a:p>
        </p:txBody>
      </p:sp>
      <p:sp>
        <p:nvSpPr>
          <p:cNvPr id="25" name="TextBox 24"/>
          <p:cNvSpPr txBox="1"/>
          <p:nvPr/>
        </p:nvSpPr>
        <p:spPr>
          <a:xfrm>
            <a:off x="6949440" y="3630168"/>
            <a:ext cx="4572000" cy="411480"/>
          </a:xfrm>
          <a:prstGeom prst="rect">
            <a:avLst/>
          </a:prstGeom>
          <a:noFill/>
        </p:spPr>
        <p:txBody>
          <a:bodyPr wrap="square" anchor="ctr" lIns="50800" rIns="50800" tIns="25400" bIns="25400">
            <a:spAutoFit/>
          </a:bodyPr>
          <a:lstStyle/>
          <a:p>
            <a:pPr algn="l">
              <a:lnSpc>
                <a:spcPct val="110000"/>
              </a:lnSpc>
              <a:spcAft>
                <a:spcPts val="400"/>
              </a:spcAft>
            </a:pPr>
            <a:r>
              <a:rPr sz="1200" b="0">
                <a:solidFill>
                  <a:srgbClr val="5A636E"/>
                </a:solidFill>
                <a:latin typeface="微软雅黑"/>
                <a:ea typeface="微软雅黑"/>
                <a:cs typeface="微软雅黑"/>
              </a:rPr>
              <a:t>项目路演或一对一对接（可选）</a:t>
            </a:r>
          </a:p>
        </p:txBody>
      </p:sp>
      <p:sp>
        <p:nvSpPr>
          <p:cNvPr id="26" name="Rectangle 25"/>
          <p:cNvSpPr/>
          <p:nvPr/>
        </p:nvSpPr>
        <p:spPr>
          <a:xfrm>
            <a:off x="457200" y="4251960"/>
            <a:ext cx="11247120" cy="64008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4251960"/>
            <a:ext cx="63500" cy="64008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61688"/>
            <a:ext cx="2194560" cy="411480"/>
          </a:xfrm>
          <a:prstGeom prst="rect">
            <a:avLst/>
          </a:prstGeom>
          <a:noFill/>
        </p:spPr>
        <p:txBody>
          <a:bodyPr wrap="square" anchor="ctr" lIns="50800" rIns="50800" tIns="25400" bIns="25400">
            <a:spAutoFit/>
          </a:bodyPr>
          <a:lstStyle/>
          <a:p>
            <a:pPr algn="l">
              <a:lnSpc>
                <a:spcPct val="110000"/>
              </a:lnSpc>
              <a:spcAft>
                <a:spcPts val="400"/>
              </a:spcAft>
            </a:pPr>
            <a:r>
              <a:rPr sz="1200" b="1">
                <a:solidFill>
                  <a:srgbClr val="1A6B6B"/>
                </a:solidFill>
                <a:latin typeface="微软雅黑"/>
                <a:ea typeface="微软雅黑"/>
                <a:cs typeface="微软雅黑"/>
              </a:rPr>
              <a:t>15:30–16:30</a:t>
            </a:r>
          </a:p>
        </p:txBody>
      </p:sp>
      <p:sp>
        <p:nvSpPr>
          <p:cNvPr id="29" name="TextBox 28"/>
          <p:cNvSpPr txBox="1"/>
          <p:nvPr/>
        </p:nvSpPr>
        <p:spPr>
          <a:xfrm>
            <a:off x="3017520" y="4361688"/>
            <a:ext cx="3840480" cy="411480"/>
          </a:xfrm>
          <a:prstGeom prst="rect">
            <a:avLst/>
          </a:prstGeom>
          <a:noFill/>
        </p:spPr>
        <p:txBody>
          <a:bodyPr wrap="square" anchor="ctr" lIns="50800" rIns="50800" tIns="25400" bIns="25400">
            <a:spAutoFit/>
          </a:bodyPr>
          <a:lstStyle/>
          <a:p>
            <a:pPr algn="l">
              <a:lnSpc>
                <a:spcPct val="110000"/>
              </a:lnSpc>
              <a:spcAft>
                <a:spcPts val="400"/>
              </a:spcAft>
            </a:pPr>
            <a:r>
              <a:rPr sz="1300" b="1">
                <a:solidFill>
                  <a:srgbClr val="0B3D5C"/>
                </a:solidFill>
                <a:latin typeface="微软雅黑"/>
                <a:ea typeface="微软雅黑"/>
                <a:cs typeface="微软雅黑"/>
              </a:rPr>
              <a:t>总结座谈 · 合作备忘</a:t>
            </a:r>
          </a:p>
        </p:txBody>
      </p:sp>
      <p:sp>
        <p:nvSpPr>
          <p:cNvPr id="30" name="TextBox 29"/>
          <p:cNvSpPr txBox="1"/>
          <p:nvPr/>
        </p:nvSpPr>
        <p:spPr>
          <a:xfrm>
            <a:off x="6949440" y="4361688"/>
            <a:ext cx="4572000" cy="411480"/>
          </a:xfrm>
          <a:prstGeom prst="rect">
            <a:avLst/>
          </a:prstGeom>
          <a:noFill/>
        </p:spPr>
        <p:txBody>
          <a:bodyPr wrap="square" anchor="ctr" lIns="50800" rIns="50800" tIns="25400" bIns="25400">
            <a:spAutoFit/>
          </a:bodyPr>
          <a:lstStyle/>
          <a:p>
            <a:pPr algn="l">
              <a:lnSpc>
                <a:spcPct val="110000"/>
              </a:lnSpc>
              <a:spcAft>
                <a:spcPts val="400"/>
              </a:spcAft>
            </a:pPr>
            <a:r>
              <a:rPr sz="1200" b="0">
                <a:solidFill>
                  <a:srgbClr val="5A636E"/>
                </a:solidFill>
                <a:latin typeface="微软雅黑"/>
                <a:ea typeface="微软雅黑"/>
                <a:cs typeface="微软雅黑"/>
              </a:rPr>
              <a:t>梳理线索、明确跟进人与时间表</a:t>
            </a:r>
          </a:p>
        </p:txBody>
      </p:sp>
      <p:sp>
        <p:nvSpPr>
          <p:cNvPr id="31" name="Rectangle 30"/>
          <p:cNvSpPr/>
          <p:nvPr/>
        </p:nvSpPr>
        <p:spPr>
          <a:xfrm>
            <a:off x="457200" y="4983480"/>
            <a:ext cx="11247120" cy="640080"/>
          </a:xfrm>
          <a:prstGeom prst="rect">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4983480"/>
            <a:ext cx="63500" cy="64008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093208"/>
            <a:ext cx="2194560" cy="411480"/>
          </a:xfrm>
          <a:prstGeom prst="rect">
            <a:avLst/>
          </a:prstGeom>
          <a:noFill/>
        </p:spPr>
        <p:txBody>
          <a:bodyPr wrap="square" anchor="ctr" lIns="50800" rIns="50800" tIns="25400" bIns="25400">
            <a:spAutoFit/>
          </a:bodyPr>
          <a:lstStyle/>
          <a:p>
            <a:pPr algn="l">
              <a:lnSpc>
                <a:spcPct val="110000"/>
              </a:lnSpc>
              <a:spcAft>
                <a:spcPts val="400"/>
              </a:spcAft>
            </a:pPr>
            <a:r>
              <a:rPr sz="1200" b="1">
                <a:solidFill>
                  <a:srgbClr val="1A6B6B"/>
                </a:solidFill>
                <a:latin typeface="微软雅黑"/>
                <a:ea typeface="微软雅黑"/>
                <a:cs typeface="微软雅黑"/>
              </a:rPr>
              <a:t>16:30 后</a:t>
            </a:r>
          </a:p>
        </p:txBody>
      </p:sp>
      <p:sp>
        <p:nvSpPr>
          <p:cNvPr id="34" name="TextBox 33"/>
          <p:cNvSpPr txBox="1"/>
          <p:nvPr/>
        </p:nvSpPr>
        <p:spPr>
          <a:xfrm>
            <a:off x="3017520" y="5093208"/>
            <a:ext cx="3840480" cy="411480"/>
          </a:xfrm>
          <a:prstGeom prst="rect">
            <a:avLst/>
          </a:prstGeom>
          <a:noFill/>
        </p:spPr>
        <p:txBody>
          <a:bodyPr wrap="square" anchor="ctr" lIns="50800" rIns="50800" tIns="25400" bIns="25400">
            <a:spAutoFit/>
          </a:bodyPr>
          <a:lstStyle/>
          <a:p>
            <a:pPr algn="l">
              <a:lnSpc>
                <a:spcPct val="110000"/>
              </a:lnSpc>
              <a:spcAft>
                <a:spcPts val="400"/>
              </a:spcAft>
            </a:pPr>
            <a:r>
              <a:rPr sz="1300" b="1">
                <a:solidFill>
                  <a:srgbClr val="0B3D5C"/>
                </a:solidFill>
                <a:latin typeface="微软雅黑"/>
                <a:ea typeface="微软雅黑"/>
                <a:cs typeface="微软雅黑"/>
              </a:rPr>
              <a:t>返程上海</a:t>
            </a:r>
          </a:p>
        </p:txBody>
      </p:sp>
      <p:sp>
        <p:nvSpPr>
          <p:cNvPr id="35" name="TextBox 34"/>
          <p:cNvSpPr txBox="1"/>
          <p:nvPr/>
        </p:nvSpPr>
        <p:spPr>
          <a:xfrm>
            <a:off x="6949440" y="5093208"/>
            <a:ext cx="4572000" cy="411480"/>
          </a:xfrm>
          <a:prstGeom prst="rect">
            <a:avLst/>
          </a:prstGeom>
          <a:noFill/>
        </p:spPr>
        <p:txBody>
          <a:bodyPr wrap="square" anchor="ctr" lIns="50800" rIns="50800" tIns="25400" bIns="25400">
            <a:spAutoFit/>
          </a:bodyPr>
          <a:lstStyle/>
          <a:p>
            <a:pPr algn="l">
              <a:lnSpc>
                <a:spcPct val="110000"/>
              </a:lnSpc>
              <a:spcAft>
                <a:spcPts val="400"/>
              </a:spcAft>
            </a:pPr>
            <a:r>
              <a:rPr sz="1200" b="0">
                <a:solidFill>
                  <a:srgbClr val="5A636E"/>
                </a:solidFill>
                <a:latin typeface="微软雅黑"/>
                <a:ea typeface="微软雅黑"/>
                <a:cs typeface="微软雅黑"/>
              </a:rPr>
              <a:t>行程结束</a:t>
            </a:r>
          </a:p>
        </p:txBody>
      </p:sp>
      <p:sp>
        <p:nvSpPr>
          <p:cNvPr id="36" name="TextBox 35"/>
          <p:cNvSpPr txBox="1"/>
          <p:nvPr/>
        </p:nvSpPr>
        <p:spPr>
          <a:xfrm>
            <a:off x="457200" y="6473952"/>
            <a:ext cx="9144000" cy="274320"/>
          </a:xfrm>
          <a:prstGeom prst="rect">
            <a:avLst/>
          </a:prstGeom>
          <a:noFill/>
        </p:spPr>
        <p:txBody>
          <a:bodyPr wrap="square" anchor="t" lIns="50800" rIns="50800" tIns="25400" bIns="25400">
            <a:spAutoFit/>
          </a:bodyPr>
          <a:lstStyle/>
          <a:p>
            <a:pPr algn="l">
              <a:lnSpc>
                <a:spcPct val="110000"/>
              </a:lnSpc>
              <a:spcAft>
                <a:spcPts val="400"/>
              </a:spcAft>
            </a:pPr>
            <a:r>
              <a:rPr sz="900" b="0">
                <a:solidFill>
                  <a:srgbClr val="5A636E"/>
                </a:solidFill>
                <a:latin typeface="微软雅黑"/>
                <a:ea typeface="微软雅黑"/>
                <a:cs typeface="微软雅黑"/>
              </a:rPr>
              <a:t>复旦大学住房政策研究中心 · 上海市杨浦区科技企业联合会 → 宁波经开区投促局</a:t>
            </a:r>
          </a:p>
        </p:txBody>
      </p:sp>
      <p:sp>
        <p:nvSpPr>
          <p:cNvPr id="37" name="TextBox 36"/>
          <p:cNvSpPr txBox="1"/>
          <p:nvPr/>
        </p:nvSpPr>
        <p:spPr>
          <a:xfrm>
            <a:off x="10881360" y="6473952"/>
            <a:ext cx="1005840" cy="274320"/>
          </a:xfrm>
          <a:prstGeom prst="rect">
            <a:avLst/>
          </a:prstGeom>
          <a:noFill/>
        </p:spPr>
        <p:txBody>
          <a:bodyPr wrap="square" anchor="t" lIns="50800" rIns="50800" tIns="25400" bIns="25400">
            <a:spAutoFit/>
          </a:bodyPr>
          <a:lstStyle/>
          <a:p>
            <a:pPr algn="r">
              <a:lnSpc>
                <a:spcPct val="110000"/>
              </a:lnSpc>
              <a:spcAft>
                <a:spcPts val="400"/>
              </a:spcAft>
            </a:pPr>
            <a:r>
              <a:rPr sz="900" b="0">
                <a:solidFill>
                  <a:srgbClr val="5A636E"/>
                </a:solidFill>
                <a:latin typeface="微软雅黑"/>
                <a:ea typeface="微软雅黑"/>
                <a:cs typeface="微软雅黑"/>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7315200" cy="320040"/>
          </a:xfrm>
          <a:prstGeom prst="rect">
            <a:avLst/>
          </a:prstGeom>
          <a:noFill/>
        </p:spPr>
        <p:txBody>
          <a:bodyPr wrap="square" anchor="t" lIns="50800" rIns="50800" tIns="25400" bIns="25400">
            <a:spAutoFit/>
          </a:bodyPr>
          <a:lstStyle/>
          <a:p>
            <a:pPr algn="l">
              <a:lnSpc>
                <a:spcPct val="110000"/>
              </a:lnSpc>
              <a:spcAft>
                <a:spcPts val="400"/>
              </a:spcAft>
            </a:pPr>
            <a:r>
              <a:rPr sz="1200" b="1">
                <a:solidFill>
                  <a:srgbClr val="C47E1A"/>
                </a:solidFill>
                <a:latin typeface="微软雅黑"/>
                <a:ea typeface="微软雅黑"/>
                <a:cs typeface="微软雅黑"/>
              </a:rPr>
              <a:t>05 建议点位</a:t>
            </a:r>
          </a:p>
        </p:txBody>
      </p:sp>
      <p:sp>
        <p:nvSpPr>
          <p:cNvPr id="5" name="TextBox 4"/>
          <p:cNvSpPr txBox="1"/>
          <p:nvPr/>
        </p:nvSpPr>
        <p:spPr>
          <a:xfrm>
            <a:off x="457200" y="365760"/>
            <a:ext cx="11247120" cy="640080"/>
          </a:xfrm>
          <a:prstGeom prst="rect">
            <a:avLst/>
          </a:prstGeom>
          <a:noFill/>
        </p:spPr>
        <p:txBody>
          <a:bodyPr wrap="square" anchor="t" lIns="50800" rIns="50800" tIns="25400" bIns="25400">
            <a:spAutoFit/>
          </a:bodyPr>
          <a:lstStyle/>
          <a:p>
            <a:pPr algn="l">
              <a:lnSpc>
                <a:spcPct val="110000"/>
              </a:lnSpc>
              <a:spcAft>
                <a:spcPts val="400"/>
              </a:spcAft>
            </a:pPr>
            <a:r>
              <a:rPr sz="2400" b="1">
                <a:solidFill>
                  <a:srgbClr val="FFFFFF"/>
                </a:solidFill>
                <a:latin typeface="微软雅黑"/>
                <a:ea typeface="微软雅黑"/>
                <a:cs typeface="微软雅黑"/>
              </a:rPr>
              <a:t>恳请贵局协助协调开放</a:t>
            </a:r>
          </a:p>
          <a:p>
            <a:pPr algn="l">
              <a:lnSpc>
                <a:spcPct val="110000"/>
              </a:lnSpc>
              <a:spcAft>
                <a:spcPts val="400"/>
              </a:spcAft>
            </a:pPr>
            <a:r>
              <a:rPr sz="1200" b="0">
                <a:solidFill>
                  <a:srgbClr val="B8CFDC"/>
                </a:solidFill>
                <a:latin typeface="微软雅黑"/>
                <a:ea typeface="微软雅黑"/>
                <a:cs typeface="微软雅黑"/>
              </a:rPr>
              <a:t>港口 · 园区 · 企业 · 孵化器 · 对接会场</a:t>
            </a:r>
          </a:p>
        </p:txBody>
      </p:sp>
      <p:sp>
        <p:nvSpPr>
          <p:cNvPr id="6" name="Rectangle 5"/>
          <p:cNvSpPr/>
          <p:nvPr/>
        </p:nvSpPr>
        <p:spPr>
          <a:xfrm>
            <a:off x="457200" y="1417320"/>
            <a:ext cx="3611880" cy="210312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45920"/>
            <a:ext cx="3246120" cy="36576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1A6B6B"/>
                </a:solidFill>
                <a:latin typeface="微软雅黑"/>
                <a:ea typeface="微软雅黑"/>
                <a:cs typeface="微软雅黑"/>
              </a:rPr>
              <a:t>01</a:t>
            </a:r>
          </a:p>
        </p:txBody>
      </p:sp>
      <p:sp>
        <p:nvSpPr>
          <p:cNvPr id="8" name="TextBox 7"/>
          <p:cNvSpPr txBox="1"/>
          <p:nvPr/>
        </p:nvSpPr>
        <p:spPr>
          <a:xfrm>
            <a:off x="640080" y="2057400"/>
            <a:ext cx="3246120" cy="64008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0B3D5C"/>
                </a:solidFill>
                <a:latin typeface="微软雅黑"/>
                <a:ea typeface="微软雅黑"/>
                <a:cs typeface="微软雅黑"/>
              </a:rPr>
              <a:t>宁波港相关设施 / 展示中心</a:t>
            </a:r>
          </a:p>
        </p:txBody>
      </p:sp>
      <p:sp>
        <p:nvSpPr>
          <p:cNvPr id="9" name="TextBox 8"/>
          <p:cNvSpPr txBox="1"/>
          <p:nvPr/>
        </p:nvSpPr>
        <p:spPr>
          <a:xfrm>
            <a:off x="640080" y="2743200"/>
            <a:ext cx="3246120" cy="548640"/>
          </a:xfrm>
          <a:prstGeom prst="rect">
            <a:avLst/>
          </a:prstGeom>
          <a:noFill/>
        </p:spPr>
        <p:txBody>
          <a:bodyPr wrap="square" anchor="t" lIns="50800" rIns="50800" tIns="25400" bIns="25400">
            <a:spAutoFit/>
          </a:bodyPr>
          <a:lstStyle/>
          <a:p>
            <a:pPr algn="l">
              <a:lnSpc>
                <a:spcPct val="110000"/>
              </a:lnSpc>
              <a:spcAft>
                <a:spcPts val="400"/>
              </a:spcAft>
            </a:pPr>
            <a:r>
              <a:rPr sz="1200" b="0">
                <a:solidFill>
                  <a:srgbClr val="5A636E"/>
                </a:solidFill>
                <a:latin typeface="微软雅黑"/>
                <a:ea typeface="微软雅黑"/>
                <a:cs typeface="微软雅黑"/>
              </a:rPr>
              <a:t>港口枢纽能力、开放平台与航运服务</a:t>
            </a:r>
          </a:p>
        </p:txBody>
      </p:sp>
      <p:sp>
        <p:nvSpPr>
          <p:cNvPr id="10" name="Rectangle 9"/>
          <p:cNvSpPr/>
          <p:nvPr/>
        </p:nvSpPr>
        <p:spPr>
          <a:xfrm>
            <a:off x="4297680" y="1417320"/>
            <a:ext cx="3611880" cy="210312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45920"/>
            <a:ext cx="3246120" cy="36576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1A6B6B"/>
                </a:solidFill>
                <a:latin typeface="微软雅黑"/>
                <a:ea typeface="微软雅黑"/>
                <a:cs typeface="微软雅黑"/>
              </a:rPr>
              <a:t>02</a:t>
            </a:r>
          </a:p>
        </p:txBody>
      </p:sp>
      <p:sp>
        <p:nvSpPr>
          <p:cNvPr id="12" name="TextBox 11"/>
          <p:cNvSpPr txBox="1"/>
          <p:nvPr/>
        </p:nvSpPr>
        <p:spPr>
          <a:xfrm>
            <a:off x="4480560" y="2057400"/>
            <a:ext cx="3246120" cy="64008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0B3D5C"/>
                </a:solidFill>
                <a:latin typeface="微软雅黑"/>
                <a:ea typeface="微软雅黑"/>
                <a:cs typeface="微软雅黑"/>
              </a:rPr>
              <a:t>宁波经济技术开发区重点产业园区</a:t>
            </a:r>
          </a:p>
        </p:txBody>
      </p:sp>
      <p:sp>
        <p:nvSpPr>
          <p:cNvPr id="13" name="TextBox 12"/>
          <p:cNvSpPr txBox="1"/>
          <p:nvPr/>
        </p:nvSpPr>
        <p:spPr>
          <a:xfrm>
            <a:off x="4480560" y="2743200"/>
            <a:ext cx="3246120" cy="548640"/>
          </a:xfrm>
          <a:prstGeom prst="rect">
            <a:avLst/>
          </a:prstGeom>
          <a:noFill/>
        </p:spPr>
        <p:txBody>
          <a:bodyPr wrap="square" anchor="t" lIns="50800" rIns="50800" tIns="25400" bIns="25400">
            <a:spAutoFit/>
          </a:bodyPr>
          <a:lstStyle/>
          <a:p>
            <a:pPr algn="l">
              <a:lnSpc>
                <a:spcPct val="110000"/>
              </a:lnSpc>
              <a:spcAft>
                <a:spcPts val="400"/>
              </a:spcAft>
            </a:pPr>
            <a:r>
              <a:rPr sz="1200" b="0">
                <a:solidFill>
                  <a:srgbClr val="5A636E"/>
                </a:solidFill>
                <a:latin typeface="微软雅黑"/>
                <a:ea typeface="微软雅黑"/>
                <a:cs typeface="微软雅黑"/>
              </a:rPr>
              <a:t>主导产业集聚区、标准厂房与科创载体</a:t>
            </a:r>
          </a:p>
        </p:txBody>
      </p:sp>
      <p:sp>
        <p:nvSpPr>
          <p:cNvPr id="14" name="Rectangle 13"/>
          <p:cNvSpPr/>
          <p:nvPr/>
        </p:nvSpPr>
        <p:spPr>
          <a:xfrm>
            <a:off x="8138160" y="1417320"/>
            <a:ext cx="3611880" cy="210312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645920"/>
            <a:ext cx="3246120" cy="36576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1A6B6B"/>
                </a:solidFill>
                <a:latin typeface="微软雅黑"/>
                <a:ea typeface="微软雅黑"/>
                <a:cs typeface="微软雅黑"/>
              </a:rPr>
              <a:t>03</a:t>
            </a:r>
          </a:p>
        </p:txBody>
      </p:sp>
      <p:sp>
        <p:nvSpPr>
          <p:cNvPr id="16" name="TextBox 15"/>
          <p:cNvSpPr txBox="1"/>
          <p:nvPr/>
        </p:nvSpPr>
        <p:spPr>
          <a:xfrm>
            <a:off x="8321040" y="2057400"/>
            <a:ext cx="3246120" cy="64008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0B3D5C"/>
                </a:solidFill>
                <a:latin typeface="微软雅黑"/>
                <a:ea typeface="微软雅黑"/>
                <a:cs typeface="微软雅黑"/>
              </a:rPr>
              <a:t>当地特色先进制造 / 新材料企业</a:t>
            </a:r>
          </a:p>
        </p:txBody>
      </p:sp>
      <p:sp>
        <p:nvSpPr>
          <p:cNvPr id="17" name="TextBox 16"/>
          <p:cNvSpPr txBox="1"/>
          <p:nvPr/>
        </p:nvSpPr>
        <p:spPr>
          <a:xfrm>
            <a:off x="8321040" y="2743200"/>
            <a:ext cx="3246120" cy="548640"/>
          </a:xfrm>
          <a:prstGeom prst="rect">
            <a:avLst/>
          </a:prstGeom>
          <a:noFill/>
        </p:spPr>
        <p:txBody>
          <a:bodyPr wrap="square" anchor="t" lIns="50800" rIns="50800" tIns="25400" bIns="25400">
            <a:spAutoFit/>
          </a:bodyPr>
          <a:lstStyle/>
          <a:p>
            <a:pPr algn="l">
              <a:lnSpc>
                <a:spcPct val="110000"/>
              </a:lnSpc>
              <a:spcAft>
                <a:spcPts val="400"/>
              </a:spcAft>
            </a:pPr>
            <a:r>
              <a:rPr sz="1200" b="0">
                <a:solidFill>
                  <a:srgbClr val="5A636E"/>
                </a:solidFill>
                <a:latin typeface="微软雅黑"/>
                <a:ea typeface="微软雅黑"/>
                <a:cs typeface="微软雅黑"/>
              </a:rPr>
              <a:t>产能、供应链与沪企合作场景</a:t>
            </a:r>
          </a:p>
        </p:txBody>
      </p:sp>
      <p:sp>
        <p:nvSpPr>
          <p:cNvPr id="18" name="Rectangle 17"/>
          <p:cNvSpPr/>
          <p:nvPr/>
        </p:nvSpPr>
        <p:spPr>
          <a:xfrm>
            <a:off x="2011680" y="3931920"/>
            <a:ext cx="3611880" cy="210312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94560" y="4160520"/>
            <a:ext cx="3246120" cy="36576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1A6B6B"/>
                </a:solidFill>
                <a:latin typeface="微软雅黑"/>
                <a:ea typeface="微软雅黑"/>
                <a:cs typeface="微软雅黑"/>
              </a:rPr>
              <a:t>04</a:t>
            </a:r>
          </a:p>
        </p:txBody>
      </p:sp>
      <p:sp>
        <p:nvSpPr>
          <p:cNvPr id="20" name="TextBox 19"/>
          <p:cNvSpPr txBox="1"/>
          <p:nvPr/>
        </p:nvSpPr>
        <p:spPr>
          <a:xfrm>
            <a:off x="2194560" y="4572000"/>
            <a:ext cx="3246120" cy="64008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0B3D5C"/>
                </a:solidFill>
                <a:latin typeface="微软雅黑"/>
                <a:ea typeface="微软雅黑"/>
                <a:cs typeface="微软雅黑"/>
              </a:rPr>
              <a:t>科技企业孵化器 / 加速器</a:t>
            </a:r>
          </a:p>
        </p:txBody>
      </p:sp>
      <p:sp>
        <p:nvSpPr>
          <p:cNvPr id="21" name="TextBox 20"/>
          <p:cNvSpPr txBox="1"/>
          <p:nvPr/>
        </p:nvSpPr>
        <p:spPr>
          <a:xfrm>
            <a:off x="2194560" y="5257800"/>
            <a:ext cx="3246120" cy="548640"/>
          </a:xfrm>
          <a:prstGeom prst="rect">
            <a:avLst/>
          </a:prstGeom>
          <a:noFill/>
        </p:spPr>
        <p:txBody>
          <a:bodyPr wrap="square" anchor="t" lIns="50800" rIns="50800" tIns="25400" bIns="25400">
            <a:spAutoFit/>
          </a:bodyPr>
          <a:lstStyle/>
          <a:p>
            <a:pPr algn="l">
              <a:lnSpc>
                <a:spcPct val="110000"/>
              </a:lnSpc>
              <a:spcAft>
                <a:spcPts val="400"/>
              </a:spcAft>
            </a:pPr>
            <a:r>
              <a:rPr sz="1200" b="0">
                <a:solidFill>
                  <a:srgbClr val="5A636E"/>
                </a:solidFill>
                <a:latin typeface="微软雅黑"/>
                <a:ea typeface="微软雅黑"/>
                <a:cs typeface="微软雅黑"/>
              </a:rPr>
              <a:t>孵化体系、优惠政策与落地服务</a:t>
            </a:r>
          </a:p>
        </p:txBody>
      </p:sp>
      <p:sp>
        <p:nvSpPr>
          <p:cNvPr id="22" name="Rectangle 21"/>
          <p:cNvSpPr/>
          <p:nvPr/>
        </p:nvSpPr>
        <p:spPr>
          <a:xfrm>
            <a:off x="6126480" y="3931920"/>
            <a:ext cx="3611880" cy="210312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4160520"/>
            <a:ext cx="3246120" cy="36576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1A6B6B"/>
                </a:solidFill>
                <a:latin typeface="微软雅黑"/>
                <a:ea typeface="微软雅黑"/>
                <a:cs typeface="微软雅黑"/>
              </a:rPr>
              <a:t>05</a:t>
            </a:r>
          </a:p>
        </p:txBody>
      </p:sp>
      <p:sp>
        <p:nvSpPr>
          <p:cNvPr id="24" name="TextBox 23"/>
          <p:cNvSpPr txBox="1"/>
          <p:nvPr/>
        </p:nvSpPr>
        <p:spPr>
          <a:xfrm>
            <a:off x="6309360" y="4572000"/>
            <a:ext cx="3246120" cy="64008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0B3D5C"/>
                </a:solidFill>
                <a:latin typeface="微软雅黑"/>
                <a:ea typeface="微软雅黑"/>
                <a:cs typeface="微软雅黑"/>
              </a:rPr>
              <a:t>投促座谈与项目对接会场</a:t>
            </a:r>
          </a:p>
        </p:txBody>
      </p:sp>
      <p:sp>
        <p:nvSpPr>
          <p:cNvPr id="25" name="TextBox 24"/>
          <p:cNvSpPr txBox="1"/>
          <p:nvPr/>
        </p:nvSpPr>
        <p:spPr>
          <a:xfrm>
            <a:off x="6309360" y="5257800"/>
            <a:ext cx="3246120" cy="548640"/>
          </a:xfrm>
          <a:prstGeom prst="rect">
            <a:avLst/>
          </a:prstGeom>
          <a:noFill/>
        </p:spPr>
        <p:txBody>
          <a:bodyPr wrap="square" anchor="t" lIns="50800" rIns="50800" tIns="25400" bIns="25400">
            <a:spAutoFit/>
          </a:bodyPr>
          <a:lstStyle/>
          <a:p>
            <a:pPr algn="l">
              <a:lnSpc>
                <a:spcPct val="110000"/>
              </a:lnSpc>
              <a:spcAft>
                <a:spcPts val="400"/>
              </a:spcAft>
            </a:pPr>
            <a:r>
              <a:rPr sz="1200" b="0">
                <a:solidFill>
                  <a:srgbClr val="5A636E"/>
                </a:solidFill>
                <a:latin typeface="微软雅黑"/>
                <a:ea typeface="微软雅黑"/>
                <a:cs typeface="微软雅黑"/>
              </a:rPr>
              <a:t>政策宣讲、企业交流与投洽对接</a:t>
            </a:r>
          </a:p>
        </p:txBody>
      </p:sp>
      <p:sp>
        <p:nvSpPr>
          <p:cNvPr id="26" name="TextBox 25"/>
          <p:cNvSpPr txBox="1"/>
          <p:nvPr/>
        </p:nvSpPr>
        <p:spPr>
          <a:xfrm>
            <a:off x="457200" y="6473952"/>
            <a:ext cx="9144000" cy="274320"/>
          </a:xfrm>
          <a:prstGeom prst="rect">
            <a:avLst/>
          </a:prstGeom>
          <a:noFill/>
        </p:spPr>
        <p:txBody>
          <a:bodyPr wrap="square" anchor="t" lIns="50800" rIns="50800" tIns="25400" bIns="25400">
            <a:spAutoFit/>
          </a:bodyPr>
          <a:lstStyle/>
          <a:p>
            <a:pPr algn="l">
              <a:lnSpc>
                <a:spcPct val="110000"/>
              </a:lnSpc>
              <a:spcAft>
                <a:spcPts val="400"/>
              </a:spcAft>
            </a:pPr>
            <a:r>
              <a:rPr sz="900" b="0">
                <a:solidFill>
                  <a:srgbClr val="5A636E"/>
                </a:solidFill>
                <a:latin typeface="微软雅黑"/>
                <a:ea typeface="微软雅黑"/>
                <a:cs typeface="微软雅黑"/>
              </a:rPr>
              <a:t>复旦大学住房政策研究中心 · 上海市杨浦区科技企业联合会 → 宁波经开区投促局</a:t>
            </a:r>
          </a:p>
        </p:txBody>
      </p:sp>
      <p:sp>
        <p:nvSpPr>
          <p:cNvPr id="27" name="TextBox 26"/>
          <p:cNvSpPr txBox="1"/>
          <p:nvPr/>
        </p:nvSpPr>
        <p:spPr>
          <a:xfrm>
            <a:off x="10881360" y="6473952"/>
            <a:ext cx="1005840" cy="274320"/>
          </a:xfrm>
          <a:prstGeom prst="rect">
            <a:avLst/>
          </a:prstGeom>
          <a:noFill/>
        </p:spPr>
        <p:txBody>
          <a:bodyPr wrap="square" anchor="t" lIns="50800" rIns="50800" tIns="25400" bIns="25400">
            <a:spAutoFit/>
          </a:bodyPr>
          <a:lstStyle/>
          <a:p>
            <a:pPr algn="r">
              <a:lnSpc>
                <a:spcPct val="110000"/>
              </a:lnSpc>
              <a:spcAft>
                <a:spcPts val="400"/>
              </a:spcAft>
            </a:pPr>
            <a:r>
              <a:rPr sz="900" b="0">
                <a:solidFill>
                  <a:srgbClr val="5A636E"/>
                </a:solidFill>
                <a:latin typeface="微软雅黑"/>
                <a:ea typeface="微软雅黑"/>
                <a:cs typeface="微软雅黑"/>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7315200" cy="320040"/>
          </a:xfrm>
          <a:prstGeom prst="rect">
            <a:avLst/>
          </a:prstGeom>
          <a:noFill/>
        </p:spPr>
        <p:txBody>
          <a:bodyPr wrap="square" anchor="t" lIns="50800" rIns="50800" tIns="25400" bIns="25400">
            <a:spAutoFit/>
          </a:bodyPr>
          <a:lstStyle/>
          <a:p>
            <a:pPr algn="l">
              <a:lnSpc>
                <a:spcPct val="110000"/>
              </a:lnSpc>
              <a:spcAft>
                <a:spcPts val="400"/>
              </a:spcAft>
            </a:pPr>
            <a:r>
              <a:rPr sz="1200" b="1">
                <a:solidFill>
                  <a:srgbClr val="C47E1A"/>
                </a:solidFill>
                <a:latin typeface="微软雅黑"/>
                <a:ea typeface="微软雅黑"/>
                <a:cs typeface="微软雅黑"/>
              </a:rPr>
              <a:t>06 预期成果</a:t>
            </a:r>
          </a:p>
        </p:txBody>
      </p:sp>
      <p:sp>
        <p:nvSpPr>
          <p:cNvPr id="5" name="TextBox 4"/>
          <p:cNvSpPr txBox="1"/>
          <p:nvPr/>
        </p:nvSpPr>
        <p:spPr>
          <a:xfrm>
            <a:off x="457200" y="365760"/>
            <a:ext cx="11247120" cy="640080"/>
          </a:xfrm>
          <a:prstGeom prst="rect">
            <a:avLst/>
          </a:prstGeom>
          <a:noFill/>
        </p:spPr>
        <p:txBody>
          <a:bodyPr wrap="square" anchor="t" lIns="50800" rIns="50800" tIns="25400" bIns="25400">
            <a:spAutoFit/>
          </a:bodyPr>
          <a:lstStyle/>
          <a:p>
            <a:pPr algn="l">
              <a:lnSpc>
                <a:spcPct val="110000"/>
              </a:lnSpc>
              <a:spcAft>
                <a:spcPts val="400"/>
              </a:spcAft>
            </a:pPr>
            <a:r>
              <a:rPr sz="2400" b="1">
                <a:solidFill>
                  <a:srgbClr val="FFFFFF"/>
                </a:solidFill>
                <a:latin typeface="微软雅黑"/>
                <a:ea typeface="微软雅黑"/>
                <a:cs typeface="微软雅黑"/>
              </a:rPr>
              <a:t>一次成行 · 多项跟进 · 机制沉淀</a:t>
            </a:r>
          </a:p>
        </p:txBody>
      </p:sp>
      <p:sp>
        <p:nvSpPr>
          <p:cNvPr id="6" name="TextBox 5"/>
          <p:cNvSpPr txBox="1"/>
          <p:nvPr/>
        </p:nvSpPr>
        <p:spPr>
          <a:xfrm>
            <a:off x="457200" y="1280160"/>
            <a:ext cx="5669280" cy="4754880"/>
          </a:xfrm>
          <a:prstGeom prst="rect">
            <a:avLst/>
          </a:prstGeom>
          <a:noFill/>
        </p:spPr>
        <p:txBody>
          <a:bodyPr wrap="square" anchor="t" lIns="50800" rIns="50800" tIns="25400" bIns="25400">
            <a:spAutoFit/>
          </a:bodyPr>
          <a:lstStyle/>
          <a:p>
            <a:pPr algn="l">
              <a:lnSpc>
                <a:spcPct val="110000"/>
              </a:lnSpc>
              <a:spcAft>
                <a:spcPts val="800"/>
              </a:spcAft>
            </a:pPr>
            <a:r>
              <a:rPr sz="1400" b="1">
                <a:solidFill>
                  <a:srgbClr val="1A6B6B"/>
                </a:solidFill>
                <a:latin typeface="微软雅黑"/>
                <a:ea typeface="微软雅黑"/>
                <a:cs typeface="微软雅黑"/>
              </a:rPr>
              <a:t>本次预期成果</a:t>
            </a:r>
          </a:p>
          <a:p>
            <a:pPr algn="l">
              <a:lnSpc>
                <a:spcPct val="110000"/>
              </a:lnSpc>
              <a:spcAft>
                <a:spcPts val="1000"/>
              </a:spcAft>
            </a:pPr>
            <a:r>
              <a:rPr sz="1250" b="0">
                <a:solidFill>
                  <a:srgbClr val="222A33"/>
                </a:solidFill>
                <a:latin typeface="微软雅黑"/>
                <a:ea typeface="微软雅黑"/>
                <a:cs typeface="微软雅黑"/>
              </a:rPr>
              <a:t>· 形成《宁波港及经开区考察交流纪要》与参访影像资料。</a:t>
            </a:r>
          </a:p>
          <a:p>
            <a:pPr algn="l">
              <a:lnSpc>
                <a:spcPct val="110000"/>
              </a:lnSpc>
              <a:spcAft>
                <a:spcPts val="1000"/>
              </a:spcAft>
            </a:pPr>
            <a:r>
              <a:rPr sz="1250" b="0">
                <a:solidFill>
                  <a:srgbClr val="222A33"/>
                </a:solidFill>
                <a:latin typeface="微软雅黑"/>
                <a:ea typeface="微软雅黑"/>
                <a:cs typeface="微软雅黑"/>
              </a:rPr>
              <a:t>· 形成企业 / 投资机构合作意向清单（项目线索库），明确责任人与跟进节点。</a:t>
            </a:r>
          </a:p>
          <a:p>
            <a:pPr algn="l">
              <a:lnSpc>
                <a:spcPct val="110000"/>
              </a:lnSpc>
              <a:spcAft>
                <a:spcPts val="1000"/>
              </a:spcAft>
            </a:pPr>
            <a:r>
              <a:rPr sz="1250" b="0">
                <a:solidFill>
                  <a:srgbClr val="222A33"/>
                </a:solidFill>
                <a:latin typeface="微软雅黑"/>
                <a:ea typeface="微软雅黑"/>
                <a:cs typeface="微软雅黑"/>
              </a:rPr>
              <a:t>· 推动 1–若干个可落地合作事项：企业考察回访、设立分支、产能合作、孵化入驻或投融资对接。</a:t>
            </a:r>
          </a:p>
          <a:p>
            <a:pPr algn="l">
              <a:lnSpc>
                <a:spcPct val="110000"/>
              </a:lnSpc>
              <a:spcAft>
                <a:spcPts val="1000"/>
              </a:spcAft>
            </a:pPr>
            <a:r>
              <a:rPr sz="1250" b="0">
                <a:solidFill>
                  <a:srgbClr val="222A33"/>
                </a:solidFill>
                <a:latin typeface="微软雅黑"/>
                <a:ea typeface="微软雅黑"/>
                <a:cs typeface="微软雅黑"/>
              </a:rPr>
              <a:t>· 建立组织方与宁波经济技术开发区投资促进局的常态化联络机制，约定后续双向交流频次。</a:t>
            </a:r>
          </a:p>
        </p:txBody>
      </p:sp>
      <p:sp>
        <p:nvSpPr>
          <p:cNvPr id="7" name="Rectangle 6"/>
          <p:cNvSpPr/>
          <p:nvPr/>
        </p:nvSpPr>
        <p:spPr>
          <a:xfrm>
            <a:off x="6309360" y="1280160"/>
            <a:ext cx="5394960" cy="4754880"/>
          </a:xfrm>
          <a:prstGeom prst="rect">
            <a:avLst/>
          </a:prstGeom>
          <a:solidFill>
            <a:srgbClr val="07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508760"/>
            <a:ext cx="4937760" cy="36576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C47E1A"/>
                </a:solidFill>
                <a:latin typeface="微软雅黑"/>
                <a:ea typeface="微软雅黑"/>
                <a:cs typeface="微软雅黑"/>
              </a:rPr>
              <a:t>长效合作设想</a:t>
            </a:r>
          </a:p>
        </p:txBody>
      </p:sp>
      <p:sp>
        <p:nvSpPr>
          <p:cNvPr id="9" name="TextBox 8"/>
          <p:cNvSpPr txBox="1"/>
          <p:nvPr/>
        </p:nvSpPr>
        <p:spPr>
          <a:xfrm>
            <a:off x="6583680" y="2011680"/>
            <a:ext cx="4937760" cy="3749039"/>
          </a:xfrm>
          <a:prstGeom prst="rect">
            <a:avLst/>
          </a:prstGeom>
          <a:noFill/>
        </p:spPr>
        <p:txBody>
          <a:bodyPr wrap="square" anchor="t" lIns="50800" rIns="50800" tIns="25400" bIns="25400">
            <a:spAutoFit/>
          </a:bodyPr>
          <a:lstStyle/>
          <a:p>
            <a:pPr algn="l">
              <a:lnSpc>
                <a:spcPct val="110000"/>
              </a:lnSpc>
              <a:spcAft>
                <a:spcPts val="400"/>
              </a:spcAft>
            </a:pPr>
            <a:r>
              <a:rPr sz="1300" b="1">
                <a:solidFill>
                  <a:srgbClr val="2A8F8F"/>
                </a:solidFill>
                <a:latin typeface="微软雅黑"/>
                <a:ea typeface="微软雅黑"/>
                <a:cs typeface="微软雅黑"/>
              </a:rPr>
              <a:t>机制共建</a:t>
            </a:r>
          </a:p>
          <a:p>
            <a:pPr algn="l">
              <a:lnSpc>
                <a:spcPct val="110000"/>
              </a:lnSpc>
              <a:spcAft>
                <a:spcPts val="1000"/>
              </a:spcAft>
            </a:pPr>
            <a:r>
              <a:rPr sz="1200" b="0">
                <a:solidFill>
                  <a:srgbClr val="FFFFFF"/>
                </a:solidFill>
                <a:latin typeface="微软雅黑"/>
                <a:ea typeface="微软雅黑"/>
                <a:cs typeface="微软雅黑"/>
              </a:rPr>
              <a:t>探索“沪甬科技企业家定期互访 + 专题投促日”常态机制</a:t>
            </a:r>
          </a:p>
          <a:p>
            <a:pPr algn="l">
              <a:lnSpc>
                <a:spcPct val="110000"/>
              </a:lnSpc>
              <a:spcAft>
                <a:spcPts val="400"/>
              </a:spcAft>
            </a:pPr>
            <a:r>
              <a:rPr sz="1300" b="1">
                <a:solidFill>
                  <a:srgbClr val="2A8F8F"/>
                </a:solidFill>
                <a:latin typeface="微软雅黑"/>
                <a:ea typeface="微软雅黑"/>
                <a:cs typeface="微软雅黑"/>
              </a:rPr>
              <a:t>项目共推</a:t>
            </a:r>
          </a:p>
          <a:p>
            <a:pPr algn="l">
              <a:lnSpc>
                <a:spcPct val="110000"/>
              </a:lnSpc>
              <a:spcAft>
                <a:spcPts val="1000"/>
              </a:spcAft>
            </a:pPr>
            <a:r>
              <a:rPr sz="1200" b="0">
                <a:solidFill>
                  <a:srgbClr val="FFFFFF"/>
                </a:solidFill>
                <a:latin typeface="微软雅黑"/>
                <a:ea typeface="微软雅黑"/>
                <a:cs typeface="微软雅黑"/>
              </a:rPr>
              <a:t>共同筛选适配开发区产业方向的上海企业与校友项目</a:t>
            </a:r>
          </a:p>
          <a:p>
            <a:pPr algn="l">
              <a:lnSpc>
                <a:spcPct val="110000"/>
              </a:lnSpc>
              <a:spcAft>
                <a:spcPts val="400"/>
              </a:spcAft>
            </a:pPr>
            <a:r>
              <a:rPr sz="1300" b="1">
                <a:solidFill>
                  <a:srgbClr val="2A8F8F"/>
                </a:solidFill>
                <a:latin typeface="微软雅黑"/>
                <a:ea typeface="微软雅黑"/>
                <a:cs typeface="微软雅黑"/>
              </a:rPr>
              <a:t>资本协同</a:t>
            </a:r>
          </a:p>
          <a:p>
            <a:pPr algn="l">
              <a:lnSpc>
                <a:spcPct val="110000"/>
              </a:lnSpc>
              <a:spcAft>
                <a:spcPts val="1000"/>
              </a:spcAft>
            </a:pPr>
            <a:r>
              <a:rPr sz="1200" b="0">
                <a:solidFill>
                  <a:srgbClr val="FFFFFF"/>
                </a:solidFill>
                <a:latin typeface="微软雅黑"/>
                <a:ea typeface="微软雅黑"/>
                <a:cs typeface="微软雅黑"/>
              </a:rPr>
              <a:t>引入 PE/VC、CVC 关注当地优质项目，促进资本与产业双向奔赴</a:t>
            </a:r>
          </a:p>
          <a:p>
            <a:pPr algn="l">
              <a:lnSpc>
                <a:spcPct val="110000"/>
              </a:lnSpc>
              <a:spcAft>
                <a:spcPts val="400"/>
              </a:spcAft>
            </a:pPr>
            <a:r>
              <a:rPr sz="1300" b="1">
                <a:solidFill>
                  <a:srgbClr val="2A8F8F"/>
                </a:solidFill>
                <a:latin typeface="微软雅黑"/>
                <a:ea typeface="微软雅黑"/>
                <a:cs typeface="微软雅黑"/>
              </a:rPr>
              <a:t>品牌联动</a:t>
            </a:r>
          </a:p>
          <a:p>
            <a:pPr algn="l">
              <a:lnSpc>
                <a:spcPct val="110000"/>
              </a:lnSpc>
              <a:spcAft>
                <a:spcPts val="1000"/>
              </a:spcAft>
            </a:pPr>
            <a:r>
              <a:rPr sz="1200" b="0">
                <a:solidFill>
                  <a:srgbClr val="FFFFFF"/>
                </a:solidFill>
                <a:latin typeface="微软雅黑"/>
                <a:ea typeface="微软雅黑"/>
                <a:cs typeface="微软雅黑"/>
              </a:rPr>
              <a:t>在合规前提下开展联合活动、联合发布与案例宣传</a:t>
            </a:r>
          </a:p>
        </p:txBody>
      </p:sp>
      <p:sp>
        <p:nvSpPr>
          <p:cNvPr id="10" name="TextBox 9"/>
          <p:cNvSpPr txBox="1"/>
          <p:nvPr/>
        </p:nvSpPr>
        <p:spPr>
          <a:xfrm>
            <a:off x="457200" y="6473952"/>
            <a:ext cx="9144000" cy="274320"/>
          </a:xfrm>
          <a:prstGeom prst="rect">
            <a:avLst/>
          </a:prstGeom>
          <a:noFill/>
        </p:spPr>
        <p:txBody>
          <a:bodyPr wrap="square" anchor="t" lIns="50800" rIns="50800" tIns="25400" bIns="25400">
            <a:spAutoFit/>
          </a:bodyPr>
          <a:lstStyle/>
          <a:p>
            <a:pPr algn="l">
              <a:lnSpc>
                <a:spcPct val="110000"/>
              </a:lnSpc>
              <a:spcAft>
                <a:spcPts val="400"/>
              </a:spcAft>
            </a:pPr>
            <a:r>
              <a:rPr sz="900" b="0">
                <a:solidFill>
                  <a:srgbClr val="5A636E"/>
                </a:solidFill>
                <a:latin typeface="微软雅黑"/>
                <a:ea typeface="微软雅黑"/>
                <a:cs typeface="微软雅黑"/>
              </a:rPr>
              <a:t>复旦大学住房政策研究中心 · 上海市杨浦区科技企业联合会 → 宁波经开区投促局</a:t>
            </a:r>
          </a:p>
        </p:txBody>
      </p:sp>
      <p:sp>
        <p:nvSpPr>
          <p:cNvPr id="11" name="TextBox 10"/>
          <p:cNvSpPr txBox="1"/>
          <p:nvPr/>
        </p:nvSpPr>
        <p:spPr>
          <a:xfrm>
            <a:off x="10881360" y="6473952"/>
            <a:ext cx="1005840" cy="274320"/>
          </a:xfrm>
          <a:prstGeom prst="rect">
            <a:avLst/>
          </a:prstGeom>
          <a:noFill/>
        </p:spPr>
        <p:txBody>
          <a:bodyPr wrap="square" anchor="t" lIns="50800" rIns="50800" tIns="25400" bIns="25400">
            <a:spAutoFit/>
          </a:bodyPr>
          <a:lstStyle/>
          <a:p>
            <a:pPr algn="r">
              <a:lnSpc>
                <a:spcPct val="110000"/>
              </a:lnSpc>
              <a:spcAft>
                <a:spcPts val="400"/>
              </a:spcAft>
            </a:pPr>
            <a:r>
              <a:rPr sz="900" b="0">
                <a:solidFill>
                  <a:srgbClr val="5A636E"/>
                </a:solidFill>
                <a:latin typeface="微软雅黑"/>
                <a:ea typeface="微软雅黑"/>
                <a:cs typeface="微软雅黑"/>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7315200" cy="320040"/>
          </a:xfrm>
          <a:prstGeom prst="rect">
            <a:avLst/>
          </a:prstGeom>
          <a:noFill/>
        </p:spPr>
        <p:txBody>
          <a:bodyPr wrap="square" anchor="t" lIns="50800" rIns="50800" tIns="25400" bIns="25400">
            <a:spAutoFit/>
          </a:bodyPr>
          <a:lstStyle/>
          <a:p>
            <a:pPr algn="l">
              <a:lnSpc>
                <a:spcPct val="110000"/>
              </a:lnSpc>
              <a:spcAft>
                <a:spcPts val="400"/>
              </a:spcAft>
            </a:pPr>
            <a:r>
              <a:rPr sz="1200" b="1">
                <a:solidFill>
                  <a:srgbClr val="C47E1A"/>
                </a:solidFill>
                <a:latin typeface="微软雅黑"/>
                <a:ea typeface="微软雅黑"/>
                <a:cs typeface="微软雅黑"/>
              </a:rPr>
              <a:t>06 恳请支持</a:t>
            </a:r>
          </a:p>
        </p:txBody>
      </p:sp>
      <p:sp>
        <p:nvSpPr>
          <p:cNvPr id="5" name="TextBox 4"/>
          <p:cNvSpPr txBox="1"/>
          <p:nvPr/>
        </p:nvSpPr>
        <p:spPr>
          <a:xfrm>
            <a:off x="457200" y="365760"/>
            <a:ext cx="11247120" cy="640080"/>
          </a:xfrm>
          <a:prstGeom prst="rect">
            <a:avLst/>
          </a:prstGeom>
          <a:noFill/>
        </p:spPr>
        <p:txBody>
          <a:bodyPr wrap="square" anchor="t" lIns="50800" rIns="50800" tIns="25400" bIns="25400">
            <a:spAutoFit/>
          </a:bodyPr>
          <a:lstStyle/>
          <a:p>
            <a:pPr algn="l">
              <a:lnSpc>
                <a:spcPct val="110000"/>
              </a:lnSpc>
              <a:spcAft>
                <a:spcPts val="400"/>
              </a:spcAft>
            </a:pPr>
            <a:r>
              <a:rPr sz="2400" b="1">
                <a:solidFill>
                  <a:srgbClr val="FFFFFF"/>
                </a:solidFill>
                <a:latin typeface="微软雅黑"/>
                <a:ea typeface="微软雅黑"/>
                <a:cs typeface="微软雅黑"/>
              </a:rPr>
              <a:t>请宁波经济技术开发区投资促进局予以指导</a:t>
            </a:r>
          </a:p>
        </p:txBody>
      </p:sp>
      <p:sp>
        <p:nvSpPr>
          <p:cNvPr id="6" name="Rectangle 5"/>
          <p:cNvSpPr/>
          <p:nvPr/>
        </p:nvSpPr>
        <p:spPr>
          <a:xfrm>
            <a:off x="411480" y="1325880"/>
            <a:ext cx="3657600" cy="20574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25880"/>
            <a:ext cx="3657600" cy="508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54480"/>
            <a:ext cx="3291840" cy="41148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0B3D5C"/>
                </a:solidFill>
                <a:latin typeface="微软雅黑"/>
                <a:ea typeface="微软雅黑"/>
                <a:cs typeface="微软雅黑"/>
              </a:rPr>
              <a:t>1. 接待统筹</a:t>
            </a:r>
          </a:p>
        </p:txBody>
      </p:sp>
      <p:sp>
        <p:nvSpPr>
          <p:cNvPr id="9" name="TextBox 8"/>
          <p:cNvSpPr txBox="1"/>
          <p:nvPr/>
        </p:nvSpPr>
        <p:spPr>
          <a:xfrm>
            <a:off x="594360" y="2103120"/>
            <a:ext cx="3291840" cy="1051560"/>
          </a:xfrm>
          <a:prstGeom prst="rect">
            <a:avLst/>
          </a:prstGeom>
          <a:noFill/>
        </p:spPr>
        <p:txBody>
          <a:bodyPr wrap="square" anchor="t" lIns="50800" rIns="50800" tIns="25400" bIns="25400">
            <a:spAutoFit/>
          </a:bodyPr>
          <a:lstStyle/>
          <a:p>
            <a:pPr algn="l">
              <a:lnSpc>
                <a:spcPct val="110000"/>
              </a:lnSpc>
              <a:spcAft>
                <a:spcPts val="400"/>
              </a:spcAft>
            </a:pPr>
            <a:r>
              <a:rPr sz="1200" b="0">
                <a:solidFill>
                  <a:srgbClr val="222A33"/>
                </a:solidFill>
                <a:latin typeface="微软雅黑"/>
                <a:ea typeface="微软雅黑"/>
                <a:cs typeface="微软雅黑"/>
              </a:rPr>
              <a:t>指定对接人，统筹行程、车辆、会场与安全保障</a:t>
            </a:r>
          </a:p>
        </p:txBody>
      </p:sp>
      <p:sp>
        <p:nvSpPr>
          <p:cNvPr id="10" name="Rectangle 9"/>
          <p:cNvSpPr/>
          <p:nvPr/>
        </p:nvSpPr>
        <p:spPr>
          <a:xfrm>
            <a:off x="4251960" y="1325880"/>
            <a:ext cx="3657600" cy="20574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60" y="1325880"/>
            <a:ext cx="3657600" cy="508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554480"/>
            <a:ext cx="3291840" cy="41148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0B3D5C"/>
                </a:solidFill>
                <a:latin typeface="微软雅黑"/>
                <a:ea typeface="微软雅黑"/>
                <a:cs typeface="微软雅黑"/>
              </a:rPr>
              <a:t>2. 港口与企业协调</a:t>
            </a:r>
          </a:p>
        </p:txBody>
      </p:sp>
      <p:sp>
        <p:nvSpPr>
          <p:cNvPr id="13" name="TextBox 12"/>
          <p:cNvSpPr txBox="1"/>
          <p:nvPr/>
        </p:nvSpPr>
        <p:spPr>
          <a:xfrm>
            <a:off x="4434840" y="2103120"/>
            <a:ext cx="3291840" cy="1051560"/>
          </a:xfrm>
          <a:prstGeom prst="rect">
            <a:avLst/>
          </a:prstGeom>
          <a:noFill/>
        </p:spPr>
        <p:txBody>
          <a:bodyPr wrap="square" anchor="t" lIns="50800" rIns="50800" tIns="25400" bIns="25400">
            <a:spAutoFit/>
          </a:bodyPr>
          <a:lstStyle/>
          <a:p>
            <a:pPr algn="l">
              <a:lnSpc>
                <a:spcPct val="110000"/>
              </a:lnSpc>
              <a:spcAft>
                <a:spcPts val="400"/>
              </a:spcAft>
            </a:pPr>
            <a:r>
              <a:rPr sz="1200" b="0">
                <a:solidFill>
                  <a:srgbClr val="222A33"/>
                </a:solidFill>
                <a:latin typeface="微软雅黑"/>
                <a:ea typeface="微软雅黑"/>
                <a:cs typeface="微软雅黑"/>
              </a:rPr>
              <a:t>协助安排宁波港参访及 2–4 家当地特色企业 / 园区开放接待</a:t>
            </a:r>
          </a:p>
        </p:txBody>
      </p:sp>
      <p:sp>
        <p:nvSpPr>
          <p:cNvPr id="14" name="Rectangle 13"/>
          <p:cNvSpPr/>
          <p:nvPr/>
        </p:nvSpPr>
        <p:spPr>
          <a:xfrm>
            <a:off x="8092440" y="1325880"/>
            <a:ext cx="3657600" cy="20574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2440" y="1325880"/>
            <a:ext cx="3657600" cy="508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1554480"/>
            <a:ext cx="3291840" cy="41148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0B3D5C"/>
                </a:solidFill>
                <a:latin typeface="微软雅黑"/>
                <a:ea typeface="微软雅黑"/>
                <a:cs typeface="微软雅黑"/>
              </a:rPr>
              <a:t>3. 政策与载体介绍</a:t>
            </a:r>
          </a:p>
        </p:txBody>
      </p:sp>
      <p:sp>
        <p:nvSpPr>
          <p:cNvPr id="17" name="TextBox 16"/>
          <p:cNvSpPr txBox="1"/>
          <p:nvPr/>
        </p:nvSpPr>
        <p:spPr>
          <a:xfrm>
            <a:off x="8275320" y="2103120"/>
            <a:ext cx="3291840" cy="1051560"/>
          </a:xfrm>
          <a:prstGeom prst="rect">
            <a:avLst/>
          </a:prstGeom>
          <a:noFill/>
        </p:spPr>
        <p:txBody>
          <a:bodyPr wrap="square" anchor="t" lIns="50800" rIns="50800" tIns="25400" bIns="25400">
            <a:spAutoFit/>
          </a:bodyPr>
          <a:lstStyle/>
          <a:p>
            <a:pPr algn="l">
              <a:lnSpc>
                <a:spcPct val="110000"/>
              </a:lnSpc>
              <a:spcAft>
                <a:spcPts val="400"/>
              </a:spcAft>
            </a:pPr>
            <a:r>
              <a:rPr sz="1200" b="0">
                <a:solidFill>
                  <a:srgbClr val="222A33"/>
                </a:solidFill>
                <a:latin typeface="微软雅黑"/>
                <a:ea typeface="微软雅黑"/>
                <a:cs typeface="微软雅黑"/>
              </a:rPr>
              <a:t>安排招商政策、产业规划与可用载体的专题介绍</a:t>
            </a:r>
          </a:p>
        </p:txBody>
      </p:sp>
      <p:sp>
        <p:nvSpPr>
          <p:cNvPr id="18" name="Rectangle 17"/>
          <p:cNvSpPr/>
          <p:nvPr/>
        </p:nvSpPr>
        <p:spPr>
          <a:xfrm>
            <a:off x="411480" y="3611880"/>
            <a:ext cx="3657600" cy="20574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 y="3611880"/>
            <a:ext cx="3657600" cy="508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840480"/>
            <a:ext cx="3291840" cy="41148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0B3D5C"/>
                </a:solidFill>
                <a:latin typeface="微软雅黑"/>
                <a:ea typeface="微软雅黑"/>
                <a:cs typeface="微软雅黑"/>
              </a:rPr>
              <a:t>4. 座谈与投洽组织</a:t>
            </a:r>
          </a:p>
        </p:txBody>
      </p:sp>
      <p:sp>
        <p:nvSpPr>
          <p:cNvPr id="21" name="TextBox 20"/>
          <p:cNvSpPr txBox="1"/>
          <p:nvPr/>
        </p:nvSpPr>
        <p:spPr>
          <a:xfrm>
            <a:off x="594360" y="4389120"/>
            <a:ext cx="3291840" cy="1051560"/>
          </a:xfrm>
          <a:prstGeom prst="rect">
            <a:avLst/>
          </a:prstGeom>
          <a:noFill/>
        </p:spPr>
        <p:txBody>
          <a:bodyPr wrap="square" anchor="t" lIns="50800" rIns="50800" tIns="25400" bIns="25400">
            <a:spAutoFit/>
          </a:bodyPr>
          <a:lstStyle/>
          <a:p>
            <a:pPr algn="l">
              <a:lnSpc>
                <a:spcPct val="110000"/>
              </a:lnSpc>
              <a:spcAft>
                <a:spcPts val="400"/>
              </a:spcAft>
            </a:pPr>
            <a:r>
              <a:rPr sz="1200" b="0">
                <a:solidFill>
                  <a:srgbClr val="222A33"/>
                </a:solidFill>
                <a:latin typeface="微软雅黑"/>
                <a:ea typeface="微软雅黑"/>
                <a:cs typeface="微软雅黑"/>
              </a:rPr>
              <a:t>视日程安排组织投促干部、企业与投资相关方座谈或闭门对接</a:t>
            </a:r>
          </a:p>
        </p:txBody>
      </p:sp>
      <p:sp>
        <p:nvSpPr>
          <p:cNvPr id="22" name="Rectangle 21"/>
          <p:cNvSpPr/>
          <p:nvPr/>
        </p:nvSpPr>
        <p:spPr>
          <a:xfrm>
            <a:off x="4251960" y="3611880"/>
            <a:ext cx="3657600" cy="20574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51960" y="3611880"/>
            <a:ext cx="3657600" cy="508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34840" y="3840480"/>
            <a:ext cx="3291840" cy="41148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0B3D5C"/>
                </a:solidFill>
                <a:latin typeface="微软雅黑"/>
                <a:ea typeface="微软雅黑"/>
                <a:cs typeface="微软雅黑"/>
              </a:rPr>
              <a:t>5. 资料支持</a:t>
            </a:r>
          </a:p>
        </p:txBody>
      </p:sp>
      <p:sp>
        <p:nvSpPr>
          <p:cNvPr id="25" name="TextBox 24"/>
          <p:cNvSpPr txBox="1"/>
          <p:nvPr/>
        </p:nvSpPr>
        <p:spPr>
          <a:xfrm>
            <a:off x="4434840" y="4389120"/>
            <a:ext cx="3291840" cy="1051560"/>
          </a:xfrm>
          <a:prstGeom prst="rect">
            <a:avLst/>
          </a:prstGeom>
          <a:noFill/>
        </p:spPr>
        <p:txBody>
          <a:bodyPr wrap="square" anchor="t" lIns="50800" rIns="50800" tIns="25400" bIns="25400">
            <a:spAutoFit/>
          </a:bodyPr>
          <a:lstStyle/>
          <a:p>
            <a:pPr algn="l">
              <a:lnSpc>
                <a:spcPct val="110000"/>
              </a:lnSpc>
              <a:spcAft>
                <a:spcPts val="400"/>
              </a:spcAft>
            </a:pPr>
            <a:r>
              <a:rPr sz="1200" b="0">
                <a:solidFill>
                  <a:srgbClr val="222A33"/>
                </a:solidFill>
                <a:latin typeface="微软雅黑"/>
                <a:ea typeface="微软雅黑"/>
                <a:cs typeface="微软雅黑"/>
              </a:rPr>
              <a:t>提供开发区简介、产业图谱、招商手册及可公开的项目信息（如有）</a:t>
            </a:r>
          </a:p>
        </p:txBody>
      </p:sp>
      <p:sp>
        <p:nvSpPr>
          <p:cNvPr id="26" name="Rectangle 25"/>
          <p:cNvSpPr/>
          <p:nvPr/>
        </p:nvSpPr>
        <p:spPr>
          <a:xfrm>
            <a:off x="8092440" y="3611880"/>
            <a:ext cx="3657600" cy="20574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92440" y="3611880"/>
            <a:ext cx="3657600" cy="508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5320" y="3840480"/>
            <a:ext cx="3291840" cy="41148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0B3D5C"/>
                </a:solidFill>
                <a:latin typeface="微软雅黑"/>
                <a:ea typeface="微软雅黑"/>
                <a:cs typeface="微软雅黑"/>
              </a:rPr>
              <a:t>6. 日程确认</a:t>
            </a:r>
          </a:p>
        </p:txBody>
      </p:sp>
      <p:sp>
        <p:nvSpPr>
          <p:cNvPr id="29" name="TextBox 28"/>
          <p:cNvSpPr txBox="1"/>
          <p:nvPr/>
        </p:nvSpPr>
        <p:spPr>
          <a:xfrm>
            <a:off x="8275320" y="4389120"/>
            <a:ext cx="3291840" cy="1051560"/>
          </a:xfrm>
          <a:prstGeom prst="rect">
            <a:avLst/>
          </a:prstGeom>
          <a:noFill/>
        </p:spPr>
        <p:txBody>
          <a:bodyPr wrap="square" anchor="t" lIns="50800" rIns="50800" tIns="25400" bIns="25400">
            <a:spAutoFit/>
          </a:bodyPr>
          <a:lstStyle/>
          <a:p>
            <a:pPr algn="l">
              <a:lnSpc>
                <a:spcPct val="110000"/>
              </a:lnSpc>
              <a:spcAft>
                <a:spcPts val="400"/>
              </a:spcAft>
            </a:pPr>
            <a:r>
              <a:rPr sz="1200" b="0">
                <a:solidFill>
                  <a:srgbClr val="222A33"/>
                </a:solidFill>
                <a:latin typeface="微软雅黑"/>
                <a:ea typeface="微软雅黑"/>
                <a:cs typeface="微软雅黑"/>
              </a:rPr>
              <a:t>就 8–10 月窗口内具体日期、参访点与人数上限给予反馈建议</a:t>
            </a:r>
          </a:p>
        </p:txBody>
      </p:sp>
      <p:sp>
        <p:nvSpPr>
          <p:cNvPr id="30" name="TextBox 29"/>
          <p:cNvSpPr txBox="1"/>
          <p:nvPr/>
        </p:nvSpPr>
        <p:spPr>
          <a:xfrm>
            <a:off x="457200" y="6473952"/>
            <a:ext cx="9144000" cy="274320"/>
          </a:xfrm>
          <a:prstGeom prst="rect">
            <a:avLst/>
          </a:prstGeom>
          <a:noFill/>
        </p:spPr>
        <p:txBody>
          <a:bodyPr wrap="square" anchor="t" lIns="50800" rIns="50800" tIns="25400" bIns="25400">
            <a:spAutoFit/>
          </a:bodyPr>
          <a:lstStyle/>
          <a:p>
            <a:pPr algn="l">
              <a:lnSpc>
                <a:spcPct val="110000"/>
              </a:lnSpc>
              <a:spcAft>
                <a:spcPts val="400"/>
              </a:spcAft>
            </a:pPr>
            <a:r>
              <a:rPr sz="900" b="0">
                <a:solidFill>
                  <a:srgbClr val="5A636E"/>
                </a:solidFill>
                <a:latin typeface="微软雅黑"/>
                <a:ea typeface="微软雅黑"/>
                <a:cs typeface="微软雅黑"/>
              </a:rPr>
              <a:t>复旦大学住房政策研究中心 · 上海市杨浦区科技企业联合会 → 宁波经开区投促局</a:t>
            </a:r>
          </a:p>
        </p:txBody>
      </p:sp>
      <p:sp>
        <p:nvSpPr>
          <p:cNvPr id="31" name="TextBox 30"/>
          <p:cNvSpPr txBox="1"/>
          <p:nvPr/>
        </p:nvSpPr>
        <p:spPr>
          <a:xfrm>
            <a:off x="10881360" y="6473952"/>
            <a:ext cx="1005840" cy="274320"/>
          </a:xfrm>
          <a:prstGeom prst="rect">
            <a:avLst/>
          </a:prstGeom>
          <a:noFill/>
        </p:spPr>
        <p:txBody>
          <a:bodyPr wrap="square" anchor="t" lIns="50800" rIns="50800" tIns="25400" bIns="25400">
            <a:spAutoFit/>
          </a:bodyPr>
          <a:lstStyle/>
          <a:p>
            <a:pPr algn="r">
              <a:lnSpc>
                <a:spcPct val="110000"/>
              </a:lnSpc>
              <a:spcAft>
                <a:spcPts val="400"/>
              </a:spcAft>
            </a:pPr>
            <a:r>
              <a:rPr sz="900" b="0">
                <a:solidFill>
                  <a:srgbClr val="5A636E"/>
                </a:solidFill>
                <a:latin typeface="微软雅黑"/>
                <a:ea typeface="微软雅黑"/>
                <a:cs typeface="微软雅黑"/>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7315200" cy="320040"/>
          </a:xfrm>
          <a:prstGeom prst="rect">
            <a:avLst/>
          </a:prstGeom>
          <a:noFill/>
        </p:spPr>
        <p:txBody>
          <a:bodyPr wrap="square" anchor="t" lIns="50800" rIns="50800" tIns="25400" bIns="25400">
            <a:spAutoFit/>
          </a:bodyPr>
          <a:lstStyle/>
          <a:p>
            <a:pPr algn="l">
              <a:lnSpc>
                <a:spcPct val="110000"/>
              </a:lnSpc>
              <a:spcAft>
                <a:spcPts val="400"/>
              </a:spcAft>
            </a:pPr>
            <a:r>
              <a:rPr sz="1200" b="1">
                <a:solidFill>
                  <a:srgbClr val="C47E1A"/>
                </a:solidFill>
                <a:latin typeface="微软雅黑"/>
                <a:ea typeface="微软雅黑"/>
                <a:cs typeface="微软雅黑"/>
              </a:rPr>
              <a:t>下一步</a:t>
            </a:r>
          </a:p>
        </p:txBody>
      </p:sp>
      <p:sp>
        <p:nvSpPr>
          <p:cNvPr id="5" name="TextBox 4"/>
          <p:cNvSpPr txBox="1"/>
          <p:nvPr/>
        </p:nvSpPr>
        <p:spPr>
          <a:xfrm>
            <a:off x="457200" y="365760"/>
            <a:ext cx="11247120" cy="640080"/>
          </a:xfrm>
          <a:prstGeom prst="rect">
            <a:avLst/>
          </a:prstGeom>
          <a:noFill/>
        </p:spPr>
        <p:txBody>
          <a:bodyPr wrap="square" anchor="t" lIns="50800" rIns="50800" tIns="25400" bIns="25400">
            <a:spAutoFit/>
          </a:bodyPr>
          <a:lstStyle/>
          <a:p>
            <a:pPr algn="l">
              <a:lnSpc>
                <a:spcPct val="110000"/>
              </a:lnSpc>
              <a:spcAft>
                <a:spcPts val="400"/>
              </a:spcAft>
            </a:pPr>
            <a:r>
              <a:rPr sz="2400" b="1">
                <a:solidFill>
                  <a:srgbClr val="FFFFFF"/>
                </a:solidFill>
                <a:latin typeface="微软雅黑"/>
                <a:ea typeface="微软雅黑"/>
                <a:cs typeface="微软雅黑"/>
              </a:rPr>
              <a:t>从策划案到成行的五步路径</a:t>
            </a:r>
          </a:p>
        </p:txBody>
      </p:sp>
      <p:sp>
        <p:nvSpPr>
          <p:cNvPr id="6" name="Rectangle 5"/>
          <p:cNvSpPr/>
          <p:nvPr/>
        </p:nvSpPr>
        <p:spPr>
          <a:xfrm>
            <a:off x="457200" y="1371600"/>
            <a:ext cx="11247120" cy="77724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3200400" cy="411480"/>
          </a:xfrm>
          <a:prstGeom prst="rect">
            <a:avLst/>
          </a:prstGeom>
          <a:noFill/>
        </p:spPr>
        <p:txBody>
          <a:bodyPr wrap="square" anchor="ctr" lIns="50800" rIns="50800" tIns="25400" bIns="25400">
            <a:spAutoFit/>
          </a:bodyPr>
          <a:lstStyle/>
          <a:p>
            <a:pPr algn="l">
              <a:lnSpc>
                <a:spcPct val="110000"/>
              </a:lnSpc>
              <a:spcAft>
                <a:spcPts val="400"/>
              </a:spcAft>
            </a:pPr>
            <a:r>
              <a:rPr sz="1400" b="1">
                <a:solidFill>
                  <a:srgbClr val="1A6B6B"/>
                </a:solidFill>
                <a:latin typeface="微软雅黑"/>
                <a:ea typeface="微软雅黑"/>
                <a:cs typeface="微软雅黑"/>
              </a:rPr>
              <a:t>① 本策划案送达</a:t>
            </a:r>
          </a:p>
        </p:txBody>
      </p:sp>
      <p:sp>
        <p:nvSpPr>
          <p:cNvPr id="8" name="TextBox 7"/>
          <p:cNvSpPr txBox="1"/>
          <p:nvPr/>
        </p:nvSpPr>
        <p:spPr>
          <a:xfrm>
            <a:off x="4023360" y="1554480"/>
            <a:ext cx="7406640" cy="411480"/>
          </a:xfrm>
          <a:prstGeom prst="rect">
            <a:avLst/>
          </a:prstGeom>
          <a:noFill/>
        </p:spPr>
        <p:txBody>
          <a:bodyPr wrap="square" anchor="ctr" lIns="50800" rIns="50800" tIns="25400" bIns="25400">
            <a:spAutoFit/>
          </a:bodyPr>
          <a:lstStyle/>
          <a:p>
            <a:pPr algn="l">
              <a:lnSpc>
                <a:spcPct val="110000"/>
              </a:lnSpc>
              <a:spcAft>
                <a:spcPts val="400"/>
              </a:spcAft>
            </a:pPr>
            <a:r>
              <a:rPr sz="1300" b="0">
                <a:solidFill>
                  <a:srgbClr val="222A33"/>
                </a:solidFill>
                <a:latin typeface="微软雅黑"/>
                <a:ea typeface="微软雅黑"/>
                <a:cs typeface="微软雅黑"/>
              </a:rPr>
              <a:t>提交宁波经济技术开发区投资促进局审阅</a:t>
            </a:r>
          </a:p>
        </p:txBody>
      </p:sp>
      <p:sp>
        <p:nvSpPr>
          <p:cNvPr id="9" name="Rectangle 8"/>
          <p:cNvSpPr/>
          <p:nvPr/>
        </p:nvSpPr>
        <p:spPr>
          <a:xfrm>
            <a:off x="457200" y="2240280"/>
            <a:ext cx="11247120" cy="777240"/>
          </a:xfrm>
          <a:prstGeom prst="rect">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23160"/>
            <a:ext cx="3200400" cy="411480"/>
          </a:xfrm>
          <a:prstGeom prst="rect">
            <a:avLst/>
          </a:prstGeom>
          <a:noFill/>
        </p:spPr>
        <p:txBody>
          <a:bodyPr wrap="square" anchor="ctr" lIns="50800" rIns="50800" tIns="25400" bIns="25400">
            <a:spAutoFit/>
          </a:bodyPr>
          <a:lstStyle/>
          <a:p>
            <a:pPr algn="l">
              <a:lnSpc>
                <a:spcPct val="110000"/>
              </a:lnSpc>
              <a:spcAft>
                <a:spcPts val="400"/>
              </a:spcAft>
            </a:pPr>
            <a:r>
              <a:rPr sz="1400" b="1">
                <a:solidFill>
                  <a:srgbClr val="1A6B6B"/>
                </a:solidFill>
                <a:latin typeface="微软雅黑"/>
                <a:ea typeface="微软雅黑"/>
                <a:cs typeface="微软雅黑"/>
              </a:rPr>
              <a:t>② 对接沟通</a:t>
            </a:r>
          </a:p>
        </p:txBody>
      </p:sp>
      <p:sp>
        <p:nvSpPr>
          <p:cNvPr id="11" name="TextBox 10"/>
          <p:cNvSpPr txBox="1"/>
          <p:nvPr/>
        </p:nvSpPr>
        <p:spPr>
          <a:xfrm>
            <a:off x="4023360" y="2423160"/>
            <a:ext cx="7406640" cy="411480"/>
          </a:xfrm>
          <a:prstGeom prst="rect">
            <a:avLst/>
          </a:prstGeom>
          <a:noFill/>
        </p:spPr>
        <p:txBody>
          <a:bodyPr wrap="square" anchor="ctr" lIns="50800" rIns="50800" tIns="25400" bIns="25400">
            <a:spAutoFit/>
          </a:bodyPr>
          <a:lstStyle/>
          <a:p>
            <a:pPr algn="l">
              <a:lnSpc>
                <a:spcPct val="110000"/>
              </a:lnSpc>
              <a:spcAft>
                <a:spcPts val="400"/>
              </a:spcAft>
            </a:pPr>
            <a:r>
              <a:rPr sz="1300" b="0">
                <a:solidFill>
                  <a:srgbClr val="222A33"/>
                </a:solidFill>
                <a:latin typeface="微软雅黑"/>
                <a:ea typeface="微软雅黑"/>
                <a:cs typeface="微软雅黑"/>
              </a:rPr>
              <a:t>双方确定窗口日期、行程深度（一日 / 两日）与参访意向点</a:t>
            </a:r>
          </a:p>
        </p:txBody>
      </p:sp>
      <p:sp>
        <p:nvSpPr>
          <p:cNvPr id="12" name="Rectangle 11"/>
          <p:cNvSpPr/>
          <p:nvPr/>
        </p:nvSpPr>
        <p:spPr>
          <a:xfrm>
            <a:off x="457200" y="3108960"/>
            <a:ext cx="11247120" cy="77724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291840"/>
            <a:ext cx="3200400" cy="411480"/>
          </a:xfrm>
          <a:prstGeom prst="rect">
            <a:avLst/>
          </a:prstGeom>
          <a:noFill/>
        </p:spPr>
        <p:txBody>
          <a:bodyPr wrap="square" anchor="ctr" lIns="50800" rIns="50800" tIns="25400" bIns="25400">
            <a:spAutoFit/>
          </a:bodyPr>
          <a:lstStyle/>
          <a:p>
            <a:pPr algn="l">
              <a:lnSpc>
                <a:spcPct val="110000"/>
              </a:lnSpc>
              <a:spcAft>
                <a:spcPts val="400"/>
              </a:spcAft>
            </a:pPr>
            <a:r>
              <a:rPr sz="1400" b="1">
                <a:solidFill>
                  <a:srgbClr val="1A6B6B"/>
                </a:solidFill>
                <a:latin typeface="微软雅黑"/>
                <a:ea typeface="微软雅黑"/>
                <a:cs typeface="微软雅黑"/>
              </a:rPr>
              <a:t>③ 人员确认</a:t>
            </a:r>
          </a:p>
        </p:txBody>
      </p:sp>
      <p:sp>
        <p:nvSpPr>
          <p:cNvPr id="14" name="TextBox 13"/>
          <p:cNvSpPr txBox="1"/>
          <p:nvPr/>
        </p:nvSpPr>
        <p:spPr>
          <a:xfrm>
            <a:off x="4023360" y="3291840"/>
            <a:ext cx="7406640" cy="411480"/>
          </a:xfrm>
          <a:prstGeom prst="rect">
            <a:avLst/>
          </a:prstGeom>
          <a:noFill/>
        </p:spPr>
        <p:txBody>
          <a:bodyPr wrap="square" anchor="ctr" lIns="50800" rIns="50800" tIns="25400" bIns="25400">
            <a:spAutoFit/>
          </a:bodyPr>
          <a:lstStyle/>
          <a:p>
            <a:pPr algn="l">
              <a:lnSpc>
                <a:spcPct val="110000"/>
              </a:lnSpc>
              <a:spcAft>
                <a:spcPts val="400"/>
              </a:spcAft>
            </a:pPr>
            <a:r>
              <a:rPr sz="1300" b="0">
                <a:solidFill>
                  <a:srgbClr val="222A33"/>
                </a:solidFill>
                <a:latin typeface="微软雅黑"/>
                <a:ea typeface="微软雅黑"/>
                <a:cs typeface="微软雅黑"/>
              </a:rPr>
              <a:t>组织方提交初步名单与需求问卷；接待单位反馈接待容量</a:t>
            </a:r>
          </a:p>
        </p:txBody>
      </p:sp>
      <p:sp>
        <p:nvSpPr>
          <p:cNvPr id="15" name="Rectangle 14"/>
          <p:cNvSpPr/>
          <p:nvPr/>
        </p:nvSpPr>
        <p:spPr>
          <a:xfrm>
            <a:off x="457200" y="3977640"/>
            <a:ext cx="11247120" cy="777240"/>
          </a:xfrm>
          <a:prstGeom prst="rect">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160520"/>
            <a:ext cx="3200400" cy="411480"/>
          </a:xfrm>
          <a:prstGeom prst="rect">
            <a:avLst/>
          </a:prstGeom>
          <a:noFill/>
        </p:spPr>
        <p:txBody>
          <a:bodyPr wrap="square" anchor="ctr" lIns="50800" rIns="50800" tIns="25400" bIns="25400">
            <a:spAutoFit/>
          </a:bodyPr>
          <a:lstStyle/>
          <a:p>
            <a:pPr algn="l">
              <a:lnSpc>
                <a:spcPct val="110000"/>
              </a:lnSpc>
              <a:spcAft>
                <a:spcPts val="400"/>
              </a:spcAft>
            </a:pPr>
            <a:r>
              <a:rPr sz="1400" b="1">
                <a:solidFill>
                  <a:srgbClr val="1A6B6B"/>
                </a:solidFill>
                <a:latin typeface="微软雅黑"/>
                <a:ea typeface="微软雅黑"/>
                <a:cs typeface="微软雅黑"/>
              </a:rPr>
              <a:t>④ 正式行程锁定</a:t>
            </a:r>
          </a:p>
        </p:txBody>
      </p:sp>
      <p:sp>
        <p:nvSpPr>
          <p:cNvPr id="17" name="TextBox 16"/>
          <p:cNvSpPr txBox="1"/>
          <p:nvPr/>
        </p:nvSpPr>
        <p:spPr>
          <a:xfrm>
            <a:off x="4023360" y="4160520"/>
            <a:ext cx="7406640" cy="411480"/>
          </a:xfrm>
          <a:prstGeom prst="rect">
            <a:avLst/>
          </a:prstGeom>
          <a:noFill/>
        </p:spPr>
        <p:txBody>
          <a:bodyPr wrap="square" anchor="ctr" lIns="50800" rIns="50800" tIns="25400" bIns="25400">
            <a:spAutoFit/>
          </a:bodyPr>
          <a:lstStyle/>
          <a:p>
            <a:pPr algn="l">
              <a:lnSpc>
                <a:spcPct val="110000"/>
              </a:lnSpc>
              <a:spcAft>
                <a:spcPts val="400"/>
              </a:spcAft>
            </a:pPr>
            <a:r>
              <a:rPr sz="1300" b="0">
                <a:solidFill>
                  <a:srgbClr val="222A33"/>
                </a:solidFill>
                <a:latin typeface="微软雅黑"/>
                <a:ea typeface="微软雅黑"/>
                <a:cs typeface="微软雅黑"/>
              </a:rPr>
              <a:t>形成最终日程、参访企业名单与对接会议安排</a:t>
            </a:r>
          </a:p>
        </p:txBody>
      </p:sp>
      <p:sp>
        <p:nvSpPr>
          <p:cNvPr id="18" name="Rectangle 17"/>
          <p:cNvSpPr/>
          <p:nvPr/>
        </p:nvSpPr>
        <p:spPr>
          <a:xfrm>
            <a:off x="457200" y="4846320"/>
            <a:ext cx="11247120" cy="77724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029200"/>
            <a:ext cx="3200400" cy="411480"/>
          </a:xfrm>
          <a:prstGeom prst="rect">
            <a:avLst/>
          </a:prstGeom>
          <a:noFill/>
        </p:spPr>
        <p:txBody>
          <a:bodyPr wrap="square" anchor="ctr" lIns="50800" rIns="50800" tIns="25400" bIns="25400">
            <a:spAutoFit/>
          </a:bodyPr>
          <a:lstStyle/>
          <a:p>
            <a:pPr algn="l">
              <a:lnSpc>
                <a:spcPct val="110000"/>
              </a:lnSpc>
              <a:spcAft>
                <a:spcPts val="400"/>
              </a:spcAft>
            </a:pPr>
            <a:r>
              <a:rPr sz="1400" b="1">
                <a:solidFill>
                  <a:srgbClr val="1A6B6B"/>
                </a:solidFill>
                <a:latin typeface="微软雅黑"/>
                <a:ea typeface="微软雅黑"/>
                <a:cs typeface="微软雅黑"/>
              </a:rPr>
              <a:t>⑤ 成行与复盘</a:t>
            </a:r>
          </a:p>
        </p:txBody>
      </p:sp>
      <p:sp>
        <p:nvSpPr>
          <p:cNvPr id="20" name="TextBox 19"/>
          <p:cNvSpPr txBox="1"/>
          <p:nvPr/>
        </p:nvSpPr>
        <p:spPr>
          <a:xfrm>
            <a:off x="4023360" y="5029200"/>
            <a:ext cx="7406640" cy="411480"/>
          </a:xfrm>
          <a:prstGeom prst="rect">
            <a:avLst/>
          </a:prstGeom>
          <a:noFill/>
        </p:spPr>
        <p:txBody>
          <a:bodyPr wrap="square" anchor="ctr" lIns="50800" rIns="50800" tIns="25400" bIns="25400">
            <a:spAutoFit/>
          </a:bodyPr>
          <a:lstStyle/>
          <a:p>
            <a:pPr algn="l">
              <a:lnSpc>
                <a:spcPct val="110000"/>
              </a:lnSpc>
              <a:spcAft>
                <a:spcPts val="400"/>
              </a:spcAft>
            </a:pPr>
            <a:r>
              <a:rPr sz="1300" b="0">
                <a:solidFill>
                  <a:srgbClr val="222A33"/>
                </a:solidFill>
                <a:latin typeface="微软雅黑"/>
                <a:ea typeface="微软雅黑"/>
                <a:cs typeface="微软雅黑"/>
              </a:rPr>
              <a:t>完成考察交流，一周内形成纪要与线索跟进表</a:t>
            </a:r>
          </a:p>
        </p:txBody>
      </p:sp>
      <p:sp>
        <p:nvSpPr>
          <p:cNvPr id="21" name="TextBox 20"/>
          <p:cNvSpPr txBox="1"/>
          <p:nvPr/>
        </p:nvSpPr>
        <p:spPr>
          <a:xfrm>
            <a:off x="457200" y="6473952"/>
            <a:ext cx="9144000" cy="274320"/>
          </a:xfrm>
          <a:prstGeom prst="rect">
            <a:avLst/>
          </a:prstGeom>
          <a:noFill/>
        </p:spPr>
        <p:txBody>
          <a:bodyPr wrap="square" anchor="t" lIns="50800" rIns="50800" tIns="25400" bIns="25400">
            <a:spAutoFit/>
          </a:bodyPr>
          <a:lstStyle/>
          <a:p>
            <a:pPr algn="l">
              <a:lnSpc>
                <a:spcPct val="110000"/>
              </a:lnSpc>
              <a:spcAft>
                <a:spcPts val="400"/>
              </a:spcAft>
            </a:pPr>
            <a:r>
              <a:rPr sz="900" b="0">
                <a:solidFill>
                  <a:srgbClr val="5A636E"/>
                </a:solidFill>
                <a:latin typeface="微软雅黑"/>
                <a:ea typeface="微软雅黑"/>
                <a:cs typeface="微软雅黑"/>
              </a:rPr>
              <a:t>复旦大学住房政策研究中心 · 上海市杨浦区科技企业联合会 → 宁波经开区投促局</a:t>
            </a:r>
          </a:p>
        </p:txBody>
      </p:sp>
      <p:sp>
        <p:nvSpPr>
          <p:cNvPr id="22" name="TextBox 21"/>
          <p:cNvSpPr txBox="1"/>
          <p:nvPr/>
        </p:nvSpPr>
        <p:spPr>
          <a:xfrm>
            <a:off x="10881360" y="6473952"/>
            <a:ext cx="1005840" cy="274320"/>
          </a:xfrm>
          <a:prstGeom prst="rect">
            <a:avLst/>
          </a:prstGeom>
          <a:noFill/>
        </p:spPr>
        <p:txBody>
          <a:bodyPr wrap="square" anchor="t" lIns="50800" rIns="50800" tIns="25400" bIns="25400">
            <a:spAutoFit/>
          </a:bodyPr>
          <a:lstStyle/>
          <a:p>
            <a:pPr algn="r">
              <a:lnSpc>
                <a:spcPct val="110000"/>
              </a:lnSpc>
              <a:spcAft>
                <a:spcPts val="400"/>
              </a:spcAft>
            </a:pPr>
            <a:r>
              <a:rPr sz="900" b="0">
                <a:solidFill>
                  <a:srgbClr val="5A636E"/>
                </a:solidFill>
                <a:latin typeface="微软雅黑"/>
                <a:ea typeface="微软雅黑"/>
                <a:cs typeface="微软雅黑"/>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A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515600" cy="457200"/>
          </a:xfrm>
          <a:prstGeom prst="rect">
            <a:avLst/>
          </a:prstGeom>
          <a:noFill/>
        </p:spPr>
        <p:txBody>
          <a:bodyPr wrap="square" anchor="t" lIns="50800" rIns="50800" tIns="25400" bIns="25400">
            <a:spAutoFit/>
          </a:bodyPr>
          <a:lstStyle/>
          <a:p>
            <a:pPr algn="l">
              <a:lnSpc>
                <a:spcPct val="110000"/>
              </a:lnSpc>
              <a:spcAft>
                <a:spcPts val="400"/>
              </a:spcAft>
            </a:pPr>
            <a:r>
              <a:rPr sz="1400" b="1">
                <a:solidFill>
                  <a:srgbClr val="2A8F8F"/>
                </a:solidFill>
                <a:latin typeface="微软雅黑"/>
                <a:ea typeface="微软雅黑"/>
                <a:cs typeface="微软雅黑"/>
              </a:rPr>
              <a:t>期待与贵局携手</a:t>
            </a:r>
          </a:p>
        </p:txBody>
      </p:sp>
      <p:sp>
        <p:nvSpPr>
          <p:cNvPr id="5" name="TextBox 4"/>
          <p:cNvSpPr txBox="1"/>
          <p:nvPr/>
        </p:nvSpPr>
        <p:spPr>
          <a:xfrm>
            <a:off x="731520" y="2194560"/>
            <a:ext cx="10515600" cy="1371600"/>
          </a:xfrm>
          <a:prstGeom prst="rect">
            <a:avLst/>
          </a:prstGeom>
          <a:noFill/>
        </p:spPr>
        <p:txBody>
          <a:bodyPr wrap="square" anchor="t" lIns="50800" rIns="50800" tIns="25400" bIns="25400">
            <a:spAutoFit/>
          </a:bodyPr>
          <a:lstStyle/>
          <a:p>
            <a:pPr algn="l">
              <a:lnSpc>
                <a:spcPct val="110000"/>
              </a:lnSpc>
              <a:spcAft>
                <a:spcPts val="1000"/>
              </a:spcAft>
            </a:pPr>
            <a:r>
              <a:rPr sz="2800" b="1">
                <a:solidFill>
                  <a:srgbClr val="FFFFFF"/>
                </a:solidFill>
                <a:latin typeface="微软雅黑"/>
                <a:ea typeface="微软雅黑"/>
                <a:cs typeface="微软雅黑"/>
              </a:rPr>
              <a:t>以宁波港与经开区为纽带</a:t>
            </a:r>
          </a:p>
          <a:p>
            <a:pPr algn="l">
              <a:lnSpc>
                <a:spcPct val="110000"/>
              </a:lnSpc>
              <a:spcAft>
                <a:spcPts val="400"/>
              </a:spcAft>
            </a:pPr>
            <a:r>
              <a:rPr sz="2800" b="1">
                <a:solidFill>
                  <a:srgbClr val="FFFFFF"/>
                </a:solidFill>
                <a:latin typeface="微软雅黑"/>
                <a:ea typeface="微软雅黑"/>
                <a:cs typeface="微软雅黑"/>
              </a:rPr>
              <a:t>推动沪甬产业协同与资本对接</a:t>
            </a:r>
          </a:p>
        </p:txBody>
      </p:sp>
      <p:sp>
        <p:nvSpPr>
          <p:cNvPr id="6" name="TextBox 5"/>
          <p:cNvSpPr txBox="1"/>
          <p:nvPr/>
        </p:nvSpPr>
        <p:spPr>
          <a:xfrm>
            <a:off x="731520" y="3931920"/>
            <a:ext cx="10515600" cy="1097280"/>
          </a:xfrm>
          <a:prstGeom prst="rect">
            <a:avLst/>
          </a:prstGeom>
          <a:noFill/>
        </p:spPr>
        <p:txBody>
          <a:bodyPr wrap="square" anchor="t" lIns="50800" rIns="50800" tIns="25400" bIns="25400">
            <a:spAutoFit/>
          </a:bodyPr>
          <a:lstStyle/>
          <a:p>
            <a:pPr algn="l">
              <a:lnSpc>
                <a:spcPct val="110000"/>
              </a:lnSpc>
              <a:spcAft>
                <a:spcPts val="400"/>
              </a:spcAft>
            </a:pPr>
            <a:r>
              <a:rPr sz="1300" b="0">
                <a:solidFill>
                  <a:srgbClr val="B8CFDC"/>
                </a:solidFill>
                <a:latin typeface="微软雅黑"/>
                <a:ea typeface="微软雅黑"/>
                <a:cs typeface="微软雅黑"/>
              </a:rPr>
              <a:t>诚挚邀请宁波经济技术开发区投资促进局给予指导与支持。期待以本次考察为起点，推动复旦校友、上海科技企业家与宁波经开区在招商……</a:t>
            </a:r>
          </a:p>
        </p:txBody>
      </p:sp>
      <p:sp>
        <p:nvSpPr>
          <p:cNvPr id="7" name="TextBox 6"/>
          <p:cNvSpPr txBox="1"/>
          <p:nvPr/>
        </p:nvSpPr>
        <p:spPr>
          <a:xfrm>
            <a:off x="731520" y="5303520"/>
            <a:ext cx="10515600" cy="914400"/>
          </a:xfrm>
          <a:prstGeom prst="rect">
            <a:avLst/>
          </a:prstGeom>
          <a:noFill/>
        </p:spPr>
        <p:txBody>
          <a:bodyPr wrap="square" anchor="t" lIns="50800" rIns="50800" tIns="25400" bIns="25400">
            <a:spAutoFit/>
          </a:bodyPr>
          <a:lstStyle/>
          <a:p>
            <a:pPr algn="l">
              <a:lnSpc>
                <a:spcPct val="110000"/>
              </a:lnSpc>
              <a:spcAft>
                <a:spcPts val="600"/>
              </a:spcAft>
            </a:pPr>
            <a:r>
              <a:rPr sz="1400" b="1">
                <a:solidFill>
                  <a:srgbClr val="FFFFFF"/>
                </a:solidFill>
                <a:latin typeface="微软雅黑"/>
                <a:ea typeface="微软雅黑"/>
                <a:cs typeface="微软雅黑"/>
              </a:rPr>
              <a:t>复旦大学住房政策研究中心</a:t>
            </a:r>
          </a:p>
          <a:p>
            <a:pPr algn="l">
              <a:lnSpc>
                <a:spcPct val="110000"/>
              </a:lnSpc>
              <a:spcAft>
                <a:spcPts val="600"/>
              </a:spcAft>
            </a:pPr>
            <a:r>
              <a:rPr sz="1400" b="1">
                <a:solidFill>
                  <a:srgbClr val="FFFFFF"/>
                </a:solidFill>
                <a:latin typeface="微软雅黑"/>
                <a:ea typeface="微软雅黑"/>
                <a:cs typeface="微软雅黑"/>
              </a:rPr>
              <a:t>上海市杨浦区科技企业联合会</a:t>
            </a:r>
          </a:p>
          <a:p>
            <a:pPr algn="l">
              <a:lnSpc>
                <a:spcPct val="110000"/>
              </a:lnSpc>
              <a:spcAft>
                <a:spcPts val="400"/>
              </a:spcAft>
            </a:pPr>
            <a:r>
              <a:rPr sz="1200" b="0">
                <a:solidFill>
                  <a:srgbClr val="C47E1A"/>
                </a:solidFill>
                <a:latin typeface="微软雅黑"/>
                <a:ea typeface="微软雅黑"/>
                <a:cs typeface="微软雅黑"/>
              </a:rPr>
              <a:t>提交：宁波经济技术开发区投资促进局  ·  2026年7月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