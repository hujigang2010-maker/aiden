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37160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56032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49039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93776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执行总监(韦佳玉) → 7 大职能组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280160"/>
            <a:ext cx="210312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胡继刚（您）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286000"/>
            <a:ext cx="210312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统筹协调组（韦佳玉 执行总监）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0116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9260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91640" cy="5486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1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96311" y="3566160"/>
            <a:ext cx="1691640" cy="5486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96311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7751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7751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566160"/>
            <a:ext cx="169164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31736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8776" y="3566160"/>
            <a:ext cx="1691640" cy="54864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7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3566160"/>
            <a:ext cx="1691640" cy="54864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7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7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7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199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39" y="3566160"/>
            <a:ext cx="1691640" cy="54864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79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总指挥（胡继刚）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4424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执行总监+文件总管（韦佳玉）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4424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六组；议程脚本/会议记录/复盘主持；对讲机调度中枢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9392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科创资源对接专员（春子）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69392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聚焦科创赞助谈判+科技展位推进（自己提的科技展示建议自己主推）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  |  建议人数：6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  |  建议人数：4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  |  建议人数：4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本轮人员调整说明（总策划 5/14 v4 调整）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原则：应急组就位/技术组组长换律师/茶歇晚宴最适配人选/A 组职责再细分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 8 项调整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82296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刘严：F 副 → G 组长（应急/机动调配）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77440"/>
            <a:ext cx="82296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37744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蔡萍：G 急救主岗 → G 副组长（兼急救★）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26080"/>
            <a:ext cx="82296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92608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张卓：G 副 → E 组长（律师强协调，统筹技术）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474720"/>
            <a:ext cx="82296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47472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Winny：B → F 副组长（茶歇/晚宴主管 ★最适合）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82296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02336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吕志翔：E → C（投融资非技术，回归会务）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572000"/>
            <a:ext cx="82296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57200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马磊：D → G（机动+媒体应急口径）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120640"/>
            <a:ext cx="82296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12064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李振春：文件秘书 → 科创赞助专项（聚焦）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9280"/>
            <a:ext cx="82296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669280"/>
            <a:ext cx="4617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韦佳玉：执行总监 + 文件总管（接管李振春原职责）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28800"/>
            <a:ext cx="10972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19" y="1828800"/>
            <a:ext cx="6400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999" y="1828800"/>
            <a:ext cx="6400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79" y="1828800"/>
            <a:ext cx="82296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4039" y="1828800"/>
            <a:ext cx="22860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19" y="221284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999" y="221284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79" y="2212848"/>
            <a:ext cx="8229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64039" y="221284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71576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71576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0999" y="271576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79" y="2715768"/>
            <a:ext cx="822960" cy="50292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4039" y="271576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60919" y="321868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0999" y="321868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79" y="3218688"/>
            <a:ext cx="822960" cy="50292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64039" y="321868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/ 王珏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72160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19" y="372160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00999" y="372160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1079" y="3721608"/>
            <a:ext cx="822960" cy="50292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64039" y="372160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19" y="422452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00999" y="422452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41079" y="4224528"/>
            <a:ext cx="8229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64039" y="422452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张卓 / 随圣博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72744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472744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00999" y="472744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79" y="4727448"/>
            <a:ext cx="82296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64039" y="472744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★ Winny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60919" y="523036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00999" y="523036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1079" y="5230368"/>
            <a:ext cx="822960" cy="50292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64039" y="523036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刘严 / ★ 蔡萍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2762173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8412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8516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科创资源对接专员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5093" y="1325880"/>
            <a:ext cx="2762173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嘉宾接待组（5人）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6533" y="1783080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6533" y="2203704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624328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3044952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465576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4427" y="1325880"/>
            <a:ext cx="2762173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会务执行组（6人）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178308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组长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213359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48412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主持对接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83463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318516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颁奖执行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53567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圆桌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3761" y="1325880"/>
            <a:ext cx="2762173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媒体宣传组（4人）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3761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5201" y="1783080"/>
            <a:ext cx="2579293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5201" y="2308860"/>
            <a:ext cx="2579293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张蒙 AEGISTAR  -  副组长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5201" y="2834639"/>
            <a:ext cx="2579293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3360420"/>
            <a:ext cx="2579293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  -  直播+交响乐预热+媒体接待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069080"/>
            <a:ext cx="3728618" cy="38404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技术支持组（3人）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张卓 盈科  -  组长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22732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随圣博 Joshua-Sui  -  副组长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2836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31538" y="4069080"/>
            <a:ext cx="3728618" cy="384048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2978" y="452628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2978" y="522732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Winny 温妮  -  副组长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92836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茶歇+晚宴专员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7316" y="4069080"/>
            <a:ext cx="3728618" cy="38404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应急安全/机动组（4人）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7316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8756" y="4526280"/>
            <a:ext cx="3545738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刘严  -  组长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8756" y="5052060"/>
            <a:ext cx="3545738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蔡萍  -  副组长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756" y="5577840"/>
            <a:ext cx="3545738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机动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6103620"/>
            <a:ext cx="3545738" cy="5257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康诺斯 Conns  -  机动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371600"/>
            <a:ext cx="45720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71600"/>
            <a:ext cx="118872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71600"/>
            <a:ext cx="9144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371600"/>
            <a:ext cx="4023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55648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1755648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75564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755648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755648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0975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00975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009754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200975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00975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6386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26386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26386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26386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26386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1796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251796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51796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1796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51796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7207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83080" y="277207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77207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7207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277207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2618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302618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026182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暂缓→单列待办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302618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200" y="302618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需赞助谈判，春子+胡继刚 私下推进，不进 5/22 必交付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8028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328028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328028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28028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200" y="328028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53439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83080" y="353439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3534396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43800" y="353439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8200" y="353439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378850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8850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378850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378850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378850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042610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83080" y="4042610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4042610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43800" y="4042610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58200" y="4042610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296717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83080" y="4296717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4296717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4296717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58200" y="4296717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55082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83080" y="455082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4550824"/>
            <a:ext cx="1188720" cy="254106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43800" y="455082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455082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0493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83080" y="480493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480493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80493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458200" y="480493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05903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783080" y="505903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505903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43800" y="505903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58200" y="505903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31314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31314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531314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43800" y="531314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58200" y="531314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556725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783080" y="556725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5567252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43800" y="556725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58200" y="556725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82135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83080" y="582135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55080" y="582135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543800" y="582135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58200" y="582135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07546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83080" y="607546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55080" y="6075466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43800" y="607546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58200" y="607546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32957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783080" y="632957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55080" y="632957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43800" y="632957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58200" y="632957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828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5146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执行总监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5146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副总策划，统筹各组+文件总管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2004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2004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提供灯光/舞台/音响设备资源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8862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38862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45720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45720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57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5257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组组长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5257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应急安保+机动跨组调配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9436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59436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组科创对接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59436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科创赞助/科技展位推进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19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6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19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总策划缺席由韦佳玉全权代行；春子专注科创赞助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19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840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5276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19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6840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 20 年策划经验+自有设备；B 角中信证券计时主控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19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06840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角总策划指定；B 角自媒体+摄影核心岗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19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盈科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06840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5276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角律师协调统筹；B 角技术执行（操作设备）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19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06840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角建筑+协会运营；B 角空窗期时间最多+零售运营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19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06840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角统筹机动调配；B 角持急救证常驻医疗岗★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21 个里程碑 / T-9 ~ T+1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55448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057400" y="1371600"/>
            <a:ext cx="8595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60" y="1371600"/>
            <a:ext cx="146304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5564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75564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75564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8555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198555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60" y="198555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1546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21546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60" y="221546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45366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445366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60" y="2445366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7527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67527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60" y="267527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0517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290517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90517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5085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3135085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60" y="3135085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64992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3364992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60" y="3364992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9489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359489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物料/胸牌印刷下单（去年痛点：名牌制作晚）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60" y="359489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82480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7400" y="382480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腾讯/华为赞助物料对接清单确认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52760" y="382480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5471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405471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405471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284617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57400" y="4284617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4284617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51452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57400" y="451452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52760" y="451452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74442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57400" y="474442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52760" y="474442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74336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4974336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974336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204242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5204242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204242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34148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5434148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52760" y="5434148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4054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5664054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现场指挥部成立、对讲机分发、AED/急救包就位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52760" y="5664054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893961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57400" y="5893961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签到台开台、VIP 车队首班、直播试推流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5893961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6123867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6123867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分钟、广播开场倒计时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652760" y="6123867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353773"/>
            <a:ext cx="155448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57400" y="6353773"/>
            <a:ext cx="859536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52760" y="6353773"/>
            <a:ext cx="146304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1945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371600"/>
            <a:ext cx="7955279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59" y="1371600"/>
            <a:ext cx="14630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2880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59" y="182880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5712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235712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59" y="235712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8544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88544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59" y="288544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1376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1376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59" y="341376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4208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394208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59" y="394208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7040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447040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59" y="447040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9872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499872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59" y="499872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52704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552704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59" y="552704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05536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605536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59" y="605536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49377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40680" y="1371600"/>
            <a:ext cx="32004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1080" y="1371600"/>
            <a:ext cx="347472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场地/桌椅/赞助物料入场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783080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783080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67718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967718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967718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52356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2152356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2152356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6995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组协调/对接外包 AV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336995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张卓（组长）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2336995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随圣博（B 角）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21633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2521633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2521633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06272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2706272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2706272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890910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2890910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2890910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75549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 / 晚宴 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3075549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Winny（茶歇晚宴主管）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3075549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 / 朱俊峰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260187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3260187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3260187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44826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40680" y="3444826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3444826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9464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3629464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80" y="3629464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814103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814103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3814103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98741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40680" y="3998741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1080" y="3998741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83380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40680" y="4183380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41080" y="4183380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→ 韦佳玉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368018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圆桌嘉宾上下场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40680" y="4368018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吕志翔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80" y="4368018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52656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0680" y="4552656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41080" y="4552656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737295"/>
            <a:ext cx="493776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0680" y="4737295"/>
            <a:ext cx="320040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冯墨（律师）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4737295"/>
            <a:ext cx="347472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张卓（律师）→ 胡继刚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921933"/>
            <a:ext cx="493776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40680" y="4921933"/>
            <a:ext cx="320040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1080" y="4921933"/>
            <a:ext cx="347472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106572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40680" y="5106572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刘严（组长）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41080" y="5106572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 / 马磊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5291210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媒体应急口径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0680" y="5291210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马磊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5291210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葛九明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475849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入场安检/可疑人员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5475849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41080" y="5475849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5660487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40680" y="5660487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641080" y="5660487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45126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40680" y="5845126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641080" y="5845126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6029764"/>
            <a:ext cx="493776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科创展位/赞助谈判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40680" y="6029764"/>
            <a:ext cx="320040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41080" y="6029764"/>
            <a:ext cx="3474720" cy="18463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6214403"/>
            <a:ext cx="493776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议程脚本/会议记录/复盘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0680" y="6214403"/>
            <a:ext cx="320040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韦佳玉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41080" y="6214403"/>
            <a:ext cx="3474720" cy="18463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6399041"/>
            <a:ext cx="493776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40680" y="6399041"/>
            <a:ext cx="320040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41080" y="6399041"/>
            <a:ext cx="3474720" cy="18463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828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71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971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4114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257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5257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6576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6576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5720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45720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54864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54864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1371600"/>
            <a:ext cx="50292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82880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82880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201593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201593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74387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74387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47181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947181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319975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319975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692769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692769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065563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065563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4438356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644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438356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81115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81115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5183944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83944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5556738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5556738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83080" y="5929532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929532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6302326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0644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6302326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316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42316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42316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42316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2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1752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1752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01752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1188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61188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61188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20624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20624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0060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80060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480060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80060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39496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39496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39496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39496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598932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7639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98932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598932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8068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08068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508068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508068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7337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187337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187337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187337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6605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866605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866605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866605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45874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545874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545874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545874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25142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5225142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5225142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225142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04411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904411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904411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904411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280160"/>
            <a:ext cx="22860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280160"/>
            <a:ext cx="201168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3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69163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9163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69163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印刷完成（前移）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20116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0116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0116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0116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完成（去年痛点：太晚）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3172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233172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★志愿者专用橙色胸牌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233172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张（含韦佳玉）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0" y="233172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33172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完成（采纳张蒙建议）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517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26517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6517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6517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97180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25880" y="297180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97180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0" y="297180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97180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9183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329183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29183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9183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0" y="329183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36118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36118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6118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118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3192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25880" y="393192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393192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3192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393192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5195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425195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25195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台（分 3 频道）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425195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425195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25880" y="45720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★陈潇张江工厂灯光/舞台/音响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45720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套（自有资源）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23560" y="45720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5720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进场（陈潇主导，节省赞助）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920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" y="48920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8920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23560" y="48920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48920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2120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25880" y="52120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52120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60" y="52120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52120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试推（直播确认开启）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321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25880" y="55321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★地铁→场地快进短视频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55321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55321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55321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拍摄完成、T-3 群发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521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25880" y="58521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★交响乐往届预热视频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1880" y="58521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 短视频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23560" y="58521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58521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7219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617219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617219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23560" y="617219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617219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49224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1880" y="649224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23560" y="649224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649224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分装（前移）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2920" y="68122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25880" y="68122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11880" y="68122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23560" y="68122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29400" y="68122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前完成（晚宴名单 T-7 锁定）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713231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25880" y="713231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★赞助物料（腾讯/华为）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1880" y="713231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23560" y="713231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629400" y="713231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与品牌方对接确认（去年痛点）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745236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325880" y="745236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11880" y="745236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23560" y="745236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629400" y="745236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分装、当日 12:00 发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77724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25880" y="77724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1880" y="77724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623560" y="77724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629400" y="77724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2920" y="80924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25880" y="80924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★急救主岗（蔡萍持证）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11880" y="80924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23560" y="80924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29400" y="80924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841248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325880" y="841248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11880" y="841248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841248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629400" y="841248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发放（采纳张卓建议）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87325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25880" y="87325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611880" y="87325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87325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629400" y="87325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2920" y="90525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325880" y="90525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★T-2 嘉宾点对点提醒短信/微信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11880" y="90525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623560" y="90525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29400" y="90525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前完成（采纳JasonCAI建议）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1280160"/>
            <a:ext cx="310896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86800" y="169164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875520" y="169164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86800" y="233172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75520" y="233172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686800" y="297180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875520" y="297180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86800" y="3611879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875520" y="3611879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