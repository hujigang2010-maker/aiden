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91695" cy="914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634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256032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3749039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6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493776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双执行总监（韦佳玉统筹 + 陈潇会务）→ 7 大职能组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280160"/>
            <a:ext cx="3017520" cy="77724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 胡继刚（您）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331720"/>
            <a:ext cx="3474720" cy="7772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① 韦佳玉
（统筹方向 · A 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31720"/>
            <a:ext cx="3474720" cy="7772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② 陈潇 Kelly
（会务方向 · C 组组长）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05740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0" y="2240280"/>
            <a:ext cx="411480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2240280"/>
            <a:ext cx="36576" cy="9144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240280"/>
            <a:ext cx="36576" cy="9144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108960"/>
            <a:ext cx="45720" cy="18288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1691640" cy="59436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 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9271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1" y="3657600"/>
            <a:ext cx="1691640" cy="59436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96311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1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7751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 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7751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52544" y="3657600"/>
            <a:ext cx="1691640" cy="59436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2544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43984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4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31736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08776" y="3657600"/>
            <a:ext cx="1691640" cy="59436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08776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7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65007" y="3657600"/>
            <a:ext cx="1691640" cy="59436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65007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7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7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56447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44199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21239" y="3657600"/>
            <a:ext cx="1691640" cy="59436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21239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12679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2679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79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负责人：韦佳玉（执行总监）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总指挥（胡继刚）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全场最高决策；与主办/协办方对接；统筹双执行总监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8897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执行总监① 统筹方向（韦佳玉）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18897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议程脚本/会议记录/各组协调/复盘主持；对讲机调度中枢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91939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执行总监② 会务方向（陈潇 Kelly）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091939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流程/舞台/设备/制作（兼 C 组组长）；与韦佳玉并列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9491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嘉宾邀约+赞助落位（春子）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99491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①嘉宾邀约确认与全程跟进（外地交通/住宿） ②赞助资源对接落位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  |  建议人数：5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  |  建议人数：6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应急安全/机动组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本轮人员调整说明（总策划 5/14 v4 调整）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原则：应急组就位/技术组组长换律师/茶歇晚宴最适配人选/A 组职责再细分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 8 项调整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8288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刘严：F 副 → G 组长（应急/机动调配）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237744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蔡萍：G 急救主岗 → G 副组长（兼急救★）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92608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张卓：G 副 → E 组长（律师强协调，统筹技术）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7472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347472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Winny：B → F 副组长（茶歇/晚宴主管 ★最适合）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402336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吕志翔：E → C（投融资非技术，回归会务）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7200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45720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马磊：D → G（机动+媒体应急口径）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12064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512064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李振春：① 嘉宾邀约+跟进  ② 赞助资源对接落位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6928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566928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韦佳玉：执行总监 + 文件总管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人数变化（27 志愿者 + 总策划 = 28 人）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1828800"/>
            <a:ext cx="10972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1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099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79" y="1828800"/>
            <a:ext cx="8229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变化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4039" y="1828800"/>
            <a:ext cx="228600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/ 副组长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26771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099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79" y="2267712"/>
            <a:ext cx="822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4039" y="226771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81635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1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099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79" y="2816352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39" y="281635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364991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1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099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41079" y="3364991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64039" y="3364991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 / 王珏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3913631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1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099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79" y="3913631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64039" y="3913631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46227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0099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41079" y="4462272"/>
            <a:ext cx="822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64039" y="446227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张卓 / 随圣博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501091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6091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0099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79" y="5010912"/>
            <a:ext cx="822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64039" y="501091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★ Winny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63640" y="555955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6091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099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79" y="5559552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64039" y="555955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刘严 / ★ 蔡萍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实际人员分配（基于总策划最新调整）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28 人 / 7 组；本轮调整：+葛九明、蒋珊→D、吕志翔/高辰辰→E、彭常丽→F、王胜→B组长、陈潇→C组长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762173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胡继刚（您）  -  总策划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韦佳玉  -  执行总监 ① 统筹方向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李振春（春子）  -  嘉宾邀约+赞助资源落位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5093" y="1325880"/>
            <a:ext cx="2762173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嘉宾接待组（5人）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5093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6533" y="182880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王胜（20级）  -  组长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6533" y="224028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朱铭喆  -  VIP 1V1（港澳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6533" y="265176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JasonCAI 蔡杰  -  VIP 1V1（主旨嘉宾）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6533" y="306324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Angi 郭杰  -  观众席引导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6533" y="347472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LV  -  动线引导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1325880"/>
            <a:ext cx="2762173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会务执行组（6人）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4427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18288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陈潇 Kelly  -  ★ 执行总监 ② 会务方向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21717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王珏  -  副组长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5146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冯墨 律师  -  主持对接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28575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黄璐 Lucius  -  PPT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2004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徐胜博  -  颁奖执行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867" y="35433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吕志翔  -  圆桌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3761" y="1325880"/>
            <a:ext cx="2762173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媒体宣传组（4人）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63761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5201" y="18288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葛九明  -  组长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5201" y="23431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张蒙 AEGISTAR  -  副组长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5201" y="28575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蒋珊  -  AI 内容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5201" y="33718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皮尔德小号  -  直播+交响乐预热+媒体接待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69080"/>
            <a:ext cx="3728618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技术支持组（3人）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720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张卓 盈科  -  组长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2578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随圣博 Joshua-Sui  -  副组长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436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高辰辰  -  技术对接助理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1538" y="4069080"/>
            <a:ext cx="3728618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后勤保障组（3人）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1538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2978" y="45720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朱俊峰  -  组长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2978" y="52578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Winny 温妮  -  副组长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2978" y="59436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彭常丽  -  茶歇+晚宴专员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7316" y="4069080"/>
            <a:ext cx="3728618" cy="45720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应急安全/机动组（4人）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7316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8756" y="45720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刘严  -  组长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8756" y="50863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蔡萍  -  副组长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8756" y="56007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马磊  -  机动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8756" y="61150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康诺斯 Conns  -  机动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优化建议筛选（共 19 条 → 采纳 16 / 调整 1 / 暂缓 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处置原则：直击去年痛点的全部采纳；专业度不足或越界的暂缓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43891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1371600"/>
            <a:ext cx="914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落地动作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28800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828800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量化各组任务量+设置 Milestone（按时间精力选岗位）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828800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Milestone 表（见 09 sheet），各组组长 T-7 前提交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079056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2079056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 Milestone 节点提前 1-2 天，留 buffer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079056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43800" y="2079056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079056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阶段任务矩阵已整体前移，T-3 改为 T-5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29313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329313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提前半天/线上彩排，明确工作范围边界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329313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2329313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329313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18:00 全员线上彩排 1.5h；T-7 现场踏勘 1 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579570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2579570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协助人员对接清单（酒店/屏幕谁联系，避免事事请示总策划）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579570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579570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2579570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11-对接联系人清单（见 sheet），人手一份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829827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2829827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嘉宾发言时间提前打招呼+主持人收口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829827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2829827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2829827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T-3 致电每位讲者+主持人对脚本（见 10-嘉宾时间SOP）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80084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4519" y="3080084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增加科技类展示（AI/机器人/芯片小海报）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080084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3080084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3080084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★春子已任 A 组嘉宾邀约+赞助资源落位专员；该建议作为其 KPI 之一推进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30341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3330341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扩大交响乐宣传，视频号发去年录像预告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330341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3330341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3330341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组皮尔德小号负责，T-7 起每日 1 条；T-3 集中投流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80597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3580597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演奏者走位与观众互动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580597"/>
            <a:ext cx="1280160" cy="25025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43800" y="3580597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3580597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总策划已明确专业度不足；现场仅做灯光烘托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830854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隋胜博/徐胜博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3830854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地铁→场地快进短视频群发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3830854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43800" y="3830854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8200" y="3830854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发群（去年已做，今年延续）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081111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4519" y="4081111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微信+短信点对点提醒嘉宾交通/停车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4081111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4081111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58200" y="4081111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责任人 T-2 18:00 前完成全部联络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331368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4519" y="4331368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角备份制度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4331368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4331368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4331368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12-组长备份表（见 sheet）每组指定 B 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581625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4519" y="4581625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组按身高/年龄筛选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4581625"/>
            <a:ext cx="1280160" cy="250256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4581625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58200" y="4581625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改为按英语/沟通/形象气质匹配 VIP 1V1，避免歧视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831882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4519" y="4831882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志愿者专用颜色胸牌快速识别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63640" y="4831882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43800" y="4831882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58200" y="4831882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组制作橙色胸牌（与嘉宾胸卡明显区分），见物资清单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5082138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74519" y="5082138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现场观众管理（盲区）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3640" y="5082138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43800" y="5082138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58200" y="5082138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 改为观众席引导岗；G 组机动支援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5332395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4519" y="5332395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自报有急救证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5332395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43800" y="5332395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58200" y="5332395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蔡萍调到 G 组任急救/医疗主岗（稀缺技能）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5582652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874519" y="5582652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张江工厂提供灯光/舞台/音响设备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5582652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43800" y="5582652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58200" y="5582652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作为重大物料资源并入；C 组陈潇为设备总管，E 组对接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5832909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4519" y="5832909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去年赞助物料环节混乱，要提前深化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63640" y="5832909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543800" y="5832909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458200" y="5832909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组刘严专项负责赞助物料入场+点位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083166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74519" y="6083166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工作装+合影+证书+午餐+纪念品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6083166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43800" y="6083166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58200" y="6083166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已写入物资清单；T-1 全员告知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6333423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4519" y="6333423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核心搭子：韦佳玉/Winnie/陈潇/王胜+葛九明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63640" y="6333423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43800" y="6333423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458200" y="6333423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建立核心策划圈高频沟通群（含 D 组长葛九明 7 人）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 + 组长 A/B 角备份制度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采纳王胜建议：组长备份；总策划 5/13 点名核心搭子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核心策划圈（7 人 · 总策划直管高频沟通）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874519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1874519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全场指挥；统筹两位执行总监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51176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551176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① 统筹方向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551176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议程脚本/会议记录/各组协调/复盘主持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27832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3227832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② 会务方向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227832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组组长；流程/舞台/设备/制作（自有灯光音响）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904487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 春子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904487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嘉宾邀约+赞助落位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3904487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①嘉宾邀约确认与跟进 ②赞助资源对接落位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81144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4581144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4581144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三次参加，老带新；嘉宾接待主管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257800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5257800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组组长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5257800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总策划指定，统筹媒体宣传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934455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5934455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组组长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5934455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应急安保+机动跨组调配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角备份（采纳王胜建议）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角组长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6840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角备份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总指挥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胡继刚（总策划）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/ 陈潇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276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★双执行总监：韦佳玉统筹方向 + 陈潇会务方向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0919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韦佳玉（执行总监①）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统筹方向；春子专注嘉宾邀约+赞助资源落位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19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6840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朱铭喆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角第三次参加最资深；B 角港校联络人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19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陈潇（执行总监②）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06840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5276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双执行总监会务方向；自有设备+20 年策划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AEGISTAR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角总策划指定；B 角自媒体+摄影核心岗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19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盈科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06840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角律师协调统筹；B 角技术执行（操作设备）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60919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06840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温妮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5276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角建筑+协会运营；B 角空窗期时间最多+零售运营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6300216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60919" y="6300216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06840" y="6300216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52760" y="6300216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角统筹机动调配；B 角持急救证常驻医疗岗★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Milestone 时间表（节点提前 1-2 天 / 韦佳玉建议）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30 个里程碑 / T-9 ~ T+1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645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371600"/>
            <a:ext cx="8503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关键里程碑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60" y="1371600"/>
            <a:ext cx="146304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T-9 (5/13)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828800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志愿者讨论会完成→分工表发布（已完成）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60" y="1828800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87296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987296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各组建独立沟通群+组长 A/B 角确定+核心策划圈群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60" y="1987296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45792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40" y="2145792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组长见面会（线上 1h）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60" y="2145792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04288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40" y="2304288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各组组长整理本组任务清单 V1（按议程节点拆解+按时间排期）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304288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462784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2462784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各组任务清单 V1 汇总到 A 组+总策划评审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60" y="2462784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21280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2621280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晚宴名单锁定 V1（去年痛点：太晚锁定）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60" y="2621280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B+F+春子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779776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48840" y="2779776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 V1（春子专项 KPI）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60" y="2779776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38272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938272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交响乐往届视频开始日更预热（视频号）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2938272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096768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48840" y="3096768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1（场地/动线/AV）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3096768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55264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T-6 (5/16)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3255264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各组任务清单 V2（含问题修正）下发到组员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2760" y="3255264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各组组长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413760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48840" y="3413760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所有讲者 PPT 截稿（去年是 T-3，今年提前）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52760" y="3413760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72256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48840" y="3572256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地铁→场地快进短视频拍摄完成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3572256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730752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48840" y="3730752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物料/胸牌印刷下单（去年痛点：名牌制作晚）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52760" y="3730752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89248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(5/18)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48840" y="3889248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腾讯/华为赞助物料对接清单确认（春子主推）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52760" y="3889248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春子+F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047744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48840" y="4047744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组致电每位讲者+主持人对发言时间（防超时）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652760" y="4047744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06240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48840" y="4206240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对接联系人清单（酒店/AV/餐饮/安保）发到全员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4206240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364736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48840" y="4364736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短视频发主群+嘉宾群预热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4364736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523232"/>
            <a:ext cx="1645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48840" y="4523232"/>
            <a:ext cx="850392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点对点短信/微信提醒嘉宾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52760" y="4523232"/>
            <a:ext cx="1463040" cy="15849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B+春子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681728"/>
            <a:ext cx="1645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48840" y="4681728"/>
            <a:ext cx="850392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2（含彩排站位）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52760" y="4681728"/>
            <a:ext cx="1463040" cy="15849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840224"/>
            <a:ext cx="1645920" cy="15849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148840" y="4840224"/>
            <a:ext cx="8503920" cy="15849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全员线上彩排 18:00-19:30（1.5h）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52760" y="4840224"/>
            <a:ext cx="1463040" cy="15849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4998720"/>
            <a:ext cx="1645920" cy="15849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148840" y="4998720"/>
            <a:ext cx="8503920" cy="15849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全设备压力测试+陈潇工厂设备进场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52760" y="4998720"/>
            <a:ext cx="1463040" cy="15849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5157216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09:00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148840" y="5157216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A/F/G 三组到场：指挥部+物料布置+AED急救包就位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52760" y="5157216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A+F+G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315712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10:00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48840" y="5315712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C 会务+E 技术到场：走台彩排+设备联调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652760" y="5315712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5474208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11:00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48840" y="5474208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媒体到场：机位调试+直播试推流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652760" y="5474208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5632704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11:30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148840" y="5632704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接待到场：签到台开台+VIP陪同上岗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52760" y="5632704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791200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12:00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148840" y="5791200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全员就位；VIP 车队首班；签到 13:00 开放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652760" y="5791200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5949696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13:25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148840" y="5949696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全员静默 5 分钟、广播开场倒计时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652760" y="5949696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6108192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15:00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148840" y="6108192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晚宴专项人员到场：F/B/D/G 晚宴组分批进入晚宴厅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52760" y="6108192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F+B+D+G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6266688"/>
            <a:ext cx="1645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18:30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148840" y="6266688"/>
            <a:ext cx="850392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652760" y="6266688"/>
            <a:ext cx="1463040" cy="15849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425184"/>
            <a:ext cx="1645920" cy="15849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T+1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148840" y="6425184"/>
            <a:ext cx="8503920" cy="15849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前发布、复盘会、问题归档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652760" y="6425184"/>
            <a:ext cx="1463040" cy="15849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当日各组到场时间表（5/22 现场）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总策划指令：会务/技术 10:00 到场；晚宴专项 15:00 到场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22860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 / 范围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371600"/>
            <a:ext cx="32918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到场人员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371600"/>
            <a:ext cx="475488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到场即开始做的事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1874519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统筹（全员）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874519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 / 春子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74519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 / 对讲机分发 / 与各组组长进度核对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88464"/>
            <a:ext cx="13716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2188464"/>
            <a:ext cx="22860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后勤（全员）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2188464"/>
            <a:ext cx="329184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Winny / 彭常丽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188464"/>
            <a:ext cx="475488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场地桌椅布置 / 物料进场 / 茶歇位铺设 / 赞助物料对接（腾讯/华为）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02407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2502407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应急（全员）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502407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 / 蔡萍 / 马磊 / 康诺斯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2502407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安检设备就位 / AED+急救包 3 处摆放 / 医疗对接热线打通 / 入场安检上岗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16352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10:00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2816352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C 会务（全员）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2816352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/ 王珏 / 冯墨 / 黄璐 / 徐胜博 / 吕志翔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52360" y="2816352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舞台走台彩排 / 计时器+举牌就位 / 嘉宾上下场动线对脚本 / PPT 顺序加载主机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30296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10:00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3130296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E 技术（全员）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130296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/ 随圣博 / 高辰辰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3130296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音响 / 麦克风 / PPT 切换 / 灯光 / LED / 网络直播 全设备联调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444240"/>
            <a:ext cx="13716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11:00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74519" y="3444240"/>
            <a:ext cx="22860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媒体（全员）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3444240"/>
            <a:ext cx="329184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 / 蒋珊 / 皮尔德小号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444240"/>
            <a:ext cx="475488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摄影机位调试 / 直播试推流 / 签到合影区开放 / 媒体接待区铺设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58184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11:30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74519" y="3758184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接待（全员）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0520" y="3758184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 / JasonCAI / Angi / LV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60" y="3758184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 / VIP 1V1 陪同上岗 / 引导动线就位 / 休息室检查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72128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12:00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19" y="4072128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4072128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 27 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52360" y="4072128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午餐 12:30 前完成；VIP 车队首班；13:00 签到开放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6072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19" y="4386072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全员静默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4386072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 27 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4386072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总策划广播开场倒计时；C 组主持人就位；E 组麦克风电池满电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700016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15:00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4700016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晚宴专项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4700016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Winny（茶歇晚宴主管）+ 彭常丽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52360" y="4700016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晚宴餐厅最终对接 / 席位卡核对 / 敬酒流程预演 / 桌花布置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013960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19" y="5013960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接待晚宴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60520" y="5013960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+ 朱铭喆 + JasonCAI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52360" y="5013960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晚宴桌次引导脚本对接 / VIP 敬酒顺序确认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327904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19" y="5327904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媒体晚宴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327904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 + 张蒙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52360" y="5327904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晚宴花絮拍摄准备 / 当晚短视频脚本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641848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74519" y="5641848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应急晚宴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60520" y="5641848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 + 马磊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52360" y="5641848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 / 车队调度对接 / 离场分流预案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955792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74519" y="5955792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5955792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52360" y="5955792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陈潇司仪过场 / 总策划致辞 / Winny 主管节奏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269736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20:30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4519" y="6269736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60520" y="6269736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52360" y="6269736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组负责场地交还；G 组安全确认；A 组复盘 30min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嘉宾发言时间控制 SOP（去年最大事故）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采纳张卓建议：从第 1 位讲者就开始的超时绝不能重演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1945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371600"/>
            <a:ext cx="7955279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59" y="1371600"/>
            <a:ext cx="14630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874519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整理每位讲者的演讲时长合同/邀约函（25/20/40min）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59" y="1874519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776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39776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组致电每位讲者：再次确认时长 + 提示我们会举牌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59" y="239776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1000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921000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组与 4 位主持人对脚本：嘉宾超时由你直接打断的话术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59" y="2921000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4424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44424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彩排时给主持人发『收口话术卡』：'感谢XXX，最后一分钟'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59" y="344424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7479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演讲前 2min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967479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计时员就位，倒计时牌(5/3/1 min)摆放台口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59" y="3967479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9072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演讲中 5/3/1min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449072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在嘉宾视线方向举牌（先黄后红）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59" y="449072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1396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30s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501396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主持人通过耳麦提示'最后一句话'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59" y="501396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53720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90s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553720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主持人直接收口：'感谢XXX的精彩分享'走流程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59" y="553720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06044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圆桌嘉宾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606044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每人剩 1min 时主持人示意；超时立即转下一位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59" y="606044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协助人员对接清单（全员人手一份）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采纳张卓建议：现场遇问题先找A角→找B角→才找韦佳玉/胡继刚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493776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问题类别 / 你遇到的事情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0680" y="1371600"/>
            <a:ext cx="320040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角（先找）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371600"/>
            <a:ext cx="347472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角（找不到时）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场地/桌椅/赞助物料入场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82880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182880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0490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灯光/舞台/音响（自有）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200490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200490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8101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麦克风/PPT切换/网络/直播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218101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8101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高辰辰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57119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组协调/对接外包 AV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2357119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张卓（组长）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2357119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随圣博（B 角）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33226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酒店/嘉宾接送/休息室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533226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2533226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709333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嘉宾临时需求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2709333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组对应 1V1 责任人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709333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王胜（B 组长）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88544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观众席引导/秩序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288544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1080" y="288544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6154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 / 晚宴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06154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Winny（茶歇晚宴主管）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80" y="306154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 / 朱俊峰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23765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23765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张蒙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1080" y="323765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葛九明（D 组长）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413760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直播信号/新媒体即时发布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40680" y="3413760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80" y="3413760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蒋珊（AI 内容）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89866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 圈层金句/新媒体素材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40680" y="3589866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蒋珊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41080" y="3589866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765973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媒体/记者接待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40680" y="3765973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41080" y="3765973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94208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PPT/资料/换片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394208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黄璐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394208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1818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流程超时/嘉宾迟到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680" y="411818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王珏（计时）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411818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→ 韦佳玉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29429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圆桌嘉宾上下场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40680" y="429429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吕志翔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41080" y="429429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70400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颁奖物料/获奖嘉宾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680" y="4470400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徐胜博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80" y="4470400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646506"/>
            <a:ext cx="493776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法务/舆情/突发声明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40680" y="4646506"/>
            <a:ext cx="320040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冯墨（律师）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41080" y="4646506"/>
            <a:ext cx="347472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张卓（律师）→ 胡继刚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822613"/>
            <a:ext cx="493776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医疗/急救 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40680" y="4822613"/>
            <a:ext cx="320040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蔡萍 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80" y="4822613"/>
            <a:ext cx="347472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99872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跨组人手不足/机动调配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0680" y="499872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刘严（组长）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41080" y="499872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 / 马磊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17482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媒体应急口径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517482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马磊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1080" y="517482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葛九明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35093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入场安检/可疑人员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40680" y="535093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41080" y="535093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5527040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交响乐团对接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40680" y="5527040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41080" y="5527040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韦佳玉（去年负责）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703146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晚宴席位/敬酒/现场对接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40680" y="5703146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5703146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5879253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嘉宾邀约确认/全程跟进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40680" y="5879253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41080" y="5879253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605536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赞助资源/物料落位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40680" y="605536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641080" y="605536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 → 胡继刚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23146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议程脚本/会议记录/复盘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40680" y="623146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韦佳玉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641080" y="623146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6407573"/>
            <a:ext cx="493776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无法解决/重大决策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40680" y="6407573"/>
            <a:ext cx="320040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6407573"/>
            <a:ext cx="347472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874519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17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017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60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160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303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03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待办（总策划 + 各组组长）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874519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1874519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7889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7033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6177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6177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5321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55321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6" name="Rectangle 5"/>
          <p:cNvSpPr/>
          <p:nvPr/>
        </p:nvSpPr>
        <p:spPr>
          <a:xfrm>
            <a:off x="1874519" y="1371600"/>
            <a:ext cx="3931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1371600"/>
            <a:ext cx="128016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371600"/>
            <a:ext cx="50292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87451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87451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87451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379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74519" y="224379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224379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24379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1307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19" y="261307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61307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61307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82350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982350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2982350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982350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51627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19" y="3351627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351627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351627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20904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3720904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720904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720904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090181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4090181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090181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4090181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459458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459458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4459458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4459458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28735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4828735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4828735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4828735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198012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5198012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5198012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86600" y="5198012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56728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556728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06440" y="556728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86600" y="556728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3656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593656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6440" y="593656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86600" y="593656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630584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630584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06440" y="630584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86600" y="630584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463164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463164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05181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05181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64045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64045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22910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22910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481774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481774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40639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40639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640" y="599503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37960" y="599503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547257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547257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219994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219994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892731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892731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565468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565468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5238205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5238205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910942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910942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1280160"/>
            <a:ext cx="23774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1280160"/>
            <a:ext cx="19202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91639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1691639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691639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600 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691639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1691639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印刷完成（前移）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8424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98424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桌牌/嘉宾胸卡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98424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8424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98424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完成（去年痛点：太晚）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7685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227685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★志愿者专用橙色胸牌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227685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张（含韦佳玉）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27685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227685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完成（采纳张蒙建议）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69463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5880" y="2569463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签到表/电子签到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569463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分级 4 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3560" y="2569463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0" y="2569463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 上线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6207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5880" y="286207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横幅/KT板/引导牌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286207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23560" y="286207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286207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5468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5880" y="315468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手持麦×4 / 领夹麦×4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03320" y="315468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 2 备用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15468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315468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测试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447287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25880" y="3447287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翻页器×4 / 备用电脑×1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3447287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60" y="3447287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0" y="3447287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检查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73989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25880" y="373989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转接头/线材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03320" y="373989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HDMI/Type-C/Lightning 各 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23560" y="373989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9400" y="373989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03250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25880" y="4032504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4032504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台（分 3 频道）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23560" y="4032504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29400" y="4032504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分发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2511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" y="432511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★陈潇张江工厂灯光/舞台/音响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03320" y="432511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套（自有资源）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32511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29400" y="432511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进场（陈潇主导，节省赞助）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61772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25880" y="461772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461772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主机×2 游机×2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23560" y="461772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9400" y="461772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91032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25880" y="491032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直播推流设备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03320" y="491032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套（含备用 4G）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23560" y="491032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29400" y="491032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试推（直播确认开启）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520293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25880" y="520293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★地铁→场地快进短视频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520293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段 60 秒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23560" y="520293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520293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拍摄完成、T-3 群发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49554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25880" y="549554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★交响乐往届预热视频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703320" y="549554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5-7 段 短视频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549554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29400" y="549554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起视频号每日 1 条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78815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25880" y="578815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茶歇（500人）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578815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高端冷餐/茶饮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23560" y="578815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578815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15:30 上桌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6080759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25880" y="6080759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703320" y="6080759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VVIP/嘉宾/机构 3 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623560" y="6080759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629400" y="6080759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分装（前移）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637336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25880" y="637336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晚宴桌花/席位卡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637336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 50 桌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623560" y="637336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637336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 前完成（晚宴名单 T-7 锁定）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666597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25880" y="666597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★赞助物料（腾讯/华为）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703320" y="666597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按合同清单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23560" y="666597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629400" y="666597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与品牌方对接确认（去年痛点）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6958583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325880" y="6958583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志愿者午餐+证书+纪念品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6958583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23560" y="6958583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629400" y="6958583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分装、当日 12:00 发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725119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25880" y="725119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703320" y="725119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23560" y="725119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629400" y="725119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02920" y="754380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25880" y="754380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★急救主岗（蔡萍持证）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754380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名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23560" y="754380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629400" y="754380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全程在 G 组指挥点待命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" y="783640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325880" y="783640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应急联络卡（含对接清单）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703320" y="783640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23560" y="783640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629400" y="783640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发放（采纳张卓建议）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02920" y="812901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25880" y="812901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812901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23560" y="812901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629400" y="812901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2920" y="842162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325880" y="842162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★T-2 嘉宾点对点提醒短信/微信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703320" y="842162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全部嘉宾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842162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29400" y="842162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18:00 前完成（采纳JasonCAI建议）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686800" y="1280160"/>
            <a:ext cx="31089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686800" y="17830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66960" y="17830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86800" y="24688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66960" y="24688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686800" y="31546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66960" y="31546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86800" y="38404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966960" y="38404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2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 胡继刚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