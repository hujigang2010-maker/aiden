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7315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365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2026 人工智能商业化落地与硬核投资破局峰会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09728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寻找 AI 时代的超级个体、新质资产与资本新风口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109728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FFC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志愿者职能分工方案 · 总策划工作底稿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时间：2026 年 5 月 22 日 13:00 - 20:30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地点：上海 · 北外滩 · 一滴水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主办：北大经院上海校友会 · 复旦大学住房政策研究中心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目录 / 总策划工作框架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60020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整体目标与原则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60020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志愿者组织架构（向总策划负责）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6888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0604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七大职能组职责（大项→小项）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46888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60604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阶段任务矩阵（T-7 至 收尾撤场）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7472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61188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议程时间轴分工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47472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61188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应急预案（含技术/嘉宾/流程/安保）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8056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61772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物资与对讲机频道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48056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61772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关键检查节点与复盘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01  整体目标与工作原则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零失误执行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3017520" y="1371600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500 人高净值圈层峰会，议程紧凑，任何环节零失误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560320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嘉宾体验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560320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顶级嘉宾从抵达到离场全程被'看见、被服务'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749039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品牌呈现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3749039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直播+新媒体即时传播，会后 48h 形成传播声量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37760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应急可控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937760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对任何可预见风险有预案、有责任人、有处置 SOP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02  志愿者组织架构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→ 执行总监 → 7 大职能组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280160"/>
            <a:ext cx="2103120" cy="73152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总策划（您）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2286000"/>
            <a:ext cx="2103120" cy="6400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统筹协调组（执行总监）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2011680"/>
            <a:ext cx="45720" cy="27432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0" y="2926080"/>
            <a:ext cx="45720" cy="27432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200400"/>
            <a:ext cx="10927080" cy="3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66160"/>
            <a:ext cx="1691640" cy="5486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负责人：VIP接待主管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人数：8-12 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覆盖嘉宾从邀约确认 → 抵达 → 接送 → 签到 → 引导 → 离场 → 晚宴全链路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9271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496311" y="3566160"/>
            <a:ext cx="1691640" cy="54864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96311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87751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负责人：会务总监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87751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人数：6-8 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7751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按议程时间轴推动节目流转：主持衔接、嘉宾上下场、议程计时、颁奖执行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75504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52544" y="3566160"/>
            <a:ext cx="169164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2544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43984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负责人：宣传总监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984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人数：5-7 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4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覆盖现场摄影、摄像、直播、新媒体、媒体接待、会后稿件传播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31736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08776" y="3566160"/>
            <a:ext cx="1691640" cy="54864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8776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负责人：技术总监（含场地AV团队）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人数：4-6 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音视频、灯光、麦克风、PPT切换、网络、直播信号、应急备份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7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65007" y="3566160"/>
            <a:ext cx="1691640" cy="548640"/>
          </a:xfrm>
          <a:prstGeom prst="round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65007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56447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负责人：后勤主管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7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人数：5-8 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56447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场地、物料、餐饮、茶歇、伴手礼、晚宴执行，以及陆家嘴交响乐团对接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744199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921239" y="3566160"/>
            <a:ext cx="1691640" cy="548640"/>
          </a:xfrm>
          <a:prstGeom prst="round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21239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12679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负责人：安全主管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12679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人数：3-5 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2679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安保、消防、医疗、突发事件、舆情、与场馆/公安联动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原则：每组设组长 1 人 → 直接对接执行总监 A 组 → A 组对您负责；对讲机分 3 频道（指挥/会务/后勤）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A 统筹协调组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负责人：执行总监（总策划副手）  |  建议人数：2-3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主要职责：向总策划负责，统筹全场，协同各组进度、对外口径、突发决策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1158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总指挥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1158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全场最高决策；与主办/协办方对接；流程总控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444240"/>
            <a:ext cx="2377440" cy="1158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执行调度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3444240"/>
            <a:ext cx="8686800" cy="1158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 B/C/D/E/F/G 六组；时间节点把控；对讲机调度中枢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693920"/>
            <a:ext cx="2377440" cy="1158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文件秘书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693920"/>
            <a:ext cx="8686800" cy="1158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议程手册、签到表、嘉宾名单、流程脚本、复盘记录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B 嘉宾接待组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负责人：VIP接待主管  |  建议人数：8-12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主要职责：覆盖嘉宾从邀约确认 → 抵达 → 接送 → 签到 → 引导 → 离场 → 晚宴全链路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VIP一对一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为主旨演讲嘉宾/主持/特邀机构嘉宾配备 1V1 陪同（白硕、夏春、寇文红等）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机场/酒店接送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外地嘉宾接机/接站、酒店入住对接、当日接送车辆调度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签到台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按嘉宾分级（VVIP / 演讲嘉宾 / 机构嘉宾 / 普通嘉宾）分通道签到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引导动线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电梯口→签到台→主会场→洗手间→茶歇区→晚宴厅 全程引导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休息室管理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嘉宾休息室饮水、补妆、PPT预演、专属服务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名片/合影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重要嘉宾合影、名片收集、对接需求登记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C 会务执行组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负责人：会务总监  |  建议人数：6-8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主要职责：按议程时间轴推动节目流转：主持衔接、嘉宾上下场、议程计时、颁奖执行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流程总控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持脚本对照议程；每环节超时 30s 即时提醒主持/总指挥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舞台引导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嘉宾候场→上台→落座→下场；圆桌座次摆名牌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计时员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 25/20min、圆桌 40min；倒计时举牌（5/3/1 min）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主持对接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提前与各环节主持人对脚本；过场词、串场调整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PPT/资料对接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 24h 收齐所有讲者 PPT；按演讲顺序入备份U盘+云盘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颁奖执行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奖杯/证书摆放、颁奖嘉宾引导、获奖机构合影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D 媒体宣传组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负责人：宣传总监  |  建议人数：5-7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主要职责：覆盖现场摄影、摄像、直播、新媒体、媒体接待、会后稿件传播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摄影/摄像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主舞台机位+游机；圆桌特写；签到/茶歇/晚宴花絮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44368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直播/录播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944368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直播平台搭建（如视频号/抖音）；导播切换；网络备用 4G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94176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媒体接待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694176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财经/科技媒体记者签到、采访区安排、通稿派发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43983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新媒体即时发布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443983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现场快讯（金句卡片）、嘉宾观点摘录、朋友圈/小红书推送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93792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会后传播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5193792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活动通稿、视频剪辑、嘉宾合影分发、媒体追投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E 技术支持组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负责人：技术总监（含场地AV团队）  |  建议人数：4-6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主要职责：音视频、灯光、麦克风、PPT切换、网络、直播信号、应急备份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音响/麦克风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手持/领夹麦各 4 支；圆桌每位 1 支；备用电池常驻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PPT切换/总控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翻页器+技术员守机；嘉宾切换提前 1 环节预加载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灯光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舞台主光、圆桌追光、交响乐演出灯光预案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LED大屏/字幕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主屏播放+侧屏倒计时/嘉宾介绍卡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网络/直播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主有线+4G双备份；直播推流监看；断网应急脚本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应急备件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备用麦×2、备用电脑×1、备用翻页器×2、转接头全套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F 后勤保障组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负责人：后勤主管  |  建议人数：5-8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主要职责：场地、物料、餐饮、茶歇、伴手礼、晚宴执行，以及陆家嘴交响乐团对接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场地/桌椅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主会场布置、圆桌摆位、签到台、媒体区、休息室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物料制作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议程册、桌牌、横幅、KT板、引导牌、嘉宾胸卡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茶歇/饮水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全程饮水补给；15:45音乐会期间高端茶歇（500人量）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伴手礼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按等级（VVIP/嘉宾/机构）分类分发，签到台同步领取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交响乐团对接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陆家嘉交响乐团到场、化妆间、乐器、调音、彩排时间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VIP晚宴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席位卡、菜单、酒水、桌花、敬酒流程、餐厅对接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G 应急安全组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负责人：安全主管  |  建议人数：3-5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主要职责：安保、消防、医疗、突发事件、舆情、与场馆/公安联动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入场安检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胸卡核验、闲杂人员拒入、可疑物品筛查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44368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现场巡视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944368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通道畅通、消防通道无堵塞、舞台周边安全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94176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医疗急救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694176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AED 位置已知、急救包、最近医院路线（含车辆待命）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43983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舆情/口径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443983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突发负面言论时的回应口径；与 D 组联动撤稿/澄清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93792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VIP/晚宴安保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5193792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 500 人圈层活动安全；车队动线；离场分流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  阶段任务矩阵（一）会前筹备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横向：组别  |  纵向：阶段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4630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 \ 组别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371600"/>
            <a:ext cx="139772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7965" y="1371600"/>
            <a:ext cx="1397725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4715691" y="1371600"/>
            <a:ext cx="1397725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13417" y="1371600"/>
            <a:ext cx="1397725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11142" y="1371600"/>
            <a:ext cx="1397725" cy="50292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08868" y="1371600"/>
            <a:ext cx="1397725" cy="50292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06594" y="1371600"/>
            <a:ext cx="1397725" cy="50292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74519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前期筹备
T-7 ~ T-3 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0240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完成总分工表、议程脚本 V1；确认嘉宾名单与到场状态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7965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逐位嘉宾邀约确认；酒店/接送排期；VIP陪同名单匹配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15691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议程脚本撰写；主持人对接；PPT/资料征集（D-3 截止）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3417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传播节奏排期；直播平台报备；通稿初稿；机位规划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11142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技术清单与场地对接；备用设备清点；网络方案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08868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物料下单印刷；伴手礼采购；交响乐团合同与彩排时间确认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06594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安保方案报场馆/公安备案；医疗合作机构确认；应急脚本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4424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彩排与到位
T-1 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20240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全员到岗培训；分工表过堂；对讲机分发；演练 3 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7965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 接送车辆与司机对接；接机/酒店敲定；陪同清单到人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15691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走台彩排：嘉宾上下场动线、圆桌座次、颁奖流程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3417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直播试推流；机位实测；通稿终稿；新媒体素材预制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11142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灯光/音响/PPT 全设备压力测试；备份盘 ×3 同步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8868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物料到场清点；签到包/伴手礼分装；晚宴餐厅最终确认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06594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安保人员到位；消防/医疗通道核查；AED 与最近医院再确认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1396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现场布置
当日 09:00-13:00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20240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现场指挥部建立；对讲机频道分配；倒计时启动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7965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签到台开台；VIP 陪同上岗；接送车辆首批到位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15691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主持人最终对脚本；PPT 顺序加载主机；计时器/举牌就位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13417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机位/直播信号联调；签到合影区开放；记者签到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11142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麦克风电池满电；灯光/音响走光走声；备用机待机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08868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茶歇/水台铺设；伴手礼上签到台；交响乐团到场化妆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06594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入场安检上岗；通道清空；急救点位明示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  阶段任务矩阵（二）当日执行 + 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横向：组别  |  纵向：阶段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4630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 \ 组别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371600"/>
            <a:ext cx="139772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7965" y="1371600"/>
            <a:ext cx="1397725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4715691" y="1371600"/>
            <a:ext cx="1397725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13417" y="1371600"/>
            <a:ext cx="1397725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11142" y="1371600"/>
            <a:ext cx="1397725" cy="50292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08868" y="1371600"/>
            <a:ext cx="1397725" cy="50292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06594" y="1371600"/>
            <a:ext cx="1397725" cy="50292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74519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会议执行
13:00-18:30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0240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按议程时间轴现场指挥；超时/临时调整即时决策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7965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嘉宾签到→引导→休息室→上台→落座 全程陪同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15691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13:30 起按议程逐项推动；每环节剩 5/3/1 min 举牌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3417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全程拍摄/直播；金句卡同步发布；记者采访区调度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11142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PPT/麦克风按节目无缝切换；任何故障 30 秒内备用顶上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08868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16:35 演讲间隙撤茶歇/补水；颁奖物料 18:00 前到台口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06594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全场巡视；舞台/通道安全；任何医疗事件 60 秒到达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4424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晚宴衔接
18:30-20:30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20240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晚宴节奏控制；颁奖嘉宾合影；与主办方收尾交接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7965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晚宴桌次引导；VIP敬酒/对接需求记录；离场用车安排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15691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晚宴司仪过场词；致辞与敬酒环节衔接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3417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晚宴花絮拍摄；嘉宾访谈追拍；当晚发布短视频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11142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晚宴音响、背景音乐、追光；麦克风敬酒位 ×2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8868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餐饮/酒水节奏；席位卡核对；伴手礼离场二次确认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06594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晚宴入口二次核验；车队调度；离场分流防拥堵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1396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收尾撤场
20:30 之后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20240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全员复盘 30min；问题清单与改进项归档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7965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嘉宾送返；当晚致谢短信/微信；伴手礼遗漏补寄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15691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舞台/物料归还；脚本与签到表归档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13417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通稿次日 10:00 前发布；视频 48h 内剪辑；媒体追投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11142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设备清点归还；故障记录归档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08868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场地交还；剩余物料盘点；账单核对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06594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撤场安全确认；车队收尾；遗失物登记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05  议程时间轴 × 责任组 × 关键动作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2801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3080" y="1371600"/>
            <a:ext cx="40233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议程节点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1371600"/>
            <a:ext cx="12801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主责组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1371600"/>
            <a:ext cx="50292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关键动作 / 物料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13:00-13:30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83080" y="1828800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嘉宾签到与入场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82880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C/B/D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86600" y="1828800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签到处、引导动线、媒体合影区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01593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13:30-13:35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2201593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开幕致辞（姚志勇）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2201593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2201593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舞台、主持、上下场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74387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13:35-14:00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3080" y="2574387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主旨演讲1·白硕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2574387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2574387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947181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14:00-14:25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2947181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主旨演讲2·夏春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06440" y="2947181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86600" y="2947181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19975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14:25-15:05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3319975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圆桌一·AI硬核（王珏主持4嘉宾）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3319975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86600" y="3319975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圆桌座次、麦克风、计时、互动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92769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15:05-15:45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3692769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巅峰对话·云生态（胡继刚主持3嘉宾）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06440" y="3692769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86600" y="3692769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65563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15:45-16:35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83080" y="4065563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陆家嘴交响乐团·时光音乐会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4065563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C/F/D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6600" y="4065563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乐团对接、灯光、社交茶歇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38356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16:35-16:55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83080" y="4438356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主旨演讲3·王维军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06440" y="4438356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86600" y="4438356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81115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16:55-17:15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83080" y="4811150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主旨演讲4·寇文红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06440" y="481115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86600" y="4811150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83944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17:15-17:35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83080" y="5183944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主旨演讲5·张露瑶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06440" y="5183944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86600" y="5183944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556738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17:35-18:15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83080" y="5556738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圆桌二·投资（黄欣主持4嘉宾）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06440" y="5556738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86600" y="5556738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29532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18:15-18:30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83080" y="5929532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颁奖典礼暨闭幕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06440" y="5929532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C/F/D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86600" y="5929532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奖杯、颁奖嘉宾引导、合影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6302326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18:30-20:30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83080" y="6302326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VIP高端闭门晚宴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06440" y="6302326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B/F/G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86600" y="6302326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席位、餐饮、对接、安保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  应急预案（一）嘉宾 / 技术 / 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1600200" y="1371600"/>
            <a:ext cx="237744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风险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概率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影响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371600"/>
            <a:ext cx="118872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371600"/>
            <a:ext cx="5669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处置预案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8288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演讲嘉宾迟到（白硕/夏春等）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182880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82880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182880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A+B+C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82880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B组实时位置追踪；C组备好节目顺序调换方案（先放夏春/王维军等已到场嘉宾）；A组决策；提前通知主持人衔接口径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42316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42316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嘉宾临时缺席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242316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17720" y="242316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57800" y="242316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242316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C组立即调整脚本，由主持人简述背景并播放主题短片；D组同步删除现场介绍物料；A组同步主办方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01752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301752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圆桌嘉宾超时发言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01752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301752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301752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46520" y="301752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举牌 5/3/1min；主持人提前对话术：'最后一分钟请收口'；超 2min 主持人直接打断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1188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00200" y="361188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麦克风没声/啸叫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361188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17720" y="361188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57800" y="361188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361188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备用麦 30 秒内顶上；调音师切换通道；E组每个演讲前 2min 试音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20624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00200" y="420624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 黑屏/翻页器失灵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7639" y="420624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17720" y="420624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57800" y="420624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420624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备用电脑预加载所有 PPT；现场技术员守机手动翻页；嘉宾电脑+大会电脑双路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80060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00200" y="480060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直播断流/网络中断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77639" y="480060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17720" y="480060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480060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46520" y="480060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主有线+4G 双链路自动切换；D组提前在直播间挂'信号修复中'；本地录播继续不停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39496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流程相关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00200" y="539496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议程整体超时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77639" y="539496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17720" y="539496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57800" y="539496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46520" y="539496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音乐会前压缩茶歇/合影时间；圆桌剩 5min 时主持人直接收口；颁奖环节预留 5min 缓冲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8932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流程相关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600200" y="598932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交响乐团延误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77639" y="598932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17720" y="598932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598932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46520" y="598932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F组与团长保持热线；C组备用预案：将主旨3提前；提前 60min 确认到场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  应急预案（二）安全 / 舆情 / 后勤 / 晚宴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1600200" y="1371600"/>
            <a:ext cx="237744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风险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概率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影响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371600"/>
            <a:ext cx="118872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371600"/>
            <a:ext cx="5669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处置预案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人员/安全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828800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嘉宾或观众突发身体不适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1828800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828800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1828800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828800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AED 与急救包就位；急救志愿者 60秒到达；车辆待命；最近医院路线已存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08068"/>
            <a:ext cx="1097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人员/安全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508068"/>
            <a:ext cx="237744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闲杂人员闯入/媒体冲突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2508068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17720" y="2508068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57800" y="2508068"/>
            <a:ext cx="118872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G+D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2508068"/>
            <a:ext cx="5669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G组安保拦截；D组带记者至采访区；A组授权对外口径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187337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舆情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3187337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嘉宾发表不当言论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187337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3187337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3187337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46520" y="3187337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D组直播切换备用画面；A组+主办方拟统一回应口径；事后稿件删改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866605"/>
            <a:ext cx="1097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00200" y="3866605"/>
            <a:ext cx="237744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餐饮/茶歇供应不足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3866605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17720" y="3866605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57800" y="3866605"/>
            <a:ext cx="118872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3866605"/>
            <a:ext cx="5669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茶歇按 1.2 倍备货；与餐厅签备货补货协议；F组实时巡看补给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545874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00200" y="4545874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伴手礼/物料缺漏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7639" y="4545874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17720" y="4545874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57800" y="4545874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4545874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签到台清单核对；缺漏当晚以快递/次日补寄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225142"/>
            <a:ext cx="1097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天气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00200" y="5225142"/>
            <a:ext cx="237744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大雨影响嘉宾到场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77639" y="5225142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17720" y="5225142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5225142"/>
            <a:ext cx="118872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46520" y="5225142"/>
            <a:ext cx="5669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门口加雨棚/雨伞；F组备伞 100 把；B组车辆点对点接驳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904411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00200" y="5904411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晚宴敬酒/座次冲突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77639" y="5904411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17720" y="5904411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57800" y="5904411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46520" y="5904411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席位卡核对到人；B组掌握 VIP 偏好；F组备用座位 2 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07  物资清单 与 对讲机频道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80160"/>
            <a:ext cx="82296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1325880" y="1280160"/>
            <a:ext cx="228600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物品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280160"/>
            <a:ext cx="201168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数量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0" y="1280160"/>
            <a:ext cx="10058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280160"/>
            <a:ext cx="14630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到位时间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3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5880" y="169163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议程手册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169163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600 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169163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169163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印刷完成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1167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25880" y="201167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桌牌/嘉宾胸卡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1880" y="201167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23560" y="201167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9400" y="201167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完成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33172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25880" y="233172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签到表/电子签到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233172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分级 4 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23560" y="233172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0" y="233172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12:00 上线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65175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25880" y="265175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横幅/KT板/引导牌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11880" y="265175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23560" y="265175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265175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10:00 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97180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25880" y="297180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手持麦×4 / 领夹麦×4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11880" y="297180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 2 备用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23560" y="297180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9400" y="297180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10:00 测试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29183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25880" y="329183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翻页器×4 / 备用电脑×1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11880" y="329183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23560" y="329183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29400" y="329183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检查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61187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25880" y="361187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转接头/线材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11880" y="361187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HDMI/Type-C/Lightning 各 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23560" y="361187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29400" y="361187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93192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25880" y="393192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11880" y="393192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20 台（分 3 频道）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23560" y="393192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29400" y="393192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 分发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25195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25880" y="425195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摄影/摄像机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11880" y="425195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主机×2 游机×2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23560" y="425195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29400" y="425195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11:00 调试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57200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25880" y="457200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直播推流设备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11880" y="457200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套（含备用 4G）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23560" y="457200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29400" y="457200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试推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489204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25880" y="489204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茶歇（500人）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11880" y="489204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高端冷餐/茶饮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23560" y="489204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29400" y="489204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15:30 上桌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21207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325880" y="521207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11880" y="521207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VVIP/嘉宾/机构 3 档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23560" y="521207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29400" y="521207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分装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53211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325880" y="553211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晚宴桌花/席位卡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11880" y="553211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500 人 50 桌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23560" y="553211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29400" y="553211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18:00 前完成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585215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25880" y="585215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急救包/AED 标识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11880" y="585215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 套 / 全场 3 处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23560" y="585215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585215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 就位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617219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25880" y="617219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应急联络卡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11880" y="617219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全员人手 1 张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23560" y="617219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29400" y="617219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发放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649224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325880" y="649224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备用雨伞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11880" y="649224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100 把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623560" y="649224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649224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视天气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686800" y="1280160"/>
            <a:ext cx="3108960" cy="411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对讲机频道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686800" y="1691640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CH1 指挥频道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875520" y="1691640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/ A 组 / 各组组长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686800" y="2331720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CH2 会务频道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875520" y="2331720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 + E 技术（流程切换）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686800" y="2971800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CH3 后勤频道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875520" y="2971800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 + F 后勤 + G 安全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686800" y="3611879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公共哨语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875520" y="3611879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'1分钟到点'、'换场'、'医疗'、'静默'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08  关键检查节点（Checkpoint）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日 18:00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96596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所有嘉宾 PPT/演讲稿到位；议程脚本 V2 锁定；通稿初稿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6304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日 14:00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96596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现场走台彩排；全员到岗培训；备用设备压力测试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146304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196596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现场指挥部成立；对讲机分发；安保/医疗到位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20040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12:00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70332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签到台开台；VIP车队首班；直播试推流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20040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13:25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370332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全员就位静默 5 分钟；总策划广播开场倒计时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320040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15:40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0332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音乐会前节点 - 茶歇/伴手礼/媒体合影同步启动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3776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18:10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44068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颁奖准备 - 奖杯/获奖机构到台口；晚宴席位最终核对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93776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18:30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544068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晚宴开席 - 主会场清场启动撤场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493776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次日 10:00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6760" y="544068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通稿发布；志愿者复盘会；问题与改进归档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万事俱备，只待 5·22。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0"/>
            <a:ext cx="109728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800" b="0">
                <a:solidFill>
                  <a:srgbClr val="FFC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所有志愿者的努力，都是为了让 500 位嘉宾在一滴水里看见 AI 的未来。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4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—— 总策划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