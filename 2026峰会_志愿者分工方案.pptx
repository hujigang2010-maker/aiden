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3657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9144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8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0020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46888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60604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47472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1188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480560"/>
            <a:ext cx="8229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617720"/>
            <a:ext cx="4572000" cy="5486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3017520" y="137160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56032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56032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49039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749039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37760"/>
            <a:ext cx="237744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937760"/>
            <a:ext cx="8595360" cy="91440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执行总监(韦佳玉) → 7 大职能组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1280160"/>
            <a:ext cx="2103120" cy="73152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胡继刚（您）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2286000"/>
            <a:ext cx="210312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统筹协调组（韦佳玉 执行总监）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20116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0" y="292608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20040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63040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66160"/>
            <a:ext cx="1691640" cy="54864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 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9271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96311" y="3566160"/>
            <a:ext cx="1691640" cy="54864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96311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87751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7751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 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1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52544" y="3566160"/>
            <a:ext cx="169164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52544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43984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984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31736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08776" y="3566160"/>
            <a:ext cx="1691640" cy="54864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8776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负责人：随圣博（组长）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87967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65007" y="3566160"/>
            <a:ext cx="1691640" cy="54864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7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7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7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447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199" y="320040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21239" y="3566160"/>
            <a:ext cx="1691640" cy="54864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21239" y="4160520"/>
            <a:ext cx="1691640" cy="146304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12679" y="420624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负责人：康诺斯（组长）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12679" y="4526280"/>
            <a:ext cx="150876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79" y="4800600"/>
            <a:ext cx="1508760" cy="8229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负责人：韦佳玉（执行总监）  |  建议人数：3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44424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执行调度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344424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 B/C/D/E/F/G 六组；时间节点把控；对讲机调度中枢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93920"/>
            <a:ext cx="2377440" cy="1158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文件秘书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693920"/>
            <a:ext cx="8686800" cy="1158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议程手册、签到表、嘉宾名单、流程脚本、复盘记录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  |  建议人数：6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  |  建议人数：5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  |  建议人数：5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负责人：随圣博（组长）  |  建议人数：3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  |  建议人数：3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81940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44424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44424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6908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06908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9392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469392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18760"/>
            <a:ext cx="2377440" cy="5334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5318760"/>
            <a:ext cx="8686800" cy="53340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应急安全/机动组 · 职责细分（大项→小项）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负责人：康诺斯（组长）  |  建议人数：3 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155680" cy="64008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4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2194560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944368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694176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3694176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43983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4443983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5193792"/>
            <a:ext cx="8686800" cy="6583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本轮人员调整说明（总策划 5/14 调整）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原则：人数平均分配 / 嘉宾接待组瘦身 / 关键岗位组长就位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 10 项调整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82296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18288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+ 葛九明 → D 组组长（新增）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82296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2860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蒋珊：B 组 → D 组（AI 圈层做新媒体）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743200"/>
            <a:ext cx="82296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7432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吕志翔：B 组 → E 组（投融资对接技术赞助）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82296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2004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高辰辰：B 组 → E 组（听安排，技术对接助理）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822960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36576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彭常丽：B 组 → F 组（茶歇/晚宴专员）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114800"/>
            <a:ext cx="82296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41148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王胜：F 副组长 → B 组组长（最资深）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82296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5720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Kelly：C 副组长 → C 组组长（升任）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29200"/>
            <a:ext cx="82296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0292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王珏：C 组长 → C 副组长（保留计时核心岗）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86400"/>
            <a:ext cx="82296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54864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张蒙：D 组长 → D 副组长（保留摄影核心岗）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943600"/>
            <a:ext cx="82296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0" y="5943600"/>
            <a:ext cx="4617720" cy="41148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刘严：F 组员 → F 副组长（升）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人数变化（27 志愿者 + 总策划 = 28 人）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1828800"/>
            <a:ext cx="109728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19" y="1828800"/>
            <a:ext cx="64008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999" y="1828800"/>
            <a:ext cx="64008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79" y="1828800"/>
            <a:ext cx="82296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变化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64039" y="1828800"/>
            <a:ext cx="22860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/ 副组长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19" y="221284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0999" y="221284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1079" y="2212848"/>
            <a:ext cx="8229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64039" y="221284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715768"/>
            <a:ext cx="10972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0919" y="271576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0999" y="271576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41079" y="2715768"/>
            <a:ext cx="822960" cy="50292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64039" y="2715768"/>
            <a:ext cx="228600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60919" y="321868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00999" y="321868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41079" y="3218688"/>
            <a:ext cx="8229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64039" y="321868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 / 王珏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3640" y="3721608"/>
            <a:ext cx="10972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60919" y="372160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00999" y="372160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79" y="3721608"/>
            <a:ext cx="822960" cy="50292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64039" y="3721608"/>
            <a:ext cx="228600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19" y="422452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000999" y="422452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41079" y="4224528"/>
            <a:ext cx="822960" cy="50292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64039" y="422452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 / 吕志翔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4727448"/>
            <a:ext cx="10972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60919" y="472744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00999" y="4727448"/>
            <a:ext cx="64008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41079" y="4727448"/>
            <a:ext cx="82296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64039" y="4727448"/>
            <a:ext cx="2286000" cy="50292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刘严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360919" y="523036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000999" y="5230368"/>
            <a:ext cx="6400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41079" y="5230368"/>
            <a:ext cx="8229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64039" y="5230368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 / 张卓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实际人员分配（基于总策划最新调整）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28 人 / 7 组；本轮调整：+葛九明、蒋珊→D、吕志翔/高辰辰→E、彭常丽→F、王胜→B组长、陈潇→C组长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2762173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2579293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胡继刚（您）  -  总策划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84120"/>
            <a:ext cx="2579293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韦佳玉  -  执行总监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85160"/>
            <a:ext cx="2579293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李振春（春子）  -  文件秘书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5093" y="1325880"/>
            <a:ext cx="2762173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嘉宾接待组（6人）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5093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6533" y="1783080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王胜（20级）  -  组长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6533" y="2133599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朱铭喆  -  VIP 1V1（港澳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6533" y="2484120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JasonCAI 蔡杰  -  VIP 1V1（主旨嘉宾）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6533" y="2834639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Winny  -  VIP 1V1（核心搭子）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6533" y="3185160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Angi 郭杰  -  观众席引导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6533" y="3535679"/>
            <a:ext cx="2579293" cy="35052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LV  -  动线引导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1325880"/>
            <a:ext cx="2762173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会务执行组（5人）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4427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1783080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陈潇 Kelly  -  组长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2203704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王珏  -  副组长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624328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冯墨 律师  -  主持对接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3044952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黄璐 Lucius  -  PPT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465576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徐胜博  -  颁奖执行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3761" y="1325880"/>
            <a:ext cx="2762173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媒体宣传组（5人）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3761" y="1709928"/>
            <a:ext cx="2762173" cy="2221992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5201" y="1783080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葛九明  -  组长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5201" y="2203704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张蒙 AEGISTAR  -  副组长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5201" y="2624328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蒋珊  -  AI 内容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5201" y="3044952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皮尔德小号  -  直播+交响乐预热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5201" y="3465576"/>
            <a:ext cx="2579293" cy="420623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马磊  -  媒体接待+会后传播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69080"/>
            <a:ext cx="3728618" cy="38404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技术支持组（3人）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53128"/>
            <a:ext cx="3728618" cy="2221992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2628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随圣博 Joshua-Sui  -  组长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22732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吕志翔  -  技术赞助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2836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高辰辰  -  技术对接助理（调入）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1538" y="4069080"/>
            <a:ext cx="3728618" cy="384048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后勤保障组（3人）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1538" y="4453128"/>
            <a:ext cx="3728618" cy="2221992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2978" y="452628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朱俊峰  -  组长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2978" y="522732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刘严  -  副组长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2978" y="592836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彭常丽  -  茶歇+晚宴专员（调入）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7316" y="4069080"/>
            <a:ext cx="3728618" cy="384048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应急安全/机动组（3人）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7316" y="4453128"/>
            <a:ext cx="3728618" cy="2221992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8756" y="452628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康诺斯 Conns  -  组长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8756" y="522732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张卓 盈科  -  副组长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8756" y="5928360"/>
            <a:ext cx="3545738" cy="70104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蔡萍  -  急救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优化建议筛选（共 19 条 → 采纳 16 / 调整 1 / 暂缓 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处置原则：直击去年痛点的全部采纳；专业度不足或越界的暂缓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2801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371600"/>
            <a:ext cx="45720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371600"/>
            <a:ext cx="118872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</a:t>
            </a:r>
          </a:p>
        </p:txBody>
      </p:sp>
      <p:sp>
        <p:nvSpPr>
          <p:cNvPr id="8" name="Rectangle 7"/>
          <p:cNvSpPr/>
          <p:nvPr/>
        </p:nvSpPr>
        <p:spPr>
          <a:xfrm>
            <a:off x="7543800" y="1371600"/>
            <a:ext cx="91440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8458200" y="1371600"/>
            <a:ext cx="40233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落地动作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55648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1755648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量化各组任务量+设置 Milestone（按时间精力选岗位）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75564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43800" y="1755648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58200" y="1755648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Milestone 表（见 09 sheet），各组组长 T-7 前提交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09754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2009754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 Milestone 节点提前 1-2 天，留 buffer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009754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43800" y="2009754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009754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阶段任务矩阵已整体前移，T-3 改为 T-5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63861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263861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提前半天/线上彩排，明确工作范围边界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263861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43800" y="2263861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58200" y="2263861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18:00 全员线上彩排 1.5h；T-7 现场踏勘 1 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17968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83080" y="2517968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协助人员对接清单（酒店/屏幕谁联系，避免事事请示总策划）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51796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2517968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58200" y="2517968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11-对接联系人清单（见 sheet），人手一份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772075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83080" y="2772075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嘉宾发言时间提前打招呼+主持人收口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772075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43800" y="2772075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2772075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T-3 致电每位讲者+主持人对脚本（见 10-嘉宾时间SOP）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026182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3026182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增加科技类展示（AI/机器人/芯片小海报）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3026182"/>
            <a:ext cx="1188720" cy="25410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暂缓→单列待办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3026182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58200" y="3026182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需赞助谈判，春子+胡继刚 私下推进，不进 5/22 必交付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80289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3280289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扩大交响乐宣传，视频号发去年录像预告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3280289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3280289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58200" y="3280289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组皮尔德小号负责，T-7 起每日 1 条；T-3 集中投流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534396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783080" y="3534396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演奏者走位与观众互动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3534396"/>
            <a:ext cx="1188720" cy="25410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43800" y="3534396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8200" y="3534396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总策划已明确专业度不足；现场仅做灯光烘托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3788503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隋胜博/徐胜博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83080" y="3788503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地铁→场地快进短视频群发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5080" y="3788503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43800" y="3788503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3788503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发群（去年已做，今年延续）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042610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83080" y="4042610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微信+短信点对点提醒嘉宾交通/停车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55080" y="4042610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43800" y="4042610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458200" y="4042610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责任人 T-2 18:00 前完成全部联络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296717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83080" y="4296717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角备份制度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55080" y="4296717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43800" y="4296717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58200" y="4296717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12-组长备份表（见 sheet）每组指定 B 角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550824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783080" y="4550824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组按身高/年龄筛选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55080" y="4550824"/>
            <a:ext cx="1188720" cy="254106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543800" y="4550824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58200" y="4550824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改为按英语/沟通/形象气质匹配 VIP 1V1，避免歧视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804931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83080" y="4804931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志愿者专用颜色胸牌快速识别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55080" y="4804931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4804931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458200" y="4804931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组制作橙色胸牌（与嘉宾胸卡明显区分），见物资清单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059038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783080" y="5059038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现场观众管理（盲区）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55080" y="5059038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543800" y="5059038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458200" y="5059038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 改为观众席引导岗；G 组机动支援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313145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83080" y="5313145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自报有急救证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355080" y="5313145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43800" y="5313145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458200" y="5313145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蔡萍调到 G 组任急救/医疗主岗（稀缺技能）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5567252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783080" y="5567252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张江工厂提供灯光/舞台/音响设备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5567252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543800" y="5567252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458200" y="5567252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作为重大物料资源并入；C 组陈潇为设备总管，E 组对接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5821359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783080" y="5821359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去年赞助物料环节混乱，要提前深化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55080" y="5821359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543800" y="5821359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458200" y="5821359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组刘严专项负责赞助物料入场+点位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6075466"/>
            <a:ext cx="12801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783080" y="6075466"/>
            <a:ext cx="45720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工作装+合影+证书+午餐+纪念品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55080" y="6075466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43800" y="6075466"/>
            <a:ext cx="91440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58200" y="6075466"/>
            <a:ext cx="4023360" cy="2541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已写入物资清单；T-1 全员告知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6329573"/>
            <a:ext cx="12801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783080" y="6329573"/>
            <a:ext cx="45720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核心搭子：韦佳玉/Winnie/陈潇/王胜+葛九明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355080" y="6329573"/>
            <a:ext cx="1188720" cy="25410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7543800" y="6329573"/>
            <a:ext cx="91440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458200" y="6329573"/>
            <a:ext cx="4023360" cy="254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建立核心策划圈高频沟通群（含 D 组长葛九明 7 人）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 + 组长 A/B 角备份制度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采纳王胜建议：组长备份；总策划 5/13 点名核心搭子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核心策划圈（7 人 · 总策划直管高频沟通）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18288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</a:t>
            </a:r>
          </a:p>
        </p:txBody>
      </p:sp>
      <p:sp>
        <p:nvSpPr>
          <p:cNvPr id="8" name="Rectangle 7"/>
          <p:cNvSpPr/>
          <p:nvPr/>
        </p:nvSpPr>
        <p:spPr>
          <a:xfrm>
            <a:off x="361188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全场指挥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146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25146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执行总监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25146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副总策划，统筹各组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004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2004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11880" y="32004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提供灯光/舞台/音响设备资源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8862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38862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11880" y="38862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三次参加，老带新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45720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组组长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11880" y="45720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总策划指定，统筹媒体宣传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2578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温妮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52578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5257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空窗期可承担时间敏感任务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943600"/>
            <a:ext cx="155448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 春子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5943600"/>
            <a:ext cx="1463040" cy="59436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组秘书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59436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科创资源对接（赞助/展位）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角备份（采纳王胜建议）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828800"/>
            <a:ext cx="109728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60919" y="1828800"/>
            <a:ext cx="164592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角组长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40" y="1828800"/>
            <a:ext cx="164592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角备份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60" y="1828800"/>
            <a:ext cx="109728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60919" y="221284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胡继刚（总策划）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06840" y="221284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221284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总策划缺席由韦佳玉全权代行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71576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19" y="271576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06840" y="271576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朱铭喆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52760" y="271576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角第三次参加最资深；B 角港校联络人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60919" y="321868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06840" y="321868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52760" y="321868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 20 年策划经验+设备；B 角中信证券计时主控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372160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19" y="372160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06840" y="372160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AEGISTAR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52760" y="372160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角总策划指定；B 角自媒体+摄影核心岗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60919" y="422452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06840" y="422452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吕志翔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652760" y="422452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角投融资人脉对接技术赞助方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472744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19" y="472744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06840" y="4727448"/>
            <a:ext cx="164592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4727448"/>
            <a:ext cx="1097280" cy="502920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角建筑+协会运营；B 角对接赞助物料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19" y="523036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06840" y="5230368"/>
            <a:ext cx="16459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5230368"/>
            <a:ext cx="1097280" cy="5029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角律师可应对突发；蔡萍持急救证常驻医疗岗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Milestone 时间表（节点提前 1-2 天 / 韦佳玉建议）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21 个里程碑 / T-9 ~ T+1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55448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2057400" y="1371600"/>
            <a:ext cx="859536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关键里程碑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52760" y="1371600"/>
            <a:ext cx="1463040" cy="38404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55648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T-9 (5/13)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755648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志愿者讨论会完成→分工表发布（已完成）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60" y="1755648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985554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1985554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各组建独立沟通群+组长 A/B 角确定+核心策划圈群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2760" y="1985554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15460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7400" y="2215460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组长见面会（线上 1h）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52760" y="2215460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45366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7400" y="2445366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晚宴名单锁定 V1（去年痛点：太晚锁定）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52760" y="2445366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75273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2675273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交响乐往届视频开始日更预热（视频号）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52760" y="2675273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05179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2905179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1（场地/动线/AV）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2905179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135085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3135085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所有讲者 PPT 截稿（去年是 T-3，今年提前）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2760" y="3135085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64992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57400" y="3364992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地铁→场地快进短视频拍摄完成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60" y="3364992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594898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3594898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物料/胸牌印刷下单（去年痛点：名牌制作晚）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60" y="3594898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824804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(5/18)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57400" y="3824804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腾讯/华为赞助物料对接清单确认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652760" y="3824804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054710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4054710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组致电每位讲者+主持人对发言时间（防超时）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4054710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284617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57400" y="4284617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对接联系人清单（酒店/AV/餐饮/安保）发到全员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52760" y="4284617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514523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57400" y="4514523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短视频发主群+嘉宾群预热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652760" y="4514523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744429"/>
            <a:ext cx="155448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57400" y="4744429"/>
            <a:ext cx="859536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点对点短信/微信提醒嘉宾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652760" y="4744429"/>
            <a:ext cx="1463040" cy="22990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74336"/>
            <a:ext cx="155448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57400" y="4974336"/>
            <a:ext cx="859536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2（含彩排站位）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974336"/>
            <a:ext cx="1463040" cy="2299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204242"/>
            <a:ext cx="155448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57400" y="5204242"/>
            <a:ext cx="859536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全员线上彩排 18:00-19:30（1.5h）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5204242"/>
            <a:ext cx="146304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434148"/>
            <a:ext cx="155448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57400" y="5434148"/>
            <a:ext cx="859536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全设备压力测试+陈潇工厂设备进场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652760" y="5434148"/>
            <a:ext cx="1463040" cy="229906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664054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09:00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57400" y="5664054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现场指挥部成立、对讲机分发、AED/急救包就位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652760" y="5664054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893961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12:00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57400" y="5893961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签到台开台、VIP 车队首班、直播试推流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652760" y="5893961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6123867"/>
            <a:ext cx="155448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13:25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57400" y="6123867"/>
            <a:ext cx="859536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分钟、广播开场倒计时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652760" y="6123867"/>
            <a:ext cx="1463040" cy="2299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353773"/>
            <a:ext cx="155448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T+1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57400" y="6353773"/>
            <a:ext cx="859536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前发布、复盘会、问题归档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52760" y="6353773"/>
            <a:ext cx="1463040" cy="229906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嘉宾发言时间控制 SOP（去年最大事故）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采纳张卓建议：从第 1 位讲者就开始的超时绝不能重演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219456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1371600"/>
            <a:ext cx="7955279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52759" y="1371600"/>
            <a:ext cx="14630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219456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828800"/>
            <a:ext cx="7955279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整理每位讲者的演讲时长合同/邀约函（25/20/40min）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652759" y="1828800"/>
            <a:ext cx="146304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57120"/>
            <a:ext cx="219456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2357120"/>
            <a:ext cx="7955279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组致电每位讲者：再次确认时长 + 提示我们会举牌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52759" y="2357120"/>
            <a:ext cx="146304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885440"/>
            <a:ext cx="219456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885440"/>
            <a:ext cx="7955279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组与 4 位主持人对脚本：嘉宾超时由你直接打断的话术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652759" y="2885440"/>
            <a:ext cx="1463040" cy="5283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13760"/>
            <a:ext cx="219456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3413760"/>
            <a:ext cx="7955279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彩排时给主持人发『收口话术卡』：'感谢XXX，最后一分钟'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52759" y="3413760"/>
            <a:ext cx="1463040" cy="5283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94208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演讲前 2min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97480" y="394208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计时员就位，倒计时牌(5/3/1 min)摆放台口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652759" y="394208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47040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演讲中 5/3/1min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97480" y="447040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在嘉宾视线方向举牌（先黄后红）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59" y="447040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9872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30s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97480" y="499872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主持人通过耳麦提示'最后一句话'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652759" y="499872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52704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90s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97480" y="552704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主持人直接收口：'感谢XXX的精彩分享'走流程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52759" y="552704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055360"/>
            <a:ext cx="219456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圆桌嘉宾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6055360"/>
            <a:ext cx="7955279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每人剩 1min 时主持人示意；超时立即转下一位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59" y="6055360"/>
            <a:ext cx="1463040" cy="52832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协助人员对接清单（全员人手一份）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采纳张卓建议：现场遇问题先找A角→找B角→才找韦佳玉/胡继刚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49377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问题类别 / 你遇到的事情</a:t>
            </a:r>
          </a:p>
        </p:txBody>
      </p:sp>
      <p:sp>
        <p:nvSpPr>
          <p:cNvPr id="6" name="Rectangle 5"/>
          <p:cNvSpPr/>
          <p:nvPr/>
        </p:nvSpPr>
        <p:spPr>
          <a:xfrm>
            <a:off x="5440680" y="1371600"/>
            <a:ext cx="32004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角（先找）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1080" y="1371600"/>
            <a:ext cx="347472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角（找不到时）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场地/桌椅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0680" y="1783080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1783080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刘严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01289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灯光/舞台/音响（自有）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40680" y="2001289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001289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19498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麦克风/PPT切换/网络/直播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0680" y="2219498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41080" y="2219498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高辰辰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37707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技术赞助/腾讯华为技术对接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2437707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吕志翔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41080" y="2437707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胡继刚（总策划）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655916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酒店/嘉宾接送/休息室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40680" y="2655916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2655916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74125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嘉宾临时需求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0680" y="2874125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组对应 1V1 责任人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1080" y="2874125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王胜（B 组长）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092334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观众席引导/秩序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40680" y="3092334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41080" y="3092334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LV / G 组 康诺斯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10543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茶歇/晚宴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40680" y="3310543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彭常丽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41080" y="3310543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528752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赞助物料（腾讯/华为）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40680" y="3528752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刘严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3528752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746961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40680" y="3746961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张蒙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3746961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葛九明（D 组长）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965170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直播信号/新媒体即时发布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0680" y="3965170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41080" y="3965170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蒋珊（AI 内容）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183380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 圈层金句/新媒体素材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4183380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蒋珊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41080" y="4183380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马磊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01589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媒体/记者接待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40680" y="4401589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马磊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641080" y="4401589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619798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PPT/资料/换片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40680" y="4619798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黄璐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641080" y="4619798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838007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流程超时/嘉宾迟到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40680" y="4838007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王珏（计时）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41080" y="4838007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陈潇（C 组长）→ 韦佳玉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056216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颁奖物料/获奖嘉宾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40680" y="5056216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徐胜博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41080" y="5056216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5274425"/>
            <a:ext cx="493776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法务/舆情/突发声明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40680" y="5274425"/>
            <a:ext cx="320040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张卓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41080" y="5274425"/>
            <a:ext cx="347472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5492634"/>
            <a:ext cx="493776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医疗/急救 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40680" y="5492634"/>
            <a:ext cx="320040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蔡萍 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641080" y="5492634"/>
            <a:ext cx="347472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710843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跨组人手不足/机动调配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40680" y="5710843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641080" y="5710843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5929052"/>
            <a:ext cx="493776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交响乐团对接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40680" y="5929052"/>
            <a:ext cx="320040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5929052"/>
            <a:ext cx="3474720" cy="218209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韦佳玉（去年负责）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147261"/>
            <a:ext cx="493776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晚宴席位/敬酒/现场对接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40680" y="6147261"/>
            <a:ext cx="320040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彭常丽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41080" y="6147261"/>
            <a:ext cx="3474720" cy="218209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6365470"/>
            <a:ext cx="493776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无法解决/重大决策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440680" y="6365470"/>
            <a:ext cx="320040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641080" y="6365470"/>
            <a:ext cx="3474720" cy="218209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828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828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971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2971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4114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20240" y="4114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257800"/>
            <a:ext cx="1371600" cy="10515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5257800"/>
            <a:ext cx="4069080" cy="1051560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待办（总策划 + 各组组长）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8288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8288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27432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27432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6576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60" y="36576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5720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45720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5486400"/>
            <a:ext cx="13716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60" y="5486400"/>
            <a:ext cx="4069080" cy="82296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41248"/>
            <a:ext cx="114300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308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7" name="Rectangle 6"/>
          <p:cNvSpPr/>
          <p:nvPr/>
        </p:nvSpPr>
        <p:spPr>
          <a:xfrm>
            <a:off x="7086600" y="1371600"/>
            <a:ext cx="50292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83080" y="182880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182880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86600" y="182880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2201593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2201593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201593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83080" y="2574387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2574387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574387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2947181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2947181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947181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319975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3319975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3319975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692769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06440" y="3692769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692769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4065563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4065563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4065563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83080" y="4438356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06440" y="4438356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86600" y="4438356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83080" y="4811150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06440" y="4811150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4811150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5183944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06440" y="5183944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086600" y="5183944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83080" y="5556738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06440" y="5556738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5556738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83080" y="5929532"/>
            <a:ext cx="40233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06440" y="5929532"/>
            <a:ext cx="128016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5929532"/>
            <a:ext cx="5029200" cy="372793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6302326"/>
            <a:ext cx="40233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06440" y="6302326"/>
            <a:ext cx="128016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86600" y="6302326"/>
            <a:ext cx="5029200" cy="372793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42316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42316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42316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42316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42316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752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1752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01752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01752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01752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188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61188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61188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61188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61188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20624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20624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20624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20624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20624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80060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480060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480060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480060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480060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394960"/>
            <a:ext cx="1097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394960"/>
            <a:ext cx="23774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394960"/>
            <a:ext cx="6400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394960"/>
            <a:ext cx="118872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394960"/>
            <a:ext cx="5669280" cy="59436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89320"/>
            <a:ext cx="1097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00200" y="5989320"/>
            <a:ext cx="237744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77639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617720" y="5989320"/>
            <a:ext cx="6400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989320"/>
            <a:ext cx="118872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46520" y="5989320"/>
            <a:ext cx="5669280" cy="59436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097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237744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371600"/>
            <a:ext cx="6400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800" y="1371600"/>
            <a:ext cx="118872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1371600"/>
            <a:ext cx="566928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1828800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28800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828800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28800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8068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08068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17720" y="2508068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57800" y="2508068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2508068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87337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187337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187337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3187337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3187337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866605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866605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3866605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57800" y="3866605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866605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545874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545874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77639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545874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4545874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6520" y="4545874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225142"/>
            <a:ext cx="1097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00200" y="5225142"/>
            <a:ext cx="237744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225142"/>
            <a:ext cx="6400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57800" y="5225142"/>
            <a:ext cx="118872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46520" y="5225142"/>
            <a:ext cx="5669280" cy="679268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5904411"/>
            <a:ext cx="1097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00200" y="5904411"/>
            <a:ext cx="237744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977639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17720" y="5904411"/>
            <a:ext cx="6400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257800" y="5904411"/>
            <a:ext cx="118872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46520" y="5904411"/>
            <a:ext cx="5669280" cy="67926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8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1280160"/>
            <a:ext cx="228600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1880" y="1280160"/>
            <a:ext cx="201168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3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69163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169163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600 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23560" y="169163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69163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印刷完成（前移）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116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25880" y="20116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桌牌/嘉宾胸卡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0116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23560" y="20116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20116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完成（去年痛点：太晚）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33172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25880" y="233172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★志愿者专用橙色胸牌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233172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张（含韦佳玉）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23560" y="233172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233172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完成（采纳张蒙建议）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517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6517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签到表/电子签到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11880" y="26517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分级 4 类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23560" y="26517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6517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 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297180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25880" y="297180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横幅/KT板/引导牌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11880" y="297180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23560" y="297180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0" y="297180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29183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25880" y="329183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手持麦×4 / 领夹麦×4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11880" y="329183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 2 备用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560" y="329183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29400" y="329183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测试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6118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25880" y="36118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翻页器×4 / 备用电脑×1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11880" y="36118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23560" y="36118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29400" y="36118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检查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93192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25880" y="393192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转接头/线材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11880" y="393192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HDMI/Type-C/Lightning 各 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23560" y="393192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29400" y="393192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25195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25880" y="425195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25195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台（分 3 频道）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23560" y="425195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29400" y="425195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分发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5720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25880" y="45720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★陈潇张江工厂灯光/舞台/音响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11880" y="45720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套（自有资源）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23560" y="45720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5720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进场（陈潇主导，节省赞助）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8920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325880" y="48920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11880" y="48920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主机×2 游机×2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23560" y="48920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29400" y="48920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21207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25880" y="521207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直播推流设备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11880" y="521207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套（含备用 4G）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23560" y="521207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29400" y="521207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试推（直播确认开启）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5321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325880" y="55321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★地铁→场地快进短视频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11880" y="55321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段 60 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55321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629400" y="55321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拍摄完成、T-3 群发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8521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25880" y="58521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★交响乐往届预热视频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11880" y="58521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5-7 段 短视频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23560" y="58521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29400" y="58521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起视频号每日 1 条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617219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5880" y="617219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茶歇（500人）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11880" y="617219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高端冷餐/茶饮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623560" y="617219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629400" y="617219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15:30 上桌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49224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25880" y="649224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611880" y="649224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VVIP/嘉宾/机构 3 档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623560" y="649224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629400" y="649224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分装（前移）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02920" y="681227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325880" y="681227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晚宴桌花/席位卡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611880" y="681227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 50 桌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23560" y="681227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629400" y="681227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 前完成（晚宴名单 T-7 锁定）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713231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325880" y="713231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★赞助物料（腾讯/华为）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11880" y="713231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按合同清单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623560" y="713231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629400" y="713231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与品牌方对接确认（去年痛点）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02920" y="745236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325880" y="745236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志愿者午餐+证书+纪念品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611880" y="745236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套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23560" y="745236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629400" y="745236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分装、当日 12:00 发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02920" y="777240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325880" y="777240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11880" y="777240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623560" y="777240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629400" y="777240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02920" y="8092440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25880" y="8092440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★急救主岗（蔡萍持证）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611880" y="8092440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名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623560" y="8092440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629400" y="8092440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全程在 G 组指挥点待命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8412480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325880" y="8412480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应急联络卡（含对接清单）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11880" y="8412480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623560" y="8412480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629400" y="8412480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发放（采纳张卓建议）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2920" y="8732519"/>
            <a:ext cx="82296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325880" y="8732519"/>
            <a:ext cx="228600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611880" y="8732519"/>
            <a:ext cx="201168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8732519"/>
            <a:ext cx="10058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629400" y="8732519"/>
            <a:ext cx="1463040" cy="3200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2920" y="9052559"/>
            <a:ext cx="82296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325880" y="9052559"/>
            <a:ext cx="228600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★T-2 嘉宾点对点提醒短信/微信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11880" y="9052559"/>
            <a:ext cx="201168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全部嘉宾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623560" y="9052559"/>
            <a:ext cx="10058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29400" y="9052559"/>
            <a:ext cx="1463040" cy="320040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9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18:00 前完成（采纳JasonCAI建议）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86800" y="1280160"/>
            <a:ext cx="3108960" cy="41148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686800" y="169164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875520" y="169164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686800" y="233172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875520" y="233172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686800" y="2971800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875520" y="2971800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686800" y="3611879"/>
            <a:ext cx="1188720" cy="5943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875520" y="3611879"/>
            <a:ext cx="1920240" cy="59436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46304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196596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320040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0332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4937760"/>
            <a:ext cx="3703320" cy="5029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6760" y="5440680"/>
            <a:ext cx="3703320" cy="109728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10972800" cy="5486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