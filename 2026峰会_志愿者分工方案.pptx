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06040"/>
            <a:ext cx="12191695" cy="914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6634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972800" cy="10972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2026 人工智能商业化落地与硬核投资破局峰会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200" b="0">
                <a:solidFill>
                  <a:srgbClr val="F2F2F2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寻找 AI 时代的超级个体、新质资产与资本新风口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8036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600" b="1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志愿者职能分工方案 · 总策划工作底稿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11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时间：2026 年 5 月 22 日 13:00 - 20:30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6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地点：上海 · 北外滩 · 一滴水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400" b="0">
                <a:solidFill>
                  <a:srgbClr val="BFBFB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主办：北大经院上海校友会 · 复旦大学住房政策研究中心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目录 / 总策划工作框架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整体目标与原则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46304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160020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志愿者组织架构（向总策划负责）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七大职能组职责（大项→小项）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46888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阶段任务矩阵（T-7 至 收尾撤场）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议程时间轴分工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347472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361188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应急预案（含技术/嘉宾/流程/安保）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3736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物资与对讲机频道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480560"/>
            <a:ext cx="914400" cy="86868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617720"/>
            <a:ext cx="4572000" cy="5943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8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关键检查节点与复盘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01  整体目标与工作原则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7160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零失误执行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3017520" y="137160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人高净值圈层峰会，议程紧凑，任何环节零失误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嘉宾体验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256032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顶级嘉宾从抵达到离场全程被'看见、被服务'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49039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品牌呈现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3749039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直播+新媒体即时传播，会后 48h 形成传播声量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937760"/>
            <a:ext cx="2377440" cy="9601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应急可控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4937760"/>
            <a:ext cx="8595360" cy="96012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6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对任何可预见风险有预案、有责任人、有处置 SOP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02  志愿者组织架构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→ 执行总监(韦佳玉) → 7 大职能组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280160"/>
            <a:ext cx="3017520" cy="777240"/>
          </a:xfrm>
          <a:prstGeom prst="round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 胡继刚（您）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331720"/>
            <a:ext cx="3017520" cy="685800"/>
          </a:xfrm>
          <a:prstGeom prst="round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统筹协调组（韦佳玉 执行总监）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205740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035040" y="3017520"/>
            <a:ext cx="45720" cy="27432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291840"/>
            <a:ext cx="10927080" cy="36576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63040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1691640" cy="594360"/>
          </a:xfrm>
          <a:prstGeom prst="round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人数：5 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覆盖嘉宾从邀约确认 → 抵达 → 接送 → 签到 → 引导 → 离场 → 晚宴全链路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9271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2496311" y="3657600"/>
            <a:ext cx="1691640" cy="594360"/>
          </a:xfrm>
          <a:prstGeom prst="round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496311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87751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87751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人数：6 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1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按议程时间轴推动节目流转：主持衔接、嘉宾上下场、议程计时、颁奖执行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75504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52544" y="3657600"/>
            <a:ext cx="1691640" cy="59436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52544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43984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3984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3984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覆盖现场摄影、摄像、直播、新媒体、媒体接待、会后稿件传播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31736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08776" y="3657600"/>
            <a:ext cx="1691640" cy="594360"/>
          </a:xfrm>
          <a:prstGeom prst="round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08776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音视频、灯光、麦克风、PPT切换、网络、直播信号、应急备份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87967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065007" y="3657600"/>
            <a:ext cx="1691640" cy="59436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7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56447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56447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人数：3 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56447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场地、物料、餐饮、茶歇、伴手礼、晚宴执行，以及陆家嘴交响乐团对接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744199" y="3291840"/>
            <a:ext cx="45720" cy="365760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921239" y="3657600"/>
            <a:ext cx="1691640" cy="594360"/>
          </a:xfrm>
          <a:prstGeom prst="round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921239" y="4297680"/>
            <a:ext cx="1691640" cy="1554480"/>
          </a:xfrm>
          <a:prstGeom prst="rect">
            <a:avLst/>
          </a:prstGeom>
          <a:solidFill>
            <a:srgbClr val="F8F8F8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79" y="4343400"/>
            <a:ext cx="150876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12679" y="4709160"/>
            <a:ext cx="150876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人数：4 人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012679" y="5029200"/>
            <a:ext cx="1508760" cy="7772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安保、消防、医疗、突发事件、舆情、与场馆/公安联动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原则：每组设组长 1 人 → 直接对接执行总监 A 组 → A 组对您负责；对讲机分 3 频道（指挥/会务/后勤）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A 统筹协调组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负责人：韦佳玉（执行总监）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主要职责：向总策划负责，统筹全场，协同各组进度、对外口径、突发决策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11125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总指挥（胡继刚）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11125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全场最高决策；与主办/协办方对接；流程总控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89960"/>
            <a:ext cx="2651760" cy="11125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执行总监+文件总管（韦佳玉）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489960"/>
            <a:ext cx="8412480" cy="11125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 B/C/D/E/F/G 六组；议程脚本/会议记录/复盘主持；对讲机调度中枢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693920"/>
            <a:ext cx="2651760" cy="11125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嘉宾邀约+赞助落位（春子）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4693920"/>
            <a:ext cx="8412480" cy="11125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①嘉宾邀约确认与全程跟进（外地交通/住宿）  ②赞助资源对接落位（腾讯/华为/科技展位）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B 嘉宾接待组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负责人：王胜（组长）  |  建议人数：5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主要职责：覆盖嘉宾从邀约确认 → 抵达 → 接送 → 签到 → 引导 → 离场 → 晚宴全链路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VIP一对一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为主旨演讲嘉宾/主持/特邀机构嘉宾配备 1V1 陪同（白硕、夏春、寇文红等）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机场/酒店接送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外地嘉宾接机/接站、酒店入住对接、当日接送车辆调度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签到台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按嘉宾分级（VVIP / 演讲嘉宾 / 机构嘉宾 / 普通嘉宾）分通道签到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引导动线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电梯口→签到台→主会场→洗手间→茶歇区→晚宴厅 全程引导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休息室管理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嘉宾休息室饮水、补妆、PPT预演、专属服务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名片/合影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重要嘉宾合影、名片收集、对接需求登记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C 会务执行组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负责人：陈潇 Kelly（组长）  |  建议人数：6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主要职责：按议程时间轴推动节目流转：主持衔接、嘉宾上下场、议程计时、颁奖执行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流程总控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持脚本对照议程；每环节超时 30s 即时提醒主持/总指挥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舞台引导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嘉宾候场→上台→落座→下场；圆桌座次摆名牌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计时员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 25/20min、圆桌 40min；倒计时举牌（5/3/1 min）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主持对接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提前与各环节主持人对脚本；过场词、串场调整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PPT/资料对接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 24h 收齐所有讲者 PPT；按演讲顺序入备份U盘+云盘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颁奖执行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奖杯/证书摆放、颁奖嘉宾引导、获奖机构合影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D 媒体宣传组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负责人：葛九明（组长）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主要职责：覆盖现场摄影、摄像、直播、新媒体、媒体接待、会后稿件传播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摄影/摄像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主舞台机位+游机；圆桌特写；签到/茶歇/晚宴花絮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直播/录播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直播平台搭建（如视频号/抖音）；导播切换；网络备用 4G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媒体接待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财经/科技媒体记者签到、采访区安排、通稿派发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新媒体即时发布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现场快讯（金句卡片）、嘉宾观点摘录、朋友圈/小红书推送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会后传播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活动通稿、视频剪辑、嘉宾合影分发、媒体追投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E 技术支持组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负责人：张卓（组长）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主要职责：音视频、灯光、麦克风、PPT切换、网络、直播信号、应急备份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音响/麦克风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手持/领夹麦各 4 支；圆桌每位 1 支；备用电池常驻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PPT切换/总控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翻页器+技术员守机；嘉宾切换提前 1 环节预加载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灯光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舞台主光、圆桌追光、交响乐演出灯光预案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LED大屏/字幕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主屏播放+侧屏倒计时/嘉宾介绍卡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主有线+4G双备份；直播推流监看；断网应急脚本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应急备件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备用麦×2、备用电脑×1、备用翻页器×2、转接头全套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F 后勤保障组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负责人：朱俊峰（组长）  |  建议人数：3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主要职责：场地、物料、餐饮、茶歇、伴手礼、晚宴执行，以及陆家嘴交响乐团对接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场地/桌椅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主会场布置、圆桌摆位、签到台、媒体区、休息室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88798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物料制作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288798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议程册、桌牌、横幅、KT板、引导牌、嘉宾胸卡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48996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茶歇/饮水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48996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全程饮水补给；15:45音乐会期间高端茶歇（500人量）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09193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伴手礼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09193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按等级（VVIP/嘉宾/机构）分类分发，签到台同步领取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693920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交响乐团对接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4693920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陆家嘉交响乐团到场、化妆间、乐器、调音、彩排时间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295899"/>
            <a:ext cx="2651760" cy="51054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6. VIP晚宴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1840" y="5295899"/>
            <a:ext cx="8412480" cy="5105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席位卡、菜单、酒水、桌花、敬酒流程、餐厅对接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03  G 应急安全/机动组 · 职责细分（大项→小项）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负责人：刘严（组长）  |  建议人数：4 人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417320"/>
            <a:ext cx="11155680" cy="685800"/>
          </a:xfrm>
          <a:prstGeom prst="rect">
            <a:avLst/>
          </a:prstGeom>
          <a:solidFill>
            <a:srgbClr val="F2F2F2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5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主要职责：安保、消防、医疗、突发事件、舆情、与场馆/公安联动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1. 入场安检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2286000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胸卡核验、闲杂人员拒入、可疑物品筛查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008376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2. 现场巡视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3008376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通道畅通、消防通道无堵塞、舞台周边安全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730752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3. 医疗急救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3730752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位置已知、急救包、最近医院路线（含车辆待命）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453128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4. 舆情/口径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91840" y="4453128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突发负面言论时的回应口径；与 D 组联动撤稿/澄清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175504"/>
            <a:ext cx="2651760" cy="630936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5. VIP/晚宴安保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91840" y="5175504"/>
            <a:ext cx="8412480" cy="63093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3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 500 人圈层活动安全；车队动线；离场分流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09728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>
                <a:solidFill>
                  <a:srgbClr val="80808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对接：A 统筹协调组   |   对讲机频道：见物资页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本轮人员调整说明（总策划 5/14 v4 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原则：应急组就位/技术组组长换律师/茶歇晚宴最适配人选/A 组职责再细分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本轮 8 项调整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8288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刘严：F 副 → G 组长（应急/机动调配）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37744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23774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蔡萍：G 急救主岗 → G 副组长（兼急救★）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926080"/>
            <a:ext cx="914400" cy="47548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9260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张卓：G 副 → E 组长（律师强协调，统筹技术）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63040" y="347472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Winny：B → F 副组长（茶歇/晚宴主管 ★最适合）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02336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402336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吕志翔：E → C（投融资非技术，回归会务）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572000"/>
            <a:ext cx="914400" cy="47548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63040" y="457200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马磊：D → G（机动+媒体应急口径）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12064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512064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李振春：① 嘉宾邀约+跟进  ② 赞助资源对接落位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669280"/>
            <a:ext cx="914400" cy="475488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职责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5669280"/>
            <a:ext cx="4526280" cy="47548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韦佳玉：执行总监 + 文件总管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280160"/>
            <a:ext cx="5486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人数变化（27 志愿者 + 总策划 = 28 人）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1828800"/>
            <a:ext cx="10972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6091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0999" y="1828800"/>
            <a:ext cx="64008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41079" y="1828800"/>
            <a:ext cx="822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变化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464039" y="1828800"/>
            <a:ext cx="228600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/ 副组长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226771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000999" y="226771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79" y="226771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64039" y="226771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 / 韦佳玉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81635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6091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00999" y="281635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41079" y="2816352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39" y="281635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 / 朱铭喆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63640" y="3364991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1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0999" y="3364991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41079" y="3364991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64039" y="3364991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 / 王珏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3913631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36091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00999" y="3913631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79" y="3913631"/>
            <a:ext cx="822960" cy="548640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C00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↓ 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64039" y="3913631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 / 张蒙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46227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00999" y="446227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41079" y="4462272"/>
            <a:ext cx="82296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464039" y="446227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张卓 / 随圣博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5010912"/>
            <a:ext cx="10972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36091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00999" y="5010912"/>
            <a:ext cx="64008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41079" y="5010912"/>
            <a:ext cx="82296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464039" y="5010912"/>
            <a:ext cx="2286000" cy="548640"/>
          </a:xfrm>
          <a:prstGeom prst="rect">
            <a:avLst/>
          </a:prstGeom>
          <a:solidFill>
            <a:srgbClr val="F2F8FD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 / ★ Winny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63640" y="5559552"/>
            <a:ext cx="10972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36091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000999" y="5559552"/>
            <a:ext cx="64008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4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79" y="5559552"/>
            <a:ext cx="822960" cy="548640"/>
          </a:xfrm>
          <a:prstGeom prst="rect">
            <a:avLst/>
          </a:prstGeom>
          <a:solidFill>
            <a:srgbClr val="E4FF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548235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↑ 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464039" y="5559552"/>
            <a:ext cx="2286000" cy="5486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刘严 / ★ 蔡萍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实际人员分配（基于总策划最新调整）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28 人 / 7 组；本轮调整：+葛九明、蒋珊→D、吕志翔/高辰辰→E、彭常丽→F、王胜→B组长、陈潇→C组长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325880"/>
            <a:ext cx="2762173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统筹协调组（3人）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胡继刚（您）  -  总策划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韦佳玉  -  执行总监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00400"/>
            <a:ext cx="2579293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李振春（春子）  -  嘉宾邀约+赞助资源落位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65093" y="1325880"/>
            <a:ext cx="2762173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嘉宾接待组（5人）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65093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56533" y="182880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王胜（20级）  -  组长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6533" y="224028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朱铭喆  -  VIP 1V1（港澳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6533" y="265176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JasonCAI 蔡杰  -  VIP 1V1（主旨嘉宾）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6533" y="306324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Angi 郭杰  -  观众席引导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56533" y="3474720"/>
            <a:ext cx="2579293" cy="4114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LV  -  动线引导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64427" y="1325880"/>
            <a:ext cx="2762173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会务执行组（6人）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64427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55867" y="18288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陈潇 Kelly  -  组长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21717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王珏  -  副组长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867" y="25146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冯墨 律师  -  主持对接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867" y="28575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黄璐 Lucius  -  PPT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867" y="32004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徐胜博  -  颁奖执行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867" y="3543300"/>
            <a:ext cx="2579293" cy="3429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吕志翔  -  圆桌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63761" y="1325880"/>
            <a:ext cx="2762173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媒体宣传组（4人）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63761" y="1783080"/>
            <a:ext cx="2762173" cy="2148840"/>
          </a:xfrm>
          <a:prstGeom prst="rect">
            <a:avLst/>
          </a:prstGeom>
          <a:solidFill>
            <a:srgbClr val="FFFFFF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5201" y="18288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葛九明  -  组长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55201" y="23431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张蒙 AEGISTAR  -  副组长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55201" y="285750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蒋珊  -  AI 内容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55201" y="3371850"/>
            <a:ext cx="2579293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皮尔德小号  -  直播+交响乐预热+媒体接待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69080"/>
            <a:ext cx="3728618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技术支持组（3人）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703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张卓 盈科  -  组长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随圣博 Joshua-Sui  -  副组长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高辰辰  -  技术对接助理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31538" y="4069080"/>
            <a:ext cx="3728618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后勤保障组（3人）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31538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5482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22978" y="45720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朱俊峰  -  组长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2978" y="52578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Winny 温妮  -  副组长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2978" y="5943600"/>
            <a:ext cx="3545738" cy="68580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彭常丽  -  茶歇+晚宴专员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7316" y="4069080"/>
            <a:ext cx="3728618" cy="45720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应急安全/机动组（4人）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7316" y="4526280"/>
            <a:ext cx="3728618" cy="2148840"/>
          </a:xfrm>
          <a:prstGeom prst="rect">
            <a:avLst/>
          </a:prstGeom>
          <a:solidFill>
            <a:srgbClr val="FFFFFF"/>
          </a:solidFill>
          <a:ln>
            <a:solidFill>
              <a:srgbClr val="B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88756" y="45720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  刘严  -  组长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88756" y="50863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☆  蔡萍  -  副组长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8756" y="560070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马磊  -  机动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88756" y="6115050"/>
            <a:ext cx="3545738" cy="51435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  康诺斯 Conns  -  机动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优化建议筛选（共 19 条 → 采纳 16 / 调整 1 / 暂缓 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处置原则：直击去年痛点的全部采纳；专业度不足或越界的暂缓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3716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建议人</a:t>
            </a:r>
          </a:p>
        </p:txBody>
      </p:sp>
      <p:sp>
        <p:nvSpPr>
          <p:cNvPr id="7" name="Rectangle 6"/>
          <p:cNvSpPr/>
          <p:nvPr/>
        </p:nvSpPr>
        <p:spPr>
          <a:xfrm>
            <a:off x="1874519" y="1371600"/>
            <a:ext cx="43891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371600"/>
            <a:ext cx="12801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</a:t>
            </a:r>
          </a:p>
        </p:txBody>
      </p:sp>
      <p:sp>
        <p:nvSpPr>
          <p:cNvPr id="9" name="Rectangle 8"/>
          <p:cNvSpPr/>
          <p:nvPr/>
        </p:nvSpPr>
        <p:spPr>
          <a:xfrm>
            <a:off x="7543800" y="1371600"/>
            <a:ext cx="91440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58200" y="1371600"/>
            <a:ext cx="40233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落地动作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28800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74519" y="1828800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量化各组任务量+设置 Milestone（按时间精力选岗位）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1828800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58200" y="1828800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Milestone 表（见 09 sheet），各组组长 T-7 前提交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079056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74519" y="2079056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 Milestone 节点提前 1-2 天，留 buffer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2079056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43800" y="2079056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58200" y="2079056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阶段任务矩阵已整体前移，T-3 改为 T-5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329313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329313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提前半天/线上彩排，明确工作范围边界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2329313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2329313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58200" y="2329313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18:00 全员线上彩排 1.5h；T-7 现场踏勘 1 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2579570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2579570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协助人员对接清单（酒店/屏幕谁联系，避免事事请示总策划）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2579570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43800" y="2579570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58200" y="2579570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11-对接联系人清单（见 sheet），人手一份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2829827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4519" y="2829827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嘉宾发言时间提前打招呼+主持人收口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829827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543800" y="2829827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458200" y="2829827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T-3 致电每位讲者+主持人对脚本（见 10-嘉宾时间SOP）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80084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春子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74519" y="3080084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增加科技类展示（AI/机器人/芯片小海报）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080084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543800" y="3080084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58200" y="3080084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★春子已任 A 组嘉宾邀约+赞助资源落位专员；该建议作为其 KPI 之一推进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330341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3330341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扩大交响乐宣传，视频号发去年录像预告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63640" y="3330341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43800" y="3330341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8200" y="3330341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组皮尔德小号负责，T-7 起每日 1 条；T-3 集中投流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580597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19" y="3580597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演奏者走位与观众互动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580597"/>
            <a:ext cx="1280160" cy="250256"/>
          </a:xfrm>
          <a:prstGeom prst="rect">
            <a:avLst/>
          </a:prstGeom>
          <a:solidFill>
            <a:srgbClr val="808080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暂缓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43800" y="3580597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58200" y="3580597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总策划已明确专业度不足；现场仅做灯光烘托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3830854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隋胜博/徐胜博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74519" y="3830854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地铁→场地快进短视频群发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3830854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543800" y="3830854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458200" y="3830854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拍摄、T-3 发群（去年已做，今年延续）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" y="4081111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JasonCAI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874519" y="4081111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微信+短信点对点提醒嘉宾交通/停车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63640" y="4081111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4081111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58200" y="4081111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责任人 T-2 18:00 前完成全部联络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02920" y="4331368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874519" y="4331368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角备份制度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63640" y="4331368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543800" y="4331368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458200" y="4331368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新增 12-组长备份表（见 sheet）每组指定 B 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581625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康诺斯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874519" y="4581625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组按身高/年龄筛选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4581625"/>
            <a:ext cx="1280160" cy="250256"/>
          </a:xfrm>
          <a:prstGeom prst="rect">
            <a:avLst/>
          </a:prstGeom>
          <a:solidFill>
            <a:srgbClr val="ED7D31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调整后采纳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543800" y="4581625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458200" y="4581625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改为按英语/沟通/形象气质匹配 VIP 1V1，避免歧视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02920" y="4831882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874519" y="4831882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志愿者专用颜色胸牌快速识别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263640" y="4831882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543800" y="4831882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458200" y="4831882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组制作橙色胸牌（与嘉宾胸卡明显区分），见物资清单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" y="5082138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冯墨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874519" y="5082138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现场观众管理（盲区）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63640" y="5082138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543800" y="5082138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458200" y="5082138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 改为观众席引导岗；G 组机动支援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5332395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874519" y="5332395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自报有急救证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263640" y="5332395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543800" y="5332395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58200" y="5332395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蔡萍调到 G 组任急救/医疗主岗（稀缺技能）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02920" y="5582652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</a:t>
            </a:r>
          </a:p>
        </p:txBody>
      </p:sp>
      <p:sp>
        <p:nvSpPr>
          <p:cNvPr id="87" name="Rectangle 86"/>
          <p:cNvSpPr/>
          <p:nvPr/>
        </p:nvSpPr>
        <p:spPr>
          <a:xfrm>
            <a:off x="1874519" y="5582652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张江工厂提供灯光/舞台/音响设备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263640" y="5582652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543800" y="5582652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458200" y="5582652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作为重大物料资源并入；C 组陈潇为设备总管，E 组对接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2920" y="5832909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874519" y="5832909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去年赞助物料环节混乱，要提前深化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263640" y="5832909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543800" y="5832909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458200" y="5832909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组刘严专项负责赞助物料入场+点位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083166"/>
            <a:ext cx="13716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874519" y="6083166"/>
            <a:ext cx="438912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工作装+合影+证书+午餐+纪念品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263640" y="6083166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543800" y="6083166"/>
            <a:ext cx="91440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458200" y="6083166"/>
            <a:ext cx="4023360" cy="25025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已写入物资清单；T-1 全员告知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02920" y="6333423"/>
            <a:ext cx="13716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总策划确认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874519" y="6333423"/>
            <a:ext cx="438912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核心搭子：韦佳玉/Winnie/陈潇/王胜+葛九明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263640" y="6333423"/>
            <a:ext cx="1280160" cy="250256"/>
          </a:xfrm>
          <a:prstGeom prst="rect">
            <a:avLst/>
          </a:prstGeom>
          <a:solidFill>
            <a:srgbClr val="548235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0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543800" y="6333423"/>
            <a:ext cx="91440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458200" y="6333423"/>
            <a:ext cx="4023360" cy="25025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建立核心策划圈高频沟通群（含 D 组长葛九明 7 人）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 + 组长 A/B 角备份制度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采纳王胜建议：组长备份；总策划 5/13 点名核心搭子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核心策划圈（7 人 · 总策划直管高频沟通）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胡继刚（您）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2103120" y="1874519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</a:t>
            </a:r>
          </a:p>
        </p:txBody>
      </p:sp>
      <p:sp>
        <p:nvSpPr>
          <p:cNvPr id="9" name="Rectangle 8"/>
          <p:cNvSpPr/>
          <p:nvPr/>
        </p:nvSpPr>
        <p:spPr>
          <a:xfrm>
            <a:off x="3703320" y="1874519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全场指挥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551176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03120" y="2551176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执行总监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2551176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副总策划，统筹各组+文件总管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227832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3227832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组组长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03320" y="3227832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提供灯光/舞台/音响设备资源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904487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904487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03320" y="3904487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三次参加，老带新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581144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03120" y="4581144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组组长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4581144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总策划指定，统筹媒体宣传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257800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5257800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组组长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03320" y="5257800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应急安保+机动跨组调配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934455"/>
            <a:ext cx="1554480" cy="60350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李振春 春子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03120" y="5934455"/>
            <a:ext cx="1554480" cy="603504"/>
          </a:xfrm>
          <a:prstGeom prst="rect">
            <a:avLst/>
          </a:prstGeom>
          <a:solidFill>
            <a:srgbClr val="F2F2F2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组嘉宾+赞助落位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5934455"/>
            <a:ext cx="2286000" cy="603504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40404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嘉宾邀约确认/跟进 + 赞助资源对接落位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 A/B 角备份（采纳王胜建议）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60919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角组长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6840" y="1874519"/>
            <a:ext cx="164592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角备份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1874519"/>
            <a:ext cx="10972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60919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胡继刚（总策划）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6840" y="2331720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652760" y="2331720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总策划缺席由韦佳玉全权代行；春子专注嘉宾邀约+赞助资源落位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60919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6840" y="2898648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朱铭喆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652760" y="2898648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角第三次参加最资深；B 角港校联络人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60919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6840" y="3465576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3465576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 20 年策划经验+自有设备；B 角中信证券计时主控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60919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06840" y="4032504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张蒙 AEGISTAR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652760" y="4032504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角总策划指定；B 角自媒体+摄影核心岗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60919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张卓 盈科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840" y="4599431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652760" y="4599431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角律师协调统筹；B 角技术执行（操作设备）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26364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60919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朱俊峰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06840" y="5166360"/>
            <a:ext cx="164592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Winny 温妮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166360"/>
            <a:ext cx="1097280" cy="566928"/>
          </a:xfrm>
          <a:prstGeom prst="rect">
            <a:avLst/>
          </a:prstGeom>
          <a:solidFill>
            <a:srgbClr val="FFF7EC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角建筑+协会运营；B 角空窗期时间最多+零售运营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60919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刘严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06840" y="5733288"/>
            <a:ext cx="164592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蔡萍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652760" y="5733288"/>
            <a:ext cx="1097280" cy="56692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角统筹机动调配；B 角持急救证常驻医疗岗★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Milestone 时间表（节点提前 1-2 天 / 韦佳玉建议）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共 21 个里程碑 / T-9 ~ T+1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1645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148840" y="1371600"/>
            <a:ext cx="850392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关键里程碑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60" y="1371600"/>
            <a:ext cx="146304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T-9 (5/13)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828800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志愿者讨论会完成→分工表发布（已完成）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60" y="1828800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55222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48840" y="2055222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各组建独立沟通群+组长 A/B 角确定+核心策划圈群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60" y="2055222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A+各组长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281645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T-8 (5/14)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48840" y="2281645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组长见面会（线上 1h）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60" y="2281645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08068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48840" y="2508068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晚宴名单锁定 V1（去年痛点：太晚锁定）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60" y="2508068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734491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48840" y="2734491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交响乐往届视频开始日更预热（视频号）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60" y="2734491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60914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(5/15)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48840" y="2960914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1（场地/动线/AV）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60" y="2960914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A+C+E+F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187337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148840" y="3187337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所有讲者 PPT 截稿（去年是 T-3，今年提前）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60" y="3187337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13760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3413760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地铁→场地快进短视频拍摄完成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60" y="3413760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40182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(5/17)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148840" y="3640182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物料/胸牌印刷下单（去年痛点：名牌制作晚）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60" y="3640182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866605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(5/18)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48840" y="3866605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腾讯/华为赞助物料对接清单确认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652760" y="3866605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093028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148840" y="4093028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组致电每位讲者+主持人对发言时间（防超时）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652760" y="4093028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319451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48840" y="4319451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对接联系人清单（酒店/AV/餐饮/安保）发到全员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52760" y="4319451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545874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(5/19)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148840" y="4545874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短视频发主群+嘉宾群预热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652760" y="4545874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772297"/>
            <a:ext cx="1645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148840" y="4772297"/>
            <a:ext cx="850392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VIP 1V1 点对点短信/微信提醒嘉宾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652760" y="4772297"/>
            <a:ext cx="1463040" cy="226422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98720"/>
            <a:ext cx="1645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(5/20)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148840" y="4998720"/>
            <a:ext cx="850392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现场踏勘 2（含彩排站位）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652760" y="4998720"/>
            <a:ext cx="1463040" cy="226422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25142"/>
            <a:ext cx="164592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148840" y="5225142"/>
            <a:ext cx="850392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全员线上彩排 18:00-19:30（1.5h）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652760" y="5225142"/>
            <a:ext cx="146304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A+全员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5451565"/>
            <a:ext cx="164592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(5/21)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148840" y="5451565"/>
            <a:ext cx="850392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全设备压力测试+陈潇工厂设备进场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0652760" y="5451565"/>
            <a:ext cx="1463040" cy="226422"/>
          </a:xfrm>
          <a:prstGeom prst="rect">
            <a:avLst/>
          </a:prstGeom>
          <a:solidFill>
            <a:srgbClr val="FFF0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677988"/>
            <a:ext cx="1645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09:00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148840" y="5677988"/>
            <a:ext cx="8503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现场指挥部成立、对讲机分发、AED/急救包就位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52760" y="5677988"/>
            <a:ext cx="146304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5904411"/>
            <a:ext cx="1645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12:00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148840" y="5904411"/>
            <a:ext cx="8503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签到台开台、VIP 车队首班、直播试推流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652760" y="5904411"/>
            <a:ext cx="146304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6130834"/>
            <a:ext cx="1645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13:25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148840" y="6130834"/>
            <a:ext cx="850392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分钟、广播开场倒计时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652760" y="6130834"/>
            <a:ext cx="1463040" cy="226422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6357257"/>
            <a:ext cx="1645920" cy="22642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T+1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148840" y="6357257"/>
            <a:ext cx="8503920" cy="22642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前发布、复盘会、问题归档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652760" y="6357257"/>
            <a:ext cx="1463040" cy="226422"/>
          </a:xfrm>
          <a:prstGeom prst="rect">
            <a:avLst/>
          </a:prstGeom>
          <a:solidFill>
            <a:srgbClr val="E4F0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嘉宾发言时间控制 SOP（去年最大事故）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采纳张卓建议：从第 1 位讲者就开始的超时绝不能重演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19456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2697480" y="1371600"/>
            <a:ext cx="7955279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动作</a:t>
            </a:r>
          </a:p>
        </p:txBody>
      </p:sp>
      <p:sp>
        <p:nvSpPr>
          <p:cNvPr id="8" name="Rectangle 7"/>
          <p:cNvSpPr/>
          <p:nvPr/>
        </p:nvSpPr>
        <p:spPr>
          <a:xfrm>
            <a:off x="10652759" y="1371600"/>
            <a:ext cx="14630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97480" y="1874519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整理每位讲者的演讲时长合同/邀约函（25/20/40min）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652759" y="1874519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9776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97480" y="239776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组致电每位讲者：再次确认时长 + 提示我们会举牌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52759" y="239776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921000"/>
            <a:ext cx="219456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97480" y="2921000"/>
            <a:ext cx="7955279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组与 4 位主持人对脚本：嘉宾超时由你直接打断的话术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652759" y="2921000"/>
            <a:ext cx="1463040" cy="52324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44240"/>
            <a:ext cx="219456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97480" y="3444240"/>
            <a:ext cx="7955279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彩排时给主持人发『收口话术卡』：'感谢XXX，最后一分钟'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652759" y="3444240"/>
            <a:ext cx="1463040" cy="523240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967479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演讲前 2min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97480" y="3967479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计时员就位，倒计时牌(5/3/1 min)摆放台口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652759" y="3967479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49072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演讲中 5/3/1min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97480" y="449072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在嘉宾视线方向举牌（先黄后红）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652759" y="449072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01396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30s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697480" y="501396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主持人通过耳麦提示'最后一句话'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52759" y="501396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53720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超时 90s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697480" y="553720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主持人直接收口：'感谢XXX的精彩分享'走流程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52759" y="553720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6060440"/>
            <a:ext cx="219456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T-0 圆桌嘉宾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697480" y="6060440"/>
            <a:ext cx="7955279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每人剩 1min 时主持人示意；超时立即转下一位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652759" y="6060440"/>
            <a:ext cx="1463040" cy="523240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协助人员对接清单（全员人手一份）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采纳张卓建议：现场遇问题先找A角→找B角→才找韦佳玉/胡继刚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493776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问题类别 / 你遇到的事情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40680" y="1371600"/>
            <a:ext cx="320040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角（先找）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8641080" y="1371600"/>
            <a:ext cx="3474720" cy="45720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角（找不到时）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2880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场地/桌椅/赞助物料入场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82880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41080" y="182880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00490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灯光/舞台/音响（自有）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40680" y="200490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陈潇 Kelly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41080" y="200490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18101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麦克风/PPT切换/网络/直播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40680" y="218101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随圣博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41080" y="218101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高辰辰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357119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组协调/对接外包 AV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40680" y="2357119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张卓（组长）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41080" y="2357119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随圣博（B 角）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53322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酒店/嘉宾接送/休息室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40680" y="253322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253322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韦佳玉（A 组）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70933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嘉宾临时需求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40680" y="270933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组对应 1V1 责任人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270933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王胜（B 组长）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288544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观众席引导/秩序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40680" y="288544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Angi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41080" y="288544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06154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 / 晚宴 ★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40680" y="306154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Winny（茶歇晚宴主管）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41080" y="306154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彭常丽 / 朱俊峰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23765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323765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张蒙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41080" y="323765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葛九明（D 组长）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41376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直播信号/新媒体即时发布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40680" y="341376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41080" y="341376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蒋珊（AI 内容）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358986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AI 圈层金句/新媒体素材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40680" y="358986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蒋珊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41080" y="358986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皮尔德小号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76597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媒体/记者接待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40680" y="376597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皮尔德小号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41080" y="376597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葛九明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94208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讲者 PPT/资料/换片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40680" y="394208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黄璐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41080" y="394208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Kelly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1818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流程超时/嘉宾迟到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40680" y="411818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王珏（计时）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411818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陈潇 → 韦佳玉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29429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圆桌嘉宾上下场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440680" y="429429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吕志翔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641080" y="429429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47040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颁奖物料/获奖嘉宾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40680" y="447040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徐胜博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641080" y="447040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王珏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4646506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法务/舆情/突发声明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4646506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组 冯墨（律师）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641080" y="4646506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组 张卓（律师）→ 胡继刚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822613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医疗/急救 ★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440680" y="4822613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蔡萍 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41080" y="4822613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02920" y="499872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跨组人手不足/机动调配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440680" y="499872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刘严（组长）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641080" y="499872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 / 马磊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17482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媒体应急口径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40680" y="517482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马磊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641080" y="517482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组 葛九明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350933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入场安检/可疑人员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40680" y="5350933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康诺斯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41080" y="5350933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组 刘严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5527040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交响乐团对接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440680" y="5527040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641080" y="5527040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韦佳玉（去年负责）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703146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晚宴席位/敬酒/现场对接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440680" y="5703146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Winny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41080" y="5703146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组 王胜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879253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嘉宾邀约确认/全程跟进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440680" y="5879253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641080" y="5879253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02920" y="6055360"/>
            <a:ext cx="493776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赞助资源/物料落位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440680" y="6055360"/>
            <a:ext cx="320040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春子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641080" y="6055360"/>
            <a:ext cx="3474720" cy="17610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 朱俊峰 → 胡继刚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02920" y="6231466"/>
            <a:ext cx="493776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议程脚本/会议记录/复盘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440680" y="6231466"/>
            <a:ext cx="320040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组 韦佳玉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641080" y="6231466"/>
            <a:ext cx="3474720" cy="176106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87" name="Rectangle 86"/>
          <p:cNvSpPr/>
          <p:nvPr/>
        </p:nvSpPr>
        <p:spPr>
          <a:xfrm>
            <a:off x="502920" y="6407573"/>
            <a:ext cx="493776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无法解决/重大决策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440680" y="6407573"/>
            <a:ext cx="320040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韦佳玉 → 胡继刚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641080" y="6407573"/>
            <a:ext cx="3474720" cy="176106"/>
          </a:xfrm>
          <a:prstGeom prst="rect">
            <a:avLst/>
          </a:prstGeom>
          <a:solidFill>
            <a:srgbClr val="FFE4E4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5/13 志愿者讨论会  会议结论 &amp; 待办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54864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会议结论（4 条优化共识）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874519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分工与协作</a:t>
            </a:r>
          </a:p>
        </p:txBody>
      </p:sp>
      <p:sp>
        <p:nvSpPr>
          <p:cNvPr id="7" name="Rectangle 6"/>
          <p:cNvSpPr/>
          <p:nvPr/>
        </p:nvSpPr>
        <p:spPr>
          <a:xfrm>
            <a:off x="2011680" y="1874519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各组按任务量配人，组长负责内部协调；设机动应急G组跨组顶人；各组建独立沟通群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017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流程效率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3017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任务量与 Milestone 提前细化；所有节点提前 1-2 天预留缓冲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4160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交响乐环节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4160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扩大宣传，发往届视频预热，与嘉宾/观众多互动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5303520"/>
            <a:ext cx="1463040" cy="107899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协作机制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5303520"/>
            <a:ext cx="3977639" cy="1078992"/>
          </a:xfrm>
          <a:prstGeom prst="rect">
            <a:avLst/>
          </a:prstGeom>
          <a:solidFill>
            <a:srgbClr val="F2F8FD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活动前组织一次组长见面会，互相熟悉、快速找到对接人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280160"/>
            <a:ext cx="548640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待办（总策划 + 各组组长）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1874519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胡继刚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1874519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形成详细分工表（本表）；私信招募 ①近期有时间者 ②有会务经验者 ③有赞助经验/资源者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7889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各组长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0" y="27889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内部完成细化分工；建立独立沟通群；T-7 前提交本组 Milestone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7033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0" y="37033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另开 2 次会：① 各组任务进一步细化  ② 线上彩排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6177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特别行动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0" y="46177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组长见面会（A+B/C/D/E/F/G 组长 共 8 人）建议 T-10 前完成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5532120"/>
            <a:ext cx="1463040" cy="8412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0" y="5532120"/>
            <a:ext cx="3977639" cy="841248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组对接陆家嘴乐团 + D 组准备往届视频预热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阶段任务矩阵（一）会前筹备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前期筹备
T-7 ~ T-3 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完成总分工表、议程脚本 V1；确认嘉宾名单与到场状态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逐位嘉宾邀约确认；酒店/接送排期；VIP陪同名单匹配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议程脚本撰写；主持人对接；PPT/资料征集（D-3 截止）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传播节奏排期；直播平台报备；通稿初稿；机位规划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技术清单与场地对接；备用设备清点；网络方案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物料下单印刷；伴手礼采购；交响乐团合同与彩排时间确认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安保方案报场馆/公安备案；医疗合作机构确认；应急脚本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彩排与到位
T-1 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全员到岗培训；分工表过堂；对讲机分发；演练 3 次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 接送车辆与司机对接；接机/酒店敲定；陪同清单到人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走台彩排：嘉宾上下场动线、圆桌座次、颁奖流程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直播试推流；机位实测；通稿终稿；新媒体素材预制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灯光/音响/PPT 全设备压力测试；备份盘 ×3 同步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物料到场清点；签到包/伴手礼分装；晚宴餐厅最终确认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安保人员到位；消防/医疗通道核查；AED 与最近医院再确认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现场布置
当日 09:00-13:00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现场指挥部建立；对讲机频道分配；倒计时启动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 陪同上岗；接送车辆首批到位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主持人最终对脚本；PPT 顺序加载主机；计时器/举牌就位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机位/直播信号联调；签到合影区开放；记者签到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麦克风电池满电；灯光/音响走光走声；备用机待机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茶歇/水台铺设；伴手礼上签到台；交响乐团到场化妆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入场安检上岗；通道清空；急救点位明示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04  阶段任务矩阵（二）当日执行 + 收尾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50392"/>
            <a:ext cx="1143000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0">
                <a:solidFill>
                  <a:srgbClr val="59595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横向：组别  |  纵向：阶段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46304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阶段 \ 组别</a:t>
            </a:r>
          </a:p>
        </p:txBody>
      </p:sp>
      <p:sp>
        <p:nvSpPr>
          <p:cNvPr id="7" name="Rectangle 6"/>
          <p:cNvSpPr/>
          <p:nvPr/>
        </p:nvSpPr>
        <p:spPr>
          <a:xfrm>
            <a:off x="1920240" y="1371600"/>
            <a:ext cx="1397725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 统筹协调组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7965" y="1371600"/>
            <a:ext cx="1397725" cy="502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嘉宾接待组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4715691" y="1371600"/>
            <a:ext cx="1397725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会务执行组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13417" y="1371600"/>
            <a:ext cx="1397725" cy="5029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 媒体宣传组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11142" y="1371600"/>
            <a:ext cx="1397725" cy="50292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 技术支持组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08868" y="1371600"/>
            <a:ext cx="1397725" cy="50292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 后勤保障组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306594" y="1371600"/>
            <a:ext cx="1397725" cy="502920"/>
          </a:xfrm>
          <a:prstGeom prst="rect">
            <a:avLst/>
          </a:prstGeom>
          <a:solidFill>
            <a:srgbClr val="BF8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 应急安全/机动组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会议执行
13:00-18:30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20240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按议程时间轴现场指挥；超时/临时调整即时决策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7965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嘉宾签到→引导→休息室→上台→落座 全程陪同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15691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 起按议程逐项推动；每环节剩 5/3/1 min 举牌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3417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全程拍摄/直播；金句卡同步发布；记者采访区调度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511142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PPT/麦克风按节目无缝切换；任何故障 30 秒内备用顶上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08868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 演讲间隙撤茶歇/补水；颁奖物料 18:00 前到台口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306594" y="1874519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全场巡视；舞台/通道安全；任何医疗事件 60 秒到达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44424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晚宴衔接
18:30-20:30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20240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晚宴节奏控制；颁奖嘉宾合影；与主办方收尾交接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17965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晚宴桌次引导；VIP敬酒/对接需求记录；离场用车安排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5691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晚宴司仪过场词；致辞与敬酒环节衔接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13417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晚宴花絮拍摄；嘉宾访谈追拍；当晚发布短视频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晚宴音响、背景音乐、追光；麦克风敬酒位 ×2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08868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餐饮/酒水节奏；席位卡核对；伴手礼离场二次确认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06594" y="344424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晚宴入口二次核验；车队调度；离场分流防拥堵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013960"/>
            <a:ext cx="1463040" cy="1569720"/>
          </a:xfrm>
          <a:prstGeom prst="rect">
            <a:avLst/>
          </a:prstGeom>
          <a:solidFill>
            <a:srgbClr val="F2F2F2"/>
          </a:solidFill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100" b="1">
                <a:solidFill>
                  <a:srgbClr val="1F4E7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收尾撤场
20:30 之后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全员复盘 30min；问题清单与改进项归档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7965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嘉宾送返；当晚致谢短信/微信；伴手礼遗漏补寄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15691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舞台/物料归还；脚本与签到表归档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13417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通稿次日 10:00 前发布；视频 48h 内剪辑；媒体追投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11142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设备清点归还；故障记录归档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08868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场地交还；剩余物料盘点；账单核对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306594" y="5013960"/>
            <a:ext cx="1397725" cy="1569720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撤场安全确认；车队收尾；遗失物登记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05  议程时间轴 × 责任组 × 关键动作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3716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时间</a:t>
            </a:r>
          </a:p>
        </p:txBody>
      </p:sp>
      <p:sp>
        <p:nvSpPr>
          <p:cNvPr id="6" name="Rectangle 5"/>
          <p:cNvSpPr/>
          <p:nvPr/>
        </p:nvSpPr>
        <p:spPr>
          <a:xfrm>
            <a:off x="1874519" y="1371600"/>
            <a:ext cx="393192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议程节点</a:t>
            </a:r>
          </a:p>
        </p:txBody>
      </p:sp>
      <p:sp>
        <p:nvSpPr>
          <p:cNvPr id="7" name="Rectangle 6"/>
          <p:cNvSpPr/>
          <p:nvPr/>
        </p:nvSpPr>
        <p:spPr>
          <a:xfrm>
            <a:off x="5806440" y="1371600"/>
            <a:ext cx="128016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主责组</a:t>
            </a:r>
          </a:p>
        </p:txBody>
      </p:sp>
      <p:sp>
        <p:nvSpPr>
          <p:cNvPr id="8" name="Rectangle 7"/>
          <p:cNvSpPr/>
          <p:nvPr/>
        </p:nvSpPr>
        <p:spPr>
          <a:xfrm>
            <a:off x="7086600" y="1371600"/>
            <a:ext cx="5029200" cy="50292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关键动作 / 物料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7451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13:00-13:30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74519" y="187451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嘉宾签到与入场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06440" y="187451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C/B/D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86600" y="187451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签到处、引导动线、媒体合影区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24379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13:30-13:35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74519" y="224379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开幕致辞（姚志勇）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06440" y="224379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24379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舞台、主持、上下场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61307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13:35-14:00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74519" y="261307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主旨演讲1·白硕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261307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261307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82350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14:00-14:25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74519" y="2982350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主旨演讲2·夏春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06440" y="2982350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2982350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51627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14:25-15:05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874519" y="3351627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圆桌一·AI硬核（王珏主持4嘉宾）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06440" y="3351627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3351627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圆桌座次、麦克风、计时、互动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720904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15:05-15:45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74519" y="3720904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巅峰对话·云生态（胡继刚主持3嘉宾）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06440" y="3720904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3720904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090181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15:45-16:35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874519" y="4090181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陆家嘴交响乐团·时光音乐会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06440" y="4090181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86600" y="4090181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乐团对接、灯光、社交茶歇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459458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16:35-16:55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874519" y="4459458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主旨演讲3·王维军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06440" y="4459458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086600" y="4459458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28735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16:55-17:15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874519" y="4828735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主旨演讲4·寇文红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06440" y="4828735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86600" y="4828735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5198012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17:15-17:35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874519" y="5198012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主旨演讲5·张露瑶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5198012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086600" y="5198012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PPT、麦克风、计时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5567289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17:35-18:15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874519" y="5567289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圆桌二·投资（黄欣主持4嘉宾）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06440" y="5567289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86600" y="5567289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圆桌座次、麦克风、计时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36566"/>
            <a:ext cx="13716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18:15-18:30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874519" y="5936566"/>
            <a:ext cx="393192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颁奖典礼暨闭幕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06440" y="5936566"/>
            <a:ext cx="128016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C/F/D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86600" y="5936566"/>
            <a:ext cx="5029200" cy="369276"/>
          </a:xfrm>
          <a:prstGeom prst="rect">
            <a:avLst/>
          </a:prstGeom>
          <a:solidFill>
            <a:srgbClr val="F8F8F8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奖杯、颁奖嘉宾引导、合影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02920" y="6305843"/>
            <a:ext cx="13716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18:30-20:30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874519" y="6305843"/>
            <a:ext cx="393192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VIP高端闭门晚宴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806440" y="6305843"/>
            <a:ext cx="128016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B/F/G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86600" y="6305843"/>
            <a:ext cx="5029200" cy="369276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席位、餐饮、对接、安保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应急预案（一）嘉宾 / 技术 / 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演讲嘉宾迟到（白硕/夏春等）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A+B+C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B组实时位置追踪；C组备好节目顺序调换方案（先放夏春/王维军等已到场嘉宾）；A组决策；提前通知主持人衔接口径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463164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嘉宾临时缺席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463164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463164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463164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C组立即调整脚本，由主持人简述背景并播放主题短片；D组同步删除现场介绍物料；A组同步主办方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嘉宾相关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05181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圆桌嘉宾超时发言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05181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05181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05181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举牌 5/3/1min；主持人提前对话术：'最后一分钟请收口'；超 2min 主持人直接打断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64045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麦克风没声/啸叫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64045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64045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64045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备用麦 30 秒内顶上；调音师切换通道；E组每个演讲前 2min 试音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22910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PPT 黑屏/翻页器失灵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22910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22910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22910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备用电脑预加载所有 PPT；现场技术员守机手动翻页；嘉宾电脑+大会电脑双路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技术故障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481774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直播断流/网络中断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481774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481774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E+D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481774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主有线+4G 双链路自动切换；D组提前在直播间挂'信号修复中'；本地录播继续不停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406390"/>
            <a:ext cx="23774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议程整体超时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406390"/>
            <a:ext cx="64008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406390"/>
            <a:ext cx="118872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A+C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406390"/>
            <a:ext cx="5577840" cy="588645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音乐会前压缩茶歇/合影时间；圆桌剩 5min 时主持人直接收口；颁奖环节预留 5min 缓冲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流程相关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691640" y="5995035"/>
            <a:ext cx="23774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交响乐团延误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09160" y="5995035"/>
            <a:ext cx="64008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5995035"/>
            <a:ext cx="118872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F+C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37960" y="5995035"/>
            <a:ext cx="5577840" cy="588645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F组与团长保持热线；C组备用预案：将主旨3提前；提前 60min 确认到场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06  应急预案（二）安全 / 舆情 / 后勤 / 晚宴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371600"/>
            <a:ext cx="23774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风险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概率</a:t>
            </a:r>
          </a:p>
        </p:txBody>
      </p:sp>
      <p:sp>
        <p:nvSpPr>
          <p:cNvPr id="8" name="Rectangle 7"/>
          <p:cNvSpPr/>
          <p:nvPr/>
        </p:nvSpPr>
        <p:spPr>
          <a:xfrm>
            <a:off x="4709160" y="1371600"/>
            <a:ext cx="64008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影响</a:t>
            </a:r>
          </a:p>
        </p:txBody>
      </p:sp>
      <p:sp>
        <p:nvSpPr>
          <p:cNvPr id="9" name="Rectangle 8"/>
          <p:cNvSpPr/>
          <p:nvPr/>
        </p:nvSpPr>
        <p:spPr>
          <a:xfrm>
            <a:off x="5349240" y="1371600"/>
            <a:ext cx="118872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责任组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37960" y="1371600"/>
            <a:ext cx="5577840" cy="502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处置预案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691640" y="1874519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嘉宾或观众突发身体不适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6908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09160" y="1874519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49240" y="1874519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37960" y="1874519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AED 与急救包就位；急救志愿者 60秒到达；车辆待命；最近医院路线已存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人员/安全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691640" y="2547257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闲杂人员闯入/媒体冲突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09160" y="2547257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9240" y="2547257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G+D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2547257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G组安保拦截；D组带记者至采访区；A组授权对外口径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舆情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691640" y="3219994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嘉宾发表不当言论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06908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3219994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3219994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37960" y="3219994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D组直播切换备用画面；A组+主办方拟统一回应口径；事后稿件删改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691640" y="3892731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餐饮/茶歇供应不足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3892731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9240" y="3892731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37960" y="3892731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茶歇按 1.2 倍备货；与餐厅签备货补货协议；F组实时巡看补给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691640" y="4565468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伴手礼/物料缺漏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6908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09160" y="4565468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低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49240" y="4565468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37960" y="4565468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签到台清单核对；缺漏当晚以快递/次日补寄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天气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691640" y="5238205"/>
            <a:ext cx="23774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大雨影响嘉宾到场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09160" y="5238205"/>
            <a:ext cx="64008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49240" y="5238205"/>
            <a:ext cx="118872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537960" y="5238205"/>
            <a:ext cx="5577840" cy="672737"/>
          </a:xfrm>
          <a:prstGeom prst="rect">
            <a:avLst/>
          </a:prstGeom>
          <a:solidFill>
            <a:srgbClr val="FF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门口加雨棚/雨伞；F组备伞 100 把；B组车辆点对点接驳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91640" y="5910942"/>
            <a:ext cx="23774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晚宴敬酒/座次冲突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06908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709160" y="5910942"/>
            <a:ext cx="64008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中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49240" y="5910942"/>
            <a:ext cx="118872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B+F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537960" y="5910942"/>
            <a:ext cx="5577840" cy="672737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席位卡核对到人；B组掌握 VIP 偏好；F组备用座位 2 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07  物资清单 与 对讲机频道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280160"/>
            <a:ext cx="82296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类别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1280160"/>
            <a:ext cx="23774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物品</a:t>
            </a:r>
          </a:p>
        </p:txBody>
      </p:sp>
      <p:sp>
        <p:nvSpPr>
          <p:cNvPr id="7" name="Rectangle 6"/>
          <p:cNvSpPr/>
          <p:nvPr/>
        </p:nvSpPr>
        <p:spPr>
          <a:xfrm>
            <a:off x="3703320" y="1280160"/>
            <a:ext cx="19202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数量</a:t>
            </a:r>
          </a:p>
        </p:txBody>
      </p:sp>
      <p:sp>
        <p:nvSpPr>
          <p:cNvPr id="8" name="Rectangle 7"/>
          <p:cNvSpPr/>
          <p:nvPr/>
        </p:nvSpPr>
        <p:spPr>
          <a:xfrm>
            <a:off x="5623560" y="1280160"/>
            <a:ext cx="10058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负责组</a:t>
            </a:r>
          </a:p>
        </p:txBody>
      </p:sp>
      <p:sp>
        <p:nvSpPr>
          <p:cNvPr id="9" name="Rectangle 8"/>
          <p:cNvSpPr/>
          <p:nvPr/>
        </p:nvSpPr>
        <p:spPr>
          <a:xfrm>
            <a:off x="6629400" y="1280160"/>
            <a:ext cx="1463040" cy="411480"/>
          </a:xfrm>
          <a:prstGeom prst="rect">
            <a:avLst/>
          </a:prstGeom>
          <a:solidFill>
            <a:srgbClr val="5482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到位时间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691639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25880" y="1691639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议程手册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03320" y="1691639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600 份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23560" y="1691639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29400" y="1691639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印刷完成（前移）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8424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98424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桌牌/嘉宾胸卡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03320" y="198424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23560" y="198424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29400" y="198424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完成（去年痛点：太晚）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27685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25880" y="227685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★志愿者专用橙色胸牌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03320" y="227685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张（含韦佳玉）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23560" y="227685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227685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完成（采纳张蒙建议）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569463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25880" y="2569463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签到表/电子签到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569463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分级 4 类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2569463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F+B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29400" y="2569463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 上线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86207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会务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325880" y="286207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横幅/KT板/引导牌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03320" y="286207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23560" y="286207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29400" y="286207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3154680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25880" y="3154680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手持麦×4 / 领夹麦×4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703320" y="3154680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各 2 备用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23560" y="3154680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29400" y="3154680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10:00 测试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447287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25880" y="3447287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翻页器×4 / 备用电脑×1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703320" y="3447287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23560" y="3447287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0" y="3447287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检查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373989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325880" y="373989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转接头/线材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703320" y="373989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HDMI/Type-C/Lightning 各 3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623560" y="373989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629400" y="373989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032504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25880" y="4032504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03320" y="4032504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台（分 3 频道）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23560" y="4032504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29400" y="4032504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分发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432511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技术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325880" y="432511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★陈潇张江工厂灯光/舞台/音响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703320" y="432511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套（自有资源）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432511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C+E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29400" y="432511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进场（陈潇主导，节省赞助）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461772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25880" y="461772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摄影/摄像机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703320" y="461772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主机×2 游机×2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623560" y="461772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29400" y="461772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11:00 调试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91032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325880" y="491032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直播推流设备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703320" y="491032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套（含备用 4G）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23560" y="491032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629400" y="491032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试推（直播确认开启）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520293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25880" y="520293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★地铁→场地快进短视频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703320" y="520293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段 60 秒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23560" y="520293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D+F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29400" y="520293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T-5 拍摄完成、T-3 群发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02920" y="549554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媒体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325880" y="549554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★交响乐往届预热视频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703320" y="549554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5-7 段 短视频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549554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29400" y="549554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T-7 起视频号每日 1 条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02920" y="5788152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325880" y="5788152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茶歇（500人）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703320" y="5788152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高端冷餐/茶饮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23560" y="5788152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629400" y="5788152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15:30 上桌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02920" y="6080759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325880" y="6080759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伴手礼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703320" y="6080759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VVIP/嘉宾/机构 3 档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623560" y="6080759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629400" y="6080759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分装（前移）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02920" y="6373368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25880" y="6373368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晚宴桌花/席位卡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703320" y="6373368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500 人 50 桌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623560" y="6373368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629400" y="6373368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18:00 前完成（晚宴名单 T-7 锁定）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02920" y="6665976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325880" y="6665976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★赞助物料（腾讯/华为）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703320" y="6665976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按合同清单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623560" y="6665976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629400" y="6665976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T-4 与品牌方对接确认（去年痛点）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2920" y="6958583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后勤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325880" y="6958583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志愿者午餐+证书+纪念品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703320" y="6958583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26 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623560" y="6958583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A+F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629400" y="6958583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分装、当日 12:00 发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502920" y="7251192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1325880" y="7251192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急救包/AED 标识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703320" y="7251192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2 套 / 全场 3 处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5623560" y="7251192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629400" y="7251192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 就位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02920" y="7543800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1325880" y="7543800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★急救主岗（蔡萍持证）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703320" y="7543800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 名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23560" y="7543800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G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629400" y="7543800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全程在 G 组指挥点待命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2920" y="7836408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1325880" y="7836408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应急联络卡（含对接清单）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703320" y="7836408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全员人手 1 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23560" y="7836408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A+G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629400" y="7836408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发放（采纳张卓建议）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02920" y="8129016"/>
            <a:ext cx="82296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应急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325880" y="8129016"/>
            <a:ext cx="23774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备用雨伞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703320" y="8129016"/>
            <a:ext cx="19202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100 把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5623560" y="8129016"/>
            <a:ext cx="10058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629400" y="8129016"/>
            <a:ext cx="1463040" cy="292608"/>
          </a:xfrm>
          <a:prstGeom prst="rect">
            <a:avLst/>
          </a:prstGeom>
          <a:solidFill>
            <a:srgbClr val="FFFFFF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视天气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502920" y="8421624"/>
            <a:ext cx="82296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通知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325880" y="8421624"/>
            <a:ext cx="23774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★T-2 嘉宾点对点提醒短信/微信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3703320" y="8421624"/>
            <a:ext cx="19202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全部嘉宾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8421624"/>
            <a:ext cx="10058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1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6629400" y="8421624"/>
            <a:ext cx="1463040" cy="292608"/>
          </a:xfrm>
          <a:prstGeom prst="rect">
            <a:avLst/>
          </a:prstGeom>
          <a:solidFill>
            <a:srgbClr val="F4F8EE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0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T-2 18:00 前完成（采纳JasonCAI建议）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8686800" y="1280160"/>
            <a:ext cx="3108960" cy="45720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对讲机频道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8686800" y="17830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CH1 指挥频道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966960" y="17830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总策划 / A 组 / 各组组长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686800" y="24688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CH2 会务频道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966960" y="24688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 会务 + E 技术（流程切换）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8686800" y="31546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CH3 后勤频道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9966960" y="31546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B 接待 + F 后勤 + G 安全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686800" y="3840480"/>
            <a:ext cx="1280160" cy="64008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2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公共哨语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9966960" y="3840480"/>
            <a:ext cx="1828800" cy="640080"/>
          </a:xfrm>
          <a:prstGeom prst="rect">
            <a:avLst/>
          </a:prstGeom>
          <a:solidFill>
            <a:srgbClr val="FFFFFF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1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'1分钟到点'、'换场'、'医疗'、'静默'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4E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77240"/>
            <a:ext cx="12191695" cy="4572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"/>
            <a:ext cx="11430000" cy="6400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08  关键检查节点（Checkpoint）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T-3 日 18:00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所有嘉宾 PPT/演讲稿到位；议程脚本 V2 锁定；通稿初稿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T-1 日 14:00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43484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现场走台彩排；全员到岗培训；备用设备压力测试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66760" y="141732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09:00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0" y="196596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现场指挥部成立；对讲机分发；安保/医疗到位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12:00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签到台开台；VIP车队首班；直播试推流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13:25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全员就位静默 5 分钟；总策划广播开场倒计时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66760" y="320040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15:40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66760" y="374904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音乐会前节点 - 茶歇/伴手礼/媒体合影同步启动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颁奖准备 - 奖杯/获奖机构到台口；晚宴席位最终核对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43484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当日 18:30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晚宴开席 - 主会场清场启动撤场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4983480"/>
            <a:ext cx="3703320" cy="548640"/>
          </a:xfrm>
          <a:prstGeom prst="round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ctr"/>
            <a:r>
              <a:rPr sz="1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次日 10:00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66760" y="5532120"/>
            <a:ext cx="3703320" cy="1143000"/>
          </a:xfrm>
          <a:prstGeom prst="rect">
            <a:avLst/>
          </a:prstGeom>
          <a:solidFill>
            <a:srgbClr val="FFF7EC"/>
          </a:solidFill>
          <a:ln>
            <a:solidFill>
              <a:srgbClr val="ED7D3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000" rIns="36000" tIns="18000" bIns="18000"/>
          <a:lstStyle/>
          <a:p>
            <a:pPr algn="l"/>
            <a:r>
              <a:rPr sz="1200" b="0">
                <a:solidFill>
                  <a:srgbClr val="262626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通稿发布；志愿者复盘会；问题与改进归档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0"/>
            <a:ext cx="10972800" cy="12801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万事俱备，只待 5·22。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520440"/>
            <a:ext cx="10972800" cy="6400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2200" b="0">
                <a:solidFill>
                  <a:srgbClr val="FFC000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所有志愿者的努力，都是为了让 500 位嘉宾在一滴水里看见 AI 的未来。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ctr"/>
            <a:r>
              <a:rPr sz="1800" b="0">
                <a:solidFill>
                  <a:srgbClr val="D9D9D9"/>
                </a:solidFill>
                <a:latin typeface="微软雅黑"/>
                <a:eastAsia typeface="微软雅黑"/>
                <a:cs typeface="微软雅黑"/>
                <a:ascii typeface="微软雅黑"/>
                <a:hAnsi typeface="微软雅黑"/>
              </a:rPr>
              <a:t>—— 总策划 胡继刚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