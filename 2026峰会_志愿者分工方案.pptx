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7520" y="137160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56032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49039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749039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93776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执行总监(韦佳玉) → 7 大职能组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280160"/>
            <a:ext cx="2103120" cy="7315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Aiden（您）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286000"/>
            <a:ext cx="210312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统筹协调组（韦佳玉 执行总监）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20116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29260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91640" cy="5486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负责人：VIP接待主管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人数：8-12 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1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96311" y="3566160"/>
            <a:ext cx="1691640" cy="5486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96311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87751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负责人：会务总监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7751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人数：6-8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1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52544" y="3566160"/>
            <a:ext cx="169164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负责人：宣传总监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人数：5-7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31736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8776" y="3566160"/>
            <a:ext cx="1691640" cy="54864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8776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负责人：技术总监（含场地AV团队）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人数：4-6 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7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7" y="3566160"/>
            <a:ext cx="1691640" cy="54864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7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7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负责人：后勤主管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7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人数：5-8 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447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199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21239" y="3566160"/>
            <a:ext cx="1691640" cy="54864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12679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负责人：安全主管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79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人数：3-5 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79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负责人：执行总监（总策划副手）  |  建议人数：2-3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44424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执行调度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44424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 B/C/D/E/F/G 六组；时间节点把控；对讲机调度中枢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9392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文件秘书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69392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议程手册、签到表、嘉宾名单、流程脚本、复盘记录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负责人：VIP接待主管  |  建议人数：8-12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负责人：会务总监  |  建议人数：6-8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负责人：宣传总监  |  建议人数：5-7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负责人：技术总监（含场地AV团队）  |  建议人数：4-6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负责人：后勤主管  |  建议人数：5-8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负责人：安全主管  |  建议人数：3-5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03+  实际人员分配（基于 5/13 志愿者讨论会）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25 人；优先尊重个人偏好，再按背景做岗位细分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576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09928"/>
            <a:ext cx="3657600" cy="1719072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Aiden（您）  ［总策划/总指挥］  意向:—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韦佳玉  ［执行总监/副总策划］  意向:—（Aiden 直接点名协助统筹）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39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李振春（春子）  ［文件秘书/科创联络］  意向:未明示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25880"/>
            <a:ext cx="36576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嘉宾接待组（9人）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709928"/>
            <a:ext cx="3657600" cy="4919472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73736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蒋珊  ［组长］  意向:B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7584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朱铭喆  ［VIP 1V1（港澳/海外嘉宾）］  意向:B/C →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814319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JasonCAI 蔡杰  ［VIP 1V1（主旨嘉宾）］  意向:B/G →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35280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Winny  ［VIP 1V1（核心搭子）］  意向:B/C/F均可 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89128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吕志翔  ［机构嘉宾对接］  意向:B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42976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彭常丽  ［签到台主管］  意向:B/F+签到会务 →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96824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Angi 郭杰  ［观众席引导（新增岗）］  意向:B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550672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LV  ［动线引导］  意向:B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6045200"/>
            <a:ext cx="3474720" cy="538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高辰辰  ［动线引导/机动］  意向:B（听安排）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1325880"/>
            <a:ext cx="3657600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会务执行组（5人）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1709928"/>
            <a:ext cx="3657600" cy="2816352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173736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王珏  ［组长 / 流程总控+计时］  意向:C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28600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陈潇 Kelly  ［副组长 / 舞台+设备总管］  意向:C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834639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冯墨 律师  ［主持对接/串场］  意向:C/B →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3383279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黄璐 Lucius  ［PPT/资料对接］  意向:B/C →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93192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徐胜博  ［颁奖执行/机构对接］  意向:未明示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1880"/>
            <a:ext cx="365760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媒体宣传组（3人）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95928"/>
            <a:ext cx="3657600" cy="1353312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23360"/>
            <a:ext cx="3474720" cy="42671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张蒙 AEGISTAR  ［组长 / 摄影摄像+自媒体］  意向:D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50080"/>
            <a:ext cx="3474720" cy="42671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皮尔德小号  ［直播+新媒体（含交响乐预热）］  意向:未明示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4876800"/>
            <a:ext cx="3474720" cy="426719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马磊  ［媒体接待+会后传播］  意向:未明示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440680"/>
            <a:ext cx="1737360" cy="38404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技术支持组（1人）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824728"/>
            <a:ext cx="1737360" cy="804672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852160"/>
            <a:ext cx="15544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随圣博 Joshua-Sui  ［技术对接（志愿端）］  意向:B/E/G →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23160" y="5440680"/>
            <a:ext cx="1737360" cy="384048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后勤保障组（3人）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23160" y="5824728"/>
            <a:ext cx="1737360" cy="804672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4600" y="5852160"/>
            <a:ext cx="1554480" cy="2438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朱俊峰  ［组长 / 场地+物料］  意向:F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6096000"/>
            <a:ext cx="1554480" cy="2438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王胜（20级）  ［副组长 / 茶歇+晚宴+核心搭子］  意向:B/F → 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4600" y="6339840"/>
            <a:ext cx="1554480" cy="2438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刘严  ［物料+伴手礼+赞助物料对接］  意向:F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83879" y="4709160"/>
            <a:ext cx="3657600" cy="38404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应急安全组（3人）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83879" y="5093208"/>
            <a:ext cx="3657600" cy="1536192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19" y="5120640"/>
            <a:ext cx="3474720" cy="487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康诺斯 Conns  ［组长 / 安保+机动调配］  意向:B/G → 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19" y="5608320"/>
            <a:ext cx="3474720" cy="487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张卓 盈科  ［法务/舆情口径］  意向:B/G → 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19" y="6096000"/>
            <a:ext cx="3474720" cy="487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• 蔡萍  ［急救/医疗主岗 ★］  意向:B/G → 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优化建议筛选（共 19 条 → 采纳 16 / 调整 1 / 暂缓 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处置原则：直击去年痛点的全部采纳；专业度不足或越界的暂缓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371600"/>
            <a:ext cx="45720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371600"/>
            <a:ext cx="118872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71600"/>
            <a:ext cx="9144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371600"/>
            <a:ext cx="40233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落地动作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55648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1755648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量化各组任务量+设置 Milestone（按时间精力选岗位）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75564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1755648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755648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Milestone 表（见 09 sheet），各组组长 T-7 前提交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09754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009754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 Milestone 节点提前 1-2 天，留 buffer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009754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2009754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009754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阶段任务矩阵已整体前移，T-3 改为 T-5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63861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263861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提前半天/线上彩排，明确工作范围边界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263861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263861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2263861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18:00 全员线上彩排 1.5h；T-7 现场踏勘 1 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17968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3080" y="2517968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协助人员对接清单（酒店/屏幕谁联系，避免事事请示总策划）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51796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517968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517968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11-对接联系人清单（见 sheet），人手一份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72075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83080" y="2772075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嘉宾发言时间提前打招呼+主持人收口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772075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72075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2772075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T-3 致电每位讲者+主持人对脚本（见 10-嘉宾时间SOP）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026182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3026182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增加科技类展示（AI/机器人/芯片小海报）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026182"/>
            <a:ext cx="1188720" cy="25410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暂缓→单列待办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3026182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8200" y="3026182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需赞助谈判，春子+Aiden 私下推进，不进 5/22 必交付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80289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3280289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扩大交响乐宣传，视频号发去年录像预告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3280289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3280289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58200" y="3280289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组皮尔德小号负责，T-7 起每日 1 条；T-3 集中投流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534396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83080" y="3534396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演奏者走位与观众互动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3534396"/>
            <a:ext cx="1188720" cy="25410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43800" y="3534396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8200" y="3534396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 已明确专业度不足；现场仅做灯光烘托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3788503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隋胜博/徐胜博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83080" y="3788503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地铁→场地快进短视频群发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3788503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3788503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3788503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发群（去年已做，今年延续）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042610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83080" y="4042610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微信+短信点对点提醒嘉宾交通/停车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55080" y="4042610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43800" y="4042610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58200" y="4042610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责任人 T-2 18:00 前完成全部联络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296717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83080" y="4296717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角备份制度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4296717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43800" y="4296717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58200" y="4296717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12-组长备份表（见 sheet）每组指定 B 角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550824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83080" y="4550824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组按身高/年龄筛选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55080" y="4550824"/>
            <a:ext cx="1188720" cy="254106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43800" y="4550824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58200" y="4550824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改为按英语/沟通/形象气质匹配 VIP 1V1，避免歧视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04931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83080" y="4804931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志愿者专用颜色胸牌快速识别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4804931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4804931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458200" y="4804931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组制作橙色胸牌（与嘉宾胸卡明显区分），见物资清单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059038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783080" y="5059038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现场观众管理（盲区）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55080" y="505903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43800" y="5059038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58200" y="5059038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 改为观众席引导岗；G 组机动支援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313145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83080" y="5313145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自报有急救证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5313145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43800" y="5313145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58200" y="5313145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蔡萍调到 G 组任急救/医疗主岗（稀缺技能）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5567252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783080" y="5567252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张江工厂提供灯光/舞台/音响设备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5567252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43800" y="5567252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58200" y="5567252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作为重大物料资源并入；C 组陈潇为设备总管，E 组对接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5821359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783080" y="5821359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去年赞助物料环节混乱，要提前深化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55080" y="5821359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543800" y="5821359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58200" y="5821359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组刘严专项负责赞助物料入场+点位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6075466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Aiden确认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783080" y="6075466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工作装+合影+证书+午餐+纪念品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55080" y="6075466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43800" y="6075466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58200" y="6075466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已写入物资清单；T-1 全员告知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6329573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Aiden确认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783080" y="6329573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核心搭子：韦佳玉/Winnie/陈潇/王胜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55080" y="6329573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43800" y="6329573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58200" y="6329573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建立核心策划圈高频沟通群（6 人）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 + 组长 A/B 角备份制度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采纳王胜建议：组长备份；Aiden 5/13 点名核心搭子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核心策划圈（6 人 · Aiden 直管高频沟通）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Aiden（您）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8288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全场指挥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146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5146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执行总监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25146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副总策划，统筹各组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温妮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2004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组VIP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2004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空窗期可承担时间敏感任务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862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38862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组副组长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38862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提供灯光/舞台/音响设备资源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45720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组副组长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45720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三次参加，老带新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2578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 春子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52578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组秘书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5257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科创资源对接（赞助/展位）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角备份（采纳王胜建议）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28800"/>
            <a:ext cx="109728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60919" y="1828800"/>
            <a:ext cx="164592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角组长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828800"/>
            <a:ext cx="164592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角备份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2760" y="1828800"/>
            <a:ext cx="109728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221284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6840" y="221284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 缺席由韦佳玉全权代行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71576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271576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271576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朱铭喆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2760" y="271576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角熟悉 VIP 接待流程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0919" y="321868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321868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角有活动策划 20 年经验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72160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19" y="372160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AEGISTAR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6840" y="372160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372160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角有互联网+直播经验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19" y="422452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06840" y="422452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5276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角持有自有设备，可顶上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72744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72744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472744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72744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角第三次参加最熟流程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19" y="523036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06840" y="523036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角律师可应对突发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Milestone 时间表（节点提前 1-2 天 / 韦佳玉建议）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21 个里程碑 / T-9 ~ T+1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55448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2057400" y="1371600"/>
            <a:ext cx="85953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关键里程碑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52760" y="1371600"/>
            <a:ext cx="146304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55648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T-9 (5/13)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755648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志愿者讨论会完成→分工表发布（已完成）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755648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85554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1985554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各组建独立沟通群+组长 A/B 角确定+核心策划圈群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2760" y="1985554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15460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2215460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组长见面会（线上 1h）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52760" y="2215460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45366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445366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晚宴名单锁定 V1（去年痛点：太晚锁定）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52760" y="2445366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75273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2675273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交响乐往届视频开始日更预热（视频号）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52760" y="2675273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05179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2905179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1（场地/动线/AV）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2905179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35085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3135085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所有讲者 PPT 截稿（去年是 T-3，今年提前）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2760" y="3135085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64992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57400" y="3364992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地铁→场地快进短视频拍摄完成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60" y="3364992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594898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3594898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物料/胸牌印刷下单（去年痛点：名牌制作晚）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60" y="3594898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824804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(5/18)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7400" y="3824804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腾讯/华为赞助物料对接清单确认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652760" y="3824804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54710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4054710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组致电每位讲者+主持人对发言时间（防超时）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4054710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284617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57400" y="4284617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对接联系人清单（酒店/AV/餐饮/安保）发到全员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52760" y="4284617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514523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57400" y="4514523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短视频发主群+嘉宾群预热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52760" y="4514523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744429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57400" y="4744429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点对点短信/微信提醒嘉宾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52760" y="4744429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74336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57400" y="4974336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2（含彩排站位）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974336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204242"/>
            <a:ext cx="155448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5204242"/>
            <a:ext cx="859536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全员线上彩排 18:00-19:30（1.5h）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5204242"/>
            <a:ext cx="146304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434148"/>
            <a:ext cx="155448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57400" y="5434148"/>
            <a:ext cx="859536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全设备压力测试+陈潇工厂设备进场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52760" y="5434148"/>
            <a:ext cx="146304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4054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09:00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5664054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现场指挥部成立、对讲机分发、AED/急救包就位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652760" y="5664054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893961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12:00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57400" y="5893961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签到台开台、VIP 车队首班、直播试推流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52760" y="5893961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6123867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13:25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6123867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分钟、广播开场倒计时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652760" y="6123867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353773"/>
            <a:ext cx="155448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T+1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57400" y="6353773"/>
            <a:ext cx="859536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前发布、复盘会、问题归档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52760" y="6353773"/>
            <a:ext cx="146304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嘉宾发言时间控制 SOP（去年最大事故）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采纳张卓建议：从第 1 位讲者就开始的超时绝不能重演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219456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1371600"/>
            <a:ext cx="7955279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52759" y="1371600"/>
            <a:ext cx="14630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219456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828800"/>
            <a:ext cx="7955279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整理每位讲者的演讲时长合同/邀约函（25/20/40min）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59" y="1828800"/>
            <a:ext cx="146304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57120"/>
            <a:ext cx="219456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2357120"/>
            <a:ext cx="7955279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组致电每位讲者：再次确认时长 + 提示我们会举牌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2759" y="2357120"/>
            <a:ext cx="146304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85440"/>
            <a:ext cx="219456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885440"/>
            <a:ext cx="7955279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组与 4 位主持人对脚本：嘉宾超时由你直接打断的话术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52759" y="2885440"/>
            <a:ext cx="146304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13760"/>
            <a:ext cx="219456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413760"/>
            <a:ext cx="7955279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彩排时给主持人发『收口话术卡』：'感谢XXX，最后一分钟'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52759" y="3413760"/>
            <a:ext cx="146304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4208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演讲前 2min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394208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计时员就位，倒计时牌(5/3/1 min)摆放台口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52759" y="394208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7040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演讲中 5/3/1min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447040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在嘉宾视线方向举牌（先黄后红）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59" y="447040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9872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30s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499872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主持人通过耳麦提示'最后一句话'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2759" y="499872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52704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90s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80" y="552704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主持人直接收口：'感谢XXX的精彩分享'走流程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59" y="552704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05536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圆桌嘉宾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605536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每人剩 1min 时主持人示意；超时立即转下一位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59" y="605536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协助人员对接清单（全员人手一份）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采纳张卓建议：现场遇问题先找A角→找B角→才找韦佳玉/Aiden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49377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问题类别 / 你遇到的事情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40680" y="1371600"/>
            <a:ext cx="32004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角（先找）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1080" y="1371600"/>
            <a:ext cx="347472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角（找不到时）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493776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场地/桌椅/灯光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0680" y="1783080"/>
            <a:ext cx="320040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1783080"/>
            <a:ext cx="347472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Kelly（自有设备）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65468"/>
            <a:ext cx="493776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音响/麦克风/PPT/直播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2065468"/>
            <a:ext cx="320040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065468"/>
            <a:ext cx="347472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47856"/>
            <a:ext cx="493776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酒店/嘉宾接送/休息室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2347856"/>
            <a:ext cx="320040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蒋珊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2347856"/>
            <a:ext cx="347472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30244"/>
            <a:ext cx="493776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嘉宾临时需求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2630244"/>
            <a:ext cx="320040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组对应 1V1 责任人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1080" y="2630244"/>
            <a:ext cx="347472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蒋珊（B 组长）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12632"/>
            <a:ext cx="493776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茶歇/餐饮/伴手礼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2912632"/>
            <a:ext cx="320040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王胜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2912632"/>
            <a:ext cx="347472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195021"/>
            <a:ext cx="493776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赞助物料（腾讯/华为）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3195021"/>
            <a:ext cx="320040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刘严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1080" y="3195021"/>
            <a:ext cx="347472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477409"/>
            <a:ext cx="493776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摄影/摄像/直播信号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3477409"/>
            <a:ext cx="320040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张蒙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3477409"/>
            <a:ext cx="347472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59797"/>
            <a:ext cx="493776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媒体/记者接待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3759797"/>
            <a:ext cx="320040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马磊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80" y="3759797"/>
            <a:ext cx="347472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42185"/>
            <a:ext cx="493776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PPT/资料/换片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4042185"/>
            <a:ext cx="320040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黄璐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042185"/>
            <a:ext cx="347472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324574"/>
            <a:ext cx="493776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流程超时/嘉宾迟到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40680" y="4324574"/>
            <a:ext cx="320040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王珏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4324574"/>
            <a:ext cx="347472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606962"/>
            <a:ext cx="493776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颁奖物料/获奖嘉宾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0680" y="4606962"/>
            <a:ext cx="320040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徐胜博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41080" y="4606962"/>
            <a:ext cx="347472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89350"/>
            <a:ext cx="493776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法务/舆情/突发声明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4889350"/>
            <a:ext cx="320040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张卓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41080" y="4889350"/>
            <a:ext cx="347472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71738"/>
            <a:ext cx="493776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医疗/急救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40680" y="5171738"/>
            <a:ext cx="320040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蔡萍 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1080" y="5171738"/>
            <a:ext cx="347472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54127"/>
            <a:ext cx="493776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跨组人手不足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40680" y="5454127"/>
            <a:ext cx="320040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41080" y="5454127"/>
            <a:ext cx="347472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736515"/>
            <a:ext cx="493776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交响乐团对接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40680" y="5736515"/>
            <a:ext cx="320040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41080" y="5736515"/>
            <a:ext cx="3474720" cy="2823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韦佳玉（去年负责）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6018903"/>
            <a:ext cx="493776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晚宴席位/敬酒/现场对接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40680" y="6018903"/>
            <a:ext cx="320040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王胜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41080" y="6018903"/>
            <a:ext cx="3474720" cy="28238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蒋珊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301291"/>
            <a:ext cx="493776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无法解决/重大决策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40680" y="6301291"/>
            <a:ext cx="320040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Aiden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80" y="6301291"/>
            <a:ext cx="3474720" cy="282388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828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971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2971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4114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257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5257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待办（Aiden + 各组组长）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Aiden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8288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432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6576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6576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5720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45720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54864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54864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1371600"/>
            <a:ext cx="50292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82880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182880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201593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201593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74387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574387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47181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947181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319975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3319975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692769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692769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065563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065563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83080" y="4438356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0644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438356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481115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644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481115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5183944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86600" y="5183944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83080" y="5556738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0644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5556738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83080" y="5929532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0644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5929532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6302326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0644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86600" y="6302326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2316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42316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42316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42316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752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1752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1752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01752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188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61188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61188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61188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0624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20624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20624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20624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0060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480060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480060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480060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39496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39496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39496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39496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8932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00200" y="598932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7639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7720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98932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46520" y="598932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8068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08068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508068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508068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87337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187337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187337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187337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66605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866605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866605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866605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45874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545874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545874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545874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25142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5225142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5225142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225142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904411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904411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904411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904411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280160"/>
            <a:ext cx="22860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280160"/>
            <a:ext cx="201168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3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69163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69163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600 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9163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69163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印刷完成（前移）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5880" y="20116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桌牌/嘉宾胸卡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0116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20116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20116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完成（去年痛点：太晚）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33172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233172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★志愿者专用橙色胸牌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233172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张（含韦佳玉）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60" y="233172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233172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完成（采纳张蒙建议）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6517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签到表/电子签到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26517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分级 4 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6517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6517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 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97180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25880" y="297180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横幅/KT板/引导牌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80" y="297180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23560" y="297180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97180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9183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25880" y="329183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手持麦×4 / 领夹麦×4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29183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 2 备用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29183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0" y="329183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测试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6118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36118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翻页器×4 / 备用电脑×1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36118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6118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118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检查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3192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25880" y="393192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转接头/线材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393192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HDMI/Type-C/Lightning 各 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23560" y="393192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29400" y="393192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25195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25880" y="425195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25195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台（分 3 频道）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23560" y="425195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29400" y="425195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分发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5720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25880" y="45720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★陈潇张江工厂灯光/舞台/音响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11880" y="45720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套（自有资源）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23560" y="45720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5720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进场（陈潇主导，节省赞助）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920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25880" y="48920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11880" y="48920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主机×2 游机×2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23560" y="48920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9400" y="48920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2120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25880" y="52120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直播推流设备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11880" y="52120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套（含备用 4G）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23560" y="52120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29400" y="52120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试推（直播确认开启）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5321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25880" y="55321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★地铁→场地快进短视频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11880" y="55321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段 60 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55321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29400" y="55321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拍摄完成、T-3 群发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8521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25880" y="58521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★交响乐往届预热视频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1880" y="58521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5-7 段 短视频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23560" y="58521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58521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起视频号每日 1 条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617219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" y="617219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茶歇（500人）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11880" y="617219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高端冷餐/茶饮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23560" y="617219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0" y="617219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15:30 上桌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49224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25880" y="649224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1880" y="649224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VVIP/嘉宾/机构 3 档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623560" y="649224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649224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分装（前移）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2920" y="68122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25880" y="68122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晚宴桌花/席位卡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11880" y="68122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 50 桌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23560" y="68122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29400" y="68122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 前完成（晚宴名单 T-7 锁定）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713231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25880" y="713231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★赞助物料（腾讯/华为）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11880" y="713231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按合同清单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623560" y="713231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629400" y="713231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与品牌方对接确认（去年痛点）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745236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325880" y="745236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志愿者午餐+证书+纪念品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611880" y="745236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23560" y="745236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629400" y="745236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分装、当日 12:00 发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77724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25880" y="77724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11880" y="77724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623560" y="77724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629400" y="77724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02920" y="80924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25880" y="80924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★急救主岗（蔡萍持证）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611880" y="80924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名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23560" y="80924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629400" y="80924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全程在 G 组指挥点待命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841248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325880" y="841248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应急联络卡（含对接清单）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11880" y="841248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841248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629400" y="841248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发放（采纳张卓建议）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2920" y="87325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25880" y="87325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611880" y="87325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87325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629400" y="87325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2920" y="90525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325880" y="90525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★T-2 嘉宾点对点提醒短信/微信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11880" y="90525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全部嘉宾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623560" y="90525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29400" y="90525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18:00 前完成（采纳JasonCAI建议）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86800" y="1280160"/>
            <a:ext cx="310896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686800" y="169164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875520" y="169164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686800" y="233172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75520" y="233172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686800" y="297180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875520" y="297180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686800" y="3611879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875520" y="3611879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