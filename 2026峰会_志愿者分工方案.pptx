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06040"/>
            <a:ext cx="12191695" cy="91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634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2026 人工智能商业化落地与硬核投资破局峰会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2F2F2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寻找 AI 时代的超级个体、新质资产与资本新风口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8036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FFC000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志愿者职能分工方案 · 总策划工作底稿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0">
                <a:solidFill>
                  <a:srgbClr val="D9D9D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时间：2026 年 5 月 22 日 13:00 - 20:30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0">
                <a:solidFill>
                  <a:srgbClr val="D9D9D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地点：上海 · 北外滩 · 一滴水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主办：北大经院上海校友会 · 复旦大学住房政策研究中心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4300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目录 / 总策划工作框架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914400" cy="8686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00200"/>
            <a:ext cx="4572000" cy="5943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整体目标与原则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914400" cy="8686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600200"/>
            <a:ext cx="4572000" cy="5943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志愿者组织架构（向总策划负责）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68880"/>
            <a:ext cx="914400" cy="8686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606040"/>
            <a:ext cx="4572000" cy="5943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七大职能组职责（大项→小项）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468880"/>
            <a:ext cx="914400" cy="8686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606040"/>
            <a:ext cx="4572000" cy="5943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阶段任务矩阵（T-7 至 收尾撤场）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74720"/>
            <a:ext cx="914400" cy="8686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611880"/>
            <a:ext cx="4572000" cy="5943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议程时间轴分工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474720"/>
            <a:ext cx="914400" cy="8686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611880"/>
            <a:ext cx="4572000" cy="5943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应急预案（含技术/嘉宾/流程/安保）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80560"/>
            <a:ext cx="914400" cy="8686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617720"/>
            <a:ext cx="4572000" cy="5943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物资与对讲机频道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480560"/>
            <a:ext cx="914400" cy="8686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617720"/>
            <a:ext cx="4572000" cy="5943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关键检查节点与复盘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4300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01  整体目标与工作原则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377440" cy="960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零失误执行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371600"/>
            <a:ext cx="8595360" cy="960120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6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500 人高净值圈层峰会，议程紧凑，任何环节零失误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60320"/>
            <a:ext cx="2377440" cy="960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嘉宾体验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2560320"/>
            <a:ext cx="8595360" cy="960120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6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顶级嘉宾从抵达到离场全程被'看见、被服务'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49039"/>
            <a:ext cx="2377440" cy="960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品牌呈现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3749039"/>
            <a:ext cx="8595360" cy="960120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6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直播+新媒体即时传播，会后 48h 形成传播声量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37760"/>
            <a:ext cx="2377440" cy="960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应急可控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4937760"/>
            <a:ext cx="8595360" cy="960120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6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对任何可预见风险有预案、有责任人、有处置 SOP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4300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02  志愿者组织架构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0392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总策划 → 双执行总监（韦佳玉统筹 + 陈潇会务）→ 7 大职能组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280160"/>
            <a:ext cx="3017520" cy="77724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总策划  胡继刚（您）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331720"/>
            <a:ext cx="3474720" cy="7772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执行总监 ① 韦佳玉
（统筹方向 · A 组）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331720"/>
            <a:ext cx="3474720" cy="77724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执行总监 ② 陈潇 Kelly
（会务方向 · C 组组长）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057400"/>
            <a:ext cx="45720" cy="27432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0" y="2240280"/>
            <a:ext cx="4114800" cy="36576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0" y="2240280"/>
            <a:ext cx="36576" cy="9144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2240280"/>
            <a:ext cx="36576" cy="9144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3108960"/>
            <a:ext cx="45720" cy="18288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91840"/>
            <a:ext cx="10927080" cy="36576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63040" y="3291840"/>
            <a:ext cx="45720" cy="36576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657600"/>
            <a:ext cx="1691640" cy="59436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 嘉宾接待组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97680"/>
            <a:ext cx="1691640" cy="1554480"/>
          </a:xfrm>
          <a:prstGeom prst="rect">
            <a:avLst/>
          </a:prstGeom>
          <a:solidFill>
            <a:srgbClr val="F8F8F8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1508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负责人：王胜（组长）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09160"/>
            <a:ext cx="150876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人数：4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1508760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覆盖嘉宾从邀约确认 → 抵达 → 接送 → 签到 → 引导 → 离场 → 晚宴全链路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9271" y="3291840"/>
            <a:ext cx="45720" cy="36576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496311" y="3657600"/>
            <a:ext cx="1691640" cy="59436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会务执行组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96311" y="4297680"/>
            <a:ext cx="1691640" cy="1554480"/>
          </a:xfrm>
          <a:prstGeom prst="rect">
            <a:avLst/>
          </a:prstGeom>
          <a:solidFill>
            <a:srgbClr val="F8F8F8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87751" y="4343400"/>
            <a:ext cx="1508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负责人：陈潇 Kelly（执行总监②）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87751" y="4709160"/>
            <a:ext cx="150876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人数：8 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87751" y="5029200"/>
            <a:ext cx="1508760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按议程时间轴推动节目流转：主持衔接、嘉宾上下场、议程计时、颁奖执行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75504" y="3291840"/>
            <a:ext cx="45720" cy="36576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52544" y="3657600"/>
            <a:ext cx="1691640" cy="59436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 媒体宣传组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52544" y="4297680"/>
            <a:ext cx="1691640" cy="1554480"/>
          </a:xfrm>
          <a:prstGeom prst="rect">
            <a:avLst/>
          </a:prstGeom>
          <a:solidFill>
            <a:srgbClr val="F8F8F8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43984" y="4343400"/>
            <a:ext cx="1508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负责人：葛九明（组长 · 南京远程）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43984" y="4709160"/>
            <a:ext cx="150876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人数：2 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3984" y="5029200"/>
            <a:ext cx="1508760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覆盖现场摄影、摄像、直播、新媒体、媒体接待、会后稿件传播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31736" y="3291840"/>
            <a:ext cx="45720" cy="36576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08776" y="3657600"/>
            <a:ext cx="1691640" cy="59436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 技术支持组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08776" y="4297680"/>
            <a:ext cx="1691640" cy="1554480"/>
          </a:xfrm>
          <a:prstGeom prst="rect">
            <a:avLst/>
          </a:prstGeom>
          <a:solidFill>
            <a:srgbClr val="F8F8F8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0216" y="4343400"/>
            <a:ext cx="1508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负责人：张卓（组长）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0216" y="4709160"/>
            <a:ext cx="150876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人数：4 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216" y="5029200"/>
            <a:ext cx="1508760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音视频、灯光、麦克风、PPT切换、网络、直播信号、应急备份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87967" y="3291840"/>
            <a:ext cx="45720" cy="36576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65007" y="3657600"/>
            <a:ext cx="1691640" cy="594360"/>
          </a:xfrm>
          <a:prstGeom prst="round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 后勤保障组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65007" y="4297680"/>
            <a:ext cx="1691640" cy="1554480"/>
          </a:xfrm>
          <a:prstGeom prst="rect">
            <a:avLst/>
          </a:prstGeom>
          <a:solidFill>
            <a:srgbClr val="F8F8F8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7" y="4343400"/>
            <a:ext cx="1508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负责人：朱俊峰（组长）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7" y="4709160"/>
            <a:ext cx="150876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人数：4 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56447" y="5029200"/>
            <a:ext cx="1508760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场地、物料、餐饮、茶歇、伴手礼、晚宴执行，以及陆家嘴交响乐团对接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744199" y="3291840"/>
            <a:ext cx="45720" cy="36576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921239" y="3657600"/>
            <a:ext cx="1691640" cy="594360"/>
          </a:xfrm>
          <a:prstGeom prst="round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G 应急安全/机动组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921239" y="4297680"/>
            <a:ext cx="1691640" cy="1554480"/>
          </a:xfrm>
          <a:prstGeom prst="rect">
            <a:avLst/>
          </a:prstGeom>
          <a:solidFill>
            <a:srgbClr val="F8F8F8"/>
          </a:solidFill>
          <a:ln>
            <a:solidFill>
              <a:srgbClr val="B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12679" y="4343400"/>
            <a:ext cx="1508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负责人：刘严（组长）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12679" y="4709160"/>
            <a:ext cx="150876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人数：3 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12679" y="5029200"/>
            <a:ext cx="1508760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安保、消防、医疗、突发事件、舆情、与场馆/公安联动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原则：每组设组长 1 人 → 直接对接执行总监 A 组 → A 组对您负责；对讲机分 3 频道（指挥/会务/后勤）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4300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03  A 统筹协调组 · 职责细分（大项→小项）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0392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负责人：韦佳玉（执行总监）  |  建议人数：3 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155680" cy="685800"/>
          </a:xfrm>
          <a:prstGeom prst="rect">
            <a:avLst/>
          </a:prstGeom>
          <a:solidFill>
            <a:srgbClr val="F2F2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5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主要职责：向总策划负责，统筹全场，协同各组进度、对外口径、突发决策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2651760" cy="81153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1. 总指挥（胡继刚）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286000"/>
            <a:ext cx="8412480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全场最高决策；与主办/协办方对接；统筹双执行总监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88970"/>
            <a:ext cx="2651760" cy="81153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2. 执行总监① 统筹方向（韦佳玉）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3188970"/>
            <a:ext cx="8412480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议程脚本/会议记录/各组协调/复盘主持；对讲机调度中枢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91939"/>
            <a:ext cx="2651760" cy="81153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3. 执行总监② 会务方向（陈潇 Kelly）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4091939"/>
            <a:ext cx="8412480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流程/舞台/设备/制作（兼 C 组组长）；与韦佳玉并列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994910"/>
            <a:ext cx="2651760" cy="81153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4. 嘉宾邀约+赞助落位（春子）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4994910"/>
            <a:ext cx="8412480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①嘉宾邀约确认与全程跟进（外地交通/住宿） ②赞助资源对接落位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对接：A 统筹协调组   |   对讲机频道：见物资页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4300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03  B 嘉宾接待组 · 职责细分（大项→小项）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0392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负责人：王胜（组长）  |  建议人数：4 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155680" cy="6858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5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主要职责：覆盖嘉宾从邀约确认 → 抵达 → 接送 → 签到 → 引导 → 离场 → 晚宴全链路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2651760" cy="5105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1. VIP一对一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286000"/>
            <a:ext cx="8412480" cy="5105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为主旨演讲嘉宾/主持/特邀机构嘉宾配备 1V1 陪同（白硕、夏春、寇文红等）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87980"/>
            <a:ext cx="2651760" cy="5105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2. 机场/酒店接送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887980"/>
            <a:ext cx="8412480" cy="5105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外地嘉宾接机/接站、酒店入住对接、当日接送车辆调度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89960"/>
            <a:ext cx="2651760" cy="5105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3. 签到台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3489960"/>
            <a:ext cx="8412480" cy="5105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按嘉宾分级（VVIP / 演讲嘉宾 / 机构嘉宾 / 普通嘉宾）分通道签到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91939"/>
            <a:ext cx="2651760" cy="5105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4. 引导动线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4091939"/>
            <a:ext cx="8412480" cy="5105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电梯口→签到台→主会场→洗手间→茶歇区→晚宴厅 全程引导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693920"/>
            <a:ext cx="2651760" cy="5105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5. 休息室管理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4693920"/>
            <a:ext cx="8412480" cy="5105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嘉宾休息室饮水、补妆、PPT预演、专属服务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95899"/>
            <a:ext cx="2651760" cy="5105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6. 名片/合影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5295899"/>
            <a:ext cx="8412480" cy="5105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重要嘉宾合影、名片收集、对接需求登记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对接：A 统筹协调组   |   对讲机频道：见物资页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4300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03  C 会务执行组 · 职责细分（大项→小项）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0392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负责人：陈潇 Kelly（执行总监②）  |  建议人数：8 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155680" cy="685800"/>
          </a:xfrm>
          <a:prstGeom prst="rect">
            <a:avLst/>
          </a:prstGeom>
          <a:solidFill>
            <a:srgbClr val="F2F2F2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5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主要职责：按议程时间轴推动节目流转：主持衔接、嘉宾上下场、议程计时、颁奖执行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2651760" cy="5105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1. 流程总控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286000"/>
            <a:ext cx="8412480" cy="5105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持脚本对照议程；每环节超时 30s 即时提醒主持/总指挥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87980"/>
            <a:ext cx="2651760" cy="5105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2. 舞台引导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887980"/>
            <a:ext cx="8412480" cy="5105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嘉宾候场→上台→落座→下场；圆桌座次摆名牌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89960"/>
            <a:ext cx="2651760" cy="5105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3. 计时员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3489960"/>
            <a:ext cx="8412480" cy="5105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主旨 25/20min、圆桌 40min；倒计时举牌（5/3/1 min）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91939"/>
            <a:ext cx="2651760" cy="5105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4. 主持对接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4091939"/>
            <a:ext cx="8412480" cy="5105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提前与各环节主持人对脚本；过场词、串场调整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693920"/>
            <a:ext cx="2651760" cy="5105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5. PPT/资料对接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4693920"/>
            <a:ext cx="8412480" cy="5105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提前 24h 收齐所有讲者 PPT；按演讲顺序入备份U盘+云盘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95899"/>
            <a:ext cx="2651760" cy="5105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6. 颁奖执行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5295899"/>
            <a:ext cx="8412480" cy="5105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奖杯/证书摆放、颁奖嘉宾引导、获奖机构合影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对接：A 统筹协调组   |   对讲机频道：见物资页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4300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03  D 媒体宣传组 · 职责细分（大项→小项）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0392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负责人：葛九明（组长 · 南京远程）  |  建议人数：2 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155680" cy="685800"/>
          </a:xfrm>
          <a:prstGeom prst="rect">
            <a:avLst/>
          </a:prstGeom>
          <a:solidFill>
            <a:srgbClr val="F2F2F2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5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主要职责：覆盖现场摄影、摄像、直播、新媒体、媒体接待、会后稿件传播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2651760" cy="63093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1. 摄影/摄像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286000"/>
            <a:ext cx="8412480" cy="63093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主舞台机位+游机；圆桌特写；签到/茶歇/晚宴花絮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08376"/>
            <a:ext cx="2651760" cy="63093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2. 直播/录播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3008376"/>
            <a:ext cx="8412480" cy="63093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直播平台搭建（如视频号/抖音）；导播切换；网络备用 4G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30752"/>
            <a:ext cx="2651760" cy="63093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3. 媒体接待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3730752"/>
            <a:ext cx="8412480" cy="63093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财经/科技媒体记者签到、采访区安排、通稿派发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453128"/>
            <a:ext cx="2651760" cy="63093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4. 新媒体即时发布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4453128"/>
            <a:ext cx="8412480" cy="63093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现场快讯（金句卡片）、嘉宾观点摘录、朋友圈/小红书推送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75504"/>
            <a:ext cx="2651760" cy="63093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5. 会后传播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5175504"/>
            <a:ext cx="8412480" cy="63093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活动通稿、视频剪辑、嘉宾合影分发、媒体追投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对接：A 统筹协调组   |   对讲机频道：见物资页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4300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03  E 技术支持组 · 职责细分（大项→小项）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0392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负责人：张卓（组长）  |  建议人数：4 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155680" cy="685800"/>
          </a:xfrm>
          <a:prstGeom prst="rect">
            <a:avLst/>
          </a:prstGeom>
          <a:solidFill>
            <a:srgbClr val="F2F2F2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5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主要职责：音视频、灯光、麦克风、PPT切换、网络、直播信号、应急备份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2651760" cy="5105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1. 音响/麦克风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286000"/>
            <a:ext cx="8412480" cy="5105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手持/领夹麦各 4 支；圆桌每位 1 支；备用电池常驻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87980"/>
            <a:ext cx="2651760" cy="5105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2. PPT切换/总控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887980"/>
            <a:ext cx="8412480" cy="5105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翻页器+技术员守机；嘉宾切换提前 1 环节预加载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89960"/>
            <a:ext cx="2651760" cy="5105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3. 灯光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3489960"/>
            <a:ext cx="8412480" cy="5105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舞台主光、圆桌追光、交响乐演出灯光预案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91939"/>
            <a:ext cx="2651760" cy="5105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4. LED大屏/字幕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4091939"/>
            <a:ext cx="8412480" cy="5105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主屏播放+侧屏倒计时/嘉宾介绍卡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693920"/>
            <a:ext cx="2651760" cy="5105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5. 网络/直播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4693920"/>
            <a:ext cx="8412480" cy="5105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主有线+4G双备份；直播推流监看；断网应急脚本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95899"/>
            <a:ext cx="2651760" cy="5105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6. 应急备件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5295899"/>
            <a:ext cx="8412480" cy="5105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备用麦×2、备用电脑×1、备用翻页器×2、转接头全套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对接：A 统筹协调组   |   对讲机频道：见物资页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4300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03  F 后勤保障组 · 职责细分（大项→小项）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0392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负责人：朱俊峰（组长）  |  建议人数：4 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155680" cy="685800"/>
          </a:xfrm>
          <a:prstGeom prst="rect">
            <a:avLst/>
          </a:prstGeom>
          <a:solidFill>
            <a:srgbClr val="F2F2F2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5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主要职责：场地、物料、餐饮、茶歇、伴手礼、晚宴执行，以及陆家嘴交响乐团对接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2651760" cy="51054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1. 场地/桌椅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286000"/>
            <a:ext cx="8412480" cy="5105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主会场布置、圆桌摆位、签到台、媒体区、休息室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87980"/>
            <a:ext cx="2651760" cy="51054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2. 物料制作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887980"/>
            <a:ext cx="8412480" cy="5105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议程册、桌牌、横幅、KT板、引导牌、嘉宾胸卡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89960"/>
            <a:ext cx="2651760" cy="51054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3. 茶歇/饮水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3489960"/>
            <a:ext cx="8412480" cy="5105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全程饮水补给；15:45音乐会期间高端茶歇（500人量）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91939"/>
            <a:ext cx="2651760" cy="51054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4. 伴手礼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4091939"/>
            <a:ext cx="8412480" cy="5105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按等级（VVIP/嘉宾/机构）分类分发，签到台同步领取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693920"/>
            <a:ext cx="2651760" cy="51054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5. 交响乐团对接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4693920"/>
            <a:ext cx="8412480" cy="5105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陆家嘉交响乐团到场、化妆间、乐器、调音、彩排时间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95899"/>
            <a:ext cx="2651760" cy="51054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6. VIP晚宴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5295899"/>
            <a:ext cx="8412480" cy="5105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席位卡、菜单、酒水、桌花、敬酒流程、餐厅对接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对接：A 统筹协调组   |   对讲机频道：见物资页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4300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03  G 应急安全/机动组 · 职责细分（大项→小项）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0392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负责人：刘严（组长）  |  建议人数：3 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155680" cy="685800"/>
          </a:xfrm>
          <a:prstGeom prst="rect">
            <a:avLst/>
          </a:prstGeom>
          <a:solidFill>
            <a:srgbClr val="F2F2F2"/>
          </a:solidFill>
          <a:ln>
            <a:solidFill>
              <a:srgbClr val="B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5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主要职责：安保、消防、医疗、突发事件、舆情、与场馆/公安联动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2651760" cy="630936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1. 入场安检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286000"/>
            <a:ext cx="8412480" cy="63093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胸卡核验、闲杂人员拒入、可疑物品筛查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08376"/>
            <a:ext cx="2651760" cy="630936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2. 现场巡视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3008376"/>
            <a:ext cx="8412480" cy="63093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通道畅通、消防通道无堵塞、舞台周边安全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30752"/>
            <a:ext cx="2651760" cy="630936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3. 医疗急救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3730752"/>
            <a:ext cx="8412480" cy="63093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AED 位置已知、急救包、最近医院路线（含车辆待命）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453128"/>
            <a:ext cx="2651760" cy="630936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4. 舆情/口径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4453128"/>
            <a:ext cx="8412480" cy="63093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突发负面言论时的回应口径；与 D 组联动撤稿/澄清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75504"/>
            <a:ext cx="2651760" cy="630936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5. VIP/晚宴安保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5175504"/>
            <a:ext cx="8412480" cy="63093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3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 500 人圈层活动安全；车队动线；离场分流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对接：A 统筹协调组   |   对讲机频道：见物资页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4300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v8 调整说明（5/18 二次会议落地）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0392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总策划指令：吕志翔接颁奖 / G 调一人接圆桌二 / 6 项关键调整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54864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v8 本轮 6 项关键调整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914400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职责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828800"/>
            <a:ext cx="45262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吕志翔：圆桌对接 → 颁奖主导（总策划指令）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77440"/>
            <a:ext cx="914400" cy="47548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人员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2377440"/>
            <a:ext cx="45262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马磊：G → C（接圆桌二/投资圆桌）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26080"/>
            <a:ext cx="914400" cy="47548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人员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2926080"/>
            <a:ext cx="45262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皮尔德小号(高晨)：D → E（重心放技术）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74720"/>
            <a:ext cx="914400" cy="47548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人员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3474720"/>
            <a:ext cx="45262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张蒙 AEGISTAR：D → F（F 缺人；葛九明能搞定 D）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023360"/>
            <a:ext cx="914400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职责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4023360"/>
            <a:ext cx="45262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黄璐 → PPT 收集主责（明确）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572000"/>
            <a:ext cx="914400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职责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4572000"/>
            <a:ext cx="45262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冯墨扩职：嘉宾介绍+主持稿+控场倒计时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280160"/>
            <a:ext cx="548640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人数变化（27 志愿者 + 总策划 = 28 人）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828800"/>
            <a:ext cx="1097280" cy="4389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19" y="1828800"/>
            <a:ext cx="640080" cy="4389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v3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0999" y="1828800"/>
            <a:ext cx="640080" cy="4389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v4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41079" y="1828800"/>
            <a:ext cx="822960" cy="4389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变化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64039" y="1828800"/>
            <a:ext cx="2286000" cy="4389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组长 / 副组长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267712"/>
            <a:ext cx="10972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 统筹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60919" y="2267712"/>
            <a:ext cx="6400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0999" y="2267712"/>
            <a:ext cx="6400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41079" y="2267712"/>
            <a:ext cx="8229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64039" y="2267712"/>
            <a:ext cx="22860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胡继刚 / 韦佳玉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816352"/>
            <a:ext cx="1097280" cy="548640"/>
          </a:xfrm>
          <a:prstGeom prst="rect">
            <a:avLst/>
          </a:prstGeom>
          <a:solidFill>
            <a:srgbClr val="F2F8FD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 接待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60919" y="2816352"/>
            <a:ext cx="640080" cy="548640"/>
          </a:xfrm>
          <a:prstGeom prst="rect">
            <a:avLst/>
          </a:prstGeom>
          <a:solidFill>
            <a:srgbClr val="F2F8FD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0999" y="2816352"/>
            <a:ext cx="640080" cy="548640"/>
          </a:xfrm>
          <a:prstGeom prst="rect">
            <a:avLst/>
          </a:prstGeom>
          <a:solidFill>
            <a:srgbClr val="F2F8FD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41079" y="2816352"/>
            <a:ext cx="822960" cy="548640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C00000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↓ 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64039" y="2816352"/>
            <a:ext cx="2286000" cy="548640"/>
          </a:xfrm>
          <a:prstGeom prst="rect">
            <a:avLst/>
          </a:prstGeom>
          <a:solidFill>
            <a:srgbClr val="F2F8FD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王胜 / 朱铭喆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364991"/>
            <a:ext cx="10972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会务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60919" y="3364991"/>
            <a:ext cx="6400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00999" y="3364991"/>
            <a:ext cx="6400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41079" y="3364991"/>
            <a:ext cx="822960" cy="548640"/>
          </a:xfrm>
          <a:prstGeom prst="rect">
            <a:avLst/>
          </a:prstGeom>
          <a:solidFill>
            <a:srgbClr val="E4FF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548235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↑ 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64039" y="3364991"/>
            <a:ext cx="22860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陈潇 / 王珏（+马磊）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3913631"/>
            <a:ext cx="1097280" cy="548640"/>
          </a:xfrm>
          <a:prstGeom prst="rect">
            <a:avLst/>
          </a:prstGeom>
          <a:solidFill>
            <a:srgbClr val="F2F8FD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 媒体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60919" y="3913631"/>
            <a:ext cx="640080" cy="548640"/>
          </a:xfrm>
          <a:prstGeom prst="rect">
            <a:avLst/>
          </a:prstGeom>
          <a:solidFill>
            <a:srgbClr val="F2F8FD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00999" y="3913631"/>
            <a:ext cx="640080" cy="548640"/>
          </a:xfrm>
          <a:prstGeom prst="rect">
            <a:avLst/>
          </a:prstGeom>
          <a:solidFill>
            <a:srgbClr val="F2F8FD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41079" y="3913631"/>
            <a:ext cx="822960" cy="548640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C00000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↓ 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64039" y="3913631"/>
            <a:ext cx="2286000" cy="548640"/>
          </a:xfrm>
          <a:prstGeom prst="rect">
            <a:avLst/>
          </a:prstGeom>
          <a:solidFill>
            <a:srgbClr val="F2F8FD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葛九明 / 蒋珊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4462272"/>
            <a:ext cx="10972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 技术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60919" y="4462272"/>
            <a:ext cx="6400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00999" y="4462272"/>
            <a:ext cx="6400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41079" y="4462272"/>
            <a:ext cx="822960" cy="548640"/>
          </a:xfrm>
          <a:prstGeom prst="rect">
            <a:avLst/>
          </a:prstGeom>
          <a:solidFill>
            <a:srgbClr val="E4FF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548235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↑ 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64039" y="4462272"/>
            <a:ext cx="22860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张卓 / 随圣博（+高晨）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5010912"/>
            <a:ext cx="1097280" cy="548640"/>
          </a:xfrm>
          <a:prstGeom prst="rect">
            <a:avLst/>
          </a:prstGeom>
          <a:solidFill>
            <a:srgbClr val="F2F8FD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 后勤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60919" y="5010912"/>
            <a:ext cx="640080" cy="548640"/>
          </a:xfrm>
          <a:prstGeom prst="rect">
            <a:avLst/>
          </a:prstGeom>
          <a:solidFill>
            <a:srgbClr val="F2F8FD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00999" y="5010912"/>
            <a:ext cx="640080" cy="548640"/>
          </a:xfrm>
          <a:prstGeom prst="rect">
            <a:avLst/>
          </a:prstGeom>
          <a:solidFill>
            <a:srgbClr val="F2F8FD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41079" y="5010912"/>
            <a:ext cx="822960" cy="548640"/>
          </a:xfrm>
          <a:prstGeom prst="rect">
            <a:avLst/>
          </a:prstGeom>
          <a:solidFill>
            <a:srgbClr val="E4FF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548235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↑ 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64039" y="5010912"/>
            <a:ext cx="2286000" cy="548640"/>
          </a:xfrm>
          <a:prstGeom prst="rect">
            <a:avLst/>
          </a:prstGeom>
          <a:solidFill>
            <a:srgbClr val="F2F8FD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朱俊峰 / Winny（+张蒙）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5559552"/>
            <a:ext cx="10972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G 应急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60919" y="5559552"/>
            <a:ext cx="6400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00999" y="5559552"/>
            <a:ext cx="6400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41079" y="5559552"/>
            <a:ext cx="822960" cy="548640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C00000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↓ 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464039" y="5559552"/>
            <a:ext cx="22860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刘严 / 蔡萍（−马磊）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4300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实际人员分配（基于总策划最新调整）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0392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共 28 人 / 7 组；本轮调整：+葛九明、蒋珊→D、吕志翔/高辰辰→E、彭常丽→F、王胜→B组长、陈潇→C组长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2762173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 统筹协调组（3人）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83080"/>
            <a:ext cx="2762173" cy="2148840"/>
          </a:xfrm>
          <a:prstGeom prst="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2579293" cy="685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 胡继刚（您）  -  总策划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2579293" cy="685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 韦佳玉  -  执行总监 ① 统筹方向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2579293" cy="685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  李振春（春子）  -  嘉宾邀约+赞助资源落位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5093" y="1325880"/>
            <a:ext cx="2762173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 嘉宾接待组（4人）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5093" y="1783080"/>
            <a:ext cx="2762173" cy="2148840"/>
          </a:xfrm>
          <a:prstGeom prst="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6533" y="1828800"/>
            <a:ext cx="2579293" cy="51435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 王胜（20级）  -  组长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6533" y="2343150"/>
            <a:ext cx="2579293" cy="51435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  朱铭喆  -  VIP 1V1（港澳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6533" y="2857500"/>
            <a:ext cx="2579293" cy="51435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  JasonCAI 蔡杰  -  VIP 1V1（主旨嘉宾）+ 引导动线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6533" y="3371850"/>
            <a:ext cx="2579293" cy="51435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  Angi 郭杰  -  观众席引导（待联系）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4427" y="1325880"/>
            <a:ext cx="2762173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会务执行组（8人）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4427" y="1783080"/>
            <a:ext cx="2762173" cy="2148840"/>
          </a:xfrm>
          <a:prstGeom prst="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5867" y="1828800"/>
            <a:ext cx="2579293" cy="257175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 陈潇 Kelly  -  ★ 执行总监 ② 会务方向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5867" y="2085975"/>
            <a:ext cx="2579293" cy="257175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☆  王珏  -  副组长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5867" y="2343150"/>
            <a:ext cx="2579293" cy="257175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  冯墨 律师  -  ★ 主持人对接+主持稿协助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5867" y="2600325"/>
            <a:ext cx="2579293" cy="257175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  黄璐 Lucius  -  ★ PPT 收集主责人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5867" y="2857500"/>
            <a:ext cx="2579293" cy="257175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  吕志翔  -  ★ 颁奖执行（主导）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5867" y="3114675"/>
            <a:ext cx="2579293" cy="257175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  徐胜博  -  圆桌一对接（AI 硬核）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5867" y="3371850"/>
            <a:ext cx="2579293" cy="257175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  马磊  -  ★ 圆桌二对接（投资）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5867" y="3629025"/>
            <a:ext cx="2579293" cy="257175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  LV  -  动线引导+前 4 排带位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63761" y="1325880"/>
            <a:ext cx="2762173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 媒体宣传组（2人）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63761" y="1783080"/>
            <a:ext cx="2762173" cy="2148840"/>
          </a:xfrm>
          <a:prstGeom prst="rect">
            <a:avLst/>
          </a:prstGeom>
          <a:solidFill>
            <a:srgbClr val="FFFFFF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55201" y="1828800"/>
            <a:ext cx="2579293" cy="10287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 葛九明  -  组长（南京远程指挥）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5201" y="2857500"/>
            <a:ext cx="2579293" cy="10287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  蒋珊  -  AI 内容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069080"/>
            <a:ext cx="3728618" cy="4572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 技术支持组（4人）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526280"/>
            <a:ext cx="3728618" cy="2148840"/>
          </a:xfrm>
          <a:prstGeom prst="rect">
            <a:avLst/>
          </a:prstGeom>
          <a:solidFill>
            <a:srgbClr val="FFFF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572000"/>
            <a:ext cx="3545738" cy="51435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 张卓 盈科  -  组长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086350"/>
            <a:ext cx="3545738" cy="51435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☆  随圣博 Joshua-Sui  -  副组长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600700"/>
            <a:ext cx="3545738" cy="51435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  皮尔德小号（高晨）  -  ★ PPT 播放+微调（调入）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115050"/>
            <a:ext cx="3545738" cy="51435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  高辰辰  -  技术对接助理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31538" y="4069080"/>
            <a:ext cx="3728618" cy="4572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 后勤保障组（4人）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31538" y="4526280"/>
            <a:ext cx="3728618" cy="2148840"/>
          </a:xfrm>
          <a:prstGeom prst="rect">
            <a:avLst/>
          </a:prstGeom>
          <a:solidFill>
            <a:srgbClr val="FFFFFF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22978" y="4572000"/>
            <a:ext cx="3545738" cy="51435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 朱俊峰  -  组长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22978" y="5086350"/>
            <a:ext cx="3545738" cy="51435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☆  Winny 温妮  -  副组长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22978" y="5600700"/>
            <a:ext cx="3545738" cy="51435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  彭常丽  -  晚宴对接专员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22978" y="6115050"/>
            <a:ext cx="3545738" cy="51435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  张蒙 AEGISTAR  -  茶歇执行+协助物料（调入）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97316" y="4069080"/>
            <a:ext cx="3728618" cy="45720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G 应急安全/机动组（3人）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97316" y="4526280"/>
            <a:ext cx="3728618" cy="2148840"/>
          </a:xfrm>
          <a:prstGeom prst="rect">
            <a:avLst/>
          </a:prstGeom>
          <a:solidFill>
            <a:srgbClr val="FFFFFF"/>
          </a:solidFill>
          <a:ln>
            <a:solidFill>
              <a:srgbClr val="B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8756" y="4572000"/>
            <a:ext cx="3545738" cy="685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 刘严  -  组长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8756" y="5257800"/>
            <a:ext cx="3545738" cy="685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☆  蔡萍  -  副组长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8756" y="5943600"/>
            <a:ext cx="3545738" cy="685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  康诺斯 Conns  -  机动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4300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5/13 优化建议筛选（共 19 条 → 采纳 16 / 调整 1 / 暂缓 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0392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处置原则：直击去年痛点的全部采纳；专业度不足或越界的暂缓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37160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建议人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4519" y="1371600"/>
            <a:ext cx="438912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建议内容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371600"/>
            <a:ext cx="128016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处置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1371600"/>
            <a:ext cx="91440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1371600"/>
            <a:ext cx="402336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落地动作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13716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韦佳玉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19" y="1828800"/>
            <a:ext cx="438912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量化各组任务量+设置 Milestone（按时间精力选岗位）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1828800"/>
            <a:ext cx="9144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58200" y="1828800"/>
            <a:ext cx="402336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新增 Milestone 表（见 09 sheet），各组组长 T-7 前提交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909391"/>
            <a:ext cx="13716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韦佳玉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19" y="1909391"/>
            <a:ext cx="438912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所有 Milestone 节点提前 1-2 天，留 buffer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909391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3800" y="1909391"/>
            <a:ext cx="9144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1909391"/>
            <a:ext cx="402336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阶段任务矩阵已整体前移，T-3 改为 T-5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1989982"/>
            <a:ext cx="13716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张卓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74519" y="1989982"/>
            <a:ext cx="438912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提前半天/线上彩排，明确工作范围边界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989982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43800" y="1989982"/>
            <a:ext cx="9144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A+全员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58200" y="1989982"/>
            <a:ext cx="402336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T-1 18:00 全员线上彩排 1.5h；T-7 现场踏勘 1 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070573"/>
            <a:ext cx="13716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张卓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74519" y="2070573"/>
            <a:ext cx="438912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协助人员对接清单（酒店/屏幕谁联系，避免事事请示总策划）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2070573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3800" y="2070573"/>
            <a:ext cx="9144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58200" y="2070573"/>
            <a:ext cx="402336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新增 11-对接联系人清单（见 sheet），人手一份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151164"/>
            <a:ext cx="13716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张卓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74519" y="2151164"/>
            <a:ext cx="438912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嘉宾发言时间提前打招呼+主持人收口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2151164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43800" y="2151164"/>
            <a:ext cx="9144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58200" y="2151164"/>
            <a:ext cx="402336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组 T-3 致电每位讲者+主持人对脚本（见 10-嘉宾时间SOP）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2231755"/>
            <a:ext cx="13716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春子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74519" y="2231755"/>
            <a:ext cx="438912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增加科技类展示（AI/机器人/芯片小海报）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2231755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43800" y="2231755"/>
            <a:ext cx="9144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58200" y="2231755"/>
            <a:ext cx="402336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★春子已任 A 组嘉宾邀约+赞助资源落位专员；该建议作为其 KPI 之一推进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2312347"/>
            <a:ext cx="13716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蒋珊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74519" y="2312347"/>
            <a:ext cx="438912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扩大交响乐宣传，视频号发去年录像预告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2312347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43800" y="2312347"/>
            <a:ext cx="9144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8200" y="2312347"/>
            <a:ext cx="402336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 组皮尔德小号负责，T-7 起每日 1 条；T-3 集中投流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2392938"/>
            <a:ext cx="13716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蒋珊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74519" y="2392938"/>
            <a:ext cx="438912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演奏者走位与观众互动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2392938"/>
            <a:ext cx="1280160" cy="80591"/>
          </a:xfrm>
          <a:prstGeom prst="rect">
            <a:avLst/>
          </a:prstGeom>
          <a:solidFill>
            <a:srgbClr val="808080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暂缓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43800" y="2392938"/>
            <a:ext cx="9144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58200" y="2392938"/>
            <a:ext cx="402336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总策划已明确专业度不足；现场仅做灯光烘托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2473529"/>
            <a:ext cx="13716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隋胜博/徐胜博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74519" y="2473529"/>
            <a:ext cx="438912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地铁→场地快进短视频群发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63640" y="2473529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43800" y="2473529"/>
            <a:ext cx="9144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D+F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58200" y="2473529"/>
            <a:ext cx="402336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T-5 拍摄、T-3 发群（去年已做，今年延续）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2554120"/>
            <a:ext cx="13716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JasonCAI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74519" y="2554120"/>
            <a:ext cx="438912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T-2 微信+短信点对点提醒嘉宾交通/停车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63640" y="2554120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43800" y="2554120"/>
            <a:ext cx="9144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58200" y="2554120"/>
            <a:ext cx="402336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 组 VIP 1V1 责任人 T-2 18:00 前完成全部联络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2634711"/>
            <a:ext cx="13716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王胜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74519" y="2634711"/>
            <a:ext cx="438912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组长 A/B 角备份制度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63640" y="2634711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43800" y="2634711"/>
            <a:ext cx="9144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58200" y="2634711"/>
            <a:ext cx="402336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新增 12-组长备份表（见 sheet）每组指定 B 角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2715303"/>
            <a:ext cx="13716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康诺斯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874519" y="2715303"/>
            <a:ext cx="438912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 组按身高/年龄筛选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63640" y="2715303"/>
            <a:ext cx="1280160" cy="80591"/>
          </a:xfrm>
          <a:prstGeom prst="rect">
            <a:avLst/>
          </a:prstGeom>
          <a:solidFill>
            <a:srgbClr val="ED7D31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调整后采纳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543800" y="2715303"/>
            <a:ext cx="9144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458200" y="2715303"/>
            <a:ext cx="402336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改为按英语/沟通/形象气质匹配 VIP 1V1，避免歧视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2920" y="2795894"/>
            <a:ext cx="13716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张蒙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74519" y="2795894"/>
            <a:ext cx="438912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志愿者专用颜色胸牌快速识别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63640" y="2795894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43800" y="2795894"/>
            <a:ext cx="9144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458200" y="2795894"/>
            <a:ext cx="402336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 组制作橙色胸牌（与嘉宾胸卡明显区分），见物资清单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2920" y="2876485"/>
            <a:ext cx="13716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冯墨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874519" y="2876485"/>
            <a:ext cx="438912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现场观众管理（盲区）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63640" y="2876485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543800" y="2876485"/>
            <a:ext cx="9144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B+G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458200" y="2876485"/>
            <a:ext cx="402336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 组 Angi 改为观众席引导岗；G 组机动支援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2920" y="2957076"/>
            <a:ext cx="13716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蔡萍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874519" y="2957076"/>
            <a:ext cx="438912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自报有急救证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63640" y="2957076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543800" y="2957076"/>
            <a:ext cx="9144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G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458200" y="2957076"/>
            <a:ext cx="402336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蔡萍调到 G 组任急救/医疗主岗（稀缺技能）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2920" y="3037667"/>
            <a:ext cx="13716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陈潇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874519" y="3037667"/>
            <a:ext cx="438912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张江工厂提供灯光/舞台/音响设备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63640" y="3037667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543800" y="3037667"/>
            <a:ext cx="9144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C+E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458200" y="3037667"/>
            <a:ext cx="402336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作为重大物料资源并入；C 组陈潇为设备总管，E 组对接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02920" y="3118258"/>
            <a:ext cx="13716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彭常丽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874519" y="3118258"/>
            <a:ext cx="438912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去年赞助物料环节混乱，要提前深化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63640" y="3118258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43800" y="3118258"/>
            <a:ext cx="9144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458200" y="3118258"/>
            <a:ext cx="402336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 组刘严专项负责赞助物料入场+点位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2920" y="3198850"/>
            <a:ext cx="13716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总策划确认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874519" y="3198850"/>
            <a:ext cx="438912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工作装+合影+证书+午餐+纪念品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263640" y="3198850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543800" y="3198850"/>
            <a:ext cx="9144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A+F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458200" y="3198850"/>
            <a:ext cx="402336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已写入物资清单；T-1 全员告知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02920" y="3279441"/>
            <a:ext cx="13716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总策划确认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874519" y="3279441"/>
            <a:ext cx="438912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核心搭子：韦佳玉/Winnie/陈潇/王胜+葛九明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263640" y="3279441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43800" y="3279441"/>
            <a:ext cx="9144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58200" y="3279441"/>
            <a:ext cx="402336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建立核心策划圈高频沟通群（含 D 组长葛九明 7 人）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2920" y="3360032"/>
            <a:ext cx="13716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王胜(5/16)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874519" y="3360032"/>
            <a:ext cx="438912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嘉宾名单到活动前一天还在变化，需弹性预案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263640" y="3360032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543800" y="3360032"/>
            <a:ext cx="9144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B+春子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458200" y="3360032"/>
            <a:ext cx="402336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三类名单（演讲/晚宴/总）分管，T-1 锁定 V2，预留 5% 空位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02920" y="3440623"/>
            <a:ext cx="13716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王胜(5/16)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874519" y="3440623"/>
            <a:ext cx="438912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 组实际剩 3 人需其他组临时调配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263640" y="3440623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43800" y="3440623"/>
            <a:ext cx="9144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A+G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458200" y="3440623"/>
            <a:ext cx="402336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启用 G 组机动调配 + 高峰时段 D/E 闲置志愿者顶岗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02920" y="3521214"/>
            <a:ext cx="13716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王胜(5/16)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874519" y="3521214"/>
            <a:ext cx="438912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演讲嘉宾直接落座第一排（不设贵宾室）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263640" y="3521214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543800" y="3521214"/>
            <a:ext cx="9144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B+C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458200" y="3521214"/>
            <a:ext cx="402336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JasonCAI 升职责：演讲嘉宾直接引导至第一排席卡位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02920" y="3601806"/>
            <a:ext cx="13716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朱俊峰(5/16)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74519" y="3601806"/>
            <a:ext cx="438912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茶歇位置往门口放（解决去年噪音）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263640" y="3601806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543800" y="3601806"/>
            <a:ext cx="9144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458200" y="3601806"/>
            <a:ext cx="402336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茶歇位置改放门口；远离会场入口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02920" y="3682397"/>
            <a:ext cx="13716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朱俊峰(5/16)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874519" y="3682397"/>
            <a:ext cx="438912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盒马茶歇提前一周联系林爱平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263640" y="3682397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543800" y="3682397"/>
            <a:ext cx="9144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458200" y="3682397"/>
            <a:ext cx="402336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T-7 建群打招呼；T-1 确认；T-0 送达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02920" y="3762988"/>
            <a:ext cx="13716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刘严(5/16)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874519" y="3762988"/>
            <a:ext cx="438912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舞台周边安全分 4 区轮换（两侧+机动）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263640" y="3762988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43800" y="3762988"/>
            <a:ext cx="9144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458200" y="3762988"/>
            <a:ext cx="402336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舞台两边各 1 人+机动 2 人；半小时轮换；4 人方案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02920" y="3843579"/>
            <a:ext cx="13716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张卓(5/16)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874519" y="3843579"/>
            <a:ext cx="438912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电脑由会务公司带 3-4 台+自带备份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263640" y="3843579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543800" y="3843579"/>
            <a:ext cx="9144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E+陈潇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458200" y="3843579"/>
            <a:ext cx="402336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T-1 跟班尼杨确认到底谁带；自备 1 台兜底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02920" y="3924170"/>
            <a:ext cx="13716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张卓(5/16)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874519" y="3924170"/>
            <a:ext cx="438912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PPT 提前一天给组员熟悉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263640" y="3924170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7543800" y="3924170"/>
            <a:ext cx="9144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C+E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458200" y="3924170"/>
            <a:ext cx="402336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组收齐后 T-1 18:00 前给 E 组组员练手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02920" y="4004762"/>
            <a:ext cx="13716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张卓(5/16)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874519" y="4004762"/>
            <a:ext cx="438912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停车/收费/货拉拉引导提前告知嘉宾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263640" y="4004762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543800" y="4004762"/>
            <a:ext cx="9144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B+F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458200" y="4004762"/>
            <a:ext cx="402336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从洋洋得意拿到指引文档，T-3 群发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02920" y="4085353"/>
            <a:ext cx="13716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陈潇(5/16)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874519" y="4085353"/>
            <a:ext cx="438912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颁奖嘉宾+前两排观众提前通知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6263640" y="4085353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7543800" y="4085353"/>
            <a:ext cx="9144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8458200" y="4085353"/>
            <a:ext cx="402336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徐胜博整理文档；T-3 发到嘉宾群+点对点告知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02920" y="4165944"/>
            <a:ext cx="13716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陈潇(5/16)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874519" y="4165944"/>
            <a:ext cx="438912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圆桌嘉宾席卡放位置+大屏 PPT 引导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263640" y="4165944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543800" y="4165944"/>
            <a:ext cx="9144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C+E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8458200" y="4165944"/>
            <a:ext cx="402336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席卡放主席台；圆桌单独 PPT 页（嘉宾照片+介绍）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02920" y="4246535"/>
            <a:ext cx="13716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陈潇(5/16)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874519" y="4246535"/>
            <a:ext cx="438912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晚宴节目供应商推荐+不搭台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263640" y="4246535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43800" y="4246535"/>
            <a:ext cx="9144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陈潇+佳玉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8458200" y="4246535"/>
            <a:ext cx="402336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用场地方现有台子；陈潇提供长期合作的节目供应商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502920" y="4327126"/>
            <a:ext cx="13716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韦佳玉(5/16)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874519" y="4327126"/>
            <a:ext cx="438912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晚宴另一场地需志愿者监督预算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263640" y="4327126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543800" y="4327126"/>
            <a:ext cx="9144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F+佳玉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458200" y="4327126"/>
            <a:ext cx="402336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保证嘉宾不额外点餐；费用在预算内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502920" y="4407717"/>
            <a:ext cx="13716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韦佳玉(5/16)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874519" y="4407717"/>
            <a:ext cx="438912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名单/名牌/KT板/晚宴主图设计前置 1-2 天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6263640" y="4407717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7543800" y="4407717"/>
            <a:ext cx="9144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F+佳玉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8458200" y="4407717"/>
            <a:ext cx="402336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物料制作有排期；前置 24-48h 给设计方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02920" y="4488309"/>
            <a:ext cx="13716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韦佳玉(5/16)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874519" y="4488309"/>
            <a:ext cx="438912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晚宴当天临时加位 → 允许（与之前预案不同）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6263640" y="4488309"/>
            <a:ext cx="1280160" cy="80591"/>
          </a:xfrm>
          <a:prstGeom prst="rect">
            <a:avLst/>
          </a:prstGeom>
          <a:solidFill>
            <a:srgbClr val="ED7D31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调整后采纳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7543800" y="4488309"/>
            <a:ext cx="9144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B+F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8458200" y="4488309"/>
            <a:ext cx="402336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推翻之前预案：去年也有 7-8 位临时加入；预留 1-2 桌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502920" y="4568900"/>
            <a:ext cx="13716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胡继刚(5/16)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1874519" y="4568900"/>
            <a:ext cx="438912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入场标识改为 4 种手环+贴纸（替代 500 张胸牌）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263640" y="4568900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7543800" y="4568900"/>
            <a:ext cx="9144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458200" y="4568900"/>
            <a:ext cx="402336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下午嘉宾/工作人员 + 晚宴嘉宾/工作人员 4 种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502920" y="4649491"/>
            <a:ext cx="13716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胡继刚(5/16)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874519" y="4649491"/>
            <a:ext cx="438912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对讲机改 10 台（主要发组长，C/E/G 多 1 台）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263640" y="4649491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7543800" y="4649491"/>
            <a:ext cx="9144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A+E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8458200" y="4649491"/>
            <a:ext cx="402336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修正 v6 的 26 台方案；按需调配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502920" y="4730082"/>
            <a:ext cx="13716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彭常丽/盒马(5/16)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1874519" y="4730082"/>
            <a:ext cx="438912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音乐会安排在中场（不是后场）= 茶歇时间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6263640" y="4730082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7543800" y="4730082"/>
            <a:ext cx="9144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C+F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458200" y="4730082"/>
            <a:ext cx="402336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茶歇与音乐会期间同步进行；F 组按音乐会时间上茶歇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502920" y="4810673"/>
            <a:ext cx="13716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胡继刚(5/16)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874519" y="4810673"/>
            <a:ext cx="438912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会议节奏：3 次全体+组长会穿插 2 次+组内 1-2 次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263640" y="4810673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543800" y="4810673"/>
            <a:ext cx="9144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8458200" y="4810673"/>
            <a:ext cx="402336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下周再开 2 次全体；组长会穿插 2 次；组内自行安排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502920" y="4891265"/>
            <a:ext cx="13716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葛九明缺席(5/16)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1874519" y="4891265"/>
            <a:ext cx="438912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 组当天未到，单独沟通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6263640" y="4891265"/>
            <a:ext cx="1280160" cy="80591"/>
          </a:xfrm>
          <a:prstGeom prst="rect">
            <a:avLst/>
          </a:prstGeom>
          <a:solidFill>
            <a:srgbClr val="808080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待办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7543800" y="4891265"/>
            <a:ext cx="9144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8458200" y="4891265"/>
            <a:ext cx="402336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胡继刚私下与葛九明对接 D 组进度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502920" y="4971856"/>
            <a:ext cx="13716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总策划(5/18)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1874519" y="4971856"/>
            <a:ext cx="438912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吕志翔接管颁奖执行（升任主导）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6263640" y="4971856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543800" y="4971856"/>
            <a:ext cx="9144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8458200" y="4971856"/>
            <a:ext cx="402336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原徐胜博转岗对接圆桌一；吕志翔投融资人脉对接颁奖机构最得体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502920" y="5052447"/>
            <a:ext cx="13716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总策划(5/18)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1874519" y="5052447"/>
            <a:ext cx="438912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圆桌二对接从 G 组调一人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6263640" y="5052447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7543800" y="5052447"/>
            <a:ext cx="9144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G→C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8458200" y="5052447"/>
            <a:ext cx="402336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马磊 G→C：AI Club 生态+跨界资源最适合对接投资圆桌（黄欣主持）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502920" y="5133038"/>
            <a:ext cx="13716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陈潇(5/18)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874519" y="5133038"/>
            <a:ext cx="438912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PPT 模板由 C 组制作（不只给比例数字）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6263640" y="5133038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7543800" y="5133038"/>
            <a:ext cx="9144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C+E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8458200" y="5133038"/>
            <a:ext cx="402336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陈潇+黄璐做空模板带尺寸（B厅/A厅 屏幕尺寸已群发）发给嘉宾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02920" y="5213629"/>
            <a:ext cx="13716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黄璐(5/18)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874519" y="5213629"/>
            <a:ext cx="438912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明确 PPT 收集人 = 黄璐 → E 张卓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263640" y="5213629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7543800" y="5213629"/>
            <a:ext cx="9144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C+E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8458200" y="5213629"/>
            <a:ext cx="402336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周三前全部收齐 5-6 位主旨嘉宾 PPT；圆桌无 PPT 不需要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502920" y="5294221"/>
            <a:ext cx="13716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Aiden(5/18)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1874519" y="5294221"/>
            <a:ext cx="438912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所有节点提前到周三晚（不是周四）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6263640" y="5294221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7543800" y="5294221"/>
            <a:ext cx="9144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全员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8458200" y="5294221"/>
            <a:ext cx="402336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留 24h 缓冲；deadline 不是 0:00 而是周三晚收口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502920" y="5374812"/>
            <a:ext cx="13716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米兰达(5/18)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1874519" y="5374812"/>
            <a:ext cx="438912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周四下午彩排（主持人+技术组+设备）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6263640" y="5374812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7543800" y="5374812"/>
            <a:ext cx="9144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C+E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8458200" y="5374812"/>
            <a:ext cx="402336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周四下午婚宴场地大概率空着；备选周五上午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502920" y="5455403"/>
            <a:ext cx="13716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张卓(5/18)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1874519" y="5455403"/>
            <a:ext cx="438912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乐团弧形布局，无法在主舞台 → 安排侧面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6263640" y="5455403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7543800" y="5455403"/>
            <a:ext cx="9144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E+F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8458200" y="5455403"/>
            <a:ext cx="402336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需 30 把椅子（F 朱俊峰协助搬运）；张卓与乐团联系人单独对接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502920" y="5535994"/>
            <a:ext cx="13716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张卓(5/18)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1874519" y="5535994"/>
            <a:ext cx="438912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对讲机 10 台由会务公司提供（非新采购）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6263640" y="5535994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7543800" y="5535994"/>
            <a:ext cx="9144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8458200" y="5535994"/>
            <a:ext cx="402336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去年清单+对讲机 10 台+备用无线话筒 ×2；领夹麦确认是否要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502920" y="5616585"/>
            <a:ext cx="13716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朱俊峰(5/18)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1874519" y="5616585"/>
            <a:ext cx="438912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物料制作需 Benny.Y 先给费用清单后再制作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6263640" y="5616585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7543800" y="5616585"/>
            <a:ext cx="9144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8458200" y="5616585"/>
            <a:ext cx="402336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餐饮+会务物料要发票；茶歇不要发票（保留小票）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502920" y="5697176"/>
            <a:ext cx="13716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朱俊峰(5/18)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1874519" y="5697176"/>
            <a:ext cx="438912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二维码核销单打印 6-8 份（不做立牌）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6263640" y="5697176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7543800" y="5697176"/>
            <a:ext cx="9144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8458200" y="5697176"/>
            <a:ext cx="402336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节省成本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502920" y="5777768"/>
            <a:ext cx="13716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Aiden(5/18)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1874519" y="5777768"/>
            <a:ext cx="438912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志愿者用'志愿者'胸牌（不写名字）+ 工作牌用不同颜色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6263640" y="5777768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7543800" y="5777768"/>
            <a:ext cx="9144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8458200" y="5777768"/>
            <a:ext cx="402336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嘉宾席卡+晚宴名单+工作人员名单→ 向胡继刚/韦佳玉拿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502920" y="5858359"/>
            <a:ext cx="13716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Aiden(5/18)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1874519" y="5858359"/>
            <a:ext cx="438912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场地三个厅全部打通（场地方大力支持）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6263640" y="5858359"/>
            <a:ext cx="1280160" cy="80591"/>
          </a:xfrm>
          <a:prstGeom prst="rect">
            <a:avLst/>
          </a:prstGeom>
          <a:solidFill>
            <a:srgbClr val="808080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确认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7543800" y="5858359"/>
            <a:ext cx="9144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8458200" y="5858359"/>
            <a:ext cx="402336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 厅 ×2 主屏 = 主旨演讲；A 厅 L 型曲面屏 20m×2m = 晚宴；3 楼今年不动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502920" y="5938950"/>
            <a:ext cx="13716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Aiden(5/18)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1874519" y="5938950"/>
            <a:ext cx="438912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 7 桌 + 3 场节目 + 抽奖环节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6263640" y="5938950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7543800" y="5938950"/>
            <a:ext cx="9144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韦佳玉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8458200" y="5938950"/>
            <a:ext cx="402336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 PM 韦佳玉；陈潇推荐节目供应商；不搭台（用场地方现有）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502920" y="6019541"/>
            <a:ext cx="13716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Aiden(5/18)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1874519" y="6019541"/>
            <a:ext cx="438912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米兰达暂定晚宴主持人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6263640" y="6019541"/>
            <a:ext cx="1280160" cy="80591"/>
          </a:xfrm>
          <a:prstGeom prst="rect">
            <a:avLst/>
          </a:prstGeom>
          <a:solidFill>
            <a:srgbClr val="808080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暂定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7543800" y="6019541"/>
            <a:ext cx="9144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8458200" y="6019541"/>
            <a:ext cx="402336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待与姚老师商量；若同意则单独与米兰达沟通晚宴流程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502920" y="6100132"/>
            <a:ext cx="13716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Aiden(5/18)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1874519" y="6100132"/>
            <a:ext cx="438912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张蒙 D→F（F 组缺人；葛九明自己能搞定 D）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6263640" y="6100132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7543800" y="6100132"/>
            <a:ext cx="9144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D→F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8458200" y="6100132"/>
            <a:ext cx="402336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张蒙协助朱俊峰物料+Winny 茶歇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502920" y="6180724"/>
            <a:ext cx="13716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Aiden(5/18)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1874519" y="6180724"/>
            <a:ext cx="438912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皮尔德小号（高晨）重心 D→E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6263640" y="6180724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7543800" y="6180724"/>
            <a:ext cx="9144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D→E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8458200" y="6180724"/>
            <a:ext cx="402336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高晨负责放 PPT+预留半天微调；葛九明自带小团队搞 D 组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502920" y="6261315"/>
            <a:ext cx="13716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Aiden(5/18)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1874519" y="6261315"/>
            <a:ext cx="438912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参加 2 次以上的企业当天发证书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6263640" y="6261315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7543800" y="6261315"/>
            <a:ext cx="9144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F+佳玉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8458200" y="6261315"/>
            <a:ext cx="402336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Winny 与佳玉对接预算/选择范围/确认流程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502920" y="6341906"/>
            <a:ext cx="13716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Aiden(5/18)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874519" y="6341906"/>
            <a:ext cx="438912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各组长收集组员联系方式+人员替换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6263640" y="6341906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7543800" y="6341906"/>
            <a:ext cx="9144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各组长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8458200" y="6341906"/>
            <a:ext cx="402336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当天来不了的及时替换；其他组志愿者高峰时段可调配支援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502920" y="6422497"/>
            <a:ext cx="13716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Aiden(5/18)</a:t>
            </a:r>
          </a:p>
        </p:txBody>
      </p:sp>
      <p:sp>
        <p:nvSpPr>
          <p:cNvPr id="297" name="Rectangle 296"/>
          <p:cNvSpPr/>
          <p:nvPr/>
        </p:nvSpPr>
        <p:spPr>
          <a:xfrm>
            <a:off x="1874519" y="6422497"/>
            <a:ext cx="438912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明日（5/19）12:30 全体现场踏勘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6263640" y="6422497"/>
            <a:ext cx="1280160" cy="80591"/>
          </a:xfrm>
          <a:prstGeom prst="rect">
            <a:avLst/>
          </a:prstGeom>
          <a:solidFill>
            <a:srgbClr val="54823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</a:t>
            </a:r>
          </a:p>
        </p:txBody>
      </p:sp>
      <p:sp>
        <p:nvSpPr>
          <p:cNvPr id="299" name="Rectangle 298"/>
          <p:cNvSpPr/>
          <p:nvPr/>
        </p:nvSpPr>
        <p:spPr>
          <a:xfrm>
            <a:off x="7543800" y="6422497"/>
            <a:ext cx="91440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全员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8458200" y="6422497"/>
            <a:ext cx="4023360" cy="80591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看 3 块屏+三个场地；F+G 组与酒店工作人员沟通晚宴保障</a:t>
            </a:r>
          </a:p>
        </p:txBody>
      </p:sp>
      <p:sp>
        <p:nvSpPr>
          <p:cNvPr id="301" name="Rectangle 300"/>
          <p:cNvSpPr/>
          <p:nvPr/>
        </p:nvSpPr>
        <p:spPr>
          <a:xfrm>
            <a:off x="502920" y="6503088"/>
            <a:ext cx="13716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张卓(5/18)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1874519" y="6503088"/>
            <a:ext cx="438912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音乐厅灯光在音乐环节是否可用 → 周四确认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6263640" y="6503088"/>
            <a:ext cx="1280160" cy="80591"/>
          </a:xfrm>
          <a:prstGeom prst="rect">
            <a:avLst/>
          </a:prstGeom>
          <a:solidFill>
            <a:srgbClr val="808080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待办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7543800" y="6503088"/>
            <a:ext cx="91440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8458200" y="6503088"/>
            <a:ext cx="4023360" cy="8059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张卓周四下午到现场与场地方沟通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4300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核心策划圈 + 组长 A/B 角备份制度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0392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采纳王胜建议：组长备份；总策划 5/13 点名核心搭子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5486400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核心策划圈（7 人 · 总策划直管高频沟通）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1554480" cy="60350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胡继刚（您）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1874519"/>
            <a:ext cx="1554480" cy="603504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总策划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1874519"/>
            <a:ext cx="22860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404040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全场指挥；统筹两位执行总监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51176"/>
            <a:ext cx="1554480" cy="60350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韦佳玉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2551176"/>
            <a:ext cx="1554480" cy="603504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执行总监 ① 统筹方向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2551176"/>
            <a:ext cx="22860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404040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议程脚本/会议记录/各组协调/复盘主持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227832"/>
            <a:ext cx="1554480" cy="60350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陈潇 Kelly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3227832"/>
            <a:ext cx="1554480" cy="603504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执行总监 ② 会务方向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3227832"/>
            <a:ext cx="22860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404040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组组长；流程/舞台/设备/制作（自有灯光音响）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04487"/>
            <a:ext cx="1554480" cy="60350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李振春 春子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3904487"/>
            <a:ext cx="1554480" cy="603504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嘉宾邀约+赞助落位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03320" y="3904487"/>
            <a:ext cx="22860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404040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①嘉宾邀约确认与跟进 ②赞助资源对接落位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581144"/>
            <a:ext cx="1554480" cy="60350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王胜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3120" y="4581144"/>
            <a:ext cx="1554480" cy="603504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 组组长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4581144"/>
            <a:ext cx="22860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404040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三次参加，老带新；嘉宾接待主管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257800"/>
            <a:ext cx="1554480" cy="60350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葛九明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03120" y="5257800"/>
            <a:ext cx="1554480" cy="603504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 组组长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5257800"/>
            <a:ext cx="22860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404040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总策划指定，统筹媒体宣传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934455"/>
            <a:ext cx="1554480" cy="60350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刘严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03120" y="5934455"/>
            <a:ext cx="1554480" cy="603504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G 组组长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5934455"/>
            <a:ext cx="22860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404040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应急安保+机动跨组调配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1280160"/>
            <a:ext cx="548640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组长 A/B 角备份（采纳王胜建议）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1874519"/>
            <a:ext cx="109728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60919" y="1874519"/>
            <a:ext cx="164592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 角组长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6840" y="1874519"/>
            <a:ext cx="164592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 角备份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52760" y="1874519"/>
            <a:ext cx="109728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备注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2331720"/>
            <a:ext cx="10972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总指挥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60919" y="2331720"/>
            <a:ext cx="16459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胡继刚（总策划）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06840" y="2331720"/>
            <a:ext cx="16459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韦佳玉 / 陈潇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52760" y="2331720"/>
            <a:ext cx="10972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★双执行总监：韦佳玉统筹方向 + 陈潇会务方向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2898648"/>
            <a:ext cx="1097280" cy="566928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 统筹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60919" y="2898648"/>
            <a:ext cx="1645920" cy="566928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韦佳玉（执行总监①）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06840" y="2898648"/>
            <a:ext cx="1645920" cy="566928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春子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52760" y="2898648"/>
            <a:ext cx="1097280" cy="566928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统筹方向；春子专注嘉宾邀约+赞助资源落位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3465576"/>
            <a:ext cx="10972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 接待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60919" y="3465576"/>
            <a:ext cx="16459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王胜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06840" y="3465576"/>
            <a:ext cx="16459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朱铭喆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52760" y="3465576"/>
            <a:ext cx="10972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 角第三次参加最资深；B 角港校联络人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4032504"/>
            <a:ext cx="1097280" cy="566928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会务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60919" y="4032504"/>
            <a:ext cx="1645920" cy="566928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陈潇（执行总监②）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06840" y="4032504"/>
            <a:ext cx="1645920" cy="566928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王珏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652760" y="4032504"/>
            <a:ext cx="1097280" cy="566928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双执行总监会务方向；自有设备+20 年策划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4599431"/>
            <a:ext cx="10972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 媒体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60919" y="4599431"/>
            <a:ext cx="16459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葛九明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06840" y="4599431"/>
            <a:ext cx="16459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蒋珊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652760" y="4599431"/>
            <a:ext cx="10972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 角总策划指定（南京远程）；B 角 AI 内容+前期宣发主力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63640" y="5166360"/>
            <a:ext cx="1097280" cy="566928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 技术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60919" y="5166360"/>
            <a:ext cx="1645920" cy="566928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张卓 盈科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06840" y="5166360"/>
            <a:ext cx="1645920" cy="566928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随圣博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652760" y="5166360"/>
            <a:ext cx="1097280" cy="566928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 角律师协调统筹；B 角技术执行+PPT 微调由皮尔德负责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63640" y="5733288"/>
            <a:ext cx="10972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 后勤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60919" y="5733288"/>
            <a:ext cx="16459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朱俊峰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06840" y="5733288"/>
            <a:ext cx="16459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Winny 温妮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652760" y="5733288"/>
            <a:ext cx="10972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 角建筑+协会运营+物料；B 角茶歇晚宴主管；张蒙调入协助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63640" y="6300216"/>
            <a:ext cx="1097280" cy="566928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G 应急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60919" y="6300216"/>
            <a:ext cx="1645920" cy="566928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刘严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06840" y="6300216"/>
            <a:ext cx="1645920" cy="566928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蔡萍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652760" y="6300216"/>
            <a:ext cx="1097280" cy="566928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 角舞台安全+机动；B 角持急救证常驻医疗岗★；马磊已调出至 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4300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Milestone 时间表（节点提前 1-2 天 / 韦佳玉建议）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0392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共 51 个里程碑 / T-9 ~ T+1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64592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时间节点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1371600"/>
            <a:ext cx="850392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关键里程碑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52760" y="1371600"/>
            <a:ext cx="146304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责任组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1645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T-9 (5/13)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48840" y="1828800"/>
            <a:ext cx="8503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志愿者讨论会完成→分工表发布（已完成）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52760" y="1828800"/>
            <a:ext cx="146304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22032"/>
            <a:ext cx="1645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T-8 (5/14)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8840" y="1922032"/>
            <a:ext cx="8503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各组建独立沟通群+组长 A/B 角确定+核心策划圈群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52760" y="1922032"/>
            <a:ext cx="146304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A+各组长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015265"/>
            <a:ext cx="1645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T-8 (5/14)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48840" y="2015265"/>
            <a:ext cx="8503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组长见面会（线上 1h）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52760" y="2015265"/>
            <a:ext cx="146304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A+组长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108498"/>
            <a:ext cx="1645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T-8 (5/14)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8840" y="2108498"/>
            <a:ext cx="8503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各组组长整理本组任务清单 V1（按议程节点拆解+按时间排期）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52760" y="2108498"/>
            <a:ext cx="146304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各组组长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201731"/>
            <a:ext cx="1645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T-7 (5/15)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8840" y="2201731"/>
            <a:ext cx="8503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各组任务清单 V1 汇总到 A 组+总策划评审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52760" y="2201731"/>
            <a:ext cx="146304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A+各组长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294964"/>
            <a:ext cx="1645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T-7 (5/15)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8840" y="2294964"/>
            <a:ext cx="8503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晚宴名单锁定 V1（去年痛点：太晚锁定）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52760" y="2294964"/>
            <a:ext cx="146304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B+F+春子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388197"/>
            <a:ext cx="1645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T-7 (5/15)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2388197"/>
            <a:ext cx="8503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嘉宾邀约确认 V1（春子专项 KPI）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52760" y="2388197"/>
            <a:ext cx="146304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春子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481430"/>
            <a:ext cx="1645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T-7 (5/15)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48840" y="2481430"/>
            <a:ext cx="8503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交响乐往届视频开始日更预热（视频号）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52760" y="2481430"/>
            <a:ext cx="146304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2574663"/>
            <a:ext cx="1645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T-7 (5/15)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48840" y="2574663"/>
            <a:ext cx="8503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现场踏勘 1（场地/动线/AV）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652760" y="2574663"/>
            <a:ext cx="146304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A+C+E+F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2667896"/>
            <a:ext cx="1645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T-7 (5/15)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48840" y="2667896"/>
            <a:ext cx="8503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茶歇盒马群拉群打招呼（林爱平）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52760" y="2667896"/>
            <a:ext cx="146304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 朱俊峰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2761129"/>
            <a:ext cx="1645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T-7 (5/15)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48840" y="2761129"/>
            <a:ext cx="8503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一滴水场地沟通群拉群（含洋洋得意/吴伟）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52760" y="2761129"/>
            <a:ext cx="146304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胡继刚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2854362"/>
            <a:ext cx="1645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T-7 (5/15)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48840" y="2854362"/>
            <a:ext cx="8503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PPT 沟通群拉群（讲者+C+E+陈潇）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52760" y="2854362"/>
            <a:ext cx="146304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陈潇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2947595"/>
            <a:ext cx="1645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T-7 (5/15)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48840" y="2947595"/>
            <a:ext cx="8503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伴手礼/赞助沟通群拉群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652760" y="2947595"/>
            <a:ext cx="146304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胡继刚+春子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3040828"/>
            <a:ext cx="1645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T-6 (5/16)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48840" y="3040828"/>
            <a:ext cx="8503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组长会议（已完成）→ 同步纪要 + 各组任务 V2 下发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652760" y="3040828"/>
            <a:ext cx="146304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各组组长+韦佳玉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3134061"/>
            <a:ext cx="1645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T-5 (5/17)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48840" y="3134061"/>
            <a:ext cx="8503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所有讲者 PPT 截稿（去年是 T-3，今年提前）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652760" y="3134061"/>
            <a:ext cx="146304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3227294"/>
            <a:ext cx="1645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T-5 (5/17)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48840" y="3227294"/>
            <a:ext cx="8503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地铁→场地快进短视频拍摄完成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652760" y="3227294"/>
            <a:ext cx="146304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D+F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3320527"/>
            <a:ext cx="1645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T-5 (5/17)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48840" y="3320527"/>
            <a:ext cx="8503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班尼杨对接：手环 4 种+论坛道具+晚宴大屏模板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652760" y="3320527"/>
            <a:ext cx="146304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陈潇+E 张卓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3413760"/>
            <a:ext cx="1645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T-5 (5/17)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48840" y="3413760"/>
            <a:ext cx="8503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刘总赞助酒水/饮料发货（异地 2-3 天物流）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652760" y="3413760"/>
            <a:ext cx="146304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 刘严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3506992"/>
            <a:ext cx="1645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T-5 (5/17)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48840" y="3506992"/>
            <a:ext cx="8503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物料/胸牌印刷下单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652760" y="3506992"/>
            <a:ext cx="146304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3600225"/>
            <a:ext cx="1645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T-4 (5/18)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148840" y="3600225"/>
            <a:ext cx="8503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腾讯/华为/蔚来赞助物料对接清单确认（春子主推）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652760" y="3600225"/>
            <a:ext cx="146304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春子+F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" y="3693458"/>
            <a:ext cx="1645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T-3 (5/19)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148840" y="3693458"/>
            <a:ext cx="8503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嘉宾 PPT 全部收齐（5-6 位主旨）→ 转交张卓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652760" y="3693458"/>
            <a:ext cx="146304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黄璐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2920" y="3786691"/>
            <a:ext cx="1645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T-3 (5/19)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148840" y="3786691"/>
            <a:ext cx="8503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PPT 模板（空模板带尺寸）发给嘉宾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652760" y="3786691"/>
            <a:ext cx="146304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陈潇+黄璐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2920" y="3879924"/>
            <a:ext cx="1645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T-3 (5/19)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148840" y="3879924"/>
            <a:ext cx="8503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米兰达主持稿对接+嘉宾介绍发出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652760" y="3879924"/>
            <a:ext cx="146304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冯墨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2920" y="3973157"/>
            <a:ext cx="1645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T-3 (5/19)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148840" y="3973157"/>
            <a:ext cx="8503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全体第三次会议（讨论会议流程+人员缺席排除）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652760" y="3973157"/>
            <a:ext cx="146304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全员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2920" y="4066390"/>
            <a:ext cx="1645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T-3 (5/19)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148840" y="4066390"/>
            <a:ext cx="8503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晚宴抽奖奖品确认（一/二/三等奖 7 桌）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652760" y="4066390"/>
            <a:ext cx="146304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韦佳玉+赞助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2920" y="4159623"/>
            <a:ext cx="1645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T-3 (5/19)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148840" y="4159623"/>
            <a:ext cx="8503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节目供应商提案确认（陈潇推荐 3 场节目）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652760" y="4159623"/>
            <a:ext cx="146304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陈潇+韦佳玉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2920" y="4252856"/>
            <a:ext cx="1645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T-3 (5/19)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148840" y="4252856"/>
            <a:ext cx="8503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前两排观众+发奖人提前通知文档化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652760" y="4252856"/>
            <a:ext cx="146304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吕志翔+徐胜博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2920" y="4346089"/>
            <a:ext cx="1645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T-3 (5/19)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148840" y="4346089"/>
            <a:ext cx="8503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组致电每位讲者+主持人对发言时间（防超时）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652760" y="4346089"/>
            <a:ext cx="146304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02920" y="4439322"/>
            <a:ext cx="1645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T-3 (5/19)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148840" y="4439322"/>
            <a:ext cx="8503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对接联系人清单（酒店/AV/餐饮/安保）发到全员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652760" y="4439322"/>
            <a:ext cx="146304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2920" y="4532555"/>
            <a:ext cx="1645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T-3 (5/19)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148840" y="4532555"/>
            <a:ext cx="8503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短视频发主群+嘉宾群预热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652760" y="4532555"/>
            <a:ext cx="146304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02920" y="4625788"/>
            <a:ext cx="1645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T-2 (5/20)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148840" y="4625788"/>
            <a:ext cx="8503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 组 VIP 1V1 点对点短信/微信提醒嘉宾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652760" y="4625788"/>
            <a:ext cx="146304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B+春子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02920" y="4719021"/>
            <a:ext cx="1645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T-2 (5/20)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148840" y="4719021"/>
            <a:ext cx="8503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现场踏勘 2（含彩排站位）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652760" y="4719021"/>
            <a:ext cx="146304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A+C+E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02920" y="4812254"/>
            <a:ext cx="1645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T-3 (5/19) 12:30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148840" y="4812254"/>
            <a:ext cx="8503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全体明日中午现场踏勘（12:30-13:00 集合 看 3 块屏+三个场地）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652760" y="4812254"/>
            <a:ext cx="146304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A+所有组长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02920" y="4905487"/>
            <a:ext cx="1645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T-2 (5/20) 下午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148840" y="4905487"/>
            <a:ext cx="8503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周四下午彩排：主持人米兰达+技术组+设备一起对焦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652760" y="4905487"/>
            <a:ext cx="146304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C+E+米兰达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02920" y="4998720"/>
            <a:ext cx="1645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T-2 (5/20) 下午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148840" y="4998720"/>
            <a:ext cx="850392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张卓与场地方沟通：音乐厅灯光在音乐环节作用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652760" y="4998720"/>
            <a:ext cx="1463040" cy="9323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 张卓+一滴水吴伟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02920" y="5091952"/>
            <a:ext cx="1645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T-2 (5/20)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148840" y="5091952"/>
            <a:ext cx="850392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乐团需求确认（人数/弧形站位/30 把椅子）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652760" y="5091952"/>
            <a:ext cx="1463040" cy="93232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 张卓+F 朱俊峰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02920" y="5185185"/>
            <a:ext cx="1645920" cy="93232"/>
          </a:xfrm>
          <a:prstGeom prst="rect">
            <a:avLst/>
          </a:prstGeom>
          <a:solidFill>
            <a:srgbClr val="FFF0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T-1 (5/21) 下午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148840" y="5185185"/>
            <a:ext cx="8503920" cy="93232"/>
          </a:xfrm>
          <a:prstGeom prst="rect">
            <a:avLst/>
          </a:prstGeom>
          <a:solidFill>
            <a:srgbClr val="FFF0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现场踏勘 2 + 讲台尺寸量取（如未量）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652760" y="5185185"/>
            <a:ext cx="1463040" cy="93232"/>
          </a:xfrm>
          <a:prstGeom prst="rect">
            <a:avLst/>
          </a:prstGeom>
          <a:solidFill>
            <a:srgbClr val="FFF0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A+F+佳玉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02920" y="5278418"/>
            <a:ext cx="1645920" cy="93232"/>
          </a:xfrm>
          <a:prstGeom prst="rect">
            <a:avLst/>
          </a:prstGeom>
          <a:solidFill>
            <a:srgbClr val="FFF0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T-1 (5/21)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148840" y="5278418"/>
            <a:ext cx="8503920" cy="93232"/>
          </a:xfrm>
          <a:prstGeom prst="rect">
            <a:avLst/>
          </a:prstGeom>
          <a:solidFill>
            <a:srgbClr val="FFF0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全员线上彩排 18:00-19:30（1.5h）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652760" y="5278418"/>
            <a:ext cx="1463040" cy="93232"/>
          </a:xfrm>
          <a:prstGeom prst="rect">
            <a:avLst/>
          </a:prstGeom>
          <a:solidFill>
            <a:srgbClr val="FFF0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A+全员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02920" y="5371651"/>
            <a:ext cx="1645920" cy="93232"/>
          </a:xfrm>
          <a:prstGeom prst="rect">
            <a:avLst/>
          </a:prstGeom>
          <a:solidFill>
            <a:srgbClr val="FFF0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T-1 (5/21)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148840" y="5371651"/>
            <a:ext cx="8503920" cy="93232"/>
          </a:xfrm>
          <a:prstGeom prst="rect">
            <a:avLst/>
          </a:prstGeom>
          <a:solidFill>
            <a:srgbClr val="FFF0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主讲台胸花+讲台花到货（按尺寸定制）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0652760" y="5371651"/>
            <a:ext cx="1463040" cy="93232"/>
          </a:xfrm>
          <a:prstGeom prst="rect">
            <a:avLst/>
          </a:prstGeom>
          <a:solidFill>
            <a:srgbClr val="FFF0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F+王胜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02920" y="5464884"/>
            <a:ext cx="1645920" cy="93232"/>
          </a:xfrm>
          <a:prstGeom prst="rect">
            <a:avLst/>
          </a:prstGeom>
          <a:solidFill>
            <a:srgbClr val="FFF0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T-1 (5/21)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148840" y="5464884"/>
            <a:ext cx="8503920" cy="93232"/>
          </a:xfrm>
          <a:prstGeom prst="rect">
            <a:avLst/>
          </a:prstGeom>
          <a:solidFill>
            <a:srgbClr val="FFF0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伴手礼到货+统一分装到袋（1-2 小时）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0652760" y="5464884"/>
            <a:ext cx="1463040" cy="93232"/>
          </a:xfrm>
          <a:prstGeom prst="rect">
            <a:avLst/>
          </a:prstGeom>
          <a:solidFill>
            <a:srgbClr val="FFF0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F+其他组支援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02920" y="5558117"/>
            <a:ext cx="1645920" cy="93232"/>
          </a:xfrm>
          <a:prstGeom prst="rect">
            <a:avLst/>
          </a:prstGeom>
          <a:solidFill>
            <a:srgbClr val="FFF0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T-1 (5/21)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148840" y="5558117"/>
            <a:ext cx="8503920" cy="93232"/>
          </a:xfrm>
          <a:prstGeom prst="rect">
            <a:avLst/>
          </a:prstGeom>
          <a:solidFill>
            <a:srgbClr val="FFF0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全设备压力测试+陈潇工厂设备进场（如需）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652760" y="5558117"/>
            <a:ext cx="1463040" cy="93232"/>
          </a:xfrm>
          <a:prstGeom prst="rect">
            <a:avLst/>
          </a:prstGeom>
          <a:solidFill>
            <a:srgbClr val="FFF0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C+E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02920" y="5651350"/>
            <a:ext cx="1645920" cy="93232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T-0 08:30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148840" y="5651350"/>
            <a:ext cx="8503920" cy="93232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会务公司班尼杨设备入场（不需提前一天）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652760" y="5651350"/>
            <a:ext cx="1463040" cy="93232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E+班尼杨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02920" y="5744583"/>
            <a:ext cx="1645920" cy="93232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T-0 09:00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148840" y="5744583"/>
            <a:ext cx="8503920" cy="93232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A/F/G 三组到场：指挥部+物料布置+AED急救包就位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652760" y="5744583"/>
            <a:ext cx="1463040" cy="93232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A+F+G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02920" y="5837816"/>
            <a:ext cx="1645920" cy="93232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T-0 10:00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148840" y="5837816"/>
            <a:ext cx="8503920" cy="93232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C 会务+E 技术到场：走台彩排+设备联调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0652760" y="5837816"/>
            <a:ext cx="1463040" cy="93232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C+E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02920" y="5931049"/>
            <a:ext cx="1645920" cy="93232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T-0 11:00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148840" y="5931049"/>
            <a:ext cx="8503920" cy="93232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 媒体到场：机位调试+直播试推流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652760" y="5931049"/>
            <a:ext cx="1463040" cy="93232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02920" y="6024282"/>
            <a:ext cx="1645920" cy="93232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T-0 11:30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148840" y="6024282"/>
            <a:ext cx="8503920" cy="93232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 接待到场：签到台开台+VIP陪同上岗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0652760" y="6024282"/>
            <a:ext cx="1463040" cy="93232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02920" y="6117515"/>
            <a:ext cx="1645920" cy="93232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T-0 12:00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148840" y="6117515"/>
            <a:ext cx="8503920" cy="93232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全员就位；VIP 车队首班；签到 13:00 开放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0652760" y="6117515"/>
            <a:ext cx="1463040" cy="93232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全员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502920" y="6210748"/>
            <a:ext cx="1645920" cy="93232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T-0 13:25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148840" y="6210748"/>
            <a:ext cx="8503920" cy="93232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全员静默 5 分钟、广播开场倒计时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0652760" y="6210748"/>
            <a:ext cx="1463040" cy="93232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02920" y="6303981"/>
            <a:ext cx="1645920" cy="93232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T-0 15:00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2148840" y="6303981"/>
            <a:ext cx="8503920" cy="93232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晚宴专项人员到场：F/B/D/G 晚宴组分批进入晚宴厅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0652760" y="6303981"/>
            <a:ext cx="1463040" cy="93232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F+B+D+G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02920" y="6397214"/>
            <a:ext cx="1645920" cy="93232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T-0 18:30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2148840" y="6397214"/>
            <a:ext cx="8503920" cy="93232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晚宴开席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0652760" y="6397214"/>
            <a:ext cx="1463040" cy="93232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全员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02920" y="6490447"/>
            <a:ext cx="1645920" cy="93232"/>
          </a:xfrm>
          <a:prstGeom prst="rect">
            <a:avLst/>
          </a:prstGeom>
          <a:solidFill>
            <a:srgbClr val="E4F0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T+1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148840" y="6490447"/>
            <a:ext cx="8503920" cy="93232"/>
          </a:xfrm>
          <a:prstGeom prst="rect">
            <a:avLst/>
          </a:prstGeom>
          <a:solidFill>
            <a:srgbClr val="E4F0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通稿次日 10:00 前发布、复盘会、问题归档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652760" y="6490447"/>
            <a:ext cx="1463040" cy="93232"/>
          </a:xfrm>
          <a:prstGeom prst="rect">
            <a:avLst/>
          </a:prstGeom>
          <a:solidFill>
            <a:srgbClr val="E4F0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A+D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4300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5/16 组长会议落地：外部对接人清单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0392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横向沟通最容易漏；统一通过这些人对接，避免各组单独加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37160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角色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4519" y="1371600"/>
            <a:ext cx="274320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姓名 / 标识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371600"/>
            <a:ext cx="182880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联系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1371600"/>
            <a:ext cx="411480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主要对接事项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61320" y="1371600"/>
            <a:ext cx="164592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责任组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74519"/>
            <a:ext cx="137160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会务公司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19" y="1874519"/>
            <a:ext cx="274320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班尼杨（昵称班尼y，微信号 312）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1874519"/>
            <a:ext cx="182880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微信 312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1874519"/>
            <a:ext cx="411480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舞台搭建 / 论坛道具 / 倒计时牌 / 音响 / 电脑 3-4 台 / 标识手环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61320" y="1874519"/>
            <a:ext cx="164592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陈潇 + E 张卓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463164"/>
            <a:ext cx="1371600" cy="588645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白天主持人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19" y="2463164"/>
            <a:ext cx="2743200" cy="588645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米兰达（吕苗苗）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2463164"/>
            <a:ext cx="1828800" cy="588645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微信群内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2463164"/>
            <a:ext cx="4114800" cy="588645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主持稿（需提供：议程+赞助方+主办协办+合影时间）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61320" y="2463164"/>
            <a:ext cx="1645920" cy="588645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陈潇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051810"/>
            <a:ext cx="137160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晚宴主持人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74519" y="3051810"/>
            <a:ext cx="274320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（另定）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3051810"/>
            <a:ext cx="182880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3051810"/>
            <a:ext cx="411480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晚宴串场+抽奖+敬酒环节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61320" y="3051810"/>
            <a:ext cx="164592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陈潇 + 韦佳玉（晚宴 PM）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640455"/>
            <a:ext cx="1371600" cy="588645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场地方一滴水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74519" y="3640455"/>
            <a:ext cx="2743200" cy="588645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洋洋得意（物业对接人）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3640455"/>
            <a:ext cx="1828800" cy="588645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群名「洋洋得意」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640455"/>
            <a:ext cx="4114800" cy="588645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停车 / 收费 / 货拉拉引导 / 桌椅 / 讲台尺寸 / 胸花尺寸 / KT板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61320" y="3640455"/>
            <a:ext cx="1645920" cy="588645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 朱俊峰 + B 王胜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229100"/>
            <a:ext cx="137160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一滴水灯光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74519" y="4229100"/>
            <a:ext cx="274320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吴伟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17720" y="4229100"/>
            <a:ext cx="182880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4229100"/>
            <a:ext cx="411480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灯光调试+使用方法（21 号下午到场确认位置）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561320" y="4229100"/>
            <a:ext cx="164592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 张卓 + 随圣博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817745"/>
            <a:ext cx="1371600" cy="588645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茶歇供应商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74519" y="4817745"/>
            <a:ext cx="2743200" cy="588645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林爱平（盒马）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4817745"/>
            <a:ext cx="1828800" cy="588645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去年合作人，提前一周联系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4817745"/>
            <a:ext cx="4114800" cy="588645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茶歇采购 + 现切果盘（盒马自带装备）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61320" y="4817745"/>
            <a:ext cx="1645920" cy="588645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 朱俊峰 + 彭常丽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406390"/>
            <a:ext cx="137160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赞助酒水/饮料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74519" y="5406390"/>
            <a:ext cx="274320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刘总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17720" y="5406390"/>
            <a:ext cx="182880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5406390"/>
            <a:ext cx="411480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异地发货（物流 2-3 天），收件人写胡继刚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561320" y="5406390"/>
            <a:ext cx="164592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 刘严 + 春子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5995035"/>
            <a:ext cx="1371600" cy="588645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赞助方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74519" y="5995035"/>
            <a:ext cx="2743200" cy="588645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腾讯 / 华为汽车 / 蔚来 / 银行 / 券商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17720" y="5995035"/>
            <a:ext cx="1828800" cy="588645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胡继刚直对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46520" y="5995035"/>
            <a:ext cx="4114800" cy="588645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赞助物料 + 致辞嘉宾 + 伴手礼比例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561320" y="5995035"/>
            <a:ext cx="1645920" cy="588645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胡继刚 + 春子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4300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5/16 组长会议落地：外部沟通群清单（6 个群）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0392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用专项群替代单点对接；T-7 前必须全部建群完成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74320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群名 / 用途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371600"/>
            <a:ext cx="182880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拉群责任人</a:t>
            </a:r>
          </a:p>
        </p:txBody>
      </p:sp>
      <p:sp>
        <p:nvSpPr>
          <p:cNvPr id="8" name="Rectangle 7"/>
          <p:cNvSpPr/>
          <p:nvPr/>
        </p:nvSpPr>
        <p:spPr>
          <a:xfrm>
            <a:off x="5074920" y="1371600"/>
            <a:ext cx="320040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群内成员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75320" y="1371600"/>
            <a:ext cx="393192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作用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2743200" cy="7848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年度峰会组长群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874519"/>
            <a:ext cx="1828800" cy="7848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胡继刚（已建）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4920" y="1874519"/>
            <a:ext cx="3200400" cy="7848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总策划+7 组长+韦佳玉+陈潇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874519"/>
            <a:ext cx="3931920" cy="7848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横向沟通主阵地；班尼杨+米兰达+洋洋得意已拉入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59380"/>
            <a:ext cx="2743200" cy="784860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PPT 沟通群 / 搜 PPT 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2659380"/>
            <a:ext cx="1828800" cy="784860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陈潇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2659380"/>
            <a:ext cx="3200400" cy="784860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组+E 组+所有讲者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2659380"/>
            <a:ext cx="3931920" cy="784860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PPT 收集+尺寸告知+反复版本跟进（去年痛点：尺寸不对调很久）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44240"/>
            <a:ext cx="2743200" cy="7848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伴手礼/赞助沟通群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3444240"/>
            <a:ext cx="1828800" cy="7848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胡继刚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3444240"/>
            <a:ext cx="3200400" cy="7848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 组+所有赞助方+春子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3444240"/>
            <a:ext cx="3931920" cy="7848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伴手礼到货时间+份数（按赞助比例）+赞助物料协调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229100"/>
            <a:ext cx="2743200" cy="784860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一滴水场地沟通群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4229100"/>
            <a:ext cx="1828800" cy="784860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胡继刚（新拉）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4920" y="4229100"/>
            <a:ext cx="3200400" cy="784860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全员+洋洋得意+吴伟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4229100"/>
            <a:ext cx="3931920" cy="784860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★避免大家单独加物业；停车/桌椅/灯光/KT板/讲台尺寸统一沟通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013960"/>
            <a:ext cx="2743200" cy="7848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茶歇盒马群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5013960"/>
            <a:ext cx="1828800" cy="7848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 组 朱俊峰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74920" y="5013960"/>
            <a:ext cx="3200400" cy="7848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 组+林爱平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20" y="5013960"/>
            <a:ext cx="3931920" cy="7848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茶歇采购（提前一周建群打招呼）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798820"/>
            <a:ext cx="2743200" cy="784860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会务公司技术群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5798820"/>
            <a:ext cx="1828800" cy="784860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陈潇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74920" y="5798820"/>
            <a:ext cx="3200400" cy="784860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组+E 组+班尼杨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20" y="5798820"/>
            <a:ext cx="3931920" cy="784860"/>
          </a:xfrm>
          <a:prstGeom prst="rect">
            <a:avLst/>
          </a:prstGeom>
          <a:solidFill>
            <a:srgbClr val="FFF7E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舞台/音响/电脑/论坛道具/倒计时牌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4300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5/16 落地：晚宴流程（韦佳玉任 PM）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0392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晚宴在一楼大厅 · 曲面长 LED 屏 · 不搭台 · 陈潇推荐节目供应商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55448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时间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400" y="1371600"/>
            <a:ext cx="310896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环节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66360" y="1371600"/>
            <a:ext cx="274320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责任人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7909560" y="1371600"/>
            <a:ext cx="429768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关键动作 / 物料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155448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17:30-18:30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1874519"/>
            <a:ext cx="310896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嘉宾入场+引导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1874519"/>
            <a:ext cx="274320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 王胜+朱铭喆+JasonCAI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1874519"/>
            <a:ext cx="429768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晚宴手环核验（与下午手环不同色）+席位引导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463164"/>
            <a:ext cx="155448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18:30-18:35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57400" y="2463164"/>
            <a:ext cx="310896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开席+晚宴主持人开场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6360" y="2463164"/>
            <a:ext cx="274320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晚宴主持人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2463164"/>
            <a:ext cx="429768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陈潇司仪过场；曲面 LED 屏开场致辞 PPT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051810"/>
            <a:ext cx="155448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18:35-18:45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57400" y="3051810"/>
            <a:ext cx="310896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总策划致辞+开瓶敬酒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66360" y="3051810"/>
            <a:ext cx="274320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胡继刚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9560" y="3051810"/>
            <a:ext cx="429768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互动交杯环节；技术组放背景音乐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640455"/>
            <a:ext cx="155448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18:45-19:00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400" y="3640455"/>
            <a:ext cx="310896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赞助商代表致辞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66360" y="3640455"/>
            <a:ext cx="274320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春子协调赞助方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9560" y="3640455"/>
            <a:ext cx="429768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腾讯/华为/蔚来/银行/券商代表（视赞助比例）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229100"/>
            <a:ext cx="155448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19:00-19:40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57400" y="4229100"/>
            <a:ext cx="310896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节目表演（节目供应商）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66360" y="4229100"/>
            <a:ext cx="274320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陈潇 Kelly 推荐供应商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09560" y="4229100"/>
            <a:ext cx="429768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供应商提案；不搭台（用场地方现有台子）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817745"/>
            <a:ext cx="155448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19:40-20:00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57400" y="4817745"/>
            <a:ext cx="310896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抽奖环节（一/二/三等奖）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66360" y="4817745"/>
            <a:ext cx="274320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韦佳玉（晚宴 PM）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09560" y="4817745"/>
            <a:ext cx="429768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奖品预算与赞助商对接；主持人念号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406390"/>
            <a:ext cx="155448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20:00-20:30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57400" y="5406390"/>
            <a:ext cx="310896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自由社交+合影+敬酒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66360" y="5406390"/>
            <a:ext cx="274320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全员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09560" y="5406390"/>
            <a:ext cx="429768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 组花絮拍摄；G 组维持秩序+车队待命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995035"/>
            <a:ext cx="155448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20:30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7400" y="5995035"/>
            <a:ext cx="310896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撤场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66360" y="5995035"/>
            <a:ext cx="274320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F+G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09560" y="5995035"/>
            <a:ext cx="429768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场地交还+车队调度+离场分流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4300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当日各组到场时间表（5/22 现场）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0392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总策划指令：会务/技术 10:00 到场；晚宴专项 15:00 到场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37160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到场时间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4519" y="1371600"/>
            <a:ext cx="228600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组 / 范围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371600"/>
            <a:ext cx="329184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到场人员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371600"/>
            <a:ext cx="475488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到场即开始做的事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1371600" cy="31394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09:00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74519" y="1874519"/>
            <a:ext cx="2286000" cy="31394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 统筹（全员）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874519"/>
            <a:ext cx="3291840" cy="31394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胡继刚 / 韦佳玉 / 春子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74519"/>
            <a:ext cx="4754880" cy="31394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现场指挥部建立 / 对讲机分发 / 与各组组长进度核对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188464"/>
            <a:ext cx="1371600" cy="313944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09:00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4519" y="2188464"/>
            <a:ext cx="2286000" cy="313944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 后勤（全员）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2188464"/>
            <a:ext cx="3291840" cy="313944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朱俊峰 / Winny / 彭常丽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2188464"/>
            <a:ext cx="4754880" cy="313944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场地桌椅布置 / 物料进场 / 茶歇位铺设 / 赞助物料对接（腾讯/华为）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502407"/>
            <a:ext cx="1371600" cy="31394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09:00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4519" y="2502407"/>
            <a:ext cx="2286000" cy="31394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G 应急（全员）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502407"/>
            <a:ext cx="3291840" cy="31394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刘严 / 蔡萍 / 马磊 / 康诺斯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2502407"/>
            <a:ext cx="4754880" cy="31394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安检设备就位 / AED+急救包 3 处摆放 / 医疗对接热线打通 / 入场安检上岗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816352"/>
            <a:ext cx="1371600" cy="313944"/>
          </a:xfrm>
          <a:prstGeom prst="rect">
            <a:avLst/>
          </a:prstGeom>
          <a:solidFill>
            <a:srgbClr val="FFF0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10:00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74519" y="2816352"/>
            <a:ext cx="2286000" cy="313944"/>
          </a:xfrm>
          <a:prstGeom prst="rect">
            <a:avLst/>
          </a:prstGeom>
          <a:solidFill>
            <a:srgbClr val="FFF0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C 会务（全员）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2816352"/>
            <a:ext cx="3291840" cy="313944"/>
          </a:xfrm>
          <a:prstGeom prst="rect">
            <a:avLst/>
          </a:prstGeom>
          <a:solidFill>
            <a:srgbClr val="FFF0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陈潇 / 王珏 / 冯墨 / 黄璐 / 徐胜博 / 吕志翔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52360" y="2816352"/>
            <a:ext cx="4754880" cy="313944"/>
          </a:xfrm>
          <a:prstGeom prst="rect">
            <a:avLst/>
          </a:prstGeom>
          <a:solidFill>
            <a:srgbClr val="FFF0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舞台走台彩排 / 计时器+举牌就位 / 嘉宾上下场动线对脚本 / PPT 顺序加载主机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130296"/>
            <a:ext cx="1371600" cy="313944"/>
          </a:xfrm>
          <a:prstGeom prst="rect">
            <a:avLst/>
          </a:prstGeom>
          <a:solidFill>
            <a:srgbClr val="FFF0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10:00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74519" y="3130296"/>
            <a:ext cx="2286000" cy="313944"/>
          </a:xfrm>
          <a:prstGeom prst="rect">
            <a:avLst/>
          </a:prstGeom>
          <a:solidFill>
            <a:srgbClr val="FFF0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E 技术（全员）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3130296"/>
            <a:ext cx="3291840" cy="313944"/>
          </a:xfrm>
          <a:prstGeom prst="rect">
            <a:avLst/>
          </a:prstGeom>
          <a:solidFill>
            <a:srgbClr val="FFF0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张卓 / 随圣博 / 高辰辰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52360" y="3130296"/>
            <a:ext cx="4754880" cy="313944"/>
          </a:xfrm>
          <a:prstGeom prst="rect">
            <a:avLst/>
          </a:prstGeom>
          <a:solidFill>
            <a:srgbClr val="FFF0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音响 / 麦克风 / PPT 切换 / 灯光 / LED / 网络直播 全设备联调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444240"/>
            <a:ext cx="1371600" cy="313944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11:00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74519" y="3444240"/>
            <a:ext cx="2286000" cy="313944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 媒体（全员）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0520" y="3444240"/>
            <a:ext cx="3291840" cy="313944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葛九明 / 张蒙 / 蒋珊 / 皮尔德小号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52360" y="3444240"/>
            <a:ext cx="4754880" cy="313944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摄影机位调试 / 直播试推流 / 签到合影区开放 / 媒体接待区铺设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758184"/>
            <a:ext cx="1371600" cy="31394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11:30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74519" y="3758184"/>
            <a:ext cx="2286000" cy="31394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 接待（全员）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20" y="3758184"/>
            <a:ext cx="3291840" cy="31394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王胜 / 朱铭喆 / JasonCAI / Angi / LV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52360" y="3758184"/>
            <a:ext cx="4754880" cy="31394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签到台开台 / VIP 1V1 陪同上岗 / 引导动线就位 / 休息室检查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072128"/>
            <a:ext cx="1371600" cy="313944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12:00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74519" y="4072128"/>
            <a:ext cx="2286000" cy="313944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全员就位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60520" y="4072128"/>
            <a:ext cx="3291840" cy="313944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全 27 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52360" y="4072128"/>
            <a:ext cx="4754880" cy="313944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午餐 12:30 前完成；VIP 车队首班；13:00 签到开放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386072"/>
            <a:ext cx="1371600" cy="313944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13:25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19" y="4386072"/>
            <a:ext cx="2286000" cy="313944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全员静默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0520" y="4386072"/>
            <a:ext cx="3291840" cy="313944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全 27 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52360" y="4386072"/>
            <a:ext cx="4754880" cy="313944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总策划广播开场倒计时；C 组主持人就位；E 组麦克风电池满电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700016"/>
            <a:ext cx="1371600" cy="313944"/>
          </a:xfrm>
          <a:prstGeom prst="rect">
            <a:avLst/>
          </a:prstGeom>
          <a:solidFill>
            <a:srgbClr val="FFF0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15:00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74519" y="4700016"/>
            <a:ext cx="2286000" cy="313944"/>
          </a:xfrm>
          <a:prstGeom prst="rect">
            <a:avLst/>
          </a:prstGeom>
          <a:solidFill>
            <a:srgbClr val="FFF0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 晚宴专项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60520" y="4700016"/>
            <a:ext cx="3291840" cy="313944"/>
          </a:xfrm>
          <a:prstGeom prst="rect">
            <a:avLst/>
          </a:prstGeom>
          <a:solidFill>
            <a:srgbClr val="FFF0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Winny（茶歇晚宴主管）+ 彭常丽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52360" y="4700016"/>
            <a:ext cx="4754880" cy="313944"/>
          </a:xfrm>
          <a:prstGeom prst="rect">
            <a:avLst/>
          </a:prstGeom>
          <a:solidFill>
            <a:srgbClr val="FFF0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晚宴餐厅最终对接 / 席位卡核对 / 敬酒流程预演 / 桌花布置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5013960"/>
            <a:ext cx="1371600" cy="31394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17:30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74519" y="5013960"/>
            <a:ext cx="2286000" cy="31394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 接待晚宴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60520" y="5013960"/>
            <a:ext cx="3291840" cy="31394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王胜 + 朱铭喆 + JasonCAI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52360" y="5013960"/>
            <a:ext cx="4754880" cy="31394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晚宴桌次引导脚本对接 / VIP 敬酒顺序确认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5327904"/>
            <a:ext cx="1371600" cy="313944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18:00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74519" y="5327904"/>
            <a:ext cx="2286000" cy="313944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 媒体晚宴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60520" y="5327904"/>
            <a:ext cx="3291840" cy="313944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皮尔德小号 + 张蒙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52360" y="5327904"/>
            <a:ext cx="4754880" cy="313944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晚宴花絮拍摄准备 / 当晚短视频脚本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5641848"/>
            <a:ext cx="1371600" cy="313944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18:00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874519" y="5641848"/>
            <a:ext cx="2286000" cy="313944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G 应急晚宴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60520" y="5641848"/>
            <a:ext cx="3291840" cy="313944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康诺斯 + 马磊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52360" y="5641848"/>
            <a:ext cx="4754880" cy="313944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晚宴入口二次核验 / 车队调度对接 / 离场分流预案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" y="5955792"/>
            <a:ext cx="1371600" cy="313944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18:30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74519" y="5955792"/>
            <a:ext cx="2286000" cy="313944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晚宴开席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60520" y="5955792"/>
            <a:ext cx="3291840" cy="313944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全员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52360" y="5955792"/>
            <a:ext cx="4754880" cy="313944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陈潇司仪过场 / 总策划致辞 / Winny 主管节奏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6269736"/>
            <a:ext cx="1371600" cy="31394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20:30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874519" y="6269736"/>
            <a:ext cx="2286000" cy="31394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撤场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60520" y="6269736"/>
            <a:ext cx="3291840" cy="31394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全员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452360" y="6269736"/>
            <a:ext cx="4754880" cy="31394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 组负责场地交还；G 组安全确认；A 组复盘 30min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4300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嘉宾发言时间控制 SOP（去年最大事故）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0392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采纳张卓建议：从第 1 位讲者就开始的超时绝不能重演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19456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时间点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371600"/>
            <a:ext cx="7955279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动作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52759" y="1371600"/>
            <a:ext cx="146304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责任组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2194560" cy="5232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1874519"/>
            <a:ext cx="7955279" cy="5232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整理每位讲者的演讲时长合同/邀约函（25/20/40min）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52759" y="1874519"/>
            <a:ext cx="1463040" cy="5232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97760"/>
            <a:ext cx="2194560" cy="523240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2397760"/>
            <a:ext cx="7955279" cy="523240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组致电每位讲者：再次确认时长 + 提示我们会举牌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52759" y="2397760"/>
            <a:ext cx="1463040" cy="523240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21000"/>
            <a:ext cx="2194560" cy="5232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2921000"/>
            <a:ext cx="7955279" cy="5232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组与 4 位主持人对脚本：嘉宾超时由你直接打断的话术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52759" y="2921000"/>
            <a:ext cx="1463040" cy="5232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44240"/>
            <a:ext cx="2194560" cy="523240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3444240"/>
            <a:ext cx="7955279" cy="523240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彩排时给主持人发『收口话术卡』：'感谢XXX，最后一分钟'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52759" y="3444240"/>
            <a:ext cx="1463040" cy="523240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967479"/>
            <a:ext cx="2194560" cy="523240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T-0 演讲前 2min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80" y="3967479"/>
            <a:ext cx="7955279" cy="523240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计时员就位，倒计时牌(5/3/1 min)摆放台口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52759" y="3967479"/>
            <a:ext cx="1463040" cy="523240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490720"/>
            <a:ext cx="2194560" cy="523240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T-0 演讲中 5/3/1min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7480" y="4490720"/>
            <a:ext cx="7955279" cy="523240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在嘉宾视线方向举牌（先黄后红）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52759" y="4490720"/>
            <a:ext cx="1463040" cy="523240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013960"/>
            <a:ext cx="2194560" cy="523240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T-0 超时 30s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97480" y="5013960"/>
            <a:ext cx="7955279" cy="523240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主持人通过耳麦提示'最后一句话'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52759" y="5013960"/>
            <a:ext cx="1463040" cy="523240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537200"/>
            <a:ext cx="2194560" cy="523240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T-0 超时 90s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97480" y="5537200"/>
            <a:ext cx="7955279" cy="523240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主持人直接收口：'感谢XXX的精彩分享'走流程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52759" y="5537200"/>
            <a:ext cx="1463040" cy="523240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060440"/>
            <a:ext cx="2194560" cy="523240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T-0 圆桌嘉宾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97480" y="6060440"/>
            <a:ext cx="7955279" cy="523240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每人剩 1min 时主持人示意；超时立即转下一位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652759" y="6060440"/>
            <a:ext cx="1463040" cy="523240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4300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协助人员对接清单（全员人手一份）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0392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采纳张卓建议：现场遇问题先找A角→找B角→才找韦佳玉/胡继刚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4937760" cy="4572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问题类别 / 你遇到的事情</a:t>
            </a:r>
          </a:p>
        </p:txBody>
      </p:sp>
      <p:sp>
        <p:nvSpPr>
          <p:cNvPr id="7" name="Rectangle 6"/>
          <p:cNvSpPr/>
          <p:nvPr/>
        </p:nvSpPr>
        <p:spPr>
          <a:xfrm>
            <a:off x="5440680" y="1371600"/>
            <a:ext cx="3200400" cy="4572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 角（先找）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641080" y="1371600"/>
            <a:ext cx="3474720" cy="4572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 角（找不到时）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493776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场地/桌椅/赞助物料入场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1828800"/>
            <a:ext cx="320040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 组 朱俊峰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1080" y="1828800"/>
            <a:ext cx="347472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韦佳玉（A 组）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57310"/>
            <a:ext cx="493776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灯光/舞台/音响（自有）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0680" y="1957310"/>
            <a:ext cx="320040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组 陈潇 Kelly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41080" y="1957310"/>
            <a:ext cx="347472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 组 张卓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085820"/>
            <a:ext cx="493776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麦克风/PPT切换/网络/直播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2085820"/>
            <a:ext cx="320040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 组 随圣博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41080" y="2085820"/>
            <a:ext cx="347472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 组 高辰辰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214330"/>
            <a:ext cx="493776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 组协调/对接外包 AV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40680" y="2214330"/>
            <a:ext cx="320040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 组 张卓（组长）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41080" y="2214330"/>
            <a:ext cx="347472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随圣博（B 角）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342841"/>
            <a:ext cx="493776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酒店/嘉宾接送/休息室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40680" y="2342841"/>
            <a:ext cx="320040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 组 王胜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41080" y="2342841"/>
            <a:ext cx="347472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韦佳玉（A 组）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471351"/>
            <a:ext cx="493776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VIP 嘉宾临时需求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40680" y="2471351"/>
            <a:ext cx="320040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 组对应 1V1 责任人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1080" y="2471351"/>
            <a:ext cx="347472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王胜（B 组长）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599861"/>
            <a:ext cx="493776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观众席引导/秩序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40680" y="2599861"/>
            <a:ext cx="320040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 组 Angi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41080" y="2599861"/>
            <a:ext cx="347472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G 组 康诺斯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728371"/>
            <a:ext cx="493776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茶歇 / 晚宴 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40680" y="2728371"/>
            <a:ext cx="320040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 组 Winny（茶歇晚宴主管）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41080" y="2728371"/>
            <a:ext cx="347472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彭常丽 / 朱俊峰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2856882"/>
            <a:ext cx="493776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摄影/摄像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40680" y="2856882"/>
            <a:ext cx="320040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 组 张蒙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41080" y="2856882"/>
            <a:ext cx="347472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葛九明（D 组长）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2985392"/>
            <a:ext cx="493776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直播信号/新媒体即时发布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40680" y="2985392"/>
            <a:ext cx="320040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 组 皮尔德小号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41080" y="2985392"/>
            <a:ext cx="347472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蒋珊（AI 内容）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113902"/>
            <a:ext cx="493776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AI 圈层金句/新媒体素材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40680" y="3113902"/>
            <a:ext cx="320040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 组 蒋珊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41080" y="3113902"/>
            <a:ext cx="347472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皮尔德小号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242412"/>
            <a:ext cx="493776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媒体/记者接待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40680" y="3242412"/>
            <a:ext cx="320040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 组 皮尔德小号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41080" y="3242412"/>
            <a:ext cx="347472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葛九明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3370923"/>
            <a:ext cx="493776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讲者 PPT 收集（5-6 位主旨）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40680" y="3370923"/>
            <a:ext cx="320040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组 黄璐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41080" y="3370923"/>
            <a:ext cx="347472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陈潇 Kelly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3499433"/>
            <a:ext cx="493776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讲者 PPT 微调+现场播放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40680" y="3499433"/>
            <a:ext cx="320040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 组 皮尔德小号（高晨）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41080" y="3499433"/>
            <a:ext cx="347472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 组 张卓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3627943"/>
            <a:ext cx="493776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流程超时/嘉宾迟到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40680" y="3627943"/>
            <a:ext cx="320040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组 王珏（计时）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41080" y="3627943"/>
            <a:ext cx="347472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陈潇 → 韦佳玉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3756454"/>
            <a:ext cx="493776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圆桌一对接（AI硬核·王珏主持）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40680" y="3756454"/>
            <a:ext cx="320040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组 徐胜博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641080" y="3756454"/>
            <a:ext cx="347472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组 陈潇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3884964"/>
            <a:ext cx="493776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圆桌二对接（投资·黄欣主持）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40680" y="3884964"/>
            <a:ext cx="320040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组 马磊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41080" y="3884964"/>
            <a:ext cx="347472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组 陈潇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4013474"/>
            <a:ext cx="493776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巅峰对话对接（云端·总策划主持）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40680" y="4013474"/>
            <a:ext cx="320040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胡继刚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41080" y="4013474"/>
            <a:ext cx="347472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韦佳玉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4141984"/>
            <a:ext cx="493776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颁奖物料/获奖嘉宾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0680" y="4141984"/>
            <a:ext cx="320040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组 吕志翔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641080" y="4141984"/>
            <a:ext cx="347472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徐胜博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4270495"/>
            <a:ext cx="4937760" cy="128510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法务/舆情/突发声明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40680" y="4270495"/>
            <a:ext cx="3200400" cy="128510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组 冯墨（律师）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641080" y="4270495"/>
            <a:ext cx="3474720" cy="128510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 组 张卓（律师）→ 胡继刚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" y="4399005"/>
            <a:ext cx="4937760" cy="128510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医疗/急救 ★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40680" y="4399005"/>
            <a:ext cx="3200400" cy="128510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G 组 蔡萍 ★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641080" y="4399005"/>
            <a:ext cx="3474720" cy="128510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G 组 刘严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2920" y="4527515"/>
            <a:ext cx="493776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跨组人手不足/机动调配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40680" y="4527515"/>
            <a:ext cx="320040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G 组 刘严（组长）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641080" y="4527515"/>
            <a:ext cx="347472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G 组 康诺斯 / 马磊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2920" y="4656025"/>
            <a:ext cx="493776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媒体应急口径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40680" y="4656025"/>
            <a:ext cx="320040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G 组 马磊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641080" y="4656025"/>
            <a:ext cx="347472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 组 葛九明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2920" y="4784536"/>
            <a:ext cx="493776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入场安检/可疑人员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40680" y="4784536"/>
            <a:ext cx="320040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G 组 康诺斯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41080" y="4784536"/>
            <a:ext cx="347472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G 组 刘严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2920" y="4913046"/>
            <a:ext cx="493776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交响乐团对接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440680" y="4913046"/>
            <a:ext cx="320040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 组 朱俊峰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641080" y="4913046"/>
            <a:ext cx="347472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韦佳玉（去年负责）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2920" y="5041556"/>
            <a:ext cx="493776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晚宴席位/敬酒/现场对接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40680" y="5041556"/>
            <a:ext cx="320040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 组 Winny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641080" y="5041556"/>
            <a:ext cx="347472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 组 王胜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2920" y="5170067"/>
            <a:ext cx="493776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嘉宾邀约确认/全程跟进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40680" y="5170067"/>
            <a:ext cx="320040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 组 春子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641080" y="5170067"/>
            <a:ext cx="347472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韦佳玉 → 胡继刚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2920" y="5298577"/>
            <a:ext cx="493776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赞助资源/物料落位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40680" y="5298577"/>
            <a:ext cx="320040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 组 春子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641080" y="5298577"/>
            <a:ext cx="347472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 组 朱俊峰 → 胡继刚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02920" y="5427087"/>
            <a:ext cx="493776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议程脚本/会议记录/复盘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440680" y="5427087"/>
            <a:ext cx="320040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 组 韦佳玉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641080" y="5427087"/>
            <a:ext cx="347472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胡继刚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2920" y="5555597"/>
            <a:ext cx="4937760" cy="128510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无法解决/重大决策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40680" y="5555597"/>
            <a:ext cx="3200400" cy="128510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韦佳玉 → 胡继刚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641080" y="5555597"/>
            <a:ext cx="3474720" cy="128510"/>
          </a:xfrm>
          <a:prstGeom prst="rect">
            <a:avLst/>
          </a:prstGeom>
          <a:solidFill>
            <a:srgbClr val="FFE4E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—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02920" y="5684108"/>
            <a:ext cx="493776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会务公司（舞台/道具/音响）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440680" y="5684108"/>
            <a:ext cx="320040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班尼杨 312（C 陈潇主对接）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641080" y="5684108"/>
            <a:ext cx="347472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 张卓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02920" y="5812618"/>
            <a:ext cx="493776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白天主持人/串场对接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440680" y="5812618"/>
            <a:ext cx="320040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米兰达（吕苗苗）→ 陈潇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641080" y="5812618"/>
            <a:ext cx="347472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韦佳玉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02920" y="5941128"/>
            <a:ext cx="493776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场地/停车/讲台尺寸/胸花尺寸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440680" y="5941128"/>
            <a:ext cx="320040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洋洋得意（一滴水物业）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641080" y="5941128"/>
            <a:ext cx="347472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 朱俊峰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02920" y="6069638"/>
            <a:ext cx="493776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茶歇（盒马）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440680" y="6069638"/>
            <a:ext cx="320040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林爱平（F 朱俊峰拉群）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641080" y="6069638"/>
            <a:ext cx="347472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彭常丽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02920" y="6198149"/>
            <a:ext cx="493776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一滴水灯光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440680" y="6198149"/>
            <a:ext cx="320040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吴伟（E 张卓 21 号下午对接）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641080" y="6198149"/>
            <a:ext cx="347472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随圣博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02920" y="6326659"/>
            <a:ext cx="493776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赞助酒水/饮料（异地发货）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440680" y="6326659"/>
            <a:ext cx="320040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刘总（F 刘严对接）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641080" y="6326659"/>
            <a:ext cx="3474720" cy="128510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春子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02920" y="6455169"/>
            <a:ext cx="493776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 PM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440680" y="6455169"/>
            <a:ext cx="320040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韦佳玉（兼任）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641080" y="6455169"/>
            <a:ext cx="3474720" cy="12851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陈潇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4300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5/13 志愿者讨论会  会议结论 &amp; 待办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548640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会议结论（4 条优化共识）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463040" cy="10789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分工与协作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1874519"/>
            <a:ext cx="3977639" cy="1078992"/>
          </a:xfrm>
          <a:prstGeom prst="rect">
            <a:avLst/>
          </a:prstGeom>
          <a:solidFill>
            <a:srgbClr val="F2F8FD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各组按任务量配人，组长负责内部协调；设机动应急G组跨组顶人；各组建独立沟通群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17520"/>
            <a:ext cx="1463040" cy="10789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流程效率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3017520"/>
            <a:ext cx="3977639" cy="1078992"/>
          </a:xfrm>
          <a:prstGeom prst="rect">
            <a:avLst/>
          </a:prstGeom>
          <a:solidFill>
            <a:srgbClr val="F2F8FD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任务量与 Milestone 提前细化；所有节点提前 1-2 天预留缓冲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160520"/>
            <a:ext cx="1463040" cy="10789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交响乐环节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4160520"/>
            <a:ext cx="3977639" cy="1078992"/>
          </a:xfrm>
          <a:prstGeom prst="rect">
            <a:avLst/>
          </a:prstGeom>
          <a:solidFill>
            <a:srgbClr val="F2F8FD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扩大宣传，发往届视频预热，与嘉宾/观众多互动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303520"/>
            <a:ext cx="1463040" cy="10789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协作机制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5303520"/>
            <a:ext cx="3977639" cy="1078992"/>
          </a:xfrm>
          <a:prstGeom prst="rect">
            <a:avLst/>
          </a:prstGeom>
          <a:solidFill>
            <a:srgbClr val="F2F8FD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活动前组织一次组长见面会，互相熟悉、快速找到对接人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280160"/>
            <a:ext cx="548640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待办（总策划 + 各组组长）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74519"/>
            <a:ext cx="1463040" cy="8412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胡继刚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874519"/>
            <a:ext cx="3977639" cy="841248"/>
          </a:xfrm>
          <a:prstGeom prst="rect">
            <a:avLst/>
          </a:prstGeom>
          <a:solidFill>
            <a:srgbClr val="FFF7EC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形成详细分工表（本表）；私信招募 ①近期有时间者 ②有会务经验者 ③有赞助经验/资源者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788920"/>
            <a:ext cx="1463040" cy="8412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各组长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2788920"/>
            <a:ext cx="3977639" cy="841248"/>
          </a:xfrm>
          <a:prstGeom prst="rect">
            <a:avLst/>
          </a:prstGeom>
          <a:solidFill>
            <a:srgbClr val="FFF7EC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内部完成细化分工；建立独立沟通群；T-7 前提交本组 Milestone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703320"/>
            <a:ext cx="1463040" cy="8412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会议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3703320"/>
            <a:ext cx="3977639" cy="841248"/>
          </a:xfrm>
          <a:prstGeom prst="rect">
            <a:avLst/>
          </a:prstGeom>
          <a:solidFill>
            <a:srgbClr val="FFF7EC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另开 2 次会：① 各组任务进一步细化  ② 线上彩排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617720"/>
            <a:ext cx="1463040" cy="8412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特别行动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4617720"/>
            <a:ext cx="3977639" cy="841248"/>
          </a:xfrm>
          <a:prstGeom prst="rect">
            <a:avLst/>
          </a:prstGeom>
          <a:solidFill>
            <a:srgbClr val="FFF7EC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组长见面会（A+B/C/D/E/F/G 组长 共 8 人）建议 T-10 前完成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5532120"/>
            <a:ext cx="1463040" cy="8412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交响乐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5532120"/>
            <a:ext cx="3977639" cy="841248"/>
          </a:xfrm>
          <a:prstGeom prst="rect">
            <a:avLst/>
          </a:prstGeom>
          <a:solidFill>
            <a:srgbClr val="FFF7EC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 组对接陆家嘴乐团 + D 组准备往届视频预热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4300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04  阶段任务矩阵（一）会前筹备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0392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横向：组别  |  纵向：阶段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46304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阶段 \ 组别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371600"/>
            <a:ext cx="1397725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 统筹协调组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7965" y="1371600"/>
            <a:ext cx="1397725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 嘉宾接待组</a:t>
            </a:r>
          </a:p>
        </p:txBody>
      </p:sp>
      <p:sp>
        <p:nvSpPr>
          <p:cNvPr id="9" name="Rectangle 8"/>
          <p:cNvSpPr/>
          <p:nvPr/>
        </p:nvSpPr>
        <p:spPr>
          <a:xfrm>
            <a:off x="4715691" y="1371600"/>
            <a:ext cx="1397725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会务执行组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13417" y="1371600"/>
            <a:ext cx="1397725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 媒体宣传组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1142" y="1371600"/>
            <a:ext cx="1397725" cy="50292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 技术支持组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08868" y="1371600"/>
            <a:ext cx="1397725" cy="50292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 后勤保障组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06594" y="1371600"/>
            <a:ext cx="1397725" cy="50292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G 应急安全/机动组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74519"/>
            <a:ext cx="1463040" cy="156972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1F4E7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前期筹备
T-7 ~ T-3 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1874519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完成总分工表、议程脚本 V1；确认嘉宾名单与到场状态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7965" y="1874519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逐位嘉宾邀约确认；酒店/接送排期；VIP陪同名单匹配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15691" y="1874519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议程脚本撰写；主持人对接；PPT/资料征集（D-3 截止）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13417" y="1874519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传播节奏排期；直播平台报备；通稿初稿；机位规划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11142" y="1874519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技术清单与场地对接；备用设备清点；网络方案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08868" y="1874519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物料下单印刷；伴手礼采购；交响乐团合同与彩排时间确认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06594" y="1874519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安保方案报场馆/公安备案；医疗合作机构确认；应急脚本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44240"/>
            <a:ext cx="1463040" cy="156972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1F4E7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彩排与到位
T-1 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3444240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全员到岗培训；分工表过堂；对讲机分发；演练 3 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17965" y="3444240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VIP 接送车辆与司机对接；接机/酒店敲定；陪同清单到人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15691" y="3444240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走台彩排：嘉宾上下场动线、圆桌座次、颁奖流程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3417" y="3444240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直播试推流；机位实测；通稿终稿；新媒体素材预制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11142" y="3444240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灯光/音响/PPT 全设备压力测试；备份盘 ×3 同步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08868" y="3444240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物料到场清点；签到包/伴手礼分装；晚宴餐厅最终确认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06594" y="3444240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安保人员到位；消防/医疗通道核查；AED 与最近医院再确认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013960"/>
            <a:ext cx="1463040" cy="156972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1F4E7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现场布置
当日 09:00-13:00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20240" y="5013960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现场指挥部建立；对讲机频道分配；倒计时启动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7965" y="5013960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签到台开台；VIP 陪同上岗；接送车辆首批到位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15691" y="5013960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主持人最终对脚本；PPT 顺序加载主机；计时器/举牌就位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13417" y="5013960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机位/直播信号联调；签到合影区开放；记者签到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11142" y="5013960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麦克风电池满电；灯光/音响走光走声；备用机待机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08868" y="5013960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茶歇/水台铺设；伴手礼上签到台；交响乐团到场化妆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06594" y="5013960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入场安检上岗；通道清空；急救点位明示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4300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04  阶段任务矩阵（二）当日执行 + 收尾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0392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横向：组别  |  纵向：阶段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46304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阶段 \ 组别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371600"/>
            <a:ext cx="1397725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 统筹协调组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7965" y="1371600"/>
            <a:ext cx="1397725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 嘉宾接待组</a:t>
            </a:r>
          </a:p>
        </p:txBody>
      </p:sp>
      <p:sp>
        <p:nvSpPr>
          <p:cNvPr id="9" name="Rectangle 8"/>
          <p:cNvSpPr/>
          <p:nvPr/>
        </p:nvSpPr>
        <p:spPr>
          <a:xfrm>
            <a:off x="4715691" y="1371600"/>
            <a:ext cx="1397725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会务执行组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13417" y="1371600"/>
            <a:ext cx="1397725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 媒体宣传组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1142" y="1371600"/>
            <a:ext cx="1397725" cy="50292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 技术支持组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08868" y="1371600"/>
            <a:ext cx="1397725" cy="50292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 后勤保障组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06594" y="1371600"/>
            <a:ext cx="1397725" cy="50292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G 应急安全/机动组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74519"/>
            <a:ext cx="1463040" cy="156972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1F4E7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会议执行
13:00-18:30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1874519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按议程时间轴现场指挥；超时/临时调整即时决策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7965" y="1874519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嘉宾签到→引导→休息室→上台→落座 全程陪同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15691" y="1874519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13:30 起按议程逐项推动；每环节剩 5/3/1 min 举牌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13417" y="1874519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全程拍摄/直播；金句卡同步发布；记者采访区调度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11142" y="1874519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PPT/麦克风按节目无缝切换；任何故障 30 秒内备用顶上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08868" y="1874519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16:35 演讲间隙撤茶歇/补水；颁奖物料 18:00 前到台口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06594" y="1874519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全场巡视；舞台/通道安全；任何医疗事件 60 秒到达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44240"/>
            <a:ext cx="1463040" cy="156972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1F4E7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晚宴衔接
18:30-20:30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3444240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晚宴节奏控制；颁奖嘉宾合影；与主办方收尾交接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17965" y="3444240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晚宴桌次引导；VIP敬酒/对接需求记录；离场用车安排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15691" y="3444240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晚宴司仪过场词；致辞与敬酒环节衔接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3417" y="3444240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晚宴花絮拍摄；嘉宾访谈追拍；当晚发布短视频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11142" y="3444240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晚宴音响、背景音乐、追光；麦克风敬酒位 ×2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08868" y="3444240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餐饮/酒水节奏；席位卡核对；伴手礼离场二次确认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06594" y="3444240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晚宴入口二次核验；车队调度；离场分流防拥堵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013960"/>
            <a:ext cx="1463040" cy="156972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1F4E7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收尾撤场
20:30 之后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20240" y="5013960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全员复盘 30min；问题清单与改进项归档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7965" y="5013960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嘉宾送返；当晚致谢短信/微信；伴手礼遗漏补寄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15691" y="5013960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舞台/物料归还；脚本与签到表归档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13417" y="5013960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通稿次日 10:00 前发布；视频 48h 内剪辑；媒体追投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11142" y="5013960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设备清点归还；故障记录归档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08868" y="5013960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场地交还；剩余物料盘点；账单核对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06594" y="5013960"/>
            <a:ext cx="1397725" cy="1569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撤场安全确认；车队收尾；遗失物登记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4300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05  议程时间轴 × 责任组 × 关键动作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37160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时间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4519" y="1371600"/>
            <a:ext cx="393192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议程节点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806440" y="1371600"/>
            <a:ext cx="128016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主责组</a:t>
            </a:r>
          </a:p>
        </p:txBody>
      </p:sp>
      <p:sp>
        <p:nvSpPr>
          <p:cNvPr id="8" name="Rectangle 7"/>
          <p:cNvSpPr/>
          <p:nvPr/>
        </p:nvSpPr>
        <p:spPr>
          <a:xfrm>
            <a:off x="7086600" y="1371600"/>
            <a:ext cx="502920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关键动作 / 物料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1371600" cy="3692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13:00-13:30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19" y="1874519"/>
            <a:ext cx="3931920" cy="3692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嘉宾签到与入场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440" y="1874519"/>
            <a:ext cx="1280160" cy="3692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C/B/D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1874519"/>
            <a:ext cx="5029200" cy="3692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签到处、引导动线、媒体合影区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3796"/>
            <a:ext cx="1371600" cy="369276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13:30-13:35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4519" y="2243796"/>
            <a:ext cx="3931920" cy="369276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开幕致辞（姚志勇）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2243796"/>
            <a:ext cx="1280160" cy="369276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2243796"/>
            <a:ext cx="5029200" cy="369276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舞台、主持、上下场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613073"/>
            <a:ext cx="1371600" cy="3692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13:35-14:00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19" y="2613073"/>
            <a:ext cx="3931920" cy="3692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主旨演讲1·白硕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06440" y="2613073"/>
            <a:ext cx="1280160" cy="3692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C/E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2613073"/>
            <a:ext cx="5029200" cy="3692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PPT、麦克风、计时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982350"/>
            <a:ext cx="1371600" cy="369276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14:00-14:25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74519" y="2982350"/>
            <a:ext cx="3931920" cy="369276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主旨演讲2·夏春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06440" y="2982350"/>
            <a:ext cx="1280160" cy="369276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C/E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86600" y="2982350"/>
            <a:ext cx="5029200" cy="369276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PPT、麦克风、计时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351627"/>
            <a:ext cx="1371600" cy="3692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14:25-15:05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74519" y="3351627"/>
            <a:ext cx="3931920" cy="3692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圆桌一·AI硬核（王珏主持4嘉宾）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06440" y="3351627"/>
            <a:ext cx="1280160" cy="3692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C/E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86600" y="3351627"/>
            <a:ext cx="5029200" cy="3692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圆桌座次、麦克风、计时、互动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720904"/>
            <a:ext cx="1371600" cy="369276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15:05-15:45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74519" y="3720904"/>
            <a:ext cx="3931920" cy="369276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巅峰对话·云生态（胡继刚主持3嘉宾）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06440" y="3720904"/>
            <a:ext cx="1280160" cy="369276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C/E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600" y="3720904"/>
            <a:ext cx="5029200" cy="369276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圆桌座次、麦克风、计时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090181"/>
            <a:ext cx="1371600" cy="3692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15:45-16:35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74519" y="4090181"/>
            <a:ext cx="3931920" cy="3692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陆家嘴交响乐团·时光音乐会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06440" y="4090181"/>
            <a:ext cx="1280160" cy="3692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C/F/D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86600" y="4090181"/>
            <a:ext cx="5029200" cy="3692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乐团对接、灯光、社交茶歇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459458"/>
            <a:ext cx="1371600" cy="369276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16:35-16:55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74519" y="4459458"/>
            <a:ext cx="3931920" cy="369276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主旨演讲3·王维军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06440" y="4459458"/>
            <a:ext cx="1280160" cy="369276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C/E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86600" y="4459458"/>
            <a:ext cx="5029200" cy="369276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PPT、麦克风、计时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828735"/>
            <a:ext cx="1371600" cy="3692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16:55-17:15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74519" y="4828735"/>
            <a:ext cx="3931920" cy="3692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主旨演讲4·寇文红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06440" y="4828735"/>
            <a:ext cx="1280160" cy="3692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C/E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86600" y="4828735"/>
            <a:ext cx="5029200" cy="3692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PPT、麦克风、计时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198012"/>
            <a:ext cx="1371600" cy="369276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17:15-17:35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74519" y="5198012"/>
            <a:ext cx="3931920" cy="369276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主旨演讲5·张露瑶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06440" y="5198012"/>
            <a:ext cx="1280160" cy="369276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C/E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86600" y="5198012"/>
            <a:ext cx="5029200" cy="369276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PPT、麦克风、计时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5567289"/>
            <a:ext cx="1371600" cy="3692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17:35-18:15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74519" y="5567289"/>
            <a:ext cx="3931920" cy="3692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圆桌二·投资（黄欣主持4嘉宾）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06440" y="5567289"/>
            <a:ext cx="1280160" cy="3692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C/E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86600" y="5567289"/>
            <a:ext cx="5029200" cy="3692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圆桌座次、麦克风、计时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5936566"/>
            <a:ext cx="1371600" cy="369276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18:15-18:30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74519" y="5936566"/>
            <a:ext cx="3931920" cy="369276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颁奖典礼暨闭幕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06440" y="5936566"/>
            <a:ext cx="1280160" cy="369276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C/F/D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86600" y="5936566"/>
            <a:ext cx="5029200" cy="369276"/>
          </a:xfrm>
          <a:prstGeom prst="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奖杯、颁奖嘉宾引导、合影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6305843"/>
            <a:ext cx="1371600" cy="3692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18:30-20:30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74519" y="6305843"/>
            <a:ext cx="3931920" cy="3692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VIP高端闭门晚宴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06440" y="6305843"/>
            <a:ext cx="1280160" cy="3692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B/F/G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86600" y="6305843"/>
            <a:ext cx="5029200" cy="3692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席位、餐饮、对接、安保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4300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06  应急预案（一）嘉宾 / 技术 / 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18872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类别</a:t>
            </a:r>
          </a:p>
        </p:txBody>
      </p:sp>
      <p:sp>
        <p:nvSpPr>
          <p:cNvPr id="6" name="Rectangle 5"/>
          <p:cNvSpPr/>
          <p:nvPr/>
        </p:nvSpPr>
        <p:spPr>
          <a:xfrm>
            <a:off x="1691640" y="1371600"/>
            <a:ext cx="237744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风险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80" y="1371600"/>
            <a:ext cx="64008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概率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371600"/>
            <a:ext cx="64008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影响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9240" y="1371600"/>
            <a:ext cx="118872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责任组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371600"/>
            <a:ext cx="557784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处置预案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74519"/>
            <a:ext cx="118872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嘉宾相关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1640" y="1874519"/>
            <a:ext cx="237744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演讲嘉宾迟到（白硕/夏春等）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1874519"/>
            <a:ext cx="64008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1874519"/>
            <a:ext cx="64008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1874519"/>
            <a:ext cx="118872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A+B+C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1874519"/>
            <a:ext cx="557784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B组实时位置追踪；C组备好节目顺序调换方案（先放夏春/王维军等已到场嘉宾）；A组决策；提前通知主持人衔接口径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463164"/>
            <a:ext cx="118872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嘉宾相关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40" y="2463164"/>
            <a:ext cx="237744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嘉宾临时缺席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9080" y="2463164"/>
            <a:ext cx="64008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463164"/>
            <a:ext cx="64008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2463164"/>
            <a:ext cx="118872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A+C+D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2463164"/>
            <a:ext cx="557784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C组立即调整脚本，由主持人简述背景并播放主题短片；D组同步删除现场介绍物料；A组同步主办方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051810"/>
            <a:ext cx="118872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嘉宾相关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91640" y="3051810"/>
            <a:ext cx="237744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圆桌嘉宾超时发言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69080" y="3051810"/>
            <a:ext cx="64008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60" y="3051810"/>
            <a:ext cx="64008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49240" y="3051810"/>
            <a:ext cx="118872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3051810"/>
            <a:ext cx="557784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举牌 5/3/1min；主持人提前对话术：'最后一分钟请收口'；超 2min 主持人直接打断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640455"/>
            <a:ext cx="118872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技术故障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91640" y="3640455"/>
            <a:ext cx="237744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麦克风没声/啸叫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69080" y="3640455"/>
            <a:ext cx="64008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3640455"/>
            <a:ext cx="64008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49240" y="3640455"/>
            <a:ext cx="118872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3640455"/>
            <a:ext cx="557784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备用麦 30 秒内顶上；调音师切换通道；E组每个演讲前 2min 试音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229100"/>
            <a:ext cx="118872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技术故障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91640" y="4229100"/>
            <a:ext cx="237744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PPT 黑屏/翻页器失灵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69080" y="4229100"/>
            <a:ext cx="64008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09160" y="4229100"/>
            <a:ext cx="64008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49240" y="4229100"/>
            <a:ext cx="118872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E+C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37960" y="4229100"/>
            <a:ext cx="557784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备用电脑预加载所有 PPT；现场技术员守机手动翻页；嘉宾电脑+大会电脑双路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817745"/>
            <a:ext cx="118872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技术故障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91640" y="4817745"/>
            <a:ext cx="237744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直播断流/网络中断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69080" y="4817745"/>
            <a:ext cx="64008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09160" y="4817745"/>
            <a:ext cx="64008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中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49240" y="4817745"/>
            <a:ext cx="118872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E+D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37960" y="4817745"/>
            <a:ext cx="557784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主有线+4G 双链路自动切换；D组提前在直播间挂'信号修复中'；本地录播继续不停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5406390"/>
            <a:ext cx="118872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流程相关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91640" y="5406390"/>
            <a:ext cx="237744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议程整体超时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69080" y="5406390"/>
            <a:ext cx="64008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09160" y="5406390"/>
            <a:ext cx="64008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49240" y="5406390"/>
            <a:ext cx="118872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A+C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37960" y="5406390"/>
            <a:ext cx="5577840" cy="588645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音乐会前压缩茶歇/合影时间；圆桌剩 5min 时主持人直接收口；颁奖环节预留 5min 缓冲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5995035"/>
            <a:ext cx="118872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流程相关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691640" y="5995035"/>
            <a:ext cx="237744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交响乐团延误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69080" y="5995035"/>
            <a:ext cx="64008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低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09160" y="5995035"/>
            <a:ext cx="64008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高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49240" y="5995035"/>
            <a:ext cx="118872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F+C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37960" y="5995035"/>
            <a:ext cx="5577840" cy="588645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F组与团长保持热线；C组备用预案：将主旨3提前；提前 60min 确认到场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4300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06  应急预案（二）安全 / 舆情 / 后勤 / 晚宴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18872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类别</a:t>
            </a:r>
          </a:p>
        </p:txBody>
      </p:sp>
      <p:sp>
        <p:nvSpPr>
          <p:cNvPr id="6" name="Rectangle 5"/>
          <p:cNvSpPr/>
          <p:nvPr/>
        </p:nvSpPr>
        <p:spPr>
          <a:xfrm>
            <a:off x="1691640" y="1371600"/>
            <a:ext cx="237744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风险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80" y="1371600"/>
            <a:ext cx="64008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概率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371600"/>
            <a:ext cx="64008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影响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9240" y="1371600"/>
            <a:ext cx="118872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责任组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371600"/>
            <a:ext cx="557784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处置预案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74519"/>
            <a:ext cx="1188720" cy="672737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人员/安全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1640" y="1874519"/>
            <a:ext cx="2377440" cy="672737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嘉宾或观众突发身体不适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1874519"/>
            <a:ext cx="640080" cy="672737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1874519"/>
            <a:ext cx="640080" cy="672737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1874519"/>
            <a:ext cx="1188720" cy="672737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1874519"/>
            <a:ext cx="5577840" cy="672737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AED 与急救包就位；急救志愿者 60秒到达；车辆待命；最近医院路线已存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547257"/>
            <a:ext cx="1188720" cy="672737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人员/安全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40" y="2547257"/>
            <a:ext cx="2377440" cy="672737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闲杂人员闯入/媒体冲突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9080" y="2547257"/>
            <a:ext cx="640080" cy="672737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547257"/>
            <a:ext cx="640080" cy="672737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2547257"/>
            <a:ext cx="1188720" cy="672737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G+D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2547257"/>
            <a:ext cx="5577840" cy="672737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G组安保拦截；D组带记者至采访区；A组授权对外口径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219994"/>
            <a:ext cx="1188720" cy="672737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舆情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91640" y="3219994"/>
            <a:ext cx="2377440" cy="672737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嘉宾发表不当言论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69080" y="3219994"/>
            <a:ext cx="640080" cy="672737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60" y="3219994"/>
            <a:ext cx="640080" cy="672737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49240" y="3219994"/>
            <a:ext cx="1188720" cy="672737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A+D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3219994"/>
            <a:ext cx="5577840" cy="672737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D组直播切换备用画面；A组+主办方拟统一回应口径；事后稿件删改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892731"/>
            <a:ext cx="1188720" cy="672737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后勤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91640" y="3892731"/>
            <a:ext cx="2377440" cy="672737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餐饮/茶歇供应不足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69080" y="3892731"/>
            <a:ext cx="640080" cy="672737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3892731"/>
            <a:ext cx="640080" cy="672737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49240" y="3892731"/>
            <a:ext cx="1188720" cy="672737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3892731"/>
            <a:ext cx="5577840" cy="672737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茶歇按 1.2 倍备货；与餐厅签备货补货协议；F组实时巡看补给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565468"/>
            <a:ext cx="1188720" cy="672737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后勤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91640" y="4565468"/>
            <a:ext cx="2377440" cy="672737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伴手礼/物料缺漏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69080" y="4565468"/>
            <a:ext cx="640080" cy="672737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09160" y="4565468"/>
            <a:ext cx="640080" cy="672737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低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49240" y="4565468"/>
            <a:ext cx="1188720" cy="672737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F+B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37960" y="4565468"/>
            <a:ext cx="5577840" cy="672737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签到台清单核对；缺漏当晚以快递/次日补寄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238205"/>
            <a:ext cx="1188720" cy="672737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天气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91640" y="5238205"/>
            <a:ext cx="2377440" cy="672737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大雨影响嘉宾到场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69080" y="5238205"/>
            <a:ext cx="640080" cy="672737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09160" y="5238205"/>
            <a:ext cx="640080" cy="672737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中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49240" y="5238205"/>
            <a:ext cx="1188720" cy="672737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B+F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37960" y="5238205"/>
            <a:ext cx="5577840" cy="672737"/>
          </a:xfrm>
          <a:prstGeom prst="rect">
            <a:avLst/>
          </a:prstGeom>
          <a:solidFill>
            <a:srgbClr val="FFF7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门口加雨棚/雨伞；F组备伞 100 把；B组车辆点对点接驳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5910942"/>
            <a:ext cx="1188720" cy="672737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91640" y="5910942"/>
            <a:ext cx="2377440" cy="672737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晚宴敬酒/座次冲突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69080" y="5910942"/>
            <a:ext cx="640080" cy="672737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中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09160" y="5910942"/>
            <a:ext cx="640080" cy="672737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中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49240" y="5910942"/>
            <a:ext cx="1188720" cy="672737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B+F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37960" y="5910942"/>
            <a:ext cx="5577840" cy="672737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席位卡核对到人；B组掌握 VIP 偏好；F组备用座位 2 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4300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07  物资清单 与 对讲机频道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822960" cy="41148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类别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1280160"/>
            <a:ext cx="2377440" cy="41148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物品</a:t>
            </a:r>
          </a:p>
        </p:txBody>
      </p:sp>
      <p:sp>
        <p:nvSpPr>
          <p:cNvPr id="7" name="Rectangle 6"/>
          <p:cNvSpPr/>
          <p:nvPr/>
        </p:nvSpPr>
        <p:spPr>
          <a:xfrm>
            <a:off x="3703320" y="1280160"/>
            <a:ext cx="1920240" cy="41148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数量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5623560" y="1280160"/>
            <a:ext cx="1005840" cy="41148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负责组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1280160"/>
            <a:ext cx="1463040" cy="41148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到位时间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91639"/>
            <a:ext cx="8229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会务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5880" y="1691639"/>
            <a:ext cx="23774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议程手册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691639"/>
            <a:ext cx="19202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800 份（按 500 准备，预留 300）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60" y="1691639"/>
            <a:ext cx="10058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1691639"/>
            <a:ext cx="14630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T-5 印刷完成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984248"/>
            <a:ext cx="82296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会务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25880" y="1984248"/>
            <a:ext cx="23774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席卡（前 4 排 + 圆桌嘉宾）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03320" y="1984248"/>
            <a:ext cx="19202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前 4 排 = 约 80 张 + 圆桌 12 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3560" y="1984248"/>
            <a:ext cx="10058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F+B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0" y="1984248"/>
            <a:ext cx="14630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T-2 完成（按最终名单）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276856"/>
            <a:ext cx="8229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会务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5880" y="2276856"/>
            <a:ext cx="23774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嘉宾胸卡（仅工作人员+演讲嘉宾）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03320" y="2276856"/>
            <a:ext cx="19202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约 50 张（500人不发，去年经验）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276856"/>
            <a:ext cx="10058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29400" y="2276856"/>
            <a:ext cx="14630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569463"/>
            <a:ext cx="82296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会务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25880" y="2569463"/>
            <a:ext cx="23774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入场标识 4 种手环 / 贴纸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2569463"/>
            <a:ext cx="19202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下午嘉宾 + 下午工作人员 + 晚宴嘉宾 + 晚宴工作人员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23560" y="2569463"/>
            <a:ext cx="10058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0" y="2569463"/>
            <a:ext cx="14630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T-2 找会务公司班尼杨制作（替代 500 人胸牌方案）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862072"/>
            <a:ext cx="8229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会务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25880" y="2862072"/>
            <a:ext cx="23774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志愿者胸牌（5/18 修正：不写名字）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03320" y="2862072"/>
            <a:ext cx="19202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27 张'志愿者'字样；单一颜色与工作牌区分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23560" y="2862072"/>
            <a:ext cx="10058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29400" y="2862072"/>
            <a:ext cx="14630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★5/18 决议：志愿者不需要名单，统一'志愿者'字样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154680"/>
            <a:ext cx="82296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会务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25880" y="3154680"/>
            <a:ext cx="23774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二维码核销单（打印 6-8 份）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03320" y="3154680"/>
            <a:ext cx="19202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不做立牌（5/18 节省成本）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23560" y="3154680"/>
            <a:ext cx="10058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29400" y="3154680"/>
            <a:ext cx="14630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T-2 打印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3447287"/>
            <a:ext cx="8229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会务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25880" y="3447287"/>
            <a:ext cx="23774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横幅/KT 板/引导牌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03320" y="3447287"/>
            <a:ext cx="19202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由佳玉拉第三方+洋洋得意定制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23560" y="3447287"/>
            <a:ext cx="10058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F+佳玉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29400" y="3447287"/>
            <a:ext cx="14630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T-2（24h 起订）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3739896"/>
            <a:ext cx="82296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会务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25880" y="3739896"/>
            <a:ext cx="23774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桌牌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03320" y="3739896"/>
            <a:ext cx="19202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不一定做（5/16 决议）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23560" y="3739896"/>
            <a:ext cx="10058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29400" y="3739896"/>
            <a:ext cx="14630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4032504"/>
            <a:ext cx="8229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会务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25880" y="4032504"/>
            <a:ext cx="23774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主讲台胸花（真花）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03320" y="4032504"/>
            <a:ext cx="19202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 束 + 主讲嘉宾各 1（去年买重了）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23560" y="4032504"/>
            <a:ext cx="10058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F+王胜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29400" y="4032504"/>
            <a:ext cx="14630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T-1（按讲台尺寸定）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4325112"/>
            <a:ext cx="82296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会务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25880" y="4325112"/>
            <a:ext cx="23774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讲台花（真花，按尺寸匹配）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03320" y="4325112"/>
            <a:ext cx="19202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 个（去年痛点：尺寸不对）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23560" y="4325112"/>
            <a:ext cx="10058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F+洋洋得意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29400" y="4325112"/>
            <a:ext cx="14630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4617720"/>
            <a:ext cx="8229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技术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25880" y="4617720"/>
            <a:ext cx="23774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手持麦 ×6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703320" y="4617720"/>
            <a:ext cx="19202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会务公司+一滴水提供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23560" y="4617720"/>
            <a:ext cx="10058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E+班尼杨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29400" y="4617720"/>
            <a:ext cx="14630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T-1 充电+T-0 试音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" y="4910328"/>
            <a:ext cx="82296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技术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325880" y="4910328"/>
            <a:ext cx="23774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领夹麦 ×6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703320" y="4910328"/>
            <a:ext cx="19202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可能没有则用手持替代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23560" y="4910328"/>
            <a:ext cx="10058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E+班尼杨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29400" y="4910328"/>
            <a:ext cx="14630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T-1 确认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5202936"/>
            <a:ext cx="8229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技术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325880" y="5202936"/>
            <a:ext cx="23774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电脑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703320" y="5202936"/>
            <a:ext cx="19202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会务公司 3-4 台 + 张卓自带备份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23560" y="5202936"/>
            <a:ext cx="10058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29400" y="5202936"/>
            <a:ext cx="14630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T-1 跟班尼杨确认到底谁带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2920" y="5495544"/>
            <a:ext cx="82296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技术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325880" y="5495544"/>
            <a:ext cx="23774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翻页器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703320" y="5495544"/>
            <a:ext cx="19202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会务公司带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23560" y="5495544"/>
            <a:ext cx="10058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E+班尼杨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629400" y="5495544"/>
            <a:ext cx="14630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2920" y="5788152"/>
            <a:ext cx="8229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技术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325880" y="5788152"/>
            <a:ext cx="23774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对讲机 10 台（5/18 确认：会务公司提供）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703320" y="5788152"/>
            <a:ext cx="19202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10 台（每组组长 1 台+C/E/G 多 1 台+机动）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23560" y="5788152"/>
            <a:ext cx="10058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A+E+班尼杨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629400" y="5788152"/>
            <a:ext cx="14630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T-0 当天送达（去年清单上无对讲机，今年新增）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02920" y="6080759"/>
            <a:ext cx="82296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技术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325880" y="6080759"/>
            <a:ext cx="23774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备用无线话筒 ×2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703320" y="6080759"/>
            <a:ext cx="19202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去年 4 台基础上 +2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623560" y="6080759"/>
            <a:ext cx="10058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E+班尼杨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629400" y="6080759"/>
            <a:ext cx="14630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T-0 当天送达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2920" y="6373368"/>
            <a:ext cx="8229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技术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325880" y="6373368"/>
            <a:ext cx="23774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舞台 / 灯光（一滴水）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703320" y="6373368"/>
            <a:ext cx="19202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一滴水重新搭建，吴伟调试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623560" y="6373368"/>
            <a:ext cx="10058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E 张卓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629400" y="6373368"/>
            <a:ext cx="14630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T-1 下午到场确认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02920" y="6665976"/>
            <a:ext cx="82296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技术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325880" y="6665976"/>
            <a:ext cx="23774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陈潇张江工厂设备（补充）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703320" y="6665976"/>
            <a:ext cx="19202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灯光/音响（视一滴水是否够）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623560" y="6665976"/>
            <a:ext cx="10058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C+E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629400" y="6665976"/>
            <a:ext cx="14630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按需调用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2920" y="6958583"/>
            <a:ext cx="8229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媒体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325880" y="6958583"/>
            <a:ext cx="23774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摄影/摄像机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703320" y="6958583"/>
            <a:ext cx="19202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主机 ×2 + 游机 ×2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623560" y="6958583"/>
            <a:ext cx="10058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629400" y="6958583"/>
            <a:ext cx="14630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当日 11:00 调试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02920" y="7251192"/>
            <a:ext cx="82296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媒体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325880" y="7251192"/>
            <a:ext cx="23774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直播确认（待定）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703320" y="7251192"/>
            <a:ext cx="19202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5/16 决议：大概率不直播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623560" y="7251192"/>
            <a:ext cx="10058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D+葛九明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629400" y="7251192"/>
            <a:ext cx="14630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T-3 最终确认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02920" y="7543800"/>
            <a:ext cx="8229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媒体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325880" y="7543800"/>
            <a:ext cx="23774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图文/文字传播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703320" y="7543800"/>
            <a:ext cx="19202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现场金句卡 + 朋友圈/小红书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623560" y="7543800"/>
            <a:ext cx="10058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 蒋珊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629400" y="7543800"/>
            <a:ext cx="14630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T-0 实时发布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02920" y="7836408"/>
            <a:ext cx="82296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媒体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325880" y="7836408"/>
            <a:ext cx="23774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地铁→场地快进短视频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703320" y="7836408"/>
            <a:ext cx="19202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 段 60 秒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623560" y="7836408"/>
            <a:ext cx="10058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D+F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629400" y="7836408"/>
            <a:ext cx="14630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T-5 拍摄、T-3 群发嘉宾群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02920" y="8129016"/>
            <a:ext cx="8229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媒体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325880" y="8129016"/>
            <a:ext cx="23774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交响乐往届预热视频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703320" y="8129016"/>
            <a:ext cx="19202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5-7 段短视频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623560" y="8129016"/>
            <a:ext cx="10058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D 皮尔德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629400" y="8129016"/>
            <a:ext cx="14630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T-7 起视频号每日 1 条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02920" y="8421624"/>
            <a:ext cx="82296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后勤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325880" y="8421624"/>
            <a:ext cx="23774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茶歇（盒马·林爱平）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703320" y="8421624"/>
            <a:ext cx="19202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500 人量（音乐会期间用）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623560" y="8421624"/>
            <a:ext cx="10058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F+林爱平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629400" y="8421624"/>
            <a:ext cx="14630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T-7 拉群打招呼+T-1 确认+T-0 送达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02920" y="8714232"/>
            <a:ext cx="8229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后勤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325880" y="8714232"/>
            <a:ext cx="23774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茶歇位置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703320" y="8714232"/>
            <a:ext cx="19202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放门口（远离会场，解决去年噪音）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623560" y="8714232"/>
            <a:ext cx="10058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F+洋洋得意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629400" y="8714232"/>
            <a:ext cx="14630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T-0 布置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02920" y="9006840"/>
            <a:ext cx="82296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后勤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325880" y="9006840"/>
            <a:ext cx="23774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伴手礼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703320" y="9006840"/>
            <a:ext cx="19202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300+ 份，按赞助比例分配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623560" y="9006840"/>
            <a:ext cx="10058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629400" y="9006840"/>
            <a:ext cx="14630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T-1 头一天到+统一分装到袋（耗时 1-2h）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02920" y="9299448"/>
            <a:ext cx="8229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后勤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325880" y="9299448"/>
            <a:ext cx="23774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晚宴喜卡/菜单/酒水/桌花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703320" y="9299448"/>
            <a:ext cx="19202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晚宴在一楼大厅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623560" y="9299448"/>
            <a:ext cx="10058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F+韦佳玉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629400" y="9299448"/>
            <a:ext cx="14630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T-1 准备+T-0 摆放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02920" y="9592056"/>
            <a:ext cx="82296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后勤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325880" y="9592056"/>
            <a:ext cx="23774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 LED 大屏 PPT 模板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703320" y="9592056"/>
            <a:ext cx="19202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曲面长屏特殊尺寸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623560" y="9592056"/>
            <a:ext cx="10058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C+陈潇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629400" y="9592056"/>
            <a:ext cx="14630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T-3 找会务公司班尼杨做模板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502920" y="9884664"/>
            <a:ext cx="8229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后勤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325880" y="9884664"/>
            <a:ext cx="23774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赞助物料（腾讯/华为/蔚来）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703320" y="9884664"/>
            <a:ext cx="19202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按合同清单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623560" y="9884664"/>
            <a:ext cx="10058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 刘严+春子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629400" y="9884664"/>
            <a:ext cx="14630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T-4 与品牌方对接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02920" y="10177272"/>
            <a:ext cx="82296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后勤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325880" y="10177272"/>
            <a:ext cx="23774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刘总赞助酒水/饮料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703320" y="10177272"/>
            <a:ext cx="19202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异地发货（物流 2-3 天）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5623560" y="10177272"/>
            <a:ext cx="10058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 刘严+刘总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629400" y="10177272"/>
            <a:ext cx="14630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T-5 前发货，收件人胡继刚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02920" y="10469880"/>
            <a:ext cx="8229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后勤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325880" y="10469880"/>
            <a:ext cx="23774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志愿者午餐+证书+纪念品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3703320" y="10469880"/>
            <a:ext cx="19202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27 套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623560" y="10469880"/>
            <a:ext cx="10058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A+F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629400" y="10469880"/>
            <a:ext cx="14630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T-1 分装+当日 12:00 发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02920" y="10762488"/>
            <a:ext cx="82296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后勤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325880" y="10762488"/>
            <a:ext cx="23774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晚宴抽奖奖品（一/二/三等奖）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703320" y="10762488"/>
            <a:ext cx="19202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5/16 新增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5623560" y="10762488"/>
            <a:ext cx="10058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韦佳玉+赞助方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629400" y="10762488"/>
            <a:ext cx="14630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T-3 与赞助商确认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02920" y="11055096"/>
            <a:ext cx="8229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应急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325880" y="11055096"/>
            <a:ext cx="23774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急救包/AED 标识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3703320" y="11055096"/>
            <a:ext cx="19202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2 套 / 全场 3 处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623560" y="11055096"/>
            <a:ext cx="10058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G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629400" y="11055096"/>
            <a:ext cx="14630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当日 09:00 就位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502920" y="11347704"/>
            <a:ext cx="82296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应急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1325880" y="11347704"/>
            <a:ext cx="23774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急救主岗（蔡萍持证）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703320" y="11347704"/>
            <a:ext cx="19202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 名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5623560" y="11347704"/>
            <a:ext cx="10058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G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629400" y="11347704"/>
            <a:ext cx="14630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全程在 G 组指挥点待命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502920" y="11640312"/>
            <a:ext cx="8229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应急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325880" y="11640312"/>
            <a:ext cx="23774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应急联络卡（含对接清单）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3703320" y="11640312"/>
            <a:ext cx="19202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全员人手 1 张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5623560" y="11640312"/>
            <a:ext cx="10058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A+G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629400" y="11640312"/>
            <a:ext cx="14630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T-3 发放（张卓建议）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502920" y="11932920"/>
            <a:ext cx="82296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应急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1325880" y="11932920"/>
            <a:ext cx="23774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舞台周边安全岗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3703320" y="11932920"/>
            <a:ext cx="19202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舞台两边各 1 + 机动 2 / 半小时轮换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5623560" y="11932920"/>
            <a:ext cx="10058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G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6629400" y="11932920"/>
            <a:ext cx="14630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全场（5/16 刘严方案）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502920" y="12225528"/>
            <a:ext cx="8229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应急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325880" y="12225528"/>
            <a:ext cx="23774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备用雨伞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3703320" y="12225528"/>
            <a:ext cx="19202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100 把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5623560" y="12225528"/>
            <a:ext cx="10058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6629400" y="12225528"/>
            <a:ext cx="14630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视天气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502920" y="12518136"/>
            <a:ext cx="82296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通知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1325880" y="12518136"/>
            <a:ext cx="23774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T-2 嘉宾点对点提醒短信/微信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3703320" y="12518136"/>
            <a:ext cx="19202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全部嘉宾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5623560" y="12518136"/>
            <a:ext cx="10058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B+春子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6629400" y="12518136"/>
            <a:ext cx="14630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T-2 18:00 前完成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502920" y="12810744"/>
            <a:ext cx="8229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通知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325880" y="12810744"/>
            <a:ext cx="23774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嘉宾名单 3 类（演讲/晚宴/总）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3703320" y="12810744"/>
            <a:ext cx="19202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三表分管，到活动前可能调整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5623560" y="12810744"/>
            <a:ext cx="10058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春子+B+F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6629400" y="12810744"/>
            <a:ext cx="14630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T-7 V1+T-1 锁定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502920" y="13103352"/>
            <a:ext cx="82296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通知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1325880" y="13103352"/>
            <a:ext cx="23774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前两排观众+发奖人提前通知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3703320" y="13103352"/>
            <a:ext cx="19202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5/16 陈潇方案 + 5/18 吕志翔主导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5623560" y="13103352"/>
            <a:ext cx="10058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吕志翔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6629400" y="13103352"/>
            <a:ext cx="14630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T-3 文档化发到群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502920" y="13395960"/>
            <a:ext cx="8229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通知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1325880" y="13395960"/>
            <a:ext cx="23774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PPT 模板 5 份（带 B/A 厅尺寸）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3703320" y="13395960"/>
            <a:ext cx="19202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空白模板带尺寸 → 嘉宾按模板做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5623560" y="13395960"/>
            <a:ext cx="10058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陈潇+黄璐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6629400" y="13395960"/>
            <a:ext cx="14630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T-3 发给 5-6 位主旨嘉宾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502920" y="13688568"/>
            <a:ext cx="82296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场地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1325880" y="13688568"/>
            <a:ext cx="23774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B 厅 2 块主屏（主旨演讲）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3703320" y="13688568"/>
            <a:ext cx="19202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尺寸已群发；两屏中间有门隔开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5623560" y="13688568"/>
            <a:ext cx="10058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C+E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6629400" y="13688568"/>
            <a:ext cx="14630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5/18 已发到 26 人群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502920" y="13981176"/>
            <a:ext cx="8229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场地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325880" y="13981176"/>
            <a:ext cx="23774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A 厅 L 型曲面屏（晚宴）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3703320" y="13981176"/>
            <a:ext cx="19202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约 20m × 2m 长曲面屏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5623560" y="13981176"/>
            <a:ext cx="10058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F+韦佳玉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6629400" y="13981176"/>
            <a:ext cx="14630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会务公司班尼杨做 2-3 页 PPT 模板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502920" y="14273784"/>
            <a:ext cx="82296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场地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1325880" y="14273784"/>
            <a:ext cx="23774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3 楼场地（今年不动）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3703320" y="14273784"/>
            <a:ext cx="19202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去年用 3 楼今年不动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5623560" y="14273784"/>
            <a:ext cx="10058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—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6629400" y="14273784"/>
            <a:ext cx="14630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已知信息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502920" y="14566392"/>
            <a:ext cx="8229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财务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1325880" y="14566392"/>
            <a:ext cx="23774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发票需求：餐饮+会务物料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3703320" y="14566392"/>
            <a:ext cx="19202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全部要发票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5623560" y="14566392"/>
            <a:ext cx="10058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6629400" y="14566392"/>
            <a:ext cx="14630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Benny.Y 提供费用清单后再制作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502920" y="14859000"/>
            <a:ext cx="82296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财务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1325880" y="14859000"/>
            <a:ext cx="23774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★ 发票需求：茶歇不需要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3703320" y="14859000"/>
            <a:ext cx="19202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保留购物小票即可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5623560" y="14859000"/>
            <a:ext cx="10058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F+Winny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6629400" y="14859000"/>
            <a:ext cx="1463040" cy="292608"/>
          </a:xfrm>
          <a:prstGeom prst="rect">
            <a:avLst/>
          </a:prstGeom>
          <a:solidFill>
            <a:srgbClr val="F4F8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盒马采购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8686800" y="1280160"/>
            <a:ext cx="310896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对讲机频道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686800" y="1783080"/>
            <a:ext cx="128016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CH1 指挥频道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9966960" y="1783080"/>
            <a:ext cx="18288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总策划 / A 组 / 各组组长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8686800" y="2468880"/>
            <a:ext cx="128016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CH2 会务频道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9966960" y="2468880"/>
            <a:ext cx="18288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 会务 + E 技术（流程切换）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8686800" y="3154680"/>
            <a:ext cx="128016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CH3 后勤频道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9966960" y="3154680"/>
            <a:ext cx="18288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B 接待 + F 后勤 + G 安全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8686800" y="3840480"/>
            <a:ext cx="128016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公共哨语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9966960" y="3840480"/>
            <a:ext cx="18288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'1分钟到点'、'换场'、'医疗'、'静默'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4300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08  关键检查节点（Checkpoint）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703320" cy="54864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T-3 日 18:00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65960"/>
            <a:ext cx="3703320" cy="1143000"/>
          </a:xfrm>
          <a:prstGeom prst="rect">
            <a:avLst/>
          </a:prstGeom>
          <a:solidFill>
            <a:srgbClr val="FFF7EC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所有嘉宾 PPT/演讲稿到位；议程脚本 V2 锁定；通稿初稿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703320" cy="54864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T-1 日 14:00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965960"/>
            <a:ext cx="3703320" cy="1143000"/>
          </a:xfrm>
          <a:prstGeom prst="rect">
            <a:avLst/>
          </a:prstGeom>
          <a:solidFill>
            <a:srgbClr val="FFF7EC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现场走台彩排；全员到岗培训；备用设备压力测试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417320"/>
            <a:ext cx="3703320" cy="54864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当日 09:00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1965960"/>
            <a:ext cx="3703320" cy="1143000"/>
          </a:xfrm>
          <a:prstGeom prst="rect">
            <a:avLst/>
          </a:prstGeom>
          <a:solidFill>
            <a:srgbClr val="FFF7EC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现场指挥部成立；对讲机分发；安保/医疗到位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200400"/>
            <a:ext cx="3703320" cy="54864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当日 12:00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749040"/>
            <a:ext cx="3703320" cy="1143000"/>
          </a:xfrm>
          <a:prstGeom prst="rect">
            <a:avLst/>
          </a:prstGeom>
          <a:solidFill>
            <a:srgbClr val="FFF7EC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签到台开台；VIP车队首班；直播试推流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3200400"/>
            <a:ext cx="3703320" cy="54864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当日 13:25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3749040"/>
            <a:ext cx="3703320" cy="1143000"/>
          </a:xfrm>
          <a:prstGeom prst="rect">
            <a:avLst/>
          </a:prstGeom>
          <a:solidFill>
            <a:srgbClr val="FFF7EC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全员就位静默 5 分钟；总策划广播开场倒计时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3200400"/>
            <a:ext cx="3703320" cy="54864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当日 15:40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60" y="3749040"/>
            <a:ext cx="3703320" cy="1143000"/>
          </a:xfrm>
          <a:prstGeom prst="rect">
            <a:avLst/>
          </a:prstGeom>
          <a:solidFill>
            <a:srgbClr val="FFF7EC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音乐会前节点 - 茶歇/伴手礼/媒体合影同步启动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983480"/>
            <a:ext cx="3703320" cy="54864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当日 18:10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532120"/>
            <a:ext cx="3703320" cy="1143000"/>
          </a:xfrm>
          <a:prstGeom prst="rect">
            <a:avLst/>
          </a:prstGeom>
          <a:solidFill>
            <a:srgbClr val="FFF7EC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颁奖准备 - 奖杯/获奖机构到台口；晚宴席位最终核对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4983480"/>
            <a:ext cx="3703320" cy="54864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当日 18:30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5532120"/>
            <a:ext cx="3703320" cy="1143000"/>
          </a:xfrm>
          <a:prstGeom prst="rect">
            <a:avLst/>
          </a:prstGeom>
          <a:solidFill>
            <a:srgbClr val="FFF7EC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晚宴开席 - 主会场清场启动撤场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4983480"/>
            <a:ext cx="3703320" cy="54864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次日 10:00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6760" y="5532120"/>
            <a:ext cx="3703320" cy="1143000"/>
          </a:xfrm>
          <a:prstGeom prst="rect">
            <a:avLst/>
          </a:prstGeom>
          <a:solidFill>
            <a:srgbClr val="FFF7EC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0">
                <a:solidFill>
                  <a:srgbClr val="262626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通稿发布；志愿者复盘会；问题与改进归档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09728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万事俱备，只待 5·22。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2044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0">
                <a:solidFill>
                  <a:srgbClr val="FFC000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所有志愿者的努力，都是为了让 500 位嘉宾在一滴水里看见 AI 的未来。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0">
                <a:solidFill>
                  <a:srgbClr val="D9D9D9"/>
                </a:solidFill>
                <a:latin typeface="微软雅黑"/>
                <a:eastAsia typeface="微软雅黑"/>
                <a:cs typeface="微软雅黑"/>
                <a:ascii typeface="微软雅黑"/>
                <a:hAnsi typeface="微软雅黑"/>
              </a:rPr>
              <a:t>—— 总策划 胡继刚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