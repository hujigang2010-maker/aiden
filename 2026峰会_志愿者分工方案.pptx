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91695" cy="914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256032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3749039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93776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双执行总监（韦佳玉统筹 + 陈潇会务）→ 7 大职能组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280160"/>
            <a:ext cx="3017520" cy="77724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 胡继刚（您）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331720"/>
            <a:ext cx="3474720" cy="7772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韦佳玉
（统筹方向 · A 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31720"/>
            <a:ext cx="3474720" cy="7772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陈潇 Kelly
（会务方向 · C 组组长）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05740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2240280"/>
            <a:ext cx="411480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108960"/>
            <a:ext cx="45720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1691640" cy="59436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9271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1" y="3657600"/>
            <a:ext cx="1691640" cy="59436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96311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1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Kelly（执行总监②）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1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人数：8 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7751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2544" y="3657600"/>
            <a:ext cx="169164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43984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 · 南京远程）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人数：2 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4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31736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08776" y="3657600"/>
            <a:ext cx="1691640" cy="59436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7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65007" y="3657600"/>
            <a:ext cx="1691640" cy="59436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7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7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56447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44199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21239" y="3657600"/>
            <a:ext cx="1691640" cy="59436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21239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12679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2679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79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总指挥（胡继刚）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全场最高决策；与主办/协办方对接；统筹双执行总监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8897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执行总监① 统筹方向（韦佳玉）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18897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议程脚本/会议记录/各组协调/复盘主持；对讲机调度中枢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91939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执行总监② 会务方向（陈潇 Kelly）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091939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流程/舞台/设备/制作（兼 C 组组长）；与韦佳玉并列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9491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嘉宾邀约+赞助落位（春子）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99491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①嘉宾邀约确认与全程跟进（外地交通/住宿） ②赞助资源对接落位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Kelly（执行总监②）  |  建议人数：8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 · 南京远程）  |  建议人数：2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v8 调整说明（5/18 二次会议落地）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总策划指令：吕志翔接颁奖 / G 调一人接圆桌二 / 6 项关键调整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v8 本轮 6 项关键调整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8288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吕志翔：圆桌对接 → 颁奖主导（总策划指令）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3774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马磊：G → C（接圆桌二/投资圆桌）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9260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皮尔德小号(高晨)：D → E（重心放技术）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347472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AEGISTAR：D → F（F 缺人；葛九明能搞定 D）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402336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黄璐 → PPT 收集主责（明确）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7200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45720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冯墨扩职：嘉宾介绍+主持稿+控场倒计时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828800"/>
            <a:ext cx="10972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1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099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79" y="1828800"/>
            <a:ext cx="822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39" y="1828800"/>
            <a:ext cx="228600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26771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1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099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79" y="226771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64039" y="226771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81635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6091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099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79" y="2816352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39" y="281635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36499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099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79" y="3364991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64039" y="3364991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/ 王珏（+马磊）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913631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1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0099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79" y="3913631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64039" y="3913631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蒋珊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46227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099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41079" y="4462272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64039" y="446227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/ 随圣博（+高晨）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501091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6091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0099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1079" y="5010912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64039" y="501091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Winny（+张蒙）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55955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6091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0099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79" y="5559552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64039" y="555955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 / 蔡萍（−马磊）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762173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 ① 统筹方向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嘉宾邀约+赞助资源落位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325880"/>
            <a:ext cx="2762173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嘉宾接待组（4人）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5093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6533" y="18288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3431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28575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1V1（主旨嘉宾）+ 引导动线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3718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观众席引导（待联系）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4427" y="1325880"/>
            <a:ext cx="2762173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会务执行组（8人）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1828800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★ 执行总监 ② 会务方向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2085975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343150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★ 主持人对接+主持稿协助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600325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★ PPT 收集主责人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2857500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★ 颁奖执行（主导）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114675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圆桌一对接（AI 硬核）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867" y="3371850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★ 圆桌二对接（投资）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867" y="3629025"/>
            <a:ext cx="2579293" cy="25717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动线引导+前 4 排带位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63761" y="1325880"/>
            <a:ext cx="2762173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媒体宣传组（2人）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3761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5201" y="1828800"/>
            <a:ext cx="2579293" cy="10287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组长（南京远程指挥）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2857500"/>
            <a:ext cx="2579293" cy="10287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069080"/>
            <a:ext cx="372861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技术支持组（4人）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720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张卓 盈科  -  组长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863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随圣博 Joshua-Sui  -  副组长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7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皮尔德小号（高晨）  -  ★ PPT 播放+微调（调入）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150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069080"/>
            <a:ext cx="3728618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后勤保障组（4人）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1538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2978" y="45720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0863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Winny 温妮  -  副组长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56007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晚宴对接专员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2978" y="61150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张蒙 AEGISTAR  -  茶歇执行+协助物料（调入）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7316" y="4069080"/>
            <a:ext cx="3728618" cy="45720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应急安全/机动组（3人）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7316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刘严  -  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蔡萍  -  副组长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8756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康诺斯 Conns  -  机动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43891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371600"/>
            <a:ext cx="914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28800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828800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09391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1909391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909391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1909391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909391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989982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1989982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8998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1989982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1989982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70573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2070573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70573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070573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070573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151164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2151164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15116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2151164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2151164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231755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2231755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231755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2231755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2231755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★春子已任 A 组嘉宾邀约+赞助资源落位专员；该建议作为其 KPI 之一推进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312347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312347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31234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2312347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2312347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392938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2392938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392938"/>
            <a:ext cx="1280160" cy="80591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2392938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2392938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2473529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2473529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2473529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2473529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2473529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2554120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19" y="2554120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255412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2554120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2554120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2634711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2634711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2634711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2634711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2634711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715303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2715303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715303"/>
            <a:ext cx="1280160" cy="80591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2715303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58200" y="2715303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2795894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2795894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63640" y="279589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43800" y="2795894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58200" y="2795894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2876485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74519" y="2876485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2876485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43800" y="2876485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58200" y="2876485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2957076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2957076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295707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43800" y="2957076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58200" y="2957076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3037667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874519" y="3037667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303766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3037667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3037667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3118258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3118258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3118258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543800" y="3118258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58200" y="3118258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3198850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74519" y="3198850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319885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43800" y="3198850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58200" y="3198850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3279441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3279441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63640" y="3279441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43800" y="3279441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58200" y="3279441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3360032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74519" y="3360032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嘉宾名单到活动前一天还在变化，需弹性预案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63640" y="336003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43800" y="3360032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58200" y="3360032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三类名单（演讲/晚宴/总）分管，T-1 锁定 V2，预留 5% 空位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3440623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874519" y="3440623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组实际剩 3 人需其他组临时调配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63640" y="3440623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43800" y="3440623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58200" y="3440623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启用 G 组机动调配 + 高峰时段 D/E 闲置志愿者顶岗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3521214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874519" y="3521214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演讲嘉宾直接落座第一排（不设贵宾室）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3640" y="352121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543800" y="3521214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458200" y="3521214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 升职责：演讲嘉宾直接引导至第一排席卡位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02920" y="3601806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朱俊峰(5/16)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874519" y="3601806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茶歇位置往门口放（解决去年噪音）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360180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543800" y="3601806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458200" y="3601806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茶歇位置改放门口；远离会场入口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2920" y="3682397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朱俊峰(5/16)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874519" y="3682397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盒马茶歇提前一周联系林爱平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263640" y="368239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543800" y="3682397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58200" y="3682397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建群打招呼；T-1 确认；T-0 送达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02920" y="3762988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刘严(5/16)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74519" y="3762988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舞台周边安全分 4 区轮换（两侧+机动）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63640" y="3762988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543800" y="3762988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458200" y="3762988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舞台两边各 1 人+机动 2 人；半小时轮换；4 人方案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2920" y="3843579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74519" y="3843579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电脑由会务公司带 3-4 台+自带备份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263640" y="3843579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43800" y="3843579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E+陈潇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58200" y="3843579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跟班尼杨确认到底谁带；自备 1 台兜底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2920" y="3924170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874519" y="3924170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提前一天给组员熟悉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263640" y="392417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543800" y="3924170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458200" y="3924170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组收齐后 T-1 18:00 前给 E 组组员练手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02920" y="4004762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874519" y="4004762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停车/收费/货拉拉引导提前告知嘉宾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263640" y="400476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543800" y="4004762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458200" y="4004762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从洋洋得意拿到指引文档，T-3 群发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02920" y="4085353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874519" y="4085353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颁奖嘉宾+前两排观众提前通知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4085353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543800" y="4085353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458200" y="4085353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徐胜博整理文档；T-3 发到嘉宾群+点对点告知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02920" y="4165944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874519" y="4165944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圆桌嘉宾席卡放位置+大屏 PPT 引导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63640" y="416594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43800" y="4165944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458200" y="4165944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席卡放主席台；圆桌单独 PPT 页（嘉宾照片+介绍）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2920" y="4246535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874519" y="4246535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晚宴节目供应商推荐+不搭台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263640" y="4246535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543800" y="4246535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陈潇+佳玉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458200" y="4246535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用场地方现有台子；陈潇提供长期合作的节目供应商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02920" y="4327126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874519" y="4327126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晚宴另一场地需志愿者监督预算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263640" y="432712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543800" y="4327126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458200" y="4327126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保证嘉宾不额外点餐；费用在预算内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02920" y="4407717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874519" y="4407717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名单/名牌/KT板/晚宴主图设计前置 1-2 天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263640" y="440771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43800" y="4407717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458200" y="4407717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物料制作有排期；前置 24-48h 给设计方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02920" y="4488309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874519" y="4488309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晚宴当天临时加位 → 允许（与之前预案不同）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263640" y="4488309"/>
            <a:ext cx="1280160" cy="80591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543800" y="4488309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458200" y="4488309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推翻之前预案：去年也有 7-8 位临时加入；预留 1-2 桌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02920" y="4568900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874519" y="4568900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入场标识改为 4 种手环+贴纸（替代 500 张胸牌）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263640" y="456890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543800" y="4568900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458200" y="4568900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下午嘉宾/工作人员 + 晚宴嘉宾/工作人员 4 种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4649491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874519" y="4649491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对讲机改 10 台（主要发组长，C/E/G 多 1 台）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263640" y="4649491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43800" y="4649491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458200" y="4649491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修正 v6 的 26 台方案；按需调配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4730082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彭常丽/盒马(5/16)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74519" y="4730082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音乐会安排在中场（不是后场）= 茶歇时间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263640" y="473008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543800" y="4730082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C+F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458200" y="4730082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茶歇与音乐会期间同步进行；F 组按音乐会时间上茶歇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02920" y="4810673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874519" y="4810673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会议节奏：3 次全体+组长会穿插 2 次+组内 1-2 次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263640" y="4810673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543800" y="4810673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458200" y="4810673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下周再开 2 次全体；组长会穿插 2 次；组内自行安排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02920" y="4891265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葛九明缺席(5/16)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874519" y="4891265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组当天未到，单独沟通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263640" y="4891265"/>
            <a:ext cx="1280160" cy="80591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543800" y="4891265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458200" y="4891265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胡继刚私下与葛九明对接 D 组进度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502920" y="4971856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总策划(5/18)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874519" y="4971856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吕志翔接管颁奖执行（升任主导）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263640" y="497185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543800" y="4971856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458200" y="4971856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原徐胜博转岗对接圆桌一；吕志翔投融资人脉对接颁奖机构最得体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02920" y="5052447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总策划(5/18)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874519" y="5052447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圆桌二对接从 G 组调一人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6263640" y="505244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543800" y="5052447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G→C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8458200" y="5052447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 G→C：AI Club 生态+跨界资源最适合对接投资圆桌（黄欣主持）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502920" y="5133038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陈潇(5/18)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874519" y="5133038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模板由 C 组制作（不只给比例数字）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263640" y="5133038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543800" y="5133038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8458200" y="5133038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陈潇+黄璐做空模板带尺寸（B厅/A厅 屏幕尺寸已群发）发给嘉宾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2920" y="5213629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黄璐(5/18)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874519" y="5213629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明确 PPT 收集人 = 黄璐 → E 张卓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63640" y="5213629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543800" y="5213629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8458200" y="5213629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周三前全部收齐 5-6 位主旨嘉宾 PPT；圆桌无 PPT 不需要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02920" y="5294221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874519" y="5294221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所有节点提前到周三晚（不是周四）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6263640" y="5294221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543800" y="5294221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458200" y="5294221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留 24h 缓冲；deadline 不是 0:00 而是周三晚收口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5374812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米兰达(5/18)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874519" y="5374812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周四下午彩排（主持人+技术组+设备）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6263640" y="537481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543800" y="5374812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458200" y="5374812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周四下午婚宴场地大概率空着；备选周五上午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02920" y="5455403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张卓(5/18)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1874519" y="5455403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乐团弧形布局，无法在主舞台 → 安排侧面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6263640" y="5455403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7543800" y="5455403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E+F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458200" y="5455403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需 30 把椅子（F 朱俊峰协助搬运）；张卓与乐团联系人单独对接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502920" y="5535994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张卓(5/18)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874519" y="5535994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 10 台由会务公司提供（非新采购）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6263640" y="553599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7543800" y="5535994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8458200" y="5535994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去年清单+对讲机 10 台+备用无线话筒 ×2；领夹麦确认是否要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502920" y="5616585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朱俊峰(5/18)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1874519" y="5616585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物料制作需 Benny.Y 先给费用清单后再制作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263640" y="5616585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7543800" y="5616585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8458200" y="5616585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餐饮+会务物料要发票；茶歇不要发票（保留小票）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02920" y="5697176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朱俊峰(5/18)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874519" y="5697176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二维码核销单打印 6-8 份（不做立牌）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263640" y="569717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7543800" y="5697176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8458200" y="5697176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节省成本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02920" y="5777768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1874519" y="5777768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志愿者用'志愿者'胸牌（不写名字）+ 工作牌用不同颜色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263640" y="5777768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543800" y="5777768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8458200" y="5777768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嘉宾席卡+晚宴名单+工作人员名单→ 向胡继刚/韦佳玉拿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502920" y="5858359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874519" y="5858359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场地三个厅全部打通（场地方大力支持）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6263640" y="5858359"/>
            <a:ext cx="1280160" cy="80591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确认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543800" y="5858359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458200" y="5858359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厅 ×2 主屏 = 主旨演讲；A 厅 L 型曲面屏 20m×2m = 晚宴；3 楼今年不动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502920" y="5938950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1874519" y="5938950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7 桌 + 3 场节目 + 抽奖环节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6263640" y="5938950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7543800" y="5938950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8458200" y="5938950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PM 韦佳玉；陈潇推荐节目供应商；不搭台（用场地方现有）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6019541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874519" y="6019541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米兰达暂定晚宴主持人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6263640" y="6019541"/>
            <a:ext cx="1280160" cy="80591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暂定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43800" y="6019541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8458200" y="6019541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待与姚老师商量；若同意则单独与米兰达沟通晚宴流程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502920" y="6100132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1874519" y="6100132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D→F（F 组缺人；葛九明自己能搞定 D）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6263640" y="6100132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7543800" y="6100132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D→F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8458200" y="6100132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张蒙协助朱俊峰物料+Winny 茶歇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02920" y="6180724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1874519" y="6180724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皮尔德小号（高晨）重心 D→E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263640" y="6180724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7543800" y="6180724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D→E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8458200" y="6180724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高晨负责放 PPT+预留半天微调；葛九明自带小团队搞 D 组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502920" y="6261315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1874519" y="6261315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参加 2 次以上的企业当天发证书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263640" y="6261315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543800" y="6261315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8458200" y="6261315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与佳玉对接预算/选择范围/确认流程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502920" y="6341906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874519" y="6341906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各组长收集组员联系方式+人员替换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6263640" y="6341906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7543800" y="6341906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8458200" y="6341906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当天来不了的及时替换；其他组志愿者高峰时段可调配支援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502920" y="6422497"/>
            <a:ext cx="13716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Aiden(5/18)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874519" y="6422497"/>
            <a:ext cx="438912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明日（5/19）12:30 全体现场踏勘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6263640" y="6422497"/>
            <a:ext cx="1280160" cy="80591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7543800" y="6422497"/>
            <a:ext cx="91440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8458200" y="6422497"/>
            <a:ext cx="4023360" cy="80591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看 3 块屏+三个场地；F+G 组与酒店工作人员沟通晚宴保障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502920" y="6503088"/>
            <a:ext cx="13716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张卓(5/18)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1874519" y="6503088"/>
            <a:ext cx="438912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音乐厅灯光在音乐环节是否可用 → 周四确认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6263640" y="6503088"/>
            <a:ext cx="1280160" cy="80591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7543800" y="6503088"/>
            <a:ext cx="91440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8458200" y="6503088"/>
            <a:ext cx="4023360" cy="80591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张卓周四下午到现场与场地方沟通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874519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874519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全场指挥；统筹两位执行总监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51176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551176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统筹方向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551176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27832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3227832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会务方向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227832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组组长；流程/舞台/设备/制作（自有灯光音响）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04487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904487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嘉宾邀约+赞助落位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904487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①嘉宾邀约确认与跟进 ②赞助资源对接落位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81144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4581144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4581144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三次参加，老带新；嘉宾接待主管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5257800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5257800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934455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5934455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组组长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5934455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应急安保+机动跨组调配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840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总指挥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/ 陈潇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276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★双执行总监：韦佳玉统筹方向 + 陈潇会务方向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韦佳玉（执行总监①）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统筹方向；春子专注嘉宾邀约+赞助资源落位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陈潇（执行总监②）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06840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5276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双执行总监会务方向；自有设备+20 年策划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角总策划指定（南京远程）；B 角 AI 内容+前期宣发主力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盈科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角律师协调统筹；B 角技术执行+PPT 微调由皮尔德负责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60919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06840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5276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角建筑+协会运营+物料；B 角茶歇晚宴主管；张蒙调入协助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60919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06840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角舞台安全+机动；B 角持急救证常驻医疗岗★；马磊已调出至 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51 个里程碑 / T-9 ~ T+1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645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371600"/>
            <a:ext cx="8503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60" y="1371600"/>
            <a:ext cx="146304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828800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60" y="1828800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22032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22032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1922032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15265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2015265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60" y="2015265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08498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2108498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各组组长整理本组任务清单 V1（按议程节点拆解+按时间排期）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108498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201731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2201731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各组任务清单 V1 汇总到 A 组+总策划评审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60" y="2201731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94964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2294964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60" y="2294964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B+F+春子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388197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40" y="2388197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 V1（春子专项 KPI）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60" y="2388197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81430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481430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2481430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574663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48840" y="2574663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574663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667896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2667896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茶歇盒马群拉群打招呼（林爱平）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2760" y="2667896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761129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48840" y="2761129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一滴水场地沟通群拉群（含洋洋得意/吴伟）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52760" y="2761129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2854362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48840" y="2854362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PPT 沟通群拉群（讲者+C+E+陈潇）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2854362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2947595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2947595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伴手礼/赞助沟通群拉群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2947595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胡继刚+春子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040828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T-6 (5/16)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48840" y="3040828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组长会议（已完成）→ 同步纪要 + 各组任务 V2 下发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52760" y="3040828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各组组长+韦佳玉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34061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48840" y="3134061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652760" y="3134061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227294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48840" y="3227294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3227294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3320527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48840" y="3320527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班尼杨对接：手环 4 种+论坛道具+晚宴大屏模板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3320527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陈潇+E 张卓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3413760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48840" y="3413760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刘总赞助酒水/饮料发货（异地 2-3 天物流）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52760" y="3413760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506992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48840" y="3506992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52760" y="3506992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600225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48840" y="3600225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腾讯/华为/蔚来赞助物料对接清单确认（春子主推）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52760" y="3600225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春子+F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3693458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48840" y="3693458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嘉宾 PPT 全部收齐（5-6 位主旨）→ 转交张卓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52760" y="3693458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黄璐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6691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148840" y="3786691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PPT 模板（空模板带尺寸）发给嘉宾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52760" y="3786691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陈潇+黄璐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3879924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48840" y="3879924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米兰达主持稿对接+嘉宾介绍发出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652760" y="3879924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冯墨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3973157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48840" y="3973157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全体第三次会议（讨论会议流程+人员缺席排除）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652760" y="3973157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066390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48840" y="4066390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晚宴抽奖奖品确认（一/二/三等奖 7 桌）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52760" y="4066390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韦佳玉+赞助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4159623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148840" y="4159623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节目供应商提案确认（陈潇推荐 3 场节目）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652760" y="4159623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陈潇+韦佳玉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4252856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48840" y="4252856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前两排观众+发奖人提前通知文档化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652760" y="4252856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吕志翔+徐胜博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4346089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148840" y="4346089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52760" y="4346089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39322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148840" y="4439322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652760" y="4439322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4532555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48840" y="4532555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652760" y="4532555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4625788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148840" y="4625788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652760" y="4625788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4719021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48840" y="4719021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652760" y="4719021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4812254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 12:30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148840" y="4812254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全体明日中午现场踏勘（12:30-13:00 集合 看 3 块屏+三个场地）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652760" y="4812254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A+所有组长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2920" y="4905487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 下午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48840" y="4905487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周四下午彩排：主持人米兰达+技术组+设备一起对焦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652760" y="4905487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C+E+米兰达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4998720"/>
            <a:ext cx="1645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 下午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148840" y="4998720"/>
            <a:ext cx="850392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张卓与场地方沟通：音乐厅灯光在音乐环节作用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52760" y="4998720"/>
            <a:ext cx="1463040" cy="9323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张卓+一滴水吴伟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5091952"/>
            <a:ext cx="1645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148840" y="5091952"/>
            <a:ext cx="850392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乐团需求确认（人数/弧形站位/30 把椅子）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652760" y="5091952"/>
            <a:ext cx="1463040" cy="9323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张卓+F 朱俊峰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02920" y="5185185"/>
            <a:ext cx="1645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 下午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148840" y="5185185"/>
            <a:ext cx="8503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现场踏勘 2 + 讲台尺寸量取（如未量）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652760" y="5185185"/>
            <a:ext cx="146304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A+F+佳玉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5278418"/>
            <a:ext cx="1645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148840" y="5278418"/>
            <a:ext cx="8503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652760" y="5278418"/>
            <a:ext cx="146304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02920" y="5371651"/>
            <a:ext cx="1645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148840" y="5371651"/>
            <a:ext cx="8503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主讲台胸花+讲台花到货（按尺寸定制）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652760" y="5371651"/>
            <a:ext cx="146304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F+王胜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2920" y="5464884"/>
            <a:ext cx="1645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148840" y="5464884"/>
            <a:ext cx="8503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伴手礼到货+统一分装到袋（1-2 小时）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652760" y="5464884"/>
            <a:ext cx="146304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F+其他组支援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02920" y="5558117"/>
            <a:ext cx="1645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148840" y="5558117"/>
            <a:ext cx="850392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全设备压力测试+陈潇工厂设备进场（如需）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652760" y="5558117"/>
            <a:ext cx="1463040" cy="9323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" y="5651350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08:30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148840" y="5651350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会务公司班尼杨设备入场（不需提前一天）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652760" y="5651350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02920" y="5744583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148840" y="5744583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A/F/G 三组到场：指挥部+物料布置+AED急救包就位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652760" y="5744583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A+F+G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02920" y="5837816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10:00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48840" y="5837816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会务+E 技术到场：走台彩排+设备联调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652760" y="5837816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2920" y="5931049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11:00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148840" y="5931049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媒体到场：机位调试+直播试推流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52760" y="5931049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02920" y="6024282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11:30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48840" y="6024282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接待到场：签到台开台+VIP陪同上岗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652760" y="6024282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6117515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48840" y="6117515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全员就位；VIP 车队首班；签到 13:00 开放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652760" y="6117515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02920" y="6210748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148840" y="6210748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 5 分钟、广播开场倒计时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652760" y="6210748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02920" y="6303981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15:00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2148840" y="6303981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晚宴专项人员到场：F/B/D/G 晚宴组分批进入晚宴厅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52760" y="6303981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F+B+D+G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02920" y="6397214"/>
            <a:ext cx="1645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18:30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148840" y="6397214"/>
            <a:ext cx="850392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652760" y="6397214"/>
            <a:ext cx="1463040" cy="9323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02920" y="6490447"/>
            <a:ext cx="1645920" cy="9323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148840" y="6490447"/>
            <a:ext cx="8503920" cy="9323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652760" y="6490447"/>
            <a:ext cx="1463040" cy="9323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组长会议落地：外部对接人清单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横向沟通最容易漏；统一通过这些人对接，避免各组单独加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角色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2743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姓名 / 标识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371600"/>
            <a:ext cx="18288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联系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41148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主要对接事项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1371600"/>
            <a:ext cx="1645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74519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班尼杨（昵称班尼y，微信号 312）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74519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微信 312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874519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舞台搭建 / 论坛道具 / 倒计时牌 / 音响 / 电脑 3-4 台 / 标识手环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61320" y="1874519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 + E 张卓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63164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白天主持人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2463164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米兰达（吕苗苗）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63164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微信群内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463164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主持稿（需提供：议程+赞助方+主办协办+合影时间）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61320" y="2463164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5181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晚宴主持人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305181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（另定）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05181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05181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晚宴串场+抽奖+敬酒环节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61320" y="305181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 + 韦佳玉（晚宴 PM）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64045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场地方一滴水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364045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洋洋得意（物业对接人）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64045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群名「洋洋得意」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64045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停车 / 收费 / 货拉拉引导 / 桌椅 / 讲台尺寸 / 胸花尺寸 / KT板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61320" y="364045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 + B 王胜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2910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一滴水灯光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422910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吴伟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422910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422910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灯光调试+使用方法（21 号下午到场确认位置）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61320" y="422910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 + 随圣博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1774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茶歇供应商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481774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林爱平（盒马）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481774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去年合作人，提前一周联系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81774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茶歇采购 + 现切果盘（盒马自带装备）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61320" y="481774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 + 彭常丽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40639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赞助酒水/饮料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540639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40639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540639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异地发货（物流 2-3 天），收件人写胡继刚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61320" y="540639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 + 春子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9503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599503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 / 华为汽车 / 蔚来 / 银行 / 券商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599503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胡继刚直对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599503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赞助物料 + 致辞嘉宾 + 伴手礼比例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61320" y="599503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+ 春子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组长会议落地：外部沟通群清单（6 个群）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用专项群替代单点对接；T-7 前必须全部建群完成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群名 / 用途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371600"/>
            <a:ext cx="18288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拉群责任人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1371600"/>
            <a:ext cx="32004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群内成员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931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年度峰会组长群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874519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胡继刚（已建）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874519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总策划+7 组长+韦佳玉+陈潇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874519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横向沟通主阵地；班尼杨+米兰达+洋洋得意已拉入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5938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沟通群 / 搜 PPT 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65938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265938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组+E 组+所有讲者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938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收集+尺寸告知+反复版本跟进（去年痛点：尺寸不对调很久）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伴手礼/赞助沟通群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444240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3444240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组+所有赞助方+春子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444240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伴手礼到货时间+份数（按赞助比例）+赞助物料协调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2910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一滴水场地沟通群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22910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胡继刚（新拉）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422910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全员+洋洋得意+吴伟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22910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★避免大家单独加物业；停车/桌椅/灯光/KT板/讲台尺寸统一沟通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13960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茶歇盒马群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5013960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013960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组+林爱平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013960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茶歇采购（提前一周建群打招呼）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79882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会务公司技术群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579882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579882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组+E 组+班尼杨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20" y="579882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舞台/音响/电脑/论坛道具/倒计时牌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5/18 二次会议 · 总策划落地决议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 条建议筛选后系统性落地 · 优胜劣汰 · 重点供组长参考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人员/职责变更（6 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吕志翔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874519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颁奖主导（升任，总策划指令）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87752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马磊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587752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→ C 圆桌二对接（总策划指令）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0984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徐胜博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300984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 → 圆桌一对接（AI硬核）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14215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4014215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→ E 主岗（重心放技术）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27448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4727448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→ F（F 缺人，葛九明能搞定 D）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155448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黄璐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5440680"/>
            <a:ext cx="38862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收集主责（明确）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关键决议（7 条）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874519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874519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节点提前到周三晚 → 留 24h 缓冲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478024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2478024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周四下午（主持人+技术+设备）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081528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081528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组做空模板带尺寸（不是给数字）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685031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3685031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仅 5-6 位主旨嘉宾需 PPT；圆桌无 PPT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288536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4288536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 10 台（会务公司提供）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892040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4892040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三厅打通 / B 厅×2 主屏 + A 厅 L 型曲面屏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495544"/>
            <a:ext cx="1188720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5495544"/>
            <a:ext cx="4251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7 桌 + 3 节目 + 抽奖；米兰达暂定主持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组对接矩阵（v8 重点）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8 人各自专属对接：圆桌/颁奖/PPT/主持/计时/动线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环节 / 职责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371600"/>
            <a:ext cx="274320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 / 关联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371600"/>
            <a:ext cx="228600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组对接人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93192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上下游对接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圆桌一（AI硬核）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 主持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20240"/>
            <a:ext cx="22860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徐胜博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920240"/>
            <a:ext cx="393192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嘉宾席卡+上下场动线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3840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巅峰对话（云端生态）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3840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主持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438400"/>
            <a:ext cx="22860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总策划直接处理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438400"/>
            <a:ext cx="393192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韦佳玉协助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56560"/>
            <a:ext cx="27432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圆桌二（投资）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2956560"/>
            <a:ext cx="27432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黄欣 主持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2956560"/>
            <a:ext cx="22860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马磊（G→C）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2956560"/>
            <a:ext cx="393192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AI圈层人脉对接嘉宾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7432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颁奖（5 机构）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474720"/>
            <a:ext cx="27432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晚场主持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474720"/>
            <a:ext cx="228600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吕志翔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3474720"/>
            <a:ext cx="3931920" cy="51816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徐胜博辅助+前两排发奖人通知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99288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收集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399288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5-6 位主旨嘉宾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992880"/>
            <a:ext cx="22860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黄璐（主责）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3992880"/>
            <a:ext cx="393192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转交 E 张卓播放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1104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模板（空模板带尺寸）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51104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B/A 厅尺寸已群发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4511040"/>
            <a:ext cx="22860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+ 黄璐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20" y="4511040"/>
            <a:ext cx="393192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发给嘉宾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02920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主持人对接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502920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5029200"/>
            <a:ext cx="22860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5029200"/>
            <a:ext cx="393192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嘉宾介绍+出场顺序+主持稿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4736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流程计时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6120" y="5547360"/>
            <a:ext cx="27432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5547360"/>
            <a:ext cx="228600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王珏（副组长）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5547360"/>
            <a:ext cx="3931920" cy="5181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按主时间纵线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606552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动线引导+前 4 排带位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6120" y="6065520"/>
            <a:ext cx="27432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签到+引导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6065520"/>
            <a:ext cx="228600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LV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75320" y="6065520"/>
            <a:ext cx="3931920" cy="5181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组协同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落地：晚宴流程（韦佳玉任 PM）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晚宴在一楼大厅 · 曲面长 LED 屏 · 不搭台 · 陈潇推荐节目供应商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5544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1371600"/>
            <a:ext cx="31089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环节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371600"/>
            <a:ext cx="27432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1371600"/>
            <a:ext cx="42976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17:30-18:30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1874519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嘉宾入场+引导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1874519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王胜+朱铭喆+JasonCAI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1874519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晚宴手环核验（与下午手环不同色）+席位引导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63164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18:30-18:35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463164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开席+晚宴主持人开场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463164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晚宴主持人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2463164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陈潇司仪过场；曲面 LED 屏开场致辞 PPT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181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18:35-18:45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305181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总策划致辞+开瓶敬酒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66360" y="305181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05181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互动交杯环节；技术组放背景音乐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4045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18:45-19:00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64045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赞助商代表致辞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66360" y="364045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春子协调赞助方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364045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腾讯/华为/蔚来/银行/券商代表（视赞助比例）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2910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19:00-19:40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22910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节目表演（节目供应商）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422910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推荐供应商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0" y="422910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供应商提案；不搭台（用场地方现有台子）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1774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19:40-20:00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81774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抽奖环节（一/二/三等奖）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60" y="481774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韦佳玉（晚宴 PM）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81774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奖品预算与赞助商对接；主持人念号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0639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20:00-20:30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540639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自由社交+合影+敬酒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66360" y="540639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60" y="540639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组花絮拍摄；G 组维持秩序+车队待命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99503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20:30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599503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66360" y="599503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09560" y="599503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场地交还+车队调度+离场分流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当日各组到场时间表（5/22 现场）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总策划指令：会务/技术 10:00 到场；晚宴专项 15:00 到场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22860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 / 范围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371600"/>
            <a:ext cx="32918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到场人员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371600"/>
            <a:ext cx="475488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到场即开始做的事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1874519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统筹（全员）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874519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 / 春子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74519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 / 对讲机分发 / 与各组组长进度核对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88464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188464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后勤（全员）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2188464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Winny / 彭常丽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188464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场地桌椅布置 / 物料进场 / 茶歇位铺设 / 赞助物料对接（腾讯/华为）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02407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2502407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应急（全员）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502407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 / 蔡萍 / 马磊 / 康诺斯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502407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安检设备就位 / AED+急救包 3 处摆放 / 医疗对接热线打通 / 入场安检上岗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16352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2816352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会务（全员）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816352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/ 王珏 / 冯墨 / 黄璐 / 徐胜博 / 吕志翔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60" y="2816352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舞台走台彩排 / 计时器+举牌就位 / 嘉宾上下场动线对脚本 / PPT 顺序加载主机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029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313029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E 技术（全员）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13029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/ 随圣博 / 高辰辰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313029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音响 / 麦克风 / PPT 切换 / 灯光 / LED / 网络直播 全设备联调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44240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4519" y="3444240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媒体（全员）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3444240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 / 蒋珊 / 皮尔德小号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44240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摄影机位调试 / 直播试推流 / 签到合影区开放 / 媒体接待区铺设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58184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74519" y="3758184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接待（全员）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0520" y="3758184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 / JasonCAI / Angi / LV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3758184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 / VIP 1V1 陪同上岗 / 引导动线就位 / 休息室检查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7212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12:00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19" y="407212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407212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407212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午餐 12:30 前完成；VIP 车队首班；13:00 签到开放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607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19" y="438607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438607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438607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总策划广播开场倒计时；C 组主持人就位；E 组麦克风电池满电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70001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15:00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470001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晚宴专项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470001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Winny（茶歇晚宴主管）+ 彭常丽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52360" y="470001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晚宴餐厅最终对接 / 席位卡核对 / 敬酒流程预演 / 桌花布置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013960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19" y="5013960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接待晚宴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60520" y="5013960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+ 朱铭喆 + JasonCAI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5013960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晚宴桌次引导脚本对接 / VIP 敬酒顺序确认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327904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19" y="5327904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媒体晚宴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327904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 + 张蒙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5327904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晚宴花絮拍摄准备 / 当晚短视频脚本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64184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74519" y="564184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应急晚宴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564184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 + 马磊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52360" y="564184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 / 车队调度对接 / 离场分流预案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95579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74519" y="595579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595579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595579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陈潇司仪过场 / 总策划致辞 / Winny 主管节奏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269736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6269736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60520" y="6269736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52360" y="6269736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组负责场地交还；G 组安全确认；A 组复盘 30min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1945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371600"/>
            <a:ext cx="7955279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59" y="1371600"/>
            <a:ext cx="14630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874519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59" y="1874519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776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39776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59" y="239776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1000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921000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59" y="2921000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44424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59" y="344424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7479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967479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59" y="3967479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9072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49072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59" y="449072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1396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501396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59" y="501396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53720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553720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59" y="553720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06044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606044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59" y="606044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93776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1371600"/>
            <a:ext cx="320040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371600"/>
            <a:ext cx="347472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场地/桌椅/赞助物料入场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828800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1828800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57310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1957310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1957310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85820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2085820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085820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14330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组协调/对接外包 AV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2214330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张卓（组长）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2214330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随圣博（B 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2841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342841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2342841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471351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2471351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471351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99861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2599861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2599861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28371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 / 晚宴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2728371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Winny（茶歇晚宴主管）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2728371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 / 朱俊峰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56882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2856882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80" y="2856882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985392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2985392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2985392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113902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40680" y="3113902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80" y="3113902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242412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3242412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1080" y="3242412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370923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 收集（5-6 位主旨）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370923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3370923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499433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 微调+现场播放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3499433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皮尔德小号（高晨）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3499433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627943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3627943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1080" y="3627943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→ 韦佳玉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756454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圆桌一对接（AI硬核·王珏主持）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3756454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3756454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3884964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圆桌二对接（投资·黄欣主持）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3884964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马磊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41080" y="3884964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013474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巅峰对话对接（云端·总策划主持）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4013474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80" y="4013474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141984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颁奖物料/获奖嘉宾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0680" y="4141984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吕志翔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41080" y="4141984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徐胜博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270495"/>
            <a:ext cx="493776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4270495"/>
            <a:ext cx="320040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冯墨（律师）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4270495"/>
            <a:ext cx="347472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张卓（律师）→ 胡继刚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399005"/>
            <a:ext cx="493776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4399005"/>
            <a:ext cx="320040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41080" y="4399005"/>
            <a:ext cx="347472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4527515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40680" y="4527515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刘严（组长）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1080" y="4527515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 / 马磊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4656025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媒体应急口径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40680" y="4656025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马磊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4656025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葛九明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4784536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入场安检/可疑人员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4784536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1080" y="4784536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913046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4913046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641080" y="4913046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041556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5041556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641080" y="5041556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5170067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嘉宾邀约确认/全程跟进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40680" y="5170067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5170067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298577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赞助资源/物料落位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40680" y="5298577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41080" y="5298577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 → 胡继刚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5427087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议程脚本/会议记录/复盘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5427087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韦佳玉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41080" y="5427087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555597"/>
            <a:ext cx="493776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0680" y="5555597"/>
            <a:ext cx="320040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41080" y="5555597"/>
            <a:ext cx="3474720" cy="12851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5684108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会务公司（舞台/道具/音响）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40680" y="5684108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班尼杨 312（C 陈潇主对接）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5684108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5812618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白天主持人/串场对接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40680" y="5812618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米兰达（吕苗苗）→ 陈潇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641080" y="5812618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5941128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场地/停车/讲台尺寸/胸花尺寸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40680" y="5941128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洋洋得意（一滴水物业）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5941128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2920" y="6069638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茶歇（盒马）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40680" y="6069638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林爱平（F 朱俊峰拉群）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641080" y="6069638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6198149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一滴水灯光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40680" y="6198149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吴伟（E 张卓 21 号下午对接）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641080" y="6198149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6326659"/>
            <a:ext cx="493776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赞助酒水/饮料（异地发货）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440680" y="6326659"/>
            <a:ext cx="320040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刘总（F 刘严对接）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641080" y="6326659"/>
            <a:ext cx="3474720" cy="12851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02920" y="6455169"/>
            <a:ext cx="493776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PM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40680" y="6455169"/>
            <a:ext cx="320040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韦佳玉（兼任）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41080" y="6455169"/>
            <a:ext cx="3474720" cy="12851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874519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017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0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160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303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03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874519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7889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7033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6177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177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5321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55321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4519" y="1371600"/>
            <a:ext cx="3931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371600"/>
            <a:ext cx="128016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371600"/>
            <a:ext cx="5029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87451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87451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87451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379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24379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24379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24379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1307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261307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61307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61307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82350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82350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2982350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982350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51627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3351627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351627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351627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20904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3720904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720904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720904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090181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4090181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090181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4090181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59458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459458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4459458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4459458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28735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4828735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4828735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4828735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198012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5198012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5198012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600" y="5198012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56728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56728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556728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86600" y="556728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3656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593656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593656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593656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30584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630584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630584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6600" y="630584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463164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463164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05181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05181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64045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64045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22910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22910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481774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81774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40639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40639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640" y="599503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599503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547257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547257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219994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219994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892731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892731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565468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565468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5238205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5238205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910942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910942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280160"/>
            <a:ext cx="23774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280160"/>
            <a:ext cx="19202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39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1691639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691639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800 份（按 500 准备，预留 300）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691639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91639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98424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席卡（前 4 排 + 圆桌嘉宾）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98424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 4 排 = 约 80 张 + 圆桌 12 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8424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98424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完成（按最终名单）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7685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227685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嘉宾胸卡（仅工作人员+演讲嘉宾）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27685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约 50 张（500人不发，去年经验）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27685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227685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69463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5880" y="2569463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入场标识 4 种手环 / 贴纸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569463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下午嘉宾 + 下午工作人员 + 晚宴嘉宾 + 晚宴工作人员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2569463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2569463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找会务公司班尼杨制作（替代 500 人胸牌方案）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6207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286207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志愿者胸牌（5/18 修正：不写名字）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86207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27 张'志愿者'字样；单一颜色与工作牌区分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23560" y="286207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286207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★5/18 决议：志愿者不需要名单，统一'志愿者'字样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5468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" y="315468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二维码核销单（打印 6-8 份）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3320" y="315468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不做立牌（5/18 节省成本）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15468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315468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打印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447287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25880" y="3447287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 板/引导牌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3447287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由佳玉拉第三方+洋洋得意定制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3447287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0" y="3447287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T-2（24h 起订）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73989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25880" y="373989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03320" y="373989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不一定做（5/16 决议）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373989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373989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03250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25880" y="403250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主讲台胸花（真花）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403250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束 + 主讲嘉宾各 1（去年买重了）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3250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F+王胜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403250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T-1（按讲台尺寸定）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2511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" y="432511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讲台花（真花，按尺寸匹配）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3320" y="432511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个（去年痛点：尺寸不对）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32511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F+洋洋得意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432511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61772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25880" y="461772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 ×6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461772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会务公司+一滴水提供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23560" y="461772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461772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充电+T-0 试音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91032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25880" y="491032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领夹麦 ×6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03320" y="491032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可能没有则用手持替代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23560" y="491032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0" y="491032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确认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20293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25880" y="520293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电脑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520293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会务公司 3-4 台 + 张卓自带备份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23560" y="520293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520293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跟班尼杨确认到底谁带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49554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25880" y="549554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03320" y="549554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会务公司带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549554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29400" y="549554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78815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" y="578815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对讲机 10 台（5/18 确认：会务公司提供）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578815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 台（每组组长 1 台+C/E/G 多 1 台+机动）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23560" y="578815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A+E+班尼杨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578815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当天送达（去年清单上无对讲机，今年新增）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6080759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25880" y="6080759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备用无线话筒 ×2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703320" y="6080759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 4 台基础上 +2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623560" y="6080759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29400" y="6080759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当天送达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37336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25880" y="637336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 / 灯光（一滴水）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637336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一滴水重新搭建，吴伟调试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23560" y="637336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637336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下午到场确认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66597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666597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陈潇张江工厂设备（补充）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03320" y="666597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灯光/音响（视一滴水是否够）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23560" y="666597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629400" y="666597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按需调用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958583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25880" y="6958583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6958583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 ×2 + 游机 ×2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23560" y="6958583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29400" y="6958583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725119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25880" y="725119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直播确认（待定）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03320" y="725119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5/16 决议：大概率不直播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23560" y="725119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D+葛九明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725119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最终确认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754380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25880" y="754380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图文/文字传播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754380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现场金句卡 + 朋友圈/小红书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23560" y="754380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蒋珊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629400" y="754380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实时发布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783640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325880" y="783640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703320" y="783640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23560" y="783640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783640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群发嘉宾群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812901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25880" y="812901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交响乐往届预热视频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812901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段短视频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23560" y="812901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皮尔德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629400" y="812901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20" y="842162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325880" y="842162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茶歇（盒马·林爱平）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703320" y="842162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人量（音乐会期间用）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842162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F+林爱平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842162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拉群打招呼+T-1 确认+T-0 送达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2920" y="871423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325880" y="871423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茶歇位置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871423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放门口（远离会场，解决去年噪音）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871423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F+洋洋得意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29400" y="871423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布置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02920" y="900684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325880" y="900684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703320" y="900684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300+ 份，按赞助比例分配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23560" y="900684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29400" y="900684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头一天到+统一分装到袋（耗时 1-2h）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02920" y="929944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325880" y="929944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晚宴喜卡/菜单/酒水/桌花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929944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晚宴在一楼大厅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23560" y="929944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F+韦佳玉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629400" y="929944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准备+T-0 摆放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02920" y="959205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25880" y="959205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LED 大屏 PPT 模板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703320" y="959205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曲面长屏特殊尺寸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623560" y="959205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C+陈潇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629400" y="959205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找会务公司班尼杨做模板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02920" y="988466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325880" y="988466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赞助物料（腾讯/华为/蔚来）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988466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23560" y="988466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刘严+春子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629400" y="988466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02920" y="1017727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325880" y="1017727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刘总赞助酒水/饮料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703320" y="1017727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异地发货（物流 2-3 天）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623560" y="1017727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刘严+刘总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29400" y="1017727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前发货，收件人胡继刚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02920" y="1046988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325880" y="1046988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1046988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27 套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623560" y="1046988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629400" y="1046988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分装+当日 12:00 发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02920" y="1076248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325880" y="1076248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晚宴抽奖奖品（一/二/三等奖）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703320" y="1076248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5/16 新增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23560" y="1076248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韦佳玉+赞助方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629400" y="1076248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与赞助商确认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02920" y="1105509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325880" y="1105509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703320" y="1105509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23560" y="1105509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629400" y="1105509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02920" y="1134770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325880" y="1134770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急救主岗（蔡萍持证）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703320" y="1134770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623560" y="1134770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629400" y="1134770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02920" y="1164031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325880" y="1164031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703320" y="1164031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623560" y="1164031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629400" y="1164031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发放（张卓建议）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02920" y="1193292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325880" y="1193292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舞台周边安全岗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703320" y="1193292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舞台两边各 1 + 机动 2 / 半小时轮换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623560" y="1193292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629400" y="1193292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全场（5/16 刘严方案）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02920" y="1222552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325880" y="1222552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703320" y="1222552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623560" y="1222552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629400" y="1222552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02920" y="1251813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325880" y="1251813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嘉宾点对点提醒短信/微信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703320" y="1251813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623560" y="1251813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6629400" y="1251813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2920" y="1281074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325880" y="1281074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嘉宾名单 3 类（演讲/晚宴/总）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3703320" y="1281074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三表分管，到活动前可能调整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623560" y="1281074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春子+B+F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629400" y="1281074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V1+T-1 锁定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502920" y="1310335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325880" y="1310335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前两排观众+发奖人提前通知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703320" y="1310335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陈潇方案 + 5/18 吕志翔主导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5623560" y="1310335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吕志翔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629400" y="1310335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文档化发到群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02920" y="1339596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325880" y="1339596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PPT 模板 5 份（带 B/A 厅尺寸）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3703320" y="1339596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空白模板带尺寸 → 嘉宾按模板做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623560" y="1339596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陈潇+黄璐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629400" y="1339596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发给 5-6 位主旨嘉宾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368856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325880" y="1368856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B 厅 2 块主屏（主旨演讲）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3703320" y="1368856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尺寸已群发；两屏中间有门隔开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5623560" y="1368856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629400" y="1368856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5/18 已发到 26 人群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502920" y="1398117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325880" y="1398117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A 厅 L 型曲面屏（晚宴）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703320" y="1398117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约 20m × 2m 长曲面屏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623560" y="1398117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F+韦佳玉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629400" y="1398117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会务公司班尼杨做 2-3 页 PPT 模板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1427378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325880" y="1427378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3 楼场地（今年不动）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3703320" y="1427378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去年用 3 楼今年不动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623560" y="1427378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629400" y="1427378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已知信息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502920" y="1456639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财务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1325880" y="1456639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发票需求：餐饮+会务物料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3703320" y="1456639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全部要发票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5623560" y="1456639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629400" y="1456639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Benny.Y 提供费用清单后再制作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502920" y="1485900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财务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325880" y="1485900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发票需求：茶歇不需要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3703320" y="1485900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保留购物小票即可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5623560" y="1485900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F+Winny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6629400" y="1485900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盒马采购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686800" y="1280160"/>
            <a:ext cx="31089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686800" y="17830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9966960" y="17830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686800" y="24688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9966960" y="24688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8686800" y="31546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9966960" y="31546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8686800" y="38404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9966960" y="38404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2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 胡继刚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