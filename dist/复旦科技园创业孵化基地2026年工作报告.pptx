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uild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0"/>
            <a:ext cx="658368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09360" y="0"/>
            <a:ext cx="320040" cy="68580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red_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94360"/>
            <a:ext cx="658368" cy="6583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594360"/>
            <a:ext cx="4114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A2F6B"/>
                </a:solidFill>
                <a:latin typeface="微软雅黑"/>
                <a:ea typeface="微软雅黑"/>
              </a:rPr>
              <a:t>复旦大学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B7C"/>
                </a:solidFill>
                <a:latin typeface="微软雅黑"/>
                <a:ea typeface="微软雅黑"/>
              </a:rPr>
              <a:t>国家大学科技园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4864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0A2F6B"/>
                </a:solidFill>
                <a:latin typeface="微软雅黑"/>
                <a:ea typeface="微软雅黑"/>
              </a:rPr>
              <a:t>2026年工作报告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1F4E8C"/>
                </a:solidFill>
                <a:latin typeface="微软雅黑"/>
                <a:ea typeface="微软雅黑"/>
              </a:rPr>
              <a:t>上海市创业孵化示范基地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45720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B6B7C"/>
                </a:solidFill>
                <a:latin typeface="微软雅黑"/>
                <a:ea typeface="微软雅黑"/>
              </a:rPr>
              <a:t>复旦科技园创业孵化基地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00800"/>
            <a:ext cx="457200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9875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280160"/>
            <a:ext cx="1188720" cy="100584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280160"/>
            <a:ext cx="11887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463039"/>
            <a:ext cx="7772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2F6B"/>
                </a:solidFill>
                <a:latin typeface="微软雅黑"/>
                <a:ea typeface="微软雅黑"/>
              </a:rPr>
              <a:t>创业孵化功能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82880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载体定位 · 服务体系 · 导师与团队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468880"/>
            <a:ext cx="9875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68880"/>
            <a:ext cx="1188720" cy="100584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68880"/>
            <a:ext cx="11887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51760"/>
            <a:ext cx="7772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2F6B"/>
                </a:solidFill>
                <a:latin typeface="微软雅黑"/>
                <a:ea typeface="微软雅黑"/>
              </a:rPr>
              <a:t>创业孵化成效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01752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孵化实效 · 带动就业 · 政策融资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657600"/>
            <a:ext cx="9875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657600"/>
            <a:ext cx="1188720" cy="100584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657600"/>
            <a:ext cx="11887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840480"/>
            <a:ext cx="7772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2F6B"/>
                </a:solidFill>
                <a:latin typeface="微软雅黑"/>
                <a:ea typeface="微软雅黑"/>
              </a:rPr>
              <a:t>人社部门合作紧密度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20624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政策落实 · 联合活动 · 宣传协同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4846320"/>
            <a:ext cx="987552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846320"/>
            <a:ext cx="1188720" cy="100584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46320"/>
            <a:ext cx="1188720" cy="10058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029200"/>
            <a:ext cx="7772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2F6B"/>
                </a:solidFill>
                <a:latin typeface="微软雅黑"/>
                <a:ea typeface="微软雅黑"/>
              </a:rPr>
              <a:t>特色工作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94960"/>
            <a:ext cx="7772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品牌赛事 · 成果转化 · 开放协同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一、复旦科技园创业孵化功能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6400800" cy="3291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复旦大学国家大学科技园是科技部、教育部联合认定的首批国家大学科技园，作为大学原创力向社会延伸的重要载体。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基地依托复旦科技园建设运营，秉持“转化科技、服务社会、汇聚智慧、共创未来”理念，构建“成果发现－概念验证－创业孵化－产业培育”全链条服务，打造高校科技成果转化、创新创业生态和区域发展新动能平台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先后获评国家高新技术创业服务中心、上海市创业孵化示范基地、上海市海聚英才创新创业示范基地等资质。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572000"/>
            <a:ext cx="25146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地址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22402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A2F6B"/>
                </a:solidFill>
                <a:latin typeface="微软雅黑"/>
                <a:ea typeface="微软雅黑"/>
              </a:rPr>
              <a:t>杨浦区国泰路11号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572000"/>
            <a:ext cx="25146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75488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场地面积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166360"/>
            <a:ext cx="22402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微软雅黑"/>
                <a:ea typeface="微软雅黑"/>
              </a:rPr>
              <a:t>3.4万㎡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4572000"/>
            <a:ext cx="25146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75488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孵化面积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5166360"/>
            <a:ext cx="22402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微软雅黑"/>
                <a:ea typeface="微软雅黑"/>
              </a:rPr>
              <a:t>2.56万㎡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572000"/>
            <a:ext cx="25146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754880"/>
            <a:ext cx="22402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在孵实体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5166360"/>
            <a:ext cx="224028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C0392B"/>
                </a:solidFill>
                <a:latin typeface="微软雅黑"/>
                <a:ea typeface="微软雅黑"/>
              </a:rPr>
              <a:t>159家</a:t>
            </a:r>
          </a:p>
        </p:txBody>
      </p:sp>
      <p:pic>
        <p:nvPicPr>
          <p:cNvPr id="22" name="Picture 21" descr="campus_build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4300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四大孵化功能板块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54864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5486400" cy="109728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2F6B"/>
                </a:solidFill>
                <a:latin typeface="微软雅黑"/>
                <a:ea typeface="微软雅黑"/>
              </a:rPr>
              <a:t>01 创业苗圃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聚焦师生创业孵化，配合复旦大学开展创新创业教育与实践。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4864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486400" cy="109728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79" y="160020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2F6B"/>
                </a:solidFill>
                <a:latin typeface="微软雅黑"/>
                <a:ea typeface="微软雅黑"/>
              </a:rPr>
              <a:t>02 复翼互联众创空间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79" y="2240280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搭建全生命周期孵化体系，联动学院、校友会输送项目与资源。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54864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703320"/>
            <a:ext cx="5486400" cy="109728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2F6B"/>
                </a:solidFill>
                <a:latin typeface="微软雅黑"/>
                <a:ea typeface="微软雅黑"/>
              </a:rPr>
              <a:t>03 技术转移服务平台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通过技术转移中心、校企联合实验室对接科研学科，提供技术赋能。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703320"/>
            <a:ext cx="54864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703320"/>
            <a:ext cx="5486400" cy="109728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4069080"/>
            <a:ext cx="48463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2F6B"/>
                </a:solidFill>
                <a:latin typeface="微软雅黑"/>
                <a:ea typeface="微软雅黑"/>
              </a:rPr>
              <a:t>04 海外人才科创基地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79" y="4709160"/>
            <a:ext cx="48463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依托海聚英才等载体，吸引海外创新创业人才集聚发展。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创业孵化功能服务体系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建立规范化、体系化的日常管理工作体系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3611880" cy="1143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91640"/>
            <a:ext cx="36118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企业日常走访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3611880" cy="1143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91640"/>
            <a:ext cx="36118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基础企业服务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1691640"/>
            <a:ext cx="3611880" cy="1143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691640"/>
            <a:ext cx="36118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投融资与市场对接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63240"/>
            <a:ext cx="3611880" cy="1143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63240"/>
            <a:ext cx="36118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创新创业活动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063240"/>
            <a:ext cx="3611880" cy="1143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063240"/>
            <a:ext cx="36118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技术转移服务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063240"/>
            <a:ext cx="3611880" cy="1143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3063240"/>
            <a:ext cx="3611880" cy="11430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政策辅导申报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1097280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管理制度覆盖：大学生创业基地管理办法、科创企业管理办法、投资管理办法、创业孵化管理办法、入孵与退出办法、促进科技成果转化实施办法及操作细则等。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2025年新增创业导师16人；签约第三方服务机构41家，全年服务超2000家次；复煜概念验证中心投入运营。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创业导师与基地管理团队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54864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91440" cy="22860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创业导师队伍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512064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高校教授、企业家、投资人、优秀校友多元构成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开展创业讲堂、校友沙龙、一对一辅导等活动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2025年新增创业导师16人，持续提升辅导深度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91440" cy="22860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258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基地管理团队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0292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具备科技园与孵化器长期运营经验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对接人社创业指导、政策辅导与投融资服务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累计服务孵化企业规模持续扩大</a:t>
            </a:r>
          </a:p>
        </p:txBody>
      </p:sp>
      <p:pic>
        <p:nvPicPr>
          <p:cNvPr id="17" name="Picture 16" descr="mentor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49039"/>
            <a:ext cx="2560320" cy="2468880"/>
          </a:xfrm>
          <a:prstGeom prst="rect">
            <a:avLst/>
          </a:prstGeom>
        </p:spPr>
      </p:pic>
      <p:pic>
        <p:nvPicPr>
          <p:cNvPr id="18" name="Picture 17" descr="mentor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3749039"/>
            <a:ext cx="2560320" cy="2468880"/>
          </a:xfrm>
          <a:prstGeom prst="rect">
            <a:avLst/>
          </a:prstGeom>
        </p:spPr>
      </p:pic>
      <p:pic>
        <p:nvPicPr>
          <p:cNvPr id="19" name="Picture 18" descr="activity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3949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二、创业孵化成效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23444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新增入孵团队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1168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26家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当年孵化成功率100%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087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新增初创组织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23家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78892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年末存活率100%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23444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5087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在孵创业实体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01168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159家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78892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2025年末存续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123444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5087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在岗人数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01168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324人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78892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同比+57.28%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0332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9776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新增就业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48056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118人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25780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创业带动就业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70332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9776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双创活动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48056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47场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25780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与人社合作3场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70332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39776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投融资支持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48056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9700余万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25780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帮扶创业组织融资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3703320"/>
            <a:ext cx="2743200" cy="21945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72600" y="397764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B7C"/>
                </a:solidFill>
                <a:latin typeface="微软雅黑"/>
                <a:ea typeface="微软雅黑"/>
              </a:rPr>
              <a:t>人社政策受益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4480560"/>
            <a:ext cx="23774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C0392B"/>
                </a:solidFill>
                <a:latin typeface="微软雅黑"/>
                <a:ea typeface="微软雅黑"/>
              </a:rPr>
              <a:t>9家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525780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担保贷款2家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创业孵化成效 · 重点指标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2331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91440" cy="23317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创业组织培育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5212079" cy="16916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新增入孵创业团队26家、初创组织23家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年末在孵创业实体159家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优秀创业组织9家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88720"/>
            <a:ext cx="5577840" cy="2331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88720"/>
            <a:ext cx="91440" cy="23317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32588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选树创业典型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691640"/>
            <a:ext cx="5212079" cy="16916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眸深智能获全国颠覆性技术创新大赛最高奖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本科生团队获中国国际大学生创新大赛金奖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音书科技获天使基金优秀雏鹰企业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577840" cy="2331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91440" cy="23317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创业氛围营造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51959"/>
            <a:ext cx="5212079" cy="16916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双创活动47场，培训/路演/沙龙并举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推荐赛事项目100余项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宣传稿34篇，人社供稿采纳10篇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577840" cy="233172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749039"/>
            <a:ext cx="91440" cy="233172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88620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创业融资服务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251959"/>
            <a:ext cx="5212079" cy="169163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投融资支持约9700余万元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联动大创基金、科创母基金与前孵化资金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合作银行与创投机构持续扩容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三、与人社部门合作紧密度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658368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1. 政策宣传与对接落实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围绕人社创业扶持政策开展宣传辅导，2025年推荐9家创业组织享受人社扶持政策，帮扶2家获得创业担保贷款。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2. 联合开展创业活动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与人社部门合作开展创新创业活动3场；推荐组织和项目参加人社类活动/赛事12项；马兰花GYB培训班顺利举办。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3. 宣传协同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向人社部门供稿11篇，其中10篇被“海纳百创”“乐业杨浦”等媒介采纳。</a:t>
            </a:r>
          </a:p>
        </p:txBody>
      </p:sp>
      <p:pic>
        <p:nvPicPr>
          <p:cNvPr id="10" name="Picture 9" descr="event_hr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43000"/>
            <a:ext cx="4297680" cy="2468880"/>
          </a:xfrm>
          <a:prstGeom prst="rect">
            <a:avLst/>
          </a:prstGeom>
        </p:spPr>
      </p:pic>
      <p:pic>
        <p:nvPicPr>
          <p:cNvPr id="11" name="Picture 10" descr="activity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794760"/>
            <a:ext cx="42976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四、特色工作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36576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A24B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助力高校创业教育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课程实训、见习指导、马兰花培训与学分实践相结合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36576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0876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A24B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推动成果转移转化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6032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对接16个院系，入库成果21项，转化落地12项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34440"/>
            <a:ext cx="36576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0876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A24B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01168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就业促进与招聘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56032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校园招聘、见习实训与岗位对接同步推进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36576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6908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A24B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57200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投融资服务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2064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基金＋银行＋创投协同，全年融资约9700余万元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3794760"/>
            <a:ext cx="36576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406908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A24B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57200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区域与长三角协同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12064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校地合作、分园联动、产业资源共享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3794760"/>
            <a:ext cx="3657600" cy="22860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406908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9A24B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572000"/>
            <a:ext cx="3200400" cy="411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国际化合作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512064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B2A3A"/>
                </a:solidFill>
                <a:latin typeface="微软雅黑"/>
                <a:ea typeface="微软雅黑"/>
              </a:rPr>
              <a:t>北欧会客厅、出海沙龙与国际参访交流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特色工作 · 助力复旦大学创业教育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5577840" cy="493776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91440" cy="493776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2588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主要抓手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5212079" cy="4297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双创课程：“复・创课堂”、企业沙龙、理论＋实践课程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马兰花计划：GYB创业意识激发期培训班顺利举办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创业见习与实训：强化学生项目筛选与创业实践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品牌赛事：承办/协同复旦科创大赛、复旦之星等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场地政策：持续向师生、校友创业组织提供租金减免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2025年向49家创业组织提供租金减免等场地支持</a:t>
            </a:r>
          </a:p>
        </p:txBody>
      </p:sp>
      <p:pic>
        <p:nvPicPr>
          <p:cNvPr id="13" name="Picture 12" descr="alumni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303520" cy="2926080"/>
          </a:xfrm>
          <a:prstGeom prst="rect">
            <a:avLst/>
          </a:prstGeom>
        </p:spPr>
      </p:pic>
      <p:pic>
        <p:nvPicPr>
          <p:cNvPr id="14" name="Picture 13" descr="alumni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4297680"/>
            <a:ext cx="530352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特色工作 · 推动高校技术转移转化落地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66751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A2F6B"/>
                </a:solidFill>
                <a:latin typeface="微软雅黑"/>
                <a:ea typeface="微软雅黑"/>
              </a:rPr>
              <a:t>建设概念验证与联合孵化能力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复煜概念验证中心2025年8月投入运营，从60余个项目中遴选4个进入验证阶段，提供资金、载体、场景、科研、投融资与运营协助。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累计对接复旦大学16个院系，新增入库成果21项，推动企业依托高校开展成果转化12项；深度服务11家复旦科创衍生企业。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83280"/>
            <a:ext cx="6675120" cy="27432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383280"/>
            <a:ext cx="91440" cy="2743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630935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案例：波达医疗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6309359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复旦信息学院教师团队创办，超快超声成像产业化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获“3310”B类、海聚英才大赛二等奖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对接融资资源，获飞图创投数千万元融资，估值破亿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获批上海市2025年度关键技术研发计划项目</a:t>
            </a:r>
          </a:p>
        </p:txBody>
      </p:sp>
      <p:pic>
        <p:nvPicPr>
          <p:cNvPr id="14" name="Picture 13" descr="tech_transfer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143000"/>
            <a:ext cx="4206240" cy="2468880"/>
          </a:xfrm>
          <a:prstGeom prst="rect">
            <a:avLst/>
          </a:prstGeom>
        </p:spPr>
      </p:pic>
      <p:pic>
        <p:nvPicPr>
          <p:cNvPr id="15" name="Picture 14" descr="tech_transfer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840480"/>
            <a:ext cx="420624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特色工作 · 就业促进与投融资服务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24688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91440" cy="2468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就业促进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5212079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在孵组织在岗324人，新增就业118人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开展校园招聘、企业实训与见习对接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服务高校毕业生与青年创业者就业创业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394960" cy="24688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91440" cy="24688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投融资服务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02920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投融资支持累计约9700余万元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联动大创基金、科创母基金、前孵化资金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合作创投与银行机构持续拓宽融资渠道</a:t>
            </a:r>
          </a:p>
        </p:txBody>
      </p:sp>
      <p:pic>
        <p:nvPicPr>
          <p:cNvPr id="17" name="Picture 16" descr="recruit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31920"/>
            <a:ext cx="5577840" cy="2286000"/>
          </a:xfrm>
          <a:prstGeom prst="rect">
            <a:avLst/>
          </a:prstGeom>
        </p:spPr>
      </p:pic>
      <p:pic>
        <p:nvPicPr>
          <p:cNvPr id="18" name="Picture 17" descr="finance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31920"/>
            <a:ext cx="539496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特色工作 · 区域协同与国际化合作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577840" cy="27432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88720"/>
            <a:ext cx="91440" cy="27432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5212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区域与开放协同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691640"/>
            <a:ext cx="5212079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校地合作服务杨浦重点产业与成果落地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拨投结合模式助力益臻新能源等项目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基地企业区级税收贡献1.37亿元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链接技术转移中心、张江磁谷等创新主体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394960" cy="27432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91440" cy="27432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国际化合作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9164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参与发起“北欧创新国际会客厅”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举办出海沙龙、学术交流等活动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接待巴西、俄罗斯等国际参访团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促进中欧创新资源与青年创业合作</a:t>
            </a:r>
          </a:p>
        </p:txBody>
      </p:sp>
      <p:pic>
        <p:nvPicPr>
          <p:cNvPr id="17" name="Picture 16" descr="yangtz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60520"/>
            <a:ext cx="5577840" cy="2011680"/>
          </a:xfrm>
          <a:prstGeom prst="rect">
            <a:avLst/>
          </a:prstGeom>
        </p:spPr>
      </p:pic>
      <p:pic>
        <p:nvPicPr>
          <p:cNvPr id="18" name="Picture 17" descr="intl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4160520"/>
            <a:ext cx="539496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特色品牌 · 复旦科创大赛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15568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由复旦大学、虹口区人民政府、锦江国际集团共同指导，基地作为主要承办单位，承担赛事组织、项目遴选、辅导培训、评审协调、资源对接及赛后孵化。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吸引全国456个项目报名，覆盖信息技术、集成电路、生命健康、新材料等领域；20支团队进入总决赛，多个项目达成投融资或转化合作意向。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27432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1089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报名项目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2F6B"/>
                </a:solidFill>
                <a:latin typeface="微软雅黑"/>
                <a:ea typeface="微软雅黑"/>
              </a:rPr>
              <a:t>456个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926080"/>
            <a:ext cx="27432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决赛团队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1188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2F6B"/>
                </a:solidFill>
                <a:latin typeface="微软雅黑"/>
                <a:ea typeface="微软雅黑"/>
              </a:rPr>
              <a:t>20支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27432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1089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重点赛道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1188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2F6B"/>
                </a:solidFill>
                <a:latin typeface="微软雅黑"/>
                <a:ea typeface="微软雅黑"/>
              </a:rPr>
              <a:t>4大领域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2926080"/>
            <a:ext cx="2743200" cy="15544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108960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B7C"/>
                </a:solidFill>
                <a:latin typeface="微软雅黑"/>
                <a:ea typeface="微软雅黑"/>
              </a:rPr>
              <a:t>角色定位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611880"/>
            <a:ext cx="237744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A2F6B"/>
                </a:solidFill>
                <a:latin typeface="微软雅黑"/>
                <a:ea typeface="微软雅黑"/>
              </a:rPr>
              <a:t>承办孵化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1115568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以赛引才、以赛选才、以赛聚才，推动创新链与产业链深度对接，为国家高质量发展注入高校智慧与青年动能。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B2A3A"/>
                </a:solidFill>
                <a:latin typeface="微软雅黑"/>
                <a:ea typeface="微软雅黑"/>
              </a:rPr>
              <a:t>同步协同“复旦之星”“创·在上海”“杨浦科创之星”等赛事，完善高层次人才与优质项目集聚平台。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孵化典型案例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6858000" cy="502920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6400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A2F6B"/>
                </a:solidFill>
                <a:latin typeface="微软雅黑"/>
                <a:ea typeface="微软雅黑"/>
              </a:rPr>
              <a:t>波达医疗 · 高校成果转化标杆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640080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企业定位：复旦大学信息学院教师团队创办，聚焦超快超声成像设备与技术产业化。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孵化服务：创业辅导、3310申报、载体落地、租金与社保政策、投融资对接。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成长成效：海聚英才大赛二等奖；获飞图创投数千万元融资，估值破亿；获批上海市2025年度关键技术研发计划项目。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B2A3A"/>
                </a:solidFill>
                <a:latin typeface="微软雅黑"/>
                <a:ea typeface="微软雅黑"/>
              </a:rPr>
              <a:t>同期典型：眸深智能获全国颠覆性技术创新大赛最高奖；本科生团队获中国国际大学生创新大赛金奖；音书科技获天使基金优秀雏鹰企业。</a:t>
            </a:r>
          </a:p>
        </p:txBody>
      </p:sp>
      <p:pic>
        <p:nvPicPr>
          <p:cNvPr id="12" name="Picture 11" descr="tech_transfer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143000"/>
            <a:ext cx="4023360" cy="2377440"/>
          </a:xfrm>
          <a:prstGeom prst="rect">
            <a:avLst/>
          </a:prstGeom>
        </p:spPr>
      </p:pic>
      <p:pic>
        <p:nvPicPr>
          <p:cNvPr id="13" name="Picture 12" descr="tech_transfer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703320"/>
            <a:ext cx="402336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ed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8288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64592"/>
            <a:ext cx="411480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复旦大学国家大学科技园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"/>
            <a:ext cx="6675120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综合效益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601968"/>
            <a:ext cx="822960" cy="25603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657600" cy="47548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91440" cy="475488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17319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经济效益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32918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新增注册企业190家（科技型143家）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高企（含复审）21家 / 小巨人2家 / 3310企业3家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知识产权318项（发明专利42项）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区级税收贡献1.37亿元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47548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91440" cy="475488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417319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社会效益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783080"/>
            <a:ext cx="32918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成果转化12项，新增导师16人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培训11场、活动37场，赛事推荐100余项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市载体绩效：科技园优良、众创空间优秀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杨浦区科技园区考评优秀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57600" cy="4754880"/>
          </a:xfrm>
          <a:prstGeom prst="rect">
            <a:avLst/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91440" cy="47548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17319"/>
            <a:ext cx="32918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2F6B"/>
                </a:solidFill>
                <a:latin typeface="微软雅黑"/>
                <a:ea typeface="微软雅黑"/>
              </a:rPr>
              <a:t>绿色发展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83080"/>
            <a:ext cx="3291840" cy="4114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景观照明与公共空间品质提升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综合更新项目获批张江专项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获评区级“无废楼宇”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B2A3A"/>
                </a:solidFill>
                <a:latin typeface="微软雅黑"/>
                <a:ea typeface="微软雅黑"/>
              </a:rPr>
              <a:t>持续优化载体运营环境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ing_phot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0"/>
            <a:ext cx="64008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0A2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71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30352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育高校创业新苗，</a:t>
            </a:r>
          </a:p>
          <a:p>
            <a:pPr algn="l">
              <a:spcAft>
                <a:spcPts val="1600"/>
              </a:spcAft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</a:rPr>
              <a:t>助技术成果转化！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9A24B"/>
                </a:solidFill>
                <a:latin typeface="微软雅黑"/>
                <a:ea typeface="微软雅黑"/>
              </a:rPr>
              <a:t>复旦大学国家大学科技园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A9C0D6"/>
                </a:solidFill>
                <a:latin typeface="微软雅黑"/>
                <a:ea typeface="微软雅黑"/>
              </a:rPr>
              <a:t>创业孵化基地 · 2026年工作报告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5303520" cy="3200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感谢聆听  ·  2026.06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