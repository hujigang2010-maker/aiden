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uilding_innovation_cen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7208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5852160" y="0"/>
            <a:ext cx="1463040" cy="6858000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647395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840480" y="647395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647395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41648" y="647395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5256" y="647395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42816" y="647395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" y="647395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43984" y="647395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921834" cy="1417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40280" y="685800"/>
            <a:ext cx="41148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2A3A"/>
                </a:solidFill>
                <a:latin typeface="微软雅黑"/>
                <a:ea typeface="微软雅黑"/>
              </a:rPr>
              <a:t>复旦大学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6B7A8D"/>
                </a:solidFill>
                <a:latin typeface="微软雅黑"/>
                <a:ea typeface="微软雅黑"/>
              </a:rPr>
              <a:t>国家大学科技园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331720"/>
            <a:ext cx="10058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06040"/>
            <a:ext cx="56692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0B2A4A"/>
                </a:solidFill>
                <a:latin typeface="微软雅黑"/>
                <a:ea typeface="微软雅黑"/>
              </a:rPr>
              <a:t>2026 年度工作报告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A2A3A"/>
                </a:solidFill>
                <a:latin typeface="微软雅黑"/>
                <a:ea typeface="微软雅黑"/>
              </a:rPr>
              <a:t>上海市创业孵化示范基地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434840"/>
            <a:ext cx="54864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F5F8A"/>
                </a:solidFill>
                <a:latin typeface="微软雅黑"/>
                <a:ea typeface="微软雅黑"/>
              </a:rPr>
              <a:t>复旦科技园创业孵化基地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A8D"/>
                </a:solidFill>
                <a:latin typeface="微软雅黑"/>
                <a:ea typeface="微软雅黑"/>
              </a:rPr>
              <a:t>聚焦成果转化 · 厚植创业生态 · 赋能区域发展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669280"/>
            <a:ext cx="4572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汇报单位：复旦大学国家大学科技园    2026.01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6400800"/>
            <a:ext cx="3383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A97A8"/>
                </a:solidFill>
                <a:latin typeface="微软雅黑"/>
                <a:ea typeface="微软雅黑"/>
              </a:rPr>
              <a:t>杨浦 · 国泰路 11 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392523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228600"/>
            <a:ext cx="73152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目  录 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325880"/>
            <a:ext cx="98755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325880"/>
            <a:ext cx="164592" cy="960120"/>
          </a:xfrm>
          <a:prstGeom prst="rect">
            <a:avLst/>
          </a:prstGeom>
          <a:solidFill>
            <a:srgbClr val="3A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554480" y="1527048"/>
            <a:ext cx="548640" cy="548640"/>
          </a:xfrm>
          <a:prstGeom prst="diamond">
            <a:avLst/>
          </a:prstGeom>
          <a:solidFill>
            <a:srgbClr val="3A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463040"/>
            <a:ext cx="7772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2A3A"/>
                </a:solidFill>
                <a:latin typeface="微软雅黑"/>
                <a:ea typeface="微软雅黑"/>
              </a:rPr>
              <a:t>载体基本情况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828800"/>
            <a:ext cx="7772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A8D"/>
                </a:solidFill>
                <a:latin typeface="微软雅黑"/>
                <a:ea typeface="微软雅黑"/>
              </a:rPr>
              <a:t>平台定位 · 空间载体 · 荣誉资质 · 产业布局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468880"/>
            <a:ext cx="98755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2468880"/>
            <a:ext cx="164592" cy="960120"/>
          </a:xfrm>
          <a:prstGeom prst="rect">
            <a:avLst/>
          </a:prstGeom>
          <a:solidFill>
            <a:srgbClr val="2A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1554480" y="2670048"/>
            <a:ext cx="548640" cy="548640"/>
          </a:xfrm>
          <a:prstGeom prst="diamond">
            <a:avLst/>
          </a:prstGeom>
          <a:solidFill>
            <a:srgbClr val="2A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606040"/>
            <a:ext cx="7772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2A3A"/>
                </a:solidFill>
                <a:latin typeface="微软雅黑"/>
                <a:ea typeface="微软雅黑"/>
              </a:rPr>
              <a:t>2025 年工作成效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971800"/>
            <a:ext cx="7772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A8D"/>
                </a:solidFill>
                <a:latin typeface="微软雅黑"/>
                <a:ea typeface="微软雅黑"/>
              </a:rPr>
              <a:t>孵化实效 · 就业带动 · 政策金融 · 服务活动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611880"/>
            <a:ext cx="98755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3611880"/>
            <a:ext cx="164592" cy="960120"/>
          </a:xfrm>
          <a:prstGeom prst="rect">
            <a:avLst/>
          </a:prstGeom>
          <a:solidFill>
            <a:srgbClr val="2F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1554480" y="3813048"/>
            <a:ext cx="548640" cy="548640"/>
          </a:xfrm>
          <a:prstGeom prst="diamond">
            <a:avLst/>
          </a:prstGeom>
          <a:solidFill>
            <a:srgbClr val="2F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749040"/>
            <a:ext cx="7772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2A3A"/>
                </a:solidFill>
                <a:latin typeface="微软雅黑"/>
                <a:ea typeface="微软雅黑"/>
              </a:rPr>
              <a:t>特色与亮点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114800"/>
            <a:ext cx="7772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A8D"/>
                </a:solidFill>
                <a:latin typeface="微软雅黑"/>
                <a:ea typeface="微软雅黑"/>
              </a:rPr>
              <a:t>品牌建设 · 成果转化体系 · 区域协同开放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754880"/>
            <a:ext cx="98755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4754880"/>
            <a:ext cx="164592" cy="960120"/>
          </a:xfrm>
          <a:prstGeom prst="rect">
            <a:avLst/>
          </a:prstGeom>
          <a:solidFill>
            <a:srgbClr val="5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1554480" y="4956048"/>
            <a:ext cx="548640" cy="548640"/>
          </a:xfrm>
          <a:prstGeom prst="diamond">
            <a:avLst/>
          </a:prstGeom>
          <a:solidFill>
            <a:srgbClr val="5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892040"/>
            <a:ext cx="7772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2A3A"/>
                </a:solidFill>
                <a:latin typeface="微软雅黑"/>
                <a:ea typeface="微软雅黑"/>
              </a:rPr>
              <a:t>综合效益与展望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5257800"/>
            <a:ext cx="7772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A8D"/>
                </a:solidFill>
                <a:latin typeface="微软雅黑"/>
                <a:ea typeface="微软雅黑"/>
              </a:rPr>
              <a:t>经济 · 社会 · 绿色效益及下一步方向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导语  总体定位与工作主线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051560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1060704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紧扣国家大学科技园优化重塑主线，围绕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C49A3C"/>
                </a:solidFill>
                <a:latin typeface="微软雅黑"/>
                <a:ea typeface="微软雅黑"/>
              </a:rPr>
              <a:t>“成果发现－概念验证－创业孵化－产业培育”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推动高校成果加速转化、创业项目落地成长、科技企业集聚发展。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8892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88920"/>
            <a:ext cx="2697480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63240"/>
            <a:ext cx="2697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C8102E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66160"/>
            <a:ext cx="2697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B2A4A"/>
                </a:solidFill>
                <a:latin typeface="微软雅黑"/>
                <a:ea typeface="微软雅黑"/>
              </a:rPr>
              <a:t>成果转化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2331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6B7A8D"/>
                </a:solidFill>
                <a:latin typeface="微软雅黑"/>
                <a:ea typeface="微软雅黑"/>
              </a:rPr>
              <a:t>打通实验室到市场
最初一公里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78892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2788920"/>
            <a:ext cx="2697480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063240"/>
            <a:ext cx="2697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C8102E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566160"/>
            <a:ext cx="2697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B2A4A"/>
                </a:solidFill>
                <a:latin typeface="微软雅黑"/>
                <a:ea typeface="微软雅黑"/>
              </a:rPr>
              <a:t>创业孵化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160520"/>
            <a:ext cx="2331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6B7A8D"/>
                </a:solidFill>
                <a:latin typeface="微软雅黑"/>
                <a:ea typeface="微软雅黑"/>
              </a:rPr>
              <a:t>全链条培育
科技型初创企业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8892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788920"/>
            <a:ext cx="2697480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063240"/>
            <a:ext cx="2697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C8102E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566160"/>
            <a:ext cx="2697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B2A4A"/>
                </a:solidFill>
                <a:latin typeface="微软雅黑"/>
                <a:ea typeface="微软雅黑"/>
              </a:rPr>
              <a:t>人才培养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160520"/>
            <a:ext cx="2331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6B7A8D"/>
                </a:solidFill>
                <a:latin typeface="微软雅黑"/>
                <a:ea typeface="微软雅黑"/>
              </a:rPr>
              <a:t>双创教育与
实践赋能并进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78892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2788920"/>
            <a:ext cx="2697480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3063240"/>
            <a:ext cx="2697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C8102E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566160"/>
            <a:ext cx="2697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B2A4A"/>
                </a:solidFill>
                <a:latin typeface="微软雅黑"/>
                <a:ea typeface="微软雅黑"/>
              </a:rPr>
              <a:t>区域协同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160520"/>
            <a:ext cx="2331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6B7A8D"/>
                </a:solidFill>
                <a:latin typeface="微软雅黑"/>
                <a:ea typeface="微软雅黑"/>
              </a:rPr>
              <a:t>校地融合服务
高质量发展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937760" cy="685800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uilding_innovation_cen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234440"/>
            <a:ext cx="4114800" cy="4206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35240" y="1234440"/>
            <a:ext cx="41148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0" y="5367528"/>
            <a:ext cx="4114800" cy="73152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" cy="14630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49A3C"/>
                </a:solidFill>
                <a:latin typeface="微软雅黑"/>
                <a:ea typeface="微软雅黑"/>
              </a:rPr>
              <a:t>PART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6400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01  载体基本情况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6400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A97A8"/>
                </a:solidFill>
                <a:latin typeface="微软雅黑"/>
                <a:ea typeface="微软雅黑"/>
              </a:rPr>
              <a:t>高校校区 · 科技基地 · 公共社区“三区联动”创新实践基地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126480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</a:rPr>
              <a:t>复旦科技园创业孵化基地  ·  领导汇报材料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01  载体基本情况 · 平台定位与空间载体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cubator_interior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663440" cy="445244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074920"/>
            <a:ext cx="4663440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42976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49A3C"/>
                </a:solidFill>
                <a:latin typeface="微软雅黑"/>
                <a:ea typeface="微软雅黑"/>
              </a:rPr>
              <a:t>国泰路 11 号 · 场地面积 3.4 万㎡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孵化面积 2.56 万㎡，占比 75%
紧邻复旦邯郸校区与五角场商圈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051560"/>
            <a:ext cx="62179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2A4A"/>
                </a:solidFill>
                <a:latin typeface="微软雅黑"/>
                <a:ea typeface="微软雅黑"/>
              </a:rPr>
              <a:t>复旦大学国家大学科技园 · 首批国家大学科技园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508760"/>
            <a:ext cx="62179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创立于 2000 年，由科技部、教育部联合认定。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发展理念：“转化科技、服务社会、汇聚智慧、共创未来”。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核心功能：科技成果转化、创业孵化、产业培育、创新人才培养。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3246120"/>
            <a:ext cx="62179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0680" y="3246120"/>
            <a:ext cx="91440" cy="8686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3355848"/>
            <a:ext cx="2011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</a:rPr>
              <a:t>全链条矩阵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355848"/>
            <a:ext cx="3566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众创空间 + 孵化器
+ 加速器 + 产业基地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0680" y="4206240"/>
            <a:ext cx="62179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40680" y="4206240"/>
            <a:ext cx="91440" cy="8686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4315968"/>
            <a:ext cx="2011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</a:rPr>
              <a:t>服务对象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315968"/>
            <a:ext cx="3566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高校师生 / 校友团队
科技型初创企业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40680" y="5166360"/>
            <a:ext cx="62179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5166360"/>
            <a:ext cx="91440" cy="8686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5276088"/>
            <a:ext cx="20116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</a:rPr>
              <a:t>服务体系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276088"/>
            <a:ext cx="3566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空间 · 政策 · 辅导
技术转移 · 投融资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01  载体基本情况 · 荣誉资质与产业集聚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2A4A"/>
                </a:solidFill>
                <a:latin typeface="微软雅黑"/>
                <a:ea typeface="微软雅黑"/>
              </a:rPr>
              <a:t>核心荣誉资质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89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73152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17320"/>
            <a:ext cx="2468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国家高新技术创业服务中心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17320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89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17320"/>
            <a:ext cx="73152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417320"/>
            <a:ext cx="2468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国家高校学生科技创业实习基地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075688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89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075688"/>
            <a:ext cx="73152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75688"/>
            <a:ext cx="2468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上海市创业孵化示范基地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2075688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89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2075688"/>
            <a:ext cx="73152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075688"/>
            <a:ext cx="2468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上海市海聚英才创新创业示范基地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734056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89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734056"/>
            <a:ext cx="73152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734056"/>
            <a:ext cx="2468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上海市知识产权示范基地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2734056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89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0" y="2734056"/>
            <a:ext cx="73152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2734056"/>
            <a:ext cx="2468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上海市科技创新创业服务站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392424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89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392424"/>
            <a:ext cx="73152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392424"/>
            <a:ext cx="2468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中国高校孵化器十强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3392424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89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83280" y="3392424"/>
            <a:ext cx="73152" cy="5486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3392424"/>
            <a:ext cx="2468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国家火炬计划先进服务机构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005840"/>
            <a:ext cx="5303520" cy="5166360"/>
          </a:xfrm>
          <a:prstGeom prst="roundRect">
            <a:avLst>
              <a:gd name="adj" fmla="val 4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1188720"/>
            <a:ext cx="4754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49A3C"/>
                </a:solidFill>
                <a:latin typeface="微软雅黑"/>
                <a:ea typeface="微软雅黑"/>
              </a:rPr>
              <a:t>截至 2025 年 · 关键培育数据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1691640"/>
            <a:ext cx="18288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1500+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1691640"/>
            <a:ext cx="28346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存续注册企业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7A8"/>
                </a:solidFill>
                <a:latin typeface="微软雅黑"/>
                <a:ea typeface="微软雅黑"/>
              </a:rPr>
              <a:t>科技型企业占比 80%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514600"/>
            <a:ext cx="18288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514600"/>
            <a:ext cx="28346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高新技术企业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7A8"/>
                </a:solidFill>
                <a:latin typeface="微软雅黑"/>
                <a:ea typeface="微软雅黑"/>
              </a:rPr>
              <a:t>累计培育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337560"/>
            <a:ext cx="18288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28 /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3337560"/>
            <a:ext cx="28346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专精特新中小企业 / 小巨人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7A8"/>
                </a:solidFill>
                <a:latin typeface="微软雅黑"/>
                <a:ea typeface="微软雅黑"/>
              </a:rPr>
              <a:t>上海市级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160520"/>
            <a:ext cx="18288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4160520"/>
            <a:ext cx="28346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资本市场挂牌上市企业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7A8"/>
                </a:solidFill>
                <a:latin typeface="微软雅黑"/>
                <a:ea typeface="微软雅黑"/>
              </a:rPr>
              <a:t>多层次资本市场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983480"/>
            <a:ext cx="18288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1.37 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4983480"/>
            <a:ext cx="28346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区级税收贡献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97A8"/>
                </a:solidFill>
                <a:latin typeface="微软雅黑"/>
                <a:ea typeface="微软雅黑"/>
              </a:rPr>
              <a:t>2025 年基地企业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251960"/>
            <a:ext cx="5669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</a:rPr>
              <a:t>特色产业集群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4663440"/>
            <a:ext cx="1051560" cy="438912"/>
          </a:xfrm>
          <a:prstGeom prst="roundRect">
            <a:avLst>
              <a:gd name="adj" fmla="val 30000"/>
            </a:avLst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663440"/>
            <a:ext cx="10515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集成电路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645920" y="4663440"/>
            <a:ext cx="1051560" cy="438912"/>
          </a:xfrm>
          <a:prstGeom prst="roundRect">
            <a:avLst>
              <a:gd name="adj" fmla="val 30000"/>
            </a:avLst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45920" y="4663440"/>
            <a:ext cx="10515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软件和信息技术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88920" y="4663440"/>
            <a:ext cx="1051560" cy="438912"/>
          </a:xfrm>
          <a:prstGeom prst="roundRect">
            <a:avLst>
              <a:gd name="adj" fmla="val 30000"/>
            </a:avLst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88920" y="4663440"/>
            <a:ext cx="10515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节能环保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31920" y="4663440"/>
            <a:ext cx="1051560" cy="438912"/>
          </a:xfrm>
          <a:prstGeom prst="roundRect">
            <a:avLst>
              <a:gd name="adj" fmla="val 30000"/>
            </a:avLst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31920" y="4663440"/>
            <a:ext cx="10515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新材料新能源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74920" y="4663440"/>
            <a:ext cx="1051560" cy="438912"/>
          </a:xfrm>
          <a:prstGeom prst="roundRect">
            <a:avLst>
              <a:gd name="adj" fmla="val 30000"/>
            </a:avLst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74920" y="4663440"/>
            <a:ext cx="10515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生物医药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5303520"/>
            <a:ext cx="5669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初步形成以硬科技为主导、多领域协同发展的产业生态，
为区域创新策源与产业升级提供持续动能。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937760" cy="685800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eting_alumn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234440"/>
            <a:ext cx="4114800" cy="4206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35240" y="1234440"/>
            <a:ext cx="41148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0" y="5367528"/>
            <a:ext cx="4114800" cy="73152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" cy="14630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49A3C"/>
                </a:solidFill>
                <a:latin typeface="微软雅黑"/>
                <a:ea typeface="微软雅黑"/>
              </a:rPr>
              <a:t>PART 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6400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02  2025 年工作成效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6400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A97A8"/>
                </a:solidFill>
                <a:latin typeface="微软雅黑"/>
                <a:ea typeface="微软雅黑"/>
              </a:rPr>
              <a:t>以实效为导向，系统提升孵化服务能力与创业生态活跃度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126480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</a:rPr>
              <a:t>复旦科技园创业孵化基地  ·  领导汇报材料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02  2025 年工作成效 · 关键指标总览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365760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3657600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3657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C8102E"/>
                </a:solidFill>
                <a:latin typeface="微软雅黑"/>
                <a:ea typeface="微软雅黑"/>
              </a:rPr>
              <a:t>26 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A2A3A"/>
                </a:solidFill>
                <a:latin typeface="微软雅黑"/>
                <a:ea typeface="微软雅黑"/>
              </a:rPr>
              <a:t>新增入孵创业团队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3657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孵化成功率 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097280"/>
            <a:ext cx="365760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3657600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508760"/>
            <a:ext cx="3657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0B2A4A"/>
                </a:solidFill>
                <a:latin typeface="微软雅黑"/>
                <a:ea typeface="微软雅黑"/>
              </a:rPr>
              <a:t>159 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19456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A2A3A"/>
                </a:solidFill>
                <a:latin typeface="微软雅黑"/>
                <a:ea typeface="微软雅黑"/>
              </a:rPr>
              <a:t>年末在孵创业实体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06040"/>
            <a:ext cx="3657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初创组织存活率 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097280"/>
            <a:ext cx="365760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097280"/>
            <a:ext cx="3657600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508760"/>
            <a:ext cx="3657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C8102E"/>
                </a:solidFill>
                <a:latin typeface="微软雅黑"/>
                <a:ea typeface="微软雅黑"/>
              </a:rPr>
              <a:t>324 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19456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A2A3A"/>
                </a:solidFill>
                <a:latin typeface="微软雅黑"/>
                <a:ea typeface="微软雅黑"/>
              </a:rPr>
              <a:t>在孵组织在岗人数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606040"/>
            <a:ext cx="3657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同比增长 57.28%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29000"/>
            <a:ext cx="365760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429000"/>
            <a:ext cx="3657600" cy="91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3657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0B2A4A"/>
                </a:solidFill>
                <a:latin typeface="微软雅黑"/>
                <a:ea typeface="微软雅黑"/>
              </a:rPr>
              <a:t>9700 万+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A2A3A"/>
                </a:solidFill>
                <a:latin typeface="微软雅黑"/>
                <a:ea typeface="微软雅黑"/>
              </a:rPr>
              <a:t>投融资支持金额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37760"/>
            <a:ext cx="3657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助力企业加速成长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429000"/>
            <a:ext cx="365760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429000"/>
            <a:ext cx="3657600" cy="91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3840480"/>
            <a:ext cx="3657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C8102E"/>
                </a:solidFill>
                <a:latin typeface="微软雅黑"/>
                <a:ea typeface="微软雅黑"/>
              </a:rPr>
              <a:t>47 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52628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A2A3A"/>
                </a:solidFill>
                <a:latin typeface="微软雅黑"/>
                <a:ea typeface="微软雅黑"/>
              </a:rPr>
              <a:t>创新创业活动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937760"/>
            <a:ext cx="3657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其中人社合作 3 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429000"/>
            <a:ext cx="365760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3429000"/>
            <a:ext cx="3657600" cy="91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3840480"/>
            <a:ext cx="3657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0B2A4A"/>
                </a:solidFill>
                <a:latin typeface="微软雅黑"/>
                <a:ea typeface="微软雅黑"/>
              </a:rPr>
              <a:t>21 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52628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A2A3A"/>
                </a:solidFill>
                <a:latin typeface="微软雅黑"/>
                <a:ea typeface="微软雅黑"/>
              </a:rPr>
              <a:t>新增高企（含复审）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937760"/>
            <a:ext cx="3657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梯度培育持续见效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02  创业孵化实效 · 项目挖掘与企业培育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05840"/>
            <a:ext cx="5623560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562356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078992"/>
            <a:ext cx="5212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一、加强创业项目挖掘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52120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聚焦人工智能、集成电路、生物医药、新材料等重点领域，
与院系、科研团队和创新创业平台协同挖掘产业化项目。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14600"/>
            <a:ext cx="2468880" cy="9144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06040"/>
            <a:ext cx="24688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C8102E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对接院系（个）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39" y="2514600"/>
            <a:ext cx="2468880" cy="9144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39" y="2606040"/>
            <a:ext cx="24688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C8102E"/>
                </a:solidFill>
                <a:latin typeface="微软雅黑"/>
                <a:ea typeface="微软雅黑"/>
              </a:rPr>
              <a:t>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39" y="301752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新增入库成果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2468880" cy="9144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57600"/>
            <a:ext cx="24688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C8102E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高校成果转化项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39" y="3566160"/>
            <a:ext cx="2468880" cy="9144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39" y="3657600"/>
            <a:ext cx="24688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C8102E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406908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深度服务衍生企业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54880"/>
            <a:ext cx="521208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重点服务：益臻新能源、波达医疗、眸深智能、复泓智研等
复旦科创衍生企业，提供知识产权、政策、融资、落地等定制支持。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005840"/>
            <a:ext cx="5486400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005840"/>
            <a:ext cx="5486400" cy="50292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078992"/>
            <a:ext cx="51206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二、提升企业培育能力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737360"/>
            <a:ext cx="502920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依托“众创空间+孵化器+加速器+产业基地”矩阵综合赋能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新增入孵创业团队 26 家，孵化成功率 100%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新增入孵初创组织 23 家，年末存活率 100%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年末在孵创业实体 159 家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建立科技型中小企业—高企—领军企业梯度培育机制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4297680"/>
            <a:ext cx="1554480" cy="14630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434840"/>
            <a:ext cx="15544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C49A3C"/>
                </a:solidFill>
                <a:latin typeface="微软雅黑"/>
                <a:ea typeface="微软雅黑"/>
              </a:rPr>
              <a:t>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029200"/>
            <a:ext cx="155448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高新技术企业
（含复审）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297680"/>
            <a:ext cx="1554480" cy="14630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4434840"/>
            <a:ext cx="15544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C49A3C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029200"/>
            <a:ext cx="155448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杨浦科技小巨人
（含培育）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21240" y="4297680"/>
            <a:ext cx="1554480" cy="14630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21240" y="4434840"/>
            <a:ext cx="15544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C49A3C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5029200"/>
            <a:ext cx="155448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“3310”企业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02  创业孵化实效 · 培育创业典型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A8D"/>
                </a:solidFill>
                <a:latin typeface="微软雅黑"/>
                <a:ea typeface="微软雅黑"/>
              </a:rPr>
              <a:t>2025 年产生创业评选优秀创业组织 9 家，形成一批具有高校特色的转化与创业标杆。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3063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2743200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2743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眸深智能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237744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全国颠覆性技术创新大赛
总决赛最高奖及多项赛事奖项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554480"/>
            <a:ext cx="2743200" cy="3063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554480"/>
            <a:ext cx="2743200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691640"/>
            <a:ext cx="2743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波达医疗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51760"/>
            <a:ext cx="237744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国家级/市级科创赛事优异成绩
获批市关键技术研发计划项目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554480"/>
            <a:ext cx="2743200" cy="3063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554480"/>
            <a:ext cx="2743200" cy="82296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91640"/>
            <a:ext cx="2743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赤子青山团队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51760"/>
            <a:ext cx="237744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中国国际大学生创新大赛
“青年筑梦红色之旅”金奖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554480"/>
            <a:ext cx="2743200" cy="3063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554480"/>
            <a:ext cx="2743200" cy="822960"/>
          </a:xfrm>
          <a:prstGeom prst="rect">
            <a:avLst/>
          </a:prstGeom>
          <a:solidFill>
            <a:srgbClr val="2F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691640"/>
            <a:ext cx="2743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音书科技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651760"/>
            <a:ext cx="237744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2025 年度
“天使基金优秀雏鹰企业”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29200"/>
            <a:ext cx="1069848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同步成效：3 个创业团队获上海市大学生科技创业基金复旦大学基金支持；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49A3C"/>
                </a:solidFill>
                <a:latin typeface="微软雅黑"/>
                <a:ea typeface="微软雅黑"/>
              </a:rPr>
              <a:t>波达医疗联合复旦大学团队获批上海市 2025 年度关键技术研发计划项目，体现“师生共创、园区赋能”路径。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02  创业带动就业 · 政策落实与金融支持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05840"/>
            <a:ext cx="3749039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3749039" cy="5029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078992"/>
            <a:ext cx="3383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创业带动就业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32918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低成本、便利化、专业化服务支撑企业扩岗；
分层分类开展创新创业教育与实训。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32918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C8102E"/>
                </a:solidFill>
                <a:latin typeface="微软雅黑"/>
                <a:ea typeface="微软雅黑"/>
              </a:rPr>
              <a:t>324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A2A3A"/>
                </a:solidFill>
                <a:latin typeface="微软雅黑"/>
                <a:ea typeface="微软雅黑"/>
              </a:rPr>
              <a:t>在孵创业组织在岗人数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3291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</a:rPr>
              <a:t>同比增长 57.28%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343400"/>
            <a:ext cx="3017520" cy="13716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274320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A4A"/>
                </a:solidFill>
                <a:latin typeface="微软雅黑"/>
                <a:ea typeface="微软雅黑"/>
              </a:rPr>
              <a:t>新增就业 118 人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</a:rPr>
              <a:t>为高校毕业生、青年创业者与专业技术人才提供岗位机会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005840"/>
            <a:ext cx="3749039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005840"/>
            <a:ext cx="3749039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078992"/>
            <a:ext cx="3383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创业政策落实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737360"/>
            <a:ext cx="329184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高企认定 / 科技项目 / “3310” / 人社扶持辅导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新增高企（含复审）21 家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杨浦科技小巨人（含培育）2 家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“3310”企业 3 家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推荐 9 家享受人社创业扶持政策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帮扶 2 家获得创业担保贷款</a:t>
            </a:r>
          </a:p>
        </p:txBody>
      </p:sp>
      <p:pic>
        <p:nvPicPr>
          <p:cNvPr id="21" name="Picture 20" descr="site_visi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709160"/>
            <a:ext cx="3291840" cy="184908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275320" y="1005840"/>
            <a:ext cx="3474720" cy="51663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143000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49A3C"/>
                </a:solidFill>
                <a:latin typeface="微软雅黑"/>
                <a:ea typeface="微软雅黑"/>
              </a:rPr>
              <a:t>多层次金融支持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1645920"/>
            <a:ext cx="31089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7A8"/>
                </a:solidFill>
                <a:latin typeface="微软雅黑"/>
                <a:ea typeface="微软雅黑"/>
              </a:rPr>
              <a:t>投资机构合作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山东工研基金、禹泽资本、小村创投、创业接力基金、杨浦科创集团等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08960"/>
            <a:ext cx="31089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A97A8"/>
                </a:solidFill>
                <a:latin typeface="微软雅黑"/>
                <a:ea typeface="微软雅黑"/>
              </a:rPr>
              <a:t>银行机构合作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上海农商行、招商银行、中国银行等融资服务合作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00" y="4434840"/>
            <a:ext cx="3108960" cy="137160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4572000"/>
            <a:ext cx="283464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A97A8"/>
                </a:solidFill>
                <a:latin typeface="微软雅黑"/>
                <a:ea typeface="微软雅黑"/>
              </a:rPr>
              <a:t>帮扶获投融资约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C49A3C"/>
                </a:solidFill>
                <a:latin typeface="微软雅黑"/>
                <a:ea typeface="微软雅黑"/>
              </a:rPr>
              <a:t>9700 余万元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联动大学生创业基金与科创母基金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02  创业孵化服务 · 空间、专业服务与导师体系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51560"/>
            <a:ext cx="370332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3703320" cy="6400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43000"/>
            <a:ext cx="37033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空间支持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3246120" cy="3840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综合更新与功能提升项目获批张江专项重点项目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场地 3.41 万㎡，孵化面积占比 75%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向 49 家创业组织提供租金减免等支持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办公 / 共享 / 会议路演空间一体化配置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051560"/>
            <a:ext cx="370332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51560"/>
            <a:ext cx="370332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143000"/>
            <a:ext cx="37033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专业服务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965960"/>
            <a:ext cx="3246120" cy="3840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政策、知识产权、法律财税、投融资、市场拓展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签约入驻第三方服务机构 41 个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全年提供服务超过 2000 家次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落实创业帮扶指标 40 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051560"/>
            <a:ext cx="370332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051560"/>
            <a:ext cx="3703320" cy="640080"/>
          </a:xfrm>
          <a:prstGeom prst="rect">
            <a:avLst/>
          </a:prstGeom>
          <a:solidFill>
            <a:srgbClr val="2F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143000"/>
            <a:ext cx="37033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导师赋能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1965960"/>
            <a:ext cx="3246120" cy="3840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新增创业导师 16 人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高校教师 + 企业管理者 + 投资专家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覆盖技术、管理、资本、市场辅导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一对一辅导与主题沙龙并重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02  服务亮点 · 复煜概念验证中心正式运营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51560"/>
            <a:ext cx="694944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6400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B2A4A"/>
                </a:solidFill>
                <a:latin typeface="微软雅黑"/>
                <a:ea typeface="微软雅黑"/>
              </a:rPr>
              <a:t>打通科技成果转化“最初一公里”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6400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复煜概念验证中心于 2025 年 8 月投入运营，围绕新材料、人工智能、集成电路等领域开展首批项目征集，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从 60 余个项目中筛选 4 个项目进入验证阶段，提供资金、载体、应用场景、科研支撑、投融资对接与运营协助。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00400"/>
            <a:ext cx="1371600" cy="640080"/>
          </a:xfrm>
          <a:prstGeom prst="roundRect">
            <a:avLst>
              <a:gd name="adj" fmla="val 25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13716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项目征集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246120"/>
            <a:ext cx="3657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C49A3C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3200400"/>
            <a:ext cx="1371600" cy="640080"/>
          </a:xfrm>
          <a:prstGeom prst="roundRect">
            <a:avLst>
              <a:gd name="adj" fmla="val 25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3200400"/>
            <a:ext cx="13716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专业遴选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246120"/>
            <a:ext cx="3657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C49A3C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3200400"/>
            <a:ext cx="1371600" cy="640080"/>
          </a:xfrm>
          <a:prstGeom prst="roundRect">
            <a:avLst>
              <a:gd name="adj" fmla="val 25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3200400"/>
            <a:ext cx="13716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概念验证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246120"/>
            <a:ext cx="3657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C49A3C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3200400"/>
            <a:ext cx="1371600" cy="640080"/>
          </a:xfrm>
          <a:prstGeom prst="roundRect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3200400"/>
            <a:ext cx="13716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孵化加速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206240"/>
            <a:ext cx="1965960" cy="1463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43400"/>
            <a:ext cx="19659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C8102E"/>
                </a:solidFill>
                <a:latin typeface="微软雅黑"/>
                <a:ea typeface="微软雅黑"/>
              </a:rPr>
              <a:t>60+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29200"/>
            <a:ext cx="1965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征集项目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206240"/>
            <a:ext cx="1965960" cy="1463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4343400"/>
            <a:ext cx="19659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C8102E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029200"/>
            <a:ext cx="1965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进入验证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4206240"/>
            <a:ext cx="1965960" cy="1463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4343400"/>
            <a:ext cx="19659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C8102E"/>
                </a:solidFill>
                <a:latin typeface="微软雅黑"/>
                <a:ea typeface="微软雅黑"/>
              </a:rPr>
              <a:t>6 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5029200"/>
            <a:ext cx="1965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全方位服务</a:t>
            </a:r>
          </a:p>
        </p:txBody>
      </p:sp>
      <p:pic>
        <p:nvPicPr>
          <p:cNvPr id="31" name="Picture 30" descr="tech_transfer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051560"/>
            <a:ext cx="4114800" cy="302607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589520" y="4160520"/>
            <a:ext cx="4114800" cy="1965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4343400"/>
            <a:ext cx="3749039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49A3C"/>
                </a:solidFill>
                <a:latin typeface="微软雅黑"/>
                <a:ea typeface="微软雅黑"/>
              </a:rPr>
              <a:t>服务内涵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技术验证 · 应用场景 · 科研支撑
载体空间 · 投融资对接 · 运营辅导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02  创新创业活动组织 · 课程、产学研与赛事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05840"/>
            <a:ext cx="37033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370332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051560"/>
            <a:ext cx="37033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完善双创课程体系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333756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“复·创课堂”“复旦科技园企业沙龙”聚焦创业实务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马兰花计划 GYB 培训班顺利举办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联合创新创业学院开发“理论+实践”课程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005840"/>
            <a:ext cx="37033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05840"/>
            <a:ext cx="3703320" cy="457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051560"/>
            <a:ext cx="37033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强化产学研交流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645920"/>
            <a:ext cx="333756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人工智能产业应用路演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新材料研发与产业应用研讨会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无掩膜光刻微纳器件加工产学研沙龙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005840"/>
            <a:ext cx="37033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005840"/>
            <a:ext cx="370332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051560"/>
            <a:ext cx="37033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以赛聚才引才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1645920"/>
            <a:ext cx="333756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复旦科创大赛 / 复旦之星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创·在上海 / 杨浦“科创之星”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推荐参赛项目 100 余项</a:t>
            </a:r>
          </a:p>
        </p:txBody>
      </p:sp>
      <p:pic>
        <p:nvPicPr>
          <p:cNvPr id="20" name="Picture 19" descr="contest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40480"/>
            <a:ext cx="2788920" cy="1554480"/>
          </a:xfrm>
          <a:prstGeom prst="rect">
            <a:avLst/>
          </a:prstGeom>
        </p:spPr>
      </p:pic>
      <p:pic>
        <p:nvPicPr>
          <p:cNvPr id="21" name="Picture 20" descr="activity_salon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840480"/>
            <a:ext cx="2788920" cy="1554480"/>
          </a:xfrm>
          <a:prstGeom prst="rect">
            <a:avLst/>
          </a:prstGeom>
        </p:spPr>
      </p:pic>
      <p:pic>
        <p:nvPicPr>
          <p:cNvPr id="22" name="Picture 21" descr="edu_activity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840480"/>
            <a:ext cx="2788920" cy="1554480"/>
          </a:xfrm>
          <a:prstGeom prst="rect">
            <a:avLst/>
          </a:prstGeom>
        </p:spPr>
      </p:pic>
      <p:pic>
        <p:nvPicPr>
          <p:cNvPr id="23" name="Picture 22" descr="practice1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3840480"/>
            <a:ext cx="2788920" cy="155448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11480" y="5532120"/>
            <a:ext cx="11338560" cy="6858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623560"/>
            <a:ext cx="109728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全年举办创新创业活动 47 场（含人社合作 3 场）；推荐人社类活动/赛事 12 项，持续提升生态活跃度。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02  品牌活动专题 · 复旦科创大赛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test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51560"/>
            <a:ext cx="4937760" cy="2926080"/>
          </a:xfrm>
          <a:prstGeom prst="rect">
            <a:avLst/>
          </a:prstGeom>
        </p:spPr>
      </p:pic>
      <p:pic>
        <p:nvPicPr>
          <p:cNvPr id="9" name="Picture 8" descr="contest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114800"/>
            <a:ext cx="493776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23560" y="1051560"/>
            <a:ext cx="6035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A4A"/>
                </a:solidFill>
                <a:latin typeface="微软雅黑"/>
                <a:ea typeface="微软雅黑"/>
              </a:rPr>
              <a:t>从展示平台迈向组织平台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554480"/>
            <a:ext cx="603504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由复旦大学、虹口区人民政府、锦江国际集团共同指导，基地作为主要承办单位之一，承担赛事组织、项目遴选、创业辅导、评审协调、资源对接及赛后孵化。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2926080"/>
            <a:ext cx="1874519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3063240"/>
            <a:ext cx="1874519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C8102E"/>
                </a:solidFill>
                <a:latin typeface="微软雅黑"/>
                <a:ea typeface="微软雅黑"/>
              </a:rPr>
              <a:t>456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3611880"/>
            <a:ext cx="187451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报名项目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2926080"/>
            <a:ext cx="1874519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3063240"/>
            <a:ext cx="1874519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C8102E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611880"/>
            <a:ext cx="187451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晋级决赛团队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20" y="2926080"/>
            <a:ext cx="1874519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3063240"/>
            <a:ext cx="1874519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C8102E"/>
                </a:solidFill>
                <a:latin typeface="微软雅黑"/>
                <a:ea typeface="微软雅黑"/>
              </a:rPr>
              <a:t>双赛道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611880"/>
            <a:ext cx="187451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创意组 + 创业组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4389120"/>
            <a:ext cx="6035040" cy="17373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4572000"/>
            <a:ext cx="566928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49A3C"/>
                </a:solidFill>
                <a:latin typeface="微软雅黑"/>
                <a:ea typeface="微软雅黑"/>
              </a:rPr>
              <a:t>评审维度：技术原创性 － 工程可行性 － 转化现实性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覆盖信息技术、集成电路、生命健康、新材料等重点领域；部分项目已纳入成果转化资源库并获配套支持，推动创新链与产业链深度对接。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02  创业媒体宣传 · 品牌焕新与典型传播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51560"/>
            <a:ext cx="731520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6858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A4A"/>
                </a:solidFill>
                <a:latin typeface="微软雅黑"/>
                <a:ea typeface="微软雅黑"/>
              </a:rPr>
              <a:t>参与复旦科技园品牌焕新工程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667512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协助完成园区官网、微信公众号等宣传阵地升级迭代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挖掘品牌内涵、提升信息质量，塑造契合复旦特色的科创形象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重点宣传眸深智能、波达医疗等成长案例与赛事优秀项目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增强高校、产业、资本与区域创新主体之间的资源链接能力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2103120" cy="13716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21031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C8102E"/>
                </a:solidFill>
                <a:latin typeface="微软雅黑"/>
                <a:ea typeface="微软雅黑"/>
              </a:rPr>
              <a:t>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74920"/>
            <a:ext cx="21031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官网/公号发布稿件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4297680"/>
            <a:ext cx="2103120" cy="13716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4434840"/>
            <a:ext cx="21031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C8102E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5074920"/>
            <a:ext cx="21031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向人社部门供稿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4297680"/>
            <a:ext cx="2103120" cy="13716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4434840"/>
            <a:ext cx="21031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C8102E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5074920"/>
            <a:ext cx="21031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被海纳百创等采纳</a:t>
            </a:r>
          </a:p>
        </p:txBody>
      </p:sp>
      <p:pic>
        <p:nvPicPr>
          <p:cNvPr id="20" name="Picture 19" descr="activity_lectur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051560"/>
            <a:ext cx="3749039" cy="2377440"/>
          </a:xfrm>
          <a:prstGeom prst="rect">
            <a:avLst/>
          </a:prstGeom>
        </p:spPr>
      </p:pic>
      <p:pic>
        <p:nvPicPr>
          <p:cNvPr id="21" name="Picture 20" descr="workshop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3611880"/>
            <a:ext cx="3749039" cy="2514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937760" cy="685800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b_visi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234440"/>
            <a:ext cx="4114800" cy="4206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35240" y="1234440"/>
            <a:ext cx="41148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0" y="5367528"/>
            <a:ext cx="4114800" cy="73152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" cy="14630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49A3C"/>
                </a:solidFill>
                <a:latin typeface="微软雅黑"/>
                <a:ea typeface="微软雅黑"/>
              </a:rPr>
              <a:t>PART THREE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6400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03  特色与亮点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6400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A97A8"/>
                </a:solidFill>
                <a:latin typeface="微软雅黑"/>
                <a:ea typeface="微软雅黑"/>
              </a:rPr>
              <a:t>成果转化型创业孵化模式：品牌 · 体系 · 生态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126480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</a:rPr>
              <a:t>复旦科技园创业孵化基地  ·  领导汇报材料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03  特色亮点（一）打造特色品牌，提升孵化影响力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A2A3A"/>
                </a:solidFill>
                <a:latin typeface="微软雅黑"/>
                <a:ea typeface="微软雅黑"/>
              </a:rPr>
              <a:t>以二十余年国家大学科技园建设积淀为根基，持续强化高校特色创业孵化品牌，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A3A"/>
                </a:solidFill>
                <a:latin typeface="微软雅黑"/>
                <a:ea typeface="微软雅黑"/>
              </a:rPr>
              <a:t>构建覆盖创业辅导、赛事、技术转移、政策、知产、财税、投融资、人才、市场的一站式服务网络。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27432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C8102E"/>
                </a:solidFill>
                <a:latin typeface="微软雅黑"/>
                <a:ea typeface="微软雅黑"/>
              </a:rPr>
              <a:t>41 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A2A3A"/>
                </a:solidFill>
                <a:latin typeface="微软雅黑"/>
                <a:ea typeface="微软雅黑"/>
              </a:rPr>
              <a:t>第三方专业服务机构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</a:rPr>
              <a:t>全年服务超 2000 家次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01168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194560"/>
            <a:ext cx="27432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C8102E"/>
                </a:solidFill>
                <a:latin typeface="微软雅黑"/>
                <a:ea typeface="微软雅黑"/>
              </a:rPr>
              <a:t>16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880360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A2A3A"/>
                </a:solidFill>
                <a:latin typeface="微软雅黑"/>
                <a:ea typeface="微软雅黑"/>
              </a:rPr>
              <a:t>新增签约创业导师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246120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</a:rPr>
              <a:t>复合型导师团队扩容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01168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94560"/>
            <a:ext cx="27432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C8102E"/>
                </a:solidFill>
                <a:latin typeface="微软雅黑"/>
                <a:ea typeface="微软雅黑"/>
              </a:rPr>
              <a:t>47 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80360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A2A3A"/>
                </a:solidFill>
                <a:latin typeface="微软雅黑"/>
                <a:ea typeface="微软雅黑"/>
              </a:rPr>
              <a:t>创新创业活动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46120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</a:rPr>
              <a:t>持续激活园区生态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01168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194560"/>
            <a:ext cx="27432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C8102E"/>
                </a:solidFill>
                <a:latin typeface="微软雅黑"/>
                <a:ea typeface="微软雅黑"/>
              </a:rPr>
              <a:t>190 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880360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A2A3A"/>
                </a:solidFill>
                <a:latin typeface="微软雅黑"/>
                <a:ea typeface="微软雅黑"/>
              </a:rPr>
              <a:t>新增注册企业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246120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</a:rPr>
              <a:t>科技型企业 143 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11247120" cy="2011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97680"/>
            <a:ext cx="68580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49A3C"/>
                </a:solidFill>
                <a:latin typeface="微软雅黑"/>
                <a:ea typeface="微软雅黑"/>
              </a:rPr>
              <a:t>区域贡献同步增强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2025 年基地企业实现区级税收贡献 1.37 亿元；新增高新技术企业（含复审）21 家、杨浦科技小巨人（含培育）2 家、“3310”企业 3 家，品牌影响力与发展贡献力同向提升。</a:t>
            </a:r>
          </a:p>
        </p:txBody>
      </p:sp>
      <p:pic>
        <p:nvPicPr>
          <p:cNvPr id="27" name="Picture 26" descr="recruitment_fair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297680"/>
            <a:ext cx="3566160" cy="164592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03  特色亮点（二）成果转化型孵化体系 · 波达医疗案例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2697480" cy="640080"/>
          </a:xfrm>
          <a:prstGeom prst="roundRect">
            <a:avLst>
              <a:gd name="adj" fmla="val 20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26974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1. 成果发现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051560"/>
            <a:ext cx="2697480" cy="640080"/>
          </a:xfrm>
          <a:prstGeom prst="roundRect">
            <a:avLst>
              <a:gd name="adj" fmla="val 20000"/>
            </a:avLst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051560"/>
            <a:ext cx="26974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2. 概念验证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51560"/>
            <a:ext cx="2697480" cy="640080"/>
          </a:xfrm>
          <a:prstGeom prst="roundRect">
            <a:avLst>
              <a:gd name="adj" fmla="val 20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051560"/>
            <a:ext cx="26974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3. 创业孵化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051560"/>
            <a:ext cx="2697480" cy="640080"/>
          </a:xfrm>
          <a:prstGeom prst="roundRect">
            <a:avLst>
              <a:gd name="adj" fmla="val 20000"/>
            </a:avLst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051560"/>
            <a:ext cx="26974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4. 产业培育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920240"/>
            <a:ext cx="56692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05740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2A4A"/>
                </a:solidFill>
                <a:latin typeface="微软雅黑"/>
                <a:ea typeface="微软雅黑"/>
              </a:rPr>
              <a:t>体系创新要点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514600"/>
            <a:ext cx="512064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成果转化前移：对接 16 个院系，入库成果 21 项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复煜概念验证中心承接早期硬科技项目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全链条载体协同：众创—孵化—加速—产业基地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服务升级：由单一孵化转向转化、成长、产业培育协同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金融接力：财政引导 + 社会资本 + 产业落地拨投结合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920240"/>
            <a:ext cx="5440680" cy="4206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05740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9A3C"/>
                </a:solidFill>
                <a:latin typeface="微软雅黑"/>
                <a:ea typeface="微软雅黑"/>
              </a:rPr>
              <a:t>孵化案例：波达医疗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514600"/>
            <a:ext cx="5029200" cy="3383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复旦信息学院教师团队创办，2022 年入驻基地，聚焦超快超声成像产业化。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服务举措：创业辅导、3310 申报、载体落地湾谷、租金/社保支持、对接投资资源。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C49A3C"/>
                </a:solidFill>
                <a:latin typeface="微软雅黑"/>
                <a:ea typeface="微软雅黑"/>
              </a:rPr>
              <a:t>成长结果：海聚英才大赛二等奖；获飞图创投数千万元融资，估值突破亿元。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产业意义：有望突破高端医学超声国际技术壁垒，服务脑科学与医学超声科研。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03  特色亮点（三）深化区域协同，构建开放融合生态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05840"/>
            <a:ext cx="56235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562356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078992"/>
            <a:ext cx="52120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校地融合 · 服务杨浦创新体系建设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521208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推动学校成果、人才与区域产业需求精准对接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探索“财政引导资金+社会资本接续+产业协同落地”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助力益臻新能源对接杨浦成果转化支持政策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 b="0">
                <a:solidFill>
                  <a:srgbClr val="1A2A3A"/>
                </a:solidFill>
                <a:latin typeface="微软雅黑"/>
                <a:ea typeface="微软雅黑"/>
              </a:rPr>
              <a:t>●  2025 年基地企业区级税收贡献 1.37 亿元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5321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5532120" cy="457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078992"/>
            <a:ext cx="52120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产学研合作网络持续拓展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69164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91640"/>
            <a:ext cx="23774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祖泉研究院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69164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691640"/>
            <a:ext cx="23774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复旦技术转移中心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19456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94560"/>
            <a:ext cx="23774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同济技术转移中心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219456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194560"/>
            <a:ext cx="23774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张江磁谷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269748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697480"/>
            <a:ext cx="23774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上海国际化工创新中心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269748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2697480"/>
            <a:ext cx="23774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迈科技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20040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200400"/>
            <a:ext cx="23774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微软雅黑"/>
                <a:ea typeface="微软雅黑"/>
              </a:rPr>
              <a:t>国科新研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297680"/>
            <a:ext cx="11338560" cy="18288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80560"/>
            <a:ext cx="59436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49A3C"/>
                </a:solidFill>
                <a:latin typeface="微软雅黑"/>
                <a:ea typeface="微软雅黑"/>
              </a:rPr>
              <a:t>国际化交流与合作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参与发起“北欧创新国际会客厅”；举办丝路华章·大使领创计划出海沙龙、“复创·大咖说”等活动；接待巴西、俄罗斯等国际参访团，提升开放合作能级与国际影响力。</a:t>
            </a:r>
          </a:p>
        </p:txBody>
      </p:sp>
      <p:pic>
        <p:nvPicPr>
          <p:cNvPr id="31" name="Picture 30" descr="intl_exchan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480560"/>
            <a:ext cx="2194560" cy="1463040"/>
          </a:xfrm>
          <a:prstGeom prst="rect">
            <a:avLst/>
          </a:prstGeom>
        </p:spPr>
      </p:pic>
      <p:pic>
        <p:nvPicPr>
          <p:cNvPr id="32" name="Picture 31" descr="intl_delegation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4480560"/>
            <a:ext cx="2194560" cy="146304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937760" cy="6858000"/>
          </a:xfrm>
          <a:prstGeom prst="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uilding_stree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234440"/>
            <a:ext cx="4114800" cy="4206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35240" y="1234440"/>
            <a:ext cx="411480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0" y="5367528"/>
            <a:ext cx="4114800" cy="73152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" cy="14630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49A3C"/>
                </a:solidFill>
                <a:latin typeface="微软雅黑"/>
                <a:ea typeface="微软雅黑"/>
              </a:rPr>
              <a:t>PART FOUR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6400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04  综合效益与展望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6400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A97A8"/>
                </a:solidFill>
                <a:latin typeface="微软雅黑"/>
                <a:ea typeface="微软雅黑"/>
              </a:rPr>
              <a:t>经济发展 · 社会服务 · 绿色运营，持续释放孵化综合效益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126480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微软雅黑"/>
                <a:ea typeface="微软雅黑"/>
              </a:rPr>
              <a:t>复旦科技园创业孵化基地  ·  领导汇报材料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04  综合效益 · 经济、社会与绿色发展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3749039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51560"/>
            <a:ext cx="3749039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43000"/>
            <a:ext cx="374903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经济效益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00200"/>
            <a:ext cx="374903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C49A3C"/>
                </a:solidFill>
                <a:latin typeface="微软雅黑"/>
                <a:ea typeface="微软雅黑"/>
              </a:rPr>
              <a:t>产业集聚效应增强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329184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新增注册企业 190 家（科技型 143 家）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新增高企 21 家、小巨人 2 家、3310 企业 3 家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新增知识产权 318 项（发明专利 42 项）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区级税收贡献 1.37 亿元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051560"/>
            <a:ext cx="3749039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51560"/>
            <a:ext cx="3749039" cy="1051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143000"/>
            <a:ext cx="374903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社会效益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600200"/>
            <a:ext cx="374903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双创生态持续完善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331720"/>
            <a:ext cx="329184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推动高校成果转化 12 项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新增创业导师 16 人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培训 11 场、活动 37 场、推荐赛事 100+ 项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市载体绩效：复旦科技园优良，复翼互联优秀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051560"/>
            <a:ext cx="3749039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051560"/>
            <a:ext cx="3749039" cy="1051560"/>
          </a:xfrm>
          <a:prstGeom prst="rect">
            <a:avLst/>
          </a:prstGeom>
          <a:solidFill>
            <a:srgbClr val="2F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143000"/>
            <a:ext cx="374903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绿色效益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600200"/>
            <a:ext cx="374903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C49A3C"/>
                </a:solidFill>
                <a:latin typeface="微软雅黑"/>
                <a:ea typeface="微软雅黑"/>
              </a:rPr>
              <a:t>载体运营品质优化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331720"/>
            <a:ext cx="329184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景观照明、公共空间、设施设备更新提升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综合更新项目获批张江专项重点项目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大厦通过“无废城市细胞”建设评估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1A2A3A"/>
                </a:solidFill>
                <a:latin typeface="微软雅黑"/>
                <a:ea typeface="微软雅黑"/>
              </a:rPr>
              <a:t>●  获评区级“无废楼宇”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488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54864"/>
            <a:ext cx="392523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64592"/>
            <a:ext cx="9326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04  阶段评价与下一步工作方向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13232"/>
            <a:ext cx="12191695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2A4A"/>
                </a:solidFill>
                <a:latin typeface="微软雅黑"/>
                <a:ea typeface="微软雅黑"/>
              </a:rPr>
              <a:t>阶段性评价结果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34747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91440" cy="17373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微软雅黑"/>
                <a:ea typeface="微软雅黑"/>
              </a:rPr>
              <a:t>上海市创新创业载体绩效评价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30175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1A2A3A"/>
                </a:solidFill>
                <a:latin typeface="微软雅黑"/>
                <a:ea typeface="微软雅黑"/>
              </a:rPr>
              <a:t>复旦科技园：优良
复翼互联众创空间：优秀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508760"/>
            <a:ext cx="34747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508760"/>
            <a:ext cx="91440" cy="17373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4592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2A4A"/>
                </a:solidFill>
                <a:latin typeface="微软雅黑"/>
                <a:ea typeface="微软雅黑"/>
              </a:rPr>
              <a:t>杨浦区科技园区考评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94560"/>
            <a:ext cx="30175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1A2A3A"/>
                </a:solidFill>
                <a:latin typeface="微软雅黑"/>
                <a:ea typeface="微软雅黑"/>
              </a:rPr>
              <a:t>复旦科技园：优秀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508760"/>
            <a:ext cx="3931920" cy="17373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737360"/>
            <a:ext cx="356616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49A3C"/>
                </a:solidFill>
                <a:latin typeface="微软雅黑"/>
                <a:ea typeface="微软雅黑"/>
              </a:rPr>
              <a:t>核心判断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已形成“成果持续转化、企业梯度成长、产业能级提升”的发展格局。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5204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2A4A"/>
                </a:solidFill>
                <a:latin typeface="微软雅黑"/>
                <a:ea typeface="微软雅黑"/>
              </a:rPr>
              <a:t>下一步工作方向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23360"/>
            <a:ext cx="27889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278892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51960"/>
            <a:ext cx="27889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</a:rPr>
              <a:t>01  深化转化前移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00600"/>
            <a:ext cx="25146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强化院系协同与概念验证，提升早期硬科技承接能力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4023360"/>
            <a:ext cx="27889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0" y="4023360"/>
            <a:ext cx="278892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251960"/>
            <a:ext cx="27889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</a:rPr>
              <a:t>02  做精孵化服务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800600"/>
            <a:ext cx="25146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完善导师、金融、场景与梯度培育机制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023360"/>
            <a:ext cx="27889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023360"/>
            <a:ext cx="278892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251960"/>
            <a:ext cx="27889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</a:rPr>
              <a:t>03  放大品牌赛事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800600"/>
            <a:ext cx="25146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推动复旦科创大赛从展示平台迈向组织平台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4023360"/>
            <a:ext cx="27889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4023360"/>
            <a:ext cx="2788920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4251960"/>
            <a:ext cx="27889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</a:rPr>
              <a:t>04  拓展开放协同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800600"/>
            <a:ext cx="25146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6B7A8D"/>
                </a:solidFill>
                <a:latin typeface="微软雅黑"/>
                <a:ea typeface="微软雅黑"/>
              </a:rPr>
              <a:t>加深校地校企合作与国际化资源链接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83680"/>
            <a:ext cx="86868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复旦大学国家大学科技园 · 创业孵化基地  |  2026 年度工作报告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6583680"/>
            <a:ext cx="192024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7A8"/>
                </a:solidFill>
                <a:latin typeface="微软雅黑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uilding_stree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0"/>
            <a:ext cx="854475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5394960" y="0"/>
            <a:ext cx="1371600" cy="6858000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647395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" y="647395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5256" y="647395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6424" y="647395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892098" cy="13716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" y="2331720"/>
            <a:ext cx="91440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51760"/>
            <a:ext cx="50292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2A4A"/>
                </a:solidFill>
                <a:latin typeface="微软雅黑"/>
                <a:ea typeface="微软雅黑"/>
              </a:rPr>
              <a:t>育高校创业新苗，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0B2A4A"/>
                </a:solidFill>
                <a:latin typeface="微软雅黑"/>
                <a:ea typeface="微软雅黑"/>
              </a:rPr>
              <a:t>助技术成果转化！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0"/>
            <a:ext cx="50292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A3A"/>
                </a:solidFill>
                <a:latin typeface="微软雅黑"/>
                <a:ea typeface="微软雅黑"/>
              </a:rPr>
              <a:t>复旦大学国家大学科技园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A8D"/>
                </a:solidFill>
                <a:latin typeface="微软雅黑"/>
                <a:ea typeface="微软雅黑"/>
              </a:rPr>
              <a:t>创业孵化基地 · 2026 年度工作报告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06440"/>
            <a:ext cx="5029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F5F8A"/>
                </a:solidFill>
                <a:latin typeface="微软雅黑"/>
                <a:ea typeface="微软雅黑"/>
              </a:rPr>
              <a:t>感谢各位领导指导！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