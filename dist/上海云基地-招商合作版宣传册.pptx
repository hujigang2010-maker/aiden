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6112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566928" cy="6858000"/>
          </a:xfrm>
          <a:prstGeom prst="rect">
            <a:avLst/>
          </a:prstGeom>
          <a:solidFill>
            <a:srgbClr val="061123">
              <a:alpha val="742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566928" cy="6858000"/>
          </a:xfrm>
          <a:prstGeom prst="rect">
            <a:avLst/>
          </a:prstGeom>
          <a:solidFill>
            <a:srgbClr val="061123">
              <a:alpha val="685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0"/>
            <a:ext cx="566928" cy="6858000"/>
          </a:xfrm>
          <a:prstGeom prst="rect">
            <a:avLst/>
          </a:prstGeom>
          <a:solidFill>
            <a:srgbClr val="061123">
              <a:alpha val="628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0" y="0"/>
            <a:ext cx="566928" cy="6858000"/>
          </a:xfrm>
          <a:prstGeom prst="rect">
            <a:avLst/>
          </a:prstGeom>
          <a:solidFill>
            <a:srgbClr val="061123">
              <a:alpha val="571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566928" cy="6858000"/>
          </a:xfrm>
          <a:prstGeom prst="rect">
            <a:avLst/>
          </a:prstGeom>
          <a:solidFill>
            <a:srgbClr val="061123">
              <a:alpha val="514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0"/>
            <a:ext cx="566928" cy="6858000"/>
          </a:xfrm>
          <a:prstGeom prst="rect">
            <a:avLst/>
          </a:prstGeom>
          <a:solidFill>
            <a:srgbClr val="061123">
              <a:alpha val="457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0"/>
            <a:ext cx="566928" cy="6858000"/>
          </a:xfrm>
          <a:prstGeom prst="rect">
            <a:avLst/>
          </a:prstGeom>
          <a:solidFill>
            <a:srgbClr val="06112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0"/>
            <a:ext cx="566928" cy="6858000"/>
          </a:xfrm>
          <a:prstGeom prst="rect">
            <a:avLst/>
          </a:prstGeom>
          <a:solidFill>
            <a:srgbClr val="061123">
              <a:alpha val="342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0"/>
            <a:ext cx="566928" cy="6858000"/>
          </a:xfrm>
          <a:prstGeom prst="rect">
            <a:avLst/>
          </a:prstGeom>
          <a:solidFill>
            <a:srgbClr val="061123">
              <a:alpha val="285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0"/>
            <a:ext cx="566928" cy="6858000"/>
          </a:xfrm>
          <a:prstGeom prst="rect">
            <a:avLst/>
          </a:prstGeom>
          <a:solidFill>
            <a:srgbClr val="061123">
              <a:alpha val="228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0"/>
            <a:ext cx="566928" cy="6858000"/>
          </a:xfrm>
          <a:prstGeom prst="rect">
            <a:avLst/>
          </a:prstGeom>
          <a:solidFill>
            <a:srgbClr val="061123">
              <a:alpha val="171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0"/>
            <a:ext cx="566928" cy="6858000"/>
          </a:xfrm>
          <a:prstGeom prst="rect">
            <a:avLst/>
          </a:prstGeom>
          <a:solidFill>
            <a:srgbClr val="061123">
              <a:alpha val="114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0" y="0"/>
            <a:ext cx="566928" cy="6858000"/>
          </a:xfrm>
          <a:prstGeom prst="rect">
            <a:avLst/>
          </a:prstGeom>
          <a:solidFill>
            <a:srgbClr val="061123">
              <a:alpha val="57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640080"/>
            <a:ext cx="109728" cy="868680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10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国家级科技企业孵化器（专业类）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96926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0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National Professional Technology Business Incubator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331720"/>
            <a:ext cx="8412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上海市云计算创新基地</a:t>
            </a:r>
          </a:p>
          <a:p>
            <a:pPr algn="l">
              <a:lnSpc>
                <a:spcPct val="105000"/>
              </a:lnSpc>
            </a:pPr>
            <a:r>
              <a:rPr sz="2600" b="1" i="0" spc="60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上 海 云 基 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160520"/>
            <a:ext cx="384048" cy="64008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370832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中国云计算与 AI 产业创新策源地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6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让技术企业从 </a:t>
            </a:r>
            <a:r>
              <a:rPr sz="16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0 → 1 → 上市</a:t>
            </a:r>
            <a:r>
              <a:rPr sz="16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 的产业加速器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6217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0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上海市杨浦云计算创新基地发展有限公司  ·  招商合作版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2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79990" cy="6858000"/>
          </a:xfrm>
          <a:prstGeom prst="rect">
            <a:avLst/>
          </a:prstGeom>
          <a:solidFill>
            <a:srgbClr val="06112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1702" y="0"/>
            <a:ext cx="579990" cy="6858000"/>
          </a:xfrm>
          <a:prstGeom prst="rect">
            <a:avLst/>
          </a:prstGeom>
          <a:solidFill>
            <a:srgbClr val="061123">
              <a:alpha val="798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405" y="0"/>
            <a:ext cx="579990" cy="6858000"/>
          </a:xfrm>
          <a:prstGeom prst="rect">
            <a:avLst/>
          </a:prstGeom>
          <a:solidFill>
            <a:srgbClr val="061123">
              <a:alpha val="737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85108" y="0"/>
            <a:ext cx="579990" cy="6858000"/>
          </a:xfrm>
          <a:prstGeom prst="rect">
            <a:avLst/>
          </a:prstGeom>
          <a:solidFill>
            <a:srgbClr val="061123">
              <a:alpha val="675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46811" y="0"/>
            <a:ext cx="579990" cy="6858000"/>
          </a:xfrm>
          <a:prstGeom prst="rect">
            <a:avLst/>
          </a:prstGeom>
          <a:solidFill>
            <a:srgbClr val="061123">
              <a:alpha val="614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08514" y="0"/>
            <a:ext cx="579990" cy="6858000"/>
          </a:xfrm>
          <a:prstGeom prst="rect">
            <a:avLst/>
          </a:prstGeom>
          <a:solidFill>
            <a:srgbClr val="061123">
              <a:alpha val="552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0217" y="0"/>
            <a:ext cx="579990" cy="6858000"/>
          </a:xfrm>
          <a:prstGeom prst="rect">
            <a:avLst/>
          </a:prstGeom>
          <a:solidFill>
            <a:srgbClr val="061123">
              <a:alpha val="491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0"/>
            <a:ext cx="579990" cy="6858000"/>
          </a:xfrm>
          <a:prstGeom prst="rect">
            <a:avLst/>
          </a:prstGeom>
          <a:solidFill>
            <a:srgbClr val="061123">
              <a:alpha val="4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3622" y="0"/>
            <a:ext cx="579990" cy="6858000"/>
          </a:xfrm>
          <a:prstGeom prst="rect">
            <a:avLst/>
          </a:prstGeom>
          <a:solidFill>
            <a:srgbClr val="061123">
              <a:alpha val="368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55325" y="0"/>
            <a:ext cx="579990" cy="6858000"/>
          </a:xfrm>
          <a:prstGeom prst="rect">
            <a:avLst/>
          </a:prstGeom>
          <a:solidFill>
            <a:srgbClr val="061123">
              <a:alpha val="307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17028" y="0"/>
            <a:ext cx="579990" cy="6858000"/>
          </a:xfrm>
          <a:prstGeom prst="rect">
            <a:avLst/>
          </a:prstGeom>
          <a:solidFill>
            <a:srgbClr val="061123">
              <a:alpha val="245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731" y="0"/>
            <a:ext cx="579990" cy="6858000"/>
          </a:xfrm>
          <a:prstGeom prst="rect">
            <a:avLst/>
          </a:prstGeom>
          <a:solidFill>
            <a:srgbClr val="061123">
              <a:alpha val="184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40434" y="0"/>
            <a:ext cx="579990" cy="6858000"/>
          </a:xfrm>
          <a:prstGeom prst="rect">
            <a:avLst/>
          </a:prstGeom>
          <a:solidFill>
            <a:srgbClr val="061123">
              <a:alpha val="122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02137" y="0"/>
            <a:ext cx="579990" cy="6858000"/>
          </a:xfrm>
          <a:prstGeom prst="rect">
            <a:avLst/>
          </a:prstGeom>
          <a:solidFill>
            <a:srgbClr val="061123">
              <a:alpha val="61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914400"/>
            <a:ext cx="384048" cy="64008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722375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01  我们是谁 · WHO WE 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1554480"/>
            <a:ext cx="8412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把「技术公司」</a:t>
            </a:r>
          </a:p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变成「产业公司」的地方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611880"/>
            <a:ext cx="7863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5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我们解决什么问题 —— </a:t>
            </a: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帮助硬科技企业跨越从技术到产业的鸿沟。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依托杨浦高校科研资源，首创 </a:t>
            </a:r>
            <a:r>
              <a:rPr sz="14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「把上下楼变上下游」</a:t>
            </a:r>
            <a:r>
              <a:rPr sz="14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 理念，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以「基金 + 基地 + 服务平台」连接 </a:t>
            </a: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技术、用户、资本、服务</a:t>
            </a:r>
            <a:r>
              <a:rPr sz="14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 四大生态，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构建融合「政产学研投用」的产业生态系统。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02 /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0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上海云基地  SHANGHAI CLOUD 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685800"/>
            <a:ext cx="384048" cy="64008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493775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02  为什么选我们 · WHY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四大核心优势，一站赋能产业成长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2615184" cy="3977639"/>
          </a:xfrm>
          <a:prstGeom prst="rect">
            <a:avLst/>
          </a:prstGeom>
          <a:solidFill>
            <a:srgbClr val="112B4A">
              <a:alpha val="86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2615184" cy="91440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377440"/>
            <a:ext cx="20665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108960"/>
            <a:ext cx="206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政　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47288"/>
            <a:ext cx="20665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国家级孵化器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9848" y="4050791"/>
            <a:ext cx="640080" cy="32004"/>
          </a:xfrm>
          <a:prstGeom prst="rect">
            <a:avLst/>
          </a:prstGeom>
          <a:solidFill>
            <a:srgbClr val="A9C0D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251960"/>
            <a:ext cx="20482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国家级科技企业孵化器（专业类），2025 拟推荐工信部卓越级，政策与资质背书。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48456" y="1965960"/>
            <a:ext cx="2615184" cy="3977639"/>
          </a:xfrm>
          <a:prstGeom prst="rect">
            <a:avLst/>
          </a:prstGeom>
          <a:solidFill>
            <a:srgbClr val="112B4A">
              <a:alpha val="86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48456" y="1965960"/>
            <a:ext cx="2615184" cy="91440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1063" y="2377440"/>
            <a:ext cx="20665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1063" y="3108960"/>
            <a:ext cx="206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资　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3" y="3447288"/>
            <a:ext cx="20665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云海 + 云天使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41063" y="4050791"/>
            <a:ext cx="640080" cy="32004"/>
          </a:xfrm>
          <a:prstGeom prst="rect">
            <a:avLst/>
          </a:prstGeom>
          <a:solidFill>
            <a:srgbClr val="A9C0D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41063" y="4251960"/>
            <a:ext cx="20482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自有「云海创投」1.5 亿元，联合发起 3 亿元「云天使基金」，投资 + 孵化双驱动。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9671" y="1965960"/>
            <a:ext cx="2615184" cy="3977639"/>
          </a:xfrm>
          <a:prstGeom prst="rect">
            <a:avLst/>
          </a:prstGeom>
          <a:solidFill>
            <a:srgbClr val="112B4A">
              <a:alpha val="86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19671" y="1965960"/>
            <a:ext cx="2615184" cy="91440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79" y="2377440"/>
            <a:ext cx="20665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3108960"/>
            <a:ext cx="206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产　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79" y="3447288"/>
            <a:ext cx="20665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 200 家企业生态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79" y="4050791"/>
            <a:ext cx="640080" cy="32004"/>
          </a:xfrm>
          <a:prstGeom prst="rect">
            <a:avLst/>
          </a:prstGeom>
          <a:solidFill>
            <a:srgbClr val="A9C0D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79" y="4251960"/>
            <a:ext cx="20482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15 年沉淀，从初创孵化到上市扩张的完整链条，2025 年企业总产值超 60 亿元。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90887" y="1965960"/>
            <a:ext cx="2615184" cy="3977639"/>
          </a:xfrm>
          <a:prstGeom prst="rect">
            <a:avLst/>
          </a:prstGeom>
          <a:solidFill>
            <a:srgbClr val="112B4A">
              <a:alpha val="86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90887" y="1965960"/>
            <a:ext cx="2615184" cy="91440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83495" y="2377440"/>
            <a:ext cx="20665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5" y="3108960"/>
            <a:ext cx="206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场　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3495" y="3447288"/>
            <a:ext cx="20665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方案孵化器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83495" y="4050791"/>
            <a:ext cx="640080" cy="32004"/>
          </a:xfrm>
          <a:prstGeom prst="rect">
            <a:avLst/>
          </a:prstGeom>
          <a:solidFill>
            <a:srgbClr val="A9C0D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83495" y="4251960"/>
            <a:ext cx="20482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为创新方案提供验证基础、应用资源对接与实验测试，让技术快速跑通真实场景。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11535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03 / 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0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上海云基地  SHANGHAI CLOUD 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23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85800"/>
            <a:ext cx="384048" cy="64008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93775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03  运营模式 ·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「三位一体」全生命周期赋能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2194560" cy="868680"/>
          </a:xfrm>
          <a:prstGeom prst="rect">
            <a:avLst/>
          </a:prstGeom>
          <a:solidFill>
            <a:srgbClr val="112B4A">
              <a:alpha val="92000"/>
            </a:srgbClr>
          </a:solidFill>
          <a:ln w="19050">
            <a:solidFill>
              <a:srgbClr val="33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30552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基金</a:t>
            </a:r>
            <a:r>
              <a:rPr sz="14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4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钱</a:t>
            </a:r>
            <a:r>
              <a:rPr sz="14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01168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79" y="2011680"/>
            <a:ext cx="2194560" cy="868680"/>
          </a:xfrm>
          <a:prstGeom prst="rect">
            <a:avLst/>
          </a:prstGeom>
          <a:solidFill>
            <a:srgbClr val="112B4A">
              <a:alpha val="92000"/>
            </a:srgbClr>
          </a:solidFill>
          <a:ln w="19050">
            <a:solidFill>
              <a:srgbClr val="E2B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79" y="2130552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基地</a:t>
            </a:r>
            <a:r>
              <a:rPr sz="14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4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空间</a:t>
            </a:r>
            <a:r>
              <a:rPr sz="14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01168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19" y="2011680"/>
            <a:ext cx="2194560" cy="868680"/>
          </a:xfrm>
          <a:prstGeom prst="rect">
            <a:avLst/>
          </a:prstGeom>
          <a:solidFill>
            <a:srgbClr val="112B4A">
              <a:alpha val="92000"/>
            </a:srgbClr>
          </a:solidFill>
          <a:ln w="19050">
            <a:solidFill>
              <a:srgbClr val="33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19" y="2130552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</a:t>
            </a:r>
            <a:r>
              <a:rPr sz="14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4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能力</a:t>
            </a:r>
            <a:r>
              <a:rPr sz="14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337560"/>
            <a:ext cx="3520440" cy="2880360"/>
          </a:xfrm>
          <a:prstGeom prst="rect">
            <a:avLst/>
          </a:prstGeom>
          <a:solidFill>
            <a:srgbClr val="112B4A">
              <a:alpha val="82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37560"/>
            <a:ext cx="91440" cy="2880360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11879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产业孵化平台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2953512" cy="1691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累计孵化、引进 100 余家科技企业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1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2025 年企业总产值超 60 亿元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1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从初创到上市的完整培育链条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0288" y="3337560"/>
            <a:ext cx="3520440" cy="2880360"/>
          </a:xfrm>
          <a:prstGeom prst="rect">
            <a:avLst/>
          </a:prstGeom>
          <a:solidFill>
            <a:srgbClr val="112B4A">
              <a:alpha val="82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90288" y="3337560"/>
            <a:ext cx="91440" cy="2880360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7" y="3611879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产业投资平台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7" y="4389120"/>
            <a:ext cx="2953512" cy="1691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「云海创投」基金 1.5 亿元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1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作为 LP 参与 3 亿元「云天使基金」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1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聚焦云计算、网络安全早期项目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3336" y="3337560"/>
            <a:ext cx="3520440" cy="2880360"/>
          </a:xfrm>
          <a:prstGeom prst="rect">
            <a:avLst/>
          </a:prstGeom>
          <a:solidFill>
            <a:srgbClr val="112B4A">
              <a:alpha val="82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03336" y="3337560"/>
            <a:ext cx="91440" cy="2880360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23376" y="3611879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产业服务平台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376" y="4389120"/>
            <a:ext cx="2953512" cy="1691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云计算创新展示中心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1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五角场创新创业学院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1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云基地方案孵化器（市场·技术·场景·人才）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04 / 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0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上海云基地  SHANGHAI CLOUD 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hie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23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85800"/>
            <a:ext cx="384048" cy="64008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93775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04  产业实力 · BY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我们已经做成了什么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3520440" cy="1783080"/>
          </a:xfrm>
          <a:prstGeom prst="rect">
            <a:avLst/>
          </a:prstGeom>
          <a:solidFill>
            <a:srgbClr val="112B4A">
              <a:alpha val="80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2331720"/>
            <a:ext cx="457200" cy="54864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 200</a:t>
            </a:r>
            <a:r>
              <a:rPr sz="16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 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2644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累计孵化创新企业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0288" y="1965960"/>
            <a:ext cx="3520440" cy="1783080"/>
          </a:xfrm>
          <a:prstGeom prst="rect">
            <a:avLst/>
          </a:prstGeom>
          <a:solidFill>
            <a:srgbClr val="112B4A">
              <a:alpha val="80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82896" y="2331720"/>
            <a:ext cx="457200" cy="54864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7" y="246888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 亿+</a:t>
            </a:r>
            <a:r>
              <a:rPr sz="16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 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32644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2025 企业总产值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3336" y="1965960"/>
            <a:ext cx="3520440" cy="1783080"/>
          </a:xfrm>
          <a:prstGeom prst="rect">
            <a:avLst/>
          </a:prstGeom>
          <a:solidFill>
            <a:srgbClr val="112B4A">
              <a:alpha val="80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95944" y="2331720"/>
            <a:ext cx="457200" cy="54864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77656" y="246888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67</a:t>
            </a:r>
            <a:r>
              <a:rPr sz="16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 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5944" y="32644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累计获投融资企业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23360"/>
            <a:ext cx="3520440" cy="1783080"/>
          </a:xfrm>
          <a:prstGeom prst="rect">
            <a:avLst/>
          </a:prstGeom>
          <a:solidFill>
            <a:srgbClr val="112B4A">
              <a:alpha val="80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9848" y="4389120"/>
            <a:ext cx="457200" cy="54864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52628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72</a:t>
            </a:r>
            <a:r>
              <a:rPr sz="16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 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3218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高新技术企业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0288" y="4023360"/>
            <a:ext cx="3520440" cy="1783080"/>
          </a:xfrm>
          <a:prstGeom prst="rect">
            <a:avLst/>
          </a:prstGeom>
          <a:solidFill>
            <a:srgbClr val="112B4A">
              <a:alpha val="80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82896" y="4389120"/>
            <a:ext cx="457200" cy="54864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452628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16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 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2896" y="53218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科创板上市企业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4023360"/>
            <a:ext cx="3520440" cy="1783080"/>
          </a:xfrm>
          <a:prstGeom prst="rect">
            <a:avLst/>
          </a:prstGeom>
          <a:solidFill>
            <a:srgbClr val="112B4A">
              <a:alpha val="80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95944" y="4389120"/>
            <a:ext cx="457200" cy="54864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77656" y="452628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r>
            <a:r>
              <a:rPr sz="16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 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5944" y="53218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深耕云计算产业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另含 国家级专精特新「小巨人」1 家 · 上海市专精特新 26 家 · 科技小巨人 3 家 · 创新型中小企业 42 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05 / 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0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上海云基地  SHANGHAI CLOUD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2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85800"/>
            <a:ext cx="384048" cy="64008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93775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05  明星企业 ·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层次分明的产业创新集群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10634472" cy="694944"/>
          </a:xfrm>
          <a:prstGeom prst="rect">
            <a:avLst/>
          </a:prstGeom>
          <a:solidFill>
            <a:srgbClr val="112B4A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82296" cy="694944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2020824"/>
            <a:ext cx="1828800" cy="402336"/>
          </a:xfrm>
          <a:prstGeom prst="rect">
            <a:avLst/>
          </a:prstGeom>
          <a:solidFill>
            <a:srgbClr val="E2B663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已上市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874519"/>
            <a:ext cx="82296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优刻得（科创板·中国云计算首批上市企业之一）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15768"/>
            <a:ext cx="10634472" cy="694944"/>
          </a:xfrm>
          <a:prstGeom prst="rect">
            <a:avLst/>
          </a:prstGeom>
          <a:solidFill>
            <a:srgbClr val="112B4A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15768"/>
            <a:ext cx="82296" cy="694944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2862072"/>
            <a:ext cx="1828800" cy="402336"/>
          </a:xfrm>
          <a:prstGeom prst="rect">
            <a:avLst/>
          </a:prstGeom>
          <a:solidFill>
            <a:srgbClr val="33C9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715768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Pre-IPO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715768"/>
            <a:ext cx="82296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上海道客（云原生操作系统·国家级专精特新「小巨人」）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557015"/>
            <a:ext cx="10634472" cy="694944"/>
          </a:xfrm>
          <a:prstGeom prst="rect">
            <a:avLst/>
          </a:prstGeom>
          <a:solidFill>
            <a:srgbClr val="112B4A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57015"/>
            <a:ext cx="82296" cy="694944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703320"/>
            <a:ext cx="1828800" cy="402336"/>
          </a:xfrm>
          <a:prstGeom prst="rect">
            <a:avLst/>
          </a:prstGeom>
          <a:solidFill>
            <a:srgbClr val="33C9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557015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高成长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557015"/>
            <a:ext cx="82296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骞云科技 B+ · 贝塔数据 B+ · 速石科技 A · 炎凰数据 A+ · 骥步科技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398264"/>
            <a:ext cx="10634472" cy="694944"/>
          </a:xfrm>
          <a:prstGeom prst="rect">
            <a:avLst/>
          </a:prstGeom>
          <a:solidFill>
            <a:srgbClr val="112B4A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398264"/>
            <a:ext cx="82296" cy="694944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4544568"/>
            <a:ext cx="1828800" cy="402336"/>
          </a:xfrm>
          <a:prstGeom prst="rect">
            <a:avLst/>
          </a:prstGeom>
          <a:solidFill>
            <a:srgbClr val="E2B663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398264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细分龙头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398264"/>
            <a:ext cx="82296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即科智能（营收 5 亿+）· 秒针系统（拟港股上市）· 伟仕佳杰（全球第八大 IT 分销）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239512"/>
            <a:ext cx="10634472" cy="694944"/>
          </a:xfrm>
          <a:prstGeom prst="rect">
            <a:avLst/>
          </a:prstGeom>
          <a:solidFill>
            <a:srgbClr val="112B4A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239512"/>
            <a:ext cx="82296" cy="694944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5840" y="5385816"/>
            <a:ext cx="1828800" cy="402336"/>
          </a:xfrm>
          <a:prstGeom prst="rect">
            <a:avLst/>
          </a:prstGeom>
          <a:solidFill>
            <a:srgbClr val="33C9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39512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早期高潜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5239512"/>
            <a:ext cx="82296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时加跳动 · 剀蕊得 · 康进讯达 · 云鹊医疗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06 / 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0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上海云基地  SHANGHAI CLOUD 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2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85800"/>
            <a:ext cx="384048" cy="64008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93775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06  产业方向 · FOCUS TRACKS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聚焦四大前沿赛道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2615184" cy="3566160"/>
          </a:xfrm>
          <a:prstGeom prst="rect">
            <a:avLst/>
          </a:prstGeom>
          <a:solidFill>
            <a:srgbClr val="112B4A">
              <a:alpha val="84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2615184" cy="91440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560320"/>
            <a:ext cx="20665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337560"/>
            <a:ext cx="20665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云计算 / 云原生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9848" y="4251960"/>
            <a:ext cx="640080" cy="32004"/>
          </a:xfrm>
          <a:prstGeom prst="rect">
            <a:avLst/>
          </a:prstGeom>
          <a:solidFill>
            <a:srgbClr val="A9C0D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480560"/>
            <a:ext cx="20482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IaaS · PaaS · 多云管理 · 云原生中间件与存储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48456" y="2103120"/>
            <a:ext cx="2615184" cy="3566160"/>
          </a:xfrm>
          <a:prstGeom prst="rect">
            <a:avLst/>
          </a:prstGeom>
          <a:solidFill>
            <a:srgbClr val="112B4A">
              <a:alpha val="84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48456" y="2103120"/>
            <a:ext cx="2615184" cy="91440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1063" y="2560320"/>
            <a:ext cx="20665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1063" y="3337560"/>
            <a:ext cx="20665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大数据 / 人工智能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41063" y="4251960"/>
            <a:ext cx="640080" cy="32004"/>
          </a:xfrm>
          <a:prstGeom prst="rect">
            <a:avLst/>
          </a:prstGeom>
          <a:solidFill>
            <a:srgbClr val="A9C0D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41063" y="4480560"/>
            <a:ext cx="20482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AI 数据治理 · 智能算法 · 行业大模型应用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9671" y="2103120"/>
            <a:ext cx="2615184" cy="3566160"/>
          </a:xfrm>
          <a:prstGeom prst="rect">
            <a:avLst/>
          </a:prstGeom>
          <a:solidFill>
            <a:srgbClr val="112B4A">
              <a:alpha val="84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9671" y="2103120"/>
            <a:ext cx="2615184" cy="91440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79" y="2560320"/>
            <a:ext cx="20665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3337560"/>
            <a:ext cx="20665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边缘计算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79" y="4251960"/>
            <a:ext cx="640080" cy="32004"/>
          </a:xfrm>
          <a:prstGeom prst="rect">
            <a:avLst/>
          </a:prstGeom>
          <a:solidFill>
            <a:srgbClr val="A9C0D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79" y="4480560"/>
            <a:ext cx="20482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云边协同 · 实时数据 · 智能终端融合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90887" y="2103120"/>
            <a:ext cx="2615184" cy="3566160"/>
          </a:xfrm>
          <a:prstGeom prst="rect">
            <a:avLst/>
          </a:prstGeom>
          <a:solidFill>
            <a:srgbClr val="112B4A">
              <a:alpha val="84000"/>
            </a:srgbClr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90887" y="2103120"/>
            <a:ext cx="2615184" cy="91440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83495" y="2560320"/>
            <a:ext cx="20665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495" y="3337560"/>
            <a:ext cx="20665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SaaS / 智能终端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83495" y="4251960"/>
            <a:ext cx="640080" cy="32004"/>
          </a:xfrm>
          <a:prstGeom prst="rect">
            <a:avLst/>
          </a:prstGeom>
          <a:solidFill>
            <a:srgbClr val="A9C0D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3495" y="4480560"/>
            <a:ext cx="20482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垂直行业 SaaS · FPGA 可编程芯片 · 平台型创新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07 / 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0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上海云基地  SHANGHAI CLOUD 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2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4676" cy="6858000"/>
          </a:xfrm>
          <a:prstGeom prst="rect">
            <a:avLst/>
          </a:prstGeom>
          <a:solidFill>
            <a:srgbClr val="06112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6388" y="0"/>
            <a:ext cx="514676" cy="6858000"/>
          </a:xfrm>
          <a:prstGeom prst="rect">
            <a:avLst/>
          </a:prstGeom>
          <a:solidFill>
            <a:srgbClr val="061123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2777" y="0"/>
            <a:ext cx="514676" cy="6858000"/>
          </a:xfrm>
          <a:prstGeom prst="rect">
            <a:avLst/>
          </a:prstGeom>
          <a:solidFill>
            <a:srgbClr val="06112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89165" y="0"/>
            <a:ext cx="514676" cy="6858000"/>
          </a:xfrm>
          <a:prstGeom prst="rect">
            <a:avLst/>
          </a:prstGeom>
          <a:solidFill>
            <a:srgbClr val="0611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85554" y="0"/>
            <a:ext cx="514676" cy="6858000"/>
          </a:xfrm>
          <a:prstGeom prst="rect">
            <a:avLst/>
          </a:prstGeom>
          <a:solidFill>
            <a:srgbClr val="061123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81942" y="0"/>
            <a:ext cx="514676" cy="6858000"/>
          </a:xfrm>
          <a:prstGeom prst="rect">
            <a:avLst/>
          </a:prstGeom>
          <a:solidFill>
            <a:srgbClr val="061123">
              <a:alpha val="44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8331" y="0"/>
            <a:ext cx="514676" cy="6858000"/>
          </a:xfrm>
          <a:prstGeom prst="rect">
            <a:avLst/>
          </a:prstGeom>
          <a:solidFill>
            <a:srgbClr val="06112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0"/>
            <a:ext cx="514676" cy="6858000"/>
          </a:xfrm>
          <a:prstGeom prst="rect">
            <a:avLst/>
          </a:prstGeom>
          <a:solidFill>
            <a:srgbClr val="061123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1108" y="0"/>
            <a:ext cx="514676" cy="6858000"/>
          </a:xfrm>
          <a:prstGeom prst="rect">
            <a:avLst/>
          </a:prstGeom>
          <a:solidFill>
            <a:srgbClr val="06112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7497" y="0"/>
            <a:ext cx="514676" cy="6858000"/>
          </a:xfrm>
          <a:prstGeom prst="rect">
            <a:avLst/>
          </a:prstGeom>
          <a:solidFill>
            <a:srgbClr val="061123">
              <a:alpha val="24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63885" y="0"/>
            <a:ext cx="514676" cy="6858000"/>
          </a:xfrm>
          <a:prstGeom prst="rect">
            <a:avLst/>
          </a:prstGeom>
          <a:solidFill>
            <a:srgbClr val="061123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60274" y="0"/>
            <a:ext cx="514676" cy="6858000"/>
          </a:xfrm>
          <a:prstGeom prst="rect">
            <a:avLst/>
          </a:prstGeom>
          <a:solidFill>
            <a:srgbClr val="061123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56662" y="0"/>
            <a:ext cx="514676" cy="6858000"/>
          </a:xfrm>
          <a:prstGeom prst="rect">
            <a:avLst/>
          </a:prstGeom>
          <a:solidFill>
            <a:srgbClr val="061123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53051" y="0"/>
            <a:ext cx="514676" cy="6858000"/>
          </a:xfrm>
          <a:prstGeom prst="rect">
            <a:avLst/>
          </a:prstGeom>
          <a:solidFill>
            <a:srgbClr val="061123">
              <a:alpha val="4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685800"/>
            <a:ext cx="384048" cy="64008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5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07  你将获得 · WHAT YOU 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入驻云基地，你将获得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011680"/>
            <a:ext cx="5212080" cy="1234440"/>
          </a:xfrm>
          <a:prstGeom prst="rect">
            <a:avLst/>
          </a:prstGeom>
          <a:solidFill>
            <a:srgbClr val="112B4A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2011680"/>
            <a:ext cx="82296" cy="1234440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2194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投融资对接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2633472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云海创投 + 云天使基金，链接红杉、高瓴、腾讯、百度等一线机构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011680"/>
            <a:ext cx="5212080" cy="1234440"/>
          </a:xfrm>
          <a:prstGeom prst="rect">
            <a:avLst/>
          </a:prstGeom>
          <a:solidFill>
            <a:srgbClr val="112B4A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011680"/>
            <a:ext cx="82296" cy="1234440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2194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2633472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方案孵化器提供需求调研、资源整合与实验测试，加速产品落地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474720"/>
            <a:ext cx="5212080" cy="1234440"/>
          </a:xfrm>
          <a:prstGeom prst="rect">
            <a:avLst/>
          </a:prstGeom>
          <a:solidFill>
            <a:srgbClr val="112B4A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3474720"/>
            <a:ext cx="82296" cy="1234440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36576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客户与市场资源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4096512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端到端产业生态，打通金融、营销、医疗、轨交等行业客户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474720"/>
            <a:ext cx="5212080" cy="1234440"/>
          </a:xfrm>
          <a:prstGeom prst="rect">
            <a:avLst/>
          </a:prstGeom>
          <a:solidFill>
            <a:srgbClr val="112B4A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474720"/>
            <a:ext cx="82296" cy="1234440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79" y="36576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政策与战略支持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8" y="4096512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国家级孵化器资质背书，提供顶层设计与战略（投资）咨询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937760"/>
            <a:ext cx="5212080" cy="1234440"/>
          </a:xfrm>
          <a:prstGeom prst="rect">
            <a:avLst/>
          </a:prstGeom>
          <a:solidFill>
            <a:srgbClr val="112B4A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937760"/>
            <a:ext cx="82296" cy="1234440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国际化拓展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4168" y="5559552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依托五角场创院、港中大上海中心，助力「走出去·引进来」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937760"/>
            <a:ext cx="5212080" cy="1234440"/>
          </a:xfrm>
          <a:prstGeom prst="rect">
            <a:avLst/>
          </a:prstGeom>
          <a:solidFill>
            <a:srgbClr val="112B4A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937760"/>
            <a:ext cx="82296" cy="1234440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7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人才与培训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5559552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五角场创新创业学院，体系化人才培养与产学研合作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11535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08 / 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0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上海云基地  SHANGHAI CLOUD 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op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23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0802" cy="6858000"/>
          </a:xfrm>
          <a:prstGeom prst="rect">
            <a:avLst/>
          </a:prstGeom>
          <a:solidFill>
            <a:srgbClr val="061123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514" y="0"/>
            <a:ext cx="540802" cy="6858000"/>
          </a:xfrm>
          <a:prstGeom prst="rect">
            <a:avLst/>
          </a:prstGeom>
          <a:solidFill>
            <a:srgbClr val="061123">
              <a:alpha val="724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5028" y="0"/>
            <a:ext cx="540802" cy="6858000"/>
          </a:xfrm>
          <a:prstGeom prst="rect">
            <a:avLst/>
          </a:prstGeom>
          <a:solidFill>
            <a:srgbClr val="061123">
              <a:alpha val="668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67542" y="0"/>
            <a:ext cx="540802" cy="6858000"/>
          </a:xfrm>
          <a:prstGeom prst="rect">
            <a:avLst/>
          </a:prstGeom>
          <a:solidFill>
            <a:srgbClr val="061123">
              <a:alpha val="612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90057" y="0"/>
            <a:ext cx="540802" cy="6858000"/>
          </a:xfrm>
          <a:prstGeom prst="rect">
            <a:avLst/>
          </a:prstGeom>
          <a:solidFill>
            <a:srgbClr val="061123">
              <a:alpha val="557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2571" y="0"/>
            <a:ext cx="540802" cy="6858000"/>
          </a:xfrm>
          <a:prstGeom prst="rect">
            <a:avLst/>
          </a:prstGeom>
          <a:solidFill>
            <a:srgbClr val="061123">
              <a:alpha val="501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35085" y="0"/>
            <a:ext cx="540802" cy="6858000"/>
          </a:xfrm>
          <a:prstGeom prst="rect">
            <a:avLst/>
          </a:prstGeom>
          <a:solidFill>
            <a:srgbClr val="061123">
              <a:alpha val="445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0"/>
            <a:ext cx="540802" cy="6858000"/>
          </a:xfrm>
          <a:prstGeom prst="rect">
            <a:avLst/>
          </a:prstGeom>
          <a:solidFill>
            <a:srgbClr val="061123">
              <a:alpha val="3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0114" y="0"/>
            <a:ext cx="540802" cy="6858000"/>
          </a:xfrm>
          <a:prstGeom prst="rect">
            <a:avLst/>
          </a:prstGeom>
          <a:solidFill>
            <a:srgbClr val="061123">
              <a:alpha val="334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2628" y="0"/>
            <a:ext cx="540802" cy="6858000"/>
          </a:xfrm>
          <a:prstGeom prst="rect">
            <a:avLst/>
          </a:prstGeom>
          <a:solidFill>
            <a:srgbClr val="061123">
              <a:alpha val="278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142" y="0"/>
            <a:ext cx="540802" cy="6858000"/>
          </a:xfrm>
          <a:prstGeom prst="rect">
            <a:avLst/>
          </a:prstGeom>
          <a:solidFill>
            <a:srgbClr val="061123">
              <a:alpha val="222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47657" y="0"/>
            <a:ext cx="540802" cy="6858000"/>
          </a:xfrm>
          <a:prstGeom prst="rect">
            <a:avLst/>
          </a:prstGeom>
          <a:solidFill>
            <a:srgbClr val="061123">
              <a:alpha val="167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0171" y="0"/>
            <a:ext cx="540802" cy="6858000"/>
          </a:xfrm>
          <a:prstGeom prst="rect">
            <a:avLst/>
          </a:prstGeom>
          <a:solidFill>
            <a:srgbClr val="061123">
              <a:alpha val="111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92685" y="0"/>
            <a:ext cx="540802" cy="6858000"/>
          </a:xfrm>
          <a:prstGeom prst="rect">
            <a:avLst/>
          </a:prstGeom>
          <a:solidFill>
            <a:srgbClr val="061123">
              <a:alpha val="55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685800"/>
            <a:ext cx="384048" cy="64008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5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08  合作方式 · LET'S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我们诚挚欢迎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194560"/>
            <a:ext cx="2029968" cy="1783080"/>
          </a:xfrm>
          <a:prstGeom prst="rect">
            <a:avLst/>
          </a:prstGeom>
          <a:solidFill>
            <a:srgbClr val="112B4A">
              <a:alpha val="88000"/>
            </a:srgbClr>
          </a:solidFill>
          <a:ln w="15240">
            <a:solidFill>
              <a:srgbClr val="33C9FF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606040"/>
            <a:ext cx="17556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/ 硬科技企业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72184" y="3364991"/>
            <a:ext cx="640080" cy="27432"/>
          </a:xfrm>
          <a:prstGeom prst="rect">
            <a:avLst/>
          </a:prstGeom>
          <a:solidFill>
            <a:srgbClr val="33C9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474720"/>
            <a:ext cx="18470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入驻孵化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2194560"/>
            <a:ext cx="2029968" cy="1783080"/>
          </a:xfrm>
          <a:prstGeom prst="rect">
            <a:avLst/>
          </a:prstGeom>
          <a:solidFill>
            <a:srgbClr val="112B4A">
              <a:alpha val="88000"/>
            </a:srgbClr>
          </a:solidFill>
          <a:ln w="15240">
            <a:solidFill>
              <a:srgbClr val="E2B6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606040"/>
            <a:ext cx="17556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SaaS 企业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66744" y="3364991"/>
            <a:ext cx="640080" cy="27432"/>
          </a:xfrm>
          <a:prstGeom prst="rect">
            <a:avLst/>
          </a:prstGeom>
          <a:solidFill>
            <a:srgbClr val="E2B66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3474720"/>
            <a:ext cx="18470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加速成长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66360" y="2194560"/>
            <a:ext cx="2029968" cy="1783080"/>
          </a:xfrm>
          <a:prstGeom prst="rect">
            <a:avLst/>
          </a:prstGeom>
          <a:solidFill>
            <a:srgbClr val="112B4A">
              <a:alpha val="88000"/>
            </a:srgbClr>
          </a:solidFill>
          <a:ln w="15240">
            <a:solidFill>
              <a:srgbClr val="33C9FF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2606040"/>
            <a:ext cx="17556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产业链合作伙伴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61304" y="3364991"/>
            <a:ext cx="640080" cy="27432"/>
          </a:xfrm>
          <a:prstGeom prst="rect">
            <a:avLst/>
          </a:prstGeom>
          <a:solidFill>
            <a:srgbClr val="33C9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3474720"/>
            <a:ext cx="18470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生态共建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2194560"/>
            <a:ext cx="2029968" cy="1783080"/>
          </a:xfrm>
          <a:prstGeom prst="rect">
            <a:avLst/>
          </a:prstGeom>
          <a:solidFill>
            <a:srgbClr val="112B4A">
              <a:alpha val="88000"/>
            </a:srgbClr>
          </a:solidFill>
          <a:ln w="15240">
            <a:solidFill>
              <a:srgbClr val="E2B6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0" y="2606040"/>
            <a:ext cx="17556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投资机构 / 资本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55864" y="3364991"/>
            <a:ext cx="640080" cy="27432"/>
          </a:xfrm>
          <a:prstGeom prst="rect">
            <a:avLst/>
          </a:prstGeom>
          <a:solidFill>
            <a:srgbClr val="E2B66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3474720"/>
            <a:ext cx="18470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项目共投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55480" y="2194560"/>
            <a:ext cx="2029968" cy="1783080"/>
          </a:xfrm>
          <a:prstGeom prst="rect">
            <a:avLst/>
          </a:prstGeom>
          <a:solidFill>
            <a:srgbClr val="112B4A">
              <a:alpha val="88000"/>
            </a:srgbClr>
          </a:solidFill>
          <a:ln w="15240">
            <a:solidFill>
              <a:srgbClr val="33C9FF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2606040"/>
            <a:ext cx="17556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政府 / 载体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50424" y="3364991"/>
            <a:ext cx="640080" cy="27432"/>
          </a:xfrm>
          <a:prstGeom prst="rect">
            <a:avLst/>
          </a:prstGeom>
          <a:solidFill>
            <a:srgbClr val="33C9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6920" y="3474720"/>
            <a:ext cx="18470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平台共建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709160"/>
            <a:ext cx="10634472" cy="1143000"/>
          </a:xfrm>
          <a:prstGeom prst="rect">
            <a:avLst/>
          </a:prstGeom>
          <a:solidFill>
            <a:srgbClr val="1E88C7">
              <a:alpha val="22000"/>
            </a:srgbClr>
          </a:solidFill>
          <a:ln w="15240">
            <a:solidFill>
              <a:srgbClr val="33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937760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把上下楼变上下游 —— 让我们成为你产业化的第一站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欢迎洽谈入驻、投资与生态合作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93776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18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立即联系</a:t>
            </a:r>
          </a:p>
          <a:p>
            <a:pPr algn="r">
              <a:lnSpc>
                <a:spcPct val="120000"/>
              </a:lnSpc>
              <a:spcBef>
                <a:spcPts val="600"/>
              </a:spcBef>
            </a:pPr>
            <a:r>
              <a:rPr sz="12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大学路 322 号 205 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11535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09 / 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0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上海云基地  SHANGHAI CLOUD 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685800"/>
            <a:ext cx="384048" cy="64008"/>
          </a:xfrm>
          <a:prstGeom prst="rect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493775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09  发展历程 ·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十五年，从无到有构建产业生态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108960"/>
            <a:ext cx="10332720" cy="36576"/>
          </a:xfrm>
          <a:prstGeom prst="rect">
            <a:avLst/>
          </a:prstGeom>
          <a:solidFill>
            <a:srgbClr val="33C9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56231" y="3044952"/>
            <a:ext cx="182880" cy="182880"/>
          </a:xfrm>
          <a:prstGeom prst="ellipse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99" y="1691639"/>
            <a:ext cx="20665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2010.10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正式成立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上海「云海计划」杨浦核心执行主体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8528" y="2880360"/>
            <a:ext cx="18288" cy="228600"/>
          </a:xfrm>
          <a:prstGeom prst="rect">
            <a:avLst/>
          </a:prstGeom>
          <a:solidFill>
            <a:srgbClr val="E2B66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22776" y="3044952"/>
            <a:ext cx="182880" cy="182880"/>
          </a:xfrm>
          <a:prstGeom prst="ellipse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3520440"/>
            <a:ext cx="20665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2014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市级孵化器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认定为上海市科技企业孵化器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5072" y="3218688"/>
            <a:ext cx="18288" cy="228600"/>
          </a:xfrm>
          <a:prstGeom prst="rect">
            <a:avLst/>
          </a:prstGeom>
          <a:solidFill>
            <a:srgbClr val="33C9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89320" y="3044952"/>
            <a:ext cx="182880" cy="182880"/>
          </a:xfrm>
          <a:prstGeom prst="ellipse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1691639"/>
            <a:ext cx="20665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2016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大数据基地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获授牌「上海市大数据创新基地」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2880360"/>
            <a:ext cx="18288" cy="228600"/>
          </a:xfrm>
          <a:prstGeom prst="rect">
            <a:avLst/>
          </a:prstGeom>
          <a:solidFill>
            <a:srgbClr val="E2B66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55864" y="3044952"/>
            <a:ext cx="182880" cy="182880"/>
          </a:xfrm>
          <a:prstGeom prst="ellipse">
            <a:avLst/>
          </a:prstGeom>
          <a:solidFill>
            <a:srgbClr val="33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3520440"/>
            <a:ext cx="20665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2019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国家级跃升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晋升国家级科技企业孵化器（专业类）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218688"/>
            <a:ext cx="18288" cy="228600"/>
          </a:xfrm>
          <a:prstGeom prst="rect">
            <a:avLst/>
          </a:prstGeom>
          <a:solidFill>
            <a:srgbClr val="33C9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22408" y="3044952"/>
            <a:ext cx="182880" cy="182880"/>
          </a:xfrm>
          <a:prstGeom prst="ellipse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691639"/>
            <a:ext cx="20665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E2B663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迈向卓越级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拟推荐工信部卓越级·总产值超 60 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04704" y="2880360"/>
            <a:ext cx="18288" cy="228600"/>
          </a:xfrm>
          <a:prstGeom prst="rect">
            <a:avLst/>
          </a:prstGeom>
          <a:solidFill>
            <a:srgbClr val="E2B66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1535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10 /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0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上海云基地  SHANGHAI CLOUD 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23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上海市云计算创新基地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1800" b="1" i="0">
                <a:solidFill>
                  <a:srgbClr val="33C9FF"/>
                </a:solidFill>
                <a:latin typeface="Microsoft YaHei"/>
                <a:ea typeface="Microsoft YaHei"/>
                <a:cs typeface="Microsoft YaHei"/>
              </a:rPr>
              <a:t>让技术企业从 0 → 1 → 上市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7207" y="3611880"/>
            <a:ext cx="1097280" cy="45720"/>
          </a:xfrm>
          <a:prstGeom prst="rect">
            <a:avLst/>
          </a:prstGeom>
          <a:solidFill>
            <a:srgbClr val="E2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916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运营主体  上海市杨浦云计算创新基地发展有限公司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sz="1400" b="0" i="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地　　址  上海市杨浦区大学路 322 号 205 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spc="200">
                <a:solidFill>
                  <a:srgbClr val="A9C0D6"/>
                </a:solidFill>
                <a:latin typeface="Microsoft YaHei"/>
                <a:ea typeface="Microsoft YaHei"/>
                <a:cs typeface="Microsoft YaHei"/>
              </a:rPr>
              <a:t>SHANGHAI CLOUD BASE  ·  把上下楼变上下游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