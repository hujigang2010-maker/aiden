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498080" y="868680"/>
            <a:ext cx="5120640" cy="5120640"/>
          </a:xfrm>
          <a:prstGeom prst="ellipse">
            <a:avLst/>
          </a:prstGeom>
          <a:noFill/>
          <a:ln w="1016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0" y="1417320"/>
            <a:ext cx="4023360" cy="4023360"/>
          </a:xfrm>
          <a:prstGeom prst="ellipse">
            <a:avLst/>
          </a:prstGeom>
          <a:noFill/>
          <a:ln w="1016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0" y="1965960"/>
            <a:ext cx="2926080" cy="2926080"/>
          </a:xfrm>
          <a:prstGeom prst="ellipse">
            <a:avLst/>
          </a:prstGeom>
          <a:noFill/>
          <a:ln w="1016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2514600"/>
            <a:ext cx="1828800" cy="1828800"/>
          </a:xfrm>
          <a:prstGeom prst="ellipse">
            <a:avLst/>
          </a:prstGeom>
          <a:noFill/>
          <a:ln w="1016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0" y="2971800"/>
            <a:ext cx="914400" cy="914400"/>
          </a:xfrm>
          <a:prstGeom prst="ellipse">
            <a:avLst/>
          </a:prstGeom>
          <a:noFill/>
          <a:ln w="25400">
            <a:solidFill>
              <a:srgbClr val="6B2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144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1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BEIWAITAN · Humanities Nights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5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北外滩 · 一滴水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5200" b="1" i="0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人文思想之夜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2286000" cy="3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2000" b="0" i="1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在时代变化中寻找生命的意义与智慧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融合 · 哲学思想 / 城市发展 / 企业家精神 / 人文交流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首场 · 2026.10.31（周六）· 上海北外滩 · 一滴水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80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品牌规划 v1.0 · 汇报对象：主办联合体三方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议程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汇报议程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从「一场活动」到「长期人文品牌」的规划路径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640080" cy="5029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18872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7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核心一页 · 品牌定位与三年愿景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1887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One-Pager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55648"/>
            <a:ext cx="10698480" cy="150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31520" y="1874520"/>
            <a:ext cx="640080" cy="5029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87452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7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落地空间 · 北外滩 · 一滴水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8745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441448"/>
            <a:ext cx="10698480" cy="150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31520" y="2560320"/>
            <a:ext cx="640080" cy="5029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56032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7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主办联合体 · 三方协同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5603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Partners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127248"/>
            <a:ext cx="10698480" cy="150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640080" cy="5029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24612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7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内容框架 · 下午 + 晚间双段式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2461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Format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13048"/>
            <a:ext cx="10698480" cy="150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731520" y="3931920"/>
            <a:ext cx="640080" cy="5029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93192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7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邀请对象 · 五类嘉宾矩阵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9319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Guests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98848"/>
            <a:ext cx="10698480" cy="150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31520" y="4617720"/>
            <a:ext cx="640080" cy="5029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61772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7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系列化路径 · 三年品牌演进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6177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Roadmap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184648"/>
            <a:ext cx="10698480" cy="150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731520" y="5303520"/>
            <a:ext cx="640080" cy="5029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30352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7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预算 / 组织 / 传播 / 风险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3035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Operations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870448"/>
            <a:ext cx="10698480" cy="15000"/>
          </a:xfrm>
          <a:prstGeom prst="rect">
            <a:avLst/>
          </a:prstGeom>
          <a:solidFill>
            <a:srgbClr val="D8D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01 · 核心一页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一页看懂 · 品牌定位与三年愿景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融合哲学 · 城市 · 企业家 · 人文 的高品质思想交流平台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11247120" cy="109728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品牌一句话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2600" b="1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在时代变化中寻找生命的意义与智慧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2697480" cy="13716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哲学思想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启迪智慧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331720"/>
            <a:ext cx="2697480" cy="13716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291840" y="251460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城市发展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1089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关照当下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331720"/>
            <a:ext cx="2697480" cy="137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26480" y="251460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企业家精神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1089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驱动未来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331720"/>
            <a:ext cx="2697480" cy="1371600"/>
          </a:xfrm>
          <a:prstGeom prst="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961120" y="2514600"/>
            <a:ext cx="2697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人文交流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10896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0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共话生命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三年演进 · 从首场标杆到品牌矩阵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15968"/>
            <a:ext cx="11247120" cy="15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3657600" cy="169164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3657600" cy="4572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Y1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83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试运行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34924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首场（10.31）+ 第二场</a:t>
            </a:r>
          </a:p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验证形态 · 树立标杆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4480560"/>
            <a:ext cx="3657600" cy="169164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51960" y="4480560"/>
            <a:ext cx="3657600" cy="4572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5196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Y2 · 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4983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0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品牌立起来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34924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全年 4 场</a:t>
            </a:r>
          </a:p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联合出品 · 长期社群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480560"/>
            <a:ext cx="3657600" cy="169164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046720" y="4480560"/>
            <a:ext cx="365760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0467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Y3 · 2028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983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品牌矩阵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534924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季度大会 + 月度沙龙</a:t>
            </a:r>
          </a:p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形成「北外滩思想系列」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打造具有辨识度的城市人文思想 IP · 让思想在北外滩生根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01 · 品牌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品牌命名与主张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品牌命名的哲学 · 一滴水见汪洋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系列品牌名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北外滩 · 一滴水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人文思想之夜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91840"/>
            <a:ext cx="54864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命名释义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486400" cy="23774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北外滩 —— 上海面向世界的门户，承载着近代以来的思想启蒙与文化交融</a:t>
            </a:r>
          </a:p>
          <a:p>
            <a:pPr algn="l"/>
            <a:r>
              <a:rPr sz="13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3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一滴水 —— 见微知著，见汪洋大海。以「小空间」承载「大思考」，以「一场活动」积淀「长期品牌」</a:t>
            </a:r>
          </a:p>
          <a:p>
            <a:pPr algn="l"/>
            <a:r>
              <a:rPr sz="13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3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人文思想之夜 —— 不同于产业峰会的白日喧嚣，选择夜的深邃，让思想在从容中生根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1371600"/>
            <a:ext cx="4572000" cy="4572000"/>
          </a:xfrm>
          <a:prstGeom prst="ellipse">
            <a:avLst/>
          </a:prstGeom>
          <a:noFill/>
          <a:ln w="1905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06640" y="1920240"/>
            <a:ext cx="3474720" cy="3474720"/>
          </a:xfrm>
          <a:prstGeom prst="ellipse">
            <a:avLst/>
          </a:prstGeom>
          <a:noFill/>
          <a:ln w="1905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55280" y="2468880"/>
            <a:ext cx="2377440" cy="2377440"/>
          </a:xfrm>
          <a:prstGeom prst="ellipse">
            <a:avLst/>
          </a:prstGeom>
          <a:noFill/>
          <a:ln w="1905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3017520"/>
            <a:ext cx="1280160" cy="1280160"/>
          </a:xfrm>
          <a:prstGeom prst="ellipse">
            <a:avLst/>
          </a:prstGeom>
          <a:noFill/>
          <a:ln w="1905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3429000"/>
            <a:ext cx="457200" cy="457200"/>
          </a:xfrm>
          <a:prstGeom prst="ellipse">
            <a:avLst/>
          </a:prstGeom>
          <a:solidFill>
            <a:srgbClr val="6B2C3E"/>
          </a:solidFill>
          <a:ln w="38100">
            <a:solidFill>
              <a:srgbClr val="6B2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一滴水见汪洋 · 涟漪母题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02 · 落地空间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北外滩 · 一滴水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上海市虹口区北外滩东大名路 501 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空间简介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00" cy="43891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20640" cy="4206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「一滴水」位于上海北外滩核心地段，毗邻黄浦江，与外滩万国建筑群隔江相望，俯瞰上海城市历史与未来。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空间设计以「水」为灵感，融合现代极简与东方美学，适合承办思想类沙龙、私享晚宴与文化对话。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地址：上海市虹口区北外滩东大名路 501 号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交通：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  • 地铁 12 号线国际客运中心站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  • 距外滩步行 15 分钟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  • 距南京东路 10 分钟车程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适用场景：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  • 半日思想分享（可容 100–200 人）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  • 私享晚宴（40–60 人圆桌）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为什么选一滴水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182880" cy="7772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29400" y="1417320"/>
            <a:ext cx="5166360" cy="77724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66560" y="149047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城市地标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80136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北外滩 · 上海面向世界的新窗口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286000"/>
            <a:ext cx="182880" cy="77724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29400" y="2286000"/>
            <a:ext cx="5166360" cy="77724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66560" y="23591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水的意境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67004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极简东方美学 · 契合「一滴水」品牌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154680"/>
            <a:ext cx="182880" cy="77724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29400" y="3154680"/>
            <a:ext cx="5166360" cy="77724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766560" y="32278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场景灵活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5387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半日分享 + 晚间私享 · 一站式承接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023360"/>
            <a:ext cx="182880" cy="777240"/>
          </a:xfrm>
          <a:prstGeom prst="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29400" y="4023360"/>
            <a:ext cx="5166360" cy="77724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766560" y="40965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交通便捷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40740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地铁 + 轮渡 + 步行外滩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892040"/>
            <a:ext cx="182880" cy="7772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629400" y="4892040"/>
            <a:ext cx="5166360" cy="77724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766560" y="496519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传播价值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27608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背景即品牌 · 摄影/直播天然出片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03 · 主办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主办联合体 · 三方协同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学术公信力 + 品牌运营 + 产业与政府接口 三足鼎立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749039" cy="5029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3749039" cy="13716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1280160"/>
            <a:ext cx="3749039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7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复旦大学</a:t>
            </a:r>
          </a:p>
          <a:p>
            <a:pPr algn="ctr"/>
            <a:r>
              <a:rPr sz="17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住房政策研究中心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0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学术背书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51760"/>
            <a:ext cx="347471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主要贡献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54680"/>
            <a:ext cx="274320" cy="2743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9067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顶级学者资源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274320" cy="2743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3931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内容深度把关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51960"/>
            <a:ext cx="274320" cy="2743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8795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学术公信力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274320" cy="2743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73659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研究成果输出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1097280"/>
            <a:ext cx="3749039" cy="5029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297679" y="1097280"/>
            <a:ext cx="3749039" cy="13716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297679" y="1280160"/>
            <a:ext cx="3749039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7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首乾书院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205740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0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品牌运营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2651760"/>
            <a:ext cx="347471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主要贡献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79" y="3154680"/>
            <a:ext cx="274320" cy="274320"/>
          </a:xfrm>
          <a:prstGeom prst="round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39" y="309067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品牌主理与设计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79" y="3703320"/>
            <a:ext cx="274320" cy="274320"/>
          </a:xfrm>
          <a:prstGeom prst="round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39" y="363931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内容策划与执行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79" y="4251960"/>
            <a:ext cx="274320" cy="274320"/>
          </a:xfrm>
          <a:prstGeom prst="round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39" y="418795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现场执行团队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79" y="4800600"/>
            <a:ext cx="274320" cy="274320"/>
          </a:xfrm>
          <a:prstGeom prst="round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39" y="473659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长期品牌运营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58" y="1097280"/>
            <a:ext cx="3749039" cy="5029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138158" y="1097280"/>
            <a:ext cx="3749039" cy="137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138158" y="1280160"/>
            <a:ext cx="3749039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7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上海市杨浦区</a:t>
            </a:r>
          </a:p>
          <a:p>
            <a:pPr algn="ctr"/>
            <a:r>
              <a:rPr sz="17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科技企业联合会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58" y="205740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300" b="0" i="1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产业与政府接口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8" y="2651760"/>
            <a:ext cx="347471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主要贡献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58" y="3154680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18" y="309067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企业家资源池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66758" y="3703320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18" y="363931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政府关系协同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58" y="4251960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18" y="418795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传播渠道联动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66758" y="4800600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18" y="4736592"/>
            <a:ext cx="3017519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场地/交通协调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04 · 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活动内容框架 · 下午 + 晚间双段式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半日思想分享 → 晚间人文私享晚宴 · 标准可复制模式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下午 · 思想分享（14:00–17:30）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486400" cy="384048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1600200"/>
            <a:ext cx="1508760" cy="5486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160020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14:00–14:30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60020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嘉宾签到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258568"/>
            <a:ext cx="1508760" cy="5486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225856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14:30–14:40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258568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开场致辞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916936"/>
            <a:ext cx="1508760" cy="5486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2916936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14:40–16:10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916936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主题分享（90 分钟）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575304"/>
            <a:ext cx="1508760" cy="5486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4360" y="3575304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16:10–16:40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575304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互动交流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233672"/>
            <a:ext cx="1508760" cy="5486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233672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16:40–17:30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233672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圆桌对话与交流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晚间 · 人文私享晚宴（18:00–21:00）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463040"/>
            <a:ext cx="5486400" cy="384048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537960" y="1600200"/>
            <a:ext cx="1508760" cy="6858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37960" y="160020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18:00–18:30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1600200"/>
            <a:ext cx="361188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嘉宾签到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423160"/>
            <a:ext cx="1508760" cy="6858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37960" y="242316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18:30–18:40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423160"/>
            <a:ext cx="361188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开场致辞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3246120"/>
            <a:ext cx="1508760" cy="6858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37960" y="324612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18:40–20:30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246120"/>
            <a:ext cx="361188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人文私享晚宴（圆桌交流）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4069080"/>
            <a:ext cx="1508760" cy="6858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37960" y="406908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20:30–21:00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069080"/>
            <a:ext cx="3611880" cy="685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自由交流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532120"/>
            <a:ext cx="11430000" cy="7772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7200" y="557784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5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思想分享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94360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启迪智慧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557784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5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高端交流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594360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链接未来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3296" y="557784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5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私享晚宴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83296" y="594360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共话发展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05 · 邀请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邀请对象矩阵 · 五类嘉宾画像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80–120 人 · 高质量小规模 · 审核邀请制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201168" cy="9144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1097280"/>
            <a:ext cx="6858000" cy="9144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11430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高校学者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0876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复旦 / 交大 / 同济 / 华东师大 教授、研究员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353312"/>
            <a:ext cx="777240" cy="41148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201168" cy="9144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5800" y="2103120"/>
            <a:ext cx="6858000" cy="9144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21488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企业家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5146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上海及长三角优秀企业家（一代 / 二代）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2359152"/>
            <a:ext cx="777240" cy="411480"/>
          </a:xfrm>
          <a:prstGeom prst="round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35%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08960"/>
            <a:ext cx="201168" cy="914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85800" y="3108960"/>
            <a:ext cx="6858000" cy="9144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1546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科技创新人士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52044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智能网联 / AI / 生物医药 / 新材料 创业者与高管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3364992"/>
            <a:ext cx="777240" cy="41148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201168" cy="914400"/>
          </a:xfrm>
          <a:prstGeom prst="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85800" y="4114800"/>
            <a:ext cx="6858000" cy="9144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1605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1A3E27"/>
                </a:solidFill>
                <a:latin typeface="Georgia"/>
                <a:ea typeface="WenQuanYi Micro Hei"/>
                <a:cs typeface="WenQuanYi Micro Hei"/>
              </a:rPr>
              <a:t>文化领域嘉宾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2628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文创 / 出版 / 艺术 / 媒体主理人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4370832"/>
            <a:ext cx="777240" cy="411480"/>
          </a:xfrm>
          <a:prstGeom prst="round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20640"/>
            <a:ext cx="201168" cy="9144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85800" y="5120640"/>
            <a:ext cx="6858000" cy="9144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1663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城市发展关注者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3212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建筑师 / 规划师 / 政府智库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5376672"/>
            <a:ext cx="777240" cy="41148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105156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邀请策略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1463040"/>
            <a:ext cx="137160" cy="59436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046720" y="15087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总人数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15087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80–120 人（首场）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2148840"/>
            <a:ext cx="137160" cy="59436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046720" y="21945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邀请方式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1945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审核邀请制（非公开）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2834640"/>
            <a:ext cx="13716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46720" y="28803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筛选标准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28803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行业代表性 + 表达欲望 + 长期性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3520440"/>
            <a:ext cx="137160" cy="594360"/>
          </a:xfrm>
          <a:prstGeom prst="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046720" y="35661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性别比例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35661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建议 55/45 或 60/40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4206240"/>
            <a:ext cx="137160" cy="59436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046720" y="42519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年龄结构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2519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30–60 岁核心 + 20% 青年学者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4892040"/>
            <a:ext cx="137160" cy="59436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046720" y="49377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VIP 席位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493776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预留 8–12 位（一线嘉宾+主办)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05 · 报名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报名与筛选 · 预报名 + 审核邀请制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两阶段 · 沉淀社群资产 · 长期运营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四步流程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5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57200" y="1600200"/>
            <a:ext cx="2697480" cy="1828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57200" y="1600200"/>
            <a:ext cx="2697480" cy="5486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① 预报名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286000"/>
            <a:ext cx="2423160" cy="10515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扫码 → 填基础信息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（姓名/单位/职务/一句话自我介绍）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600200"/>
            <a:ext cx="2697480" cy="1828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291840" y="1600200"/>
            <a:ext cx="2697480" cy="54864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291840" y="16916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② 筛选审核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286000"/>
            <a:ext cx="2423160" cy="10515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主办方联合审核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参照 5 类嘉宾配比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600200"/>
            <a:ext cx="2697480" cy="1828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26480" y="1600200"/>
            <a:ext cx="2697480" cy="54864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126480" y="16916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③ 正式邀请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286000"/>
            <a:ext cx="2423160" cy="10515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审核通过发正式邀请函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+ 详细议程 + 交通指引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600200"/>
            <a:ext cx="2697480" cy="1828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961120" y="1600200"/>
            <a:ext cx="2697480" cy="548640"/>
          </a:xfrm>
          <a:prstGeom prst="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961120" y="16916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6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④ 社群沉淀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286000"/>
            <a:ext cx="2423160" cy="10515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所有报名者进活动预备群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形成长期社群资产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社群资产逻辑 · 从报名到长期沉淀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06240"/>
            <a:ext cx="11247120" cy="201168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85800" y="4434840"/>
            <a:ext cx="201168" cy="201168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3434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首场活动预报名 → 200–400 人核心社群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800600"/>
            <a:ext cx="201168" cy="201168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微信社群按邀请对象分类：学者群 / 企业家群 / 科技群 / 文化群 / 综合群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166360"/>
            <a:ext cx="201168" cy="201168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0749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每场活动前 30 天启动新一轮预报名，老学员优先通过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532120"/>
            <a:ext cx="201168" cy="201168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4406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3 年沉淀目标：核心社群 2,000+ 人，形成「北外滩思想社群」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897880"/>
            <a:ext cx="201168" cy="201168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8064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长期变现路径：付费会员制（Y3 起）· 书籍/课程/内训 分销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06 · 系列化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三年系列化路径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从首场标杆 → 品牌立起来 → 品牌矩阵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749039" cy="5029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3749039" cy="96012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Y1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试运行 · 树标杆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96312"/>
            <a:ext cx="274320" cy="2743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33172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10 月首场活动（10.31）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73552"/>
            <a:ext cx="274320" cy="2743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0896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12 月第二场（半年检验）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50792"/>
            <a:ext cx="274320" cy="2743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88620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沉淀首批 200-400 人社群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28032"/>
            <a:ext cx="274320" cy="27432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6344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形成首套「下午 + 晚间」标准模板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1097280"/>
            <a:ext cx="3749039" cy="5029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297679" y="1097280"/>
            <a:ext cx="3749039" cy="96012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297679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Y2 ·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1664208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品牌立起来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2496312"/>
            <a:ext cx="274320" cy="274320"/>
          </a:xfrm>
          <a:prstGeom prst="round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599" y="233172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全年 4 场（3/5/7/10 月）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3273552"/>
            <a:ext cx="274320" cy="274320"/>
          </a:xfrm>
          <a:prstGeom prst="round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599" y="310896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联合出品：书籍 / 视频号 / 长期社群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4050792"/>
            <a:ext cx="274320" cy="274320"/>
          </a:xfrm>
          <a:prstGeom prst="round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599" y="388620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首场「付费入场」探索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59" y="4828032"/>
            <a:ext cx="274320" cy="274320"/>
          </a:xfrm>
          <a:prstGeom prst="round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599" y="466344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社群扩至 1,000+ 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8" y="1097280"/>
            <a:ext cx="3749039" cy="5029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138158" y="1097280"/>
            <a:ext cx="3749039" cy="9601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138158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20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Y3 · 2028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8" y="1664208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1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品牌矩阵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38" y="249631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78" y="233172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每季度 1 场大会 + 每月 1 场闭门沙龙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38" y="327355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78" y="310896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形成「北外滩思想系列」 IP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38" y="405079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78" y="388620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延伸城市/校园/企业专场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38" y="482803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78" y="466344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社群 2,000+ / 付费会员制启动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06 · 首场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首场活动 · 10.31 · 落地清单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从筹备到复盘 · 8 个关键里程碑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8 个关键里程碑（倒推时间轴）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15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1371600" cy="4572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T-90 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1554480"/>
            <a:ext cx="155448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74519" y="15544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8 月上旬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554480"/>
            <a:ext cx="8229600" cy="457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11880" y="15544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立项 + 三方联合体协议 + 场地档期确认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1031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T-75 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103120"/>
            <a:ext cx="155448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874519" y="210312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8 月中旬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103120"/>
            <a:ext cx="8229600" cy="457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11880" y="21031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内容策划完成 + 主题方向确定 + 嘉宾邀请函发出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51760"/>
            <a:ext cx="1371600" cy="4572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7200" y="2651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T-60 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19" y="2651760"/>
            <a:ext cx="155448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874519" y="26517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9 月上旬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651760"/>
            <a:ext cx="8229600" cy="457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611880" y="26517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主视觉 + 海报 + 预报名通道上线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00400"/>
            <a:ext cx="1371600" cy="4572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7200" y="32004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T-45 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3200400"/>
            <a:ext cx="155448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874519" y="320040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9 月中旬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3200400"/>
            <a:ext cx="8229600" cy="457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611880" y="32004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预报名启动 · 目标 400+ 人 · 分群运营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49040"/>
            <a:ext cx="1371600" cy="4572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7200" y="3749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T-30 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74519" y="3749040"/>
            <a:ext cx="155448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874519" y="37490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10 月初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3749040"/>
            <a:ext cx="8229600" cy="457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611880" y="3749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筛选审核 · 正式邀请 · 席位分配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297680"/>
            <a:ext cx="1371600" cy="4572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7200" y="42976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T-14 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74519" y="4297680"/>
            <a:ext cx="155448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874519" y="42976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10 月中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4297680"/>
            <a:ext cx="8229600" cy="457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611880" y="4297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彩排 · 直播/录制方案 · 晚宴菜单确认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46320"/>
            <a:ext cx="1371600" cy="4572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57200" y="4846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T-3 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19" y="4846320"/>
            <a:ext cx="155448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874519" y="484632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10.28-30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4846320"/>
            <a:ext cx="8229600" cy="457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611880" y="48463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现场布置 · 全员彩排 · 应急预案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394960"/>
            <a:ext cx="1371600" cy="4572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57200" y="53949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T 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74519" y="5394960"/>
            <a:ext cx="155448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874519" y="5394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10.31 · 周六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0" y="5394960"/>
            <a:ext cx="8229600" cy="4572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611880" y="53949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正式举办 + 24h 内出媒体稿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1" i="1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★ 首场目标：现场 80–120 人 · 直播 5,000+ 观看 · 3 篇媒体稿 · 200–400 人社群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07 · 传播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主视觉与传播设计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东方极简美学 · 一滴水视觉母题 · 大留白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主视觉规范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00" cy="475488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色板（三色 + 素笺）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20240"/>
            <a:ext cx="1051560" cy="5486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251460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1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墨绿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20" y="1920240"/>
            <a:ext cx="1051560" cy="54864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874520" y="251460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1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深梅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1920240"/>
            <a:ext cx="1051560" cy="54864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108960" y="251460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1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1920240"/>
            <a:ext cx="1051560" cy="54864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43400" y="251460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1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米白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9260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字体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中文：宋体 / 思源宋体（人文气质）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英文：Georgia / Playfair Display（衬线）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标语字号：60pt+ · 正文：14–18pt · 注释：10–12pt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版式原则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26864"/>
            <a:ext cx="182880" cy="18288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5371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大留白（40%+）· 素笺气质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56048"/>
            <a:ext cx="182880" cy="18288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882896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主标题居中 · 副标题简洁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285232"/>
            <a:ext cx="182880" cy="18288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2120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一滴水涟漪母题（同心圆）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614416"/>
            <a:ext cx="182880" cy="18288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541264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黑白/单色人文摄影 · 忌花哨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传播矩阵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417320"/>
            <a:ext cx="164592" cy="6858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583680" y="1417320"/>
            <a:ext cx="516636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720840" y="14630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微信公众号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17373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三家主办方联合发稿 · 内容首发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194560"/>
            <a:ext cx="164592" cy="6858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583680" y="2194560"/>
            <a:ext cx="516636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720840" y="22402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视频号 / 抖音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25146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3–5 支 60 秒短视频 · 长期沉淀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971800"/>
            <a:ext cx="164592" cy="685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583680" y="2971800"/>
            <a:ext cx="516636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720840" y="301752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微信社群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2918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预报名 + 长期社群 + 后续通告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749040"/>
            <a:ext cx="164592" cy="685800"/>
          </a:xfrm>
          <a:prstGeom prst="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583680" y="3749040"/>
            <a:ext cx="516636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720840" y="37947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主流媒体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40690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澎湃 / 一财 / 21 世纪 / 界面 深度报道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526280"/>
            <a:ext cx="164592" cy="6858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583680" y="4526280"/>
            <a:ext cx="516636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720840" y="45720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学术期刊 / 内刊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8463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思想内容长期沉淀 · 出版路径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5303520"/>
            <a:ext cx="164592" cy="6858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6583680" y="5303520"/>
            <a:ext cx="516636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720840" y="53492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直播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56235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视频号直播 · 目标 5,000+ 观看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07 · 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组织架构与 RACI 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三方联合体 · 明确责任 · 高效协同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核心岗位（首场）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64592" cy="6858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" y="1417320"/>
            <a:ext cx="521208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146304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项目总召集人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373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战略统筹 · 嘉宾锁定 · 三方协调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600200"/>
            <a:ext cx="1600200" cy="32004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首乾书院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164592" cy="6858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" y="2194560"/>
            <a:ext cx="521208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22402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学术策划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514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内容策划 · 主题设计 · 学术把关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377440"/>
            <a:ext cx="1600200" cy="320040"/>
          </a:xfrm>
          <a:prstGeom prst="round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复旦住房中心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164592" cy="685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40080" y="2971800"/>
            <a:ext cx="521208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301752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商务对接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918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企业家/产业界邀请 · 政府关系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154680"/>
            <a:ext cx="1600200" cy="32004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杨浦科企联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49040"/>
            <a:ext cx="164592" cy="685800"/>
          </a:xfrm>
          <a:prstGeom prst="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40080" y="3749040"/>
            <a:ext cx="521208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379476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现场执行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0690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场地 / 布置 / 接待 / 晚宴执行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931920"/>
            <a:ext cx="1600200" cy="320040"/>
          </a:xfrm>
          <a:prstGeom prst="round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首乾书院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164592" cy="6858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40080" y="4526280"/>
            <a:ext cx="521208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457200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传播/媒体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846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视觉设计 / 稿件 / 直播 / 视频号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4709160"/>
            <a:ext cx="1600200" cy="320040"/>
          </a:xfrm>
          <a:prstGeom prst="round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首乾书院 + 联合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03520"/>
            <a:ext cx="164592" cy="68580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40080" y="5303520"/>
            <a:ext cx="5212080" cy="68580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534924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财务/合规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6235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预算 / 结算 / 合同 / 法务审核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5486400"/>
            <a:ext cx="1600200" cy="320040"/>
          </a:xfrm>
          <a:prstGeom prst="round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首乾书院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RACI 关键事项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6400800" y="14173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51560"/>
                <a:gridCol w="1051560"/>
                <a:gridCol w="1005840"/>
              </a:tblGrid>
              <a:tr h="587828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关键事项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首乾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复旦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杨浦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</a:tr>
              <a:tr h="587828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战略统筹与嘉宾锁定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R+A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内容策划与学术把关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R+A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587828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企业家邀请与政府对接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R+A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现场执行与晚宴运营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R+A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587828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传播与媒体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R+A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财务预算与合同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R+A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400800" y="56235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R = Responsible · A = Accountable · C = Consulted · I = Informed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07 · 预算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首场预算与投入产出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14–21 万元 · 打造品牌资产 · 为长期铺基础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首场预算（策划口径 · 万元）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4173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2011680"/>
              </a:tblGrid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科目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预算范围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备注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场地租赁（一滴水）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4–6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半日 + 晚宴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晚宴餐饮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3–5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40–60 人私享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主视觉与物料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海报/KV/宴请手册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摄影摄像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1.5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全程记录 + 剪辑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直播/传播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视频号直播 + 短视频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嘉宾接待与礼品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2–3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车费 / 伴手礼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其他杂项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应急预留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合计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14–21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★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首场后 6 个月投入产出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17320"/>
            <a:ext cx="164592" cy="73152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583680" y="1417320"/>
            <a:ext cx="5212080" cy="7315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20840" y="1463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品牌资产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14630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形成「北外滩·一滴水」品牌记忆点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40280"/>
            <a:ext cx="164592" cy="73152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0" y="2240280"/>
            <a:ext cx="5212080" cy="7315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20840" y="2286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社群资产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28600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核心社群 200–400 人</a:t>
            </a:r>
          </a:p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（学者+企业家+文化）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063240"/>
            <a:ext cx="164592" cy="7315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0" y="3063240"/>
            <a:ext cx="5212080" cy="7315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20840" y="31089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内容资产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1089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1 次深度内容</a:t>
            </a:r>
          </a:p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→ 3 篇公众号 + 5 支短视频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886200"/>
            <a:ext cx="164592" cy="731520"/>
          </a:xfrm>
          <a:prstGeom prst="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83680" y="3886200"/>
            <a:ext cx="5212080" cy="7315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20840" y="39319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媒体资产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93192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1 次媒体深度报道</a:t>
            </a:r>
          </a:p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+ 5–10 家转载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709160"/>
            <a:ext cx="164592" cy="73152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583680" y="4709160"/>
            <a:ext cx="5212080" cy="7315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20840" y="47548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未来价值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7548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为 Y2 全年 4 场铺基础</a:t>
            </a:r>
          </a:p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3 年内形成年度品牌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0080" y="577900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★ 首场是「品牌种子」投资 —— 3 年后单场活动商业价值将放大 5–10 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07 · 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风险与合规清单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事前预防 · 事中管控 · 事后复盘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09728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  <a:gridCol w="731520"/>
                <a:gridCol w="731520"/>
                <a:gridCol w="5212080"/>
                <a:gridCol w="1828800"/>
              </a:tblGrid>
              <a:tr h="53848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#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风险类别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概率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影响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对冲手段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7F1E6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启动时点</a:t>
                      </a:r>
                    </a:p>
                  </a:txBody>
                  <a:tcPr>
                    <a:solidFill>
                      <a:srgbClr val="2C5F3E"/>
                    </a:solidFill>
                  </a:tcPr>
                </a:tc>
              </a:tr>
              <a:tr h="5384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R1 · 内容合规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主题分享内容与议题双方书面确认；敏感表述法务预审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M-30 前完成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84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R2 · 场地合规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低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与一滴水签正式租赁合同（含消防/安全条款）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签约前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84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R3 · 餐饮合规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晚宴执行方需具备餐饮资质 + 食品安全承诺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M-30 前锁定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84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R4 · 知识产权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分享内容录音/录像需嘉宾书面授权 + 首乾书院统一保管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M-14 前完成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84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R5 · 社群管理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预报名信息按 PIPL 处理 · 建立信息删除 SOP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常态化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84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R6 · 直播事故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低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双机位备份 + 5G 独立信号 + 应急方案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M-7 演练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84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R7 · 嘉宾变更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备用嘉宾 / 视频致辞方案 + 24h 内替换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常态化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84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R8 · 报名超额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低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分级候补名单 + 直播替代 + 下场优先席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M-14 起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风险委员会：三方各 1 人 · 首场前每周评审 · 长期每月复盘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07 · 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12 个月品牌里程碑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从首场筹备 → 第二场落地 · 品牌立根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560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2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22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4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084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46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08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08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0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70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132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4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94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56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56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418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80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80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42320" y="1097280"/>
            <a:ext cx="762000" cy="32004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942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M12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1463040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立项 + 三方联合体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1463040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580320" y="1483040"/>
            <a:ext cx="722000" cy="289184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65760" y="1837944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场地档期确认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1837944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2580320" y="1857944"/>
            <a:ext cx="1484000" cy="28918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65760" y="2212848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内容策划 + 主题设计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2212848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342320" y="2232848"/>
            <a:ext cx="1484000" cy="289184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65760" y="2587752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嘉宾邀请函（首轮）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2587752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3342320" y="2607752"/>
            <a:ext cx="1484000" cy="289184"/>
          </a:xfrm>
          <a:prstGeom prst="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65760" y="2962656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主视觉 + 海报 + 报名页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0" y="2962656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4104320" y="2982656"/>
            <a:ext cx="1484000" cy="28918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65760" y="3337560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预报名启动（社群沉淀）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3337560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4866320" y="3357560"/>
            <a:ext cx="1484000" cy="289184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65760" y="3712464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正式邀请 + 席位分配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60320" y="3712464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628320" y="3732464"/>
            <a:ext cx="722000" cy="289184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65760" y="4087368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首场活动（10.31）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4087368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390320" y="4107368"/>
            <a:ext cx="722000" cy="28918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65760" y="4462272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媒体复盘 + 内容沉淀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4462272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390320" y="4482272"/>
            <a:ext cx="1484000" cy="289184"/>
          </a:xfrm>
          <a:prstGeom prst="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65760" y="4837176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第二场策划启动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560320" y="4837176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7914320" y="4857176"/>
            <a:ext cx="1484000" cy="289184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65760" y="5212080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第二场预报名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0" y="5212080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9438320" y="5232080"/>
            <a:ext cx="1484000" cy="289184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365760" y="5586984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第二场活动（12 月）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0" y="5586984"/>
            <a:ext cx="9144000" cy="329184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0962320" y="5606984"/>
            <a:ext cx="722000" cy="28918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07 · 延伸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品牌延伸与商业价值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5 大延伸路径 · 长期商业化可能性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2240280" cy="493776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2240280" cy="82296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1280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图书出版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1965960" cy="1645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思想内容整理成书</a:t>
            </a:r>
          </a:p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长期沉淀 IP 资产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1874520" cy="15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1965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与出版社联合出品</a:t>
            </a:r>
          </a:p>
          <a:p>
            <a:pPr algn="ctr"/>
            <a:r>
              <a:rPr sz="1000" b="0" i="1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目标：3 年 1 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1097280"/>
            <a:ext cx="2240280" cy="493776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788920" y="1097280"/>
            <a:ext cx="2240280" cy="82296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88920" y="1280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音频/视频课程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011680"/>
            <a:ext cx="1965960" cy="1645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与得到/樊登/混沌合作</a:t>
            </a:r>
          </a:p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输出精华课程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3840480"/>
            <a:ext cx="1874520" cy="15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926080" y="4023360"/>
            <a:ext cx="1965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首场后 6 个月上线</a:t>
            </a:r>
          </a:p>
          <a:p>
            <a:pPr algn="ctr"/>
            <a:r>
              <a:rPr sz="1000" b="0" i="1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目标：3 万人订阅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097280"/>
            <a:ext cx="2240280" cy="493776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120640" y="1097280"/>
            <a:ext cx="2240280" cy="8229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120640" y="1280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企业内训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011680"/>
            <a:ext cx="1965960" cy="1645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私享晚宴模式</a:t>
            </a:r>
          </a:p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复用到企业内训场景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3840480"/>
            <a:ext cx="1874520" cy="15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257800" y="4023360"/>
            <a:ext cx="1965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定制化服务</a:t>
            </a:r>
          </a:p>
          <a:p>
            <a:pPr algn="ctr"/>
            <a:r>
              <a:rPr sz="1000" b="0" i="1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单价 20–50 万/场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1097280"/>
            <a:ext cx="2240280" cy="493776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452360" y="1097280"/>
            <a:ext cx="2240280" cy="822960"/>
          </a:xfrm>
          <a:prstGeom prst="rect">
            <a:avLst/>
          </a:prstGeom>
          <a:solidFill>
            <a:srgbClr val="1A3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52360" y="1280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文化空间联营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011680"/>
            <a:ext cx="1965960" cy="1645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与其他文化空间联动</a:t>
            </a:r>
          </a:p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（西岸/思南公馆等）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3840480"/>
            <a:ext cx="1874520" cy="15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4023360"/>
            <a:ext cx="1965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共建「上海人文思想地图」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1097280"/>
            <a:ext cx="2240280" cy="493776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784080" y="1097280"/>
            <a:ext cx="2240280" cy="82296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784080" y="1280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城市巡回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2011680"/>
            <a:ext cx="1965960" cy="1645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北京/杭州/深圳</a:t>
            </a:r>
          </a:p>
          <a:p>
            <a:pPr algn="ctr"/>
            <a:r>
              <a:rPr sz="11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姊妹活动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60" y="3840480"/>
            <a:ext cx="1874520" cy="15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921240" y="4023360"/>
            <a:ext cx="196596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Y3 启动</a:t>
            </a:r>
          </a:p>
          <a:p>
            <a:pPr algn="ctr"/>
            <a:r>
              <a:rPr sz="1000" b="0" i="1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目标：4 城联动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1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★ 五大延伸路径共同支撑 3 年品牌收益：从纯投入 → 品牌资产 → 商业化收益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00000"/>
            <a:ext cx="12191695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"/>
            <a:ext cx="2194560" cy="34747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决策请求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给主办联合体的决策请求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50292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6 项关键授权 · 全部落定即可启动 10.31 筹备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8000"/>
            <a:ext cx="12191695" cy="6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北外滩 · 一滴水 · 人文思想之夜 · 品牌规划 v1.0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0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200400" cy="73152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① 立项与三方协议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097280"/>
            <a:ext cx="5943600" cy="7315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931920" y="109728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签署三方联合主办协议 · 明确权益与分工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1280160"/>
            <a:ext cx="192024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T+7d 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3200400" cy="73152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200" y="192024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② 首场预算授权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920240"/>
            <a:ext cx="5943600" cy="7315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31920" y="192024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首场 14–21 万元预算获三方书面确认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103120"/>
            <a:ext cx="192024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T+14d 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43200"/>
            <a:ext cx="3200400" cy="73152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" y="27432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③ 场地档期锁定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2743200"/>
            <a:ext cx="5943600" cy="7315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931920" y="274320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10.31（周六）一滴水场地档期正式预订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926080"/>
            <a:ext cx="192024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T+7d 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3200400" cy="73152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④ 主嘉宾策划授权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566160"/>
            <a:ext cx="5943600" cy="7315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931920" y="356616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授权首乾书院牵头首场主题嘉宾邀请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3749040"/>
            <a:ext cx="192024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T+7d 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89120"/>
            <a:ext cx="3200400" cy="73152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7200" y="43891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⑤ 传播方案与视觉基调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4389120"/>
            <a:ext cx="5943600" cy="7315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931920" y="438912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主视觉基调（墨绿 + 米白 + 金）三方联合确认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4572000"/>
            <a:ext cx="192024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T+21d 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12080"/>
            <a:ext cx="3200400" cy="73152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521208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5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⑥ 三年品牌路线图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5212080"/>
            <a:ext cx="5943600" cy="731520"/>
          </a:xfrm>
          <a:prstGeom prst="rect">
            <a:avLst/>
          </a:prstGeom>
          <a:solidFill>
            <a:srgbClr val="F7F1E6"/>
          </a:solidFill>
          <a:ln w="6350">
            <a:solidFill>
              <a:srgbClr val="D8D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931920" y="5212080"/>
            <a:ext cx="576072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认可「Y1 首场 → Y2 4 场 → Y3 品牌矩阵」路线图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29800" y="5394960"/>
            <a:ext cx="192024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T+21d 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solidFill>
            <a:srgbClr val="6B2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6089904"/>
            <a:ext cx="10972800" cy="30175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★ 6 项授权全部落定后，10.31 筹备正式启动 · T-90 天倒计时开始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74320" y="1417320"/>
            <a:ext cx="4023360" cy="4023360"/>
          </a:xfrm>
          <a:prstGeom prst="ellipse">
            <a:avLst/>
          </a:prstGeom>
          <a:noFill/>
          <a:ln w="1270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74520"/>
            <a:ext cx="3108960" cy="3108960"/>
          </a:xfrm>
          <a:prstGeom prst="ellipse">
            <a:avLst/>
          </a:prstGeom>
          <a:noFill/>
          <a:ln w="1270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331720"/>
            <a:ext cx="2194560" cy="2194560"/>
          </a:xfrm>
          <a:prstGeom prst="ellipse">
            <a:avLst/>
          </a:prstGeom>
          <a:noFill/>
          <a:ln w="1270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788920"/>
            <a:ext cx="1280160" cy="1280160"/>
          </a:xfrm>
          <a:prstGeom prst="ellipse">
            <a:avLst/>
          </a:prstGeom>
          <a:noFill/>
          <a:ln w="12700">
            <a:solidFill>
              <a:srgbClr val="2C5F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1680" y="3154680"/>
            <a:ext cx="548640" cy="548640"/>
          </a:xfrm>
          <a:prstGeom prst="ellipse">
            <a:avLst/>
          </a:prstGeom>
          <a:solidFill>
            <a:srgbClr val="6B2C3E"/>
          </a:solidFill>
          <a:ln w="31750">
            <a:solidFill>
              <a:srgbClr val="6B2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3716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1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联合宣言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北外滩 · 一滴水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60604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3200" b="1" i="0">
                <a:solidFill>
                  <a:srgbClr val="6B2C3E"/>
                </a:solidFill>
                <a:latin typeface="Georgia"/>
                <a:ea typeface="WenQuanYi Micro Hei"/>
                <a:cs typeface="WenQuanYi Micro Hei"/>
              </a:rPr>
              <a:t>人文思想之夜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566160"/>
            <a:ext cx="1828800" cy="3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29200" y="3794760"/>
            <a:ext cx="6858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700" b="0" i="1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以一滴水的谦逊</a:t>
            </a:r>
          </a:p>
          <a:p>
            <a:pPr algn="l"/>
            <a:r>
              <a:rPr sz="1700" b="0" i="1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承汪洋大海的深邃</a:t>
            </a:r>
          </a:p>
          <a:p>
            <a:pPr algn="l"/>
            <a:r>
              <a:rPr sz="1700" b="0" i="1">
                <a:solidFill>
                  <a:srgbClr val="1B1F2A"/>
                </a:solidFill>
                <a:latin typeface="Georgia"/>
                <a:ea typeface="WenQuanYi Micro Hei"/>
                <a:cs typeface="WenQuanYi Micro Hei"/>
              </a:rPr>
              <a:t>让思想在北外滩生根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3949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C5F3E"/>
                </a:solidFill>
                <a:latin typeface="Georgia"/>
                <a:ea typeface="WenQuanYi Micro Hei"/>
                <a:cs typeface="WenQuanYi Micro Hei"/>
              </a:rPr>
              <a:t>首场 · 2026 年 10 月 31 日 · 上海北外滩 · 一滴水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8064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复旦大学住房政策研究中心 · 首乾书院 · 上海市杨浦区科技企业联合会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3163824" y="502920"/>
            <a:ext cx="5852160" cy="5852160"/>
          </a:xfrm>
          <a:prstGeom prst="ellipse">
            <a:avLst/>
          </a:prstGeom>
          <a:noFill/>
          <a:ln w="1016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03904" y="1143000"/>
            <a:ext cx="4572000" cy="4572000"/>
          </a:xfrm>
          <a:prstGeom prst="ellipse">
            <a:avLst/>
          </a:prstGeom>
          <a:noFill/>
          <a:ln w="1016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43984" y="1783080"/>
            <a:ext cx="3291840" cy="3291840"/>
          </a:xfrm>
          <a:prstGeom prst="ellipse">
            <a:avLst/>
          </a:prstGeom>
          <a:noFill/>
          <a:ln w="1016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84064" y="2423160"/>
            <a:ext cx="2011680" cy="2011680"/>
          </a:xfrm>
          <a:prstGeom prst="ellipse">
            <a:avLst/>
          </a:prstGeom>
          <a:noFill/>
          <a:ln w="1016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32704" y="2971800"/>
            <a:ext cx="914400" cy="914400"/>
          </a:xfrm>
          <a:prstGeom prst="ellipse">
            <a:avLst/>
          </a:prstGeom>
          <a:noFill/>
          <a:ln w="317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52744" y="3291840"/>
            <a:ext cx="274320" cy="274320"/>
          </a:xfrm>
          <a:prstGeom prst="ellipse">
            <a:avLst/>
          </a:prstGeom>
          <a:solidFill>
            <a:srgbClr val="6B2C3E"/>
          </a:solidFill>
          <a:ln w="31750">
            <a:solidFill>
              <a:srgbClr val="6B2C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1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BEIWAITAN · Humanities Nights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3600" b="1" i="0">
                <a:solidFill>
                  <a:srgbClr val="C9A24A"/>
                </a:solidFill>
                <a:latin typeface="Georgia"/>
                <a:ea typeface="WenQuanYi Micro Hei"/>
                <a:cs typeface="WenQuanYi Micro Hei"/>
              </a:rPr>
              <a:t>北外滩 · 一滴水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36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人文思想之夜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235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Q &amp; A · 谢 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7220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0" i="1">
                <a:solidFill>
                  <a:srgbClr val="F7F1E6"/>
                </a:solidFill>
                <a:latin typeface="Georgia"/>
                <a:ea typeface="WenQuanYi Micro Hei"/>
                <a:cs typeface="WenQuanYi Micro Hei"/>
              </a:rPr>
              <a:t>主办联合体 · 品牌规划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