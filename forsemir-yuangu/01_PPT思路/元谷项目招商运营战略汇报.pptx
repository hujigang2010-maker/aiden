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0"/>
            <a:ext cx="274320" cy="1463040"/>
          </a:xfrm>
          <a:prstGeom prst="rect">
            <a:avLst/>
          </a:prstGeom>
          <a:solidFill>
            <a:srgbClr val="F2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560320"/>
            <a:ext cx="10515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元谷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大零号湾科技潮玩产业策源高地 · 招商运营战略</a:t>
            </a:r>
          </a:p>
          <a:p>
            <a:pPr>
              <a:defRPr sz="1800">
                <a:solidFill>
                  <a:srgbClr val="CFD8E3"/>
                </a:solidFill>
              </a:defRPr>
            </a:pPr>
            <a:r>
              <a:t>胡教授团队 × 森马集团 联合运营方案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P2 元谷的双重战略身份</a:t>
            </a:r>
          </a:p>
          <a:p>
            <a:pPr>
              <a:defRPr sz="1200">
                <a:solidFill>
                  <a:srgbClr val="CFD8E3"/>
                </a:solidFill>
              </a:defRPr>
            </a:pPr>
            <a:r>
              <a:t>大零号湾文创融合核心区 × 上海唯一科技时尚特色小镇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2A44"/>
                </a:solidFill>
              </a:defRPr>
            </a:pPr>
            <a:r>
              <a:t>【两大稀缺身份】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607A"/>
                </a:solidFill>
              </a:defRPr>
            </a:pPr>
            <a:r>
              <a:t>大零号湾文创融合核心区：闵行五大中心之一，能级比肩漕河泾、张江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607A"/>
                </a:solidFill>
              </a:defRPr>
            </a:pPr>
            <a:r>
              <a:t>上海市唯一科技时尚特色小镇：政策与品牌双重独占</a:t>
            </a:r>
          </a:p>
          <a:p>
            <a:pPr>
              <a:spcAft>
                <a:spcPts val="600"/>
              </a:spcAft>
              <a:defRPr sz="1800" b="1">
                <a:solidFill>
                  <a:srgbClr val="1F2A44"/>
                </a:solidFill>
              </a:defRPr>
            </a:pPr>
            <a:r>
              <a:t>【建筑底盘】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607A"/>
                </a:solidFill>
              </a:defRPr>
            </a:pPr>
            <a:r>
              <a:t>总建面 22 万㎡ / 商业 5.2 万㎡ / 1500+ 商业车位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607A"/>
                </a:solidFill>
              </a:defRPr>
            </a:pPr>
            <a:r>
              <a:t>元江路单日客流 5–7 万人次 · 15 号线元江路站 TOD 项目</a:t>
            </a:r>
          </a:p>
          <a:p>
            <a:pPr>
              <a:spcAft>
                <a:spcPts val="600"/>
              </a:spcAft>
              <a:defRPr sz="1800" b="1">
                <a:solidFill>
                  <a:srgbClr val="1F2A44"/>
                </a:solidFill>
              </a:defRPr>
            </a:pPr>
            <a:r>
              <a:t>【15 分钟覆盖】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607A"/>
                </a:solidFill>
              </a:defRPr>
            </a:pPr>
            <a:r>
              <a:t>居住人口 24 万 + 产业办公人口 12 万</a:t>
            </a:r>
          </a:p>
          <a:p>
            <a:pPr>
              <a:spcAft>
                <a:spcPts val="600"/>
              </a:spcAft>
              <a:defRPr sz="1800" b="1">
                <a:solidFill>
                  <a:srgbClr val="1F2A44"/>
                </a:solidFill>
              </a:defRPr>
            </a:pPr>
            <a:r>
              <a:t>【一句话定位】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607A"/>
                </a:solidFill>
              </a:defRPr>
            </a:pPr>
            <a:r>
              <a:t>森马给了元谷骨架，我们要给它产业灵魂。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P3 我们对元谷的产业判断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1#–6# 既定功能（总部 / Livehouse / 酒店 / 潮玩艺术中心 / 动漫书店 / 餐饮商务）已是优质零售底座。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纯零售逻辑无法支撑“产业策源”，需补三条产业能级链：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607A"/>
                </a:solidFill>
              </a:defRPr>
            </a:pPr>
            <a:r>
              <a:t>国际链：海外 IP / 技术 → 中国首站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607A"/>
                </a:solidFill>
              </a:defRPr>
            </a:pPr>
            <a:r>
              <a:t>资本链：返投基金 → 锁定潮玩中下游产能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607A"/>
                </a:solidFill>
              </a:defRPr>
            </a:pPr>
            <a:r>
              <a:t>数据链：精准画像 → 把客流转化为产业线索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P4 三件套核心打法：基金 + 基地 + 活动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2A44"/>
                </a:solidFill>
              </a:defRPr>
            </a:pPr>
            <a:r>
              <a:t>【基金】追觅科技基金 + AI 腾讯导流 → “返投落地”招商</a:t>
            </a:r>
          </a:p>
          <a:p>
            <a:pPr>
              <a:spcAft>
                <a:spcPts val="600"/>
              </a:spcAft>
              <a:defRPr sz="1800" b="1">
                <a:solidFill>
                  <a:srgbClr val="1F2A44"/>
                </a:solidFill>
              </a:defRPr>
            </a:pPr>
            <a:r>
              <a:t>【基地】北欧创新国际会客厅平移 4# 楼 + 两大产业牌照（AI 潮玩产业基地 / 潮玩次元商业专委会）</a:t>
            </a:r>
          </a:p>
          <a:p>
            <a:pPr>
              <a:spcAft>
                <a:spcPts val="600"/>
              </a:spcAft>
              <a:defRPr sz="1800" b="1">
                <a:solidFill>
                  <a:srgbClr val="1F2A44"/>
                </a:solidFill>
              </a:defRPr>
            </a:pPr>
            <a:r>
              <a:t>【活动】科技开放麦 + 全国潮玩设计大赛 + 福布斯榜单 → 活动即招商即媒介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三件套共同构成元谷飞轮：流量 → 品牌势能 → 招商转化 → 资本助推 → 再放大流量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P5 资源盘点 (1) 北欧创新国际会客厅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已成熟运营的国际化 IP 平台，覆盖北欧设计 / ESG / 潮玩 / AI / 机器人创新生态。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拟整体平移至元谷 4# 楼：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607A"/>
                </a:solidFill>
              </a:defRPr>
            </a:pPr>
            <a:r>
              <a:t>4F 直播中心 → 北欧 IP 中国首播首发地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607A"/>
                </a:solidFill>
              </a:defRPr>
            </a:pPr>
            <a:r>
              <a:t>1–3F 潮玩艺术中心 → 国际潮玩艺术家入驻 / 限定快闪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价值：把 4# 楼从“网红打卡点”升级为“国际潮玩外事窗口”。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P6 资源盘点 (2) 福布斯奖项 + 行业牌照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福布斯系列奖项 → 为森马总部 1# 楼提供年度品牌势能爆发节点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中国百货商业协会“潮玩次元商业专委会”牌照（已确认）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中国动漫集团“AI 潮玩产业基地”牌照（已确认）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配合“科技时尚特色小镇”申报、闵行五大中心政策包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形成「奖项 + 牌照 + 小镇」三章合一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P7 资源盘点 (3) 科技开放麦 × 潮玩大赛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“科技开放麦”已运营多季，主题：AI、机器人、设计创新、出海等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单场触达 300–500 高质量产业人，已具备招商转化能力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元谷主场化：每月 1 场科技开放麦 + 每年 1 届全国潮玩设计大赛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落地 2# 楼二次元 Livehouse / 秀场，活动现场即招商现场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P8 资源盘点 (4) AI 腾讯 + 仲量联行 + 追觅基金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2291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资源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角色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在元谷的应用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AI 腾讯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技术 + 内容引擎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赋能 4# 楼 AI 共享设计中心、5#/6# 楼数字化运营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仲量联行爬楼大数据 (¥2.6 万已购入)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招商弹药库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闵行 / 临港 / 漕河泾 / 张江存量企业精准画像 + 爬楼行动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追觅科技基金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返投资本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1:1.5 返投比例，锁定潮玩中下游 + 央企总部 10% 配额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P9 招商策略：四级漏斗 + 共享配套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L1 牌照：头部央企 / 行业协会 → 10% 配额（首批 3–5 家）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L2 资本：追觅基金返投 + AI 腾讯生态导流 → 中型企业 20%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L3 爬楼：仲量联行大数据触达 → 小型潮玩企业 40%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L4 活动：科技开放麦 / 潮玩大赛带流 → 中小型服务机构 20%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共享配套 10%（直播 / 选品 / 共享设计中心）→ 合资公司直营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P10 楼宇产业地图（1#–6#）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18011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楼栋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既定功能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我们的产业增益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1#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森马总部 + 1–4F 零售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福布斯榜单 / 国际首发节点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2#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二次元 Livehouse / 秀场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科技开放麦 + 潮玩大赛主舞台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3#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1–4F 运动+萌宠 / 5F+ 酒店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国际客户接待动线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4#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1–3F 潮玩艺术中心 / 4F 直播 / 5F+ 潮玩集群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北欧会客厅 + AI 共享设计中心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5#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1–4F 动漫书店 / 5F+ 潮玩集群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全国潮玩设计大赛主展区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6#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餐饮 / 商务宴请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招商签约中心 + 央企 VIP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P11 重点业态产能配置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IP 潮玩选品 &amp; 仓储式零售中心 ≈ 5,000㎡ → 合资公司直营，分润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动漫潮玩谷主题街区 ≈ 3,000㎡ → 招商 + 联合运营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潮玩艺术中心 ≈ 2,000㎡ → 北欧会客厅核心舱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动漫主题书店 ≈ 1,500㎡ → IP 内容 + 阅读 + 活动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森马展厅 &amp; 二次元 Livehouse ≈ 700㎡ → 与品牌部联运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P12 合作模式：合资公司架构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三方：森马（资产方） / 危总团队（属地资源 + LP） / 胡教授团队（运营 + 资源 GP）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架构：合资公司持有元谷招商运营独家授权 + 共享配套直营权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股比建议：森马 51% / 危总 19% / 胡教授团队 30%（含期权池）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治理：3 人董事会，胡教授任首席战略运营官 (CSO)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P13 收入结构（与 Excel 测算一一对应）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191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收入类别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测算逻辑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结算节奏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固定月费 Retainer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30–50 万元/月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按月支付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专项奖项激励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牌照 / 福布斯 / 小镇奖项 → 按数量奖励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按事件结算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活动运营收入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单场科技开放麦 / 潮玩大赛执行利润分成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按场结算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招商佣金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实际成交年租金的 1–2.5 个月（按面积阶梯）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签约 + 起租后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股权分红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合资公司净利润按股比分配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年度结算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P14 第一年关键里程碑（T+0 → T+12）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T+0 ~ T+3：合资公司注册 / 月费起算 / 北欧会客厅签约入驻 4# 楼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T+3 ~ T+6：仲量联行数据上架 / 第一批爬楼名单 200 家 / 首场科技开放麦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T+6 ~ T+9：两大产业牌照公开挂牌 / 追觅基金完成 1 期返投落地 5 家潮玩企业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T+9 ~ T+12：全国潮玩设计大赛决赛 / 福布斯榜单年度发布 / 央企总部签约 1–2 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P15 三年产业目标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入驻潮玩相关企业 ≥120 家，匹配 10/10/20/20/40 五档配比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合资公司直营业态合计 ≥10,000㎡，三年内现金流自给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元谷品牌曝光：年度活动 ≥30 场、媒体声量 ≥5 亿次、政府奖项 ≥6 项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推动元谷成为上海“科技时尚特色小镇”运营标杆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P16 风险与对冲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20624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风险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对冲机制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招商节奏不及预期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月费保底 + 阶梯佣金双轨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基金返投落地不顺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AI 腾讯生态导流作为 Plan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国际外事波动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北欧 + 日韩 + 东南亚多线布局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政府政策调整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央企 + 行业协会牌照前置锁定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P17 团队配备（招聘计划）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产业招商经理 × 1：仲量联行数据 + 爬楼 + 转化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国际合作 &amp; 活动策划 × 1：北欧会客厅 + 科技开放麦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基金投后 &amp; 政府关系 × 1：追觅基金返投 + 牌照申报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胡教授（CSO，每周不少于 2 个工作日）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1 名行政 / 财务（合资公司共享）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P18 我们的承诺（写进协议）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北欧创新国际会客厅元谷站 12 个月内挂牌运营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仲量联行爬楼数据 90 天内接入合资公司中台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追觅基金 12 个月内完成首期返投落地 ≥3 家潮玩企业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福布斯榜单 / 行业牌照 12 个月内挂牌 ≥2 项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科技开放麦 12 个月内办 ≥10 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P19 我们希望森马的承诺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授予合资公司独家招商运营权（5 年）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商业可租面积 5.2 万㎡ 招商主导权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共享配套（直播 / 选品 / 设计中心）由合资公司直营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月费保底 + 招商佣金 + 奖项激励 + 股权分红组合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政府关系联合体由森马牵头、合资公司执行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P20 测算速览（详见 Excel）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2291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场景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月费 (年化)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招商佣金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活动 + 奖项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股权分红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首年合计</a:t>
                      </a:r>
                    </a:p>
                  </a:txBody>
                  <a:tcPr>
                    <a:solidFill>
                      <a:srgbClr val="142C5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保守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360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300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240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60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≈ 960 万元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480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600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390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≈ 1,590 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乐观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600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1,200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560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240 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≈ 2,600 万元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A44"/>
                </a:solidFill>
              </a:defRPr>
            </a:pPr>
            <a:r>
              <a:t>三档测算与 02_测算模型/合作收益测算模型.xlsx 完全一致；可作为月费区间谈判锚点。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P21 下一步行动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本周：双方就月费区间 + 股比锁定意向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次周：签订 MOU（基于本协议草案）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30 天内：合资公司注册 + 三人核心团队就位</a:t>
            </a:r>
          </a:p>
          <a:p>
            <a:pPr>
              <a:spcAft>
                <a:spcPts val="600"/>
              </a:spcAft>
              <a:defRPr sz="1800" b="0">
                <a:solidFill>
                  <a:srgbClr val="1F2A44"/>
                </a:solidFill>
              </a:defRPr>
            </a:pPr>
            <a:r>
              <a:t>60 天内：北欧会客厅元谷站 + 第一场科技开放麦同步启动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7A"/>
                </a:solidFill>
              </a:defRPr>
            </a:pPr>
            <a:r>
              <a:t>胡教授团队 × 森马集团 · 元谷项目联合运营方案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让元谷成为中国潮玩产业</a:t>
            </a:r>
          </a:p>
          <a:p>
            <a:pPr>
              <a:defRPr sz="5400" b="1">
                <a:solidFill>
                  <a:srgbClr val="F27E2D"/>
                </a:solidFill>
              </a:defRPr>
            </a:pPr>
            <a:r>
              <a:t>走向世界的国际客厅。</a:t>
            </a:r>
          </a:p>
          <a:p/>
          <a:p>
            <a:pPr>
              <a:defRPr sz="2000">
                <a:solidFill>
                  <a:srgbClr val="CFD8E3"/>
                </a:solidFill>
              </a:defRPr>
            </a:pPr>
            <a:r>
              <a:t>胡教授团队 × 森马集团 联合运营合资公司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