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03920" y="-91440"/>
            <a:ext cx="3931920" cy="704088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1097280"/>
            <a:ext cx="1554480" cy="1554480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0" y="4023360"/>
            <a:ext cx="914400" cy="914400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0" y="4846320"/>
            <a:ext cx="640080" cy="640080"/>
          </a:xfrm>
          <a:prstGeom prst="ellipse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148840"/>
            <a:ext cx="146304" cy="192024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0574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B9C6DC"/>
                </a:solidFill>
                <a:latin typeface="微软雅黑"/>
                <a:ea typeface="微软雅黑"/>
              </a:rPr>
              <a:t>SEMIR 森马 (上海) 国际运营中心 · 元谷项目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468880"/>
            <a:ext cx="7498079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元谷项目招商运营合作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8C87A"/>
                </a:solidFill>
                <a:latin typeface="微软雅黑"/>
                <a:ea typeface="微软雅黑"/>
              </a:rPr>
              <a:t>谈 判 集 中 汇 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5262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CFD8E8"/>
                </a:solidFill>
                <a:latin typeface="微软雅黑"/>
                <a:ea typeface="微软雅黑"/>
              </a:rPr>
              <a:t>IP + AI 双轨  ·  2 万方产业研发办公  ·  阶段性集中交付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257800"/>
            <a:ext cx="2743200" cy="457200"/>
          </a:xfrm>
          <a:prstGeom prst="round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胡教授团队 × 森马集团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69080" y="5257800"/>
            <a:ext cx="2194560" cy="457200"/>
          </a:xfrm>
          <a:prstGeom prst="round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200" b="1">
                <a:solidFill>
                  <a:srgbClr val="E8C87A"/>
                </a:solidFill>
                <a:latin typeface="微软雅黑"/>
                <a:ea typeface="微软雅黑"/>
              </a:rPr>
              <a:t>v1.0 谈判稿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9436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9FB2D0"/>
                </a:solidFill>
                <a:latin typeface="微软雅黑"/>
                <a:ea typeface="微软雅黑"/>
              </a:rPr>
              <a:t>2026 年 6 月  ·  上海 闵行 大零号湾  ·  本汇报仅用于商务谈判沟通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汇报议程 · 七大板块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182880"/>
            <a:ext cx="2011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森马 × 胡教授团队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71600"/>
            <a:ext cx="553212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1005840" cy="1078992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71600"/>
            <a:ext cx="100584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E8C87A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57276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0F244E"/>
                </a:solidFill>
                <a:latin typeface="微软雅黑"/>
                <a:ea typeface="微软雅黑"/>
              </a:rPr>
              <a:t>项目与共识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1993392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战略定位 / 双重身份 / 本次谈判要点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371600"/>
            <a:ext cx="553212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371600"/>
            <a:ext cx="1005840" cy="1078992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371600"/>
            <a:ext cx="100584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E8C87A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157276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0F244E"/>
                </a:solidFill>
                <a:latin typeface="微软雅黑"/>
                <a:ea typeface="微软雅黑"/>
              </a:rPr>
              <a:t>我们能带来什么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1993392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六大稀缺资源资产化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633472"/>
            <a:ext cx="553212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2633472"/>
            <a:ext cx="1005840" cy="1078992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633472"/>
            <a:ext cx="100584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E8C87A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283464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0F244E"/>
                </a:solidFill>
                <a:latin typeface="微软雅黑"/>
                <a:ea typeface="微软雅黑"/>
              </a:rPr>
              <a:t>2 万方招商方案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255264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IP+AI 双轨 / 四级漏斗 / 六大出彩点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633472"/>
            <a:ext cx="553212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2633472"/>
            <a:ext cx="1005840" cy="1078992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633472"/>
            <a:ext cx="100584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E8C87A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83464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0F244E"/>
                </a:solidFill>
                <a:latin typeface="微软雅黑"/>
                <a:ea typeface="微软雅黑"/>
              </a:rPr>
              <a:t>节点与排期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3255264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9/30 与 5/1 两个硬节点 / 月度签约率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895344"/>
            <a:ext cx="553212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3895344"/>
            <a:ext cx="1005840" cy="1078992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895344"/>
            <a:ext cx="100584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E8C87A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4096511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0F244E"/>
                </a:solidFill>
                <a:latin typeface="微软雅黑"/>
                <a:ea typeface="微软雅黑"/>
              </a:rPr>
              <a:t>品牌与活动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4517136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5 项挂牌 / 6 场沙龙 / 5·22 峰会借势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895344"/>
            <a:ext cx="553212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3895344"/>
            <a:ext cx="1005840" cy="1078992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895344"/>
            <a:ext cx="100584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E8C87A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4096511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0F244E"/>
                </a:solidFill>
                <a:latin typeface="微软雅黑"/>
                <a:ea typeface="微软雅黑"/>
              </a:rPr>
              <a:t>商业条款与测算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4517136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月费 / 佣金 / 挂牌 / 沙龙 / ROI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157216"/>
            <a:ext cx="553212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" y="5157216"/>
            <a:ext cx="1005840" cy="1078992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157216"/>
            <a:ext cx="100584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E8C87A"/>
                </a:solidFill>
                <a:latin typeface="微软雅黑"/>
                <a:ea typeface="微软雅黑"/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0" y="5358383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0F244E"/>
                </a:solidFill>
                <a:latin typeface="微软雅黑"/>
                <a:ea typeface="微软雅黑"/>
              </a:rPr>
              <a:t>投决建议与下一步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5779007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三问决策 / 30 天启动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6656832"/>
            <a:ext cx="8229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元谷项目招商运营合作 · 谈判沟通汇报 (阶段性集中交付)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1828800"/>
            <a:ext cx="822960" cy="822960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3108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项目与共识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FB2D0"/>
                </a:solidFill>
                <a:latin typeface="微软雅黑"/>
                <a:ea typeface="微软雅黑"/>
              </a:rPr>
              <a:t>PROJECT &amp; CONSENSUS</a:t>
            </a:r>
          </a:p>
        </p:txBody>
      </p:sp>
      <p:sp>
        <p:nvSpPr>
          <p:cNvPr id="7" name="Oval 6"/>
          <p:cNvSpPr/>
          <p:nvPr/>
        </p:nvSpPr>
        <p:spPr>
          <a:xfrm>
            <a:off x="4937760" y="1938528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828800"/>
            <a:ext cx="6217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E5EBF5"/>
                </a:solidFill>
                <a:latin typeface="微软雅黑"/>
                <a:ea typeface="微软雅黑"/>
              </a:rPr>
              <a:t>元谷:大零号湾文创融合核心区 + 上海唯一科技时尚特色小镇</a:t>
            </a:r>
          </a:p>
        </p:txBody>
      </p:sp>
      <p:sp>
        <p:nvSpPr>
          <p:cNvPr id="9" name="Oval 8"/>
          <p:cNvSpPr/>
          <p:nvPr/>
        </p:nvSpPr>
        <p:spPr>
          <a:xfrm>
            <a:off x="4937760" y="2596896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2487168"/>
            <a:ext cx="6217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E5EBF5"/>
                </a:solidFill>
                <a:latin typeface="微软雅黑"/>
                <a:ea typeface="微软雅黑"/>
              </a:rPr>
              <a:t>本期聚焦 4#+5# 楼 5F+ 共约 2 万方产业研发办公</a:t>
            </a:r>
          </a:p>
        </p:txBody>
      </p:sp>
      <p:sp>
        <p:nvSpPr>
          <p:cNvPr id="11" name="Oval 10"/>
          <p:cNvSpPr/>
          <p:nvPr/>
        </p:nvSpPr>
        <p:spPr>
          <a:xfrm>
            <a:off x="4937760" y="3255263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3145535"/>
            <a:ext cx="6217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E5EBF5"/>
                </a:solidFill>
                <a:latin typeface="微软雅黑"/>
                <a:ea typeface="微软雅黑"/>
              </a:rPr>
              <a:t>战略已对齐:从纯二次元升级为 IP + AI 双轨</a:t>
            </a:r>
          </a:p>
        </p:txBody>
      </p:sp>
      <p:sp>
        <p:nvSpPr>
          <p:cNvPr id="13" name="Oval 12"/>
          <p:cNvSpPr/>
          <p:nvPr/>
        </p:nvSpPr>
        <p:spPr>
          <a:xfrm>
            <a:off x="4937760" y="3913631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3803903"/>
            <a:ext cx="6217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E5EBF5"/>
                </a:solidFill>
                <a:latin typeface="微软雅黑"/>
                <a:ea typeface="微软雅黑"/>
              </a:rPr>
              <a:t>本次谈判:锁定合作模式 + 商业条款 + 启动时间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01 · 项目与共识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元谷的双重战略身份与产业底盘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182880"/>
            <a:ext cx="2011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森马 × 胡教授团队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71600"/>
            <a:ext cx="26974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91440" cy="137160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17904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总建筑面积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792224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0F244E"/>
                </a:solidFill>
                <a:latin typeface="微软雅黑"/>
                <a:ea typeface="微软雅黑"/>
              </a:rPr>
              <a:t>22 万㎡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59152"/>
            <a:ext cx="23317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67086"/>
                </a:solidFill>
                <a:latin typeface="微软雅黑"/>
                <a:ea typeface="微软雅黑"/>
              </a:rPr>
              <a:t>1#-6# 共 6 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02152" y="1371600"/>
            <a:ext cx="26974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2152" y="1371600"/>
            <a:ext cx="91440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0752" y="1517904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本期招商范围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1792224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0F244E"/>
                </a:solidFill>
                <a:latin typeface="微软雅黑"/>
                <a:ea typeface="微软雅黑"/>
              </a:rPr>
              <a:t>2 万㎡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0752" y="2359152"/>
            <a:ext cx="23317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67086"/>
                </a:solidFill>
                <a:latin typeface="微软雅黑"/>
                <a:ea typeface="微软雅黑"/>
              </a:rPr>
              <a:t>4#+5# 楼 5F+ 产业办公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64224" y="1371600"/>
            <a:ext cx="26974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64224" y="1371600"/>
            <a:ext cx="91440" cy="1371600"/>
          </a:xfrm>
          <a:prstGeom prst="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92824" y="1517904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TOD 单日客流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92824" y="1792224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0F244E"/>
                </a:solidFill>
                <a:latin typeface="微软雅黑"/>
                <a:ea typeface="微软雅黑"/>
              </a:rPr>
              <a:t>5-7 万人次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92824" y="2359152"/>
            <a:ext cx="23317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67086"/>
                </a:solidFill>
                <a:latin typeface="微软雅黑"/>
                <a:ea typeface="微软雅黑"/>
              </a:rPr>
              <a:t>15 号线元江路站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26296" y="1371600"/>
            <a:ext cx="23317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26296" y="1371600"/>
            <a:ext cx="91440" cy="13716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54896" y="1517904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15min 覆盖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54896" y="1792224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0F244E"/>
                </a:solidFill>
                <a:latin typeface="微软雅黑"/>
                <a:ea typeface="微软雅黑"/>
              </a:rPr>
              <a:t>24万+12万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54896" y="2359152"/>
            <a:ext cx="1965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67086"/>
                </a:solidFill>
                <a:latin typeface="微软雅黑"/>
                <a:ea typeface="微软雅黑"/>
              </a:rPr>
              <a:t>居住 + 产业人口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0175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F244E"/>
                </a:solidFill>
                <a:latin typeface="微软雅黑"/>
                <a:ea typeface="微软雅黑"/>
              </a:rPr>
              <a:t>两大稀缺政策身份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3456432"/>
            <a:ext cx="5394960" cy="566928"/>
          </a:xfrm>
          <a:prstGeom prst="round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大零号湾文创融合核心区 (闵行五大中心之一)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3456432"/>
            <a:ext cx="5394960" cy="566928"/>
          </a:xfrm>
          <a:prstGeom prst="round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上海市唯一科技时尚特色小镇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297680"/>
            <a:ext cx="10972800" cy="2011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400" b="0">
                <a:solidFill>
                  <a:srgbClr val="212B42"/>
                </a:solidFill>
                <a:latin typeface="微软雅黑"/>
                <a:ea typeface="微软雅黑"/>
              </a:rPr>
              <a:t>能级比肩漕河泾、张江;享区级最高 1,000 万 + 市级最高 5,000 万产业专项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400" b="0">
                <a:solidFill>
                  <a:srgbClr val="212B42"/>
                </a:solidFill>
                <a:latin typeface="微软雅黑"/>
                <a:ea typeface="微软雅黑"/>
              </a:rPr>
              <a:t>产业愿景:构建『时尚研发』+『文创转化』双向赋能标杆, 打造 AI+IP 双赛道协同园区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400" b="0">
                <a:solidFill>
                  <a:srgbClr val="212B42"/>
                </a:solidFill>
                <a:latin typeface="微软雅黑"/>
                <a:ea typeface="微软雅黑"/>
              </a:rPr>
              <a:t>森马给底盘 + 危总给地利 + 胡教授给打法 → 三方协同, 优势互补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656832"/>
            <a:ext cx="8229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元谷项目招商运营合作 · 谈判沟通汇报 (阶段性集中交付)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01 · 项目与共识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楼宇产业底盘:本期聚焦 4# / 5# 楼 5F+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182880"/>
            <a:ext cx="2011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森马 × 胡教授团队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417320"/>
          <a:ext cx="10927080" cy="37856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4297680"/>
                <a:gridCol w="3154680"/>
                <a:gridCol w="210312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楼栋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1-4F 业态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5F 及以上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本期定位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1# 楼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零售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森马集团总部办公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2# 楼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二次元主题 Livehouse / 秀场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活动主场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3# 楼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休闲运动 / 萌宠空间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酒店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配套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★ 4# 楼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潮玩艺术中心 / 4F 直播中心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潮玩产业集群 ≈ 1 万㎡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AI 主轴 · 国际创意层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★ 5# 楼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动漫书店 / 休闲娱乐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潮玩产业集群 ≈ 1 万㎡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IP 主轴 · 产业总部层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6# 楼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品质生活 / 特色餐饮 / 商务宴请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配套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27E2D"/>
                </a:solidFill>
                <a:latin typeface="微软雅黑"/>
                <a:ea typeface="微软雅黑"/>
              </a:rPr>
              <a:t>★ 4# 楼 + 5# 楼 5F+ 共约 2 万㎡是元谷的『产业心脏』;商业 5.2 万方由森马商业部另行招商, 非本期重点。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656832"/>
            <a:ext cx="8229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元谷项目招商运营合作 · 谈判沟通汇报 (阶段性集中交付)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1828800"/>
            <a:ext cx="822960" cy="822960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3108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我们能带来什么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FB2D0"/>
                </a:solidFill>
                <a:latin typeface="微软雅黑"/>
                <a:ea typeface="微软雅黑"/>
              </a:rPr>
              <a:t>WHAT WE BRING</a:t>
            </a:r>
          </a:p>
        </p:txBody>
      </p:sp>
      <p:sp>
        <p:nvSpPr>
          <p:cNvPr id="7" name="Oval 6"/>
          <p:cNvSpPr/>
          <p:nvPr/>
        </p:nvSpPr>
        <p:spPr>
          <a:xfrm>
            <a:off x="4937760" y="1938528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828800"/>
            <a:ext cx="6217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E5EBF5"/>
                </a:solidFill>
                <a:latin typeface="微软雅黑"/>
                <a:ea typeface="微软雅黑"/>
              </a:rPr>
              <a:t>六大稀缺资源, 全部可资产化为招商工具</a:t>
            </a:r>
          </a:p>
        </p:txBody>
      </p:sp>
      <p:sp>
        <p:nvSpPr>
          <p:cNvPr id="9" name="Oval 8"/>
          <p:cNvSpPr/>
          <p:nvPr/>
        </p:nvSpPr>
        <p:spPr>
          <a:xfrm>
            <a:off x="4937760" y="2596896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2487168"/>
            <a:ext cx="6217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E5EBF5"/>
                </a:solidFill>
                <a:latin typeface="微软雅黑"/>
                <a:ea typeface="微软雅黑"/>
              </a:rPr>
              <a:t>北欧会客厅 / 福布斯 / 科技开放麦 / AI 腾讯</a:t>
            </a:r>
          </a:p>
        </p:txBody>
      </p:sp>
      <p:sp>
        <p:nvSpPr>
          <p:cNvPr id="11" name="Oval 10"/>
          <p:cNvSpPr/>
          <p:nvPr/>
        </p:nvSpPr>
        <p:spPr>
          <a:xfrm>
            <a:off x="4937760" y="3255263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3145535"/>
            <a:ext cx="6217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E5EBF5"/>
                </a:solidFill>
                <a:latin typeface="微软雅黑"/>
                <a:ea typeface="微软雅黑"/>
              </a:rPr>
              <a:t>仲量联行爬楼大数据 (已投入 2.6 万) / 追觅基金</a:t>
            </a:r>
          </a:p>
        </p:txBody>
      </p:sp>
      <p:sp>
        <p:nvSpPr>
          <p:cNvPr id="13" name="Oval 12"/>
          <p:cNvSpPr/>
          <p:nvPr/>
        </p:nvSpPr>
        <p:spPr>
          <a:xfrm>
            <a:off x="4937760" y="3913631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3803903"/>
            <a:ext cx="6217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E5EBF5"/>
                </a:solidFill>
                <a:latin typeface="微软雅黑"/>
                <a:ea typeface="微软雅黑"/>
              </a:rPr>
              <a:t>复旦住房政策研究中心 + 上海市科技企业联合会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02 · 我们能带来什么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六大稀缺资源 → 招商引擎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182880"/>
            <a:ext cx="2011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森马 × 胡教授团队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71600"/>
            <a:ext cx="352044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3520440" cy="9144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591056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0F244E"/>
                </a:solidFill>
                <a:latin typeface="微软雅黑"/>
                <a:ea typeface="微软雅黑"/>
              </a:rPr>
              <a:t>北欧创新国际会客厅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048256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海外 IP / 技术进入中国首站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7" y="2432304"/>
            <a:ext cx="1737360" cy="292608"/>
          </a:xfrm>
          <a:prstGeom prst="round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4# 楼挂牌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5112" y="1371600"/>
            <a:ext cx="352044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1371600"/>
            <a:ext cx="3520440" cy="9144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591056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0F244E"/>
                </a:solidFill>
                <a:latin typeface="微软雅黑"/>
                <a:ea typeface="微软雅黑"/>
              </a:rPr>
              <a:t>福布斯产业影响力奖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048256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国际品牌势能 + 年度评选 IP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2432304"/>
            <a:ext cx="1737360" cy="292608"/>
          </a:xfrm>
          <a:prstGeom prst="round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元谷专场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0144" y="1371600"/>
            <a:ext cx="352044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0144" y="1371600"/>
            <a:ext cx="3520440" cy="91440"/>
          </a:xfrm>
          <a:prstGeom prst="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1312" y="1591056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0F244E"/>
                </a:solidFill>
                <a:latin typeface="微软雅黑"/>
                <a:ea typeface="微软雅黑"/>
              </a:rPr>
              <a:t>科技开放麦 + 6 场沙龙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2048256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活动即招商, 单场 ≥30 客户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11312" y="2432304"/>
            <a:ext cx="1737360" cy="292608"/>
          </a:xfrm>
          <a:prstGeom prst="round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年度 IP 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035808"/>
            <a:ext cx="352044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3035808"/>
            <a:ext cx="3520440" cy="9144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7" y="3255264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0F244E"/>
                </a:solidFill>
                <a:latin typeface="微软雅黑"/>
                <a:ea typeface="微软雅黑"/>
              </a:rPr>
              <a:t>AI 腾讯 + 算力补贴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" y="3712464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新注册 AI 公司 3 月免费 / 算力 85 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7" y="4096512"/>
            <a:ext cx="1737360" cy="292608"/>
          </a:xfrm>
          <a:prstGeom prst="round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AI 招商抓手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25112" y="3035808"/>
            <a:ext cx="352044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25112" y="3035808"/>
            <a:ext cx="3520440" cy="9144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6280" y="3255264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0F244E"/>
                </a:solidFill>
                <a:latin typeface="微软雅黑"/>
                <a:ea typeface="微软雅黑"/>
              </a:rPr>
              <a:t>仲量联行爬楼大数据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3712464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200 家精准客户清单, 转化率 +30%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26280" y="4096512"/>
            <a:ext cx="1737360" cy="292608"/>
          </a:xfrm>
          <a:prstGeom prst="round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已投入 2.6 万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10144" y="3035808"/>
            <a:ext cx="352044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10144" y="3035808"/>
            <a:ext cx="3520440" cy="9144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11312" y="3255264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0F244E"/>
                </a:solidFill>
                <a:latin typeface="微软雅黑"/>
                <a:ea typeface="微软雅黑"/>
              </a:rPr>
              <a:t>追觅基金 + CVC 创投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1312" y="3712464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返投落地, 资本驱动签约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11312" y="4096512"/>
            <a:ext cx="1737360" cy="292608"/>
          </a:xfrm>
          <a:prstGeom prst="round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元谷产业基金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0F244E"/>
                </a:solidFill>
                <a:latin typeface="微软雅黑"/>
                <a:ea typeface="微软雅黑"/>
              </a:rPr>
              <a:t>两大政府/学术平台已确认:复旦大学住房政策研究中心 · 元谷分中心  +  上海市科技企业联合会 · 元谷产业基地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6656832"/>
            <a:ext cx="8229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元谷项目招商运营合作 · 谈判沟通汇报 (阶段性集中交付)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1828800"/>
            <a:ext cx="822960" cy="822960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3108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2 万方招商方案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FB2D0"/>
                </a:solidFill>
                <a:latin typeface="微软雅黑"/>
                <a:ea typeface="微软雅黑"/>
              </a:rPr>
              <a:t>LEASING STRATEGY</a:t>
            </a:r>
          </a:p>
        </p:txBody>
      </p:sp>
      <p:sp>
        <p:nvSpPr>
          <p:cNvPr id="7" name="Oval 6"/>
          <p:cNvSpPr/>
          <p:nvPr/>
        </p:nvSpPr>
        <p:spPr>
          <a:xfrm>
            <a:off x="4937760" y="1938528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828800"/>
            <a:ext cx="6217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E5EBF5"/>
                </a:solidFill>
                <a:latin typeface="微软雅黑"/>
                <a:ea typeface="微软雅黑"/>
              </a:rPr>
              <a:t>战略转向:纯二次元 → IP + AI 双轨</a:t>
            </a:r>
          </a:p>
        </p:txBody>
      </p:sp>
      <p:sp>
        <p:nvSpPr>
          <p:cNvPr id="9" name="Oval 8"/>
          <p:cNvSpPr/>
          <p:nvPr/>
        </p:nvSpPr>
        <p:spPr>
          <a:xfrm>
            <a:off x="4937760" y="2596896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2487168"/>
            <a:ext cx="6217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E5EBF5"/>
                </a:solidFill>
                <a:latin typeface="微软雅黑"/>
                <a:ea typeface="微软雅黑"/>
              </a:rPr>
              <a:t>客户策略:优先 2,000-20,000㎡ 大客户 (转化率 110:1)</a:t>
            </a:r>
          </a:p>
        </p:txBody>
      </p:sp>
      <p:sp>
        <p:nvSpPr>
          <p:cNvPr id="11" name="Oval 10"/>
          <p:cNvSpPr/>
          <p:nvPr/>
        </p:nvSpPr>
        <p:spPr>
          <a:xfrm>
            <a:off x="4937760" y="3255263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3145535"/>
            <a:ext cx="6217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E5EBF5"/>
                </a:solidFill>
                <a:latin typeface="微软雅黑"/>
                <a:ea typeface="微软雅黑"/>
              </a:rPr>
              <a:t>四级招商漏斗 + 招商六大『出彩点』</a:t>
            </a:r>
          </a:p>
        </p:txBody>
      </p:sp>
      <p:sp>
        <p:nvSpPr>
          <p:cNvPr id="13" name="Oval 12"/>
          <p:cNvSpPr/>
          <p:nvPr/>
        </p:nvSpPr>
        <p:spPr>
          <a:xfrm>
            <a:off x="4937760" y="3913631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3803903"/>
            <a:ext cx="6217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E5EBF5"/>
                </a:solidFill>
                <a:latin typeface="微软雅黑"/>
                <a:ea typeface="微软雅黑"/>
              </a:rPr>
              <a:t>五档客户配比, 与森马原产业规划完全对齐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03 · 2 万方招商方案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核心转向:从『纯二次元』→『IP + AI 双轨』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182880"/>
            <a:ext cx="2011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森马 × 胡教授团队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71600"/>
          <a:ext cx="10927080" cy="3127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4434840"/>
                <a:gridCol w="484632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原方向 (纯二次元)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新方向 (IP + AI 双轨)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招商面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200-500㎡ 小户, 招满需 400-800 家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AI/IP 中大型, 招满仅需 30-60 家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支付能力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单家年租 &lt; 30 万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单家年租 100-500 万 (真金白银)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政府政策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拿政策难, 创新基金不投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享高新 + 专精特新 + 创新券 + 闵行专项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与森马协同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二次元与商业难协同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IP+AI 与森马时尚科技定位契合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先例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无 2 万方成功案例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杨浦 1 万方『AI+IP』已通过先例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4572000"/>
            <a:ext cx="10927080" cy="640080"/>
          </a:xfrm>
          <a:prstGeom prst="round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结论:主轴改 AI 拿政府资源 + 资本, 保留 IP 概念 (视频/漫画/直播/动漫全链条) 兼顾威总文化导向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94960"/>
            <a:ext cx="1097280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300" b="0">
                <a:solidFill>
                  <a:srgbClr val="212B42"/>
                </a:solidFill>
                <a:latin typeface="微软雅黑"/>
                <a:ea typeface="微软雅黑"/>
              </a:rPr>
              <a:t>4# 楼 5F+ = AI 主轴 (国际创意层);5# 楼 5F+ = IP 主轴 (产业总部层)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300" b="0">
                <a:solidFill>
                  <a:srgbClr val="212B42"/>
                </a:solidFill>
                <a:latin typeface="微软雅黑"/>
                <a:ea typeface="微软雅黑"/>
              </a:rPr>
              <a:t>行业转化率新基准 110:1 → 招 1 家大户 ≫ 招 10 家小户, 效率差 5 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656832"/>
            <a:ext cx="8229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元谷项目招商运营合作 · 谈判沟通汇报 (阶段性集中交付)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03 · 2 万方招商方案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四级招商漏斗 + 五档客户配比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182880"/>
            <a:ext cx="2011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森马 × 胡教授团队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1092708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2286000" cy="10241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17320"/>
            <a:ext cx="22860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L1 牌照锚定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563624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244E"/>
                </a:solidFill>
                <a:latin typeface="微软雅黑"/>
                <a:ea typeface="微软雅黑"/>
              </a:rPr>
              <a:t>头部央企 / 行业协会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1947672"/>
            <a:ext cx="6035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67086"/>
                </a:solidFill>
                <a:latin typeface="微软雅黑"/>
                <a:ea typeface="微软雅黑"/>
              </a:rPr>
              <a:t>AI 潮玩产业基地 + 潮玩次元专委 双牌照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0" y="1719072"/>
            <a:ext cx="1828800" cy="420624"/>
          </a:xfrm>
          <a:prstGeom prst="round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6,000㎡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551176"/>
            <a:ext cx="1092708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551176"/>
            <a:ext cx="2286000" cy="10241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551176"/>
            <a:ext cx="22860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L2 资本招商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6974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244E"/>
                </a:solidFill>
                <a:latin typeface="微软雅黑"/>
                <a:ea typeface="微软雅黑"/>
              </a:rPr>
              <a:t>中型 AI / IP 企业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3081528"/>
            <a:ext cx="6035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67086"/>
                </a:solidFill>
                <a:latin typeface="微软雅黑"/>
                <a:ea typeface="微软雅黑"/>
              </a:rPr>
              <a:t>追觅基金 + AI 腾讯 + CVC 创投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9760" y="2852928"/>
            <a:ext cx="1828800" cy="420624"/>
          </a:xfrm>
          <a:prstGeom prst="round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5,000㎡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685032"/>
            <a:ext cx="1092708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685032"/>
            <a:ext cx="2286000" cy="1024128"/>
          </a:xfrm>
          <a:prstGeom prst="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685032"/>
            <a:ext cx="22860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L3 大数据爬楼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3831336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244E"/>
                </a:solidFill>
                <a:latin typeface="微软雅黑"/>
                <a:ea typeface="微软雅黑"/>
              </a:rPr>
              <a:t>小型潮玩 / 服务机构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4215384"/>
            <a:ext cx="6035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67086"/>
                </a:solidFill>
                <a:latin typeface="微软雅黑"/>
                <a:ea typeface="微软雅黑"/>
              </a:rPr>
              <a:t>仲量联行爬楼大数据 (已购)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09760" y="3986784"/>
            <a:ext cx="1828800" cy="420624"/>
          </a:xfrm>
          <a:prstGeom prst="round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6,000-8,000㎡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818888"/>
            <a:ext cx="1092708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4818888"/>
            <a:ext cx="2286000" cy="102412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818888"/>
            <a:ext cx="22860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L4 活动带流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4965192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0F244E"/>
                </a:solidFill>
                <a:latin typeface="微软雅黑"/>
                <a:ea typeface="微软雅黑"/>
              </a:rPr>
              <a:t>中小型服务机构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5349240"/>
            <a:ext cx="6035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667086"/>
                </a:solidFill>
                <a:latin typeface="微软雅黑"/>
                <a:ea typeface="微软雅黑"/>
              </a:rPr>
              <a:t>6 场沙龙 + 5·22 峰会 + 福布斯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09760" y="5120640"/>
            <a:ext cx="1828800" cy="420624"/>
          </a:xfrm>
          <a:prstGeom prst="round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3,000-4,000㎡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27E2D"/>
                </a:solidFill>
                <a:latin typeface="微软雅黑"/>
                <a:ea typeface="微软雅黑"/>
              </a:rPr>
              <a:t>★ 漏斗合计可产生 20,000-23,000㎡ 招商管道 → 实际签约 18,000-20,000㎡ (满租);五档配比 10%央企+10%配套+20%中型+20%服务+40%小型, 与森马原规划一致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656832"/>
            <a:ext cx="8229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元谷项目招商运营合作 · 谈判沟通汇报 (阶段性集中交付)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03 · 2 万方招商方案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招商六大『出彩点』(VS 普通园区)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182880"/>
            <a:ext cx="2011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森马 × 胡教授团队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53949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91440" cy="129844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6002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F244E"/>
                </a:solidFill>
                <a:latin typeface="微软雅黑"/>
                <a:ea typeface="微软雅黑"/>
              </a:rPr>
              <a:t>① 牌照即招商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093976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667086"/>
                </a:solidFill>
                <a:latin typeface="微软雅黑"/>
                <a:ea typeface="微软雅黑"/>
              </a:rPr>
              <a:t>双牌照前置, 客户『送进来』不是『拉进来』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417320"/>
            <a:ext cx="53949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417320"/>
            <a:ext cx="91440" cy="129844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16002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F244E"/>
                </a:solidFill>
                <a:latin typeface="微软雅黑"/>
                <a:ea typeface="微软雅黑"/>
              </a:rPr>
              <a:t>② 基金即招商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093976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667086"/>
                </a:solidFill>
                <a:latin typeface="微软雅黑"/>
                <a:ea typeface="微软雅黑"/>
              </a:rPr>
              <a:t>追觅 1:1.5 返投 + CVC + 元谷产业基金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898648"/>
            <a:ext cx="53949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898648"/>
            <a:ext cx="91440" cy="129844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08152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F244E"/>
                </a:solidFill>
                <a:latin typeface="微软雅黑"/>
                <a:ea typeface="微软雅黑"/>
              </a:rPr>
              <a:t>③ 数据即招商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575304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667086"/>
                </a:solidFill>
                <a:latin typeface="微软雅黑"/>
                <a:ea typeface="微软雅黑"/>
              </a:rPr>
              <a:t>仲量联行爬楼数据, 转化率 +30%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2898648"/>
            <a:ext cx="53949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2898648"/>
            <a:ext cx="91440" cy="129844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308152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F244E"/>
                </a:solidFill>
                <a:latin typeface="微软雅黑"/>
                <a:ea typeface="微软雅黑"/>
              </a:rPr>
              <a:t>④ 峰会即招商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3575304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667086"/>
                </a:solidFill>
                <a:latin typeface="微软雅黑"/>
                <a:ea typeface="微软雅黑"/>
              </a:rPr>
              <a:t>5·22 峰会 200+ VIP, 1 天锁 30-50 客户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379976"/>
            <a:ext cx="53949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379976"/>
            <a:ext cx="91440" cy="129844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4562856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F244E"/>
                </a:solidFill>
                <a:latin typeface="微软雅黑"/>
                <a:ea typeface="微软雅黑"/>
              </a:rPr>
              <a:t>⑤ 沙龙即招商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5056632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667086"/>
                </a:solidFill>
                <a:latin typeface="微软雅黑"/>
                <a:ea typeface="微软雅黑"/>
              </a:rPr>
              <a:t>6 场 × ≥30 客户 = 5-12 家直接成果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4379976"/>
            <a:ext cx="539496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4379976"/>
            <a:ext cx="91440" cy="129844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2" y="4562856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F244E"/>
                </a:solidFill>
                <a:latin typeface="微软雅黑"/>
                <a:ea typeface="微软雅黑"/>
              </a:rPr>
              <a:t>⑥ 学术即招商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5056632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667086"/>
                </a:solidFill>
                <a:latin typeface="微软雅黑"/>
                <a:ea typeface="微软雅黑"/>
              </a:rPr>
              <a:t>复旦 + 上海交大 + 北大 三校背书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27E2D"/>
                </a:solidFill>
                <a:latin typeface="微软雅黑"/>
                <a:ea typeface="微软雅黑"/>
              </a:rPr>
              <a:t>普通园区只做 ③④;元谷六维齐发 → 招商速度领先 6-12 个月, 单方租金溢价 0.2-0.4 元/㎡/天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656832"/>
            <a:ext cx="8229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元谷项目招商运营合作 · 谈判沟通汇报 (阶段性集中交付)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1828800"/>
            <a:ext cx="822960" cy="822960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3108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节点与排期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FB2D0"/>
                </a:solidFill>
                <a:latin typeface="微软雅黑"/>
                <a:ea typeface="微软雅黑"/>
              </a:rPr>
              <a:t>MILESTONES &amp; SCHEDULE</a:t>
            </a:r>
          </a:p>
        </p:txBody>
      </p:sp>
      <p:sp>
        <p:nvSpPr>
          <p:cNvPr id="7" name="Oval 6"/>
          <p:cNvSpPr/>
          <p:nvPr/>
        </p:nvSpPr>
        <p:spPr>
          <a:xfrm>
            <a:off x="4937760" y="1938528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828800"/>
            <a:ext cx="6217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E5EBF5"/>
                </a:solidFill>
                <a:latin typeface="微软雅黑"/>
                <a:ea typeface="微软雅黑"/>
              </a:rPr>
              <a:t>硬节点一:2026/9/30 完成 2,000㎡ 签约 (T+100 天)</a:t>
            </a:r>
          </a:p>
        </p:txBody>
      </p:sp>
      <p:sp>
        <p:nvSpPr>
          <p:cNvPr id="9" name="Oval 8"/>
          <p:cNvSpPr/>
          <p:nvPr/>
        </p:nvSpPr>
        <p:spPr>
          <a:xfrm>
            <a:off x="4937760" y="2596896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2487168"/>
            <a:ext cx="6217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E5EBF5"/>
                </a:solidFill>
                <a:latin typeface="微软雅黑"/>
                <a:ea typeface="微软雅黑"/>
              </a:rPr>
              <a:t>硬节点二:2027/5/1 项目开业, 50%+ 签约 (T+314 天)</a:t>
            </a:r>
          </a:p>
        </p:txBody>
      </p:sp>
      <p:sp>
        <p:nvSpPr>
          <p:cNvPr id="11" name="Oval 10"/>
          <p:cNvSpPr/>
          <p:nvPr/>
        </p:nvSpPr>
        <p:spPr>
          <a:xfrm>
            <a:off x="4937760" y="3255263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3145535"/>
            <a:ext cx="6217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E5EBF5"/>
                </a:solidFill>
                <a:latin typeface="微软雅黑"/>
                <a:ea typeface="微软雅黑"/>
              </a:rPr>
              <a:t>全周期:2028/5/1 达成 90%+ 满租</a:t>
            </a:r>
          </a:p>
        </p:txBody>
      </p:sp>
      <p:sp>
        <p:nvSpPr>
          <p:cNvPr id="13" name="Oval 12"/>
          <p:cNvSpPr/>
          <p:nvPr/>
        </p:nvSpPr>
        <p:spPr>
          <a:xfrm>
            <a:off x="4937760" y="3913631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3803903"/>
            <a:ext cx="6217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E5EBF5"/>
                </a:solidFill>
                <a:latin typeface="微软雅黑"/>
                <a:ea typeface="微软雅黑"/>
              </a:rPr>
              <a:t>五阶段倒推 + 月度签约率追踪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04 · 节点与排期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两个硬节点 · 倒推全部排期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182880"/>
            <a:ext cx="2011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森马 × 胡教授团队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371600"/>
            <a:ext cx="53949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91440" cy="13258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17904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硬节点一 · 2026/9/30 (T+100 天)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792224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0F244E"/>
                </a:solidFill>
                <a:latin typeface="微软雅黑"/>
                <a:ea typeface="微软雅黑"/>
              </a:rPr>
              <a:t>2,000㎡ 签约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13432"/>
            <a:ext cx="5029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67086"/>
                </a:solidFill>
                <a:latin typeface="微软雅黑"/>
                <a:ea typeface="微软雅黑"/>
              </a:rPr>
              <a:t>可含直播基地 / 共享设计中心擦边球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371600"/>
            <a:ext cx="53949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371600"/>
            <a:ext cx="91440" cy="132588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517904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硬节点二 · 2027/5/1 (T+314 天)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792224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0F244E"/>
                </a:solidFill>
                <a:latin typeface="微软雅黑"/>
                <a:ea typeface="微软雅黑"/>
              </a:rPr>
              <a:t>开业 + 50% 签约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313432"/>
            <a:ext cx="5029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67086"/>
                </a:solidFill>
                <a:latin typeface="微软雅黑"/>
                <a:ea typeface="微软雅黑"/>
              </a:rPr>
              <a:t>2 万方达成 50% + 消费氛围成型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40080" y="2926080"/>
          <a:ext cx="10927080" cy="27614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2377440"/>
                <a:gridCol w="3063240"/>
                <a:gridCol w="365760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时间窗口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累计签约目标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里程碑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阶段 0 准备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6/22 - 7/15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团队就位 + 资源接入 + 物料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阶段 1 抢节点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7/15 - 9/30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2,300㎡ (含擦边球)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★ 9/30 硬节点达成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阶段 2 加速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10/1 - 12/31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5,500㎡ (27%)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L3 爬楼 + 沙龙 + 挂牌 ③④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阶段 3 开业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1/1 - 5/1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10,400㎡ (52%)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★ 5/1 开业典礼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阶段 4 满租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5/2 - 次年 5/1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18,000㎡+ (90%)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沙龙 IP 化 + 续约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656832"/>
            <a:ext cx="8229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元谷项目招商运营合作 · 谈判沟通汇报 (阶段性集中交付)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04 · 节点与排期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月度签约率推进 (按 803 元/㎡ 年租金)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182880"/>
            <a:ext cx="2011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森马 × 胡教授团队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71600"/>
          <a:ext cx="10927080" cy="3127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1691640"/>
                <a:gridCol w="1828800"/>
                <a:gridCol w="1463040"/>
                <a:gridCol w="2103120"/>
                <a:gridCol w="210312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月份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本月新增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累计签约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签约率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累计年租金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里程碑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2026/7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300㎡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300㎡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1.5%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24 万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战队就位 + 物料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2026/8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800㎡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1,100㎡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5.5%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88 万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L1 牌照 + 大客户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2026/9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1,200㎡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2,300㎡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11.5%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185 万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★ 9/30 节点达成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2026/12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5,500㎡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27.5%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442 万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Q4 攻坚收官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2027/4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1,500㎡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10,400㎡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52%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836 万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★ 5/1 节点达成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2027/5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1,500㎡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11,900㎡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59.5%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956 万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开业典礼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4846320"/>
            <a:ext cx="10927080" cy="603504"/>
          </a:xfrm>
          <a:prstGeom prst="round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9/30 节点 2,000㎡ 来源:大客户 1,000-2,000㎡ + 直播基地 800-1,000㎡ + AI 设计中心 500-800㎡ + 服务中心 300-500㎡ → 中性期望 3,200-5,800㎡, 达成概率 &gt;95%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E8E5A"/>
                </a:solidFill>
                <a:latin typeface="微软雅黑"/>
                <a:ea typeface="微软雅黑"/>
              </a:rPr>
              <a:t>单 12 个月口径:甲方租金累计回收 ≈ 956 万 + 物业 ≈ 90 万 = 1,046 万元 → 已现金回正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656832"/>
            <a:ext cx="8229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元谷项目招商运营合作 · 谈判沟通汇报 (阶段性集中交付)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09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1828800"/>
            <a:ext cx="822960" cy="822960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3108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品牌与活动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FB2D0"/>
                </a:solidFill>
                <a:latin typeface="微软雅黑"/>
                <a:ea typeface="微软雅黑"/>
              </a:rPr>
              <a:t>BRAND &amp; EVENTS</a:t>
            </a:r>
          </a:p>
        </p:txBody>
      </p:sp>
      <p:sp>
        <p:nvSpPr>
          <p:cNvPr id="7" name="Oval 6"/>
          <p:cNvSpPr/>
          <p:nvPr/>
        </p:nvSpPr>
        <p:spPr>
          <a:xfrm>
            <a:off x="4937760" y="1938528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828800"/>
            <a:ext cx="6217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E5EBF5"/>
                </a:solidFill>
                <a:latin typeface="微软雅黑"/>
                <a:ea typeface="微软雅黑"/>
              </a:rPr>
              <a:t>5 项产业牌照, 一次性挂牌奖励 30 万/项</a:t>
            </a:r>
          </a:p>
        </p:txBody>
      </p:sp>
      <p:sp>
        <p:nvSpPr>
          <p:cNvPr id="9" name="Oval 8"/>
          <p:cNvSpPr/>
          <p:nvPr/>
        </p:nvSpPr>
        <p:spPr>
          <a:xfrm>
            <a:off x="4937760" y="2596896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2487168"/>
            <a:ext cx="6217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E5EBF5"/>
                </a:solidFill>
                <a:latin typeface="微软雅黑"/>
                <a:ea typeface="微软雅黑"/>
              </a:rPr>
              <a:t>6 场产业沙龙, 每场 ≥30 个目标产业客户</a:t>
            </a:r>
          </a:p>
        </p:txBody>
      </p:sp>
      <p:sp>
        <p:nvSpPr>
          <p:cNvPr id="11" name="Oval 10"/>
          <p:cNvSpPr/>
          <p:nvPr/>
        </p:nvSpPr>
        <p:spPr>
          <a:xfrm>
            <a:off x="4937760" y="3255263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3145535"/>
            <a:ext cx="6217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E5EBF5"/>
                </a:solidFill>
                <a:latin typeface="微软雅黑"/>
                <a:ea typeface="微软雅黑"/>
              </a:rPr>
              <a:t>5·22 AI 商业化峰会借势, 200+ VIP 一日转化</a:t>
            </a:r>
          </a:p>
        </p:txBody>
      </p:sp>
      <p:sp>
        <p:nvSpPr>
          <p:cNvPr id="13" name="Oval 12"/>
          <p:cNvSpPr/>
          <p:nvPr/>
        </p:nvSpPr>
        <p:spPr>
          <a:xfrm>
            <a:off x="4937760" y="3913631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3803903"/>
            <a:ext cx="6217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E5EBF5"/>
                </a:solidFill>
                <a:latin typeface="微软雅黑"/>
                <a:ea typeface="微软雅黑"/>
              </a:rPr>
              <a:t>活动 IP 化 → 年度品牌势能 + 媒体声量 5 亿次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05 · 品牌与活动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5 项产业牌照 (5 × 30 万 = 150 万一次性激励)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182880"/>
            <a:ext cx="2011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森马 × 胡教授团队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1092708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786384" cy="786384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17320"/>
            <a:ext cx="786384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E8C87A"/>
                </a:solidFill>
                <a:latin typeface="微软雅黑"/>
                <a:ea typeface="微软雅黑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563624"/>
            <a:ext cx="6766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244E"/>
                </a:solidFill>
                <a:latin typeface="微软雅黑"/>
                <a:ea typeface="微软雅黑"/>
              </a:rPr>
              <a:t>AI 潮玩产业基地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1874519"/>
            <a:ext cx="6766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出牌方:中国动漫集团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1636776"/>
            <a:ext cx="1280160" cy="347472"/>
          </a:xfrm>
          <a:prstGeom prst="round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T+3 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12680" y="1636776"/>
            <a:ext cx="1417320" cy="347472"/>
          </a:xfrm>
          <a:prstGeom prst="round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30 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313432"/>
            <a:ext cx="1092708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313432"/>
            <a:ext cx="786384" cy="786384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313432"/>
            <a:ext cx="786384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E8C87A"/>
                </a:solidFill>
                <a:latin typeface="微软雅黑"/>
                <a:ea typeface="微软雅黑"/>
              </a:rPr>
              <a:t>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459736"/>
            <a:ext cx="6766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244E"/>
                </a:solidFill>
                <a:latin typeface="微软雅黑"/>
                <a:ea typeface="微软雅黑"/>
              </a:rPr>
              <a:t>潮玩次元商业专委会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2770632"/>
            <a:ext cx="6766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出牌方:中国百货商业协会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95360" y="2532888"/>
            <a:ext cx="1280160" cy="347472"/>
          </a:xfrm>
          <a:prstGeom prst="round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T+3 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12680" y="2532888"/>
            <a:ext cx="1417320" cy="347472"/>
          </a:xfrm>
          <a:prstGeom prst="round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30 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209544"/>
            <a:ext cx="1092708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3209544"/>
            <a:ext cx="786384" cy="786384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209544"/>
            <a:ext cx="786384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E8C87A"/>
                </a:solidFill>
                <a:latin typeface="微软雅黑"/>
                <a:ea typeface="微软雅黑"/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3355848"/>
            <a:ext cx="6766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244E"/>
                </a:solidFill>
                <a:latin typeface="微软雅黑"/>
                <a:ea typeface="微软雅黑"/>
              </a:rPr>
              <a:t>复旦大学住房政策研究中心 · 元谷分中心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3666744"/>
            <a:ext cx="6766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出牌方:复旦大学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95360" y="3429000"/>
            <a:ext cx="1280160" cy="347472"/>
          </a:xfrm>
          <a:prstGeom prst="round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T+9 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3429000"/>
            <a:ext cx="1417320" cy="347472"/>
          </a:xfrm>
          <a:prstGeom prst="round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30 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105656"/>
            <a:ext cx="1092708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4105656"/>
            <a:ext cx="786384" cy="786384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105656"/>
            <a:ext cx="786384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E8C87A"/>
                </a:solidFill>
                <a:latin typeface="微软雅黑"/>
                <a:ea typeface="微软雅黑"/>
              </a:rPr>
              <a:t>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4251960"/>
            <a:ext cx="6766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244E"/>
                </a:solidFill>
                <a:latin typeface="微软雅黑"/>
                <a:ea typeface="微软雅黑"/>
              </a:rPr>
              <a:t>上海市科技企业联合会 · 元谷产业基地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4562856"/>
            <a:ext cx="6766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出牌方:上海市科企联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95360" y="4325112"/>
            <a:ext cx="1280160" cy="347472"/>
          </a:xfrm>
          <a:prstGeom prst="round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T+6 月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12680" y="4325112"/>
            <a:ext cx="1417320" cy="347472"/>
          </a:xfrm>
          <a:prstGeom prst="round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30 万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001768"/>
            <a:ext cx="1092708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" y="5001768"/>
            <a:ext cx="786384" cy="786384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001768"/>
            <a:ext cx="786384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E8C87A"/>
                </a:solidFill>
                <a:latin typeface="微软雅黑"/>
                <a:ea typeface="微软雅黑"/>
              </a:rPr>
              <a:t>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00200" y="5148072"/>
            <a:ext cx="6766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244E"/>
                </a:solidFill>
                <a:latin typeface="微软雅黑"/>
                <a:ea typeface="微软雅黑"/>
              </a:rPr>
              <a:t>福布斯产业影响力奖 · 元谷专场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00200" y="5458968"/>
            <a:ext cx="6766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出牌方:福布斯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95360" y="5221224"/>
            <a:ext cx="1280160" cy="347472"/>
          </a:xfrm>
          <a:prstGeom prst="roundRect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T+12 月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012680" y="5221224"/>
            <a:ext cx="1417320" cy="347472"/>
          </a:xfrm>
          <a:prstGeom prst="round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30 万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6656832"/>
            <a:ext cx="8229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元谷项目招商运营合作 · 谈判沟通汇报 (阶段性集中交付)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05 · 品牌与活动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6 场产业沙龙 (每场 ≥30 客户) + 5·22 峰会借势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182880"/>
            <a:ext cx="2011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森马 × 胡教授团队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71600"/>
          <a:ext cx="6903720" cy="3127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/>
                <a:gridCol w="1097280"/>
                <a:gridCol w="260604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#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时间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主题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联办方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T+1月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AI+潮玩 (借势5·22)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中动漫+腾讯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T+3月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潮玩出海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北欧+福布斯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T+5月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投融资路演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追觅+招行+长江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T+7月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设计与创意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上海交大+科企联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T+9月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内容IP·Z世代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中百协+中动漫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T+11月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政策补贴·小镇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闵行科协+复旦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818120" y="1371600"/>
            <a:ext cx="3749039" cy="411480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371600"/>
            <a:ext cx="3749039" cy="54864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1371600"/>
            <a:ext cx="3474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5·22 AI 商业化峰会借势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103120"/>
            <a:ext cx="3383280" cy="3291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▸  </a:t>
            </a:r>
            <a:r>
              <a:rPr sz="1150" b="0">
                <a:solidFill>
                  <a:srgbClr val="E5EBF5"/>
                </a:solidFill>
                <a:latin typeface="微软雅黑"/>
                <a:ea typeface="微软雅黑"/>
              </a:rPr>
              <a:t>200+ VIP (北大/复旦/中行/长江/招行/金浦/铂帝)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▸  </a:t>
            </a:r>
            <a:r>
              <a:rPr sz="1150" b="0">
                <a:solidFill>
                  <a:srgbClr val="E5EBF5"/>
                </a:solidFill>
                <a:latin typeface="微软雅黑"/>
                <a:ea typeface="微软雅黑"/>
              </a:rPr>
              <a:t>元谷设专属展位 + 闭门 1V1 招商台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▸  </a:t>
            </a:r>
            <a:r>
              <a:rPr sz="1150" b="0">
                <a:solidFill>
                  <a:srgbClr val="E5EBF5"/>
                </a:solidFill>
                <a:latin typeface="微软雅黑"/>
                <a:ea typeface="微软雅黑"/>
              </a:rPr>
              <a:t>增设『AI 潮玩产业影响力榜』+ 福布斯背书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▸  </a:t>
            </a:r>
            <a:r>
              <a:rPr sz="1150" b="0">
                <a:solidFill>
                  <a:srgbClr val="E5EBF5"/>
                </a:solidFill>
                <a:latin typeface="微软雅黑"/>
                <a:ea typeface="微软雅黑"/>
              </a:rPr>
              <a:t>峰会嘉宾 → 转化为沙龙 #1 主题嘉宾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E8C87A"/>
                </a:solidFill>
                <a:latin typeface="微软雅黑"/>
                <a:ea typeface="微软雅黑"/>
              </a:rPr>
              <a:t>▸  </a:t>
            </a:r>
            <a:r>
              <a:rPr sz="1150" b="0">
                <a:solidFill>
                  <a:srgbClr val="E5EBF5"/>
                </a:solidFill>
                <a:latin typeface="微软雅黑"/>
                <a:ea typeface="微软雅黑"/>
              </a:rPr>
              <a:t>闭门晚宴 → 元谷创始合伙人圈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F27E2D"/>
                </a:solidFill>
                <a:latin typeface="微软雅黑"/>
                <a:ea typeface="微软雅黑"/>
              </a:rPr>
              <a:t>每场沙龙触达 ≥30 家产业客户 + ≥100 万次媒体曝光;年度活动 IP 化 → 媒体声量 5 亿次/年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656832"/>
            <a:ext cx="8229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元谷项目招商运营合作 · 谈判沟通汇报 (阶段性集中交付)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1828800"/>
            <a:ext cx="822960" cy="822960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3108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商业条款与测算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FB2D0"/>
                </a:solidFill>
                <a:latin typeface="微软雅黑"/>
                <a:ea typeface="微软雅黑"/>
              </a:rPr>
              <a:t>TERMS &amp; ROI</a:t>
            </a:r>
          </a:p>
        </p:txBody>
      </p:sp>
      <p:sp>
        <p:nvSpPr>
          <p:cNvPr id="7" name="Oval 6"/>
          <p:cNvSpPr/>
          <p:nvPr/>
        </p:nvSpPr>
        <p:spPr>
          <a:xfrm>
            <a:off x="4937760" y="1938528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828800"/>
            <a:ext cx="6217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E5EBF5"/>
                </a:solidFill>
                <a:latin typeface="微软雅黑"/>
                <a:ea typeface="微软雅黑"/>
              </a:rPr>
              <a:t>基础月费:推荐 12 万/月 (1-3 人配置可选)</a:t>
            </a:r>
          </a:p>
        </p:txBody>
      </p:sp>
      <p:sp>
        <p:nvSpPr>
          <p:cNvPr id="9" name="Oval 8"/>
          <p:cNvSpPr/>
          <p:nvPr/>
        </p:nvSpPr>
        <p:spPr>
          <a:xfrm>
            <a:off x="4937760" y="2596896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2487168"/>
            <a:ext cx="6217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E5EBF5"/>
                </a:solidFill>
                <a:latin typeface="微软雅黑"/>
                <a:ea typeface="微软雅黑"/>
              </a:rPr>
              <a:t>招商佣金:1.5-2 个月年租金 (按面积阶梯)</a:t>
            </a:r>
          </a:p>
        </p:txBody>
      </p:sp>
      <p:sp>
        <p:nvSpPr>
          <p:cNvPr id="11" name="Oval 10"/>
          <p:cNvSpPr/>
          <p:nvPr/>
        </p:nvSpPr>
        <p:spPr>
          <a:xfrm>
            <a:off x="4937760" y="3255263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3145535"/>
            <a:ext cx="6217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E5EBF5"/>
                </a:solidFill>
                <a:latin typeface="微软雅黑"/>
                <a:ea typeface="微软雅黑"/>
              </a:rPr>
              <a:t>挂牌 30 万/项 × 5 + 沙龙 5 万/场 × 6</a:t>
            </a:r>
          </a:p>
        </p:txBody>
      </p:sp>
      <p:sp>
        <p:nvSpPr>
          <p:cNvPr id="13" name="Oval 12"/>
          <p:cNvSpPr/>
          <p:nvPr/>
        </p:nvSpPr>
        <p:spPr>
          <a:xfrm>
            <a:off x="4937760" y="3913631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3803903"/>
            <a:ext cx="6217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E5EBF5"/>
                </a:solidFill>
                <a:latin typeface="微软雅黑"/>
                <a:ea typeface="微软雅黑"/>
              </a:rPr>
              <a:t>24 月双向账本:ROI 1:3.88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06 · 商业条款与测算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向森马提议的合作条款 (五项收入)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182880"/>
            <a:ext cx="2011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森马 × 胡教授团队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71600"/>
          <a:ext cx="10927080" cy="30358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5074920"/>
                <a:gridCol w="1554480"/>
                <a:gridCol w="192024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收入类别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推荐方案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支付方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结算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基础月费 Retainer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12 万元/月 (区间 6-18 万, 1/2/3 人)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森马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按月预付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招商佣金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成交年租金 1.5 / 1.75 / 2.0 个月 (按面积)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森马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起租后 30 日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挂牌奖励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30 万元/项 × 5 项 = 150 万 (一次性)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森马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挂牌后 30 日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沙龙执行费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5 万元/场 × 6 场 = 30 万 + 净利 30/70 分润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森马 + 外部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按场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超额奖励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24 月满租率 ≥95% → 100 万一次性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森马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达成后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4617720"/>
            <a:ext cx="10972800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300" b="0">
                <a:solidFill>
                  <a:srgbClr val="212B42"/>
                </a:solidFill>
                <a:latin typeface="微软雅黑"/>
                <a:ea typeface="微软雅黑"/>
              </a:rPr>
              <a:t>团队配置:2 人驻场 + CSO 顾问 (胡教授每周 ≥2 天), 月度刚性成本约 9.5 万 → 推荐月费 12 万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300" b="0">
                <a:solidFill>
                  <a:srgbClr val="212B42"/>
                </a:solidFill>
                <a:latin typeface="微软雅黑"/>
                <a:ea typeface="微软雅黑"/>
              </a:rPr>
              <a:t>客户归属保护期 24 个月, 甲方不得绕开签约;返投基金客户佣金额外 +0.25 个月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7E2D"/>
                </a:solidFill>
                <a:latin typeface="微软雅黑"/>
                <a:ea typeface="微软雅黑"/>
              </a:rPr>
              <a:t>—  </a:t>
            </a:r>
            <a:r>
              <a:rPr sz="1300" b="0">
                <a:solidFill>
                  <a:srgbClr val="212B42"/>
                </a:solidFill>
                <a:latin typeface="微软雅黑"/>
                <a:ea typeface="微软雅黑"/>
              </a:rPr>
              <a:t>服务期 24 个月 (首期), 满租后乙方享优先续约权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656832"/>
            <a:ext cx="8229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元谷项目招商运营合作 · 谈判沟通汇报 (阶段性集中交付)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06 · 商业条款与测算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24 月双向账本:森马『花一份钱赚四份钱』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182880"/>
            <a:ext cx="2011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森马 × 胡教授团队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35204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91440" cy="1554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6362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甲方付出 (24 月)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837944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0F244E"/>
                </a:solidFill>
                <a:latin typeface="微软雅黑"/>
                <a:ea typeface="微软雅黑"/>
              </a:rPr>
              <a:t>714 万元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587752"/>
            <a:ext cx="3154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67086"/>
                </a:solidFill>
                <a:latin typeface="微软雅黑"/>
                <a:ea typeface="微软雅黑"/>
              </a:rPr>
              <a:t>月费+佣金+挂牌+沙龙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417320"/>
            <a:ext cx="35204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417320"/>
            <a:ext cx="91440" cy="155448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56362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甲方收入 (24 月)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837944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0F244E"/>
                </a:solidFill>
                <a:latin typeface="微软雅黑"/>
                <a:ea typeface="微软雅黑"/>
              </a:rPr>
              <a:t>2,769 万元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587752"/>
            <a:ext cx="3154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67086"/>
                </a:solidFill>
                <a:latin typeface="微软雅黑"/>
                <a:ea typeface="微软雅黑"/>
              </a:rPr>
              <a:t>租金 + 物业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417320"/>
            <a:ext cx="35204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417320"/>
            <a:ext cx="91440" cy="155448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156362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67086"/>
                </a:solidFill>
                <a:latin typeface="微软雅黑"/>
                <a:ea typeface="微软雅黑"/>
              </a:rPr>
              <a:t>投入产出比 ROI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1837944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0F244E"/>
                </a:solidFill>
                <a:latin typeface="微软雅黑"/>
                <a:ea typeface="微软雅黑"/>
              </a:rPr>
              <a:t>1 : 3.88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587752"/>
            <a:ext cx="3154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667086"/>
                </a:solidFill>
                <a:latin typeface="微软雅黑"/>
                <a:ea typeface="微软雅黑"/>
              </a:rPr>
              <a:t>尚不含资产增值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40080" y="3291840"/>
          <a:ext cx="10927080" cy="2670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0320"/>
                <a:gridCol w="2743200"/>
                <a:gridCol w="562356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金额 / 指标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说明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12 个月投入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≈ 684 万元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月费+佣金+挂牌+沙龙+开业+硬件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12 个月收入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≈ 1,046 万元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租金 956 万 + 物业 90 万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12 个月净收益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≈ +362 万元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★ 单 12 月已现金回正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永续年化租金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1,606 万元/年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2 万㎡ 满租 × 2.2 元/㎡/天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资产估值增量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≈ 2.47 亿元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按 8% 折现 (租金+物业+配套)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656832"/>
            <a:ext cx="8229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元谷项目招商运营合作 · 谈判沟通汇报 (阶段性集中交付)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1828800"/>
            <a:ext cx="822960" cy="822960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3108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投决建议与下一步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FB2D0"/>
                </a:solidFill>
                <a:latin typeface="微软雅黑"/>
                <a:ea typeface="微软雅黑"/>
              </a:rPr>
              <a:t>DECISION &amp; NEXT STEP</a:t>
            </a:r>
          </a:p>
        </p:txBody>
      </p:sp>
      <p:sp>
        <p:nvSpPr>
          <p:cNvPr id="7" name="Oval 6"/>
          <p:cNvSpPr/>
          <p:nvPr/>
        </p:nvSpPr>
        <p:spPr>
          <a:xfrm>
            <a:off x="4937760" y="1938528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828800"/>
            <a:ext cx="6217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E5EBF5"/>
                </a:solidFill>
                <a:latin typeface="微软雅黑"/>
                <a:ea typeface="微软雅黑"/>
              </a:rPr>
              <a:t>三问决策, 建议本周内确定</a:t>
            </a:r>
          </a:p>
        </p:txBody>
      </p:sp>
      <p:sp>
        <p:nvSpPr>
          <p:cNvPr id="9" name="Oval 8"/>
          <p:cNvSpPr/>
          <p:nvPr/>
        </p:nvSpPr>
        <p:spPr>
          <a:xfrm>
            <a:off x="4937760" y="2596896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2487168"/>
            <a:ext cx="6217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E5EBF5"/>
                </a:solidFill>
                <a:latin typeface="微软雅黑"/>
                <a:ea typeface="微软雅黑"/>
              </a:rPr>
              <a:t>30 天内启动, 赶 9/30 硬节点</a:t>
            </a:r>
          </a:p>
        </p:txBody>
      </p:sp>
      <p:sp>
        <p:nvSpPr>
          <p:cNvPr id="11" name="Oval 10"/>
          <p:cNvSpPr/>
          <p:nvPr/>
        </p:nvSpPr>
        <p:spPr>
          <a:xfrm>
            <a:off x="4937760" y="3255263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3145535"/>
            <a:ext cx="6217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E5EBF5"/>
                </a:solidFill>
                <a:latin typeface="微软雅黑"/>
                <a:ea typeface="微软雅黑"/>
              </a:rPr>
              <a:t>错过 7 月窗口, 节点风险陡增</a:t>
            </a:r>
          </a:p>
        </p:txBody>
      </p:sp>
      <p:sp>
        <p:nvSpPr>
          <p:cNvPr id="13" name="Oval 12"/>
          <p:cNvSpPr/>
          <p:nvPr/>
        </p:nvSpPr>
        <p:spPr>
          <a:xfrm>
            <a:off x="4937760" y="3913631"/>
            <a:ext cx="146304" cy="146304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3803903"/>
            <a:ext cx="6217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E5EBF5"/>
                </a:solidFill>
                <a:latin typeface="微软雅黑"/>
                <a:ea typeface="微软雅黑"/>
              </a:rPr>
              <a:t>先签 2 万方专项 → 12 月成势后承接全盘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07 · 投决建议与下一步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三问决策 (建议本周内确定)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182880"/>
            <a:ext cx="2011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森马 × 胡教授团队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1092708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463040"/>
            <a:ext cx="1005840" cy="1078992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63040"/>
            <a:ext cx="100584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E8C87A"/>
                </a:solidFill>
                <a:latin typeface="微软雅黑"/>
                <a:ea typeface="微软雅黑"/>
              </a:rPr>
              <a:t>Q1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645920"/>
            <a:ext cx="9509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244E"/>
                </a:solidFill>
                <a:latin typeface="微软雅黑"/>
                <a:ea typeface="微软雅黑"/>
              </a:rPr>
              <a:t>是否接受 IP+AI 双轨战略调整?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121408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F27E2D"/>
                </a:solidFill>
                <a:latin typeface="微软雅黑"/>
                <a:ea typeface="微软雅黑"/>
              </a:rPr>
              <a:t>建议:是 (杨浦区已有 1 万方先例)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670048"/>
            <a:ext cx="1092708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670048"/>
            <a:ext cx="1005840" cy="1078992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670048"/>
            <a:ext cx="100584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E8C87A"/>
                </a:solidFill>
                <a:latin typeface="微软雅黑"/>
                <a:ea typeface="微软雅黑"/>
              </a:rPr>
              <a:t>Q2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852928"/>
            <a:ext cx="9509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244E"/>
                </a:solidFill>
                <a:latin typeface="微软雅黑"/>
                <a:ea typeface="微软雅黑"/>
              </a:rPr>
              <a:t>是否接受 12 万月费 + 1.5-2 月佣金 + 5 项挂牌 + 6 场沙龙条款?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328415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F27E2D"/>
                </a:solidFill>
                <a:latin typeface="微软雅黑"/>
                <a:ea typeface="微软雅黑"/>
              </a:rPr>
              <a:t>建议:是 (ROI 1:3.88, 12 月即回正)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877056"/>
            <a:ext cx="1092708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877056"/>
            <a:ext cx="1005840" cy="1078992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877056"/>
            <a:ext cx="100584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E8C87A"/>
                </a:solidFill>
                <a:latin typeface="微软雅黑"/>
                <a:ea typeface="微软雅黑"/>
              </a:rPr>
              <a:t>Q3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059936"/>
            <a:ext cx="9509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244E"/>
                </a:solidFill>
                <a:latin typeface="微软雅黑"/>
                <a:ea typeface="微软雅黑"/>
              </a:rPr>
              <a:t>是否同意 7 月初启动 (赶 9/30 硬节点)?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535424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F27E2D"/>
                </a:solidFill>
                <a:latin typeface="微软雅黑"/>
                <a:ea typeface="微软雅黑"/>
              </a:rPr>
              <a:t>建议:是 (错过 7 月窗口风险陡增)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0F244E"/>
                </a:solidFill>
                <a:latin typeface="微软雅黑"/>
                <a:ea typeface="微软雅黑"/>
              </a:rPr>
              <a:t>分步策略:先签 4#+5# 楼 2 万方专项试点 → 12 个月成势后, 用全盘方案承接 5.2 万方 + 合资公司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656832"/>
            <a:ext cx="8229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元谷项目招商运营合作 · 谈判沟通汇报 (阶段性集中交付)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07 · 投决建议与下一步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30 / 60 / 90 天启动路线图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182880"/>
            <a:ext cx="2011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森马 × 胡教授团队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1463040"/>
            <a:ext cx="146304" cy="914400"/>
          </a:xfrm>
          <a:prstGeom prst="rect">
            <a:avLst/>
          </a:prstGeom>
          <a:solidFill>
            <a:srgbClr val="D8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1463040"/>
            <a:ext cx="777240" cy="777240"/>
          </a:xfrm>
          <a:prstGeom prst="ellipse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46304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1463040"/>
            <a:ext cx="95097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0280" y="1463040"/>
            <a:ext cx="18288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F27E2D"/>
                </a:solidFill>
                <a:latin typeface="微软雅黑"/>
                <a:ea typeface="微软雅黑"/>
              </a:rPr>
              <a:t>30 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1463040"/>
            <a:ext cx="74066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12B42"/>
                </a:solidFill>
                <a:latin typeface="微软雅黑"/>
                <a:ea typeface="微软雅黑"/>
              </a:rPr>
              <a:t>MOU 签订 + 2-3 人战队就位 + 仲量联行数据接入 + 5·22 峰会借势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0160" y="2514600"/>
            <a:ext cx="146304" cy="914400"/>
          </a:xfrm>
          <a:prstGeom prst="rect">
            <a:avLst/>
          </a:prstGeom>
          <a:solidFill>
            <a:srgbClr val="D8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" y="2514600"/>
            <a:ext cx="777240" cy="777240"/>
          </a:xfrm>
          <a:prstGeom prst="ellipse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51460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60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2514600"/>
            <a:ext cx="95097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40280" y="2514600"/>
            <a:ext cx="18288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C9A24B"/>
                </a:solidFill>
                <a:latin typeface="微软雅黑"/>
                <a:ea typeface="微软雅黑"/>
              </a:rPr>
              <a:t>60 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2514600"/>
            <a:ext cx="74066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12B42"/>
                </a:solidFill>
                <a:latin typeface="微软雅黑"/>
                <a:ea typeface="微软雅黑"/>
              </a:rPr>
              <a:t>沙龙 #1 (AI+潮玩) 完成 + AI 潮玩产业基地挂牌筹备 + 签约首单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80160" y="3566160"/>
            <a:ext cx="146304" cy="914400"/>
          </a:xfrm>
          <a:prstGeom prst="rect">
            <a:avLst/>
          </a:prstGeom>
          <a:solidFill>
            <a:srgbClr val="D8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3566160"/>
            <a:ext cx="777240" cy="777240"/>
          </a:xfrm>
          <a:prstGeom prst="ellipse">
            <a:avLst/>
          </a:prstGeom>
          <a:solidFill>
            <a:srgbClr val="18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56616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90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0" y="3566160"/>
            <a:ext cx="95097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40280" y="3566160"/>
            <a:ext cx="18288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88B8B"/>
                </a:solidFill>
                <a:latin typeface="微软雅黑"/>
                <a:ea typeface="微软雅黑"/>
              </a:rPr>
              <a:t>90 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3566160"/>
            <a:ext cx="74066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12B42"/>
                </a:solidFill>
                <a:latin typeface="微软雅黑"/>
                <a:ea typeface="微软雅黑"/>
              </a:rPr>
              <a:t>双牌照正式挂牌 + 4,000㎡ 签约 (L1 牌照客户 3 家入驻)</a:t>
            </a:r>
          </a:p>
        </p:txBody>
      </p:sp>
      <p:sp>
        <p:nvSpPr>
          <p:cNvPr id="27" name="Oval 26"/>
          <p:cNvSpPr/>
          <p:nvPr/>
        </p:nvSpPr>
        <p:spPr>
          <a:xfrm>
            <a:off x="960120" y="4617720"/>
            <a:ext cx="777240" cy="777240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61772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180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0" y="4617720"/>
            <a:ext cx="95097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40280" y="4617720"/>
            <a:ext cx="18288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B3A6B"/>
                </a:solidFill>
                <a:latin typeface="微软雅黑"/>
                <a:ea typeface="微软雅黑"/>
              </a:rPr>
              <a:t>180 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4617720"/>
            <a:ext cx="74066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212B42"/>
                </a:solidFill>
                <a:latin typeface="微软雅黑"/>
                <a:ea typeface="微软雅黑"/>
              </a:rPr>
              <a:t>沙龙过半 + 科企联挂牌 + 8,000㎡ 签约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656832"/>
            <a:ext cx="8229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元谷项目招商运营合作 · 谈判沟通汇报 (阶段性集中交付)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37744"/>
            <a:ext cx="109728" cy="566928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B9C6DC"/>
                </a:solidFill>
                <a:latin typeface="微软雅黑"/>
                <a:ea typeface="微软雅黑"/>
              </a:rPr>
              <a:t>附录 · 阶段性交付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微软雅黑"/>
                <a:ea typeface="微软雅黑"/>
              </a:rPr>
              <a:t>已完成的全部交付物 (本汇报为集中版)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182880"/>
            <a:ext cx="2011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8C87A"/>
                </a:solidFill>
                <a:latin typeface="微软雅黑"/>
                <a:ea typeface="微软雅黑"/>
              </a:rPr>
              <a:t>元谷 YUANGU</a:t>
            </a:r>
          </a:p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50" b="0">
                <a:solidFill>
                  <a:srgbClr val="B9C6DC"/>
                </a:solidFill>
                <a:latin typeface="微软雅黑"/>
                <a:ea typeface="微软雅黑"/>
              </a:rPr>
              <a:t>森马 × 胡教授团队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71600"/>
          <a:ext cx="10927080" cy="3456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5806440"/>
                <a:gridCol w="237744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模块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交付物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形态</a:t>
                      </a:r>
                    </a:p>
                  </a:txBody>
                  <a:tcPr marL="91440" marR="54864" marT="18288" marB="18288" anchor="ctr">
                    <a:solidFill>
                      <a:srgbClr val="0F244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全盘合资公司方案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战略汇报 + 收益测算 + 联合运营协议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PPT / Excel / Word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4#+5# 楼 2 万方专项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九段式方案 + 测算表 + 专项协议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PPT / Excel / Word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上海市科企联合作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合作服务方案 (服务+报价+中介费逻辑)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Word / Markdown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招商策略与排期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策略排期 + 排期总表 + 文字执行版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PPT / Excel / Word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招商材料工具包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招商手册 + 百问话术 + 政策汇编 + 租金对标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Word ×3 / Excel</a:t>
                      </a:r>
                    </a:p>
                  </a:txBody>
                  <a:tcPr marL="91440" marR="54864" marT="9144" marB="9144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244E"/>
                          </a:solidFill>
                          <a:latin typeface="微软雅黑"/>
                          <a:ea typeface="微软雅黑"/>
                        </a:rPr>
                        <a:t>★ 谈判集中汇报 (本件)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整合全部交付的谈判用一页流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12B42"/>
                          </a:solidFill>
                          <a:latin typeface="微软雅黑"/>
                          <a:ea typeface="微软雅黑"/>
                        </a:rPr>
                        <a:t>PPT (本件)</a:t>
                      </a:r>
                    </a:p>
                  </a:txBody>
                  <a:tcPr marL="91440" marR="54864" marT="9144" marB="9144" anchor="ctr">
                    <a:solidFill>
                      <a:srgbClr val="EDF1F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667086"/>
                </a:solidFill>
                <a:latin typeface="微软雅黑"/>
                <a:ea typeface="微软雅黑"/>
              </a:rPr>
              <a:t>全部源文件与可下载 ZIP 已归档;本 PPT 为今日谈判用『集中浓缩版』, 详情可随时展开任一模块原件。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656832"/>
            <a:ext cx="8229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00" b="0">
                <a:solidFill>
                  <a:srgbClr val="C6D0E2"/>
                </a:solidFill>
                <a:latin typeface="微软雅黑"/>
                <a:ea typeface="微软雅黑"/>
              </a:rPr>
              <a:t>元谷项目招商运营合作 · 谈判沟通汇报 (阶段性集中交付)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656832"/>
            <a:ext cx="914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1">
                <a:solidFill>
                  <a:srgbClr val="E8C87A"/>
                </a:solidFill>
                <a:latin typeface="微软雅黑"/>
                <a:ea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2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2194560"/>
            <a:ext cx="146304" cy="2011680"/>
          </a:xfrm>
          <a:prstGeom prst="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2286000"/>
            <a:ext cx="100584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</a:rPr>
              <a:t>100 天 · 2,000 方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0">
                <a:solidFill>
                  <a:srgbClr val="E8C87A"/>
                </a:solidFill>
                <a:latin typeface="微软雅黑"/>
                <a:ea typeface="微软雅黑"/>
              </a:rPr>
              <a:t>IP + AI 双轨 · 借势政府 · 闭环招商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FD8E8"/>
                </a:solidFill>
                <a:latin typeface="微软雅黑"/>
                <a:ea typeface="微软雅黑"/>
              </a:rPr>
              <a:t>让元谷成为中国潮玩与 AI 产业走向世界的国际客厅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5120640"/>
            <a:ext cx="3657600" cy="502920"/>
          </a:xfrm>
          <a:prstGeom prst="roundRect">
            <a:avLst/>
          </a:prstGeom>
          <a:solidFill>
            <a:srgbClr val="F27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胡教授团队 × 森马集团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5897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FB2D0"/>
                </a:solidFill>
                <a:latin typeface="微软雅黑"/>
                <a:ea typeface="微软雅黑"/>
              </a:rPr>
              <a:t>谈判集中汇报 v1.0  ·  2026 年 6 月  ·  期待与森马达成合作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