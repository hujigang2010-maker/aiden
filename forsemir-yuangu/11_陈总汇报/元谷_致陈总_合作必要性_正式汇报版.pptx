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A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2377440" cy="3840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5156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陈总沟通 · 正式汇报版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8C87A"/>
                </a:solidFill>
                <a:latin typeface="微软雅黑"/>
                <a:ea typeface="微软雅黑"/>
              </a:rPr>
              <a:t>今天只讲一件事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元谷项目合作必要性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与资源价值闭环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不是“办几场活动”，而是用外部资源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把森马项目从普通招商，升级为政策型、圈层型、传播型招商。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C87A"/>
                </a:solidFill>
                <a:latin typeface="微软雅黑"/>
                <a:ea typeface="微软雅黑"/>
              </a:rPr>
              <a:t>政府政策资源  ×  沙龙优质客群  ×  项目宣传势能  ×  招商转化漏斗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目标：降低获客成本 · 提高客户信任 · 加快签约转化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35508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2D0"/>
                </a:solidFill>
                <a:latin typeface="微软雅黑"/>
                <a:ea typeface="微软雅黑"/>
              </a:rPr>
              <a:t>胡教授团队｜复旦大学住房政策研究中心 / 上海市科技企业联合会相关资源  ·  面向森马资管陈总 · 元谷约 2 万方招商运营合作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沟通议程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先回答陈总的四个疑虑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8046720" cy="3840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把合作从“费用支出”解释成“招商基础设施投入”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5440680" cy="1097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305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16712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为什么要合作？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97479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森马具备物业与品牌基础，但外部政策通道、产业圈层和第三方背书，需要专业团队补齐。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74519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5440680" cy="1097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305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88B8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6712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政策资源在哪里？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79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围绕科创、AI、设计、文创、总部、研发中心、人才、算力、租金补贴等，形成申报与导入路径。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54406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879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C9A24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224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沙龙能带来什么客户？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5488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不是泛流量，而是企业家、投资机构、政府产业部门、银行与高校校友组成的高信任客群。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5440680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879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B3A6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224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宣传有什么作用？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把元谷从“出租空间”包装成“上海科技时尚产业场景”，降低客户认知成本。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一句话：我们提供的是“招商加速器”，不是单点中介；能把政府资源、精准客群、宣传声量和成交路径合成一个闭环。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合作必要性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空间端强，但招商转化需要“外部信用 + 外部流量 + 外部政策”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3611880" cy="96012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森马已有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项目硬资产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元谷约 2 万方空间、森马品牌、TOD 区位与科技时尚定位——这是招商的基础盘。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3716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71600"/>
            <a:ext cx="3611880" cy="9601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合作补足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外部资源包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政府政策申报、科协/科企联圈层、沙龙客群、第三方学术与产业背书。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11880" cy="9601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共同结果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招商转化闭环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060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从“看场地”变成“看机会”：政策、资源、传播共同降低签约阻力。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2040"/>
            <a:ext cx="10927080" cy="13716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关键判断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如果只靠传统招商，元谷是“多一个园区”；如果导入政策、圈层和宣传，元谷才有可能成为“上海科技时尚产业场景”。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合作必要性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我们补的是自有招商最难补齐的四块“基础设施”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40680" cy="1097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政府通道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48840"/>
            <a:ext cx="3291840" cy="36576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政策申报与对接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67086"/>
                </a:solidFill>
                <a:latin typeface="微软雅黑"/>
                <a:ea typeface="微软雅黑"/>
              </a:rPr>
              <a:t>把补贴、资质、算力、租金支持等，前置为入驻谈判筹码。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440680" cy="1097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精准客群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48840"/>
            <a:ext cx="3291840" cy="3657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圈层筛选 + 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67086"/>
                </a:solidFill>
                <a:latin typeface="微软雅黑"/>
                <a:ea typeface="微软雅黑"/>
              </a:rPr>
              <a:t>企业家/机构/协会/校友高信任客群；爬楼数据压缩无效触达。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54406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活动获客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80560"/>
            <a:ext cx="3291840" cy="3657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沙龙即招商入口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67086"/>
                </a:solidFill>
                <a:latin typeface="微软雅黑"/>
                <a:ea typeface="微软雅黑"/>
              </a:rPr>
              <a:t>6 场 × ≥30 客户；把信任关系变成可跟进线索。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65760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657600"/>
            <a:ext cx="5440680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776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品牌立势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480560"/>
            <a:ext cx="3291840" cy="3657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宣传降低解释成本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67086"/>
                </a:solidFill>
                <a:latin typeface="微软雅黑"/>
                <a:ea typeface="微软雅黑"/>
              </a:rPr>
              <a:t>挂牌 + 媒体 + 案例，让客户先相信定位，再谈租金。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政府政策资源端优势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把“政策申报能力”转化为企业入驻理由，而不是停留在口头背书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2743200" cy="64008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政策识别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匹配企业类型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AI、IP、设计、科技服务、总部/研发中心、数字经济等。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32588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325880"/>
            <a:ext cx="2743200" cy="6400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3258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申报辅导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1945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梳理落地条件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889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帮助入驻企业梳理主体、材料、税收、研发、人才与租赁条件。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2588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25880"/>
            <a:ext cx="2743200" cy="6400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258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政府对接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945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打通沟通路径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对接区级产业部门、科创系统、协会平台与平台招商场景。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32588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1325880"/>
            <a:ext cx="2743200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3258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结果转化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1945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变成谈判筹码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27889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把补贴、荣誉、资质、算力、资本合作转为入驻决策理由。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00600"/>
            <a:ext cx="10927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对陈总可讲的正式口径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我们不是承诺“包拿补贴”，而是把政策口径、申报路径、政府沟通和企业落地诉求前置，帮助森马把政策资源变成招商谈判筹码。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慎用措辞：政策支持以实际申报条件、主管部门审核与项目合规为准。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政府政策资源端优势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可围绕的政策与导入方向（示意）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  <a:gridCol w="416052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企业侧价值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对元谷招商的作用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高新技术企业 / 专精特新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资质背书与专项支持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吸引有成长诉求的科技企业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创新券 / 研发与人才支持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直接降本、增强留沪意愿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缩短看房到签约决策周期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算力 / 产业基金返投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资本与算力驱动落地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服务 AI 主轴客户“带着资源来”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文创 / 特色小镇 / 租金相关支持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属地扶持与落地配套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强化大零号湾政策叙事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总部 / 研发中心落户相关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空间与政策组合方案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提高大客户谈判筹码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配合 IP + AI 双轨：AI 侧吃透政策与资本，IP 侧兼顾文化与时尚叙事，避免纯二次元难拿政策的困局。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身份前提：上海科协体系相关团队 · 上海市科技企业联合会 · 复旦大学住房政策研究中心（已向森马董事长汇报说明）。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110 : 1 成功客群漏斗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传统招商是大海捞针；我们的价值是压缩分母、提高每一层转化率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" y="1280160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" y="1280160"/>
            <a:ext cx="91440" cy="713232"/>
          </a:xfrm>
          <a:prstGeom prst="rect">
            <a:avLst/>
          </a:prstGeom>
          <a:solidFill>
            <a:srgbClr val="66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1580" y="1353312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667086"/>
                </a:solidFill>
                <a:latin typeface="微软雅黑"/>
                <a:ea typeface="微软雅黑"/>
              </a:rPr>
              <a:t>110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60" y="1353312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原始触达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135331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广撒网 / 中介名单 / 陌生拜访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5939" y="2084831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5939" y="2084831"/>
            <a:ext cx="91440" cy="71323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4539" y="2157984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B3A6B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419" y="215798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有效到场/沟通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2340" y="21579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愿意见面、愿意听方案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8900" y="2889503"/>
            <a:ext cx="6949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8900" y="2889503"/>
            <a:ext cx="91440" cy="713232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7500" y="2962656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8B8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3380" y="2962656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需求匹配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5300" y="2962656"/>
            <a:ext cx="11887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面积、租金、产业方向匹配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1859" y="3694176"/>
            <a:ext cx="530352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0459" y="3767328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6340" y="3767328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意向谈判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6340" y="407822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0E0"/>
                </a:solidFill>
                <a:latin typeface="微软雅黑"/>
                <a:ea typeface="微软雅黑"/>
              </a:rPr>
              <a:t>比政策、比重启成本、比配套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4820" y="4498848"/>
            <a:ext cx="3657600" cy="71323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3420" y="45720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9300" y="45720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签约落地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9300" y="48828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0E0"/>
                </a:solidFill>
                <a:latin typeface="微软雅黑"/>
                <a:ea typeface="微软雅黑"/>
              </a:rPr>
              <a:t>真正落定的成功客群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394960"/>
            <a:ext cx="3611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394960"/>
            <a:ext cx="9144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传统招商的痛点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806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数量看起来多，但多数无迁址周期、租金能力或政策适配度。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5394960"/>
            <a:ext cx="3611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5394960"/>
            <a:ext cx="91440" cy="9601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54681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我们压缩分母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806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用政策适配、沙龙筛选、爬楼数据和圈层背书提前过滤。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5394960"/>
            <a:ext cx="3611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5394960"/>
            <a:ext cx="91440" cy="9601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4681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森马获得结果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806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形成可约谈、可复访、可签约的真实客户池。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110 : 1 成功客群漏斗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核心表达：110:1 不是悲观数字，而是招商规律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53895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行业规律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09928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110 →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21991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触达一百多家，往往才签一家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91440" cy="15544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453895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合作要做的事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709928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110 →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221991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把原始触达压成高质量有效沟通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91440" cy="15544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453895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最终目标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709928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30 → 签约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21991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提高复访率与签约率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54680"/>
            <a:ext cx="109270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合作必要性的招商语言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110:1 说明：普通招商一定会消耗大量时间与无效沟通成本。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我们的价值：用资源体系把 110 变成更高质量的 30，再把 30 推向可签约。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对森马：不是“多招几个人”，而是少走弯路——让每一次到访都更接近成交。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验证方式：先用首场沙龙与首批客户复访，检验真实转化，再放大合作。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沙龙带来的优质客群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沙龙不是活动成本，而是把信任关系变成招商线索的入口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109728" cy="16459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企业家 / 创始人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0574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AI、IP、文创、科技服务、设计研发类企业，具备迁址与扩张可能。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109728" cy="16459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投资机构 / 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574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基金、银行、产业资本，可反向带项目、带客户、带融资场景。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109728" cy="1645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3832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政府 / 协会平台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8862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产业部门、科协/科企联、商协会，形成政策与信用背书。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08960"/>
            <a:ext cx="54406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109728" cy="1645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高校 / 校友圈层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862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复旦、北大等校友与专家资源，增强专业可信度与传播性。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沙龙带来的优质客群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可计量的客群管道，而不是“热闹一场”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91440" cy="14173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年度沙龙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664207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6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76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主题招商，不是泛活动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91440" cy="14173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年度精准触达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664207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180+ 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76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6 场 × ≥30 客户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91440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质量对比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664207"/>
            <a:ext cx="3200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F244E"/>
                </a:solidFill>
                <a:latin typeface="微软雅黑"/>
                <a:ea typeface="微软雅黑"/>
              </a:rPr>
              <a:t>高于泛推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176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客群质量高于普通中介名单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926080"/>
          <a:ext cx="1092707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3977639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场次主题（示意）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联办资源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客群画像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AI + 潮玩 / 科技时尚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产业平台 + 科技资源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 / 内容科技中大型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潮玩出海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国际会客厅 + 影响力平台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出海 IP / 外贸型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投融资路演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产业基金 + 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有融资诉求的成长企业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设计与创意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高校 + 科企联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设计总部 / 创意机构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内容 IP · Z 世代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行业协会 + 产业平台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内容、直播、IP 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政策补贴 · 小镇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区级科创系统 + 学术平台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政策敏感型科技企业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沙龙带来的优质客群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从沙龙到签约：四步转化路径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2743200" cy="5029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场前邀约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定向名单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036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科企联资源池 + 精准客户清单 + 峰会/榜单 VIP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371600"/>
            <a:ext cx="2743200" cy="5029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3716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场中触达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1488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≥30 家/场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88036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主题匹配，天然过滤无效流量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场后复访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意向池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8036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到访元谷、政策匹配、方案比选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1371600"/>
            <a:ext cx="2743200" cy="5029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3716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签约转化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1488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可验证结果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288036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进入正式租赁谈判与落定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峰会 / 榜单 / 闭门会可形成二次复访，把“见过一面”变成“反复沟通”。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单场媒体曝光可同步发生，客群获客与品牌声量并行。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对资管侧：成果可追踪——名单、跟进、到访、签约，便于检验合作价值。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我们对项目的宣传作用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把元谷从“可出租空间”变成“可被报道、可被政府看见、可被企业引用的产业事件”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3611880" cy="8686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会前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37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主题包装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AI+IP / 科技时尚 / 政策申报服务包；媒体稿、案例文章、榜单与挂牌预热。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3611880" cy="86868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会中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现场转化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专属展位、闭门洽谈、企业需求登记；把声量当场变成线索。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611880" cy="868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会后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737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内容传播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6888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媒体稿、案例文章、榜单/挂牌、客户复访；持续降低后续解释成本。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54880"/>
            <a:ext cx="10927080" cy="1508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C87A"/>
                </a:solidFill>
                <a:latin typeface="微软雅黑"/>
                <a:ea typeface="微软雅黑"/>
              </a:rPr>
              <a:t>对陈总的价值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宣传不是“面子工程”，而是降低招商解释成本。客户看到政府、协会、专家、媒体共同出现，会更容易相信项目定位与未来产业氛围。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我们对项目的宣传作用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宣传闭环：活动造势 × 媒体放大 × 招商转化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2743200" cy="50292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① 挂牌立势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科企联 / 学术 / 产业平台牌照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10896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公信力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32588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325880"/>
            <a:ext cx="2743200" cy="5029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3258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② 沙龙造势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6 场产业主题活动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59" y="310896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310896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客群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2588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25880"/>
            <a:ext cx="2743200" cy="5029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258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③ 媒体放大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主流媒体 + 社交投放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10896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10896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声量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32588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1325880"/>
            <a:ext cx="2743200" cy="5029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3258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④ 招商转化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名单跟进 → 到访 → 签约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10896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结果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3931920"/>
          <a:ext cx="10927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48006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可选媒体模块（示意）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量级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原创内容（品牌/营销稿）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 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媒体总曝光预期 ≥150 万（可按服务包执行）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主流媒体宣发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10 篇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中央级 / 全国 / 上海媒体档位据实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社交信息流投放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抖音 / 头条等，上海区域精准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说明：媒体为可选模块，可与沙龙、挂牌独立决策；核心是用宣传服务招商结果，而不是为热闹买单。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合作落地建议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三步走：先用低成本启动资源闭环，再用签约结果证明价值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3611880" cy="1143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1 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8308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确认合作口径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19" y="2697480"/>
            <a:ext cx="201168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269748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本周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确定项目定位、授权边界、宣传口径、政策服务边界。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325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325880"/>
            <a:ext cx="3611880" cy="11430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2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78308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启动首场沙龙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1168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69748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2–3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围绕 AI+IP / 科技时尚 / 政策申报，邀请首批 30+ 有效客户。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611880" cy="1143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3 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客户复访与签约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697480"/>
            <a:ext cx="201168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69748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30–90 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918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形成意向客户清单、政策匹配表、复访计划、招商谈判排期。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建议给陈总的底线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森马不需要先相信所有结果，但要先启动一个可验证的合作试点；用首场沙龙 + 首批客户复访来检验真实转化。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08 · 合作价值总述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我们不是来卖活动，也不是简单做中介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10927080" cy="233172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C87A"/>
                </a:solidFill>
                <a:latin typeface="微软雅黑"/>
                <a:ea typeface="微软雅黑"/>
              </a:rPr>
              <a:t>正式价值主张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帮助森马把“空间出租”升级为“政策 + 圈层 + 宣传 + 招商”的闭环。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用外部资源降低获客成本、提高客户信任、加快签约转化。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611880" cy="1097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① 政策与申报路径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把企业入驻理由做实，合规前置、路径清晰。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8404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840480"/>
            <a:ext cx="3611880" cy="1097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1148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② 高质量圈层客群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70916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企业家、机构、协会、校友，把泛流量变成精准客户。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840480"/>
            <a:ext cx="36118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1148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③ 产业场景包装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70916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把元谷做成上海科技时尚产业场景，降低认知成本。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请陈总今天带走的四个判断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正式汇报版 · 致陈总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2103120" cy="9601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必要性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0876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不是替代资管，而是补齐政策、圈层、宣传三条腿；否则 110:1 的成本由项目自己扛。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39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77439"/>
            <a:ext cx="2103120" cy="9601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39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政策资源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606039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把政策申报能力变成入驻理由；合规前置，不做“包拿”承诺。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2103120" cy="960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沙龙客群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70332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6 场 × ≥30 = 180+ 精准触达；企业家/机构/协会/校友高信任客群。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2103120" cy="9601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宣传作用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把元谷从出租空间升级为可报道的产业事件，降低招商解释成本。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森马（上海）国际运营中心 · 元谷项目 · 合作必要性正式汇报 · 仅供商务沟通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8C87A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先启动可验证试点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再用结果决定放大节奏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本周：确认合作口径与授权边界；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2–3 周：启动首场沙龙（30+ 有效客户）；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30–90 天：客户复访、政策匹配、签约推进。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胡教授团队｜复旦大学住房政策研究中心 / 上海市科技企业联合会相关资源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