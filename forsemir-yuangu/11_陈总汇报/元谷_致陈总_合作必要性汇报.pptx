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C"/>
                </a:solidFill>
                <a:latin typeface="微软雅黑"/>
                <a:ea typeface="微软雅黑"/>
              </a:rPr>
              <a:t>森马（上海）国际运营中心 · 元谷项目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为什么需要我们一起做?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8C87A"/>
                </a:solidFill>
                <a:latin typeface="微软雅黑"/>
                <a:ea typeface="微软雅黑"/>
              </a:rPr>
              <a:t>合作必要性 · 政府政策资源 · 沙龙优质客群 · 项目宣传作用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657600"/>
            <a:ext cx="2011680" cy="73152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致：森马资管 陈总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CFD8E8"/>
                </a:solidFill>
                <a:latin typeface="微软雅黑"/>
                <a:ea typeface="微软雅黑"/>
              </a:rPr>
              <a:t>汇报方：胡教授团队（复旦大学住房政策研究中心 · 上海市科技企业联合会）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背景：已向森马董事长汇报；贵方知悉我方为上海科协体系团队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35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7A8CA8"/>
                </a:solidFill>
                <a:latin typeface="微软雅黑"/>
                <a:ea typeface="微软雅黑"/>
              </a:rPr>
              <a:t>仅用于商务沟通 · 第三方专业服务视角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今天只回答四个问题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致陈总 · 合作必要性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9270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1280160" cy="10058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280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618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合作必要性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9842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为什么不是自己招、而是必须一起做?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9270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560320"/>
            <a:ext cx="1280160" cy="100584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1280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761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政府政策资源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1272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科协/科企联体系能给项目什么真金白银?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109270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03320"/>
            <a:ext cx="1280160" cy="10058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1280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904487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沙龙优质客群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2702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活动不是热闹, 是可转化的客群管道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46320"/>
            <a:ext cx="109270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846320"/>
            <a:ext cx="1280160" cy="10058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1280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047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项目宣传作用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4132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我们如何把元谷做成『看得见的品牌』?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· 致森马资管陈总 · 合作必要性专场汇报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01 · 合作必要性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一句话：元谷要的不是『多一个人招租』，而是『少走 6–12 个月弯路』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致陈总 · 合作必要性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3949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39496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自己做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F0E8"/>
                </a:solidFill>
                <a:latin typeface="微软雅黑"/>
                <a:ea typeface="微软雅黑"/>
              </a:rPr>
              <a:t>常见路径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广撒网中介 + 熟人介绍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行业转化率约 110:1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政策申报靠企业自己摸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活动热闹, 难沉淀客户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品牌声量靠零散发稿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3949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394960" cy="7772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41732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与我们合作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F0E8"/>
                </a:solidFill>
                <a:latin typeface="微软雅黑"/>
                <a:ea typeface="微软雅黑"/>
              </a:rPr>
              <a:t>加速路径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1E8E5A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精准客群 + 政府通道并行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1E8E5A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把 110:1 压到可运营区间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1E8E5A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高新/专精特新等代办陪跑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1E8E5A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沙龙即招商, 单场 ≥30 客户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1E8E5A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活动造势 + 媒体放大闭环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· 致森马资管陈总 · 合作必要性专场汇报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01 · 合作必要性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核心证据：行业 110:1 客群漏斗 —— 自己招，成本在『看不见的地方』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致陈总 · 合作必要性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91440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721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行业转化基准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4650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110 :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402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触达 110 家 ≈ 签 1 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3258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25880"/>
            <a:ext cx="91440" cy="14173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721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大户策略效率差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4650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× 5 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1 家大户 ≫ 10 家小户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258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25880"/>
            <a:ext cx="91440" cy="14173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4721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我方压缩路径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74650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数据 + 政策 + 沙龙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402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把漏斗从『碰运气』变『可运营』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971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漏斗示意（产业园区招商常见结构）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383280"/>
            <a:ext cx="3108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383280"/>
            <a:ext cx="3108960" cy="109728"/>
          </a:xfrm>
          <a:prstGeom prst="rect">
            <a:avLst/>
          </a:prstGeom>
          <a:solidFill>
            <a:srgbClr val="667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61188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67086"/>
                </a:solidFill>
                <a:latin typeface="微软雅黑"/>
                <a:ea typeface="微软雅黑"/>
              </a:rPr>
              <a:t>触达层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977639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F244E"/>
                </a:solidFill>
                <a:latin typeface="微软雅黑"/>
                <a:ea typeface="微软雅黑"/>
              </a:rPr>
              <a:t>110+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6634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广撒网 / 中介名单 / 陌生拜访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86200" y="338328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86200" y="3383280"/>
            <a:ext cx="2651760" cy="1097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36118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67086"/>
                </a:solidFill>
                <a:latin typeface="微软雅黑"/>
                <a:ea typeface="微软雅黑"/>
              </a:rPr>
              <a:t>意向层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3977639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F244E"/>
                </a:solidFill>
                <a:latin typeface="微软雅黑"/>
                <a:ea typeface="微软雅黑"/>
              </a:rPr>
              <a:t>20-30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663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到访、看房、要方案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3383280"/>
            <a:ext cx="22860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0" y="3383280"/>
            <a:ext cx="2286000" cy="109728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67086"/>
                </a:solidFill>
                <a:latin typeface="微软雅黑"/>
                <a:ea typeface="微软雅黑"/>
              </a:rPr>
              <a:t>谈判层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3977639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F244E"/>
                </a:solidFill>
                <a:latin typeface="微软雅黑"/>
                <a:ea typeface="微软雅黑"/>
              </a:rPr>
              <a:t>5-8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66344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比租金、比政策、比配套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3383280"/>
            <a:ext cx="2011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3383280"/>
            <a:ext cx="2011680" cy="1097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36118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67086"/>
                </a:solidFill>
                <a:latin typeface="微软雅黑"/>
                <a:ea typeface="微软雅黑"/>
              </a:rPr>
              <a:t>签约层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977639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F244E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6634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真正落定的成功客群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结论：2 万方若走小户路线，相当于要跑数百上千次触达；合作价值不在『多招几家』，而在『用更短路径筛出付租能力强的成功客群』。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· 致森马资管陈总 · 合作必要性专场汇报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01 · 合作必要性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我们补的是森马资管『自有招商』最难补的四块短板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致陈总 · 合作必要性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440680" cy="109728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政府通道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94560"/>
            <a:ext cx="4206240" cy="36576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科协 / 科企联 / 闵行专项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高新、专精特新、创新券、小镇政策 —— 企业愿意为『能办成事』而来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440680" cy="1097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91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精准客群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194560"/>
            <a:ext cx="4206240" cy="36576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仲量联行爬楼大数据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4320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200+ 家画像清单，转化率约 +30%，把 110:1 往下压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0332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03320"/>
            <a:ext cx="5440680" cy="1097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2335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活动获客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526280"/>
            <a:ext cx="4206240" cy="36576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2628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6 场产业沙龙 + 峰会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单场 ≥30 目标客户，活动不是热闹，是签约管道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70332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703320"/>
            <a:ext cx="5440680" cy="1097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02335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E"/>
                </a:solidFill>
                <a:latin typeface="微软雅黑"/>
                <a:ea typeface="微软雅黑"/>
              </a:rPr>
              <a:t>品牌立势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526280"/>
            <a:ext cx="4206240" cy="3657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52628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挂牌 + 媒体放大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7492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权威背书 + 曝光蓄势，让元谷在开业前就『被看见』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· 致森马资管陈总 · 合作必要性专场汇报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02 · 政府政策资源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我们不是『介绍政策』，而是『能对接、能申报、能落地』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致陈总 · 合作必要性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身份前提：上海科协体系团队 · 上海市科技企业联合会 · 复旦大学住房政策研究中心（董事长汇报时已说明）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0927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28016" cy="91440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96596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上海市科企联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084832"/>
            <a:ext cx="2194560" cy="402336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084832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产业组织通道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846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元谷产业基地挂牌候选；科技企业资源池与活动联办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10927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880360"/>
            <a:ext cx="128016" cy="9144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01752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闵行 / 区级专项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3136391"/>
            <a:ext cx="2194560" cy="402336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136391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属地政策落地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4846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对接科委、商务、街道；特色小镇与文创扶持线索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10927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931920"/>
            <a:ext cx="128016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06908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复旦学术平台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4187952"/>
            <a:ext cx="2194560" cy="40233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4187952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公信力背书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14800"/>
            <a:ext cx="4846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住房政策研究中心 · 元谷分中心；智库活动与课题联动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983479"/>
            <a:ext cx="10927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983479"/>
            <a:ext cx="128016" cy="9144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12064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申报陪跑能力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5239512"/>
            <a:ext cx="2194560" cy="40233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5239512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企业真金白银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66359"/>
            <a:ext cx="4846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高新、专精特新、创新券等 —— 客户因政策而来、因落地而留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· 致森马资管陈总 · 合作必要性专场汇报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02 · 政府政策资源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政策申报端：把『政策故事』变成客户决策理由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致陈总 · 合作必要性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2708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474720"/>
                <a:gridCol w="434340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政策类型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对企业的价值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对元谷招商的作用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高新技术企业认定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税率优惠 / 资质背书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吸引有成长诉求的科技企业入驻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专精特新 / 小巨人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专项支持与品牌势能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锁定优质中型产业客户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创新券 / 研发补贴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直接降本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缩短看房到签约的决策周期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闵行区文创 / 小镇专项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属地扶持与落地配套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强化大零号湾区位政策叙事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算力 / 产业基金返投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资本与算力驱动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AI 主轴客户『带着资源来』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5120640"/>
            <a:ext cx="10927080" cy="6400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27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对陈总：政策不是附属服务，而是提升转化率的『硬弹药』—— 同一套房，谁能帮客户办成事，谁就先签下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配合 IP+AI 双轨：AI 侧吃透政策与资本，IP 侧兼顾文化叙事，避免纯二次元难拿政策的困局。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· 致森马资管陈总 · 合作必要性专场汇报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沙龙优质客群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沙龙不是『办活动』，而是可计量的优质客群入口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致陈总 · 合作必要性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91440" cy="13716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721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年度沙龙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4650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6 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402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主题招商，不是泛活动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32588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25880"/>
            <a:ext cx="91440" cy="137160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721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单场目标客户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4650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≥ 30 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产业相关、可跟进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2588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25880"/>
            <a:ext cx="91440" cy="13716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4721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年度直接成果预期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74650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5–12 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402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可进入谈判的成果客户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2926080"/>
          <a:ext cx="109270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108960"/>
                <a:gridCol w="3200400"/>
                <a:gridCol w="370332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场次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联办方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客群画像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AI + 潮玩（借势峰会）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中动漫 + 腾讯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AI/内容科技中大型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#2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潮玩出海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北欧会客厅 + 福布斯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出海 IP / 外贸型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投融资路演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产业基金 + 银行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有融资诉求的成长企业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#4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设计与创意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交大 + 科企联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设计总部 / 创意机构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内容 IP · Z 世代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中百协 + 中动漫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内容、直播、IP 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#6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政策补贴 · 小镇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闵行科协 + 复旦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政策敏感型科技企业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· 致森马资管陈总 · 合作必要性专场汇报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沙龙优质客群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把 110:1 接到沙龙上：每一场都在『预筛选』成功客群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致陈总 · 合作必要性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2743200" cy="5029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场前邀约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定向名单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1752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科企联资源池 + 爬楼清单 + 峰会 VIP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5603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27E2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41732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1417320"/>
            <a:ext cx="2743200" cy="50292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141732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场中触达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9" y="21945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≥30 家/场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01752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主题匹配，天然过滤无效流量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5603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27E2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1732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417320"/>
            <a:ext cx="2743200" cy="5029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场后跟进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1945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意向池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1752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到访元谷、政策对接、方案比选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5603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27E2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59" y="141732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59" y="1417320"/>
            <a:ext cx="2743200" cy="5029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59" y="141732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签约转化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21945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5–12 家/年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39" y="301752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进入正式租赁谈判与落定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091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另借 5·22 AI 商业化峰会：200+ VIP 一天集中触达，嘉宾可转入沙龙 #1；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单场媒体曝光预期 ≥100 万次 —— 客群获客与品牌声量同步发生；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对资管侧：沙龙费用可单独结算，成果可追踪（名单、跟进、到访、签约）。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· 致森马资管陈总 · 合作必要性专场汇报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项目宣传作用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我们帮元谷做的，不只是『发稿』，而是『招商前的立势』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致陈总 · 合作必要性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67665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128016" cy="196596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权威背书层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中央级 / 财经 / 上海主流媒体定调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6126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67086"/>
                </a:solidFill>
                <a:latin typeface="微软雅黑"/>
                <a:ea typeface="微软雅黑"/>
              </a:rPr>
              <a:t>央视新闻、人民网、新华网、第一财经、解放日报、上观、闵行区政府网等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67665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128016" cy="196596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0332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流量触达层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8B8B"/>
                </a:solidFill>
                <a:latin typeface="微软雅黑"/>
                <a:ea typeface="微软雅黑"/>
              </a:rPr>
              <a:t>抖音 + 今日头条信息流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6126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67086"/>
                </a:solidFill>
                <a:latin typeface="微软雅黑"/>
                <a:ea typeface="微软雅黑"/>
              </a:rPr>
              <a:t>上海区域精准投放，为招商铺认知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5544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8C87A"/>
                </a:solidFill>
                <a:latin typeface="微软雅黑"/>
                <a:ea typeface="微软雅黑"/>
              </a:rPr>
              <a:t>宣传对招商的价值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103120"/>
            <a:ext cx="3520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250" b="0">
                <a:solidFill>
                  <a:srgbClr val="E5EBF5"/>
                </a:solidFill>
                <a:latin typeface="微软雅黑"/>
                <a:ea typeface="微软雅黑"/>
              </a:rPr>
              <a:t>开业前先建立『可信项目』认知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250" b="0">
                <a:solidFill>
                  <a:srgbClr val="E5EBF5"/>
                </a:solidFill>
                <a:latin typeface="微软雅黑"/>
                <a:ea typeface="微软雅黑"/>
              </a:rPr>
              <a:t>重大节点（9/30、5/1）集中爆发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250" b="0">
                <a:solidFill>
                  <a:srgbClr val="E5EBF5"/>
                </a:solidFill>
                <a:latin typeface="微软雅黑"/>
                <a:ea typeface="微软雅黑"/>
              </a:rPr>
              <a:t>挂牌 + 沙龙 + 媒体形成闭环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250" b="0">
                <a:solidFill>
                  <a:srgbClr val="E5EBF5"/>
                </a:solidFill>
                <a:latin typeface="微软雅黑"/>
                <a:ea typeface="微软雅黑"/>
              </a:rPr>
              <a:t>声量可转化为看房线索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250" b="0">
                <a:solidFill>
                  <a:srgbClr val="E5EBF5"/>
                </a:solidFill>
                <a:latin typeface="微软雅黑"/>
                <a:ea typeface="微软雅黑"/>
              </a:rPr>
              <a:t>降低客户对『新盘』的顾虑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· 致森马资管陈总 · 合作必要性专场汇报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项目宣传作用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宣传闭环：活动造势 × 媒体放大 × 招商转化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致陈总 · 合作必要性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2743200" cy="4572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① 挂牌立势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科企联 / 复旦 / 产业基地等牌照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3063240"/>
            <a:ext cx="1737360" cy="32004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063240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公信力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37160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1371600"/>
            <a:ext cx="2743200" cy="45720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13716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② 沙龙造势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9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6 场产业主题活动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59" y="3063240"/>
            <a:ext cx="1737360" cy="32004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59" y="3063240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客群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2743200" cy="4572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③ 媒体放大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主流媒体 + 社交投放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063240"/>
            <a:ext cx="1737360" cy="32004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063240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声量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59" y="137160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59" y="1371600"/>
            <a:ext cx="2743200" cy="45720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59" y="13716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④ 招商转化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名单跟进 → 到访 → 签约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3063240"/>
            <a:ext cx="1737360" cy="32004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3063240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结果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" y="3840480"/>
          <a:ext cx="10927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  <a:gridCol w="48006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可选媒体模块（示意）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量级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原创内容（品牌/营销稿）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3 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折后约 5 万；媒体总曝光预期 ≥150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主流媒体宣发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约 10 篇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中央级 / 全国 / 上海媒体档位据实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社交信息流投放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抖音 / 头条，上海区域精准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说明：媒体为可选模块，可与沙龙、挂牌独立决策；核心仍是用宣传服务招商结果，而不是为热闹买单。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· 致森马资管陈总 · 合作必要性专场汇报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请陈总今天带走的四个判断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致陈总 · 合作必要性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27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2011680" cy="9601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2011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必要性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54480"/>
            <a:ext cx="8321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不是替代资管，而是补齐政策、客群、立势三条腿；否则 110:1 的成本由项目自己扛。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23160"/>
            <a:ext cx="10927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23160"/>
            <a:ext cx="2011680" cy="96012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23160"/>
            <a:ext cx="2011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政策资源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51760"/>
            <a:ext cx="8321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科协/科企联体系 + 申报陪跑，是客户『愿不愿意来』的关键砝码。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20439"/>
            <a:ext cx="10927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20439"/>
            <a:ext cx="2011680" cy="9601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20439"/>
            <a:ext cx="2011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沙龙客群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49039"/>
            <a:ext cx="8321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6 场 × ≥30 家 = 可追踪的优质管道，预期 5–12 家直接成果。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10927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17720"/>
            <a:ext cx="2011680" cy="9601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2011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宣传作用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846320"/>
            <a:ext cx="8321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挂牌 + 沙龙 + 媒体闭环，让元谷在开业前就被市场看见、被客户信任。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· 致森马资管陈总 · 合作必要性专场汇报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8C87A"/>
                </a:solidFill>
                <a:latin typeface="微软雅黑"/>
                <a:ea typeface="微软雅黑"/>
              </a:rPr>
              <a:t>下一步建议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先对齐『合作必要性』，再谈执行细节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若陈总认可四条逻辑：可进入沙龙排期、政策对接清单、首批客群名单对齐；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费用结构已按『轻负担』设计（无月费、无对赌），细节可另场展开；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感谢陈总时间。我们准备好把元谷做成『招得进、留得住、叫得响』的项目。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