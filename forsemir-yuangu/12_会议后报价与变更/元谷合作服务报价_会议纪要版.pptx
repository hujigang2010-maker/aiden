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1188720"/>
            <a:ext cx="2926080" cy="38404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188720"/>
            <a:ext cx="29260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会议纪要后报价版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B9C6DC"/>
                </a:solidFill>
                <a:latin typeface="微软雅黑"/>
                <a:ea typeface="微软雅黑"/>
              </a:rPr>
              <a:t>森马（上海）国际运营中心 · 元谷项目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3600" b="1">
                <a:solidFill>
                  <a:srgbClr val="FFFFFF"/>
                </a:solidFill>
                <a:latin typeface="微软雅黑"/>
                <a:ea typeface="微软雅黑"/>
              </a:rPr>
              <a:t>合作服务报价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9184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E8C87A"/>
                </a:solidFill>
                <a:latin typeface="微软雅黑"/>
                <a:ea typeface="微软雅黑"/>
              </a:rPr>
              <a:t>轻启动 · 阶段验证 · 结果导向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CFD8E8"/>
                </a:solidFill>
                <a:latin typeface="微软雅黑"/>
                <a:ea typeface="微软雅黑"/>
              </a:rPr>
              <a:t>沙龙试点 / 招商佣金 / 挂牌 / 政策服务 / 媒体可选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8463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CFD8E8"/>
                </a:solidFill>
                <a:latin typeface="微软雅黑"/>
                <a:ea typeface="微软雅黑"/>
              </a:rPr>
              <a:t>胡教授团队｜复旦大学住房政策研究中心 / 上海市科技企业联合会相关资源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9FB2D0"/>
                </a:solidFill>
                <a:latin typeface="微软雅黑"/>
                <a:ea typeface="微软雅黑"/>
              </a:rPr>
              <a:t>呈：森马资管相关负责人  ·  第三方专业服务报价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126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7A8CA8"/>
                </a:solidFill>
                <a:latin typeface="微软雅黑"/>
                <a:ea typeface="微软雅黑"/>
              </a:rPr>
              <a:t>依据合作方案讨论会沟通共识整理 · 仅供商务沟通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01 · 报价总览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8961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本期合作：先试点、再放大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201168"/>
            <a:ext cx="2651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300"/>
              </a:spcAft>
            </a:pPr>
            <a:r>
              <a:rPr sz="120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Aft>
                <a:spcPts val="300"/>
              </a:spcAft>
            </a:pPr>
            <a:r>
              <a:rPr sz="900" b="0">
                <a:solidFill>
                  <a:srgbClr val="B9C6DC"/>
                </a:solidFill>
                <a:latin typeface="微软雅黑"/>
                <a:ea typeface="微软雅黑"/>
              </a:rPr>
              <a:t>报价 · 会议纪要版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280160"/>
            <a:ext cx="27432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280160"/>
            <a:ext cx="91440" cy="1417320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408176"/>
            <a:ext cx="2423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沙龙试点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1664207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0F244E"/>
                </a:solidFill>
                <a:latin typeface="微软雅黑"/>
                <a:ea typeface="微软雅黑"/>
              </a:rPr>
              <a:t>3 场 / 一期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2194560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67086"/>
                </a:solidFill>
                <a:latin typeface="微软雅黑"/>
                <a:ea typeface="微软雅黑"/>
              </a:rPr>
              <a:t>建议执行费 15 万元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6160" y="1280160"/>
            <a:ext cx="27432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66160" y="1280160"/>
            <a:ext cx="91440" cy="1417320"/>
          </a:xfrm>
          <a:prstGeom prst="rect">
            <a:avLst/>
          </a:prstGeom>
          <a:solidFill>
            <a:srgbClr val="18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67328" y="1408176"/>
            <a:ext cx="2423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招商佣金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67328" y="1664207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0F244E"/>
                </a:solidFill>
                <a:latin typeface="微软雅黑"/>
                <a:ea typeface="微软雅黑"/>
              </a:rPr>
              <a:t>1.5 个月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67328" y="2194560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67086"/>
                </a:solidFill>
                <a:latin typeface="微软雅黑"/>
                <a:ea typeface="微软雅黑"/>
              </a:rPr>
              <a:t>渠道成交年租金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1280160"/>
            <a:ext cx="26517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92240" y="1280160"/>
            <a:ext cx="91440" cy="141732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93407" y="1408176"/>
            <a:ext cx="2331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挂牌(建议)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93407" y="1664207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0F244E"/>
                </a:solidFill>
                <a:latin typeface="微软雅黑"/>
                <a:ea typeface="微软雅黑"/>
              </a:rPr>
              <a:t>至少 1 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93407" y="219456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67086"/>
                </a:solidFill>
                <a:latin typeface="微软雅黑"/>
                <a:ea typeface="微软雅黑"/>
              </a:rPr>
              <a:t>约 10 万元/项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0" y="1280160"/>
            <a:ext cx="22402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326880" y="1280160"/>
            <a:ext cx="91440" cy="141732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28048" y="1408176"/>
            <a:ext cx="1920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启动现金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28048" y="1664207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0F244E"/>
                </a:solidFill>
                <a:latin typeface="微软雅黑"/>
                <a:ea typeface="微软雅黑"/>
              </a:rPr>
              <a:t>约 25 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28048" y="219456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67086"/>
                </a:solidFill>
                <a:latin typeface="微软雅黑"/>
                <a:ea typeface="微软雅黑"/>
              </a:rPr>
              <a:t>3 场沙龙+1 项挂牌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640080" y="2926080"/>
          <a:ext cx="10927080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114800"/>
                <a:gridCol w="1737360"/>
                <a:gridCol w="25146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服务模块</a:t>
                      </a:r>
                    </a:p>
                  </a:txBody>
                  <a:tcPr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本期报价 / 标准</a:t>
                      </a:r>
                    </a:p>
                  </a:txBody>
                  <a:tcPr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必选/可选</a:t>
                      </a:r>
                    </a:p>
                  </a:txBody>
                  <a:tcPr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结算节点</a:t>
                      </a:r>
                    </a:p>
                  </a:txBody>
                  <a:tcPr>
                    <a:solidFill>
                      <a:srgbClr val="0F244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沙龙执行（试点一期）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3 场打包 15 万元（可按场结算）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建议必选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启动付 50% / 第 3 场后付 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招商佣金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实际成交年租金 × 1.5 个月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成交后结算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起租后 30 日内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挂牌服务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10 万元/项；本期建议至少 1 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建议至少 1 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挂牌前一次性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政策服务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园区专项落地奖 5–10 万；企业兑现按执行额抽成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建议纳入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成果确认后结算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媒体支持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打包示意 12 万元（≥300 万传播量）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可选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按选定包结算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超额奖励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按我方贡献成交面积细化，不按整盘粗放计提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可选/后议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阶段考核后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</a:tr>
            </a:tbl>
          </a:graphicData>
        </a:graphic>
      </p:graphicFrame>
      <p:sp>
        <p:nvSpPr>
          <p:cNvPr id="30" name="Rectangle 2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6656832"/>
            <a:ext cx="932688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元谷合作服务报价 · 会议纪要版 · 仅供商务沟通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98480" y="6656832"/>
            <a:ext cx="10058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02 · 合作原则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8961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费用按“招商基础设施投入”理解，节奏按“阶段验证”推进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201168"/>
            <a:ext cx="2651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300"/>
              </a:spcAft>
            </a:pPr>
            <a:r>
              <a:rPr sz="120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Aft>
                <a:spcPts val="300"/>
              </a:spcAft>
            </a:pPr>
            <a:r>
              <a:rPr sz="900" b="0">
                <a:solidFill>
                  <a:srgbClr val="B9C6DC"/>
                </a:solidFill>
                <a:latin typeface="微软雅黑"/>
                <a:ea typeface="微软雅黑"/>
              </a:rPr>
              <a:t>报价 · 会议纪要版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371600"/>
            <a:ext cx="274320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371600"/>
            <a:ext cx="2743200" cy="1005840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630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FFF0E0"/>
                </a:solidFill>
                <a:latin typeface="微软雅黑"/>
                <a:ea typeface="微软雅黑"/>
              </a:rPr>
              <a:t>轻启动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874519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不一口气买断全年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2697480"/>
            <a:ext cx="23774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212B42"/>
                </a:solidFill>
                <a:latin typeface="微软雅黑"/>
                <a:ea typeface="微软雅黑"/>
              </a:rPr>
              <a:t>先做 3 场沙龙试点，再决定是否续做后三场。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20439" y="1371600"/>
            <a:ext cx="274320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39" y="1371600"/>
            <a:ext cx="2743200" cy="1005840"/>
          </a:xfrm>
          <a:prstGeom prst="rect">
            <a:avLst/>
          </a:prstGeom>
          <a:solidFill>
            <a:srgbClr val="18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39" y="14630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FFF0E0"/>
                </a:solidFill>
                <a:latin typeface="微软雅黑"/>
                <a:ea typeface="微软雅黑"/>
              </a:rPr>
              <a:t>结果导向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599" y="1874519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设明确落地考核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2697480"/>
            <a:ext cx="23774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212B42"/>
                </a:solidFill>
                <a:latin typeface="微软雅黑"/>
                <a:ea typeface="微软雅黑"/>
              </a:rPr>
              <a:t>试点期考核：至少 1 家企业落地，再推进下一期。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371600"/>
            <a:ext cx="274320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1371600"/>
            <a:ext cx="2743200" cy="100584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4630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FFF0E0"/>
                </a:solidFill>
                <a:latin typeface="微软雅黑"/>
                <a:ea typeface="微软雅黑"/>
              </a:rPr>
              <a:t>佣金平衡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1874519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统一 1.5 个月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697480"/>
            <a:ext cx="23774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212B42"/>
                </a:solidFill>
                <a:latin typeface="微软雅黑"/>
                <a:ea typeface="微软雅黑"/>
              </a:rPr>
              <a:t>符合市场水平，兼顾积极性与租金竞争力。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81159" y="1371600"/>
            <a:ext cx="274320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81159" y="1371600"/>
            <a:ext cx="2743200" cy="100584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81159" y="14630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FFF0E0"/>
                </a:solidFill>
                <a:latin typeface="微软雅黑"/>
                <a:ea typeface="微软雅黑"/>
              </a:rPr>
              <a:t>政策单列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19" y="1874519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不只是附赠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4039" y="2697480"/>
            <a:ext cx="23774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212B42"/>
                </a:solidFill>
                <a:latin typeface="微软雅黑"/>
                <a:ea typeface="微软雅黑"/>
              </a:rPr>
              <a:t>园区专项政策 + 企业政策兑现，设成果激励。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6656832"/>
            <a:ext cx="932688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元谷合作服务报价 · 会议纪要版 · 仅供商务沟通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98480" y="6656832"/>
            <a:ext cx="10058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03 · 沙龙执行报价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8961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试点一期：3 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201168"/>
            <a:ext cx="2651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300"/>
              </a:spcAft>
            </a:pPr>
            <a:r>
              <a:rPr sz="120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Aft>
                <a:spcPts val="300"/>
              </a:spcAft>
            </a:pPr>
            <a:r>
              <a:rPr sz="900" b="0">
                <a:solidFill>
                  <a:srgbClr val="B9C6DC"/>
                </a:solidFill>
                <a:latin typeface="微软雅黑"/>
                <a:ea typeface="微软雅黑"/>
              </a:rPr>
              <a:t>报价 · 会议纪要版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280160"/>
            <a:ext cx="35204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280160"/>
            <a:ext cx="91440" cy="1371600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408176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试点场次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1664207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0F244E"/>
                </a:solidFill>
                <a:latin typeface="微软雅黑"/>
                <a:ea typeface="微软雅黑"/>
              </a:rPr>
              <a:t>3 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219456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67086"/>
                </a:solidFill>
                <a:latin typeface="微软雅黑"/>
                <a:ea typeface="微软雅黑"/>
              </a:rPr>
              <a:t>不以 6 场一次性打包启动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280160"/>
            <a:ext cx="35204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280160"/>
            <a:ext cx="91440" cy="1371600"/>
          </a:xfrm>
          <a:prstGeom prst="rect">
            <a:avLst/>
          </a:prstGeom>
          <a:solidFill>
            <a:srgbClr val="18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4568" y="1408176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建议执行费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1664207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0F244E"/>
                </a:solidFill>
                <a:latin typeface="微软雅黑"/>
                <a:ea typeface="微软雅黑"/>
              </a:rPr>
              <a:t>15 万元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219456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67086"/>
                </a:solidFill>
                <a:latin typeface="微软雅黑"/>
                <a:ea typeface="微软雅黑"/>
              </a:rPr>
              <a:t>按原 6 场 30 万对半折算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1280160"/>
            <a:ext cx="35204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280160"/>
            <a:ext cx="91440" cy="137160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7888" y="1408176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试点考核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1664207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0F244E"/>
                </a:solidFill>
                <a:latin typeface="微软雅黑"/>
                <a:ea typeface="微软雅黑"/>
              </a:rPr>
              <a:t>≥1 家落地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19456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67086"/>
                </a:solidFill>
                <a:latin typeface="微软雅黑"/>
                <a:ea typeface="微软雅黑"/>
              </a:rPr>
              <a:t>完成后再启动下一期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40080" y="2880360"/>
          <a:ext cx="109270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572000"/>
                <a:gridCol w="434340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说明</a:t>
                      </a:r>
                    </a:p>
                  </a:txBody>
                  <a:tcPr>
                    <a:solidFill>
                      <a:srgbClr val="0F24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单场目标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到场目标产业客户 ≥30 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企业家/机构/协会/校友等高信任客群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费用构成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沙龙策划、邀约、主持、转化跟进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场地与基础会务保障由园区侧配合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支付方式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启动付 50%（7.5 万）/ 第 3 场完成后付 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也可按场 5 万元结算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续做条件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试点期至少 1 家企业落地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达标后启动后 3 场（费用另议/同比）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历史参考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今年约 3 场 · 邀约约 120 人 · 成交约 3 户 · 约 2,000㎡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用于理解转化节奏，不作为承诺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Rectangle 2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656832"/>
            <a:ext cx="932688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元谷合作服务报价 · 会议纪要版 · 仅供商务沟通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6656832"/>
            <a:ext cx="10058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04 · 招商佣金报价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8961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统一按 1.5 个月租金结算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201168"/>
            <a:ext cx="2651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300"/>
              </a:spcAft>
            </a:pPr>
            <a:r>
              <a:rPr sz="120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Aft>
                <a:spcPts val="300"/>
              </a:spcAft>
            </a:pPr>
            <a:r>
              <a:rPr sz="900" b="0">
                <a:solidFill>
                  <a:srgbClr val="B9C6DC"/>
                </a:solidFill>
                <a:latin typeface="微软雅黑"/>
                <a:ea typeface="微软雅黑"/>
              </a:rPr>
              <a:t>报价 · 会议纪要版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280160"/>
            <a:ext cx="1092708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280160"/>
            <a:ext cx="109728" cy="1554480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417320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F244E"/>
                </a:solidFill>
                <a:latin typeface="微软雅黑"/>
                <a:ea typeface="微软雅黑"/>
              </a:rPr>
              <a:t>结算标准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920240"/>
            <a:ext cx="10241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27E2D"/>
                </a:solidFill>
                <a:latin typeface="微软雅黑"/>
                <a:ea typeface="微软雅黑"/>
              </a:rPr>
              <a:t>招商佣金 = 实际成交年租金 × 1.5 个月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67086"/>
                </a:solidFill>
                <a:latin typeface="微软雅黑"/>
                <a:ea typeface="微软雅黑"/>
              </a:rPr>
              <a:t>年租金 = 成交单价 × 面积 × 365（以合同载明为准）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0080" y="3063240"/>
          <a:ext cx="109270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873252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规则</a:t>
                      </a:r>
                    </a:p>
                  </a:txBody>
                  <a:tcPr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口径</a:t>
                      </a:r>
                    </a:p>
                  </a:txBody>
                  <a:tcPr>
                    <a:solidFill>
                      <a:srgbClr val="0F24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适用对象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经我方渠道提报、跟进并促成成交的客户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不适用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园区自有团队、已备案的既有意向客户、政府直接导入且我方未实质跟进的客户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支付时点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租赁合同签订且租户起租后 30 日内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租金平衡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佣金纳入整体租金成本考量；统一 1.5 个月，避免推高租金影响去化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测算示例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若单户年租金 200 万，则佣金约 25 万；10 户量级即可显著覆盖试点投入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656832"/>
            <a:ext cx="932688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元谷合作服务报价 · 会议纪要版 · 仅供商务沟通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656832"/>
            <a:ext cx="10058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05 · 挂牌与媒体报价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8961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挂牌建议启动；媒体按需选配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201168"/>
            <a:ext cx="2651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300"/>
              </a:spcAft>
            </a:pPr>
            <a:r>
              <a:rPr sz="120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Aft>
                <a:spcPts val="300"/>
              </a:spcAft>
            </a:pPr>
            <a:r>
              <a:rPr sz="900" b="0">
                <a:solidFill>
                  <a:srgbClr val="B9C6DC"/>
                </a:solidFill>
                <a:latin typeface="微软雅黑"/>
                <a:ea typeface="微软雅黑"/>
              </a:rPr>
              <a:t>报价 · 会议纪要版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280160"/>
            <a:ext cx="548640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280160"/>
            <a:ext cx="5486400" cy="50292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280160"/>
            <a:ext cx="5029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挂牌服务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01168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50" b="1">
                <a:solidFill>
                  <a:srgbClr val="F27E2D"/>
                </a:solidFill>
                <a:latin typeface="微软雅黑"/>
                <a:ea typeface="微软雅黑"/>
              </a:rPr>
              <a:t>● </a:t>
            </a:r>
            <a:r>
              <a:rPr sz="1350" b="0">
                <a:solidFill>
                  <a:srgbClr val="212B42"/>
                </a:solidFill>
                <a:latin typeface="微软雅黑"/>
                <a:ea typeface="微软雅黑"/>
              </a:rPr>
              <a:t>标准：10 万元/项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F27E2D"/>
                </a:solidFill>
                <a:latin typeface="微软雅黑"/>
                <a:ea typeface="微软雅黑"/>
              </a:rPr>
              <a:t>● </a:t>
            </a:r>
            <a:r>
              <a:rPr sz="1350" b="0">
                <a:solidFill>
                  <a:srgbClr val="212B42"/>
                </a:solidFill>
                <a:latin typeface="微软雅黑"/>
                <a:ea typeface="微软雅黑"/>
              </a:rPr>
              <a:t>本期建议：至少挂 1 项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F27E2D"/>
                </a:solidFill>
                <a:latin typeface="微软雅黑"/>
                <a:ea typeface="微软雅黑"/>
              </a:rPr>
              <a:t>● </a:t>
            </a:r>
            <a:r>
              <a:rPr sz="1350" b="0">
                <a:solidFill>
                  <a:srgbClr val="212B42"/>
                </a:solidFill>
                <a:latin typeface="微软雅黑"/>
                <a:ea typeface="微软雅黑"/>
              </a:rPr>
              <a:t>优先方向：上海市科协/科委相关牌照（如科技企业服务中心）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F27E2D"/>
                </a:solidFill>
                <a:latin typeface="微软雅黑"/>
                <a:ea typeface="微软雅黑"/>
              </a:rPr>
              <a:t>● </a:t>
            </a:r>
            <a:r>
              <a:rPr sz="1350" b="0">
                <a:solidFill>
                  <a:srgbClr val="212B42"/>
                </a:solidFill>
                <a:latin typeface="微软雅黑"/>
                <a:ea typeface="微软雅黑"/>
              </a:rPr>
              <a:t>价值：提升园区信誉度与企业服务能力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F27E2D"/>
                </a:solidFill>
                <a:latin typeface="微软雅黑"/>
                <a:ea typeface="微软雅黑"/>
              </a:rPr>
              <a:t>● </a:t>
            </a:r>
            <a:r>
              <a:rPr sz="1350" b="0">
                <a:solidFill>
                  <a:srgbClr val="212B42"/>
                </a:solidFill>
                <a:latin typeface="微软雅黑"/>
                <a:ea typeface="微软雅黑"/>
              </a:rPr>
              <a:t>支付：挂牌前一次性付清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F27E2D"/>
                </a:solidFill>
                <a:latin typeface="微软雅黑"/>
                <a:ea typeface="微软雅黑"/>
              </a:rPr>
              <a:t>● </a:t>
            </a:r>
            <a:r>
              <a:rPr sz="1350" b="0">
                <a:solidFill>
                  <a:srgbClr val="212B42"/>
                </a:solidFill>
                <a:latin typeface="微软雅黑"/>
                <a:ea typeface="微软雅黑"/>
              </a:rPr>
              <a:t>有效性：长期挂牌使用（按牌照规则执行）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280160"/>
            <a:ext cx="521208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1280160"/>
            <a:ext cx="5212080" cy="502920"/>
          </a:xfrm>
          <a:prstGeom prst="rect">
            <a:avLst/>
          </a:prstGeom>
          <a:solidFill>
            <a:srgbClr val="18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280160"/>
            <a:ext cx="4754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媒体支持（可选）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0116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50" b="1">
                <a:solidFill>
                  <a:srgbClr val="F27E2D"/>
                </a:solidFill>
                <a:latin typeface="微软雅黑"/>
                <a:ea typeface="微软雅黑"/>
              </a:rPr>
              <a:t>● </a:t>
            </a:r>
            <a:r>
              <a:rPr sz="1350" b="0">
                <a:solidFill>
                  <a:srgbClr val="212B42"/>
                </a:solidFill>
                <a:latin typeface="微软雅黑"/>
                <a:ea typeface="微软雅黑"/>
              </a:rPr>
              <a:t>打包示意：12 万元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F27E2D"/>
                </a:solidFill>
                <a:latin typeface="微软雅黑"/>
                <a:ea typeface="微软雅黑"/>
              </a:rPr>
              <a:t>● </a:t>
            </a:r>
            <a:r>
              <a:rPr sz="1350" b="0">
                <a:solidFill>
                  <a:srgbClr val="212B42"/>
                </a:solidFill>
                <a:latin typeface="微软雅黑"/>
                <a:ea typeface="微软雅黑"/>
              </a:rPr>
              <a:t>内容：中央级/全国级发稿约 10 篇 + 原创内容 3 天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F27E2D"/>
                </a:solidFill>
                <a:latin typeface="微软雅黑"/>
                <a:ea typeface="微软雅黑"/>
              </a:rPr>
              <a:t>● </a:t>
            </a:r>
            <a:r>
              <a:rPr sz="1350" b="0">
                <a:solidFill>
                  <a:srgbClr val="212B42"/>
                </a:solidFill>
                <a:latin typeface="微软雅黑"/>
                <a:ea typeface="微软雅黑"/>
              </a:rPr>
              <a:t>传播量承诺：不低于 300 万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F27E2D"/>
                </a:solidFill>
                <a:latin typeface="微软雅黑"/>
                <a:ea typeface="微软雅黑"/>
              </a:rPr>
              <a:t>● </a:t>
            </a:r>
            <a:r>
              <a:rPr sz="1350" b="0">
                <a:solidFill>
                  <a:srgbClr val="212B42"/>
                </a:solidFill>
                <a:latin typeface="微软雅黑"/>
                <a:ea typeface="微软雅黑"/>
              </a:rPr>
              <a:t>定位：可选项；园区自有媒体团队可自行统筹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F27E2D"/>
                </a:solidFill>
                <a:latin typeface="微软雅黑"/>
                <a:ea typeface="微软雅黑"/>
              </a:rPr>
              <a:t>● </a:t>
            </a:r>
            <a:r>
              <a:rPr sz="1350" b="0">
                <a:solidFill>
                  <a:srgbClr val="212B42"/>
                </a:solidFill>
                <a:latin typeface="微软雅黑"/>
                <a:ea typeface="微软雅黑"/>
              </a:rPr>
              <a:t>选用原则：符合园区整体推广策略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F27E2D"/>
                </a:solidFill>
                <a:latin typeface="微软雅黑"/>
                <a:ea typeface="微软雅黑"/>
              </a:rPr>
              <a:t>● </a:t>
            </a:r>
            <a:r>
              <a:rPr sz="1350" b="0">
                <a:solidFill>
                  <a:srgbClr val="212B42"/>
                </a:solidFill>
                <a:latin typeface="微软雅黑"/>
                <a:ea typeface="微软雅黑"/>
              </a:rPr>
              <a:t>评估依据：是否服务实际招商转化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656832"/>
            <a:ext cx="932688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元谷合作服务报价 · 会议纪要版 · 仅供商务沟通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656832"/>
            <a:ext cx="10058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06 · 政策服务报价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8961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正式单列：园区专项 + 企业兑现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201168"/>
            <a:ext cx="2651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300"/>
              </a:spcAft>
            </a:pPr>
            <a:r>
              <a:rPr sz="120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Aft>
                <a:spcPts val="300"/>
              </a:spcAft>
            </a:pPr>
            <a:r>
              <a:rPr sz="900" b="0">
                <a:solidFill>
                  <a:srgbClr val="B9C6DC"/>
                </a:solidFill>
                <a:latin typeface="微软雅黑"/>
                <a:ea typeface="微软雅黑"/>
              </a:rPr>
              <a:t>报价 · 会议纪要版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280160"/>
          <a:ext cx="109270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023360"/>
                <a:gridCol w="4160520"/>
              </a:tblGrid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政策服务类型</a:t>
                      </a:r>
                    </a:p>
                  </a:txBody>
                  <a:tcPr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服务内容</a:t>
                      </a:r>
                    </a:p>
                  </a:txBody>
                  <a:tcPr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费用 / 激励</a:t>
                      </a:r>
                    </a:p>
                  </a:txBody>
                  <a:tcPr>
                    <a:solidFill>
                      <a:srgbClr val="0F244E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园区专项产业政策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协助园区与政府沟通、推动专项政策落地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成功落地后一次性奖励 5–10 万元（按支持力度协商）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入园企业政策兑现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协助企业申报、落地与兑现（补贴/资质等）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按最终执行金额抽成（比例另议）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日常政策陪跑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在沙龙/招商服务过程中的政策识别与路径辅导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纳入试点合作基础服务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42976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50" b="1">
                <a:solidFill>
                  <a:srgbClr val="F27E2D"/>
                </a:solidFill>
                <a:latin typeface="微软雅黑"/>
                <a:ea typeface="微软雅黑"/>
              </a:rPr>
              <a:t>● </a:t>
            </a:r>
            <a:r>
              <a:rPr sz="1350" b="0">
                <a:solidFill>
                  <a:srgbClr val="212B42"/>
                </a:solidFill>
                <a:latin typeface="微软雅黑"/>
                <a:ea typeface="微软雅黑"/>
              </a:rPr>
              <a:t>政策有时效性（常见 3–5 年周期），需在窗口期内推进。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F27E2D"/>
                </a:solidFill>
                <a:latin typeface="微软雅黑"/>
                <a:ea typeface="微软雅黑"/>
              </a:rPr>
              <a:t>● </a:t>
            </a:r>
            <a:r>
              <a:rPr sz="1350" b="0">
                <a:solidFill>
                  <a:srgbClr val="212B42"/>
                </a:solidFill>
                <a:latin typeface="微软雅黑"/>
                <a:ea typeface="微软雅黑"/>
              </a:rPr>
              <a:t>企业侧常有门槛条件（如人工成本占比等），需政企双方共同努力。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F27E2D"/>
                </a:solidFill>
                <a:latin typeface="微软雅黑"/>
                <a:ea typeface="微软雅黑"/>
              </a:rPr>
              <a:t>● </a:t>
            </a:r>
            <a:r>
              <a:rPr sz="1350" b="0">
                <a:solidFill>
                  <a:srgbClr val="212B42"/>
                </a:solidFill>
                <a:latin typeface="微软雅黑"/>
                <a:ea typeface="微软雅黑"/>
              </a:rPr>
              <a:t>不做“包拿补贴”承诺；以合规申报、路径清晰、成果可核验为准。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656832"/>
            <a:ext cx="932688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元谷合作服务报价 · 会议纪要版 · 仅供商务沟通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656832"/>
            <a:ext cx="10058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07 · 建议启动组合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8961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先付得起、验得清、推得动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201168"/>
            <a:ext cx="2651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300"/>
              </a:spcAft>
            </a:pPr>
            <a:r>
              <a:rPr sz="120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Aft>
                <a:spcPts val="300"/>
              </a:spcAft>
            </a:pPr>
            <a:r>
              <a:rPr sz="900" b="0">
                <a:solidFill>
                  <a:srgbClr val="B9C6DC"/>
                </a:solidFill>
                <a:latin typeface="微软雅黑"/>
                <a:ea typeface="微软雅黑"/>
              </a:rPr>
              <a:t>报价 · 会议纪要版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280160"/>
          <a:ext cx="10927080" cy="37124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743200"/>
                <a:gridCol w="5257800"/>
              </a:tblGrid>
              <a:tr h="530351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启动项</a:t>
                      </a:r>
                    </a:p>
                  </a:txBody>
                  <a:tcPr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金额</a:t>
                      </a:r>
                    </a:p>
                  </a:txBody>
                  <a:tcPr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说明</a:t>
                      </a:r>
                    </a:p>
                  </a:txBody>
                  <a:tcPr>
                    <a:solidFill>
                      <a:srgbClr val="0F244E"/>
                    </a:solidFill>
                  </a:tcPr>
                </a:tc>
              </a:tr>
              <a:tr h="530351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沙龙试点 3 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15 万元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启动付 7.5 万 + 第 3 场后付 7.5 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1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挂牌 1 项（建议）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10 万元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优先科协/科委相关牌照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</a:tr>
              <a:tr h="530351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启动现金小计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25 万元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不含佣金、政策奖、媒体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1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招商佣金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成交后按 1.5 个月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不占用启动现金；成功后结算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</a:tr>
              <a:tr h="530351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政策专项落地奖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5–10 万元/次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有成果再付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7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媒体支持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12 万元（可选）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按园区市场部需求决定是否采购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5029200"/>
            <a:ext cx="10927080" cy="64008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029200"/>
            <a:ext cx="10927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建议口径：森马无需一次性买断全年；先用约 25 万启动试点，用首批落地验证合作价值。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F27E2D"/>
                </a:solidFill>
                <a:latin typeface="微软雅黑"/>
                <a:ea typeface="微软雅黑"/>
              </a:rPr>
              <a:t>超额奖励不按整盘出租率 90% 粗放计提；若设置，按我方贡献成交面积/转化结果细化后议。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656832"/>
            <a:ext cx="932688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元谷合作服务报价 · 会议纪要版 · 仅供商务沟通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656832"/>
            <a:ext cx="10058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08 · 阶段节奏与考核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8961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三步推进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201168"/>
            <a:ext cx="2651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300"/>
              </a:spcAft>
            </a:pPr>
            <a:r>
              <a:rPr sz="120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Aft>
                <a:spcPts val="300"/>
              </a:spcAft>
            </a:pPr>
            <a:r>
              <a:rPr sz="900" b="0">
                <a:solidFill>
                  <a:srgbClr val="B9C6DC"/>
                </a:solidFill>
                <a:latin typeface="微软雅黑"/>
                <a:ea typeface="微软雅黑"/>
              </a:rPr>
              <a:t>报价 · 会议纪要版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361188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325880"/>
            <a:ext cx="3611880" cy="1097280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41732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FFF0E0"/>
                </a:solidFill>
                <a:latin typeface="微软雅黑"/>
                <a:ea typeface="微软雅黑"/>
              </a:rPr>
              <a:t>第 1 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178308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确认合作口径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63040" y="2697480"/>
            <a:ext cx="1920240" cy="3657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2697480"/>
            <a:ext cx="1920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本周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291840"/>
            <a:ext cx="31546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212B42"/>
                </a:solidFill>
                <a:latin typeface="微软雅黑"/>
                <a:ea typeface="微软雅黑"/>
              </a:rPr>
              <a:t>定位、授权边界、宣传口径、政策服务边界、客户归属规则。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4840" y="1325880"/>
            <a:ext cx="361188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34840" y="1325880"/>
            <a:ext cx="3611880" cy="1097280"/>
          </a:xfrm>
          <a:prstGeom prst="rect">
            <a:avLst/>
          </a:prstGeom>
          <a:solidFill>
            <a:srgbClr val="18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141732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FFF0E0"/>
                </a:solidFill>
                <a:latin typeface="微软雅黑"/>
                <a:ea typeface="微软雅黑"/>
              </a:rPr>
              <a:t>第 2 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178308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启动试点一期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57800" y="2697480"/>
            <a:ext cx="1920240" cy="3657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57800" y="2697480"/>
            <a:ext cx="1920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2–3 周内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3291840"/>
            <a:ext cx="31546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212B42"/>
                </a:solidFill>
                <a:latin typeface="微软雅黑"/>
                <a:ea typeface="微软雅黑"/>
              </a:rPr>
              <a:t>启动 3 场沙龙 +（建议）1 项挂牌；形成首批名单与复访计划。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1325880"/>
            <a:ext cx="361188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1325880"/>
            <a:ext cx="3611880" cy="109728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141732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FFF0E0"/>
                </a:solidFill>
                <a:latin typeface="微软雅黑"/>
                <a:ea typeface="微软雅黑"/>
              </a:rPr>
              <a:t>第 3 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178308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复访与续做决策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52560" y="2697480"/>
            <a:ext cx="1920240" cy="3657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0" y="2697480"/>
            <a:ext cx="1920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30–90 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3291840"/>
            <a:ext cx="31546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212B42"/>
                </a:solidFill>
                <a:latin typeface="微软雅黑"/>
                <a:ea typeface="微软雅黑"/>
              </a:rPr>
              <a:t>至少 1 家落地后启动下一期；同步推进佣金结算与政策成果。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6656832"/>
            <a:ext cx="932688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元谷合作服务报价 · 会议纪要版 · 仅供商务沟通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98480" y="6656832"/>
            <a:ext cx="10058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1031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C87A"/>
                </a:solidFill>
                <a:latin typeface="微软雅黑"/>
                <a:ea typeface="微软雅黑"/>
              </a:rPr>
              <a:t>报价结论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517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先试点 3 场 + 挂牌 1 项</a:t>
            </a:r>
          </a:p>
          <a:p>
            <a:pPr algn="l">
              <a:spcAft>
                <a:spcPts val="300"/>
              </a:spcAft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佣金 1.5 个月 · 政策成果另计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20624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E8C87A"/>
                </a:solidFill>
                <a:latin typeface="微软雅黑"/>
                <a:ea typeface="微软雅黑"/>
              </a:rPr>
              <a:t>▸ </a:t>
            </a:r>
            <a:r>
              <a:rPr sz="1500" b="0">
                <a:solidFill>
                  <a:srgbClr val="E5EBF5"/>
                </a:solidFill>
                <a:latin typeface="微软雅黑"/>
                <a:ea typeface="微软雅黑"/>
              </a:rPr>
              <a:t>启动现金约 25 万元（沙龙 15 万 + 挂牌 10 万）；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E8C87A"/>
                </a:solidFill>
                <a:latin typeface="微软雅黑"/>
                <a:ea typeface="微软雅黑"/>
              </a:rPr>
              <a:t>▸ </a:t>
            </a:r>
            <a:r>
              <a:rPr sz="1500" b="0">
                <a:solidFill>
                  <a:srgbClr val="E5EBF5"/>
                </a:solidFill>
                <a:latin typeface="微软雅黑"/>
                <a:ea typeface="微软雅黑"/>
              </a:rPr>
              <a:t>媒体 12 万可选；政策专项落地奖 5–10 万/次；企业兑现抽成另议；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E8C87A"/>
                </a:solidFill>
                <a:latin typeface="微软雅黑"/>
                <a:ea typeface="微软雅黑"/>
              </a:rPr>
              <a:t>▸ </a:t>
            </a:r>
            <a:r>
              <a:rPr sz="1500" b="0">
                <a:solidFill>
                  <a:srgbClr val="E5EBF5"/>
                </a:solidFill>
                <a:latin typeface="微软雅黑"/>
                <a:ea typeface="微软雅黑"/>
              </a:rPr>
              <a:t>试点达标后再放大，控制风险、匹配产出。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