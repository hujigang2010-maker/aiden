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C87A"/>
                </a:solidFill>
                <a:latin typeface="微软雅黑"/>
                <a:ea typeface="微软雅黑"/>
              </a:rPr>
              <a:t>元谷合作条款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会议沟通后调整内容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490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CFD8E8"/>
                </a:solidFill>
                <a:latin typeface="微软雅黑"/>
                <a:ea typeface="微软雅黑"/>
              </a:rPr>
              <a:t>仅整理本次会议形成的条款调整，便于单独审阅。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9FB2D0"/>
                </a:solidFill>
                <a:latin typeface="微软雅黑"/>
                <a:ea typeface="微软雅黑"/>
              </a:rPr>
              <a:t>是否并入整体方案 PPT，由贵方决定。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调整内容一览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六项条款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会议调整内容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80160"/>
          <a:ext cx="10927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4964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条款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调整后口径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招商佣金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统一按实际成交年租金的 1.5 个月；仅适用我方渠道成交客户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沙龙执行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先做 3 场试点一期；建议执行费 15 万元；试点考核至少 1 家落地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媒体支持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可选；打包示意 12 万元（约 10 篇 + 原创 3 天，传播量 ≥300 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挂牌服务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 万元/项；本期建议至少挂 1 项（优先科协/科委相关）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超额奖励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不按整盘出租率 90% 粗放计提；按我方贡献成交结果细化后议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政策服务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正式单列：园区专项落地奖 5–10 万；企业政策兑现按执行额抽成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元谷合作条款 · 会议调整内容 · 仅供商务沟通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沙龙执行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试点一期 3 场 / 建议 15 万元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会议调整内容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91440" cy="141732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场次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664207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3 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一期试点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80160"/>
            <a:ext cx="91440" cy="141732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执行费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664207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15 万元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可 50%/50% 支付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28016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280160"/>
            <a:ext cx="91440" cy="141732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4081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考核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664207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≥1 家落地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194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达标后续做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017520"/>
            <a:ext cx="10972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不以 6 场、30 万元一次性打包作为启动条件。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单场目标产业客户 ≥30 家；场地与基础会务由园区配合。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历史参考：约 3 场、邀约约 120 人、成交约 3 户、约 2,000㎡。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试点完成后，根据转化效果决定是否启动下一期。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元谷合作条款 · 会议调整内容 · 仅供商务沟通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招商佣金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统一 1.5 个月租金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会议调整内容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27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27E2D"/>
                </a:solidFill>
                <a:latin typeface="微软雅黑"/>
                <a:ea typeface="微软雅黑"/>
              </a:rPr>
              <a:t>招商佣金 = 实际成交年租金 × 1.5 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67086"/>
                </a:solidFill>
                <a:latin typeface="微软雅黑"/>
                <a:ea typeface="微软雅黑"/>
              </a:rPr>
              <a:t>取消按面积分档的 1.5 / 1.75 / 2.0 个月结构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10972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仅对我方渠道提报并促成成交的客户计提。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园区自招、既有意向、政府直导且我方未实质跟进的客户，不计提。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佣金需纳入整体租金成本平衡，避免推高租金、增加招商难度。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起租后 30 日内结算。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元谷合作条款 · 会议调整内容 · 仅供商务沟通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媒体 / 挂牌 / 超额奖励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三项口径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会议调整内容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10927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80160"/>
            <a:ext cx="2194560" cy="150876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媒体支持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可选模块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600200"/>
            <a:ext cx="8138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打包示意 12 万元：约 10 篇中央级/全国级发稿 + 原创内容 3 天；传播量不低于 300 万。园区自有媒体团队可自行统筹，是否采购以招商实效评估。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10927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2194560" cy="150876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挂牌服务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建议至少 1 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46120"/>
            <a:ext cx="8138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10 万元/项。优先上海市科协/科委相关牌照（如科技企业服务中心）。挂牌前一次性支付，长期使用按牌照规则。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10927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72000"/>
            <a:ext cx="2194560" cy="15087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超额奖励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FFF0E0"/>
                </a:solidFill>
                <a:latin typeface="微软雅黑"/>
                <a:ea typeface="微软雅黑"/>
              </a:rPr>
              <a:t>细化后议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892040"/>
            <a:ext cx="8138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不采用“整盘出租率 ≥90% 即奖”的粗放方式（非独家情形下不合理）。若设置，按我方贡献成交面积或转化结果另行约定。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元谷合作条款 · 会议调整内容 · 仅供商务沟通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政策服务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正式纳入合作框架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会议调整内容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280160"/>
          <a:ext cx="10927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42900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激励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园区专项产业政策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协助园区争取/落地政府专项政策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成功落地后一次性奖励 5–10 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入园企业政策兑现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协助企业申报与兑现，服务不止于签约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按最终执行金额抽成（比例另议）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基础政策陪跑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招商与沙龙过程中的政策识别、路径辅导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纳入试点基础服务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政策窗口常见 3–5 年周期，需在有效期内推进。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企业侧存在申报门槛（如人工成本占比等），属双方共同努力事项。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●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以合规申报与可核验成果为准，不做包拿承诺。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元谷合作条款 · 会议调整内容 · 仅供商务沟通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建议启动组合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8961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现金与后结算分开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011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Aft>
                <a:spcPts val="300"/>
              </a:spcAft>
            </a:pPr>
            <a:r>
              <a:rPr sz="900" b="0">
                <a:solidFill>
                  <a:srgbClr val="B9C6DC"/>
                </a:solidFill>
                <a:latin typeface="微软雅黑"/>
                <a:ea typeface="微软雅黑"/>
              </a:rPr>
              <a:t>会议调整内容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270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37947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 / 标准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时点</a:t>
                      </a:r>
                    </a:p>
                  </a:txBody>
                  <a:tcPr>
                    <a:solidFill>
                      <a:srgbClr val="0F24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沙龙试点 3 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15 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启动 50% + 第 3 场后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挂牌 1 项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 万元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挂牌前一次性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启动现金小计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25 万元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招商佣金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年租金 × 1.5 个月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起租后 30 日内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政策专项落地奖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5–10 万元/次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成果确认后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企业政策兑现抽成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按执行额比例（另议）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兑现完成后</a:t>
                      </a:r>
                    </a:p>
                  </a:txBody>
                  <a:tcPr>
                    <a:solidFill>
                      <a:srgbClr val="EF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媒体支持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12 万元（可选）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按选定包结算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656832"/>
            <a:ext cx="93268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元谷合作条款 · 会议调整内容 · 仅供商务沟通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6568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