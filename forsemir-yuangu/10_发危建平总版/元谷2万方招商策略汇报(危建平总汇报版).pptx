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503920" y="-91440"/>
            <a:ext cx="3931920" cy="704088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0" y="1097280"/>
            <a:ext cx="1554480" cy="1554480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0" y="4023360"/>
            <a:ext cx="914400" cy="914400"/>
          </a:xfrm>
          <a:prstGeom prst="ellipse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4846320"/>
            <a:ext cx="640080" cy="640080"/>
          </a:xfrm>
          <a:prstGeom prst="ellipse">
            <a:avLst/>
          </a:prstGeom>
          <a:solidFill>
            <a:srgbClr val="18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103120"/>
            <a:ext cx="146304" cy="1920240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011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B9C6DC"/>
                </a:solidFill>
                <a:latin typeface="微软雅黑"/>
                <a:ea typeface="微软雅黑"/>
              </a:rPr>
              <a:t>SEMIR 森马 (上海) 国际运营中心 · 元谷项目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423160"/>
            <a:ext cx="7498079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3600" b="1">
                <a:solidFill>
                  <a:srgbClr val="FFFFFF"/>
                </a:solidFill>
                <a:latin typeface="微软雅黑"/>
                <a:ea typeface="微软雅黑"/>
              </a:rPr>
              <a:t>元谷 2 万方招商策略汇报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E8C87A"/>
                </a:solidFill>
                <a:latin typeface="微软雅黑"/>
                <a:ea typeface="微软雅黑"/>
              </a:rPr>
              <a:t>产业研发办公 · 招商运营服务方案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34340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CFD8E8"/>
                </a:solidFill>
                <a:latin typeface="微软雅黑"/>
                <a:ea typeface="微软雅黑"/>
              </a:rPr>
              <a:t>IP + AI 双轨  ·  动态租金平衡  ·  仲量联行爬楼大数据赋能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120640"/>
            <a:ext cx="4937760" cy="502920"/>
          </a:xfrm>
          <a:prstGeom prst="round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胡教授团队(代表复旦住房政策研究中心 · 上海市科企联)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8521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9FB2D0"/>
                </a:solidFill>
                <a:latin typeface="微软雅黑"/>
                <a:ea typeface="微软雅黑"/>
              </a:rPr>
              <a:t>呈:危建平总     ·     2026 年     ·     本汇报仅用于商务沟通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37744"/>
            <a:ext cx="109728" cy="5669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"/>
            <a:ext cx="10241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B9C6DC"/>
                </a:solidFill>
                <a:latin typeface="微软雅黑"/>
                <a:ea typeface="微软雅黑"/>
              </a:rP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062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汇报议程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18288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E8C87A"/>
                </a:solidFill>
                <a:latin typeface="微软雅黑"/>
                <a:ea typeface="微软雅黑"/>
              </a:rPr>
              <a:t>元谷 YUANGU</a:t>
            </a:r>
          </a:p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B9C6DC"/>
                </a:solidFill>
                <a:latin typeface="微软雅黑"/>
                <a:ea typeface="微软雅黑"/>
              </a:rPr>
              <a:t>胡教授团队 · 第三方服务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553212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417320"/>
            <a:ext cx="1005840" cy="129844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17320"/>
            <a:ext cx="1005840" cy="1298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E8C87A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709928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0F244E"/>
                </a:solidFill>
                <a:latin typeface="微软雅黑"/>
                <a:ea typeface="微软雅黑"/>
              </a:rPr>
              <a:t>项目与机会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167128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双重身份 / 2 万方产业研发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417320"/>
            <a:ext cx="553212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417320"/>
            <a:ext cx="1005840" cy="129844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417320"/>
            <a:ext cx="1005840" cy="1298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E8C87A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1709928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0F244E"/>
                </a:solidFill>
                <a:latin typeface="微软雅黑"/>
                <a:ea typeface="微软雅黑"/>
              </a:rPr>
              <a:t>我方服务能力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2167128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第三方专业机构 / 仲量联行大数据优势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916936"/>
            <a:ext cx="553212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2916936"/>
            <a:ext cx="1005840" cy="129844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916936"/>
            <a:ext cx="1005840" cy="1298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E8C87A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3209544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0F244E"/>
                </a:solidFill>
                <a:latin typeface="微软雅黑"/>
                <a:ea typeface="微软雅黑"/>
              </a:rPr>
              <a:t>招商战略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3666744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IP+AI 双轨 / 四级漏斗 / 六大出彩点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2916936"/>
            <a:ext cx="553212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2916936"/>
            <a:ext cx="1005840" cy="129844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2916936"/>
            <a:ext cx="1005840" cy="1298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E8C87A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3209544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0F244E"/>
                </a:solidFill>
                <a:latin typeface="微软雅黑"/>
                <a:ea typeface="微软雅黑"/>
              </a:rPr>
              <a:t>租金与节点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3666744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动态租金平衡 / 9·30 与 5·1 硬节点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416552"/>
            <a:ext cx="553212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4416552"/>
            <a:ext cx="1005840" cy="129844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416552"/>
            <a:ext cx="1005840" cy="1298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E8C87A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470916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0F244E"/>
                </a:solidFill>
                <a:latin typeface="微软雅黑"/>
                <a:ea typeface="微软雅黑"/>
              </a:rPr>
              <a:t>品牌与活动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5166360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5 项挂牌 / 6 场沙龙 / 5·22 峰会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4416552"/>
            <a:ext cx="553212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0" y="4416552"/>
            <a:ext cx="1005840" cy="129844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4416552"/>
            <a:ext cx="1005840" cy="1298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E8C87A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0" y="470916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0F244E"/>
                </a:solidFill>
                <a:latin typeface="微软雅黑"/>
                <a:ea typeface="微软雅黑"/>
              </a:rPr>
              <a:t>服务费用与价值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9520" y="5166360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佣金 / 沙龙 / 挂牌 / 对项目方贡献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6656832"/>
            <a:ext cx="91440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C6D0E2"/>
                </a:solidFill>
                <a:latin typeface="微软雅黑"/>
                <a:ea typeface="微软雅黑"/>
              </a:rPr>
              <a:t>元谷项目 2 万方招商策略汇报 · 危建平总汇报版 (脱敏)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89920" y="6656832"/>
            <a:ext cx="9144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E8C87A"/>
                </a:solidFill>
                <a:latin typeface="微软雅黑"/>
                <a:ea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1828800"/>
            <a:ext cx="822960" cy="822960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80360"/>
            <a:ext cx="3108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项目与机会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9FB2D0"/>
                </a:solidFill>
                <a:latin typeface="微软雅黑"/>
                <a:ea typeface="微软雅黑"/>
              </a:rPr>
              <a:t>PROJECT &amp; OPPORTUNITY</a:t>
            </a:r>
          </a:p>
        </p:txBody>
      </p:sp>
      <p:sp>
        <p:nvSpPr>
          <p:cNvPr id="7" name="Oval 6"/>
          <p:cNvSpPr/>
          <p:nvPr/>
        </p:nvSpPr>
        <p:spPr>
          <a:xfrm>
            <a:off x="4937760" y="2029968"/>
            <a:ext cx="146304" cy="146304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0" y="1920240"/>
            <a:ext cx="6309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E5EBF5"/>
                </a:solidFill>
                <a:latin typeface="微软雅黑"/>
                <a:ea typeface="微软雅黑"/>
              </a:rPr>
              <a:t>元谷:大零号湾文创融合核心区 + 上海唯一科技时尚特色小镇</a:t>
            </a:r>
          </a:p>
        </p:txBody>
      </p:sp>
      <p:sp>
        <p:nvSpPr>
          <p:cNvPr id="9" name="Oval 8"/>
          <p:cNvSpPr/>
          <p:nvPr/>
        </p:nvSpPr>
        <p:spPr>
          <a:xfrm>
            <a:off x="4937760" y="2706624"/>
            <a:ext cx="146304" cy="146304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0" y="2596896"/>
            <a:ext cx="6309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E5EBF5"/>
                </a:solidFill>
                <a:latin typeface="微软雅黑"/>
                <a:ea typeface="微软雅黑"/>
              </a:rPr>
              <a:t>本期聚焦 4#+5# 楼 5F+ 共约 2 万方产业研发办公</a:t>
            </a:r>
          </a:p>
        </p:txBody>
      </p:sp>
      <p:sp>
        <p:nvSpPr>
          <p:cNvPr id="11" name="Oval 10"/>
          <p:cNvSpPr/>
          <p:nvPr/>
        </p:nvSpPr>
        <p:spPr>
          <a:xfrm>
            <a:off x="4937760" y="3383280"/>
            <a:ext cx="146304" cy="146304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3273552"/>
            <a:ext cx="6309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E5EBF5"/>
                </a:solidFill>
                <a:latin typeface="微软雅黑"/>
                <a:ea typeface="微软雅黑"/>
              </a:rPr>
              <a:t>15 号线元江路站 TOD, 单日客流 5-7 万人次</a:t>
            </a:r>
          </a:p>
        </p:txBody>
      </p:sp>
      <p:sp>
        <p:nvSpPr>
          <p:cNvPr id="13" name="Oval 12"/>
          <p:cNvSpPr/>
          <p:nvPr/>
        </p:nvSpPr>
        <p:spPr>
          <a:xfrm>
            <a:off x="4937760" y="4059936"/>
            <a:ext cx="146304" cy="146304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3950208"/>
            <a:ext cx="6309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E5EBF5"/>
                </a:solidFill>
                <a:latin typeface="微软雅黑"/>
                <a:ea typeface="微软雅黑"/>
              </a:rPr>
              <a:t>危建平总已锁定保底租金 2.0 元/㎡/天(含物业)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37744"/>
            <a:ext cx="109728" cy="5669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"/>
            <a:ext cx="10241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B9C6DC"/>
                </a:solidFill>
                <a:latin typeface="微软雅黑"/>
                <a:ea typeface="微软雅黑"/>
              </a:rPr>
              <a:t>01 · 项目与机会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062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元谷的双重战略身份与产业底盘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18288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E8C87A"/>
                </a:solidFill>
                <a:latin typeface="微软雅黑"/>
                <a:ea typeface="微软雅黑"/>
              </a:rPr>
              <a:t>元谷 YUANGU</a:t>
            </a:r>
          </a:p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B9C6DC"/>
                </a:solidFill>
                <a:latin typeface="微软雅黑"/>
                <a:ea typeface="微软雅黑"/>
              </a:rPr>
              <a:t>胡教授团队 · 第三方服务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371600"/>
            <a:ext cx="26974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371600"/>
            <a:ext cx="91440" cy="1371600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517904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总建筑面积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792224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0F244E"/>
                </a:solidFill>
                <a:latin typeface="微软雅黑"/>
                <a:ea typeface="微软雅黑"/>
              </a:rPr>
              <a:t>22 万㎡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359152"/>
            <a:ext cx="23317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667086"/>
                </a:solidFill>
                <a:latin typeface="微软雅黑"/>
                <a:ea typeface="微软雅黑"/>
              </a:rPr>
              <a:t>1#-6# 共 6 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02152" y="1371600"/>
            <a:ext cx="26974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2152" y="1371600"/>
            <a:ext cx="91440" cy="13716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0752" y="1517904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本期招商范围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0752" y="1792224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0F244E"/>
                </a:solidFill>
                <a:latin typeface="微软雅黑"/>
                <a:ea typeface="微软雅黑"/>
              </a:rPr>
              <a:t>2 万㎡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30752" y="2359152"/>
            <a:ext cx="23317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667086"/>
                </a:solidFill>
                <a:latin typeface="微软雅黑"/>
                <a:ea typeface="微软雅黑"/>
              </a:rPr>
              <a:t>4#+5# 楼 5F+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64224" y="1371600"/>
            <a:ext cx="26974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64224" y="1371600"/>
            <a:ext cx="91440" cy="1371600"/>
          </a:xfrm>
          <a:prstGeom prst="rect">
            <a:avLst/>
          </a:prstGeom>
          <a:solidFill>
            <a:srgbClr val="18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92824" y="1517904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TOD 单日客流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92824" y="1792224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0F244E"/>
                </a:solidFill>
                <a:latin typeface="微软雅黑"/>
                <a:ea typeface="微软雅黑"/>
              </a:rPr>
              <a:t>5-7 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92824" y="2359152"/>
            <a:ext cx="23317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667086"/>
                </a:solidFill>
                <a:latin typeface="微软雅黑"/>
                <a:ea typeface="微软雅黑"/>
              </a:rPr>
              <a:t>15 号线元江路站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26296" y="1371600"/>
            <a:ext cx="233172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26296" y="1371600"/>
            <a:ext cx="91440" cy="13716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54896" y="1517904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15min 覆盖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54896" y="1792224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0F244E"/>
                </a:solidFill>
                <a:latin typeface="微软雅黑"/>
                <a:ea typeface="微软雅黑"/>
              </a:rPr>
              <a:t>24万+12万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54896" y="2359152"/>
            <a:ext cx="19659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667086"/>
                </a:solidFill>
                <a:latin typeface="微软雅黑"/>
                <a:ea typeface="微软雅黑"/>
              </a:rPr>
              <a:t>居住 + 产业人口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3063240"/>
            <a:ext cx="5394960" cy="566928"/>
          </a:xfrm>
          <a:prstGeom prst="round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大零号湾文创融合核心区(闵行五大中心之一)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063240"/>
            <a:ext cx="5394960" cy="566928"/>
          </a:xfrm>
          <a:prstGeom prst="round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上海市唯一科技时尚特色小镇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3931920"/>
            <a:ext cx="10972800" cy="21945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27E2D"/>
                </a:solidFill>
                <a:latin typeface="微软雅黑"/>
                <a:ea typeface="微软雅黑"/>
              </a:rPr>
              <a:t>—  </a:t>
            </a:r>
            <a:r>
              <a:rPr sz="1400" b="0">
                <a:solidFill>
                  <a:srgbClr val="212B42"/>
                </a:solidFill>
                <a:latin typeface="微软雅黑"/>
                <a:ea typeface="微软雅黑"/>
              </a:rPr>
              <a:t>能级比肩漕河泾、张江;享区级最高 1,000 万 + 市级最高 5,000 万产业专项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27E2D"/>
                </a:solidFill>
                <a:latin typeface="微软雅黑"/>
                <a:ea typeface="微软雅黑"/>
              </a:rPr>
              <a:t>—  </a:t>
            </a:r>
            <a:r>
              <a:rPr sz="1400" b="0">
                <a:solidFill>
                  <a:srgbClr val="212B42"/>
                </a:solidFill>
                <a:latin typeface="微软雅黑"/>
                <a:ea typeface="微软雅黑"/>
              </a:rPr>
              <a:t>4# 楼 5F+ 定位 AI 主轴(国际创意层);5# 楼 5F+ 定位 IP 主轴(产业总部层)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27E2D"/>
                </a:solidFill>
                <a:latin typeface="微软雅黑"/>
                <a:ea typeface="微软雅黑"/>
              </a:rPr>
              <a:t>—  </a:t>
            </a:r>
            <a:r>
              <a:rPr sz="1400" b="0">
                <a:solidFill>
                  <a:srgbClr val="212B42"/>
                </a:solidFill>
                <a:latin typeface="微软雅黑"/>
                <a:ea typeface="微软雅黑"/>
              </a:rPr>
              <a:t>产业愿景:打造 AI + IP 双赛道协同的产业研发园区,与森马时尚科技定位契合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27E2D"/>
                </a:solidFill>
                <a:latin typeface="微软雅黑"/>
                <a:ea typeface="微软雅黑"/>
              </a:rPr>
              <a:t>—  </a:t>
            </a:r>
            <a:r>
              <a:rPr sz="1400" b="0">
                <a:solidFill>
                  <a:srgbClr val="212B42"/>
                </a:solidFill>
                <a:latin typeface="微软雅黑"/>
                <a:ea typeface="微软雅黑"/>
              </a:rPr>
              <a:t>危建平总已锁定保底租金 2.0 元/㎡/天(含物业费)作为长期稳定锚点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6656832"/>
            <a:ext cx="91440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C6D0E2"/>
                </a:solidFill>
                <a:latin typeface="微软雅黑"/>
                <a:ea typeface="微软雅黑"/>
              </a:rPr>
              <a:t>元谷项目 2 万方招商策略汇报 · 危建平总汇报版 (脱敏)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0" y="6656832"/>
            <a:ext cx="9144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E8C87A"/>
                </a:solidFill>
                <a:latin typeface="微软雅黑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1828800"/>
            <a:ext cx="822960" cy="822960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80360"/>
            <a:ext cx="3108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我方服务能力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9FB2D0"/>
                </a:solidFill>
                <a:latin typeface="微软雅黑"/>
                <a:ea typeface="微软雅黑"/>
              </a:rPr>
              <a:t>OUR CAPABILITY</a:t>
            </a:r>
          </a:p>
        </p:txBody>
      </p:sp>
      <p:sp>
        <p:nvSpPr>
          <p:cNvPr id="7" name="Oval 6"/>
          <p:cNvSpPr/>
          <p:nvPr/>
        </p:nvSpPr>
        <p:spPr>
          <a:xfrm>
            <a:off x="4937760" y="2029968"/>
            <a:ext cx="146304" cy="146304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0" y="1920240"/>
            <a:ext cx="6309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E5EBF5"/>
                </a:solidFill>
                <a:latin typeface="微软雅黑"/>
                <a:ea typeface="微软雅黑"/>
              </a:rPr>
              <a:t>第三方专业招商运营服务机构</a:t>
            </a:r>
          </a:p>
        </p:txBody>
      </p:sp>
      <p:sp>
        <p:nvSpPr>
          <p:cNvPr id="9" name="Oval 8"/>
          <p:cNvSpPr/>
          <p:nvPr/>
        </p:nvSpPr>
        <p:spPr>
          <a:xfrm>
            <a:off x="4937760" y="2706624"/>
            <a:ext cx="146304" cy="146304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0" y="2596896"/>
            <a:ext cx="6309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E5EBF5"/>
                </a:solidFill>
                <a:latin typeface="微软雅黑"/>
                <a:ea typeface="微软雅黑"/>
              </a:rPr>
              <a:t>代表复旦大学住房政策研究中心 + 上海市科技企业联合会</a:t>
            </a:r>
          </a:p>
        </p:txBody>
      </p:sp>
      <p:sp>
        <p:nvSpPr>
          <p:cNvPr id="11" name="Oval 10"/>
          <p:cNvSpPr/>
          <p:nvPr/>
        </p:nvSpPr>
        <p:spPr>
          <a:xfrm>
            <a:off x="4937760" y="3383280"/>
            <a:ext cx="146304" cy="146304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3273552"/>
            <a:ext cx="6309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E5EBF5"/>
                </a:solidFill>
                <a:latin typeface="微软雅黑"/>
                <a:ea typeface="微软雅黑"/>
              </a:rPr>
              <a:t>★ 仲量联行爬楼大数据 — 我方核心招商优势</a:t>
            </a:r>
          </a:p>
        </p:txBody>
      </p:sp>
      <p:sp>
        <p:nvSpPr>
          <p:cNvPr id="13" name="Oval 12"/>
          <p:cNvSpPr/>
          <p:nvPr/>
        </p:nvSpPr>
        <p:spPr>
          <a:xfrm>
            <a:off x="4937760" y="4059936"/>
            <a:ext cx="146304" cy="146304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3950208"/>
            <a:ext cx="6309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E5EBF5"/>
                </a:solidFill>
                <a:latin typeface="微软雅黑"/>
                <a:ea typeface="微软雅黑"/>
              </a:rPr>
              <a:t>腾讯算力 / 产业基金 / 福布斯 / 北欧会客厅 资源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37744"/>
            <a:ext cx="109728" cy="5669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"/>
            <a:ext cx="10241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B9C6DC"/>
                </a:solidFill>
                <a:latin typeface="微软雅黑"/>
                <a:ea typeface="微软雅黑"/>
              </a:rPr>
              <a:t>02 · 我方服务能力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062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胡教授团队:第三方专业招商运营服务机构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18288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E8C87A"/>
                </a:solidFill>
                <a:latin typeface="微软雅黑"/>
                <a:ea typeface="微软雅黑"/>
              </a:rPr>
              <a:t>元谷 YUANGU</a:t>
            </a:r>
          </a:p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B9C6DC"/>
                </a:solidFill>
                <a:latin typeface="微软雅黑"/>
                <a:ea typeface="微软雅黑"/>
              </a:rPr>
              <a:t>胡教授团队 · 第三方服务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371600"/>
            <a:ext cx="10927080" cy="114300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371600"/>
            <a:ext cx="1042416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胡教授团队 · 代表复旦大学住房政策研究中心、上海市科技企业联合会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CFD8E8"/>
                </a:solidFill>
                <a:latin typeface="微软雅黑"/>
                <a:ea typeface="微软雅黑"/>
              </a:rPr>
              <a:t>以第三方专业服务身份, 为元谷项目提供产业招商策略 + 政府政策对接 + 品牌活动 + 资源导入的全链条服务。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788920"/>
            <a:ext cx="35204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788920"/>
            <a:ext cx="3520440" cy="91440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3026663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F244E"/>
                </a:solidFill>
                <a:latin typeface="微软雅黑"/>
                <a:ea typeface="微软雅黑"/>
              </a:rPr>
              <a:t>★ 仲量联行爬楼大数据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3502152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200+ 家精准客户清单, 转化率 +30% (我方独家优势)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5112" y="2788920"/>
            <a:ext cx="35204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25112" y="2788920"/>
            <a:ext cx="3520440" cy="91440"/>
          </a:xfrm>
          <a:prstGeom prst="rect">
            <a:avLst/>
          </a:prstGeom>
          <a:solidFill>
            <a:srgbClr val="18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3026663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F244E"/>
                </a:solidFill>
                <a:latin typeface="微软雅黑"/>
                <a:ea typeface="微软雅黑"/>
              </a:rPr>
              <a:t>腾讯算力补贴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502152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新注册 AI 公司 3 月合同免费 / 算力 85 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0144" y="2788920"/>
            <a:ext cx="35204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0144" y="2788920"/>
            <a:ext cx="3520440" cy="9144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11312" y="3026663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F244E"/>
                </a:solidFill>
                <a:latin typeface="微软雅黑"/>
                <a:ea typeface="微软雅黑"/>
              </a:rPr>
              <a:t>产业基金 (追觅 + CVC)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1312" y="3502152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返投落地, 资本驱动签约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389120"/>
            <a:ext cx="35204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389120"/>
            <a:ext cx="3520440" cy="9144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7" y="4626864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F244E"/>
                </a:solidFill>
                <a:latin typeface="微软雅黑"/>
                <a:ea typeface="微软雅黑"/>
              </a:rPr>
              <a:t>北欧创新国际会客厅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7" y="5102352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海外 IP / 技术进入中国首站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25112" y="4389120"/>
            <a:ext cx="35204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25112" y="4389120"/>
            <a:ext cx="3520440" cy="91440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26280" y="4626864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F244E"/>
                </a:solidFill>
                <a:latin typeface="微软雅黑"/>
                <a:ea typeface="微软雅黑"/>
              </a:rPr>
              <a:t>福布斯产业影响力奖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5102352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国际品牌势能 + 年度评选 IP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10144" y="4389120"/>
            <a:ext cx="35204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10144" y="4389120"/>
            <a:ext cx="3520440" cy="91440"/>
          </a:xfrm>
          <a:prstGeom prst="rect">
            <a:avLst/>
          </a:prstGeom>
          <a:solidFill>
            <a:srgbClr val="18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11312" y="4626864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F244E"/>
                </a:solidFill>
                <a:latin typeface="微软雅黑"/>
                <a:ea typeface="微软雅黑"/>
              </a:rPr>
              <a:t>复旦 + 上海市科企联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2" y="5102352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学术背书 + 政府对接 + 政策代办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6656832"/>
            <a:ext cx="91440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C6D0E2"/>
                </a:solidFill>
                <a:latin typeface="微软雅黑"/>
                <a:ea typeface="微软雅黑"/>
              </a:rPr>
              <a:t>元谷项目 2 万方招商策略汇报 · 危建平总汇报版 (脱敏)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89920" y="6656832"/>
            <a:ext cx="9144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E8C87A"/>
                </a:solidFill>
                <a:latin typeface="微软雅黑"/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37744"/>
            <a:ext cx="109728" cy="5669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"/>
            <a:ext cx="10241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B9C6DC"/>
                </a:solidFill>
                <a:latin typeface="微软雅黑"/>
                <a:ea typeface="微软雅黑"/>
              </a:rPr>
              <a:t>02 · 我方服务能力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062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核心优势:仲量联行爬楼大数据赋能精准招商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18288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E8C87A"/>
                </a:solidFill>
                <a:latin typeface="微软雅黑"/>
                <a:ea typeface="微软雅黑"/>
              </a:rPr>
              <a:t>元谷 YUANGU</a:t>
            </a:r>
          </a:p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B9C6DC"/>
                </a:solidFill>
                <a:latin typeface="微软雅黑"/>
                <a:ea typeface="微软雅黑"/>
              </a:rPr>
              <a:t>胡教授团队 · 第三方服务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371600"/>
            <a:ext cx="35204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371600"/>
            <a:ext cx="91440" cy="1371600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517904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目标客户清单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792224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0F244E"/>
                </a:solidFill>
                <a:latin typeface="微软雅黑"/>
                <a:ea typeface="微软雅黑"/>
              </a:rPr>
              <a:t>200+ 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359152"/>
            <a:ext cx="3154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667086"/>
                </a:solidFill>
                <a:latin typeface="微软雅黑"/>
                <a:ea typeface="微软雅黑"/>
              </a:rPr>
              <a:t>精准画像, 直接触达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1371600"/>
            <a:ext cx="35204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371600"/>
            <a:ext cx="91440" cy="137160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1517904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转化率提升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792224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0F244E"/>
                </a:solidFill>
                <a:latin typeface="微软雅黑"/>
                <a:ea typeface="微软雅黑"/>
              </a:rPr>
              <a:t>+30%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359152"/>
            <a:ext cx="3154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667086"/>
                </a:solidFill>
                <a:latin typeface="微软雅黑"/>
                <a:ea typeface="微软雅黑"/>
              </a:rPr>
              <a:t>VS 普通广撒网招商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1371600"/>
            <a:ext cx="35204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1371600"/>
            <a:ext cx="91440" cy="1371600"/>
          </a:xfrm>
          <a:prstGeom prst="rect">
            <a:avLst/>
          </a:prstGeom>
          <a:solidFill>
            <a:srgbClr val="18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1517904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覆盖区域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1792224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0F244E"/>
                </a:solidFill>
                <a:latin typeface="微软雅黑"/>
                <a:ea typeface="微软雅黑"/>
              </a:rPr>
              <a:t>闵行+临港+漕河泾+张江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359152"/>
            <a:ext cx="3154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667086"/>
                </a:solidFill>
                <a:latin typeface="微软雅黑"/>
                <a:ea typeface="微软雅黑"/>
              </a:rPr>
              <a:t>存量企业全画像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063240"/>
            <a:ext cx="10972800" cy="2926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F27E2D"/>
                </a:solidFill>
                <a:latin typeface="微软雅黑"/>
                <a:ea typeface="微软雅黑"/>
              </a:rPr>
              <a:t>—  </a:t>
            </a:r>
            <a:r>
              <a:rPr sz="1350" b="0">
                <a:solidFill>
                  <a:srgbClr val="212B42"/>
                </a:solidFill>
                <a:latin typeface="微软雅黑"/>
                <a:ea typeface="微软雅黑"/>
              </a:rPr>
              <a:t>爬楼大数据 = 对上海存量产业楼宇的企业逐层扫描, 形成『谁在哪栋楼、面积多大、何时到期、付租能力』的精准画像;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F27E2D"/>
                </a:solidFill>
                <a:latin typeface="微软雅黑"/>
                <a:ea typeface="微软雅黑"/>
              </a:rPr>
              <a:t>—  </a:t>
            </a:r>
            <a:r>
              <a:rPr sz="1350" b="0">
                <a:solidFill>
                  <a:srgbClr val="212B42"/>
                </a:solidFill>
                <a:latin typeface="微软雅黑"/>
                <a:ea typeface="微软雅黑"/>
              </a:rPr>
              <a:t>我方据此锁定真正有迁址/扩租需求、且付租能力强的中大型 AI / IP 企业, 把行业 110:1 的转化率压缩到更高效区间;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F27E2D"/>
                </a:solidFill>
                <a:latin typeface="微软雅黑"/>
                <a:ea typeface="微软雅黑"/>
              </a:rPr>
              <a:t>—  </a:t>
            </a:r>
            <a:r>
              <a:rPr sz="1350" b="0">
                <a:solidFill>
                  <a:srgbClr val="212B42"/>
                </a:solidFill>
                <a:latin typeface="微软雅黑"/>
                <a:ea typeface="微软雅黑"/>
              </a:rPr>
              <a:t>针对元谷 2 万方, 优先匹配 2,000-20,000㎡ 大客户(1 家大户 ≫ 10 家小户), 提升招商速度与稳定性;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F27E2D"/>
                </a:solidFill>
                <a:latin typeface="微软雅黑"/>
                <a:ea typeface="微软雅黑"/>
              </a:rPr>
              <a:t>—  </a:t>
            </a:r>
            <a:r>
              <a:rPr sz="1350" b="0">
                <a:solidFill>
                  <a:srgbClr val="212B42"/>
                </a:solidFill>
                <a:latin typeface="微软雅黑"/>
                <a:ea typeface="微软雅黑"/>
              </a:rPr>
              <a:t>该数据能力为我方独家优势, 直接赋能元谷招商, 是普通招商团队不具备的弹药库。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656832"/>
            <a:ext cx="91440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C6D0E2"/>
                </a:solidFill>
                <a:latin typeface="微软雅黑"/>
                <a:ea typeface="微软雅黑"/>
              </a:rPr>
              <a:t>元谷项目 2 万方招商策略汇报 · 危建平总汇报版 (脱敏)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656832"/>
            <a:ext cx="9144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E8C87A"/>
                </a:solidFill>
                <a:latin typeface="微软雅黑"/>
                <a:ea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1828800"/>
            <a:ext cx="822960" cy="822960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80360"/>
            <a:ext cx="3108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招商战略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9FB2D0"/>
                </a:solidFill>
                <a:latin typeface="微软雅黑"/>
                <a:ea typeface="微软雅黑"/>
              </a:rPr>
              <a:t>LEASING STRATEGY</a:t>
            </a:r>
          </a:p>
        </p:txBody>
      </p:sp>
      <p:sp>
        <p:nvSpPr>
          <p:cNvPr id="7" name="Oval 6"/>
          <p:cNvSpPr/>
          <p:nvPr/>
        </p:nvSpPr>
        <p:spPr>
          <a:xfrm>
            <a:off x="4937760" y="2029968"/>
            <a:ext cx="146304" cy="146304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0" y="1920240"/>
            <a:ext cx="6309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E5EBF5"/>
                </a:solidFill>
                <a:latin typeface="微软雅黑"/>
                <a:ea typeface="微软雅黑"/>
              </a:rPr>
              <a:t>战略主轴:IP + AI 双轨 (AI 拿政策/资本, IP 兼顾文化)</a:t>
            </a:r>
          </a:p>
        </p:txBody>
      </p:sp>
      <p:sp>
        <p:nvSpPr>
          <p:cNvPr id="9" name="Oval 8"/>
          <p:cNvSpPr/>
          <p:nvPr/>
        </p:nvSpPr>
        <p:spPr>
          <a:xfrm>
            <a:off x="4937760" y="2706624"/>
            <a:ext cx="146304" cy="146304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0" y="2596896"/>
            <a:ext cx="6309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E5EBF5"/>
                </a:solidFill>
                <a:latin typeface="微软雅黑"/>
                <a:ea typeface="微软雅黑"/>
              </a:rPr>
              <a:t>客户策略:优先 2,000-20,000㎡ 大客户(转化率 110:1)</a:t>
            </a:r>
          </a:p>
        </p:txBody>
      </p:sp>
      <p:sp>
        <p:nvSpPr>
          <p:cNvPr id="11" name="Oval 10"/>
          <p:cNvSpPr/>
          <p:nvPr/>
        </p:nvSpPr>
        <p:spPr>
          <a:xfrm>
            <a:off x="4937760" y="3383280"/>
            <a:ext cx="146304" cy="146304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3273552"/>
            <a:ext cx="6309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E5EBF5"/>
                </a:solidFill>
                <a:latin typeface="微软雅黑"/>
                <a:ea typeface="微软雅黑"/>
              </a:rPr>
              <a:t>四级招商漏斗 + 招商六大『出彩点』</a:t>
            </a:r>
          </a:p>
        </p:txBody>
      </p:sp>
      <p:sp>
        <p:nvSpPr>
          <p:cNvPr id="13" name="Oval 12"/>
          <p:cNvSpPr/>
          <p:nvPr/>
        </p:nvSpPr>
        <p:spPr>
          <a:xfrm>
            <a:off x="4937760" y="4059936"/>
            <a:ext cx="146304" cy="146304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3950208"/>
            <a:ext cx="6309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E5EBF5"/>
                </a:solidFill>
                <a:latin typeface="微软雅黑"/>
                <a:ea typeface="微软雅黑"/>
              </a:rPr>
              <a:t>五档客户配比, 与森马原产业规划一致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37744"/>
            <a:ext cx="109728" cy="5669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"/>
            <a:ext cx="10241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B9C6DC"/>
                </a:solidFill>
                <a:latin typeface="微软雅黑"/>
                <a:ea typeface="微软雅黑"/>
              </a:rPr>
              <a:t>03 · 招商战略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062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战略主轴:IP + AI 双轨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18288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E8C87A"/>
                </a:solidFill>
                <a:latin typeface="微软雅黑"/>
                <a:ea typeface="微软雅黑"/>
              </a:rPr>
              <a:t>元谷 YUANGU</a:t>
            </a:r>
          </a:p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B9C6DC"/>
                </a:solidFill>
                <a:latin typeface="微软雅黑"/>
                <a:ea typeface="微软雅黑"/>
              </a:rPr>
              <a:t>胡教授团队 · 第三方服务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371600"/>
          <a:ext cx="10927080" cy="31272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4434840"/>
                <a:gridCol w="4846320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维度</a:t>
                      </a:r>
                    </a:p>
                  </a:txBody>
                  <a:tcPr marL="91440" marR="54864" marT="18288" marB="18288" anchor="ctr">
                    <a:solidFill>
                      <a:srgbClr val="0F24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纯二次元(不推荐)</a:t>
                      </a:r>
                    </a:p>
                  </a:txBody>
                  <a:tcPr marL="91440" marR="54864" marT="18288" marB="18288" anchor="ctr">
                    <a:solidFill>
                      <a:srgbClr val="0F24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IP + AI 双轨(推荐)</a:t>
                      </a:r>
                    </a:p>
                  </a:txBody>
                  <a:tcPr marL="91440" marR="54864" marT="18288" marB="18288" anchor="ctr">
                    <a:solidFill>
                      <a:srgbClr val="0F244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招商面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200-500㎡ 小户, 招满需 400-800 家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AI/IP 中大型, 招满仅需 30-60 家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支付能力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单家年租 &lt; 30 万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单家年租 100-500 万(真金白银)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政府政策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拿政策难, 创新基金不投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享高新 + 专精特新 + 创新券 + 闵行专项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与森马协同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二次元与商业难协同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IP+AI 与森马时尚科技定位契合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先例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无 2 万方成功案例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杨浦 1 万方『AI+IP』已通过先例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40080" y="4572000"/>
            <a:ext cx="10927080" cy="640080"/>
          </a:xfrm>
          <a:prstGeom prst="round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结论:主轴改 AI 拿政府资源 + 资本, 保留 IP 概念(视频/漫画/直播/动漫全链条)兼顾文化导向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440680"/>
            <a:ext cx="10972800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27E2D"/>
                </a:solidFill>
                <a:latin typeface="微软雅黑"/>
                <a:ea typeface="微软雅黑"/>
              </a:rPr>
              <a:t>—  </a:t>
            </a:r>
            <a:r>
              <a:rPr sz="1300" b="0">
                <a:solidFill>
                  <a:srgbClr val="212B42"/>
                </a:solidFill>
                <a:latin typeface="微软雅黑"/>
                <a:ea typeface="微软雅黑"/>
              </a:rPr>
              <a:t>4# 楼 5F+ = AI 主轴(国际创意层);5# 楼 5F+ = IP 主轴(产业总部层)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27E2D"/>
                </a:solidFill>
                <a:latin typeface="微软雅黑"/>
                <a:ea typeface="微软雅黑"/>
              </a:rPr>
              <a:t>—  </a:t>
            </a:r>
            <a:r>
              <a:rPr sz="1300" b="0">
                <a:solidFill>
                  <a:srgbClr val="212B42"/>
                </a:solidFill>
                <a:latin typeface="微软雅黑"/>
                <a:ea typeface="微软雅黑"/>
              </a:rPr>
              <a:t>行业转化率 110:1 → 招 1 家大户 ≫ 招 10 家小户, 效率差 5 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656832"/>
            <a:ext cx="91440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C6D0E2"/>
                </a:solidFill>
                <a:latin typeface="微软雅黑"/>
                <a:ea typeface="微软雅黑"/>
              </a:rPr>
              <a:t>元谷项目 2 万方招商策略汇报 · 危建平总汇报版 (脱敏)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656832"/>
            <a:ext cx="9144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E8C87A"/>
                </a:solidFill>
                <a:latin typeface="微软雅黑"/>
                <a:ea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37744"/>
            <a:ext cx="109728" cy="5669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"/>
            <a:ext cx="10241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B9C6DC"/>
                </a:solidFill>
                <a:latin typeface="微软雅黑"/>
                <a:ea typeface="微软雅黑"/>
              </a:rPr>
              <a:t>03 · 招商战略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062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四级招商漏斗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18288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E8C87A"/>
                </a:solidFill>
                <a:latin typeface="微软雅黑"/>
                <a:ea typeface="微软雅黑"/>
              </a:rPr>
              <a:t>元谷 YUANGU</a:t>
            </a:r>
          </a:p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B9C6DC"/>
                </a:solidFill>
                <a:latin typeface="微软雅黑"/>
                <a:ea typeface="微软雅黑"/>
              </a:rPr>
              <a:t>胡教授团队 · 第三方服务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1092708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417320"/>
            <a:ext cx="2286000" cy="10241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17320"/>
            <a:ext cx="228600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L1 牌照锚定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1563624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F244E"/>
                </a:solidFill>
                <a:latin typeface="微软雅黑"/>
                <a:ea typeface="微软雅黑"/>
              </a:rPr>
              <a:t>头部央企 / 行业协会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1947672"/>
            <a:ext cx="6217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67086"/>
                </a:solidFill>
                <a:latin typeface="微软雅黑"/>
                <a:ea typeface="微软雅黑"/>
              </a:rPr>
              <a:t>AI 潮玩产业基地 + 潮玩次元专委 双牌照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09760" y="1719072"/>
            <a:ext cx="1828800" cy="420624"/>
          </a:xfrm>
          <a:prstGeom prst="round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6,000㎡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551176"/>
            <a:ext cx="1092708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2551176"/>
            <a:ext cx="2286000" cy="10241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551176"/>
            <a:ext cx="228600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L2 资本招商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2697480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F244E"/>
                </a:solidFill>
                <a:latin typeface="微软雅黑"/>
                <a:ea typeface="微软雅黑"/>
              </a:rPr>
              <a:t>中型 AI / IP 企业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3081528"/>
            <a:ext cx="6217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67086"/>
                </a:solidFill>
                <a:latin typeface="微软雅黑"/>
                <a:ea typeface="微软雅黑"/>
              </a:rPr>
              <a:t>产业基金 + 腾讯算力 + 返投落地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09760" y="2852928"/>
            <a:ext cx="1828800" cy="420624"/>
          </a:xfrm>
          <a:prstGeom prst="round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5,000㎡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685032"/>
            <a:ext cx="1092708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685032"/>
            <a:ext cx="2286000" cy="1024128"/>
          </a:xfrm>
          <a:prstGeom prst="rect">
            <a:avLst/>
          </a:prstGeom>
          <a:solidFill>
            <a:srgbClr val="18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685032"/>
            <a:ext cx="228600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L3 大数据爬楼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3831336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F244E"/>
                </a:solidFill>
                <a:latin typeface="微软雅黑"/>
                <a:ea typeface="微软雅黑"/>
              </a:rPr>
              <a:t>小型潮玩 / 服务机构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4215384"/>
            <a:ext cx="6217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67086"/>
                </a:solidFill>
                <a:latin typeface="微软雅黑"/>
                <a:ea typeface="微软雅黑"/>
              </a:rPr>
              <a:t>★ 仲量联行爬楼大数据(我方优势)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09760" y="3986784"/>
            <a:ext cx="1828800" cy="420624"/>
          </a:xfrm>
          <a:prstGeom prst="roundRect">
            <a:avLst/>
          </a:prstGeom>
          <a:solidFill>
            <a:srgbClr val="18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6,000-8,000㎡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818888"/>
            <a:ext cx="1092708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4818888"/>
            <a:ext cx="2286000" cy="1024128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818888"/>
            <a:ext cx="228600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L4 活动带流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4965192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F244E"/>
                </a:solidFill>
                <a:latin typeface="微软雅黑"/>
                <a:ea typeface="微软雅黑"/>
              </a:rPr>
              <a:t>中小型服务机构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5349240"/>
            <a:ext cx="6217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67086"/>
                </a:solidFill>
                <a:latin typeface="微软雅黑"/>
                <a:ea typeface="微软雅黑"/>
              </a:rPr>
              <a:t>6 场沙龙 + 5·22 峰会 + 福布斯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09760" y="5120640"/>
            <a:ext cx="1828800" cy="420624"/>
          </a:xfrm>
          <a:prstGeom prst="round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3,000-4,000㎡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27E2D"/>
                </a:solidFill>
                <a:latin typeface="微软雅黑"/>
                <a:ea typeface="微软雅黑"/>
              </a:rPr>
              <a:t>漏斗合计可产生 20,000-23,000㎡ 招商管道 → 实际签约 18,000-20,000㎡(满租)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6656832"/>
            <a:ext cx="91440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C6D0E2"/>
                </a:solidFill>
                <a:latin typeface="微软雅黑"/>
                <a:ea typeface="微软雅黑"/>
              </a:rPr>
              <a:t>元谷项目 2 万方招商策略汇报 · 危建平总汇报版 (脱敏)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0" y="6656832"/>
            <a:ext cx="9144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E8C87A"/>
                </a:solidFill>
                <a:latin typeface="微软雅黑"/>
                <a:ea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37744"/>
            <a:ext cx="109728" cy="5669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"/>
            <a:ext cx="10241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B9C6DC"/>
                </a:solidFill>
                <a:latin typeface="微软雅黑"/>
                <a:ea typeface="微软雅黑"/>
              </a:rPr>
              <a:t>03 · 招商战略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062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招商六大『出彩点』(VS 普通招商)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18288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E8C87A"/>
                </a:solidFill>
                <a:latin typeface="微软雅黑"/>
                <a:ea typeface="微软雅黑"/>
              </a:rPr>
              <a:t>元谷 YUANGU</a:t>
            </a:r>
          </a:p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B9C6DC"/>
                </a:solidFill>
                <a:latin typeface="微软雅黑"/>
                <a:ea typeface="微软雅黑"/>
              </a:rPr>
              <a:t>胡教授团队 · 第三方服务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539496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417320"/>
            <a:ext cx="91440" cy="129844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60020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0F244E"/>
                </a:solidFill>
                <a:latin typeface="微软雅黑"/>
                <a:ea typeface="微软雅黑"/>
              </a:rPr>
              <a:t>① 牌照即招商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093976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667086"/>
                </a:solidFill>
                <a:latin typeface="微软雅黑"/>
                <a:ea typeface="微软雅黑"/>
              </a:rPr>
              <a:t>双牌照前置, 客户『送进来』不是『拉进来』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417320"/>
            <a:ext cx="539496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417320"/>
            <a:ext cx="91440" cy="129844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160020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0F244E"/>
                </a:solidFill>
                <a:latin typeface="微软雅黑"/>
                <a:ea typeface="微软雅黑"/>
              </a:rPr>
              <a:t>② 基金即招商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2093976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667086"/>
                </a:solidFill>
                <a:latin typeface="微软雅黑"/>
                <a:ea typeface="微软雅黑"/>
              </a:rPr>
              <a:t>产业基金返投 + 腾讯算力, 资本驱动签约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898648"/>
            <a:ext cx="539496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2898648"/>
            <a:ext cx="91440" cy="129844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3081528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0F244E"/>
                </a:solidFill>
                <a:latin typeface="微软雅黑"/>
                <a:ea typeface="微软雅黑"/>
              </a:rPr>
              <a:t>③ 数据即招商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3575304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667086"/>
                </a:solidFill>
                <a:latin typeface="微软雅黑"/>
                <a:ea typeface="微软雅黑"/>
              </a:rPr>
              <a:t>★ 仲量联行爬楼大数据, 转化率 +30%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2898648"/>
            <a:ext cx="539496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2898648"/>
            <a:ext cx="91440" cy="129844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8232" y="3081528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0F244E"/>
                </a:solidFill>
                <a:latin typeface="微软雅黑"/>
                <a:ea typeface="微软雅黑"/>
              </a:rPr>
              <a:t>④ 峰会即招商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2" y="3575304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667086"/>
                </a:solidFill>
                <a:latin typeface="微软雅黑"/>
                <a:ea typeface="微软雅黑"/>
              </a:rPr>
              <a:t>5·22 峰会 200+ VIP, 1 天锁 30-50 客户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379976"/>
            <a:ext cx="539496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4379976"/>
            <a:ext cx="91440" cy="129844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4562856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0F244E"/>
                </a:solidFill>
                <a:latin typeface="微软雅黑"/>
                <a:ea typeface="微软雅黑"/>
              </a:rPr>
              <a:t>⑤ 沙龙即招商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" y="5056632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667086"/>
                </a:solidFill>
                <a:latin typeface="微软雅黑"/>
                <a:ea typeface="微软雅黑"/>
              </a:rPr>
              <a:t>6 场 × ≥30 客户 = 5-12 家直接成果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4379976"/>
            <a:ext cx="539496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72200" y="4379976"/>
            <a:ext cx="91440" cy="129844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8232" y="4562856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0F244E"/>
                </a:solidFill>
                <a:latin typeface="微软雅黑"/>
                <a:ea typeface="微软雅黑"/>
              </a:rPr>
              <a:t>⑥ 学术即招商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8232" y="5056632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667086"/>
                </a:solidFill>
                <a:latin typeface="微软雅黑"/>
                <a:ea typeface="微软雅黑"/>
              </a:rPr>
              <a:t>复旦 + 上海交大 + 上海市科企联 背书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27E2D"/>
                </a:solidFill>
                <a:latin typeface="微软雅黑"/>
                <a:ea typeface="微软雅黑"/>
              </a:rPr>
              <a:t>普通园区只做 ③④;我方六维齐发 → 招商速度领先 6-12 个月, 单方租金溢价更快兑现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6656832"/>
            <a:ext cx="91440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C6D0E2"/>
                </a:solidFill>
                <a:latin typeface="微软雅黑"/>
                <a:ea typeface="微软雅黑"/>
              </a:rPr>
              <a:t>元谷项目 2 万方招商策略汇报 · 危建平总汇报版 (脱敏)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0" y="6656832"/>
            <a:ext cx="9144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E8C87A"/>
                </a:solidFill>
                <a:latin typeface="微软雅黑"/>
                <a:ea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1828800"/>
            <a:ext cx="822960" cy="822960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80360"/>
            <a:ext cx="3108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租金与节点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9FB2D0"/>
                </a:solidFill>
                <a:latin typeface="微软雅黑"/>
                <a:ea typeface="微软雅黑"/>
              </a:rPr>
              <a:t>RENT &amp; MILESTONES</a:t>
            </a:r>
          </a:p>
        </p:txBody>
      </p:sp>
      <p:sp>
        <p:nvSpPr>
          <p:cNvPr id="7" name="Oval 6"/>
          <p:cNvSpPr/>
          <p:nvPr/>
        </p:nvSpPr>
        <p:spPr>
          <a:xfrm>
            <a:off x="4937760" y="2029968"/>
            <a:ext cx="146304" cy="146304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0" y="1920240"/>
            <a:ext cx="6309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E5EBF5"/>
                </a:solidFill>
                <a:latin typeface="微软雅黑"/>
                <a:ea typeface="微软雅黑"/>
              </a:rPr>
              <a:t>动态租金平衡:招商期 1.5-1.8 → 长期稳定 2.0-2.5</a:t>
            </a:r>
          </a:p>
        </p:txBody>
      </p:sp>
      <p:sp>
        <p:nvSpPr>
          <p:cNvPr id="9" name="Oval 8"/>
          <p:cNvSpPr/>
          <p:nvPr/>
        </p:nvSpPr>
        <p:spPr>
          <a:xfrm>
            <a:off x="4937760" y="2706624"/>
            <a:ext cx="146304" cy="146304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0" y="2596896"/>
            <a:ext cx="6309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E5EBF5"/>
                </a:solidFill>
                <a:latin typeface="微软雅黑"/>
                <a:ea typeface="微软雅黑"/>
              </a:rPr>
              <a:t>保底 2.0 元/㎡/天(含物业, 危建平总已签)</a:t>
            </a:r>
          </a:p>
        </p:txBody>
      </p:sp>
      <p:sp>
        <p:nvSpPr>
          <p:cNvPr id="11" name="Oval 10"/>
          <p:cNvSpPr/>
          <p:nvPr/>
        </p:nvSpPr>
        <p:spPr>
          <a:xfrm>
            <a:off x="4937760" y="3383280"/>
            <a:ext cx="146304" cy="146304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3273552"/>
            <a:ext cx="6309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E5EBF5"/>
                </a:solidFill>
                <a:latin typeface="微软雅黑"/>
                <a:ea typeface="微软雅黑"/>
              </a:rPr>
              <a:t>硬节点一:2026/9/30 完成 2,000㎡ 签约</a:t>
            </a:r>
          </a:p>
        </p:txBody>
      </p:sp>
      <p:sp>
        <p:nvSpPr>
          <p:cNvPr id="13" name="Oval 12"/>
          <p:cNvSpPr/>
          <p:nvPr/>
        </p:nvSpPr>
        <p:spPr>
          <a:xfrm>
            <a:off x="4937760" y="4059936"/>
            <a:ext cx="146304" cy="146304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3950208"/>
            <a:ext cx="6309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E5EBF5"/>
                </a:solidFill>
                <a:latin typeface="微软雅黑"/>
                <a:ea typeface="微软雅黑"/>
              </a:rPr>
              <a:t>硬节点二:2027/5/1 项目开业, 50%+ 签约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37744"/>
            <a:ext cx="109728" cy="5669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"/>
            <a:ext cx="10241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B9C6DC"/>
                </a:solidFill>
                <a:latin typeface="微软雅黑"/>
                <a:ea typeface="微软雅黑"/>
              </a:rPr>
              <a:t>04 · 租金与节点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062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动态租金平衡模型:先低价招满, 后抬升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18288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E8C87A"/>
                </a:solidFill>
                <a:latin typeface="微软雅黑"/>
                <a:ea typeface="微软雅黑"/>
              </a:rPr>
              <a:t>元谷 YUANGU</a:t>
            </a:r>
          </a:p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B9C6DC"/>
                </a:solidFill>
                <a:latin typeface="微软雅黑"/>
                <a:ea typeface="微软雅黑"/>
              </a:rPr>
              <a:t>胡教授团队 · 第三方服务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371600"/>
            <a:ext cx="352044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371600"/>
            <a:ext cx="91440" cy="1463040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517904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招商期(满租前)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792224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0F244E"/>
                </a:solidFill>
                <a:latin typeface="微软雅黑"/>
                <a:ea typeface="微软雅黑"/>
              </a:rPr>
              <a:t>1.5-1.8 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450592"/>
            <a:ext cx="3154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667086"/>
                </a:solidFill>
                <a:latin typeface="微软雅黑"/>
                <a:ea typeface="微软雅黑"/>
              </a:rPr>
              <a:t>先低价快速招满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1371600"/>
            <a:ext cx="352044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371600"/>
            <a:ext cx="91440" cy="146304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1517904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长期稳定(满租后)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792224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0F244E"/>
                </a:solidFill>
                <a:latin typeface="微软雅黑"/>
                <a:ea typeface="微软雅黑"/>
              </a:rPr>
              <a:t>2.0-2.5 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450592"/>
            <a:ext cx="3154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667086"/>
                </a:solidFill>
                <a:latin typeface="微软雅黑"/>
                <a:ea typeface="微软雅黑"/>
              </a:rPr>
              <a:t>逐步抬升至稳定区间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1371600"/>
            <a:ext cx="352044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1371600"/>
            <a:ext cx="91440" cy="146304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1517904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保底锚点(已签)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1792224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0F244E"/>
                </a:solidFill>
                <a:latin typeface="微软雅黑"/>
                <a:ea typeface="微软雅黑"/>
              </a:rPr>
              <a:t>2.0 元含物业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450592"/>
            <a:ext cx="3154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667086"/>
                </a:solidFill>
                <a:latin typeface="微软雅黑"/>
                <a:ea typeface="微软雅黑"/>
              </a:rPr>
              <a:t>危建平总锁定的长期数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1089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0F244E"/>
                </a:solidFill>
                <a:latin typeface="微软雅黑"/>
                <a:ea typeface="微软雅黑"/>
              </a:rPr>
              <a:t>策略逻辑(单位:元/㎡/天)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4424289"/>
            <a:ext cx="2103120" cy="1107830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131681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F244E"/>
                </a:solidFill>
                <a:latin typeface="微软雅黑"/>
                <a:ea typeface="微软雅黑"/>
              </a:rPr>
              <a:t>1.5 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623560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招商初期
0-9 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91840" y="4276578"/>
            <a:ext cx="2103120" cy="1255541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0" y="398397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F244E"/>
                </a:solidFill>
                <a:latin typeface="微软雅黑"/>
                <a:ea typeface="微软雅黑"/>
              </a:rPr>
              <a:t>1.7 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5623560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加速期
9-18 月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60720" y="3981156"/>
            <a:ext cx="2103120" cy="1550963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60720" y="3688548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F244E"/>
                </a:solidFill>
                <a:latin typeface="微软雅黑"/>
                <a:ea typeface="微软雅黑"/>
              </a:rPr>
              <a:t>2.1 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720" y="5623560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满租稳定
18-24 月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0" y="3759590"/>
            <a:ext cx="2103120" cy="1772529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0" y="3466982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F244E"/>
                </a:solidFill>
                <a:latin typeface="微软雅黑"/>
                <a:ea typeface="微软雅黑"/>
              </a:rPr>
              <a:t>2.4 元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5623560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长期
24 月+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27E2D"/>
                </a:solidFill>
                <a:latin typeface="微软雅黑"/>
                <a:ea typeface="微软雅黑"/>
              </a:rPr>
              <a:t>先以 1.5-1.8 元低价快速招满形成产业氛围, 再借满租势能与产业生态逐步抬升至 2.0-2.5 元, 长期锚定保底 2 元(含物业)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6656832"/>
            <a:ext cx="91440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C6D0E2"/>
                </a:solidFill>
                <a:latin typeface="微软雅黑"/>
                <a:ea typeface="微软雅黑"/>
              </a:rPr>
              <a:t>元谷项目 2 万方招商策略汇报 · 危建平总汇报版 (脱敏)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89920" y="6656832"/>
            <a:ext cx="9144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E8C87A"/>
                </a:solidFill>
                <a:latin typeface="微软雅黑"/>
                <a:ea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37744"/>
            <a:ext cx="109728" cy="5669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"/>
            <a:ext cx="10241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B9C6DC"/>
                </a:solidFill>
                <a:latin typeface="微软雅黑"/>
                <a:ea typeface="微软雅黑"/>
              </a:rPr>
              <a:t>04 · 租金与节点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062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两个硬节点 · 倒推全部排期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18288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E8C87A"/>
                </a:solidFill>
                <a:latin typeface="微软雅黑"/>
                <a:ea typeface="微软雅黑"/>
              </a:rPr>
              <a:t>元谷 YUANGU</a:t>
            </a:r>
          </a:p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B9C6DC"/>
                </a:solidFill>
                <a:latin typeface="微软雅黑"/>
                <a:ea typeface="微软雅黑"/>
              </a:rPr>
              <a:t>胡教授团队 · 第三方服务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371600"/>
            <a:ext cx="53949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371600"/>
            <a:ext cx="91440" cy="12801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517904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硬节点一 · 2026/9/30 (T+100 天)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792224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0F244E"/>
                </a:solidFill>
                <a:latin typeface="微软雅黑"/>
                <a:ea typeface="微软雅黑"/>
              </a:rPr>
              <a:t>2,000㎡ 签约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67712"/>
            <a:ext cx="5029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667086"/>
                </a:solidFill>
                <a:latin typeface="微软雅黑"/>
                <a:ea typeface="微软雅黑"/>
              </a:rPr>
              <a:t>可含直播基地 / 共享设计中心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371600"/>
            <a:ext cx="53949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371600"/>
            <a:ext cx="91440" cy="1280160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517904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硬节点二 · 2027/5/1 (T+314 天)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792224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0F244E"/>
                </a:solidFill>
                <a:latin typeface="微软雅黑"/>
                <a:ea typeface="微软雅黑"/>
              </a:rPr>
              <a:t>开业 + 50% 签约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267712"/>
            <a:ext cx="5029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667086"/>
                </a:solidFill>
                <a:latin typeface="微软雅黑"/>
                <a:ea typeface="微软雅黑"/>
              </a:rPr>
              <a:t>2 万方达成 50% + 消费氛围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40080" y="2880360"/>
          <a:ext cx="10927080" cy="26700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2377440"/>
                <a:gridCol w="3063240"/>
                <a:gridCol w="3657600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阶段</a:t>
                      </a:r>
                    </a:p>
                  </a:txBody>
                  <a:tcPr marL="91440" marR="54864" marT="18288" marB="18288" anchor="ctr">
                    <a:solidFill>
                      <a:srgbClr val="0F24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时间窗口</a:t>
                      </a:r>
                    </a:p>
                  </a:txBody>
                  <a:tcPr marL="91440" marR="54864" marT="18288" marB="18288" anchor="ctr">
                    <a:solidFill>
                      <a:srgbClr val="0F24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累计签约目标</a:t>
                      </a:r>
                    </a:p>
                  </a:txBody>
                  <a:tcPr marL="91440" marR="54864" marT="18288" marB="18288" anchor="ctr">
                    <a:solidFill>
                      <a:srgbClr val="0F24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里程碑</a:t>
                      </a:r>
                    </a:p>
                  </a:txBody>
                  <a:tcPr marL="91440" marR="54864" marT="18288" marB="18288" anchor="ctr">
                    <a:solidFill>
                      <a:srgbClr val="0F244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阶段 0 准备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启动 - 第 3 周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0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团队就位 + 资源接入 + 物料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阶段 1 抢节点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第 3 周 - 9/30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2,300㎡(含擦边球)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★ 9/30 硬节点达成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阶段 2 加速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10/1 - 12/31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5,500㎡(27%)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爬楼 + 沙龙 + 挂牌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阶段 3 开业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1/1 - 5/1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10,400㎡(52%)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★ 5/1 开业典礼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阶段 4 满租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5/2 - 次年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18,000㎡+(90%)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沙龙 IP 化 + 抬租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Rectangle 19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656832"/>
            <a:ext cx="91440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C6D0E2"/>
                </a:solidFill>
                <a:latin typeface="微软雅黑"/>
                <a:ea typeface="微软雅黑"/>
              </a:rPr>
              <a:t>元谷项目 2 万方招商策略汇报 · 危建平总汇报版 (脱敏)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656832"/>
            <a:ext cx="9144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E8C87A"/>
                </a:solidFill>
                <a:latin typeface="微软雅黑"/>
                <a:ea typeface="微软雅黑"/>
              </a:rPr>
              <a:t>09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37744"/>
            <a:ext cx="109728" cy="5669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"/>
            <a:ext cx="10241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B9C6DC"/>
                </a:solidFill>
                <a:latin typeface="微软雅黑"/>
                <a:ea typeface="微软雅黑"/>
              </a:rPr>
              <a:t>04 · 租金与节点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062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月度签约率推进(招商期按 1.7 元估算)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18288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E8C87A"/>
                </a:solidFill>
                <a:latin typeface="微软雅黑"/>
                <a:ea typeface="微软雅黑"/>
              </a:rPr>
              <a:t>元谷 YUANGU</a:t>
            </a:r>
          </a:p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B9C6DC"/>
                </a:solidFill>
                <a:latin typeface="微软雅黑"/>
                <a:ea typeface="微软雅黑"/>
              </a:rPr>
              <a:t>胡教授团队 · 第三方服务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371600"/>
          <a:ext cx="10927080" cy="31272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4560"/>
                <a:gridCol w="1828800"/>
                <a:gridCol w="2103120"/>
                <a:gridCol w="1691640"/>
                <a:gridCol w="3108960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月份</a:t>
                      </a:r>
                    </a:p>
                  </a:txBody>
                  <a:tcPr marL="91440" marR="54864" marT="18288" marB="18288" anchor="ctr">
                    <a:solidFill>
                      <a:srgbClr val="0F24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本月新增</a:t>
                      </a:r>
                    </a:p>
                  </a:txBody>
                  <a:tcPr marL="91440" marR="54864" marT="18288" marB="18288" anchor="ctr">
                    <a:solidFill>
                      <a:srgbClr val="0F24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累计签约</a:t>
                      </a:r>
                    </a:p>
                  </a:txBody>
                  <a:tcPr marL="91440" marR="54864" marT="18288" marB="18288" anchor="ctr">
                    <a:solidFill>
                      <a:srgbClr val="0F24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签约率</a:t>
                      </a:r>
                    </a:p>
                  </a:txBody>
                  <a:tcPr marL="91440" marR="54864" marT="18288" marB="18288" anchor="ctr">
                    <a:solidFill>
                      <a:srgbClr val="0F24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里程碑</a:t>
                      </a:r>
                    </a:p>
                  </a:txBody>
                  <a:tcPr marL="91440" marR="54864" marT="18288" marB="18288" anchor="ctr">
                    <a:solidFill>
                      <a:srgbClr val="0F244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第 1 月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300㎡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300㎡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1.5%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战队就位 + 物料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第 2 月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800㎡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1,100㎡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5.5%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L1 牌照 + 大客户接触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第 3 月 (9/30)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1,200㎡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2,300㎡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11.5%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★ 硬节点一达成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第 6 月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5,500㎡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27.5%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Q4 攻坚收官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第 10 月 (5/1)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1,500㎡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10,400㎡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52%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★ 硬节点二达成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第 11 月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1,500㎡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11,900㎡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59.5%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开业典礼 + 启动抬租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40080" y="4846320"/>
            <a:ext cx="10927080" cy="603504"/>
          </a:xfrm>
          <a:prstGeom prst="round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9/30 节点 2,000㎡ 来源:大客户 1,000-2,000㎡ + 直播基地 800-1,000㎡ + AI 设计中心 500-800㎡ + 服务中心 300-500㎡ → 中性期望 3,200-5,800㎡, 概率 &gt;95%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7150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1E8E5A"/>
                </a:solidFill>
                <a:latin typeface="微软雅黑"/>
                <a:ea typeface="微软雅黑"/>
              </a:rPr>
              <a:t>满租后启动抬租, 把招商期 1.5-1.8 元逐步推向长期稳定 2.0-2.5 元, 为项目方持续增收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656832"/>
            <a:ext cx="91440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C6D0E2"/>
                </a:solidFill>
                <a:latin typeface="微软雅黑"/>
                <a:ea typeface="微软雅黑"/>
              </a:rPr>
              <a:t>元谷项目 2 万方招商策略汇报 · 危建平总汇报版 (脱敏)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656832"/>
            <a:ext cx="9144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E8C87A"/>
                </a:solidFill>
                <a:latin typeface="微软雅黑"/>
                <a:ea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1828800"/>
            <a:ext cx="822960" cy="822960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80360"/>
            <a:ext cx="3108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品牌与活动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9FB2D0"/>
                </a:solidFill>
                <a:latin typeface="微软雅黑"/>
                <a:ea typeface="微软雅黑"/>
              </a:rPr>
              <a:t>BRAND &amp; EVENTS</a:t>
            </a:r>
          </a:p>
        </p:txBody>
      </p:sp>
      <p:sp>
        <p:nvSpPr>
          <p:cNvPr id="7" name="Oval 6"/>
          <p:cNvSpPr/>
          <p:nvPr/>
        </p:nvSpPr>
        <p:spPr>
          <a:xfrm>
            <a:off x="4937760" y="2029968"/>
            <a:ext cx="146304" cy="146304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0" y="1920240"/>
            <a:ext cx="6309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E5EBF5"/>
                </a:solidFill>
                <a:latin typeface="微软雅黑"/>
                <a:ea typeface="微软雅黑"/>
              </a:rPr>
              <a:t>5 项产业牌照(可选, 10 万/项)</a:t>
            </a:r>
          </a:p>
        </p:txBody>
      </p:sp>
      <p:sp>
        <p:nvSpPr>
          <p:cNvPr id="9" name="Oval 8"/>
          <p:cNvSpPr/>
          <p:nvPr/>
        </p:nvSpPr>
        <p:spPr>
          <a:xfrm>
            <a:off x="4937760" y="2706624"/>
            <a:ext cx="146304" cy="146304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0" y="2596896"/>
            <a:ext cx="6309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E5EBF5"/>
                </a:solidFill>
                <a:latin typeface="微软雅黑"/>
                <a:ea typeface="微软雅黑"/>
              </a:rPr>
              <a:t>6 场产业沙龙, 每场 ≥30 个目标产业客户</a:t>
            </a:r>
          </a:p>
        </p:txBody>
      </p:sp>
      <p:sp>
        <p:nvSpPr>
          <p:cNvPr id="11" name="Oval 10"/>
          <p:cNvSpPr/>
          <p:nvPr/>
        </p:nvSpPr>
        <p:spPr>
          <a:xfrm>
            <a:off x="4937760" y="3383280"/>
            <a:ext cx="146304" cy="146304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3273552"/>
            <a:ext cx="6309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E5EBF5"/>
                </a:solidFill>
                <a:latin typeface="微软雅黑"/>
                <a:ea typeface="微软雅黑"/>
              </a:rPr>
              <a:t>5·22 AI 商业化峰会借势, 200+ VIP 转化</a:t>
            </a:r>
          </a:p>
        </p:txBody>
      </p:sp>
      <p:sp>
        <p:nvSpPr>
          <p:cNvPr id="13" name="Oval 12"/>
          <p:cNvSpPr/>
          <p:nvPr/>
        </p:nvSpPr>
        <p:spPr>
          <a:xfrm>
            <a:off x="4937760" y="4059936"/>
            <a:ext cx="146304" cy="146304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3950208"/>
            <a:ext cx="6309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E5EBF5"/>
                </a:solidFill>
                <a:latin typeface="微软雅黑"/>
                <a:ea typeface="微软雅黑"/>
              </a:rPr>
              <a:t>活动 IP 化 → 年度品牌势能 + 媒体声量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37744"/>
            <a:ext cx="109728" cy="5669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"/>
            <a:ext cx="10241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B9C6DC"/>
                </a:solidFill>
                <a:latin typeface="微软雅黑"/>
                <a:ea typeface="微软雅黑"/>
              </a:rPr>
              <a:t>05 · 品牌与活动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062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5 项产业牌照(可选 · 10 万/项)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18288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E8C87A"/>
                </a:solidFill>
                <a:latin typeface="微软雅黑"/>
                <a:ea typeface="微软雅黑"/>
              </a:rPr>
              <a:t>元谷 YUANGU</a:t>
            </a:r>
          </a:p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B9C6DC"/>
                </a:solidFill>
                <a:latin typeface="微软雅黑"/>
                <a:ea typeface="微软雅黑"/>
              </a:rPr>
              <a:t>胡教授团队 · 第三方服务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1092708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417320"/>
            <a:ext cx="786384" cy="786384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17320"/>
            <a:ext cx="786384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E8C87A"/>
                </a:solidFill>
                <a:latin typeface="微软雅黑"/>
                <a:ea typeface="微软雅黑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1563624"/>
            <a:ext cx="7315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0F244E"/>
                </a:solidFill>
                <a:latin typeface="微软雅黑"/>
                <a:ea typeface="微软雅黑"/>
              </a:rPr>
              <a:t>AI 潮玩产业基地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1874519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出牌方:中国动漫集团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84080" y="1636776"/>
            <a:ext cx="1645920" cy="347472"/>
          </a:xfrm>
          <a:prstGeom prst="round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10 万 · 可选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313432"/>
            <a:ext cx="1092708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2313432"/>
            <a:ext cx="786384" cy="786384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313432"/>
            <a:ext cx="786384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E8C87A"/>
                </a:solidFill>
                <a:latin typeface="微软雅黑"/>
                <a:ea typeface="微软雅黑"/>
              </a:rPr>
              <a:t>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2459736"/>
            <a:ext cx="7315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0F244E"/>
                </a:solidFill>
                <a:latin typeface="微软雅黑"/>
                <a:ea typeface="微软雅黑"/>
              </a:rPr>
              <a:t>潮玩次元商业专委会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2770632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出牌方:中国百货商业协会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84080" y="2532888"/>
            <a:ext cx="1645920" cy="347472"/>
          </a:xfrm>
          <a:prstGeom prst="round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10 万 · 可选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209544"/>
            <a:ext cx="1092708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209544"/>
            <a:ext cx="786384" cy="786384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209544"/>
            <a:ext cx="786384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E8C87A"/>
                </a:solidFill>
                <a:latin typeface="微软雅黑"/>
                <a:ea typeface="微软雅黑"/>
              </a:rPr>
              <a:t>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3355848"/>
            <a:ext cx="7315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0F244E"/>
                </a:solidFill>
                <a:latin typeface="微软雅黑"/>
                <a:ea typeface="微软雅黑"/>
              </a:rPr>
              <a:t>复旦大学住房政策研究中心 · 元谷分中心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366674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出牌方:复旦大学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84080" y="3429000"/>
            <a:ext cx="1645920" cy="347472"/>
          </a:xfrm>
          <a:prstGeom prst="round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10 万 · 可选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105656"/>
            <a:ext cx="1092708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4105656"/>
            <a:ext cx="786384" cy="786384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105656"/>
            <a:ext cx="786384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E8C87A"/>
                </a:solidFill>
                <a:latin typeface="微软雅黑"/>
                <a:ea typeface="微软雅黑"/>
              </a:rPr>
              <a:t>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200" y="4251960"/>
            <a:ext cx="7315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0F244E"/>
                </a:solidFill>
                <a:latin typeface="微软雅黑"/>
                <a:ea typeface="微软雅黑"/>
              </a:rPr>
              <a:t>上海市科技企业联合会 · 元谷产业基地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00200" y="4562856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出牌方:上海市科企联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84080" y="4325112"/>
            <a:ext cx="1645920" cy="347472"/>
          </a:xfrm>
          <a:prstGeom prst="round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10 万 · 可选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5001768"/>
            <a:ext cx="1092708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" y="5001768"/>
            <a:ext cx="786384" cy="786384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001768"/>
            <a:ext cx="786384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E8C87A"/>
                </a:solidFill>
                <a:latin typeface="微软雅黑"/>
                <a:ea typeface="微软雅黑"/>
              </a:rPr>
              <a:t>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00200" y="5148072"/>
            <a:ext cx="7315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0F244E"/>
                </a:solidFill>
                <a:latin typeface="微软雅黑"/>
                <a:ea typeface="微软雅黑"/>
              </a:rPr>
              <a:t>福布斯产业影响力奖 · 元谷专场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00200" y="545896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出牌方:福布斯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784080" y="5221224"/>
            <a:ext cx="1645920" cy="347472"/>
          </a:xfrm>
          <a:prstGeom prst="round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10 万 · 可选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244E"/>
                </a:solidFill>
                <a:latin typeface="微软雅黑"/>
                <a:ea typeface="微软雅黑"/>
              </a:rPr>
              <a:t>挂牌费 10 万元/项, 由项目方按需选择, 选定后挂牌前一次性付清(最多 5 项)。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6656832"/>
            <a:ext cx="91440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C6D0E2"/>
                </a:solidFill>
                <a:latin typeface="微软雅黑"/>
                <a:ea typeface="微软雅黑"/>
              </a:rPr>
              <a:t>元谷项目 2 万方招商策略汇报 · 危建平总汇报版 (脱敏)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89920" y="6656832"/>
            <a:ext cx="9144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E8C87A"/>
                </a:solidFill>
                <a:latin typeface="微软雅黑"/>
                <a:ea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37744"/>
            <a:ext cx="109728" cy="5669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"/>
            <a:ext cx="10241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B9C6DC"/>
                </a:solidFill>
                <a:latin typeface="微软雅黑"/>
                <a:ea typeface="微软雅黑"/>
              </a:rPr>
              <a:t>05 · 品牌与活动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062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6 场产业沙龙(每场 ≥30 客户) + 5·22 峰会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18288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E8C87A"/>
                </a:solidFill>
                <a:latin typeface="微软雅黑"/>
                <a:ea typeface="微软雅黑"/>
              </a:rPr>
              <a:t>元谷 YUANGU</a:t>
            </a:r>
          </a:p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B9C6DC"/>
                </a:solidFill>
                <a:latin typeface="微软雅黑"/>
                <a:ea typeface="微软雅黑"/>
              </a:rPr>
              <a:t>胡教授团队 · 第三方服务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371600"/>
          <a:ext cx="6903720" cy="31272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"/>
                <a:gridCol w="1280160"/>
                <a:gridCol w="2423160"/>
                <a:gridCol w="2743200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#</a:t>
                      </a:r>
                    </a:p>
                  </a:txBody>
                  <a:tcPr marL="91440" marR="54864" marT="18288" marB="18288" anchor="ctr">
                    <a:solidFill>
                      <a:srgbClr val="0F24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时间</a:t>
                      </a:r>
                    </a:p>
                  </a:txBody>
                  <a:tcPr marL="91440" marR="54864" marT="18288" marB="18288" anchor="ctr">
                    <a:solidFill>
                      <a:srgbClr val="0F24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主题</a:t>
                      </a:r>
                    </a:p>
                  </a:txBody>
                  <a:tcPr marL="91440" marR="54864" marT="18288" marB="18288" anchor="ctr">
                    <a:solidFill>
                      <a:srgbClr val="0F24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联办方</a:t>
                      </a:r>
                    </a:p>
                  </a:txBody>
                  <a:tcPr marL="91440" marR="54864" marT="18288" marB="18288" anchor="ctr">
                    <a:solidFill>
                      <a:srgbClr val="0F244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第 1 月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AI+潮玩(借势 5·22)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中动漫+腾讯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第 3 月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潮玩出海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北欧+福布斯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第 5 月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投融资路演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产业基金+银行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4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第 7 月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设计与创意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上海交大+科企联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5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第 9 月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内容IP·Z世代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中百协+中动漫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第 11 月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政策补贴·小镇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闵行科协+复旦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818120" y="1371600"/>
            <a:ext cx="3749039" cy="411480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1371600"/>
            <a:ext cx="3749039" cy="548640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0" y="1371600"/>
            <a:ext cx="3474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5·22 AI 商业化峰会借势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103120"/>
            <a:ext cx="3383280" cy="3291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E8C87A"/>
                </a:solidFill>
                <a:latin typeface="微软雅黑"/>
                <a:ea typeface="微软雅黑"/>
              </a:rPr>
              <a:t>▸  </a:t>
            </a:r>
            <a:r>
              <a:rPr sz="1150" b="0">
                <a:solidFill>
                  <a:srgbClr val="E5EBF5"/>
                </a:solidFill>
                <a:latin typeface="微软雅黑"/>
                <a:ea typeface="微软雅黑"/>
              </a:rPr>
              <a:t>200+ VIP(北大/复旦/银行/投资机构)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E8C87A"/>
                </a:solidFill>
                <a:latin typeface="微软雅黑"/>
                <a:ea typeface="微软雅黑"/>
              </a:rPr>
              <a:t>▸  </a:t>
            </a:r>
            <a:r>
              <a:rPr sz="1150" b="0">
                <a:solidFill>
                  <a:srgbClr val="E5EBF5"/>
                </a:solidFill>
                <a:latin typeface="微软雅黑"/>
                <a:ea typeface="微软雅黑"/>
              </a:rPr>
              <a:t>元谷设专属展位 + 闭门招商台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E8C87A"/>
                </a:solidFill>
                <a:latin typeface="微软雅黑"/>
                <a:ea typeface="微软雅黑"/>
              </a:rPr>
              <a:t>▸  </a:t>
            </a:r>
            <a:r>
              <a:rPr sz="1150" b="0">
                <a:solidFill>
                  <a:srgbClr val="E5EBF5"/>
                </a:solidFill>
                <a:latin typeface="微软雅黑"/>
                <a:ea typeface="微软雅黑"/>
              </a:rPr>
              <a:t>增设产业影响力榜 + 福布斯背书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E8C87A"/>
                </a:solidFill>
                <a:latin typeface="微软雅黑"/>
                <a:ea typeface="微软雅黑"/>
              </a:rPr>
              <a:t>▸  </a:t>
            </a:r>
            <a:r>
              <a:rPr sz="1150" b="0">
                <a:solidFill>
                  <a:srgbClr val="E5EBF5"/>
                </a:solidFill>
                <a:latin typeface="微软雅黑"/>
                <a:ea typeface="微软雅黑"/>
              </a:rPr>
              <a:t>峰会嘉宾 → 沙龙 #1 主题嘉宾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E8C87A"/>
                </a:solidFill>
                <a:latin typeface="微软雅黑"/>
                <a:ea typeface="微软雅黑"/>
              </a:rPr>
              <a:t>▸  </a:t>
            </a:r>
            <a:r>
              <a:rPr sz="1150" b="0">
                <a:solidFill>
                  <a:srgbClr val="E5EBF5"/>
                </a:solidFill>
                <a:latin typeface="微软雅黑"/>
                <a:ea typeface="微软雅黑"/>
              </a:rPr>
              <a:t>沙龙费由我方单独收取(不分润)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27E2D"/>
                </a:solidFill>
                <a:latin typeface="微软雅黑"/>
                <a:ea typeface="微软雅黑"/>
              </a:rPr>
              <a:t>每场沙龙触达 ≥30 家产业客户 + ≥100 万次媒体曝光;6 场打包沙龙执行费一次性付清。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656832"/>
            <a:ext cx="91440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C6D0E2"/>
                </a:solidFill>
                <a:latin typeface="微软雅黑"/>
                <a:ea typeface="微软雅黑"/>
              </a:rPr>
              <a:t>元谷项目 2 万方招商策略汇报 · 危建平总汇报版 (脱敏)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656832"/>
            <a:ext cx="9144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E8C87A"/>
                </a:solidFill>
                <a:latin typeface="微软雅黑"/>
                <a:ea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1828800"/>
            <a:ext cx="822960" cy="822960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80360"/>
            <a:ext cx="3108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服务费用与价值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9FB2D0"/>
                </a:solidFill>
                <a:latin typeface="微软雅黑"/>
                <a:ea typeface="微软雅黑"/>
              </a:rPr>
              <a:t>FEES &amp; VALUE</a:t>
            </a:r>
          </a:p>
        </p:txBody>
      </p:sp>
      <p:sp>
        <p:nvSpPr>
          <p:cNvPr id="7" name="Oval 6"/>
          <p:cNvSpPr/>
          <p:nvPr/>
        </p:nvSpPr>
        <p:spPr>
          <a:xfrm>
            <a:off x="4937760" y="2029968"/>
            <a:ext cx="146304" cy="146304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0" y="1920240"/>
            <a:ext cx="6309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E5EBF5"/>
                </a:solidFill>
                <a:latin typeface="微软雅黑"/>
                <a:ea typeface="微软雅黑"/>
              </a:rPr>
              <a:t>已取消月费(不签对赌), 让项目方更轻装</a:t>
            </a:r>
          </a:p>
        </p:txBody>
      </p:sp>
      <p:sp>
        <p:nvSpPr>
          <p:cNvPr id="9" name="Oval 8"/>
          <p:cNvSpPr/>
          <p:nvPr/>
        </p:nvSpPr>
        <p:spPr>
          <a:xfrm>
            <a:off x="4937760" y="2706624"/>
            <a:ext cx="146304" cy="146304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0" y="2596896"/>
            <a:ext cx="6309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E5EBF5"/>
                </a:solidFill>
                <a:latin typeface="微软雅黑"/>
                <a:ea typeface="微软雅黑"/>
              </a:rPr>
              <a:t>招商佣金:实际成交年租金的 1.5-2 个月</a:t>
            </a:r>
          </a:p>
        </p:txBody>
      </p:sp>
      <p:sp>
        <p:nvSpPr>
          <p:cNvPr id="11" name="Oval 10"/>
          <p:cNvSpPr/>
          <p:nvPr/>
        </p:nvSpPr>
        <p:spPr>
          <a:xfrm>
            <a:off x="4937760" y="3383280"/>
            <a:ext cx="146304" cy="146304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3273552"/>
            <a:ext cx="6309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E5EBF5"/>
                </a:solidFill>
                <a:latin typeface="微软雅黑"/>
                <a:ea typeface="微软雅黑"/>
              </a:rPr>
              <a:t>沙龙费一次性付清, 挂牌 10 万/项可选</a:t>
            </a:r>
          </a:p>
        </p:txBody>
      </p:sp>
      <p:sp>
        <p:nvSpPr>
          <p:cNvPr id="13" name="Oval 12"/>
          <p:cNvSpPr/>
          <p:nvPr/>
        </p:nvSpPr>
        <p:spPr>
          <a:xfrm>
            <a:off x="4937760" y="4059936"/>
            <a:ext cx="146304" cy="146304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3950208"/>
            <a:ext cx="6309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E5EBF5"/>
                </a:solidFill>
                <a:latin typeface="微软雅黑"/>
                <a:ea typeface="微软雅黑"/>
              </a:rPr>
              <a:t>对项目方:满租年租金 + 资产增值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37744"/>
            <a:ext cx="109728" cy="5669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"/>
            <a:ext cx="10241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B9C6DC"/>
                </a:solidFill>
                <a:latin typeface="微软雅黑"/>
                <a:ea typeface="微软雅黑"/>
              </a:rPr>
              <a:t>06 · 服务费用与价值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062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服务费用构成(已取消月费 · 不签对赌)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18288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E8C87A"/>
                </a:solidFill>
                <a:latin typeface="微软雅黑"/>
                <a:ea typeface="微软雅黑"/>
              </a:rPr>
              <a:t>元谷 YUANGU</a:t>
            </a:r>
          </a:p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B9C6DC"/>
                </a:solidFill>
                <a:latin typeface="微软雅黑"/>
                <a:ea typeface="微软雅黑"/>
              </a:rPr>
              <a:t>胡教授团队 · 第三方服务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371600"/>
          <a:ext cx="10927080" cy="2651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6126480"/>
                <a:gridCol w="2423160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费用类别</a:t>
                      </a:r>
                    </a:p>
                  </a:txBody>
                  <a:tcPr marL="91440" marR="54864" marT="18288" marB="18288" anchor="ctr">
                    <a:solidFill>
                      <a:srgbClr val="0F24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标准</a:t>
                      </a:r>
                    </a:p>
                  </a:txBody>
                  <a:tcPr marL="91440" marR="54864" marT="18288" marB="18288" anchor="ctr">
                    <a:solidFill>
                      <a:srgbClr val="0F24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支付方式</a:t>
                      </a:r>
                    </a:p>
                  </a:txBody>
                  <a:tcPr marL="91440" marR="54864" marT="18288" marB="18288" anchor="ctr">
                    <a:solidFill>
                      <a:srgbClr val="0F244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招商佣金(核心)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实际成交年租金的 1.5 / 1.75 / 2.0 个月(按面积阶梯)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起租后结算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沙龙执行费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6 场打包 30 万(我方单独收取, 不与他方分润)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★ 一次性付清(或分两次)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挂牌费(可选)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10 万元/项 × 项目方选定项数(最多 5 项)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★ 挂牌前一次性付清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超额奖励(适度)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满租率 ≥ 90% 后给予, 金额适度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正常分期支付(不要求一次性)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4160520"/>
            <a:ext cx="10972800" cy="1828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F27E2D"/>
                </a:solidFill>
                <a:latin typeface="微软雅黑"/>
                <a:ea typeface="微软雅黑"/>
              </a:rPr>
              <a:t>—  </a:t>
            </a:r>
            <a:r>
              <a:rPr sz="1300" b="0">
                <a:solidFill>
                  <a:srgbClr val="212B42"/>
                </a:solidFill>
                <a:latin typeface="微软雅黑"/>
                <a:ea typeface="微软雅黑"/>
              </a:rPr>
              <a:t>取消固定月费 → 我方不要求对赌、不绑保底, 项目方零固定支出压力, 完全按招商成果付费;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F27E2D"/>
                </a:solidFill>
                <a:latin typeface="微软雅黑"/>
                <a:ea typeface="微软雅黑"/>
              </a:rPr>
              <a:t>—  </a:t>
            </a:r>
            <a:r>
              <a:rPr sz="1300" b="0">
                <a:solidFill>
                  <a:srgbClr val="212B42"/>
                </a:solidFill>
                <a:latin typeface="微软雅黑"/>
                <a:ea typeface="微软雅黑"/>
              </a:rPr>
              <a:t>沙龙执行费由我方单独收取、不与他方分润, 建议一次性付清以减少后续财务往来;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F27E2D"/>
                </a:solidFill>
                <a:latin typeface="微软雅黑"/>
                <a:ea typeface="微软雅黑"/>
              </a:rPr>
              <a:t>—  </a:t>
            </a:r>
            <a:r>
              <a:rPr sz="1300" b="0">
                <a:solidFill>
                  <a:srgbClr val="212B42"/>
                </a:solidFill>
                <a:latin typeface="微软雅黑"/>
                <a:ea typeface="微软雅黑"/>
              </a:rPr>
              <a:t>挂牌费 10 万/项由项目方按需选择, 灵活可控;超额奖励仅在满租达标后适度计提、正常给付。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656832"/>
            <a:ext cx="91440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C6D0E2"/>
                </a:solidFill>
                <a:latin typeface="微软雅黑"/>
                <a:ea typeface="微软雅黑"/>
              </a:rPr>
              <a:t>元谷项目 2 万方招商策略汇报 · 危建平总汇报版 (脱敏)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656832"/>
            <a:ext cx="9144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E8C87A"/>
                </a:solidFill>
                <a:latin typeface="微软雅黑"/>
                <a:ea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37744"/>
            <a:ext cx="109728" cy="5669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"/>
            <a:ext cx="10241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B9C6DC"/>
                </a:solidFill>
                <a:latin typeface="微软雅黑"/>
                <a:ea typeface="微软雅黑"/>
              </a:rPr>
              <a:t>06 · 服务费用与价值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062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对项目方的价值:动态租金下的持续增收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18288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E8C87A"/>
                </a:solidFill>
                <a:latin typeface="微软雅黑"/>
                <a:ea typeface="微软雅黑"/>
              </a:rPr>
              <a:t>元谷 YUANGU</a:t>
            </a:r>
          </a:p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B9C6DC"/>
                </a:solidFill>
                <a:latin typeface="微软雅黑"/>
                <a:ea typeface="微软雅黑"/>
              </a:rPr>
              <a:t>胡教授团队 · 第三方服务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352044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417320"/>
            <a:ext cx="91440" cy="146304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563624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满租期年租金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837944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0F244E"/>
                </a:solidFill>
                <a:latin typeface="微软雅黑"/>
                <a:ea typeface="微软雅黑"/>
              </a:rPr>
              <a:t>约 1,460-1,825 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496312"/>
            <a:ext cx="3154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667086"/>
                </a:solidFill>
                <a:latin typeface="微软雅黑"/>
                <a:ea typeface="微软雅黑"/>
              </a:rPr>
              <a:t>2 万㎡ × 2.0-2.5 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1417320"/>
            <a:ext cx="352044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417320"/>
            <a:ext cx="91440" cy="146304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1563624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保底锚点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837944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0F244E"/>
                </a:solidFill>
                <a:latin typeface="微软雅黑"/>
                <a:ea typeface="微软雅黑"/>
              </a:rPr>
              <a:t>≈ 1,460 万/年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496312"/>
            <a:ext cx="3154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667086"/>
                </a:solidFill>
                <a:latin typeface="微软雅黑"/>
                <a:ea typeface="微软雅黑"/>
              </a:rPr>
              <a:t>2.0 元含物业 × 2 万㎡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1417320"/>
            <a:ext cx="352044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1417320"/>
            <a:ext cx="91440" cy="1463040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1563624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资产增值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1837944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0F244E"/>
                </a:solidFill>
                <a:latin typeface="微软雅黑"/>
                <a:ea typeface="微软雅黑"/>
              </a:rPr>
              <a:t>数千万级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496312"/>
            <a:ext cx="3154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667086"/>
                </a:solidFill>
                <a:latin typeface="微软雅黑"/>
                <a:ea typeface="微软雅黑"/>
              </a:rPr>
              <a:t>产业认证 + TOD 板块溢价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640080" y="3200400"/>
          <a:ext cx="10927080" cy="18105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26080"/>
                <a:gridCol w="2560320"/>
                <a:gridCol w="2880360"/>
                <a:gridCol w="2560320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阶段</a:t>
                      </a:r>
                    </a:p>
                  </a:txBody>
                  <a:tcPr marL="91440" marR="54864" marT="18288" marB="18288" anchor="ctr">
                    <a:solidFill>
                      <a:srgbClr val="0F24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租金水平</a:t>
                      </a:r>
                    </a:p>
                  </a:txBody>
                  <a:tcPr marL="91440" marR="54864" marT="18288" marB="18288" anchor="ctr">
                    <a:solidFill>
                      <a:srgbClr val="0F24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年化租金(2 万㎡)</a:t>
                      </a:r>
                    </a:p>
                  </a:txBody>
                  <a:tcPr marL="91440" marR="54864" marT="18288" marB="18288" anchor="ctr">
                    <a:solidFill>
                      <a:srgbClr val="0F24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说明</a:t>
                      </a:r>
                    </a:p>
                  </a:txBody>
                  <a:tcPr marL="91440" marR="54864" marT="18288" marB="18288" anchor="ctr">
                    <a:solidFill>
                      <a:srgbClr val="0F244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招商期(先低招满)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1.5-1.8 元/㎡/天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约 1,095-1,314 万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快速形成产业氛围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满租稳定(后抬升)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2.0-2.5 元/㎡/天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约 1,460-1,825 万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动态平衡, 持续增收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长期保底锚点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2.0 元含物业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约 1,460 万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危建平总已签的稳定数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1E8E5A"/>
                </a:solidFill>
                <a:latin typeface="微软雅黑"/>
                <a:ea typeface="微软雅黑"/>
              </a:rPr>
              <a:t>我方完全按招商成果收费, 与项目方利益高度绑定:招得越快越满, 项目方租金兑现越早越稳。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6656832"/>
            <a:ext cx="91440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C6D0E2"/>
                </a:solidFill>
                <a:latin typeface="微软雅黑"/>
                <a:ea typeface="微软雅黑"/>
              </a:rPr>
              <a:t>元谷项目 2 万方招商策略汇报 · 危建平总汇报版 (脱敏)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656832"/>
            <a:ext cx="9144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E8C87A"/>
                </a:solidFill>
                <a:latin typeface="微软雅黑"/>
                <a:ea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37744"/>
            <a:ext cx="109728" cy="5669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"/>
            <a:ext cx="10241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B9C6DC"/>
                </a:solidFill>
                <a:latin typeface="微软雅黑"/>
                <a:ea typeface="微软雅黑"/>
              </a:rPr>
              <a:t>07 · 合作要点与下一步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062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合作协议要点 + 启动建议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18288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E8C87A"/>
                </a:solidFill>
                <a:latin typeface="微软雅黑"/>
                <a:ea typeface="微软雅黑"/>
              </a:rPr>
              <a:t>元谷 YUANGU</a:t>
            </a:r>
          </a:p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B9C6DC"/>
                </a:solidFill>
                <a:latin typeface="微软雅黑"/>
                <a:ea typeface="微软雅黑"/>
              </a:rPr>
              <a:t>胡教授团队 · 第三方服务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0F244E"/>
                </a:solidFill>
                <a:latin typeface="微软雅黑"/>
                <a:ea typeface="微软雅黑"/>
              </a:rPr>
              <a:t>合作协议核心要点(详见附件协议)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83080"/>
            <a:ext cx="10972800" cy="23774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F27E2D"/>
                </a:solidFill>
                <a:latin typeface="微软雅黑"/>
                <a:ea typeface="微软雅黑"/>
              </a:rPr>
              <a:t>—  </a:t>
            </a:r>
            <a:r>
              <a:rPr sz="1250" b="0">
                <a:solidFill>
                  <a:srgbClr val="212B42"/>
                </a:solidFill>
                <a:latin typeface="微软雅黑"/>
                <a:ea typeface="微软雅黑"/>
              </a:rPr>
              <a:t>服务方:胡教授团队(代表复旦大学住房政策研究中心、上海市科技企业联合会), 以第三方专业服务身份提供招商运营;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F27E2D"/>
                </a:solidFill>
                <a:latin typeface="微软雅黑"/>
                <a:ea typeface="微软雅黑"/>
              </a:rPr>
              <a:t>—  </a:t>
            </a:r>
            <a:r>
              <a:rPr sz="1250" b="0">
                <a:solidFill>
                  <a:srgbClr val="212B42"/>
                </a:solidFill>
                <a:latin typeface="微软雅黑"/>
                <a:ea typeface="微软雅黑"/>
              </a:rPr>
              <a:t>服务范围:元谷 4#+5# 楼 5F+ 共约 2 万㎡产业研发办公的招商策划、执行、政府对接、品牌活动;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F27E2D"/>
                </a:solidFill>
                <a:latin typeface="微软雅黑"/>
                <a:ea typeface="微软雅黑"/>
              </a:rPr>
              <a:t>—  </a:t>
            </a:r>
            <a:r>
              <a:rPr sz="1250" b="0">
                <a:solidFill>
                  <a:srgbClr val="212B42"/>
                </a:solidFill>
                <a:latin typeface="微软雅黑"/>
                <a:ea typeface="微软雅黑"/>
              </a:rPr>
              <a:t>★ 排他性:在协议期内, 项目方授予我方该范围独家招商运营权, 不另行委托第三方机构;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F27E2D"/>
                </a:solidFill>
                <a:latin typeface="微软雅黑"/>
                <a:ea typeface="微软雅黑"/>
              </a:rPr>
              <a:t>—  </a:t>
            </a:r>
            <a:r>
              <a:rPr sz="1250" b="0">
                <a:solidFill>
                  <a:srgbClr val="212B42"/>
                </a:solidFill>
                <a:latin typeface="微软雅黑"/>
                <a:ea typeface="微软雅黑"/>
              </a:rPr>
              <a:t>服务费用:招商佣金(核心)+ 沙龙费(一次性)+ 挂牌费(10 万/项可选)+ 超额奖励(适度), 无月费;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F27E2D"/>
                </a:solidFill>
                <a:latin typeface="微软雅黑"/>
                <a:ea typeface="微软雅黑"/>
              </a:rPr>
              <a:t>—  </a:t>
            </a:r>
            <a:r>
              <a:rPr sz="1250" b="0">
                <a:solidFill>
                  <a:srgbClr val="212B42"/>
                </a:solidFill>
                <a:latin typeface="微软雅黑"/>
                <a:ea typeface="微软雅黑"/>
              </a:rPr>
              <a:t>租金策略:执行动态租金平衡(先低招满、后抬升), 长期锚定保底 2.0 元(含物业)。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5720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0F244E"/>
                </a:solidFill>
                <a:latin typeface="微软雅黑"/>
                <a:ea typeface="微软雅黑"/>
              </a:rPr>
              <a:t>启动建议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983480"/>
            <a:ext cx="10972800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F27E2D"/>
                </a:solidFill>
                <a:latin typeface="微软雅黑"/>
                <a:ea typeface="微软雅黑"/>
              </a:rPr>
              <a:t>—  </a:t>
            </a:r>
            <a:r>
              <a:rPr sz="1250" b="0">
                <a:solidFill>
                  <a:srgbClr val="212B42"/>
                </a:solidFill>
                <a:latin typeface="微软雅黑"/>
                <a:ea typeface="微软雅黑"/>
              </a:rPr>
              <a:t>建议尽快确定合作意向并签署协议, 启动后第 3 周完成团队就位 + 资源接入;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F27E2D"/>
                </a:solidFill>
                <a:latin typeface="微软雅黑"/>
                <a:ea typeface="微软雅黑"/>
              </a:rPr>
              <a:t>—  </a:t>
            </a:r>
            <a:r>
              <a:rPr sz="1250" b="0">
                <a:solidFill>
                  <a:srgbClr val="212B42"/>
                </a:solidFill>
                <a:latin typeface="微软雅黑"/>
                <a:ea typeface="微软雅黑"/>
              </a:rPr>
              <a:t>赶 2026/9/30 硬节点(2,000㎡ 签约), 错过 7 月窗口节点风险陡增;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F27E2D"/>
                </a:solidFill>
                <a:latin typeface="微软雅黑"/>
                <a:ea typeface="微软雅黑"/>
              </a:rPr>
              <a:t>—  </a:t>
            </a:r>
            <a:r>
              <a:rPr sz="1250" b="0">
                <a:solidFill>
                  <a:srgbClr val="212B42"/>
                </a:solidFill>
                <a:latin typeface="微软雅黑"/>
                <a:ea typeface="微软雅黑"/>
              </a:rPr>
              <a:t>我方可先提供招商物料与策略, 与项目方并行推进合同流程。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656832"/>
            <a:ext cx="91440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C6D0E2"/>
                </a:solidFill>
                <a:latin typeface="微软雅黑"/>
                <a:ea typeface="微软雅黑"/>
              </a:rPr>
              <a:t>元谷项目 2 万方招商策略汇报 · 危建平总汇报版 (脱敏)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656832"/>
            <a:ext cx="9144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E8C87A"/>
                </a:solidFill>
                <a:latin typeface="微软雅黑"/>
                <a:ea typeface="微软雅黑"/>
              </a:rPr>
              <a:t>15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2194560"/>
            <a:ext cx="146304" cy="2011680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2286000"/>
            <a:ext cx="100584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3800" b="1">
                <a:solidFill>
                  <a:srgbClr val="FFFFFF"/>
                </a:solidFill>
                <a:latin typeface="微软雅黑"/>
                <a:ea typeface="微软雅黑"/>
              </a:rPr>
              <a:t>先低价招满 · 后动态抬租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E8C87A"/>
                </a:solidFill>
                <a:latin typeface="微软雅黑"/>
                <a:ea typeface="微软雅黑"/>
              </a:rPr>
              <a:t>IP + AI 双轨 · 仲量联行大数据赋能 · 专业第三方服务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FD8E8"/>
                </a:solidFill>
                <a:latin typeface="微软雅黑"/>
                <a:ea typeface="微软雅黑"/>
              </a:rPr>
              <a:t>以招商成果说话, 与项目方利益高度绑定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17320" y="5166360"/>
            <a:ext cx="5669280" cy="502920"/>
          </a:xfrm>
          <a:prstGeom prst="round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胡教授团队(代表复旦住房政策研究中心 · 上海市科企联)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59436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FB2D0"/>
                </a:solidFill>
                <a:latin typeface="微软雅黑"/>
                <a:ea typeface="微软雅黑"/>
              </a:rPr>
              <a:t>呈:危建平总  ·  期待与项目方达成合作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