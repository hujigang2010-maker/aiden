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07492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8595360" y="914400"/>
            <a:ext cx="3108960" cy="3108960"/>
          </a:xfrm>
          <a:prstGeom prst="rect">
            <a:avLst/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144000" y="1463040"/>
            <a:ext cx="2011680" cy="201168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051560"/>
            <a:ext cx="8229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数 据 合 作 方 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600200"/>
            <a:ext cx="1005840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4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易居研究院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  ×  </a:t>
            </a:r>
            <a:r>
              <a:rPr sz="3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复旦大学住房政策研究中心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320040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杨浦区办公楼宇数据系统 · 试点合作项目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379476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基于 16 字段需求 + 空置率定制 · 行业首份全域数据 · 双方联合发布、共同署名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539496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5532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项目名称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杨浦区办公楼宇数据采集试点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34840" y="539496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532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报价日期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2026 年 6 月 24 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5394960"/>
            <a:ext cx="3383280" cy="868680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20" y="5532120"/>
            <a:ext cx="30175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有效期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30 个自然日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一、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项目概况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Project Overview · 双方合作的范围、维度与产出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57400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057400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500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试点范围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43784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17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杨浦区全域（五角场、杨浦滨江为重点）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2057400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2057400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81728" y="23500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数据维度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700016" y="2843784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81728" y="3017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贵方 16 字段需求 + 空置率 + 衍生分析指标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01584" y="2057400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01584" y="2057400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49056" y="2350008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交付周期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467344" y="2843784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6" y="3017520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首期 2-3 周 · 季度更新机制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1596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315968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4608576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数据规模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32688" y="5102352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7608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约 600 栋办公楼宇 + 5,000+ 入驻企业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334256" y="431596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34256" y="4315968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681728" y="4608576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合作模式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00016" y="5102352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681728" y="527608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 + 分析包，可按范围弹性升级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01584" y="4315968"/>
            <a:ext cx="3529584" cy="19659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01584" y="4315968"/>
            <a:ext cx="109728" cy="196596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49056" y="4608576"/>
            <a:ext cx="298094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联合发布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467344" y="5102352"/>
            <a:ext cx="64008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449056" y="5276088"/>
            <a:ext cx="29260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研究院与我方共同署名、共同对外发布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二、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项目边界 · 为什么需要收费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数据采集、建模与发布存在客观成本与风险，合理收费是项目可持续的前提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3584448" cy="91440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3584448" cy="50292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94560"/>
            <a:ext cx="308152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识别空置率存在不确定性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2461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空置率依赖 AI 多源推断（POI / 招聘 / 入驻面积反推）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90448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客观存在 ±5% 误差，需持续建模、校准与抽样验证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56285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模型研发与维护构成真实、持续的投入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103120"/>
            <a:ext cx="3584448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514600"/>
            <a:ext cx="3584448" cy="50292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2194560"/>
            <a:ext cx="308152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数据源不统一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08576" y="32461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高德 / 企查查 / 中介 / 公开网络口径各不相同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90448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需大量清洗、对齐、交叉校验与去重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456285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“爬楼”字段更需人工实地补采与整合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103120"/>
            <a:ext cx="3584448" cy="32461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8431" y="2103120"/>
            <a:ext cx="3584448" cy="91440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2514600"/>
            <a:ext cx="3584448" cy="50292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02751" y="2194560"/>
            <a:ext cx="3081528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涉及对外发布合规风险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39327" y="324612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联合署名对外发布，需共同承担数据责任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7" y="390448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PII 脱敏、口径合规、对外解释均需把关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456285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•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合规审核与风险兜底产生实际成本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62356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66928" y="5623560"/>
            <a:ext cx="2194560" cy="86868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5623560"/>
            <a:ext cx="219456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收费合理化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71800" y="5623560"/>
            <a:ext cx="841248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正因建模不确定性、数据源整合与发布合规均需真实投入，项目以专业服务计费 —— 收费对应的是“可信、可用、可对外发布”的数据成果。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三、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合作双方与分工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强强联合：AI 数据能力 + 学术与政策影响力，共同打造行业标杆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074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5074920" cy="8686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87168"/>
            <a:ext cx="5074920" cy="4846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12848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易居研究院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ECF4"/>
                </a:solidFill>
                <a:latin typeface="WenQuanYi Micro Hei"/>
                <a:ea typeface="WenQuanYi Micro Hei"/>
                <a:cs typeface="WenQuanYi Micro Hei"/>
              </a:rPr>
              <a:t>AI 数据采集与分析方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8408" y="3200400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自动化多源数据采集（高德 / 企查查 / 公开网络）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78408" y="3877056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空置率自有模型测算、行业分布与板块迁徙分析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78408" y="455371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可视化报告、数据系统与招商线索产出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" y="5230368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16 区一键复制的方法论与采集脚本资产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47104" y="2103120"/>
            <a:ext cx="5074920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547104" y="2103120"/>
            <a:ext cx="5074920" cy="86868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547104" y="2487168"/>
            <a:ext cx="5074920" cy="484632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67144" y="2212848"/>
            <a:ext cx="45262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复旦大学住房政策研究中心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ECF4"/>
                </a:solidFill>
                <a:latin typeface="WenQuanYi Micro Hei"/>
                <a:ea typeface="WenQuanYi Micro Hei"/>
                <a:cs typeface="WenQuanYi Micro Hei"/>
              </a:rPr>
              <a:t>学术背书与联合发布方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58584" y="3200400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权威学术背书与住房 / 产业政策研究框架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58584" y="3877056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数据口径与研究方法学审核把关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58584" y="4553712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联合署名、共同对外发布行业报告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58584" y="5230368"/>
            <a:ext cx="4343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●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对接决策层、提升成果政策影响力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733288" y="3657600"/>
            <a:ext cx="713232" cy="713232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33288" y="3703320"/>
            <a:ext cx="713232" cy="62179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+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四、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合作模式 · 服务三段结构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把“服务”拆清楚：数据研究建模 → AI 分析输出 → 报告与对外发布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240280"/>
            <a:ext cx="3456432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240280"/>
            <a:ext cx="3456432" cy="96012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743200"/>
            <a:ext cx="3456432" cy="4572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286000"/>
            <a:ext cx="777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286000"/>
            <a:ext cx="2221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数据研究与模型部分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456432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字段体系与口径定义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0233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空置率模型与方法学设计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5902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数据标准、误差边界与验证规则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" y="5157216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学术框架 + 研究方法共建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0832" y="2240280"/>
            <a:ext cx="3456432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70832" y="2240280"/>
            <a:ext cx="3456432" cy="96012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743200"/>
            <a:ext cx="3456432" cy="45720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26864" y="2286000"/>
            <a:ext cx="777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76672" y="2286000"/>
            <a:ext cx="2221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分析与输出部分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90872" y="3456432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多源数据自动化采集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90872" y="40233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交叉验证、清洗与对齐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90872" y="45902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行业分布 / 板块迁徙分析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90872" y="5157216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可视化图表与数据系统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74736" y="2240280"/>
            <a:ext cx="3456432" cy="36118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174736" y="2240280"/>
            <a:ext cx="3456432" cy="96012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8174736" y="2743200"/>
            <a:ext cx="3456432" cy="4572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8" y="2286000"/>
            <a:ext cx="7772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0576" y="2286000"/>
            <a:ext cx="2221992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报告与对外发布部分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94776" y="3456432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分析报告编制与排版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94776" y="4023360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联合署名、共同对外发布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94776" y="4590288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发布前合规审核流程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94776" y="5157216"/>
            <a:ext cx="2907792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对外口径与解释统一</a:t>
            </a:r>
          </a:p>
        </p:txBody>
      </p:sp>
      <p:sp>
        <p:nvSpPr>
          <p:cNvPr id="36" name="Chevron 35"/>
          <p:cNvSpPr/>
          <p:nvPr/>
        </p:nvSpPr>
        <p:spPr>
          <a:xfrm>
            <a:off x="4050791" y="3703320"/>
            <a:ext cx="310896" cy="566928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Chevron 36"/>
          <p:cNvSpPr/>
          <p:nvPr/>
        </p:nvSpPr>
        <p:spPr>
          <a:xfrm>
            <a:off x="7854696" y="3703320"/>
            <a:ext cx="310896" cy="566928"/>
          </a:xfrm>
          <a:prstGeom prst="chevron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66928" y="6053328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说明：</a:t>
            </a:r>
            <a:r>
              <a:rPr sz="12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三段服务既相互独立又彼此衔接，分别对应研究、技术与发布三类投入，便于分工计价与责任界定。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五、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数据 + 分析合作内容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一体化的数据采集、分析与联合发布产出（空置率由我方 AI 自有模型测算）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3584448" cy="713232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87168"/>
            <a:ext cx="3584448" cy="374904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9424"/>
            <a:ext cx="3584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基础数据层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08960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楼宇名称、所属板块、物业类型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712464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物业等级、总建筑面积、竣工时间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77824" y="431596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入驻企业、所属行业、经营状态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77824" y="491947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结构化 Excel 数据表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97680" y="214884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4297680" y="2148840"/>
            <a:ext cx="3584448" cy="713232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2487168"/>
            <a:ext cx="3584448" cy="374904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249424"/>
            <a:ext cx="3584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分析模型层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3108960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报价 / 成交租金、物业费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3712464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租赁面积、免租期（抽样估算）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431596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空置率动态模型（AI 自有测算）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08576" y="491947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行业分布图谱 + 板块迁徙分析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28431" y="2148840"/>
            <a:ext cx="3584448" cy="3657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028431" y="2148840"/>
            <a:ext cx="3584448" cy="713232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28431" y="2487168"/>
            <a:ext cx="3584448" cy="374904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028431" y="2249424"/>
            <a:ext cx="358444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成果交付层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39327" y="3108960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Excel 数据 + 40-60 页分析报告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39327" y="3712464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可视化图表与专题图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339327" y="4315968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联合署名行业专报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39327" y="4919472"/>
            <a:ext cx="3035808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季度更新机制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6928" y="598932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说明：</a:t>
            </a:r>
            <a:r>
              <a:rPr sz="12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空置率全部由我方 AI 多源交叉自有模型测算（误差 ±5%），不含任何第三方机构采购付费项。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六、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16 字段覆盖 · AI 可达性对照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逐项对照贵方原始需求；标注需实地踏勘（“爬楼”）的字段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103120"/>
            <a:ext cx="5303520" cy="420624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103120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字段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78608" y="2103120"/>
            <a:ext cx="822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难度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2103120"/>
            <a:ext cx="960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AI可达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103120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采集方式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523744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523744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楼宇名称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78608" y="2523744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01568" y="2523744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61688" y="2523744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66928" y="2939796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939796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所属板块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78608" y="2939796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01568" y="2939796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61688" y="2939796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55848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55848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物业类型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78608" y="3355848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01568" y="3355848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95%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361688" y="3355848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66928" y="3771900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771900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物业等级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78608" y="3771900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中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01568" y="3771900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80%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61688" y="3771900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+ 推断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187952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187952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总建筑面积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78608" y="4187952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中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401568" y="4187952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85%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361688" y="4187952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66928" y="4604004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604004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竣工时间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578608" y="4604004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401568" y="4604004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95%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361688" y="4604004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66928" y="5020056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020056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入驻企业名称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78608" y="5020056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401568" y="5020056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361688" y="5020056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6928" y="5436108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436108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入驻企业行业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578608" y="5436108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401568" y="5436108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361688" y="5436108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72200" y="2103120"/>
            <a:ext cx="5303520" cy="420624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172200" y="2103120"/>
            <a:ext cx="2011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字段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183880" y="2103120"/>
            <a:ext cx="8229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难度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006840" y="2103120"/>
            <a:ext cx="96012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AI可达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966960" y="2103120"/>
            <a:ext cx="150876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采集方式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172200" y="2523744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336792" y="2523744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企业经营状态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183880" y="2523744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易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9006840" y="2523744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100%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9966960" y="2523744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172200" y="2939796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336792" y="2939796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报价租金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8183880" y="2939796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中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006840" y="2939796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85%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966960" y="2939796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+ 抽样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172200" y="3355848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6336792" y="3355848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物业费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8183880" y="3355848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中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9006840" y="3355848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75%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966960" y="3355848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+ 抽样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172200" y="3771900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336792" y="3771900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标准层层高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8183880" y="3771900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难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9006840" y="3771900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60%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9966960" y="3771900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需实地踏勘</a:t>
            </a:r>
          </a:p>
        </p:txBody>
      </p:sp>
      <p:sp>
        <p:nvSpPr>
          <p:cNvPr id="79" name="Rectangle 78"/>
          <p:cNvSpPr/>
          <p:nvPr/>
        </p:nvSpPr>
        <p:spPr>
          <a:xfrm>
            <a:off x="6172200" y="4187952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6336792" y="4187952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成交租金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8183880" y="4187952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难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9006840" y="4187952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60%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9966960" y="4187952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需实地踏勘</a:t>
            </a:r>
          </a:p>
        </p:txBody>
      </p:sp>
      <p:sp>
        <p:nvSpPr>
          <p:cNvPr id="84" name="Rectangle 83"/>
          <p:cNvSpPr/>
          <p:nvPr/>
        </p:nvSpPr>
        <p:spPr>
          <a:xfrm>
            <a:off x="6172200" y="4604004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6336792" y="4604004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免租期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8183880" y="4604004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难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06840" y="4604004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50%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9966960" y="4604004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需实地踏勘</a:t>
            </a:r>
          </a:p>
        </p:txBody>
      </p:sp>
      <p:sp>
        <p:nvSpPr>
          <p:cNvPr id="89" name="Rectangle 88"/>
          <p:cNvSpPr/>
          <p:nvPr/>
        </p:nvSpPr>
        <p:spPr>
          <a:xfrm>
            <a:off x="6172200" y="5020056"/>
            <a:ext cx="5303520" cy="41605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336792" y="5020056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租赁面积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8183880" y="5020056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难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9006840" y="5020056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50%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9966960" y="5020056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需实地踏勘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172200" y="5436108"/>
            <a:ext cx="5303520" cy="416052"/>
          </a:xfrm>
          <a:prstGeom prst="rect">
            <a:avLst/>
          </a:prstGeom>
          <a:solidFill>
            <a:srgbClr val="ECEF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336792" y="5436108"/>
            <a:ext cx="1847088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入驻楼层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8183880" y="5436108"/>
            <a:ext cx="8229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难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9006840" y="5436108"/>
            <a:ext cx="96012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40%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9966960" y="5436108"/>
            <a:ext cx="1508760" cy="41605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需实地踏勘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566928" y="6236208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● 字段整体覆盖率约 100%；</a:t>
            </a:r>
            <a:r>
              <a:rPr sz="12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标红 4 项为需“爬楼”实地踏勘字段，AI 仅能抽样估算 —— 详见第 06 页免责说明。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七、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免责声明与责任共担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明确数据边界与双方权责，确保合作长期、稳健、可持续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48640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5486400" cy="77724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87168"/>
            <a:ext cx="5486400" cy="393192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86968" y="2240280"/>
            <a:ext cx="49377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⚠  数据免责声明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" y="3108960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对于 AI 无法通过自动化手段、需“爬楼”实地踏勘方可获取的字段（如入驻楼层、租赁面积、成交租金、免租期、标准层层高等），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895344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我方提供尽力采集与多源抽样估算，但不对该类数据的完整性与绝对准确性承担全责保障。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681728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上述字段以“抽样 + 估算 + 标注口径”方式交付，并明确标识置信区间，供研究与决策参考。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5468112"/>
            <a:ext cx="4800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 AI 自动采集字段，我方按约定精度（误差 ±5%）负责。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27648" y="2103120"/>
            <a:ext cx="5303520" cy="4160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27648" y="2103120"/>
            <a:ext cx="5303520" cy="77724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327648" y="2487168"/>
            <a:ext cx="5303520" cy="39319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47688" y="2240280"/>
            <a:ext cx="47548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⚖  责任共担条款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93408" y="3108960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双方对共同对外发布的数据承担共同责任与履约义务，而非仅由复旦大学住房政策研究中心单方承担。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8" y="3895344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联合署名报告中的数据口径、结论与对外解释，由双方共同确认后发布。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93408" y="4681728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如因数据引发对外争议，双方依约定分工共同应对、共同处置。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93408" y="5468112"/>
            <a:ext cx="46177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• 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我方对采集与建模流程负责，研究院对研究框架与发布合规共同负责。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八、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报价结构 · 分阶段结构价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不给单一总价，给“结构价”：试点先行 · 数据另计 · 发布前置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868680" cy="10972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2148840"/>
            <a:ext cx="868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27632" y="2304288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试点阶段（PoC）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55064" y="2752344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以小范围样例验证数据质量与模型效果；为 token / 算力等试验性使用预付费，预付费可在转入正式合作时按约定抵扣。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423160"/>
            <a:ext cx="3977639" cy="548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778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52360" y="2423160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先付 ≥ ¥80,000 · 先付后开票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392424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66928" y="3392424"/>
            <a:ext cx="868680" cy="109728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66928" y="3392424"/>
            <a:ext cx="868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27632" y="3547872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数据支持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55064" y="3995928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需第三方数据、额外实地采集或“爬楼”补采时，费用单独计价或由双方按约定共担，口径与分摊透明。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06640" y="3666744"/>
            <a:ext cx="3977639" cy="548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7780">
            <a:solidFill>
              <a:srgbClr val="2E8B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52360" y="3666744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另计 / 双方共担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36008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566928" y="4636008"/>
            <a:ext cx="868680" cy="109728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636008"/>
            <a:ext cx="8686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27632" y="4791456"/>
            <a:ext cx="38404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7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免责与发布审核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55064" y="5239512"/>
            <a:ext cx="5486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免责边界（“爬楼”字段不承担全责）与对外发布审核流程，须双方在合作启动前书面前置确认。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910328"/>
            <a:ext cx="3977639" cy="54864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7780">
            <a:solidFill>
              <a:srgbClr val="B222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452360" y="4910328"/>
            <a:ext cx="38862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前置确认 · 必备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943600"/>
            <a:ext cx="11064240" cy="713232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943600"/>
            <a:ext cx="106070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关键：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采用“分阶段结构价”而非一次性总价 —— 试点 PoC 先行验证，数据支持与发布审核分项约定，双方风险可控、责任清晰。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九、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报价方案 · 三个版本 + 递补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以 ¥70,000 为最低保底报价；可按需选择纯报价、保底或扩范围版本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11680"/>
            <a:ext cx="3310128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011680"/>
            <a:ext cx="3310128" cy="105156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514600"/>
            <a:ext cx="3310128" cy="54864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" y="2157984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5ECF5"/>
                </a:solidFill>
                <a:latin typeface="WenQuanYi Micro Hei"/>
                <a:ea typeface="WenQuanYi Micro Hei"/>
                <a:cs typeface="WenQuanYi Micro Hei"/>
              </a:rPr>
              <a:t>方案一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纯报价版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3246120"/>
            <a:ext cx="33101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¥70,000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4023360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杨浦试点固定总价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" y="4352544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 + 分析一体交付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681728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口径清晰、一价到底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32688" y="501091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适合快速决策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51376" y="2011680"/>
            <a:ext cx="3310128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151376" y="2011680"/>
            <a:ext cx="3310128" cy="105156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151376" y="2514600"/>
            <a:ext cx="3310128" cy="548640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25696" y="2157984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5ECF5"/>
                </a:solidFill>
                <a:latin typeface="WenQuanYi Micro Hei"/>
                <a:ea typeface="WenQuanYi Micro Hei"/>
                <a:cs typeface="WenQuanYi Micro Hei"/>
              </a:rPr>
              <a:t>方案二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保底报价版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51376" y="3246120"/>
            <a:ext cx="33101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¥70,000 起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136" y="4023360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¥70,000 为最低保底线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17136" y="4352544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作为合作基准价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17136" y="4681728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不低于此价承接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17136" y="501091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可叠加增值条款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35824" y="2011680"/>
            <a:ext cx="3310128" cy="3429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735824" y="2011680"/>
            <a:ext cx="3310128" cy="105156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735824" y="2514600"/>
            <a:ext cx="3310128" cy="54864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9811512" y="2121408"/>
            <a:ext cx="1097280" cy="310896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811512" y="2130552"/>
            <a:ext cx="1097280" cy="2926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★ 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10144" y="2157984"/>
            <a:ext cx="2761488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E5ECF5"/>
                </a:solidFill>
                <a:latin typeface="WenQuanYi Micro Hei"/>
                <a:ea typeface="WenQuanYi Micro Hei"/>
                <a:cs typeface="WenQuanYi Micro Hei"/>
              </a:rPr>
              <a:t>方案三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保底 + 扩范围版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735824" y="3246120"/>
            <a:ext cx="3310128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¥70,000 +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01584" y="4023360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保底 ¥70,000 基础上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01584" y="4352544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新增“扩大范围”收费项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101584" y="4681728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范围扩大按项加收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01584" y="5010912"/>
            <a:ext cx="2670048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·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上不封顶、弹性可控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66928" y="5650992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566928" y="5650992"/>
            <a:ext cx="1828800" cy="868680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66928" y="5650992"/>
            <a:ext cx="182880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递补方案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变动报价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606040" y="5760720"/>
            <a:ext cx="8778240" cy="685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按规模 / 频次 / 成效浮动定价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：全市 16 区复制单价递减、季度更新订阅、招商成效分成 —— 作为长期合作的弹性补充。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九-A、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方案三 · “扩大范围”收费项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在 ¥70,000 保底之上，范围每扩大一档，按下列标准弹性加收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057400"/>
            <a:ext cx="11064240" cy="566928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057400"/>
            <a:ext cx="109728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保底基准  ¥70,000</a:t>
            </a:r>
            <a:r>
              <a:rPr sz="130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（杨浦区全域 · 16 字段 · 数据+分析）  +  以下扩范围项按需叠加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80360"/>
            <a:ext cx="53949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880360"/>
            <a:ext cx="109728" cy="148132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6968" y="3081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① 扩大区域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6112" y="353872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新增其他行政区采集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86968" y="3904488"/>
            <a:ext cx="4754880" cy="3474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86968" y="3904488"/>
            <a:ext cx="4754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+¥40K-70K / 区（规模递减 15-25%）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6208" y="2880360"/>
            <a:ext cx="53949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6208" y="2880360"/>
            <a:ext cx="109728" cy="148132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56248" y="308152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② 扩大字段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65392" y="353872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增加非约定字段 / 加深“爬楼”实地踏勘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556248" y="3904488"/>
            <a:ext cx="4754880" cy="3474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56248" y="3904488"/>
            <a:ext cx="4754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+¥800 / 栋（实地走楼）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617720"/>
            <a:ext cx="53949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4617720"/>
            <a:ext cx="109728" cy="148132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86968" y="481888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③ 扩大频次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96112" y="527608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由季度更新升级为月度 / 实时追踪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86968" y="5641848"/>
            <a:ext cx="4754880" cy="3474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5641848"/>
            <a:ext cx="4754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+¥18K / 季 起（按频次）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36208" y="4617720"/>
            <a:ext cx="5394960" cy="148132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236208" y="4617720"/>
            <a:ext cx="109728" cy="148132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8" y="4818888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④ 扩大栋数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65392" y="5276088"/>
            <a:ext cx="48463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超出约定 600 栋的增量楼宇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56248" y="5641848"/>
            <a:ext cx="4754880" cy="347472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56248" y="5641848"/>
            <a:ext cx="475488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5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+按增量楼宇数量计价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66928" y="6272784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逻辑：</a:t>
            </a:r>
            <a:r>
              <a:rPr sz="12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保底锁定基础收益，扩范围项按实际工作量透明计价，保障双方利益、上不封顶。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九-B、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递补方案 · 变动报价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面向长期、全市规模化合作的弹性定价机制（作为三方案之外的递补选项）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87168"/>
            <a:ext cx="3584448" cy="484632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12848"/>
            <a:ext cx="3584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规模递减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ECF4"/>
                </a:solidFill>
                <a:latin typeface="WenQuanYi Micro Hei"/>
                <a:ea typeface="WenQuanYi Micro Hei"/>
                <a:cs typeface="WenQuanYi Micro Hei"/>
              </a:rPr>
              <a:t>按区复制单价递减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86968" y="320040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杨浦试点 ¥70K → 中心区 ¥60-70K/区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" y="385876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外围区低至 ¥40K/区，规模效应让单价递减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51713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采购越多、单区越低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97680" y="210312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4297680" y="210312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2487168"/>
            <a:ext cx="3584448" cy="484632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12848"/>
            <a:ext cx="3584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订阅更新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ECF4"/>
                </a:solidFill>
                <a:latin typeface="WenQuanYi Micro Hei"/>
                <a:ea typeface="WenQuanYi Micro Hei"/>
                <a:cs typeface="WenQuanYi Micro Hei"/>
              </a:rPr>
              <a:t>按更新频次订阅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17720" y="320040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季度 / 月度更新弹性订阅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385876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数据系统 + 网页端持续服务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17720" y="451713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按服务周期滚动计费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28431" y="2103120"/>
            <a:ext cx="3584448" cy="3200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28431" y="2103120"/>
            <a:ext cx="3584448" cy="86868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8028431" y="2487168"/>
            <a:ext cx="3584448" cy="484632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028431" y="2212848"/>
            <a:ext cx="3584448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成效分成</a:t>
            </a:r>
          </a:p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E6ECF4"/>
                </a:solidFill>
                <a:latin typeface="WenQuanYi Micro Hei"/>
                <a:ea typeface="WenQuanYi Micro Hei"/>
                <a:cs typeface="WenQuanYi Micro Hei"/>
              </a:rPr>
              <a:t>招商成效浮动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48471" y="3200400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数据转招商线索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48471" y="3858768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按落地招商成果分成 10-15%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48471" y="4517136"/>
            <a:ext cx="3035808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▸ 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与研究院共享成果收益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77840"/>
            <a:ext cx="11064240" cy="868680"/>
          </a:xfrm>
          <a:prstGeom prst="roundRect">
            <a:avLst>
              <a:gd name="adj" fmla="val 6000"/>
            </a:avLst>
          </a:prstGeom>
          <a:solidFill>
            <a:srgbClr val="F4F6F9"/>
          </a:solidFill>
          <a:ln w="15240">
            <a:solidFill>
              <a:srgbClr val="1329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8680" y="5577840"/>
            <a:ext cx="10607040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适用场景：</a:t>
            </a: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当合作从“杨浦单点试点”走向“上海全域 + 长期共建”时，以变动报价递补，实现风险共担、收益共享、规模越大双方越受益。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十、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试点 → 全市 16 区复制路径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杨浦做透 → 中心城区 → 浦东 → 外围 · 规模效应让单区报价递减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488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4884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423160"/>
            <a:ext cx="2121408" cy="29260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224028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阶段一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2880360"/>
            <a:ext cx="17556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杨浦区（试点）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374904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Month 1-2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6928" y="40873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¥70K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45445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单区保底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807208" y="21488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2807208" y="214884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807208" y="2423160"/>
            <a:ext cx="2121408" cy="292608"/>
          </a:xfrm>
          <a:prstGeom prst="rect">
            <a:avLst/>
          </a:prstGeom>
          <a:solidFill>
            <a:srgbClr val="1F3C6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07208" y="224028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阶段二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90088" y="2880360"/>
            <a:ext cx="17556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静安+徐汇+黄浦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7208" y="374904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Month 3-4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07208" y="40873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1F3C66"/>
                </a:solidFill>
                <a:latin typeface="WenQuanYi Micro Hei"/>
                <a:ea typeface="WenQuanYi Micro Hei"/>
                <a:cs typeface="WenQuanYi Micro Hei"/>
              </a:rPr>
              <a:t>¥70K/区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07208" y="45445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中心 3 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7488" y="21488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5047488" y="214884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047488" y="2423160"/>
            <a:ext cx="2121408" cy="292608"/>
          </a:xfrm>
          <a:prstGeom prst="rect">
            <a:avLst/>
          </a:prstGeom>
          <a:solidFill>
            <a:srgbClr val="2E8B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47488" y="224028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阶段三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30368" y="2880360"/>
            <a:ext cx="17556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长宁+虹口+普陀+闸北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47488" y="374904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Month 5-6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47488" y="40873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2E8B8B"/>
                </a:solidFill>
                <a:latin typeface="WenQuanYi Micro Hei"/>
                <a:ea typeface="WenQuanYi Micro Hei"/>
                <a:cs typeface="WenQuanYi Micro Hei"/>
              </a:rPr>
              <a:t>¥60K/区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047488" y="45445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中心 4 区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287768" y="21488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7287768" y="214884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287768" y="2423160"/>
            <a:ext cx="2121408" cy="29260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287768" y="224028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阶段四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70648" y="2880360"/>
            <a:ext cx="17556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浦东（陆家嘴/张江/临港）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87768" y="374904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Month 7-9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87768" y="40873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¥80K/区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287768" y="45445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单区最大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528048" y="2148840"/>
            <a:ext cx="2121408" cy="27432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28048" y="2148840"/>
            <a:ext cx="2121408" cy="566928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528048" y="2423160"/>
            <a:ext cx="2121408" cy="292608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528048" y="2240280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阶段五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10928" y="2880360"/>
            <a:ext cx="1755648" cy="868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外围 7 区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528048" y="3749040"/>
            <a:ext cx="2121408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Month 10-12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28048" y="4087368"/>
            <a:ext cx="212140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¥40K/区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528048" y="4544568"/>
            <a:ext cx="2121408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量大价低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566928" y="5212080"/>
            <a:ext cx="11064240" cy="109728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14400" y="5321808"/>
            <a:ext cx="685800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上海全 16 区 · 全年覆盖（累计）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行业首份全域数据 · 双方联合发布权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89520" y="5321808"/>
            <a:ext cx="3840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2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约 ¥1,048,000</a:t>
            </a:r>
          </a:p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（含一年维护，按变动报价递减）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十一、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我方差异化价值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8 维度对比传统数据服务，AI 驱动、可复制、可联合发布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1031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194560" y="2103120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10312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数据颗粒度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487168" y="210312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楼宇级 / 企业级 / 楼层级，细 10-100 倍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21031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190488" y="2103120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818120" y="2103120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81928" y="2103120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数据动态性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10728" y="2103120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月度更新可选 / 实时企业变更追踪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18211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66928" y="3182112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194560" y="3182112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" y="3182112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租金口径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87168" y="3182112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楼宇均值 + 报价/成交双口径，可下钻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90488" y="318211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6190488" y="3182112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818120" y="3182112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81928" y="3182112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定制能力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10728" y="3182112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完全可定制 / 1-2 周快速交付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426110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66928" y="4261104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94560" y="4261104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4261104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招商可用性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487168" y="4261104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自带企业匹配 + 招商策略，数据转线索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190488" y="426110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190488" y="4261104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818120" y="4261104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81928" y="4261104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AI 能力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10728" y="4261104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自动化 + 多源交叉，16 区可快速复制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66928" y="5340096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566928" y="5340096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2194560" y="5340096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58368" y="5340096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合作模式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487168" y="5340096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 + 分析 + 长期合作 + 联合发布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90488" y="5340096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6190488" y="5340096"/>
            <a:ext cx="1737360" cy="91440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7818120" y="5340096"/>
            <a:ext cx="109728" cy="9144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281928" y="5340096"/>
            <a:ext cx="155448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联合署名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110728" y="5340096"/>
            <a:ext cx="3291840" cy="914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研究院主名 · 我方副署 · 行业首份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十二、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落地时间表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8 周内完成杨浦试点项目，节点清晰、交付可控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15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3611880"/>
            <a:ext cx="10515600" cy="381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66928" y="22402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22402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423160"/>
            <a:ext cx="1335024" cy="2011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2768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2697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合同确认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0449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签订协议、首付款到账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52144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1956816" y="40690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1956816" y="40690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956816" y="4251960"/>
            <a:ext cx="1335024" cy="20116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956816" y="41056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029968" y="4526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试点启动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11680" y="48737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字段定稿、采集脚本部署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542032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346704" y="22402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3346704" y="22402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346704" y="2423160"/>
            <a:ext cx="1335024" cy="2011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346704" y="22768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W2-3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19856" y="2697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首轮采集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401568" y="30449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楼宇 + 企业基础数据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931920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736592" y="40690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4736592" y="40690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736592" y="4251960"/>
            <a:ext cx="1335024" cy="20116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36592" y="41056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09744" y="4526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高价值字段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791456" y="48737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租金 / 物业费 / 免租期补全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321808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126480" y="22402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6126480" y="22402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126480" y="2423160"/>
            <a:ext cx="1335024" cy="2011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126480" y="22768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199632" y="2697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分析建模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181344" y="30449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空置率模型 + 行业分布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711696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7516368" y="40690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7516368" y="40690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516368" y="4251960"/>
            <a:ext cx="1335024" cy="20116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516368" y="41056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W6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589520" y="4526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报告编制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71232" y="48737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40-60 页分析报告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01584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8906256" y="22402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ounded Rectangle 52"/>
          <p:cNvSpPr/>
          <p:nvPr/>
        </p:nvSpPr>
        <p:spPr>
          <a:xfrm>
            <a:off x="8906256" y="22402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906256" y="2423160"/>
            <a:ext cx="1335024" cy="201168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06256" y="22768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W7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979408" y="26974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验收复核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961120" y="30449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数据交叉验证 ±5%</a:t>
            </a:r>
          </a:p>
        </p:txBody>
      </p:sp>
      <p:sp>
        <p:nvSpPr>
          <p:cNvPr id="58" name="Rectangle 57"/>
          <p:cNvSpPr/>
          <p:nvPr/>
        </p:nvSpPr>
        <p:spPr>
          <a:xfrm>
            <a:off x="9491472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10296144" y="4069080"/>
            <a:ext cx="1335024" cy="12344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10296144" y="4069080"/>
            <a:ext cx="1335024" cy="384048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0296144" y="4251960"/>
            <a:ext cx="1335024" cy="201168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10296144" y="4105656"/>
            <a:ext cx="1335024" cy="32918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W8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0369296" y="4526280"/>
            <a:ext cx="11887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50" b="1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正式交付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0351008" y="4873752"/>
            <a:ext cx="1225296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成果 + 培训 + 收尾款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0881360" y="3529584"/>
            <a:ext cx="164592" cy="16459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10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十三、  </a:t>
            </a:r>
            <a:r>
              <a:rPr sz="260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合作条款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1298448"/>
            <a:ext cx="10607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50" b="0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明确双方权责 · 确保合作长期稳定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1700784"/>
            <a:ext cx="1106424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338560" y="6419088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5B6673"/>
                </a:solidFill>
                <a:latin typeface="WenQuanYi Micro Hei"/>
                <a:ea typeface="WenQuanYi Micro Hei"/>
                <a:cs typeface="WenQuanYi Micro Hei"/>
              </a:rPr>
              <a:t>16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1031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2103120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2311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数据所有权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606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原始数据双方共有；研究院享独家发布权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0488" y="2103120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0488" y="2103120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10528" y="2231136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付款方式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606040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50% 启动金 + 30% 中期款 + 20% 验收款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18211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182112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数据合规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" y="3685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仅采集公开数据，涉及 PII 均脱敏处理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90488" y="3182112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90488" y="3182112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10528" y="3310128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验收标准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8" y="3685032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可 AI 采集字段完整度 ≥ 95%、准确度 ±5%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26110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66928" y="4261104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86968" y="43891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知识产权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" y="47640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AI 模型与采集方法论归我方，合作期内授权使用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90488" y="4261104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190488" y="4261104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10528" y="4389120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发布署名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8" y="4764024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联合署名：研究院主名 · 我方副署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5340096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566928" y="5340096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86968" y="5468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责任共担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" y="58430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共同发布数据由双方共同担责、共同履约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90488" y="5340096"/>
            <a:ext cx="544068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90488" y="5340096"/>
            <a:ext cx="109728" cy="91440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10528" y="5468112"/>
            <a:ext cx="4892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B22234"/>
                </a:solidFill>
                <a:latin typeface="WenQuanYi Micro Hei"/>
                <a:ea typeface="WenQuanYi Micro Hei"/>
                <a:cs typeface="WenQuanYi Micro Hei"/>
              </a:rPr>
              <a:t>▎ </a:t>
            </a:r>
            <a:r>
              <a:rPr sz="1450" b="1" i="0">
                <a:solidFill>
                  <a:srgbClr val="13294B"/>
                </a:solidFill>
                <a:latin typeface="WenQuanYi Micro Hei"/>
                <a:ea typeface="WenQuanYi Micro Hei"/>
                <a:cs typeface="WenQuanYi Micro Hei"/>
              </a:rPr>
              <a:t>免责边界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8" y="5843016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需“爬楼”实地字段不承担全责，按抽样估算交付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5486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十四、</a:t>
            </a:r>
            <a:r>
              <a:rPr sz="26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推荐报价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1078992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综合贵方需求、数据边界与长期合作潜力，我方郑重推荐以下报价</a:t>
            </a:r>
          </a:p>
        </p:txBody>
      </p:sp>
      <p:sp>
        <p:nvSpPr>
          <p:cNvPr id="6" name="Rectangle 5"/>
          <p:cNvSpPr/>
          <p:nvPr/>
        </p:nvSpPr>
        <p:spPr>
          <a:xfrm>
            <a:off x="841248" y="1554480"/>
            <a:ext cx="105156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41248" y="1828800"/>
            <a:ext cx="6400800" cy="41148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41248" y="1828800"/>
            <a:ext cx="6400800" cy="100584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41248" y="2331720"/>
            <a:ext cx="6400800" cy="502920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126480" y="1993392"/>
            <a:ext cx="960120" cy="329184"/>
          </a:xfrm>
          <a:prstGeom prst="roundRect">
            <a:avLst>
              <a:gd name="adj" fmla="val 6000"/>
            </a:avLst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26480" y="2002536"/>
            <a:ext cx="960120" cy="31089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★ 首选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1975104"/>
            <a:ext cx="54864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方案三 · 保底 + 扩范围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F0D9DC"/>
                </a:solidFill>
                <a:latin typeface="WenQuanYi Micro Hei"/>
                <a:ea typeface="WenQuanYi Micro Hei"/>
                <a:cs typeface="WenQuanYi Micro Hei"/>
              </a:rPr>
              <a:t>¥70,000 保底  +  范围扩大弹性加收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34440" y="310896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试点 PoC 先付 ≥¥80,000 token 预付费 · 先付后开票 · 可抵扣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65760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转正式合作以 ¥70,000 为最低保底，扩范围弹性加收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20624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空置率由我方 AI 自有模型测算，不含第三方采购付费项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75488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需“爬楼”字段以抽样估算交付，权责清晰、风险共担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34440" y="5303520"/>
            <a:ext cx="57607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2E7D46"/>
                </a:solidFill>
                <a:latin typeface="WenQuanYi Micro Hei"/>
                <a:ea typeface="WenQuanYi Micro Hei"/>
                <a:cs typeface="WenQuanYi Micro Hei"/>
              </a:rPr>
              <a:t>✓  </a:t>
            </a:r>
            <a:r>
              <a:rPr sz="1300" b="0" i="0">
                <a:solidFill>
                  <a:srgbClr val="222A35"/>
                </a:solidFill>
                <a:latin typeface="WenQuanYi Micro Hei"/>
                <a:ea typeface="WenQuanYi Micro Hei"/>
                <a:cs typeface="WenQuanYi Micro Hei"/>
              </a:rPr>
              <a:t>数据支持另计 / 共担，免责与发布审核前置确认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98079" y="1828800"/>
            <a:ext cx="3858768" cy="4114800"/>
          </a:xfrm>
          <a:prstGeom prst="roundRect">
            <a:avLst>
              <a:gd name="adj" fmla="val 6000"/>
            </a:avLst>
          </a:prstGeom>
          <a:solidFill>
            <a:srgbClr val="1F3C66"/>
          </a:solidFill>
          <a:ln>
            <a:noFill/>
          </a:ln>
          <a:effectLst/>
          <a:effectLst>
            <a:outerShdw blurRad="90000" dist="38100" dir="5400000" rotWithShape="0">
              <a:srgbClr val="6B7785">
                <a:alpha val="3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818119" y="2011680"/>
            <a:ext cx="3291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5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报价阶梯一览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19" y="2468880"/>
            <a:ext cx="914400" cy="25400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399" y="2651760"/>
            <a:ext cx="3310128" cy="54864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55279" y="265176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试点 PoC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先付后开票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199" y="265176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≥¥80,000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399" y="3291840"/>
            <a:ext cx="3310128" cy="54864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55279" y="329184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方案一 纯报价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一价到底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199" y="329184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¥70,000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772399" y="3931920"/>
            <a:ext cx="3310128" cy="54864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55279" y="393192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方案二 保底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最低基准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199" y="393192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¥70,000 起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772399" y="4572000"/>
            <a:ext cx="3310128" cy="548640"/>
          </a:xfrm>
          <a:prstGeom prst="roundRect">
            <a:avLst>
              <a:gd name="adj" fmla="val 6000"/>
            </a:avLst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955279" y="457200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方案三 扩范围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★ 推荐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199" y="457200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¥70,000 +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399" y="5212080"/>
            <a:ext cx="3310128" cy="548640"/>
          </a:xfrm>
          <a:prstGeom prst="roundRect">
            <a:avLst>
              <a:gd name="adj" fmla="val 6000"/>
            </a:avLst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5212080"/>
            <a:ext cx="1828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2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递补 变动报价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全市/长期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01199" y="5212080"/>
            <a:ext cx="13716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浮动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90687" y="5870448"/>
            <a:ext cx="3383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95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付款：50% 启动 + 30% 中期 + 20% 验收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" y="61264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sz="13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结论：</a:t>
            </a:r>
            <a:r>
              <a:rPr sz="1250" b="0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先以【试点 PoC · ¥80,000 token 预付费】启动验证，转正式合作采用【方案三】保底+扩范围，全市规模化阶段以【递补变动报价】平滑过渡。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29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37744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4297680"/>
            <a:ext cx="12191695" cy="54864"/>
          </a:xfrm>
          <a:prstGeom prst="rect">
            <a:avLst/>
          </a:prstGeom>
          <a:solidFill>
            <a:srgbClr val="B222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651760"/>
            <a:ext cx="12191695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WenQuanYi Micro Hei"/>
                <a:ea typeface="WenQuanYi Micro Hei"/>
                <a:cs typeface="WenQuanYi Micro Hei"/>
              </a:rPr>
              <a:t>期待与易居研究院的长期合作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3474720"/>
            <a:ext cx="1219169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600" b="1" i="0">
                <a:solidFill>
                  <a:srgbClr val="C9A227"/>
                </a:solidFill>
                <a:latin typeface="WenQuanYi Micro Hei"/>
                <a:ea typeface="WenQuanYi Micro Hei"/>
                <a:cs typeface="WenQuanYi Micro Hei"/>
              </a:rPr>
              <a:t>—— 双方联合发布行业首份全域报告，共建数据标杆 ——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57200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300" b="0" i="0">
                <a:solidFill>
                  <a:srgbClr val="CFD8E6"/>
                </a:solidFill>
                <a:latin typeface="WenQuanYi Micro Hei"/>
                <a:ea typeface="WenQuanYi Micro Hei"/>
                <a:cs typeface="WenQuanYi Micro Hei"/>
              </a:rPr>
              <a:t>本方案为讨论稿，可根据双方实际需求灵活调整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5074920"/>
            <a:ext cx="1219169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</a:pPr>
            <a:r>
              <a:rPr sz="1200" b="0" i="0">
                <a:solidFill>
                  <a:srgbClr val="AEBACC"/>
                </a:solidFill>
                <a:latin typeface="WenQuanYi Micro Hei"/>
                <a:ea typeface="WenQuanYi Micro Hei"/>
                <a:cs typeface="WenQuanYi Micro Hei"/>
              </a:rPr>
              <a:t>易居研究院  ×  复旦大学住房政策研究中心  ·  2026 年 6 月 24 日  ·  报价有效期 30 天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