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95360" y="914400"/>
            <a:ext cx="3108960" cy="3108960"/>
          </a:xfrm>
          <a:prstGeom prst="rect">
            <a:avLst/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1463040"/>
            <a:ext cx="2011680" cy="20116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5156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数 据 合 作 方 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易居研究院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  ×  </a:t>
            </a:r>
            <a:r>
              <a:rPr sz="3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复旦大学住房政策研究中心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2004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《上海商办楼宇和产业园区市场报告》· 试点合作（杨浦 PoC）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794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全域全量数据 + AI 热力活跃度指数（替代出租率）· 双方联合发布、共同署名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项目名称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杨浦区办公楼宇数据采集试点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报价日期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2026 年 6 月 24 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有效期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30 个自然日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一、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项目概况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Project Overview · 双方合作的范围、维度与产出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试点范围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杨浦区全域（五角场、杨浦滨江为重点）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4256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数据维度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0016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贵方 16 字段需求 + 空置率 + 衍生分析指标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交付周期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首期 2-3 周 · 季度更新机制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数据规模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约 600 栋办公楼宇 + 5,000+ 入驻企业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4256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4256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合作模式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0016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1728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 + 分析包，可按范围弹性升级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1584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01584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49056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联合发布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67344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49056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研究院与我方共同署名、共同对外发布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二、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项目边界 · 为什么需要收费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数据采集、建模与发布存在客观成本与风险，合理收费是项目可持续的前提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3584448" cy="91440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514600"/>
            <a:ext cx="3584448" cy="50292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194560"/>
            <a:ext cx="308152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识别空置率存在不确定性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2461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空置率依赖 AI 多源推断（POI / 招聘 / 入驻面积反推）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90448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客观存在 ±5% 误差，需持续建模、校准与抽样验证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56285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模型研发与维护构成真实、持续的投入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031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2103120"/>
            <a:ext cx="3584448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2514600"/>
            <a:ext cx="3584448" cy="5029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194560"/>
            <a:ext cx="308152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数据源不统一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2461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高德 / 企查查 / 中介 / 公开网络口径各不相同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390448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需大量清洗、对齐、交叉校验与去重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456285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“爬楼”字段更需人工实地补采与整合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28431" y="21031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28431" y="2103120"/>
            <a:ext cx="3584448" cy="914400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28431" y="2514600"/>
            <a:ext cx="3584448" cy="5029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1" y="2194560"/>
            <a:ext cx="308152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涉及对外发布合规风险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2461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联合署名对外发布，需共同承担数据责任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90448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PII 脱敏、口径合规、对外解释均需把关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56285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合规审核与风险兜底产生实际成本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2356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66928" y="5623560"/>
            <a:ext cx="2194560" cy="868680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623560"/>
            <a:ext cx="21945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收费合理化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5623560"/>
            <a:ext cx="8412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正因建模不确定性、数据源整合与发布合规均需真实投入，项目以专业服务计费 —— 收费对应的是“可信、可用、可对外发布”的数据成果。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三、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合作双方与分工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强强联合：AI 数据能力 + 学术与政策影响力，共同打造行业标杆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074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5074920" cy="8686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5074920" cy="484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212848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易居研究院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AI 数据采集与分析方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200400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自动化多源数据采集（高德 / 企查查 / 公开网络）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387705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空置率自有模型测算、行业分布与板块迁徙分析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455371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可视化报告、数据系统与招商线索产出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5230368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16 区一键复制的方法论与采集脚本资产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47104" y="2103120"/>
            <a:ext cx="5074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103120"/>
            <a:ext cx="5074920" cy="86868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47104" y="2487168"/>
            <a:ext cx="5074920" cy="48463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67144" y="2212848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复旦大学住房政策研究中心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学术背书与联合发布方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8584" y="3200400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权威学术背书与住房 / 产业政策研究框架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387705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数据口径与研究方法学审核把关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455371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联合署名、共同对外发布行业报告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5230368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对接决策层、提升成果政策影响力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33288" y="3657600"/>
            <a:ext cx="713232" cy="713232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33288" y="3703320"/>
            <a:ext cx="7132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四、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合作模式 · 服务三段结构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把“服务”拆清楚：数据研究建模 → AI 分析输出 → 报告与对外发布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40280"/>
            <a:ext cx="3456432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240280"/>
            <a:ext cx="3456432" cy="96012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743200"/>
            <a:ext cx="3456432" cy="4572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777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286000"/>
            <a:ext cx="222199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数据研究与模型部分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456432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字段体系与口径定义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0233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空置率模型与方法学设计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5902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数据标准、误差边界与验证规则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157216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学术框架 + 研究方法共建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2240280"/>
            <a:ext cx="3456432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70832" y="2240280"/>
            <a:ext cx="3456432" cy="960120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2743200"/>
            <a:ext cx="3456432" cy="4572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6864" y="2286000"/>
            <a:ext cx="777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2286000"/>
            <a:ext cx="222199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分析与输出部分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872" y="3456432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多源数据自动化采集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0872" y="40233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交叉验证、清洗与对齐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5902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行业分布 / 板块迁徙分析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5157216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可视化图表与数据系统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2240280"/>
            <a:ext cx="3456432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74736" y="2240280"/>
            <a:ext cx="3456432" cy="96012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74736" y="2743200"/>
            <a:ext cx="3456432" cy="4572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2286000"/>
            <a:ext cx="777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576" y="2286000"/>
            <a:ext cx="222199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报告与对外发布部分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4776" y="3456432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分析报告编制与排版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4776" y="40233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联合署名、共同对外发布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94776" y="45902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发布前合规审核流程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4776" y="5157216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对外口径与解释统一</a:t>
            </a:r>
          </a:p>
        </p:txBody>
      </p:sp>
      <p:sp>
        <p:nvSpPr>
          <p:cNvPr id="36" name="Chevron 35"/>
          <p:cNvSpPr/>
          <p:nvPr/>
        </p:nvSpPr>
        <p:spPr>
          <a:xfrm>
            <a:off x="4050791" y="3703320"/>
            <a:ext cx="310896" cy="566928"/>
          </a:xfrm>
          <a:prstGeom prst="chevron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7854696" y="3703320"/>
            <a:ext cx="310896" cy="566928"/>
          </a:xfrm>
          <a:prstGeom prst="chevron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0533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说明：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三段服务既相互独立又彼此衔接，分别对应研究、技术与发布三类投入，便于分工计价与责任界定。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五、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 + 分析合作内容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一体化的数据采集、分析与联合发布产出（空置率由我方 AI 自有模型测算）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3584448" cy="37490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基础数据层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楼宇名称、所属板块、物业类型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物业等级、总建筑面积、竣工时间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入驻企业、所属行业、经营状态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结构化 Excel 数据表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80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487168"/>
            <a:ext cx="3584448" cy="37490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分析模型层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报价 / 成交租金、物业费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租赁面积、企业画像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楼宇活跃度（热力）指数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行业分布图谱 + 板块迁徙分析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28431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1" y="2487168"/>
            <a:ext cx="3584448" cy="37490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1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成果交付层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Excel 数据 + 40-60 页分析报告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可视化图表与专题图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联合署名行业专报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季度更新机制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9893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说明：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出租率属闭源数据、不作核心指标，改以「楼宇活跃度（热力）指数」替代；空置率以企业入驻密度近似，均标注口径，不含第三方采购付费。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六、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16 字段覆盖 · AI 可达性对照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逐项对照贵方原始需求；标注需实地踏勘（“爬楼”）的字段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5303520" cy="42062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103120"/>
            <a:ext cx="822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难度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103120"/>
            <a:ext cx="960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AI可达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103120"/>
            <a:ext cx="1508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采集方式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23744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2374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楼宇名称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52374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52374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252374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939796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93979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所属板块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8608" y="293979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293979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293979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55848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35584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物业类型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8608" y="335584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335584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95%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335584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771900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771900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物业等级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8608" y="3771900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01568" y="3771900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3771900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推断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87952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总建筑面积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8608" y="4187952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4187952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1688" y="4187952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604004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60400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竣工时间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78608" y="460400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1568" y="460400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460400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020056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02005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入驻企业名称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78608" y="502005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502005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61688" y="502005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436108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43610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入驻企业行业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543610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01568" y="543610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61688" y="543610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2103120"/>
            <a:ext cx="5303520" cy="42062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2103120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字段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83880" y="2103120"/>
            <a:ext cx="822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难度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6840" y="2103120"/>
            <a:ext cx="960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AI可达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2103120"/>
            <a:ext cx="1508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采集方式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523744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36792" y="252374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企业经营状态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83880" y="252374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6840" y="252374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252374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72200" y="2939796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36792" y="293979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报价租金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293979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293979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60" y="293979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抽样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355848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6792" y="335584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80" y="335584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840" y="335584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75%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335584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抽样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72200" y="3771900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36792" y="3771900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标准层层高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80" y="3771900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06840" y="3771900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60%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66960" y="3771900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187952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36792" y="4187952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成交租金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3880" y="4187952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4187952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60%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66960" y="4187952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4604004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36792" y="460400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免租期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83880" y="460400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06840" y="460400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50%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6960" y="460400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2200" y="5020056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36792" y="502005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租赁面积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83880" y="502005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06840" y="502005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50%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66960" y="502005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72200" y="5436108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36792" y="543610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入驻楼层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183880" y="543610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06840" y="543610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40%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966960" y="543610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623620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● 字段整体覆盖率约 100%；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标红 4 项为需“爬楼”实地踏勘字段，AI 仅能抽样估算 —— 详见第 08 页免责说明。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七、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免责声明与责任共担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明确数据边界与双方权责，确保合作长期、稳健、可持续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864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5486400" cy="7772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5486400" cy="39319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24028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⚠  数据免责声明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10896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对于 AI 无法通过自动化手段、需“爬楼”实地踏勘方可获取的字段（如入驻楼层、租赁面积、成交租金、免租期、标准层层高等），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95344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我方提供尽力采集与多源抽样估算，但不对该类数据的完整性与绝对准确性承担全责保障。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68172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上述字段以“抽样 + 估算 + 标注口径”方式交付，并明确标识置信区间，供研究与决策参考。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468112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 AI 自动采集字段，我方按约定精度（误差 ±5%）负责。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103120"/>
            <a:ext cx="53035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8" y="210312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487168"/>
            <a:ext cx="5303520" cy="3931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22402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⚖  责任共担条款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3108960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双方对共同对外发布的数据承担共同责任与履约义务，而非仅由复旦大学住房政策研究中心单方承担。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895344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联合署名报告中的数据口径、结论与对外解释，由双方共同确认后发布。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4681728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如因数据引发对外争议，双方依约定分工共同应对、共同处置。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5468112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我方对采集与建模流程负责，研究院对研究框架与发布合规共同负责。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八、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报价定义 · 任务标准与范围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借用《上海商办楼宇和产业园区市场报告》题目界定范围；融合最近一次 AI 评审会需求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5486400" cy="7772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5486400" cy="3931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22199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▎任务标准（借用对方题目）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063240"/>
            <a:ext cx="4892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题目：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《上海商办楼宇和产业园区市场报告》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84447"/>
            <a:ext cx="4892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覆盖：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超甲/甲/乙级及以下写字楼 + 各类产业园区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105654"/>
            <a:ext cx="4892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颗粒度：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16 区 → 街道 / 镇二级（适配高德 POI/AOI）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626861"/>
            <a:ext cx="4892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字段五类：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资产基础 / 企业画像 / 租赁交易 / 迁徙 / 衍生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48068"/>
            <a:ext cx="4892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分期：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中心 7 区 → 浦东 → 全市全域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669275"/>
            <a:ext cx="4892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报告框架：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概览 / 分区 / 画像 / 迁徙 / 供需匹配 / 趋势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2103120"/>
            <a:ext cx="530352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27648" y="210312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2487168"/>
            <a:ext cx="5303520" cy="39319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2221992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▎AI 评审会边界（写入报价定义）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306324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数据依赖网络“留痕”，静态 / 未公开信息无法纳入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38544" y="351129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出租率属闭源数据 → 不作为核心指标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3959352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改以“楼宇活跃度（热力）”替代出租率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8544" y="4407408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层高等基于行业常识估算，准确率约 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855464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成交租金缺时间戳、真实性存疑 → 标注口径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530352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Token 消耗按量计费、据实开具发票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8544" y="575157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杨浦约 1,000 栋作为 PoC 验证样本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九、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热力活跃度指数 · 替代出租率与收费点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以百度/高德热力图构建“楼宇活跃度”，绕过闭源出租率；明确各项收费点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4114800" cy="41879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4114800" cy="3931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221992"/>
            <a:ext cx="3611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▎指标定义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10896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▎数据源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百度 / 高德热力图（定位请求密度）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730752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▎时段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早 8:30-9:30 · 晚 18:00-19:00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52544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▎颗粒度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 米级，可区分单栋出入口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974336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▎计算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活跃度 ÷ 总建筑面积 = 单位面积活跃度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596128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▎作用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替代闭源出租率，辨办公 / 居住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084831"/>
            <a:ext cx="6748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★ 热力指数收费点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2578608"/>
            <a:ext cx="6748272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92040" y="2578608"/>
            <a:ext cx="621792" cy="676656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2040" y="2578608"/>
            <a:ext cx="62179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96712" y="2660904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热力数据采集费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2971800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百度/高德热力 API 调用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54312" y="2734056"/>
            <a:ext cx="2148840" cy="365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524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54312" y="2734056"/>
            <a:ext cx="2148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按 楼宇 × 时段 × 天数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92040" y="3364992"/>
            <a:ext cx="6748272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92040" y="3364992"/>
            <a:ext cx="621792" cy="676656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3364992"/>
            <a:ext cx="62179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3447288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Token / 算力费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3758184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AI 运行按量计费、据实开票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54312" y="3520440"/>
            <a:ext cx="2148840" cy="365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524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54312" y="3520440"/>
            <a:ext cx="2148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≈1,000栋约 ¥1,500/次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92040" y="4151376"/>
            <a:ext cx="6748272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92040" y="4151376"/>
            <a:ext cx="621792" cy="676656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92040" y="4151376"/>
            <a:ext cx="62179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96712" y="423367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热力指标建模费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0" y="4544568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时间窗口 + 提示词 + 面积归一化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54312" y="4306824"/>
            <a:ext cx="2148840" cy="365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5240">
            <a:solidFill>
              <a:srgbClr val="B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54312" y="4306824"/>
            <a:ext cx="2148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一次性建模费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92040" y="4937760"/>
            <a:ext cx="6748272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92040" y="4937760"/>
            <a:ext cx="621792" cy="676656"/>
          </a:xfrm>
          <a:prstGeom prst="roundRect">
            <a:avLst>
              <a:gd name="adj" fmla="val 6000"/>
            </a:avLst>
          </a:prstGeom>
          <a:solidFill>
            <a:srgbClr val="5E4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4937760"/>
            <a:ext cx="62179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96712" y="5020056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热力更新订阅费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15000" y="5330952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月度 / 季度刷新与活跃度追踪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54312" y="5093208"/>
            <a:ext cx="2148840" cy="365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5240">
            <a:solidFill>
              <a:srgbClr val="5E4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54312" y="5093208"/>
            <a:ext cx="2148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按周期订阅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92040" y="5724144"/>
            <a:ext cx="6748272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892040" y="5724144"/>
            <a:ext cx="621792" cy="676656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92040" y="5724144"/>
            <a:ext cx="62179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96712" y="580644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高颗粒度加收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15000" y="6117336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单栋出入口级（10 米）热力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354312" y="5879592"/>
            <a:ext cx="2148840" cy="365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524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54312" y="5879592"/>
            <a:ext cx="2148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按需加收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报价方案 · 一页总览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已删除原 ¥28,000 基础包；新增 Token 预付费与变动报价 —— 全部报价一页可见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2651760" cy="3950208"/>
          </a:xfrm>
          <a:prstGeom prst="roundRect">
            <a:avLst>
              <a:gd name="adj" fmla="val 6000"/>
            </a:avLst>
          </a:prstGeom>
          <a:solidFill>
            <a:srgbClr val="E9F1FB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38528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95728"/>
            <a:ext cx="2651760" cy="4572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试点 PoC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Token 预付费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试点验证 · 预付费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36976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≥ ¥80,000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785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先付后开票 · 可抵扣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7822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最低不少于 ¥80,000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34340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杨浦≈1,000 栋样本试跑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60857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含热力活跃度指标测试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8737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Token 按量 · 先付后开票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13892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可抵扣正式合作费用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413248"/>
            <a:ext cx="22494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413248"/>
            <a:ext cx="2249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试点启动 · 预付费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1938528"/>
            <a:ext cx="2651760" cy="3950208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1938528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DE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651760" cy="457200"/>
          </a:xfrm>
          <a:prstGeom prst="rect">
            <a:avLst/>
          </a:prstGeom>
          <a:solidFill>
            <a:srgbClr val="DE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37760" y="1682496"/>
            <a:ext cx="1051560" cy="384048"/>
          </a:xfrm>
          <a:prstGeom prst="roundRect">
            <a:avLst>
              <a:gd name="adj" fmla="val 6000"/>
            </a:avLst>
          </a:prstGeom>
          <a:solidFill>
            <a:srgbClr val="DE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1691640"/>
            <a:ext cx="1051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★ 推荐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2057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数据+分析包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数据 + 分析模型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236976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¥78,000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4448" y="3785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维护：¥18,000/季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407822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报价/成交租金、物业费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434340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租赁面积、企业画像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460857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楼宇活跃度（热力）指数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48737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行业分布 + 板块迁徙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4448" y="513892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Excel + 40-60 页报告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38728" y="5413248"/>
            <a:ext cx="2249424" cy="384048"/>
          </a:xfrm>
          <a:prstGeom prst="roundRect">
            <a:avLst>
              <a:gd name="adj" fmla="val 6000"/>
            </a:avLst>
          </a:prstGeom>
          <a:solidFill>
            <a:srgbClr val="DE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38728" y="5413248"/>
            <a:ext cx="2249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★ 研究院首选 · 标杆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1938528"/>
            <a:ext cx="2651760" cy="3950208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72200" y="1938528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395728"/>
            <a:ext cx="2651760" cy="4572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2057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长期合作包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系统 + 服务分成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3236976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¥168,000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3785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维护：¥28K/季 + 分成 10-15%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9088" y="407822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方案 B 全部内容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434340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企业匹配推荐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460857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招商策略生成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9088" y="48737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项目诊断 + 自动化季报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19088" y="513892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数据系统 + 招商线索库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3368" y="5413248"/>
            <a:ext cx="2249424" cy="384048"/>
          </a:xfrm>
          <a:prstGeom prst="roundRect">
            <a:avLst>
              <a:gd name="adj" fmla="val 6000"/>
            </a:avLst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3368" y="5413248"/>
            <a:ext cx="2249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长期战略合作伙伴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06840" y="1938528"/>
            <a:ext cx="2651760" cy="3950208"/>
          </a:xfrm>
          <a:prstGeom prst="roundRect">
            <a:avLst>
              <a:gd name="adj" fmla="val 6000"/>
            </a:avLst>
          </a:prstGeom>
          <a:solidFill>
            <a:srgbClr val="EDEAF6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006840" y="1938528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5E4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006840" y="2395728"/>
            <a:ext cx="2651760" cy="457200"/>
          </a:xfrm>
          <a:prstGeom prst="rect">
            <a:avLst/>
          </a:prstGeom>
          <a:solidFill>
            <a:srgbClr val="5E4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5440" y="2057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第四方案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变动报价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3544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规模/频次/成效浮动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236976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浮动计价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53728" y="3785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随规模与成效调整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53728" y="407822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全市 16 区复制单价递减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53728" y="434340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扩大范围按项加收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53728" y="460857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热力更新 / 高颗粒度加收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53728" y="48737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季度/月度更新订阅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53728" y="513892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招商成效分成 10-15%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08008" y="5413248"/>
            <a:ext cx="2249424" cy="384048"/>
          </a:xfrm>
          <a:prstGeom prst="roundRect">
            <a:avLst>
              <a:gd name="adj" fmla="val 6000"/>
            </a:avLst>
          </a:prstGeom>
          <a:solidFill>
            <a:srgbClr val="5E4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08008" y="5413248"/>
            <a:ext cx="2249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全市 · 长期弹性补充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6035040"/>
            <a:ext cx="11183112" cy="548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附加条款：</a:t>
            </a:r>
            <a:r>
              <a:rPr sz="11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出租率闭源、不作核心指标，改以热力活跃度替代 · Token 据实开票 · 热力指数收费点见第 10 页 · 数据支持另计/共担、发布审核前置。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十一、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试点 → 全市 16 区复制路径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杨浦做透 → 中心城区 → 浦东 → 外围 · 规模效应让单区报价递减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23160"/>
            <a:ext cx="2121408" cy="29260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杨浦区（试点）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1-2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¥70K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单区保底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0720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0720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07208" y="2423160"/>
            <a:ext cx="2121408" cy="292608"/>
          </a:xfrm>
          <a:prstGeom prst="rect">
            <a:avLst/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0720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静安+徐汇+黄浦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3-4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720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1F3C66"/>
                </a:solidFill>
                <a:latin typeface="WenQuanYi Micro Hei"/>
                <a:ea typeface="WenQuanYi Micro Hei"/>
                <a:cs typeface="WenQuanYi Micro Hei"/>
              </a:rPr>
              <a:t>¥70K/区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0720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中心 3 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4748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4748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47488" y="2423160"/>
            <a:ext cx="2121408" cy="2926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48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长宁+虹口+普陀+闸北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5-6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¥60K/区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中心 4 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8776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8776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87768" y="2423160"/>
            <a:ext cx="2121408" cy="29260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8776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064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浦东（陆家嘴/张江/临港）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8776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7-9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8776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¥80K/区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单区最大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2804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2804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28048" y="2423160"/>
            <a:ext cx="2121408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804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外围 7 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804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10-12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804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¥40K/区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量大价低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52120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321808"/>
            <a:ext cx="6858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上海全 16 区 · 全年覆盖（累计）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行业首份全域数据 · 双方联合发布权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5321808"/>
            <a:ext cx="3840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约 ¥1,048,000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（含一年维护，按变动报价递减）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十二、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我方差异化价值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8 维度对比传统数据服务，AI 驱动、可复制、可联合发布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94560" y="2103120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3120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数据颗粒度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103120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楼宇级 / 企业级 / 楼层级，细 10-100 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21031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18120" y="2103120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2103120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数据动态性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月度更新可选 / 实时企业变更追踪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3182112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94560" y="3182112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82112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租金口径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7168" y="3182112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楼宇均值 + 报价/成交双口径，可下钻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0488" y="3182112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18120" y="3182112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3182112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定制能力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728" y="3182112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完全可定制 / 1-2 周快速交付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4261104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94560" y="4261104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261104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招商可用性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87168" y="4261104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自带企业匹配 + 招商策略，数据转线索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0488" y="4261104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261104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1928" y="4261104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能力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0728" y="4261104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自动化 + 多源交叉，16 区可快速复制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66928" y="534009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94560" y="5340096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340096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合作模式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7168" y="5340096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 + 分析 + 长期合作 + 联合发布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90488" y="534009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18120" y="5340096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81928" y="5340096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联合署名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5340096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研究院主名 · 我方副署 · 行业首份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十三、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落地时间表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8 周内完成杨浦试点项目，节点清晰、交付可控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1051560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合同确认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签订协议、首付款到账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2144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56816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956816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56816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56816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8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试点启动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字段定稿、采集脚本部署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42032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46704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46704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46704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46704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W2-3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9856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首轮采集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楼宇 + 企业基础数据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36592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36592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36592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36592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高价值字段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91456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租金 / 物业费 / 免租期补全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21808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26480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126480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80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分析建模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1344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空置率模型 + 行业分布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11696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516368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516368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516368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报告编制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40-60 页分析报告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01584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906256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06256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06256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06256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79408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验收复核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数据交叉验证 ±5%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91472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296144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296144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296144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96144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9296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正式交付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成果 + 培训 + 收尾款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881360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十四、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合作条款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明确双方权责 · 确保合作长期稳定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103120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311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数据所有权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606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原始数据双方共有；研究院享独家发布权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2103120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2311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付款方式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606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50% 启动金 + 30% 中期款 + 20% 验收款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182112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685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仅采集公开数据，涉及 PII 均脱敏处理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3182112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验收标准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3685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 AI 采集字段完整度 ≥ 95%、准确度 ±5%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261104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3891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知识产权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76402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模型与采集方法论归我方，合作期内授权使用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0488" y="4261104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43891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发布署名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6248" y="476402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联合署名：研究院主名 · 我方副署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5340096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4681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责任共担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8430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共同发布数据由双方共同担责、共同履约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048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0488" y="5340096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54681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免责边界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6248" y="58430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需“爬楼”实地字段不承担全责，按抽样估算交付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十五、</a:t>
            </a:r>
            <a:r>
              <a:rPr sz="2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推荐报价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综合贵方需求、数据边界与长期合作潜力，我方郑重推荐以下报价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554480"/>
            <a:ext cx="105156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64008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28800"/>
            <a:ext cx="6400800" cy="10058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2331720"/>
            <a:ext cx="6400800" cy="50292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993392"/>
            <a:ext cx="960120" cy="329184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0253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★ 首选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75104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B · 数据 + 分析包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D9DC"/>
                </a:solidFill>
                <a:latin typeface="WenQuanYi Micro Hei"/>
                <a:ea typeface="WenQuanYi Micro Hei"/>
                <a:cs typeface="WenQuanYi Micro Hei"/>
              </a:rPr>
              <a:t>¥78,000 · 数据+分析模型 · 研究院标杆首选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0896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先以 Token 预付费 ≥¥80,000 启动 PoC（先付后开票 · 可抵扣）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5760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正式合作以【方案 B 数据+分析包】¥78,000 为标杆首选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0624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热力活跃度指数替代闭源出租率，不含第三方采购付费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75488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需“爬楼”字段以抽样估算交付，权责清晰、风险共担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30352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数据支持另计 / 共担，免责与发布审核前置确认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828800"/>
            <a:ext cx="3858768" cy="411480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19" y="20116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报价阶梯一览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19" y="2468880"/>
            <a:ext cx="9144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399" y="2651760"/>
            <a:ext cx="3310128" cy="5486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65176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试点 PoC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先付后开票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9" y="265176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≥¥80,000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399" y="3291840"/>
            <a:ext cx="3310128" cy="5486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329184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B 数据+分析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★ 推荐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199" y="329184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¥78,000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399" y="3931920"/>
            <a:ext cx="3310128" cy="5486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393192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C 长期合作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系统+分成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199" y="393192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¥168,000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399" y="4572000"/>
            <a:ext cx="3310128" cy="5486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457200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变动报价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全市/长期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199" y="457200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浮动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7" y="58704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付款：50% 启动 + 30% 中期 + 20% 验收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结论：</a:t>
            </a:r>
            <a:r>
              <a:rPr sz="125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先以【Token 预付费 ≥¥80,000】启动 PoC 验证，正式合作以【方案 B 数据+分析包】为标杆，规模化升级【方案 C】或转【变动报价】。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5486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65176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期待与易居研究院的长期合作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—— 双方联合发布行业首份全域报告，共建数据标杆 ——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本方案为讨论稿，可根据双方实际需求灵活调整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07492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  ·  2026 年 6 月 24 日  ·  报价有效期 30 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