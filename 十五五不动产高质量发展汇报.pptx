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498079" cy="685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4693616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0080"/>
            <a:ext cx="109728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C9A961"/>
                </a:solidFill>
                <a:latin typeface="微软雅黑"/>
                <a:eastAsia typeface="微软雅黑"/>
              </a:rPr>
              <a:t>REAL  ESTATE  ·  HIGH-QUALITY 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/>
                <a:eastAsia typeface="微软雅黑"/>
              </a:rPr>
              <a:t>面向“十五五”的不动产转型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/>
                <a:eastAsia typeface="微软雅黑"/>
              </a:rPr>
              <a:t>与高质量发展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03320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822191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C9A961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6766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stAsia typeface="微软雅黑"/>
              </a:rPr>
              <a:t>存量时代的精细化运营 × 大模型驱动的管理革命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stAsia typeface="微软雅黑"/>
              </a:rPr>
              <a:t>×  科创生态的产城融合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554480"/>
            <a:ext cx="54864" cy="18288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554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B7280"/>
                </a:solidFill>
                <a:latin typeface="微软雅黑"/>
                <a:eastAsia typeface="微软雅黑"/>
              </a:rPr>
              <a:t>汇报主题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874519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0F2A47"/>
                </a:solidFill>
                <a:latin typeface="微软雅黑"/>
                <a:eastAsia typeface="微软雅黑"/>
              </a:rPr>
              <a:t>新模式 · 新动能 · 新格局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0F2A47"/>
                </a:solidFill>
                <a:latin typeface="微软雅黑"/>
                <a:eastAsia typeface="微软雅黑"/>
              </a:rPr>
              <a:t>房地产高质量发展的实践路径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3657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B7280"/>
                </a:solidFill>
                <a:latin typeface="微软雅黑"/>
                <a:eastAsia typeface="微软雅黑"/>
              </a:rPr>
              <a:t>汇 报 提 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3977639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01  时代定调 · 周期新旧转换</a:t>
            </a:r>
          </a:p>
          <a:p>
            <a:pPr algn="l">
              <a:lnSpc>
                <a:spcPct val="170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02  破局寻路 · 新模式内涵</a:t>
            </a:r>
          </a:p>
          <a:p>
            <a:pPr algn="l">
              <a:lnSpc>
                <a:spcPct val="170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03  核心动能 · 科技驱动</a:t>
            </a:r>
          </a:p>
          <a:p>
            <a:pPr algn="l">
              <a:lnSpc>
                <a:spcPct val="170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04  总结展望 · 知与行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989320"/>
            <a:ext cx="6766560" cy="952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14476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汇报人： ___________     |     2026 · “十五五”开局之年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C O N T E N T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stAsia typeface="微软雅黑"/>
              </a:rPr>
              <a:t>汇 报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stAsia typeface="微软雅黑"/>
              </a:rPr>
              <a:t>提 纲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657600"/>
            <a:ext cx="45720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stAsia typeface="微软雅黑"/>
              </a:rPr>
              <a:t>“十五五”开局之年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stAsia typeface="微软雅黑"/>
              </a:rPr>
              <a:t>房地产高质量发展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stAsia typeface="微软雅黑"/>
              </a:rPr>
              <a:t>核心议题汇报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777240"/>
            <a:ext cx="109728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94183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0F2A47"/>
                </a:solidFill>
                <a:latin typeface="微软雅黑"/>
                <a:eastAsia typeface="微软雅黑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00600" y="1554480"/>
            <a:ext cx="548640" cy="190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886968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F2A47"/>
                </a:solidFill>
                <a:latin typeface="微软雅黑"/>
                <a:eastAsia typeface="微软雅黑"/>
              </a:rPr>
              <a:t>时代定调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2801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—— “十五五”开局与房地产周期的新旧转换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16184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C9A961"/>
                </a:solidFill>
                <a:latin typeface="微软雅黑"/>
                <a:eastAsia typeface="微软雅黑"/>
              </a:rPr>
              <a:t>▎ 宏观政策切入  ·  告别旧模式  ·  提出核心论点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2103120"/>
            <a:ext cx="109728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26771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0F2A47"/>
                </a:solidFill>
                <a:latin typeface="微软雅黑"/>
                <a:eastAsia typeface="微软雅黑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00600" y="2880360"/>
            <a:ext cx="548640" cy="190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2212848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F2A47"/>
                </a:solidFill>
                <a:latin typeface="微软雅黑"/>
                <a:eastAsia typeface="微软雅黑"/>
              </a:rPr>
              <a:t>破局寻路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260604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—— 房地产“新模式”的核心内涵与高质量标准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294436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C9A961"/>
                </a:solidFill>
                <a:latin typeface="微软雅黑"/>
                <a:eastAsia typeface="微软雅黑"/>
              </a:rPr>
              <a:t>▎ 空间载体演变  ·  轻重分离  ·  产城融合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26280" y="3429000"/>
            <a:ext cx="109728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359359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0F2A47"/>
                </a:solidFill>
                <a:latin typeface="微软雅黑"/>
                <a:eastAsia typeface="微软雅黑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4206240"/>
            <a:ext cx="548640" cy="190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0" y="3538728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F2A47"/>
                </a:solidFill>
                <a:latin typeface="微软雅黑"/>
                <a:eastAsia typeface="微软雅黑"/>
              </a:rPr>
              <a:t>核心动能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9319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—— 科技创新如何驱动不动产高质量发展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27024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C9A961"/>
                </a:solidFill>
                <a:latin typeface="微软雅黑"/>
                <a:eastAsia typeface="微软雅黑"/>
              </a:rPr>
              <a:t>▎ AI 与大模型  ·  科创生态赋能  ·  跨界协同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26280" y="4754880"/>
            <a:ext cx="109728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491947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0F2A47"/>
                </a:solidFill>
                <a:latin typeface="微软雅黑"/>
                <a:eastAsia typeface="微软雅黑"/>
              </a:rPr>
              <a:t>04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00600" y="5532120"/>
            <a:ext cx="548640" cy="190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60" y="4864608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F2A47"/>
                </a:solidFill>
                <a:latin typeface="微软雅黑"/>
                <a:eastAsia typeface="微软雅黑"/>
              </a:rPr>
              <a:t>总结展望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52578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—— “十五五”时期从业者的知与行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559612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C9A961"/>
                </a:solidFill>
                <a:latin typeface="微软雅黑"/>
                <a:eastAsia typeface="微软雅黑"/>
              </a:rPr>
              <a:t>▎ 发展共识  ·  行业阵痛  ·  新质生产力土壤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0" y="36576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24000" b="1">
                <a:solidFill>
                  <a:srgbClr val="1B3B6F"/>
                </a:solidFill>
                <a:latin typeface="微软雅黑"/>
                <a:eastAsi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PART  · 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C9A961"/>
                </a:solidFill>
                <a:latin typeface="微软雅黑"/>
                <a:eastAsia typeface="微软雅黑"/>
              </a:rPr>
              <a:t>PART 01  ·  Era 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stAsia typeface="微软雅黑"/>
              </a:rPr>
              <a:t>时代定调：「十五五」开局与房地产周期的新旧转换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931920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  <a:eastAsia typeface="微软雅黑"/>
              </a:rPr>
              <a:t>宏观政策切入  ·  告别旧模式  ·  提出核心论点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846320"/>
            <a:ext cx="3474720" cy="128016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484632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0109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34924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“十五五”战略定位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经济结构转型坐标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4846320"/>
            <a:ext cx="3474720" cy="128016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6280" y="484632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50109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534924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告别“三高”旧模式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稳健经营 提质增效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4846320"/>
            <a:ext cx="3474720" cy="128016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484632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50109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534924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高质量发展核心论点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精细化运营 × 科技融合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01  ·  时代定调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01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宏观背景解读：「十五五」的战略坐标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经济结构转型的“承上启下”窗口期 — 规划逻辑与对房地产的传导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240280"/>
            <a:ext cx="164592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25856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2A47"/>
                </a:solidFill>
                <a:latin typeface="微软雅黑"/>
                <a:eastAsia typeface="微软雅黑"/>
              </a:rPr>
              <a:t>高质量发展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0604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从规模速度型 → 质量效益型；GDP 增速服从于全要素生产率提升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3017520"/>
            <a:ext cx="164592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3580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2A47"/>
                </a:solidFill>
                <a:latin typeface="微软雅黑"/>
                <a:eastAsia typeface="微软雅黑"/>
              </a:rPr>
              <a:t>新质生产力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3832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以科技创新为内核；战略性新兴产业 + 未来产业 双轮驱动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3794760"/>
            <a:ext cx="164592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1304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2A47"/>
                </a:solidFill>
                <a:latin typeface="微软雅黑"/>
                <a:eastAsia typeface="微软雅黑"/>
              </a:rPr>
              <a:t>现代化产业体系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605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实体经济 + 数字经济深度融合；安全可控的产业链供应链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4572000"/>
            <a:ext cx="164592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5902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2A47"/>
                </a:solidFill>
                <a:latin typeface="微软雅黑"/>
                <a:eastAsia typeface="微软雅黑"/>
              </a:rPr>
              <a:t>城乡统筹与“人口-产业-空间”再匹配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9377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都市圈 / 城市群 / 县域经济协同重构空间需求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2103120"/>
            <a:ext cx="4297680" cy="41148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79" y="21945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2A47"/>
                </a:solidFill>
                <a:latin typeface="微软雅黑"/>
                <a:eastAsia typeface="微软雅黑"/>
              </a:rPr>
              <a:t>▎ 政策 → 行业的传导链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3800" y="2697480"/>
            <a:ext cx="38404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43800" y="2697480"/>
            <a:ext cx="109728" cy="64008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275234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B3B6F"/>
                </a:solidFill>
                <a:latin typeface="微软雅黑"/>
                <a:eastAsia typeface="微软雅黑"/>
              </a:rPr>
              <a:t>国家战略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02666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74151"/>
                </a:solidFill>
                <a:latin typeface="微软雅黑"/>
                <a:eastAsia typeface="微软雅黑"/>
              </a:rPr>
              <a:t>新质生产力 / 实体经济 / 安全发展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329184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3800" y="3410712"/>
            <a:ext cx="38404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543800" y="3410712"/>
            <a:ext cx="109728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46557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A9D8F"/>
                </a:solidFill>
                <a:latin typeface="微软雅黑"/>
                <a:eastAsia typeface="微软雅黑"/>
              </a:rPr>
              <a:t>城市发展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73989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74151"/>
                </a:solidFill>
                <a:latin typeface="微软雅黑"/>
                <a:eastAsia typeface="微软雅黑"/>
              </a:rPr>
              <a:t>都市圈协同 / 中心城市能级提升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400507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▼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3800" y="4123944"/>
            <a:ext cx="38404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543800" y="4123944"/>
            <a:ext cx="109728" cy="640080"/>
          </a:xfrm>
          <a:prstGeom prst="rect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0" y="41788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07A3C"/>
                </a:solidFill>
                <a:latin typeface="微软雅黑"/>
                <a:eastAsia typeface="微软雅黑"/>
              </a:rPr>
              <a:t>产业空间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44531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74151"/>
                </a:solidFill>
                <a:latin typeface="微软雅黑"/>
                <a:eastAsia typeface="微软雅黑"/>
              </a:rPr>
              <a:t>科创园区 / 总部 / 产业社区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71830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43800" y="4837176"/>
            <a:ext cx="38404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543800" y="4837176"/>
            <a:ext cx="109728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1"/>
                </a:solidFill>
                <a:latin typeface="微软雅黑"/>
                <a:eastAsia typeface="微软雅黑"/>
              </a:rPr>
              <a:t>不动产新模式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51663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74151"/>
                </a:solidFill>
                <a:latin typeface="微软雅黑"/>
                <a:eastAsia typeface="微软雅黑"/>
              </a:rPr>
              <a:t>存量运营 + 科技服务 + 资产管理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01  ·  时代定调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02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告别旧模式：从“三高”驱动到“稳健提质”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高杠杆 · 高周转 · 高负债 → 稳健经营 · 提质增效 · 长期主义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194560"/>
            <a:ext cx="5212080" cy="50292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</a:rPr>
              <a:t>旧模式  ·  规模驱动 (2003-2021)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194560"/>
            <a:ext cx="5212080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</a:rPr>
              <a:t>新模式  ·  质量驱动 (十四五末 — 十五五)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697480"/>
            <a:ext cx="5212080" cy="50292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2697480"/>
            <a:ext cx="5212080" cy="50292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2697480"/>
            <a:ext cx="1280160" cy="50292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281635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</a:rPr>
              <a:t>商业逻辑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0552" y="2816352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土地金融 + 预售制资金循环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81635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2A47"/>
                </a:solidFill>
                <a:latin typeface="微软雅黑"/>
                <a:eastAsia typeface="微软雅黑"/>
              </a:rPr>
              <a:t>经营性现金流 + 不动产服务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200400"/>
            <a:ext cx="5212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200400"/>
            <a:ext cx="5212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3200400"/>
            <a:ext cx="1280160" cy="50292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331927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</a:rPr>
              <a:t>增长方式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30552" y="3319272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扩张土储 / 高周转去化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31927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2A47"/>
                </a:solidFill>
                <a:latin typeface="微软雅黑"/>
                <a:eastAsia typeface="微软雅黑"/>
              </a:rPr>
              <a:t>存量盘活 / 资产管理 / REITs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" y="3703320"/>
            <a:ext cx="5212080" cy="50292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3703320"/>
            <a:ext cx="5212080" cy="50292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3232" y="3703320"/>
            <a:ext cx="1280160" cy="50292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38221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</a:rPr>
              <a:t>产品形态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0552" y="3822192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标准化住宅大宗交付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38221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2A47"/>
                </a:solidFill>
                <a:latin typeface="微软雅黑"/>
                <a:eastAsia typeface="微软雅黑"/>
              </a:rPr>
              <a:t>好房子 / 好社区 / 好服务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" y="4206240"/>
            <a:ext cx="5212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0" y="4206240"/>
            <a:ext cx="5212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4206240"/>
            <a:ext cx="1280160" cy="50292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432511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</a:rPr>
              <a:t>收入结构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30552" y="4325112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开发销售为主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432511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2A47"/>
                </a:solidFill>
                <a:latin typeface="微软雅黑"/>
                <a:eastAsia typeface="微软雅黑"/>
              </a:rPr>
              <a:t>开发 + 持有 + 运营 + 科技服务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4709160"/>
            <a:ext cx="5212080" cy="50292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0" y="4709160"/>
            <a:ext cx="5212080" cy="50292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13232" y="4709160"/>
            <a:ext cx="1280160" cy="50292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48280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</a:rPr>
              <a:t>风险特征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30552" y="4828032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高杠杆 · 高负债 · 期限错配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48280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2A47"/>
                </a:solidFill>
                <a:latin typeface="微软雅黑"/>
                <a:eastAsia typeface="微软雅黑"/>
              </a:rPr>
              <a:t>稳健杠杆 · 长期资金 · 净资产经营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3232" y="5212080"/>
            <a:ext cx="5212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5212080"/>
            <a:ext cx="5212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3232" y="5212080"/>
            <a:ext cx="1280160" cy="50292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" y="533095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</a:rPr>
              <a:t>竞争核心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30552" y="5330952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拿地能力 / 融资能力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0" y="533095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2A47"/>
                </a:solidFill>
                <a:latin typeface="微软雅黑"/>
                <a:eastAsia typeface="微软雅黑"/>
              </a:rPr>
              <a:t>运营能力 / 科技能力 / 生态整合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3232" y="5852160"/>
            <a:ext cx="10762488" cy="41148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3232" y="5907024"/>
            <a:ext cx="10762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▎  本质转换：从“卖房子”到“经营空间、运营人、服务产业”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01  ·  时代定调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03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核心论点：“十五五”竞争维度的根本切换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不再比“谁拿地多、卖得快”，而是比“谁运营得精、谁链接得深”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0" y="2103120"/>
            <a:ext cx="7589520" cy="118872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0" y="2103120"/>
            <a:ext cx="137160" cy="1188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22402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C9A961"/>
                </a:solidFill>
                <a:latin typeface="微软雅黑"/>
                <a:eastAsia typeface="微软雅黑"/>
              </a:rPr>
              <a:t>核心论点 · CORE  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56032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stAsia typeface="微软雅黑"/>
              </a:rPr>
              <a:t>“十五五”期间的房地产高质量发展 ——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880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9A961"/>
                </a:solidFill>
                <a:latin typeface="微软雅黑"/>
                <a:eastAsia typeface="微软雅黑"/>
              </a:rPr>
              <a:t>= 存量资产的精细化运营  ×  科技产业化的深度融合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3703320"/>
            <a:ext cx="338328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3703320"/>
            <a:ext cx="3383280" cy="7315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97764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A9D8F"/>
                </a:solidFill>
                <a:latin typeface="微软雅黑"/>
                <a:eastAsia typeface="微软雅黑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805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2A47"/>
                </a:solidFill>
                <a:latin typeface="微软雅黑"/>
                <a:eastAsia typeface="微软雅黑"/>
              </a:rPr>
              <a:t>从「土储」到「资产组合」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" y="4937760"/>
            <a:ext cx="365760" cy="190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507492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GFA 不再为王；NOI、IRR、Cap Rate 成为通用语言；REITs 打通投融管退闭环。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61104" y="3703320"/>
            <a:ext cx="338328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61104" y="3703320"/>
            <a:ext cx="3383280" cy="73152"/>
          </a:xfrm>
          <a:prstGeom prst="rect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5424" y="397764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07A3C"/>
                </a:solidFill>
                <a:latin typeface="微软雅黑"/>
                <a:eastAsia typeface="微软雅黑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5424" y="44805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2A47"/>
                </a:solidFill>
                <a:latin typeface="微软雅黑"/>
                <a:eastAsia typeface="微软雅黑"/>
              </a:rPr>
              <a:t>从「卖空间」到「卖服务」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4937760"/>
            <a:ext cx="365760" cy="190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5424" y="507492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招商 / 产业 / 数字 / 金融 服务收入占比上升；空间作为“流量入口”。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08976" y="3703320"/>
            <a:ext cx="338328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808976" y="3703320"/>
            <a:ext cx="3383280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97764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C9A961"/>
                </a:solidFill>
                <a:latin typeface="微软雅黑"/>
                <a:eastAsia typeface="微软雅黑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83296" y="44805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2A47"/>
                </a:solidFill>
                <a:latin typeface="微软雅黑"/>
                <a:eastAsia typeface="微软雅黑"/>
              </a:rPr>
              <a:t>从「重资产」到「重平台」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83296" y="4937760"/>
            <a:ext cx="365760" cy="190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83296" y="507492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管理输出 + 科技输出 + 生态输出，平台化能力定义新的护城河。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0" y="36576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24000" b="1">
                <a:solidFill>
                  <a:srgbClr val="1B3B6F"/>
                </a:solidFill>
                <a:latin typeface="微软雅黑"/>
                <a:eastAsia typeface="微软雅黑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PART  · 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C9A961"/>
                </a:solidFill>
                <a:latin typeface="微软雅黑"/>
                <a:eastAsia typeface="微软雅黑"/>
              </a:rPr>
              <a:t>PART 02  ·  Break  Through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stAsia typeface="微软雅黑"/>
              </a:rPr>
              <a:t>破局寻路：房地产「新模式」的核心内涵与高质量标准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931920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  <a:eastAsia typeface="微软雅黑"/>
              </a:rPr>
              <a:t>空间载体演变  ·  轻重分离  ·  产城融合  ·  四把尺子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846320"/>
            <a:ext cx="3474720" cy="128016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484632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0109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34924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空间载体进化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从居住到生态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4846320"/>
            <a:ext cx="3474720" cy="128016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6280" y="484632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50109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534924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轻重分离 + 产城融合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双特征解构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4846320"/>
            <a:ext cx="3474720" cy="128016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484632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50109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534924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高质量评价四维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财务 / 客户 / 产业 / 生态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02  ·  破局寻路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04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高质量发展的空间载体演变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从“居住与办公空间”  →  “科创生态与产业聚集地”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108960"/>
            <a:ext cx="10515600" cy="2857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27682" y="2999232"/>
            <a:ext cx="219456" cy="219456"/>
          </a:xfrm>
          <a:prstGeom prst="ellipse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1570" y="224028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B3B6F"/>
                </a:solidFill>
                <a:latin typeface="微软雅黑"/>
                <a:eastAsia typeface="微软雅黑"/>
              </a:rPr>
              <a:t>1.0 居住时代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1570" y="260604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1998–2010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690" y="338328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解决“有没有”</a:t>
            </a:r>
          </a:p>
          <a:p>
            <a:pPr algn="ctr">
              <a:lnSpc>
                <a:spcPct val="14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商品住宅大规模供给</a:t>
            </a:r>
          </a:p>
        </p:txBody>
      </p:sp>
      <p:sp>
        <p:nvSpPr>
          <p:cNvPr id="17" name="Oval 16"/>
          <p:cNvSpPr/>
          <p:nvPr/>
        </p:nvSpPr>
        <p:spPr>
          <a:xfrm>
            <a:off x="4656582" y="2999232"/>
            <a:ext cx="219456" cy="21945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0470" y="224028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2A9D8F"/>
                </a:solidFill>
                <a:latin typeface="微软雅黑"/>
                <a:eastAsia typeface="微软雅黑"/>
              </a:rPr>
              <a:t>2.0 商办时代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0470" y="260604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2010–2020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7590" y="338328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解决“够不够”</a:t>
            </a:r>
          </a:p>
          <a:p>
            <a:pPr algn="ctr">
              <a:lnSpc>
                <a:spcPct val="14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写字楼 / 商业综合体爆发</a:t>
            </a:r>
          </a:p>
        </p:txBody>
      </p:sp>
      <p:sp>
        <p:nvSpPr>
          <p:cNvPr id="21" name="Oval 20"/>
          <p:cNvSpPr/>
          <p:nvPr/>
        </p:nvSpPr>
        <p:spPr>
          <a:xfrm>
            <a:off x="7285482" y="2999232"/>
            <a:ext cx="219456" cy="219456"/>
          </a:xfrm>
          <a:prstGeom prst="ellipse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9370" y="224028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E07A3C"/>
                </a:solidFill>
                <a:latin typeface="微软雅黑"/>
                <a:eastAsia typeface="微软雅黑"/>
              </a:rPr>
              <a:t>3.0 产业时代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9370" y="260604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2020–2025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6490" y="338328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解决“专不专”</a:t>
            </a:r>
          </a:p>
          <a:p>
            <a:pPr algn="ctr">
              <a:lnSpc>
                <a:spcPct val="14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产业园 / 总部 / 产城融合</a:t>
            </a:r>
          </a:p>
        </p:txBody>
      </p:sp>
      <p:sp>
        <p:nvSpPr>
          <p:cNvPr id="25" name="Oval 24"/>
          <p:cNvSpPr/>
          <p:nvPr/>
        </p:nvSpPr>
        <p:spPr>
          <a:xfrm>
            <a:off x="9914382" y="2999232"/>
            <a:ext cx="219456" cy="219456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18270" y="224028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C9A961"/>
                </a:solidFill>
                <a:latin typeface="微软雅黑"/>
                <a:eastAsia typeface="微软雅黑"/>
              </a:rPr>
              <a:t>4.0 生态时代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8270" y="260604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2025+ “十五五”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35390" y="338328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解决“活不活”</a:t>
            </a:r>
          </a:p>
          <a:p>
            <a:pPr algn="ctr">
              <a:lnSpc>
                <a:spcPct val="14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科创生态 / 平台型不动产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4434840"/>
            <a:ext cx="10762488" cy="41148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4489704"/>
            <a:ext cx="107624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▎ “十五五”时期的不动产载体形态：四种正在崛起的“高质量空间”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4937760"/>
            <a:ext cx="2606040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493776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0749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2A47"/>
                </a:solidFill>
                <a:latin typeface="微软雅黑"/>
                <a:eastAsia typeface="微软雅黑"/>
              </a:rPr>
              <a:t>科创园区 2.0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440680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硬科技产线 +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概念验证中心 + 中试平台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83280" y="4937760"/>
            <a:ext cx="2606040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83280" y="493776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60" y="50749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2A47"/>
                </a:solidFill>
                <a:latin typeface="微软雅黑"/>
                <a:eastAsia typeface="微软雅黑"/>
              </a:rPr>
              <a:t>产业总部社区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5440680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总部办公 +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人才公寓 + 配套服务一体化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53328" y="4937760"/>
            <a:ext cx="2606040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53328" y="493776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6208" y="50749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2A47"/>
                </a:solidFill>
                <a:latin typeface="微软雅黑"/>
                <a:eastAsia typeface="微软雅黑"/>
              </a:rPr>
              <a:t>城市更新单元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5440680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老厂房 / 老商业焕新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承载新消费、新文化、新办公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723376" y="4937760"/>
            <a:ext cx="2606040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723376" y="493776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06256" y="50749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2A47"/>
                </a:solidFill>
                <a:latin typeface="微软雅黑"/>
                <a:eastAsia typeface="微软雅黑"/>
              </a:rPr>
              <a:t>REITs 化资产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06256" y="5440680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底层资产标准化 +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公募 REITs 持有运营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02  ·  破局寻路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05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新模式特征 ① 轻重分离：从“持有规模”到“管理半径”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重资产持有  →  轻资产管理输出 / 品牌输出 / 运营输出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194560"/>
            <a:ext cx="5212080" cy="402336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194560"/>
            <a:ext cx="5212080" cy="50292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</a:rPr>
              <a:t>重 · 资本平台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297180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●  底层逻辑：资金 + 资产 + 风控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347472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●  关键能力：长期资金获取、资产配置、组合管理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397764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●  代表产品：基础设施 REITs / 持有型物业基金 / 保租房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448056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●  估值锚点：NOI · Cap Rate · DPU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" y="49834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●  组织形态：投资委员会 + 资管中后台 + 风控合规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" y="548640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●  对从业者要求：财务建模、估值、法务结构、跨境资本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194560"/>
            <a:ext cx="5212080" cy="402336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2194560"/>
            <a:ext cx="5212080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</a:rPr>
              <a:t>轻 · 服务平台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297180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0F2A47"/>
                </a:solidFill>
                <a:latin typeface="微软雅黑"/>
                <a:eastAsia typeface="微软雅黑"/>
              </a:rPr>
              <a:t>●  底层逻辑：品牌 + 标准 + 数据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47472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0F2A47"/>
                </a:solidFill>
                <a:latin typeface="微软雅黑"/>
                <a:eastAsia typeface="微软雅黑"/>
              </a:rPr>
              <a:t>●  关键能力：运营 SOP、数字化中台、生态整合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97764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0F2A47"/>
                </a:solidFill>
                <a:latin typeface="微软雅黑"/>
                <a:eastAsia typeface="微软雅黑"/>
              </a:rPr>
              <a:t>●  代表产品：商管 / 物管 / 园区运营 / 长租公寓品牌输出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48056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0F2A47"/>
                </a:solidFill>
                <a:latin typeface="微软雅黑"/>
                <a:eastAsia typeface="微软雅黑"/>
              </a:rPr>
              <a:t>●  估值锚点：在管面积 · ARPU · 续约率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9834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0F2A47"/>
                </a:solidFill>
                <a:latin typeface="微软雅黑"/>
                <a:eastAsia typeface="微软雅黑"/>
              </a:rPr>
              <a:t>●  组织形态：产品中心 + 运营中台 + 客户成功团队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48640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0F2A47"/>
                </a:solidFill>
                <a:latin typeface="微软雅黑"/>
                <a:eastAsia typeface="微软雅黑"/>
              </a:rPr>
              <a:t>●  对从业者要求：用户洞察、运营算账、AI 工具、产业资源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12080" y="5669280"/>
            <a:ext cx="1783080" cy="4114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0" y="5715000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</a:rPr>
              <a:t>「资本 ⇄ 服务」双轮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02  ·  破局寻路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06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新模式特征 ② 产城融合：不动产作为“超级会客厅”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聚焦实体经济，链接高校智库 × 科技企业 × 国际创新资源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166360" y="3246120"/>
            <a:ext cx="1828800" cy="1828800"/>
          </a:xfrm>
          <a:prstGeom prst="ellipse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37490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C9A961"/>
                </a:solidFill>
                <a:latin typeface="微软雅黑"/>
                <a:eastAsia typeface="微软雅黑"/>
              </a:rPr>
              <a:t>不动产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41148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</a:rPr>
              <a:t>超级会客厅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44805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C9A961"/>
                </a:solidFill>
                <a:latin typeface="微软雅黑"/>
                <a:eastAsia typeface="微软雅黑"/>
              </a:rPr>
              <a:t>Super  Hub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2697480"/>
            <a:ext cx="29260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2697480"/>
            <a:ext cx="73152" cy="12801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2834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2A9D8F"/>
                </a:solidFill>
                <a:latin typeface="微软雅黑"/>
                <a:eastAsia typeface="微软雅黑"/>
              </a:rPr>
              <a:t>高校 / 智库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20040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中科院系所、双一流高校实验室、产业研究院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697480"/>
            <a:ext cx="29260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2697480"/>
            <a:ext cx="73152" cy="1280160"/>
          </a:xfrm>
          <a:prstGeom prst="rect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834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7A3C"/>
                </a:solidFill>
                <a:latin typeface="微软雅黑"/>
                <a:eastAsia typeface="微软雅黑"/>
              </a:rPr>
              <a:t>科技企业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20040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专精特新、独角兽、上市科技公司、央国企科创平台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5074920"/>
            <a:ext cx="29260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97280" y="5074920"/>
            <a:ext cx="73152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52120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9A961"/>
                </a:solidFill>
                <a:latin typeface="微软雅黑"/>
                <a:eastAsia typeface="微软雅黑"/>
              </a:rPr>
              <a:t>国际创新资源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57784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海外加速器、跨境基金、国际行业协会、海归创业团队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5074920"/>
            <a:ext cx="29260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5074920"/>
            <a:ext cx="73152" cy="128016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52120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B3B6F"/>
                </a:solidFill>
                <a:latin typeface="微软雅黑"/>
                <a:eastAsia typeface="微软雅黑"/>
              </a:rPr>
              <a:t>政府 / 园区平台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57784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区科委、产业引导基金、海关、税务、监管沙盒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103120"/>
            <a:ext cx="10762488" cy="45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2167128"/>
            <a:ext cx="10762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2A47"/>
                </a:solidFill>
                <a:latin typeface="微软雅黑"/>
                <a:eastAsia typeface="微软雅黑"/>
              </a:rPr>
              <a:t>▎  空间不再是“出租物业”，而是“价值连接器” —— 把人、产业、资本、政策汇聚在同一物理场域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02  ·  破局寻路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07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高质量的“四把尺子”：可量化的新模式评价标准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用财务、客户、产业、生态四维度，替代过往单一的销售排名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240280"/>
            <a:ext cx="2606040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40280"/>
            <a:ext cx="2606040" cy="64008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4048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</a:rPr>
              <a:t>F · 财务质量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" y="3108960"/>
            <a:ext cx="365760" cy="190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291840"/>
            <a:ext cx="2057400" cy="2651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经营性现金流 / NOI 增长率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资产负债率 / 利息保障倍数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ROIC、IRR、Cap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2240280"/>
            <a:ext cx="2606040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83280" y="2240280"/>
            <a:ext cx="260604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24048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</a:rPr>
              <a:t>C · 客户质量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3108960"/>
            <a:ext cx="365760" cy="190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3291840"/>
            <a:ext cx="2057400" cy="2651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续约率 / NPS / 入驻满意度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客户结构 (头部 / 腰部 / 长尾)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生命周期价值 LTV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53328" y="2240280"/>
            <a:ext cx="2606040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53328" y="2240280"/>
            <a:ext cx="2606040" cy="640080"/>
          </a:xfrm>
          <a:prstGeom prst="rect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53328" y="24048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</a:rPr>
              <a:t>I · 产业质量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27648" y="3108960"/>
            <a:ext cx="365760" cy="190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7648" y="3291840"/>
            <a:ext cx="2057400" cy="2651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入驻企业研发强度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专精特新 / 高新技术企业占比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产值密度 / 税收密度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23376" y="2240280"/>
            <a:ext cx="2606040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23376" y="2240280"/>
            <a:ext cx="260604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23376" y="24048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</a:rPr>
              <a:t>E · 生态质量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97696" y="3108960"/>
            <a:ext cx="365760" cy="190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97696" y="3291840"/>
            <a:ext cx="2057400" cy="2651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活动 / 路演 / 沙龙频次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跨界合作机构数量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投融资促成金额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6199632"/>
            <a:ext cx="10762488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6245352"/>
            <a:ext cx="10762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F2A47"/>
                </a:solidFill>
                <a:latin typeface="微软雅黑"/>
                <a:eastAsia typeface="微软雅黑"/>
              </a:rPr>
              <a:t>从“销售冠军”到“运营冠军”—— “十五五”行业排名的底层逻辑正在重写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0" y="36576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24000" b="1">
                <a:solidFill>
                  <a:srgbClr val="1B3B6F"/>
                </a:solidFill>
                <a:latin typeface="微软雅黑"/>
                <a:eastAsia typeface="微软雅黑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PART  · 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C9A961"/>
                </a:solidFill>
                <a:latin typeface="微软雅黑"/>
                <a:eastAsia typeface="微软雅黑"/>
              </a:rPr>
              <a:t>PART 03  ·  Tech-Powered 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stAsia typeface="微软雅黑"/>
              </a:rPr>
              <a:t>核心动能：科技创新如何驱动不动产高质量发展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931920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  <a:eastAsia typeface="微软雅黑"/>
              </a:rPr>
              <a:t>AI 与大模型  ·  科创生态赋能  ·  跨界协同  ·  实战范式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846320"/>
            <a:ext cx="3474720" cy="128016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484632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0109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34924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管理提效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AI × 投资 / 资管 / 招商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4846320"/>
            <a:ext cx="3474720" cy="128016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6280" y="484632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50109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534924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空间增值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科创生态运营 + 新主体服务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4846320"/>
            <a:ext cx="3474720" cy="128016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484632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50109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534924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跨界协同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学术 ⇄ 产业 ⇄ 投资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03  ·  核心动能 · 科技驱动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08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科技驱动的三层飞轮：管理 · 空间 · 生态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AI、大模型、数据中台与生态运营，正在重塑不动产价值链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240280"/>
            <a:ext cx="1076248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40280"/>
            <a:ext cx="164592" cy="132588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4231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B3B6F"/>
                </a:solidFill>
                <a:latin typeface="微软雅黑"/>
                <a:eastAsia typeface="微软雅黑"/>
              </a:rPr>
              <a:t>L1  管理提效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017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—— 飞轮第 1 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404872"/>
            <a:ext cx="41148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1">
                <a:solidFill>
                  <a:srgbClr val="0F2A47"/>
                </a:solidFill>
                <a:latin typeface="微软雅黑"/>
                <a:eastAsia typeface="微软雅黑"/>
              </a:rPr>
              <a:t>AI 与数字化重塑</a:t>
            </a:r>
          </a:p>
          <a:p>
            <a:pPr algn="l">
              <a:lnSpc>
                <a:spcPct val="145000"/>
              </a:lnSpc>
            </a:pPr>
            <a:r>
              <a:rPr sz="1250" b="1">
                <a:solidFill>
                  <a:srgbClr val="0F2A47"/>
                </a:solidFill>
                <a:latin typeface="微软雅黑"/>
                <a:eastAsia typeface="微软雅黑"/>
              </a:rPr>
              <a:t>投资测算 · 资产管理 · 招商引资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2423160"/>
            <a:ext cx="9525" cy="96012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2404872"/>
            <a:ext cx="33832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对内 ：让人更少、决策更快、错配更少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" y="3675888"/>
            <a:ext cx="1076248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675888"/>
            <a:ext cx="164592" cy="13258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8587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A9D8F"/>
                </a:solidFill>
                <a:latin typeface="微软雅黑"/>
                <a:eastAsia typeface="微软雅黑"/>
              </a:rPr>
              <a:t>L2  空间增值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453128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—— 飞轮第 2 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840480"/>
            <a:ext cx="41148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1">
                <a:solidFill>
                  <a:srgbClr val="0F2A47"/>
                </a:solidFill>
                <a:latin typeface="微软雅黑"/>
                <a:eastAsia typeface="微软雅黑"/>
              </a:rPr>
              <a:t>科创生态赋能</a:t>
            </a:r>
          </a:p>
          <a:p>
            <a:pPr algn="l">
              <a:lnSpc>
                <a:spcPct val="145000"/>
              </a:lnSpc>
            </a:pPr>
            <a:r>
              <a:rPr sz="1250" b="1">
                <a:solidFill>
                  <a:srgbClr val="0F2A47"/>
                </a:solidFill>
                <a:latin typeface="微软雅黑"/>
                <a:eastAsia typeface="微软雅黑"/>
              </a:rPr>
              <a:t>沙龙 · 路演 · 加速 · 概念验证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3858768"/>
            <a:ext cx="9525" cy="96012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3840480"/>
            <a:ext cx="33832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对外 ：让客户更精准、租金溢价、续约更稳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5111496"/>
            <a:ext cx="1076248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5111496"/>
            <a:ext cx="164592" cy="1325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29437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C9A961"/>
                </a:solidFill>
                <a:latin typeface="微软雅黑"/>
                <a:eastAsia typeface="微软雅黑"/>
              </a:rPr>
              <a:t>L3  跨界协同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888736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—— 飞轮第 3 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5276088"/>
            <a:ext cx="41148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1">
                <a:solidFill>
                  <a:srgbClr val="0F2A47"/>
                </a:solidFill>
                <a:latin typeface="微软雅黑"/>
                <a:eastAsia typeface="微软雅黑"/>
              </a:rPr>
              <a:t>学术 ⇄ 产业 ⇄ 投资</a:t>
            </a:r>
          </a:p>
          <a:p>
            <a:pPr algn="l">
              <a:lnSpc>
                <a:spcPct val="145000"/>
              </a:lnSpc>
            </a:pPr>
            <a:r>
              <a:rPr sz="1250" b="1">
                <a:solidFill>
                  <a:srgbClr val="0F2A47"/>
                </a:solidFill>
                <a:latin typeface="微软雅黑"/>
                <a:eastAsia typeface="微软雅黑"/>
              </a:rPr>
              <a:t>超级会客厅 · 平台经济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5294376"/>
            <a:ext cx="9525" cy="96012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5276088"/>
            <a:ext cx="33832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对生态 ：让不动产成为“价值链接器”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6199632"/>
            <a:ext cx="10762488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6245352"/>
            <a:ext cx="10762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F2A47"/>
                </a:solidFill>
                <a:latin typeface="微软雅黑"/>
                <a:eastAsia typeface="微软雅黑"/>
              </a:rPr>
              <a:t>FLYWHEEL：管理提效  →  空间增值  →  跨界协同  →  反哺管理 (数据 + 案例 + 模型迭代)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03  ·  核心动能 · 科技驱动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09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管理提效 ① 大模型 × 投资测算：从“经验拍脑袋”到“模型推演”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把投决会前的 80% 体力活，交给 LLM + 量化模型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194560"/>
            <a:ext cx="5029200" cy="50292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286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</a:rPr>
              <a:t>应用场景  ·  Where to 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834640"/>
            <a:ext cx="5029200" cy="86868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2834640"/>
            <a:ext cx="73152" cy="8686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292608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F2A47"/>
                </a:solidFill>
                <a:latin typeface="微软雅黑"/>
                <a:eastAsia typeface="微软雅黑"/>
              </a:rPr>
              <a:t>城市与板块研判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324612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LLM 抓取规划、人口、产业、交通、消费数据 ;  自动生成板块画像与排序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3794760"/>
            <a:ext cx="5029200" cy="86868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3794760"/>
            <a:ext cx="73152" cy="8686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3886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F2A47"/>
                </a:solidFill>
                <a:latin typeface="微软雅黑"/>
                <a:eastAsia typeface="微软雅黑"/>
              </a:rPr>
              <a:t>地块 / 资产尽调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20624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Agent 拉取规划条件 / 周边可比 / 限价信息，10 分钟出“一页纸”备忘录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4754880"/>
            <a:ext cx="5029200" cy="86868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754880"/>
            <a:ext cx="73152" cy="8686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48463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F2A47"/>
                </a:solidFill>
                <a:latin typeface="微软雅黑"/>
                <a:eastAsia typeface="微软雅黑"/>
              </a:rPr>
              <a:t>现金流测算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" y="51663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模型按情景 (中性 / 乐观 / 压力) 自动跑动态 IRR / NPV / 敏感性矩阵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5715000"/>
            <a:ext cx="5029200" cy="86868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5715000"/>
            <a:ext cx="73152" cy="8686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80644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F2A47"/>
                </a:solidFill>
                <a:latin typeface="微软雅黑"/>
                <a:eastAsia typeface="微软雅黑"/>
              </a:rPr>
              <a:t>投决会问询应答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" y="612648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RAG 检索历史项目 + 行业研报，模拟“老板会问的 30 个问题”自检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9320" y="2194560"/>
            <a:ext cx="5486400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89320" y="2286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</a:rPr>
              <a:t>可量化的价值  ·  Why It Matters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89320" y="2834640"/>
            <a:ext cx="267462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89320" y="2834640"/>
            <a:ext cx="73152" cy="132588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2200" y="3017520"/>
            <a:ext cx="24003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2A47"/>
                </a:solidFill>
                <a:latin typeface="微软雅黑"/>
                <a:eastAsia typeface="微软雅黑"/>
              </a:rPr>
              <a:t>70%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3611880"/>
            <a:ext cx="24003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尽调资料整理时间下降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01100" y="2834640"/>
            <a:ext cx="267462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801100" y="2834640"/>
            <a:ext cx="73152" cy="132588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83980" y="3017520"/>
            <a:ext cx="24003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2A47"/>
                </a:solidFill>
                <a:latin typeface="微软雅黑"/>
                <a:eastAsia typeface="微软雅黑"/>
              </a:rPr>
              <a:t>10×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3980" y="3611880"/>
            <a:ext cx="24003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可比案例检索效率提升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9320" y="4297680"/>
            <a:ext cx="267462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89320" y="4297680"/>
            <a:ext cx="73152" cy="132588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72200" y="4480560"/>
            <a:ext cx="24003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2A47"/>
                </a:solidFill>
                <a:latin typeface="微软雅黑"/>
                <a:eastAsia typeface="微软雅黑"/>
              </a:rPr>
              <a:t>3 天 → 3 小时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5074920"/>
            <a:ext cx="24003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项目“一页纸”备忘录出稿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01100" y="4297680"/>
            <a:ext cx="267462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801100" y="4297680"/>
            <a:ext cx="73152" cy="132588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83980" y="4480560"/>
            <a:ext cx="24003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2A47"/>
                </a:solidFill>
                <a:latin typeface="微软雅黑"/>
                <a:eastAsia typeface="微软雅黑"/>
              </a:rPr>
              <a:t>≥5 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83980" y="5074920"/>
            <a:ext cx="24003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情景测算并行可视化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89320" y="5760720"/>
            <a:ext cx="5486400" cy="50292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89320" y="5833872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C9A961"/>
                </a:solidFill>
                <a:latin typeface="微软雅黑"/>
                <a:eastAsia typeface="微软雅黑"/>
              </a:rPr>
              <a:t>▎ 底线：模型只做“草稿”，决策仍由人 + 投委会负责；数据合规 / 隐私不可让位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03  ·  核心动能 · 科技驱动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10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管理提效 ② AI × 资产管理：让“楼”自己说话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数字化中台 + 大模型 Agent，把“资产管家”从被动维护推向主动经营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286000"/>
            <a:ext cx="26060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2606040" cy="45720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37744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</a:rPr>
              <a:t>感知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2926080"/>
            <a:ext cx="2240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IoT + BIM</a:t>
            </a:r>
          </a:p>
          <a:p>
            <a:pPr algn="ctr">
              <a:lnSpc>
                <a:spcPct val="15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空调 / 电梯 / 能耗 / 客流 / 摄像头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3552" y="3063240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C9A961"/>
                </a:solidFill>
                <a:latin typeface="微软雅黑"/>
                <a:eastAsia typeface="微软雅黑"/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6432" y="2286000"/>
            <a:ext cx="26060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56432" y="2286000"/>
            <a:ext cx="2606040" cy="4572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237744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</a:rPr>
              <a:t>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2926080"/>
            <a:ext cx="2240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数据中台 + 大模型</a:t>
            </a:r>
          </a:p>
          <a:p>
            <a:pPr algn="ctr">
              <a:lnSpc>
                <a:spcPct val="15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异常识别 / 趋势预测 / 客户画像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6752" y="3063240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C9A961"/>
                </a:solidFill>
                <a:latin typeface="微软雅黑"/>
                <a:eastAsia typeface="微软雅黑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2286000"/>
            <a:ext cx="26060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286000"/>
            <a:ext cx="2606040" cy="457200"/>
          </a:xfrm>
          <a:prstGeom prst="rect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237744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</a:rPr>
              <a:t>决策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2926080"/>
            <a:ext cx="2240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AI Copilot</a:t>
            </a:r>
          </a:p>
          <a:p>
            <a:pPr algn="ctr">
              <a:lnSpc>
                <a:spcPct val="15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租赁定价 / 招商优先级 / 维保排程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9952" y="3063240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C9A961"/>
                </a:solidFill>
                <a:latin typeface="微软雅黑"/>
                <a:eastAsia typeface="微软雅黑"/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42832" y="2286000"/>
            <a:ext cx="26060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42832" y="2286000"/>
            <a:ext cx="260604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42832" y="237744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</a:rPr>
              <a:t>行动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5712" y="2926080"/>
            <a:ext cx="2240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自动化执行</a:t>
            </a:r>
          </a:p>
          <a:p>
            <a:pPr algn="ctr">
              <a:lnSpc>
                <a:spcPct val="150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工单派发 / 报表生成 / 客户触达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4389120"/>
            <a:ext cx="10762488" cy="384048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4434840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▎  典型 KPI 改善  ·  从“管事”到“管效益”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4892040"/>
            <a:ext cx="2587752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5001768"/>
            <a:ext cx="2313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2A47"/>
                </a:solidFill>
                <a:latin typeface="微软雅黑"/>
                <a:eastAsia typeface="微软雅黑"/>
              </a:rPr>
              <a:t>能耗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" y="5303520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07A3C"/>
                </a:solidFill>
                <a:latin typeface="微软雅黑"/>
                <a:eastAsia typeface="微软雅黑"/>
              </a:rPr>
              <a:t>↓ 8-15%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5760720"/>
            <a:ext cx="2313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AI 调优 + 错峰策略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38144" y="4892040"/>
            <a:ext cx="2587752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21024" y="5001768"/>
            <a:ext cx="2313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2A47"/>
                </a:solidFill>
                <a:latin typeface="微软雅黑"/>
                <a:eastAsia typeface="微软雅黑"/>
              </a:rPr>
              <a:t>空置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21024" y="5303520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07A3C"/>
                </a:solidFill>
                <a:latin typeface="微软雅黑"/>
                <a:eastAsia typeface="微软雅黑"/>
              </a:rPr>
              <a:t>↓ 1-3 个月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21024" y="5760720"/>
            <a:ext cx="2313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客户画像 + 主动招商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63056" y="4892040"/>
            <a:ext cx="2587752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45936" y="5001768"/>
            <a:ext cx="2313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2A47"/>
                </a:solidFill>
                <a:latin typeface="微软雅黑"/>
                <a:eastAsia typeface="微软雅黑"/>
              </a:rPr>
              <a:t>租金溢价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45936" y="5303520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07A3C"/>
                </a:solidFill>
                <a:latin typeface="微软雅黑"/>
                <a:eastAsia typeface="微软雅黑"/>
              </a:rPr>
              <a:t>↑ 3-8%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5936" y="5760720"/>
            <a:ext cx="2313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定价模型 + 服务捆绑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887968" y="4892040"/>
            <a:ext cx="2587752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70848" y="5001768"/>
            <a:ext cx="2313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2A47"/>
                </a:solidFill>
                <a:latin typeface="微软雅黑"/>
                <a:eastAsia typeface="微软雅黑"/>
              </a:rPr>
              <a:t>客户满意度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70848" y="5303520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07A3C"/>
                </a:solidFill>
                <a:latin typeface="微软雅黑"/>
                <a:eastAsia typeface="微软雅黑"/>
              </a:rPr>
              <a:t>↑ 10+ pt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70848" y="5760720"/>
            <a:ext cx="2313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工单响应 + 服务可视化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03  ·  核心动能 · 科技驱动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11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管理提效 ③ 自动化招商引资：从“扫楼陌拜”到“AI 雷达”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把企业搜寻、画像、触达、跟进的全链路装进数字化中台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4410" y="2286000"/>
            <a:ext cx="6515100" cy="64008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4410" y="2450592"/>
            <a:ext cx="65151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</a:rPr>
              <a:t>企业池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45059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工商 / 税务 / 招标 / 招聘 / 专利 / 融资数据汇聚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77340" y="3017520"/>
            <a:ext cx="534924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77340" y="3182112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</a:rPr>
              <a:t>画像与匹配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18211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LLM 抽取行业、阶段、空间偏好 → 与园区画像匹配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5980" y="3749040"/>
            <a:ext cx="4251960" cy="640080"/>
          </a:xfrm>
          <a:prstGeom prst="rect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25980" y="3913632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</a:rPr>
              <a:t>线索分级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91363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AI 评分 (热 / 温 / 冷) + 接触建议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74620" y="4480560"/>
            <a:ext cx="315468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74620" y="4645152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</a:rPr>
              <a:t>自动化触达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464515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一键生成 BD 话术 / 邮件 / 提案 / 微信内容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5212080"/>
            <a:ext cx="2194560" cy="64008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5376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</a:rPr>
              <a:t>成交与履约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537667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电子签 / 入驻系统 / 服务工单 / 续约预测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" y="5852160"/>
            <a:ext cx="10762488" cy="4572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9436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0F2A47"/>
                </a:solidFill>
                <a:latin typeface="微软雅黑"/>
                <a:eastAsia typeface="微软雅黑"/>
              </a:rPr>
              <a:t>▎ 招商成本/家  ↓ 30-50%   ·   线索→成交 转化  ↑ 2-3×   ·   “专精特新”目标客户命中率显著提升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03  ·  核心动能 · 科技驱动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12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空间增值 · 科创生态赋能：把“楼宇”运营成“创新场”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通过持续的内容运营，使物理空间成为产业要素的“高频聚合点”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194560"/>
            <a:ext cx="5120640" cy="4572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25856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C9A961"/>
                </a:solidFill>
                <a:latin typeface="微软雅黑"/>
                <a:eastAsia typeface="微软雅黑"/>
              </a:rPr>
              <a:t>▎  科创生态运营 · “四件套”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788920"/>
            <a:ext cx="51206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2788920"/>
            <a:ext cx="54864" cy="8686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8803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F2A47"/>
                </a:solidFill>
                <a:latin typeface="微软雅黑"/>
                <a:eastAsia typeface="微软雅黑"/>
              </a:rPr>
              <a:t>前沿科技沙龙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高校老师 + 一线工程师小范围深聊 ;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聚焦 AI / 生物医药 / 新能源 / 半导体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3749040"/>
            <a:ext cx="51206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3749040"/>
            <a:ext cx="54864" cy="8686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38404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F2A47"/>
                </a:solidFill>
                <a:latin typeface="微软雅黑"/>
                <a:eastAsia typeface="微软雅黑"/>
              </a:rPr>
              <a:t>产业 / 投资路演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1148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项目方 × 投资人 × 大企业 CVC 三方撮合 ;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月度路演 + 季度专场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4709160"/>
            <a:ext cx="51206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4709160"/>
            <a:ext cx="54864" cy="8686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8006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F2A47"/>
                </a:solidFill>
                <a:latin typeface="微软雅黑"/>
                <a:eastAsia typeface="微软雅黑"/>
              </a:rPr>
              <a:t>国际创新对接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联合海外加速器 / 协会 ;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Landing Pad / 软着陆服务 / 跨境服务包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5669280"/>
            <a:ext cx="51206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5669280"/>
            <a:ext cx="54864" cy="8686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57607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F2A47"/>
                </a:solidFill>
                <a:latin typeface="微软雅黑"/>
                <a:eastAsia typeface="微软雅黑"/>
              </a:rPr>
              <a:t>企业家私享会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60350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Family Office × 上市公司创始人小范围闭门 ;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输出“被需要”的稀缺连接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60" y="2194560"/>
            <a:ext cx="5486400" cy="4572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80760" y="2258568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</a:rPr>
              <a:t>▎  从“内容”到“租金”的价值传导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788920"/>
            <a:ext cx="5486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80760" y="2788920"/>
            <a:ext cx="91440" cy="64008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295351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B3B6F"/>
                </a:solidFill>
                <a:latin typeface="微软雅黑"/>
                <a:eastAsia typeface="微软雅黑"/>
              </a:rPr>
              <a:t>高频内容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9900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一年 ≥ 50 场高质量活动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0760" y="3502152"/>
            <a:ext cx="5486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80760" y="3502152"/>
            <a:ext cx="9144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366674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A9D8F"/>
                </a:solidFill>
                <a:latin typeface="微软雅黑"/>
                <a:eastAsia typeface="微软雅黑"/>
              </a:rPr>
              <a:t>精准客流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7033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目标客户主动到访 / 复访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80760" y="4215384"/>
            <a:ext cx="5486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80760" y="4215384"/>
            <a:ext cx="91440" cy="640080"/>
          </a:xfrm>
          <a:prstGeom prst="rect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4379976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07A3C"/>
                </a:solidFill>
                <a:latin typeface="微软雅黑"/>
                <a:eastAsia typeface="微软雅黑"/>
              </a:rPr>
              <a:t>品牌势能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4416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成为细分领域的“必到地标”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80760" y="4928616"/>
            <a:ext cx="5486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80760" y="4928616"/>
            <a:ext cx="9144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0" y="50932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溢价与黏性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512978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租金溢价 + 续约率 + 转介绍提升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0760" y="5641848"/>
            <a:ext cx="5486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80760" y="5641848"/>
            <a:ext cx="91440" cy="64008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5806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2A47"/>
                </a:solidFill>
                <a:latin typeface="微软雅黑"/>
                <a:eastAsia typeface="微软雅黑"/>
              </a:rPr>
              <a:t>资产估值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584301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74151"/>
                </a:solidFill>
                <a:latin typeface="微软雅黑"/>
                <a:eastAsia typeface="微软雅黑"/>
              </a:rPr>
              <a:t>NOI 提升 → Cap Rate 收敛 → 估值上行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03  ·  核心动能 · 科技驱动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13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精准服务两类新兴主体：「专精特新」与「一人公司 OPC」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供给侧匹配新主体——空间、服务、资本、合规一体化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194560"/>
            <a:ext cx="1076248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194560"/>
            <a:ext cx="164592" cy="1828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331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2A47"/>
                </a:solidFill>
                <a:latin typeface="微软雅黑"/>
                <a:eastAsia typeface="微软雅黑"/>
              </a:rPr>
              <a:t>对象 ① ：「专精特新」中小企业  ·  Specialized · Sophisticated · Featured · Novel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2834640"/>
            <a:ext cx="260604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90779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A9D8F"/>
                </a:solidFill>
                <a:latin typeface="微软雅黑"/>
                <a:eastAsia typeface="微软雅黑"/>
              </a:rPr>
              <a:t>空间需求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218688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中小型独立单元 + 共享中试 / 实验空间 + 弹性扩容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2834640"/>
            <a:ext cx="260604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40" y="290779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A9D8F"/>
                </a:solidFill>
                <a:latin typeface="微软雅黑"/>
                <a:eastAsia typeface="微软雅黑"/>
              </a:rPr>
              <a:t>服务需求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40" y="3218688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知识产权、检验检测、人才公寓、子女教育、专项补贴申报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834640"/>
            <a:ext cx="260604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A9D8F"/>
                </a:solidFill>
                <a:latin typeface="微软雅黑"/>
                <a:eastAsia typeface="微软雅黑"/>
              </a:rPr>
              <a:t>资本需求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218688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种子 / 天使 / Pre-A 衔接 ; 与本地引导基金 / CVC 撮合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15400" y="2834640"/>
            <a:ext cx="260604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0" y="290779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A9D8F"/>
                </a:solidFill>
                <a:latin typeface="微软雅黑"/>
                <a:eastAsia typeface="微软雅黑"/>
              </a:rPr>
              <a:t>数据需求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218688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行业景气、政策变动、招投标信息的定向推送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" y="4160520"/>
            <a:ext cx="10762488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60520"/>
            <a:ext cx="164592" cy="2240280"/>
          </a:xfrm>
          <a:prstGeom prst="rect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2976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2A47"/>
                </a:solidFill>
                <a:latin typeface="微软雅黑"/>
                <a:eastAsia typeface="微软雅黑"/>
              </a:rPr>
              <a:t>对象 ② ：「一人公司 / OPC · One Person Company」与超级个体户  ·  AI 时代的新经济细胞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663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微软雅黑"/>
                <a:eastAsia typeface="微软雅黑"/>
              </a:rPr>
              <a:t>代表：独立顾问、AI 工程师、内容创作者、自由律师、跨境电商主理人、独立基金 GP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5074920"/>
            <a:ext cx="2606040" cy="123444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14807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07A3C"/>
                </a:solidFill>
                <a:latin typeface="微软雅黑"/>
                <a:eastAsia typeface="微软雅黑"/>
              </a:rPr>
              <a:t>产品形态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4589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工位 + 私密会议 + 直播间 + 内容工坊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按月 / 按日 / 按小时灵活计费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11880" y="5074920"/>
            <a:ext cx="2606040" cy="123444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49040" y="514807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07A3C"/>
                </a:solidFill>
                <a:latin typeface="微软雅黑"/>
                <a:eastAsia typeface="微软雅黑"/>
              </a:rPr>
              <a:t>配套服务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40" y="54589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工商代办 / 财税 / 法律 / 出海 / 支付通道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“开公司像开会员”一样轻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5074920"/>
            <a:ext cx="2606040" cy="123444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514807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07A3C"/>
                </a:solidFill>
                <a:latin typeface="微软雅黑"/>
                <a:eastAsia typeface="微软雅黑"/>
              </a:rPr>
              <a:t>社群运营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4589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小型 Mastermind 圈层 / 行业小组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让独行者也有“组织”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15400" y="5074920"/>
            <a:ext cx="2606040" cy="123444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52560" y="514807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07A3C"/>
                </a:solidFill>
                <a:latin typeface="微软雅黑"/>
                <a:eastAsia typeface="微软雅黑"/>
              </a:rPr>
              <a:t>空间美学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60" y="54589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可拍可发可分享的“内容友好型”空间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品牌即流量入口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03  ·  核心动能 · 科技驱动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14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跨界协同：打通「学术圈 ⇄ 产业圈 ⇄ 投资圈」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三圈打通，不动产从“租赁中介”升维为“产业服务平台”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57600" y="2834640"/>
            <a:ext cx="2377440" cy="23774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37947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</a:rPr>
              <a:t>学术圈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1879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stAsia typeface="微软雅黑"/>
              </a:rPr>
              <a:t>高校 · 院所 · 智库</a:t>
            </a:r>
          </a:p>
        </p:txBody>
      </p:sp>
      <p:sp>
        <p:nvSpPr>
          <p:cNvPr id="15" name="Oval 14"/>
          <p:cNvSpPr/>
          <p:nvPr/>
        </p:nvSpPr>
        <p:spPr>
          <a:xfrm>
            <a:off x="7680960" y="2834640"/>
            <a:ext cx="2377440" cy="2377440"/>
          </a:xfrm>
          <a:prstGeom prst="ellipse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37947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</a:rPr>
              <a:t>产业圈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1879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stAsia typeface="微软雅黑"/>
              </a:rPr>
              <a:t>企业 · 链主 · 链群</a:t>
            </a:r>
          </a:p>
        </p:txBody>
      </p:sp>
      <p:sp>
        <p:nvSpPr>
          <p:cNvPr id="18" name="Oval 17"/>
          <p:cNvSpPr/>
          <p:nvPr/>
        </p:nvSpPr>
        <p:spPr>
          <a:xfrm>
            <a:off x="5669280" y="4023360"/>
            <a:ext cx="2377440" cy="237744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49834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</a:rPr>
              <a:t>投资圈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537667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stAsia typeface="微软雅黑"/>
              </a:rPr>
              <a:t>VC / PE · CVC · 引导基金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251960"/>
            <a:ext cx="1280160" cy="64008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43891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C9A961"/>
                </a:solidFill>
                <a:latin typeface="微软雅黑"/>
                <a:eastAsia typeface="微软雅黑"/>
              </a:rPr>
              <a:t>不动产平台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194560"/>
            <a:ext cx="3474720" cy="429768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2377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2A47"/>
                </a:solidFill>
                <a:latin typeface="微软雅黑"/>
                <a:eastAsia typeface="微软雅黑"/>
              </a:rPr>
              <a:t>▎ 协同机制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0392" y="2834640"/>
            <a:ext cx="54864" cy="8686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" y="28346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0F2A47"/>
                </a:solidFill>
                <a:latin typeface="微软雅黑"/>
                <a:eastAsia typeface="微软雅黑"/>
              </a:rPr>
              <a:t>成果转化通道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312724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高校实验室 → 概念验证中心 → 中试基地 → 产线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" y="3749040"/>
            <a:ext cx="54864" cy="8686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" y="37490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0F2A47"/>
                </a:solidFill>
                <a:latin typeface="微软雅黑"/>
                <a:eastAsia typeface="微软雅黑"/>
              </a:rPr>
              <a:t>产学研联合体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404164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企业出题、高校解题、平台搭台、基金接力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0392" y="4663440"/>
            <a:ext cx="54864" cy="8686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6634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0F2A47"/>
                </a:solidFill>
                <a:latin typeface="微软雅黑"/>
                <a:eastAsia typeface="微软雅黑"/>
              </a:rPr>
              <a:t>人才环流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" y="495604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教授驻企 / 工程师入校 / 学生入企实习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" y="5577840"/>
            <a:ext cx="54864" cy="8686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" y="5577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0F2A47"/>
                </a:solidFill>
                <a:latin typeface="微软雅黑"/>
                <a:eastAsia typeface="微软雅黑"/>
              </a:rPr>
              <a:t>数据 &amp; 案例库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587044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把“链接”沉淀成可复用的资产 (而非个人人脉)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" y="6080760"/>
            <a:ext cx="10762488" cy="36576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6135624"/>
            <a:ext cx="107624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▎ 不动产价值的“二次跃升” = 物理空间的租金价值 + 链接资源的服务价值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03  ·  核心动能 · 科技驱动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15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实战案例矩阵：科技 × 不动产的六种可复制范式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每个范式都对应“问题—工具—成效”三段式落地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194560"/>
            <a:ext cx="352044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194560"/>
            <a:ext cx="3520440" cy="41148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267712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</a:rPr>
              <a:t>范式 01  ·  AI 投决助手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27432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B7280"/>
                </a:solidFill>
                <a:latin typeface="微软雅黑"/>
                <a:eastAsia typeface="微软雅黑"/>
              </a:rPr>
              <a:t>应用场景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303580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2A47"/>
                </a:solidFill>
                <a:latin typeface="微软雅黑"/>
                <a:eastAsia typeface="微软雅黑"/>
              </a:rPr>
              <a:t>投资测算 / 板块研判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3401568"/>
            <a:ext cx="306324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47472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B7280"/>
                </a:solidFill>
                <a:latin typeface="微软雅黑"/>
                <a:eastAsia typeface="微软雅黑"/>
              </a:rPr>
              <a:t>可量化成效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67588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70% 案头时间释放，3 天 → 3 小时出备忘录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5112" y="2194560"/>
            <a:ext cx="352044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25112" y="2194560"/>
            <a:ext cx="3520440" cy="4114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7992" y="2267712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</a:rPr>
              <a:t>范式 02  ·  智能资管中台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7432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B7280"/>
                </a:solidFill>
                <a:latin typeface="微软雅黑"/>
                <a:eastAsia typeface="微软雅黑"/>
              </a:rPr>
              <a:t>应用场景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03580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2A47"/>
                </a:solidFill>
                <a:latin typeface="微软雅黑"/>
                <a:eastAsia typeface="微软雅黑"/>
              </a:rPr>
              <a:t>持有型物业经营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53712" y="3401568"/>
            <a:ext cx="306324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53712" y="347472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B7280"/>
                </a:solidFill>
                <a:latin typeface="微软雅黑"/>
                <a:eastAsia typeface="微软雅黑"/>
              </a:rPr>
              <a:t>可量化成效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367588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能耗 ↓10%，空置月数 ↓30%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36992" y="2194560"/>
            <a:ext cx="352044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36992" y="2194560"/>
            <a:ext cx="3520440" cy="411480"/>
          </a:xfrm>
          <a:prstGeom prst="rect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9872" y="2267712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</a:rPr>
              <a:t>范式 03  ·  AI 招商雷达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27432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B7280"/>
                </a:solidFill>
                <a:latin typeface="微软雅黑"/>
                <a:eastAsia typeface="微软雅黑"/>
              </a:rPr>
              <a:t>应用场景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303580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2A47"/>
                </a:solidFill>
                <a:latin typeface="微软雅黑"/>
                <a:eastAsia typeface="微软雅黑"/>
              </a:rPr>
              <a:t>园区 / 写字楼招商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65592" y="3401568"/>
            <a:ext cx="306324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65592" y="347472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B7280"/>
                </a:solidFill>
                <a:latin typeface="微软雅黑"/>
                <a:eastAsia typeface="微软雅黑"/>
              </a:rPr>
              <a:t>可量化成效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65592" y="367588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线索成本 ↓40%，转化率 2-3×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" y="4206239"/>
            <a:ext cx="352044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206239"/>
            <a:ext cx="3520440" cy="4114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" y="4279391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</a:rPr>
              <a:t>范式 04  ·  科创内容工厂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" y="4754879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B7280"/>
                </a:solidFill>
                <a:latin typeface="微软雅黑"/>
                <a:eastAsia typeface="微软雅黑"/>
              </a:rPr>
              <a:t>应用场景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" y="5047487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2A47"/>
                </a:solidFill>
                <a:latin typeface="微软雅黑"/>
                <a:eastAsia typeface="微软雅黑"/>
              </a:rPr>
              <a:t>园区生态运营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41832" y="5413247"/>
            <a:ext cx="306324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1832" y="5486399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B7280"/>
                </a:solidFill>
                <a:latin typeface="微软雅黑"/>
                <a:eastAsia typeface="微软雅黑"/>
              </a:rPr>
              <a:t>可量化成效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" y="5687567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年 ≥50 场，租金溢价 5-8%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5112" y="4206239"/>
            <a:ext cx="352044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325112" y="4206239"/>
            <a:ext cx="3520440" cy="41148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07992" y="4279391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</a:rPr>
              <a:t>范式 05  ·  OPC 服务包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53712" y="4754879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B7280"/>
                </a:solidFill>
                <a:latin typeface="微软雅黑"/>
                <a:eastAsia typeface="微软雅黑"/>
              </a:rPr>
              <a:t>应用场景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53712" y="5047487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2A47"/>
                </a:solidFill>
                <a:latin typeface="微软雅黑"/>
                <a:eastAsia typeface="微软雅黑"/>
              </a:rPr>
              <a:t>灵活办公 + 一人公司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53712" y="5413247"/>
            <a:ext cx="306324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53712" y="5486399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B7280"/>
                </a:solidFill>
                <a:latin typeface="微软雅黑"/>
                <a:eastAsia typeface="微软雅黑"/>
              </a:rPr>
              <a:t>可量化成效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53712" y="5687567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客户结构多元、续费率显著提升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36992" y="4206239"/>
            <a:ext cx="352044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36992" y="4206239"/>
            <a:ext cx="3520440" cy="41148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19872" y="4279391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</a:rPr>
              <a:t>范式 06  ·  REITs 资管闭环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5592" y="4754879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B7280"/>
                </a:solidFill>
                <a:latin typeface="微软雅黑"/>
                <a:eastAsia typeface="微软雅黑"/>
              </a:rPr>
              <a:t>应用场景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65592" y="5047487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2A47"/>
                </a:solidFill>
                <a:latin typeface="微软雅黑"/>
                <a:eastAsia typeface="微软雅黑"/>
              </a:rPr>
              <a:t>持有型资产证券化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65592" y="5413247"/>
            <a:ext cx="306324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65592" y="5486399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B7280"/>
                </a:solidFill>
                <a:latin typeface="微软雅黑"/>
                <a:eastAsia typeface="微软雅黑"/>
              </a:rPr>
              <a:t>可量化成效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65592" y="5687567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微软雅黑"/>
                <a:eastAsia typeface="微软雅黑"/>
              </a:rPr>
              <a:t>估值锚点切换为 NOI / DPU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0" y="36576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24000" b="1">
                <a:solidFill>
                  <a:srgbClr val="1B3B6F"/>
                </a:solidFill>
                <a:latin typeface="微软雅黑"/>
                <a:eastAsia typeface="微软雅黑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PART  · 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C9A961"/>
                </a:solidFill>
                <a:latin typeface="微软雅黑"/>
                <a:eastAsia typeface="微软雅黑"/>
              </a:rPr>
              <a:t>PART 04  ·  Outlook  &amp; 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stAsia typeface="微软雅黑"/>
              </a:rPr>
              <a:t>总结展望：「十五五」时期从业者的知与行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931920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  <a:eastAsia typeface="微软雅黑"/>
              </a:rPr>
              <a:t>学术与实业的共识  ·  行动清单  ·  和光同尘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846320"/>
            <a:ext cx="3474720" cy="128016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484632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0109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34924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理论与实践共识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学指方向 实蹚新路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4846320"/>
            <a:ext cx="3474720" cy="128016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6280" y="484632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50109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534924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六条行动清单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今晚就能开始的事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4846320"/>
            <a:ext cx="3474720" cy="128016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484632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50109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5349240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结语：阵痛中的土壤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stAsia typeface="微软雅黑"/>
              </a:rPr>
              <a:t>孕育新质生产力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04  ·  总结展望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16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发展共识：理论与实践，缺一不可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学术界提供“为什么”，实业界回答“怎么做”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194560"/>
            <a:ext cx="544068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194560"/>
            <a:ext cx="5440680" cy="640080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30428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</a:rPr>
              <a:t>学 · 学术界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578608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C9A961"/>
                </a:solidFill>
                <a:latin typeface="微软雅黑"/>
                <a:eastAsia typeface="微软雅黑"/>
              </a:rPr>
              <a:t>ACADEMIA  ·  Why &amp; What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552" y="3154680"/>
            <a:ext cx="73152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3063240"/>
            <a:ext cx="4800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宏观研判 ：经济周期、人口结构、产业升级方向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7552" y="3931920"/>
            <a:ext cx="73152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3840480"/>
            <a:ext cx="4800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理论框架 ：新模式 / 新质生产力 / 新城市化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" y="4709160"/>
            <a:ext cx="73152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617720"/>
            <a:ext cx="4800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数据洞察 ：长周期数据、跨国比较、政策评估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7552" y="5486400"/>
            <a:ext cx="73152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5394960"/>
            <a:ext cx="4800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人才培养 ：财务 + 产业 + 数字复合人才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91072" y="2194560"/>
            <a:ext cx="544068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91072" y="2194560"/>
            <a:ext cx="544068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65392" y="230428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</a:rPr>
              <a:t>产 · 实业界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5392" y="2578608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C9A961"/>
                </a:solidFill>
                <a:latin typeface="微软雅黑"/>
                <a:eastAsia typeface="微软雅黑"/>
              </a:rPr>
              <a:t>INDUSTRY  ·  How &amp; Now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5392" y="3154680"/>
            <a:ext cx="73152" cy="640080"/>
          </a:xfrm>
          <a:prstGeom prst="rect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3063240"/>
            <a:ext cx="4800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蹚路探索 ：在真实项目里验证模型与产品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65392" y="3931920"/>
            <a:ext cx="73152" cy="640080"/>
          </a:xfrm>
          <a:prstGeom prst="rect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48272" y="3840480"/>
            <a:ext cx="4800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工具落地 ：用 AI / 数字化把方法变成生产力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65392" y="4709160"/>
            <a:ext cx="73152" cy="640080"/>
          </a:xfrm>
          <a:prstGeom prst="rect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48272" y="4617720"/>
            <a:ext cx="4800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客户回馈 ：以一线痛点反向定义研究议题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65392" y="5486400"/>
            <a:ext cx="73152" cy="640080"/>
          </a:xfrm>
          <a:prstGeom prst="rect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48272" y="5394960"/>
            <a:ext cx="4800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74151"/>
                </a:solidFill>
                <a:latin typeface="微软雅黑"/>
                <a:eastAsia typeface="微软雅黑"/>
              </a:rPr>
              <a:t>生态搭建 ：以平台撬动学术与资本资源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" y="6199632"/>
            <a:ext cx="10762488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6245352"/>
            <a:ext cx="10762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F2A47"/>
                </a:solidFill>
                <a:latin typeface="微软雅黑"/>
                <a:eastAsia typeface="微软雅黑"/>
              </a:rPr>
              <a:t>学术指引方向，实业蹚出新路 —— 这正是本次跨界汇报的意义所在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微软雅黑"/>
                <a:eastAsia typeface="微软雅黑"/>
              </a:rPr>
              <a:t>PART 04  ·  总结展望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38404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280"/>
                </a:solidFill>
                <a:latin typeface="微软雅黑"/>
                <a:eastAsia typeface="微软雅黑"/>
              </a:rPr>
              <a:t>面向“十五五”的不动产转型与高质量发展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微软雅黑"/>
                <a:eastAsia typeface="微软雅黑"/>
              </a:rPr>
              <a:t>从空间开发  ·  迈向科技赋能平台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465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0F2A47"/>
                </a:solidFill>
                <a:latin typeface="微软雅黑"/>
                <a:eastAsia typeface="微软雅黑"/>
              </a:rPr>
              <a:t>17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F2A47"/>
                </a:solidFill>
                <a:latin typeface="微软雅黑"/>
                <a:eastAsia typeface="微软雅黑"/>
              </a:rPr>
              <a:t>“十五五”从业者行动清单：知 与 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微软雅黑"/>
                <a:eastAsia typeface="微软雅黑"/>
              </a:rPr>
              <a:t>对从业者的 6 条建议 —— “今晚就能开始做的事”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956815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148840"/>
            <a:ext cx="10762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148840"/>
            <a:ext cx="109728" cy="566928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2A47"/>
                </a:solidFill>
                <a:latin typeface="微软雅黑"/>
                <a:eastAsia typeface="微软雅黑"/>
              </a:rPr>
              <a:t>【知】重读规划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54680" y="2267712"/>
            <a:ext cx="9525" cy="32918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228600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“十五五”规划纲要 + 行业专项规划 + 城市层面“四个一”文件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0" y="2267712"/>
            <a:ext cx="1097280" cy="329184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23042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</a:rPr>
              <a:t>认知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" y="2807208"/>
            <a:ext cx="10762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2807208"/>
            <a:ext cx="109728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94436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2A47"/>
                </a:solidFill>
                <a:latin typeface="微软雅黑"/>
                <a:eastAsia typeface="微软雅黑"/>
              </a:rPr>
              <a:t>【知】重学财务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54680" y="2926080"/>
            <a:ext cx="9525" cy="32918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2944368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把 NOI / Cap Rate / IRR / DPU 变成日常通用语言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41280" y="2926080"/>
            <a:ext cx="1097280" cy="32918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96265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</a:rPr>
              <a:t>认知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65576"/>
            <a:ext cx="10762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3465576"/>
            <a:ext cx="109728" cy="566928"/>
          </a:xfrm>
          <a:prstGeom prst="rect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2A47"/>
                </a:solidFill>
                <a:latin typeface="微软雅黑"/>
                <a:eastAsia typeface="微软雅黑"/>
              </a:rPr>
              <a:t>【知】重看产业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3584448"/>
            <a:ext cx="9525" cy="32918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360273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选定 1-2 个产业 (如 AI / 半导体 / 创新药) 持续跟踪，建立深度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241280" y="3584448"/>
            <a:ext cx="1097280" cy="329184"/>
          </a:xfrm>
          <a:prstGeom prst="rect">
            <a:avLst/>
          </a:prstGeom>
          <a:solidFill>
            <a:srgbClr val="E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0" y="3621024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</a:rPr>
              <a:t>认知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4123944"/>
            <a:ext cx="10762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3232" y="4123944"/>
            <a:ext cx="109728" cy="56692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26110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2A47"/>
                </a:solidFill>
                <a:latin typeface="微软雅黑"/>
                <a:eastAsia typeface="微软雅黑"/>
              </a:rPr>
              <a:t>【行】用一次大模型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54680" y="4242816"/>
            <a:ext cx="9525" cy="32918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0" y="4261104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本周用 LLM 做一份“项目一页纸”或“客户画像”，亲身体感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241280" y="4242816"/>
            <a:ext cx="1097280" cy="32918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0" y="427939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</a:rPr>
              <a:t>行动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4782312"/>
            <a:ext cx="10762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13232" y="4782312"/>
            <a:ext cx="109728" cy="566928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" y="49194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2A47"/>
                </a:solidFill>
                <a:latin typeface="微软雅黑"/>
                <a:eastAsia typeface="微软雅黑"/>
              </a:rPr>
              <a:t>【行】跑一次活动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54680" y="4901184"/>
            <a:ext cx="9525" cy="32918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91840" y="4919472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组织一场“小而精”的科创沙龙 / 路演，验证生态运营能力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41280" y="4901184"/>
            <a:ext cx="1097280" cy="329184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41280" y="493776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</a:rPr>
              <a:t>行动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" y="5440680"/>
            <a:ext cx="10762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3232" y="5440680"/>
            <a:ext cx="109728" cy="566928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" y="55778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2A47"/>
                </a:solidFill>
                <a:latin typeface="微软雅黑"/>
                <a:eastAsia typeface="微软雅黑"/>
              </a:rPr>
              <a:t>【行】算一次资产账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54680" y="5559552"/>
            <a:ext cx="9525" cy="329184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91840" y="557784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74151"/>
                </a:solidFill>
                <a:latin typeface="微软雅黑"/>
                <a:eastAsia typeface="微软雅黑"/>
              </a:rPr>
              <a:t>选一栋楼，按“NOI 经营”重新算一遍 5 年现金流，跳出销售思维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241280" y="5559552"/>
            <a:ext cx="1097280" cy="329184"/>
          </a:xfrm>
          <a:prstGeom prst="rect">
            <a:avLst/>
          </a:prstGeom>
          <a:solidFill>
            <a:srgbClr val="1B3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41280" y="559612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</a:rPr>
              <a:t>行动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961"/>
                </a:solidFill>
                <a:latin typeface="微软雅黑"/>
                <a:eastAsia typeface="微软雅黑"/>
              </a:rPr>
              <a:t>CLOSING  ·  和 光 同 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微软雅黑"/>
                <a:eastAsia typeface="微软雅黑"/>
              </a:rPr>
              <a:t>结语：行业在阵痛，但土壤在生长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423160"/>
            <a:ext cx="548640" cy="28575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C9A961"/>
                </a:solidFill>
                <a:latin typeface="微软雅黑"/>
                <a:eastAsia typeface="微软雅黑"/>
              </a:rPr>
              <a:t>和光同尘  ·  顺应科技大势与国家宏观规划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stAsia typeface="微软雅黑"/>
              </a:rPr>
              <a:t>▍ 房地产正在告别“高歌猛进”，但并未告别“价值创造”。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stAsia typeface="微软雅黑"/>
              </a:rPr>
              <a:t>▍ “十五五”开启的，是从“开发驱动”到“运营驱动”、从“空间红利”到“科技红利”的换挡。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720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stAsia typeface="微软雅黑"/>
              </a:rPr>
              <a:t>▍ 当不动产真正成为科技、产业、资本、人才的“高频聚合点”，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stAsia typeface="微软雅黑"/>
              </a:rPr>
              <a:t>    它就是孕育「新质生产力」最肥沃的土壤之一。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5852160"/>
            <a:ext cx="2743200" cy="6400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0F2A47"/>
                </a:solidFill>
                <a:latin typeface="微软雅黑"/>
                <a:eastAsia typeface="微软雅黑"/>
              </a:rPr>
              <a:t>Q  &amp;  A   敬请指正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60350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stAsia typeface="微软雅黑"/>
              </a:rPr>
              <a:t>—  汇报完毕，感谢聆听  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