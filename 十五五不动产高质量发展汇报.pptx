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71455" y="6291072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66928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9A961"/>
                </a:solidFill>
                <a:latin typeface="微软雅黑"/>
                <a:eastAsia typeface="微软雅黑"/>
              </a:rPr>
              <a:t>REAL  ESTATE  ·  HIGH-QUALITY  DEVELOPMENT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41732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FFFFFF"/>
                </a:solidFill>
                <a:latin typeface="微软雅黑"/>
                <a:eastAsia typeface="微软雅黑"/>
              </a:rPr>
              <a:t>面 向 “十五五” 的 不 动 产 转 型 与 高 质 量 发 展</a:t>
            </a:r>
          </a:p>
        </p:txBody>
      </p:sp>
      <p:sp>
        <p:nvSpPr>
          <p:cNvPr id="8" name="Rectangle 7"/>
          <p:cNvSpPr/>
          <p:nvPr/>
        </p:nvSpPr>
        <p:spPr>
          <a:xfrm>
            <a:off x="5730087" y="2057400"/>
            <a:ext cx="73152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2331720"/>
            <a:ext cx="1219169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stAsia typeface="微软雅黑"/>
              </a:rPr>
              <a:t>从  空 间 开 发</a:t>
            </a:r>
          </a:p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stAsia typeface="微软雅黑"/>
              </a:rPr>
              <a:t>迈 向  科 技 赋 能 平 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C9A961"/>
                </a:solidFill>
                <a:latin typeface="微软雅黑"/>
                <a:eastAsia typeface="微软雅黑"/>
              </a:rPr>
              <a:t>存量时代的精细化运营  ×  大模型驱动的管理革命  ×  科创生态的产城融合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6727" y="5074920"/>
            <a:ext cx="8778240" cy="114300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06727" y="5074920"/>
            <a:ext cx="109728" cy="1143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89607" y="52120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9A961"/>
                </a:solidFill>
                <a:latin typeface="微软雅黑"/>
                <a:eastAsia typeface="微软雅黑"/>
              </a:rPr>
              <a:t>汇 报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9607" y="5532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stAsia typeface="微软雅黑"/>
              </a:rPr>
              <a:t>胡 继 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047" y="5349240"/>
            <a:ext cx="9525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9927" y="521208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</a:rPr>
              <a:t>复旦大学住房政策研究中心 · 秘书长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9927" y="55321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9A961"/>
                </a:solidFill>
                <a:latin typeface="微软雅黑"/>
                <a:eastAsia typeface="微软雅黑"/>
              </a:rPr>
              <a:t>副教授级高级工程师  ·  上海杨浦区科技企业联合会 · 执行会长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9927" y="58521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stAsia typeface="微软雅黑"/>
              </a:rPr>
              <a:t>住房政策  ·  城市更新  ·  产城融合  ·  不动产轻资产运营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40080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C9A961"/>
                </a:solidFill>
                <a:latin typeface="微软雅黑"/>
                <a:eastAsia typeface="微软雅黑"/>
              </a:rPr>
              <a:t>2026  ·  “十五五”开局之年  ·  汇报材料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28575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9A961"/>
                </a:solidFill>
                <a:latin typeface="微软雅黑"/>
                <a:eastAsia typeface="微软雅黑"/>
              </a:rPr>
              <a:t>SPEAKER  ·  汇 报 人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280160"/>
            <a:ext cx="2651760" cy="2651760"/>
          </a:xfrm>
          <a:prstGeom prst="ellipse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C9A961"/>
                </a:solidFill>
                <a:latin typeface="微软雅黑"/>
                <a:eastAsia typeface="微软雅黑"/>
              </a:rPr>
              <a:t>胡  继  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HU  JI-GANG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60520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9A961"/>
                </a:solidFill>
                <a:latin typeface="微软雅黑"/>
                <a:eastAsia typeface="微软雅黑"/>
              </a:rPr>
              <a:t>现  任  职  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stAsia typeface="微软雅黑"/>
              </a:rPr>
              <a:t>·  复旦大学住房政策研究中心  秘书长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stAsia typeface="微软雅黑"/>
              </a:rPr>
              <a:t>·  上海市杨浦区科技企业联合会  执行会长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stAsia typeface="微软雅黑"/>
              </a:rPr>
              <a:t>·  九三学社上海市委经贸委员会  委员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6072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stAsia typeface="微软雅黑"/>
              </a:rPr>
              <a:t>·  副教授级 高级工程师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94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微软雅黑"/>
                <a:eastAsia typeface="微软雅黑"/>
              </a:rPr>
              <a:t>汇  报  人  简  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0515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2A47"/>
                </a:solidFill>
                <a:latin typeface="微软雅黑"/>
                <a:eastAsia typeface="微软雅黑"/>
              </a:rPr>
              <a:t>深耕不动产 15+ 年的复合型专家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828800"/>
            <a:ext cx="4572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011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住房政策研究  ·  城市更新  ·  产城融合  ·  不动产轻资产运营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0604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▎ 行业经历：拥有逾 15 年不动产投资及经营管理经验，先后任职于万科、新城等头部房企；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99008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       横跨投资、开发、资管与运营，熟悉住宅、商业、产业园等多业态全周期管理。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74136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▎ 学术与职称：复旦大学  管理学硕士；中国海洋大学  土木工程学士；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58184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       获评副教授级高级工程师职称（教授级研究方向）。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4223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▎ 社会职务：复旦大学住房政策研究中心秘书长、上海市杨浦区科技企业联合会执行会长、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       九三学社上海市委经贸委员会委员等。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103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▎ 研究与实践：聚焦住房政策研究、城市更新、产城融合及不动产轻资产运营；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294376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       长期致力于推动上海科技企业发展与城市空间布局的深度融合。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5852160"/>
            <a:ext cx="7315200" cy="6400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5852160"/>
            <a:ext cx="91440" cy="64008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5943600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2A47"/>
                </a:solidFill>
                <a:latin typeface="微软雅黑"/>
                <a:eastAsia typeface="微软雅黑"/>
              </a:rPr>
              <a:t>本次汇报视角：以学术 (复旦) × 实业 (头部房企) × 产业生态 (科技企业联合会) 三重身份观察“十五五”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C O N T E N T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stAsia typeface="微软雅黑"/>
              </a:rPr>
              <a:t>汇 报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stAsia typeface="微软雅黑"/>
              </a:rPr>
              <a:t>提 纲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657600"/>
            <a:ext cx="4572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stAsia typeface="微软雅黑"/>
              </a:rPr>
              <a:t>“十五五”开局之年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stAsia typeface="微软雅黑"/>
              </a:rPr>
              <a:t>房地产高质量发展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stAsia typeface="微软雅黑"/>
              </a:rPr>
              <a:t>核心议题汇报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777240"/>
            <a:ext cx="10972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94183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0F2A47"/>
                </a:solidFill>
                <a:latin typeface="微软雅黑"/>
                <a:eastAsia typeface="微软雅黑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554480"/>
            <a:ext cx="54864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886968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F2A47"/>
                </a:solidFill>
                <a:latin typeface="微软雅黑"/>
                <a:eastAsia typeface="微软雅黑"/>
              </a:rPr>
              <a:t>时代定调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2801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—— “十五五”开局与房地产周期的新旧转换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61848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C9A961"/>
                </a:solidFill>
                <a:latin typeface="微软雅黑"/>
                <a:eastAsia typeface="微软雅黑"/>
              </a:rPr>
              <a:t>▎ 宏观政策切入  ·  告别旧模式  ·  提出核心论点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103120"/>
            <a:ext cx="10972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26771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0F2A47"/>
                </a:solidFill>
                <a:latin typeface="微软雅黑"/>
                <a:eastAsia typeface="微软雅黑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880360"/>
            <a:ext cx="54864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212848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F2A47"/>
                </a:solidFill>
                <a:latin typeface="微软雅黑"/>
                <a:eastAsia typeface="微软雅黑"/>
              </a:rPr>
              <a:t>破局寻路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6060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—— 房地产“新模式”的核心内涵与高质量标准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94436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C9A961"/>
                </a:solidFill>
                <a:latin typeface="微软雅黑"/>
                <a:eastAsia typeface="微软雅黑"/>
              </a:rPr>
              <a:t>▎ 空间载体  ·  轻重分离  ·  产城融合  ·  日 / 新 / 美 国际经验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429000"/>
            <a:ext cx="10972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59359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0F2A47"/>
                </a:solidFill>
                <a:latin typeface="微软雅黑"/>
                <a:eastAsia typeface="微软雅黑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4206240"/>
            <a:ext cx="54864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538728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F2A47"/>
                </a:solidFill>
                <a:latin typeface="微软雅黑"/>
                <a:eastAsia typeface="微软雅黑"/>
              </a:rPr>
              <a:t>核心动能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9319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—— 科技创新如何驱动不动产高质量发展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27024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C9A961"/>
                </a:solidFill>
                <a:latin typeface="微软雅黑"/>
                <a:eastAsia typeface="微软雅黑"/>
              </a:rPr>
              <a:t>▎ AI 与大模型  ·  科创生态  ·  OPC 超级个体  ·  跨界协同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754880"/>
            <a:ext cx="10972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91947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0F2A47"/>
                </a:solidFill>
                <a:latin typeface="微软雅黑"/>
                <a:eastAsia typeface="微软雅黑"/>
              </a:rP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5532120"/>
            <a:ext cx="54864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4864608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F2A47"/>
                </a:solidFill>
                <a:latin typeface="微软雅黑"/>
                <a:eastAsia typeface="微软雅黑"/>
              </a:rPr>
              <a:t>总结展望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5257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—— “十五五”时期从业者的知与行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55961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C9A961"/>
                </a:solidFill>
                <a:latin typeface="微软雅黑"/>
                <a:eastAsia typeface="微软雅黑"/>
              </a:rPr>
              <a:t>▎ 发展共识  ·  行业阵痛  ·  新质生产力土壤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24000" b="1">
                <a:solidFill>
                  <a:srgbClr val="1B3B6F"/>
                </a:solidFill>
                <a:latin typeface="微软雅黑"/>
                <a:eastAsi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PART  ·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9A961"/>
                </a:solidFill>
                <a:latin typeface="微软雅黑"/>
                <a:eastAsia typeface="微软雅黑"/>
              </a:rPr>
              <a:t>PART 01  ·  Era 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stAsia typeface="微软雅黑"/>
              </a:rPr>
              <a:t>时代定调：「十五五」开局与房地产周期的新旧转换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31920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stAsia typeface="微软雅黑"/>
              </a:rPr>
              <a:t>宏观政策切入  ·  告别旧模式  ·  提出核心论点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846320"/>
            <a:ext cx="3474720" cy="128016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84632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010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34924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“十五五”战略定位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经济结构转型坐标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4846320"/>
            <a:ext cx="3474720" cy="128016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484632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010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34924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告别“三高”旧模式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稳健经营 提质增效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846320"/>
            <a:ext cx="3474720" cy="128016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484632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5010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534924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高质量发展核心论点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精细化运营 × 科技融合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01  ·  时代定调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01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宏观背景解读：「十五五」的战略坐标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经济结构转型的“承上启下”窗口期 — 规划逻辑与对房地产的传导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240280"/>
            <a:ext cx="164592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25856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2A47"/>
                </a:solidFill>
                <a:latin typeface="微软雅黑"/>
                <a:eastAsia typeface="微软雅黑"/>
              </a:rPr>
              <a:t>高质量发展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060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从规模速度型 → 质量效益型；GDP 增速服从于全要素生产率提升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017520"/>
            <a:ext cx="164592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3580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2A47"/>
                </a:solidFill>
                <a:latin typeface="微软雅黑"/>
                <a:eastAsia typeface="微软雅黑"/>
              </a:rPr>
              <a:t>新质生产力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以科技创新为内核；战略性新兴产业 + 未来产业 双轮驱动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794760"/>
            <a:ext cx="164592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1304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2A47"/>
                </a:solidFill>
                <a:latin typeface="微软雅黑"/>
                <a:eastAsia typeface="微软雅黑"/>
              </a:rPr>
              <a:t>现代化产业体系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1605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实体经济 + 数字经济深度融合；安全可控的产业链供应链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572000"/>
            <a:ext cx="164592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9028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2A47"/>
                </a:solidFill>
                <a:latin typeface="微软雅黑"/>
                <a:eastAsia typeface="微软雅黑"/>
              </a:rPr>
              <a:t>城乡统筹与“人口-产业-空间”再匹配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377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都市圈 / 城市群 / 县域经济协同重构空间需求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103120"/>
            <a:ext cx="4297680" cy="41148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21945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2A47"/>
                </a:solidFill>
                <a:latin typeface="微软雅黑"/>
                <a:eastAsia typeface="微软雅黑"/>
              </a:rPr>
              <a:t>▎ 政策 → 行业的传导链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2697480"/>
            <a:ext cx="3840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43800" y="2697480"/>
            <a:ext cx="109728" cy="64008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27523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B3B6F"/>
                </a:solidFill>
                <a:latin typeface="微软雅黑"/>
                <a:eastAsia typeface="微软雅黑"/>
              </a:rPr>
              <a:t>国家战略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0266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新质生产力 / 实体经济 / 安全发展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2918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3410712"/>
            <a:ext cx="3840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43800" y="3410712"/>
            <a:ext cx="109728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4655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A9D8F"/>
                </a:solidFill>
                <a:latin typeface="微软雅黑"/>
                <a:eastAsia typeface="微软雅黑"/>
              </a:rPr>
              <a:t>城市发展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739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都市圈协同 / 中心城市能级提升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0050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4123944"/>
            <a:ext cx="3840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43800" y="4123944"/>
            <a:ext cx="109728" cy="64008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41788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07A3C"/>
                </a:solidFill>
                <a:latin typeface="微软雅黑"/>
                <a:eastAsia typeface="微软雅黑"/>
              </a:rPr>
              <a:t>产业空间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4531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科创园区 / 总部 / 产业社区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7183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4837176"/>
            <a:ext cx="3840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43800" y="4837176"/>
            <a:ext cx="109728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4892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9A961"/>
                </a:solidFill>
                <a:latin typeface="微软雅黑"/>
                <a:eastAsia typeface="微软雅黑"/>
              </a:rPr>
              <a:t>不动产新模式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166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存量运营 + 科技服务 + 资产管理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01  ·  时代定调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02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告别旧模式：从“三高”驱动到“稳健提质”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高杠杆 · 高周转 · 高负债 → 稳健经营 · 提质增效 · 长期主义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194560"/>
            <a:ext cx="5212080" cy="5029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86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</a:rPr>
              <a:t>旧模式  ·  规模驱动 (2003-2021)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94560"/>
            <a:ext cx="5212080" cy="5029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</a:rPr>
              <a:t>新模式  ·  质量驱动 (十四五末 — 十五五)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697480"/>
            <a:ext cx="5212080" cy="50292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697480"/>
            <a:ext cx="5212080" cy="50292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2697480"/>
            <a:ext cx="1280160" cy="5029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8163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</a:rPr>
              <a:t>商业逻辑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0552" y="2816352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土地金融 + 预售制资金循环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163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2A47"/>
                </a:solidFill>
                <a:latin typeface="微软雅黑"/>
                <a:eastAsia typeface="微软雅黑"/>
              </a:rPr>
              <a:t>经营性现金流 + 不动产服务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200400"/>
            <a:ext cx="5212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200400"/>
            <a:ext cx="5212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200400"/>
            <a:ext cx="1280160" cy="5029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3192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</a:rPr>
              <a:t>增长方式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0552" y="3319272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扩张土储 / 高周转去化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3192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2A47"/>
                </a:solidFill>
                <a:latin typeface="微软雅黑"/>
                <a:eastAsia typeface="微软雅黑"/>
              </a:rPr>
              <a:t>存量盘活 / 资产管理 / REITs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703320"/>
            <a:ext cx="5212080" cy="50292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703320"/>
            <a:ext cx="5212080" cy="50292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3703320"/>
            <a:ext cx="1280160" cy="5029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8221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</a:rPr>
              <a:t>产品形态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0552" y="3822192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标准化住宅大宗交付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8221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2A47"/>
                </a:solidFill>
                <a:latin typeface="微软雅黑"/>
                <a:eastAsia typeface="微软雅黑"/>
              </a:rPr>
              <a:t>好房子 / 好社区 / 好服务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4206240"/>
            <a:ext cx="5212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206240"/>
            <a:ext cx="5212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4206240"/>
            <a:ext cx="1280160" cy="5029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3251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</a:rPr>
              <a:t>收入结构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30552" y="4325112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开发销售为主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3251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2A47"/>
                </a:solidFill>
                <a:latin typeface="微软雅黑"/>
                <a:eastAsia typeface="微软雅黑"/>
              </a:rPr>
              <a:t>开发 + 持有 + 运营 + 科技服务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4709160"/>
            <a:ext cx="5212080" cy="50292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4709160"/>
            <a:ext cx="5212080" cy="50292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3232" y="4709160"/>
            <a:ext cx="1280160" cy="5029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8280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</a:rPr>
              <a:t>风险特征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30552" y="4828032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高杠杆 · 高负债 · 期限错配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82803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2A47"/>
                </a:solidFill>
                <a:latin typeface="微软雅黑"/>
                <a:eastAsia typeface="微软雅黑"/>
              </a:rPr>
              <a:t>稳健杠杆 · 长期资金 · 净资产经营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" y="5212080"/>
            <a:ext cx="5212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5212080"/>
            <a:ext cx="5212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3232" y="5212080"/>
            <a:ext cx="1280160" cy="5029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53309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</a:rPr>
              <a:t>竞争核心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0552" y="5330952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拿地能力 / 融资能力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3309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2A47"/>
                </a:solidFill>
                <a:latin typeface="微软雅黑"/>
                <a:eastAsia typeface="微软雅黑"/>
              </a:rPr>
              <a:t>运营能力 / 科技能力 / 生态整合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" y="5852160"/>
            <a:ext cx="10762488" cy="41148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" y="5907024"/>
            <a:ext cx="10762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▎  本质转换：从“卖房子”到“经营空间、运营人、服务产业”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01  ·  时代定调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03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核心论点：“十五五”竞争维度的根本切换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不再比“谁拿地多、卖得快”，而是比“谁运营得精、谁链接得深”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2103120"/>
            <a:ext cx="7589520" cy="11887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2103120"/>
            <a:ext cx="137160" cy="1188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2402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9A961"/>
                </a:solidFill>
                <a:latin typeface="微软雅黑"/>
                <a:eastAsia typeface="微软雅黑"/>
              </a:rPr>
              <a:t>核心论点 · CORE  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56032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stAsia typeface="微软雅黑"/>
              </a:rPr>
              <a:t>“十五五”期间的房地产高质量发展 ——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880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9A961"/>
                </a:solidFill>
                <a:latin typeface="微软雅黑"/>
                <a:eastAsia typeface="微软雅黑"/>
              </a:rPr>
              <a:t>= 存量资产的精细化运营  ×  科技产业化的深度融合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703320"/>
            <a:ext cx="33832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703320"/>
            <a:ext cx="3383280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9776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A9D8F"/>
                </a:solidFill>
                <a:latin typeface="微软雅黑"/>
                <a:eastAsia typeface="微软雅黑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480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2A47"/>
                </a:solidFill>
                <a:latin typeface="微软雅黑"/>
                <a:eastAsia typeface="微软雅黑"/>
              </a:rPr>
              <a:t>从「土储」到「资产组合」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" y="4937760"/>
            <a:ext cx="36576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07492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GFA 不再为王；NOI、IRR、Cap Rate 成为通用语言；REITs 打通投融管退闭环。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3703320"/>
            <a:ext cx="33832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1104" y="3703320"/>
            <a:ext cx="3383280" cy="73152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424" y="39776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07A3C"/>
                </a:solidFill>
                <a:latin typeface="微软雅黑"/>
                <a:eastAsia typeface="微软雅黑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4480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2A47"/>
                </a:solidFill>
                <a:latin typeface="微软雅黑"/>
                <a:eastAsia typeface="微软雅黑"/>
              </a:rPr>
              <a:t>从「卖空间」到「卖服务」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4937760"/>
            <a:ext cx="36576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507492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招商 / 产业 / 数字 / 金融 服务收入占比上升；空间作为“流量入口”。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08976" y="3703320"/>
            <a:ext cx="33832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08976" y="3703320"/>
            <a:ext cx="3383280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39776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9A961"/>
                </a:solidFill>
                <a:latin typeface="微软雅黑"/>
                <a:eastAsia typeface="微软雅黑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480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2A47"/>
                </a:solidFill>
                <a:latin typeface="微软雅黑"/>
                <a:eastAsia typeface="微软雅黑"/>
              </a:rPr>
              <a:t>从「重资产」到「重平台」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83296" y="4937760"/>
            <a:ext cx="36576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83296" y="507492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管理输出 + 科技输出 + 生态输出，平台化能力定义新的护城河。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24000" b="1">
                <a:solidFill>
                  <a:srgbClr val="1B3B6F"/>
                </a:solidFill>
                <a:latin typeface="微软雅黑"/>
                <a:eastAsi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PART  ·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9A961"/>
                </a:solidFill>
                <a:latin typeface="微软雅黑"/>
                <a:eastAsia typeface="微软雅黑"/>
              </a:rPr>
              <a:t>PART 02  ·  Break  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stAsia typeface="微软雅黑"/>
              </a:rPr>
              <a:t>破局寻路：房地产「新模式」的核心内涵与高质量标准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31920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stAsia typeface="微软雅黑"/>
              </a:rPr>
              <a:t>空间载体  ·  轻重分离  ·  产城融合  ·  四把尺子  ·  日 / 新 / 美 经验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846320"/>
            <a:ext cx="3474720" cy="128016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84632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010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34924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新模式特征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轻重分离 + 产城融合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4846320"/>
            <a:ext cx="3474720" cy="128016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484632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010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34924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高质量评价四维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财务 / 客户 / 产业 / 生态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846320"/>
            <a:ext cx="3474720" cy="128016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484632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5010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534924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国际经验镜鉴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日本 · 新加坡 · 美国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02  ·  破局寻路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04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高质量发展的空间载体演变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从“居住与办公空间”  →  “科创生态与产业聚集地”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10515600" cy="28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27682" y="2999232"/>
            <a:ext cx="219456" cy="219456"/>
          </a:xfrm>
          <a:prstGeom prst="ellipse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1570" y="22402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B3B6F"/>
                </a:solidFill>
                <a:latin typeface="微软雅黑"/>
                <a:eastAsia typeface="微软雅黑"/>
              </a:rPr>
              <a:t>1.0 居住时代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1570" y="2606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1998–2010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690" y="33832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解决“有没有”</a:t>
            </a:r>
          </a:p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商品住宅大规模供给</a:t>
            </a:r>
          </a:p>
        </p:txBody>
      </p:sp>
      <p:sp>
        <p:nvSpPr>
          <p:cNvPr id="17" name="Oval 16"/>
          <p:cNvSpPr/>
          <p:nvPr/>
        </p:nvSpPr>
        <p:spPr>
          <a:xfrm>
            <a:off x="4656582" y="2999232"/>
            <a:ext cx="219456" cy="21945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0470" y="22402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2A9D8F"/>
                </a:solidFill>
                <a:latin typeface="微软雅黑"/>
                <a:eastAsia typeface="微软雅黑"/>
              </a:rPr>
              <a:t>2.0 商办时代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0470" y="2606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2010–2020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7590" y="33832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解决“够不够”</a:t>
            </a:r>
          </a:p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写字楼 / 商业综合体爆发</a:t>
            </a:r>
          </a:p>
        </p:txBody>
      </p:sp>
      <p:sp>
        <p:nvSpPr>
          <p:cNvPr id="21" name="Oval 20"/>
          <p:cNvSpPr/>
          <p:nvPr/>
        </p:nvSpPr>
        <p:spPr>
          <a:xfrm>
            <a:off x="7285482" y="2999232"/>
            <a:ext cx="219456" cy="219456"/>
          </a:xfrm>
          <a:prstGeom prst="ellipse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9370" y="22402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07A3C"/>
                </a:solidFill>
                <a:latin typeface="微软雅黑"/>
                <a:eastAsia typeface="微软雅黑"/>
              </a:rPr>
              <a:t>3.0 产业时代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9370" y="2606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2020–2025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6490" y="33832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解决“专不专”</a:t>
            </a:r>
          </a:p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产业园 / 总部 / 产城融合</a:t>
            </a:r>
          </a:p>
        </p:txBody>
      </p:sp>
      <p:sp>
        <p:nvSpPr>
          <p:cNvPr id="25" name="Oval 24"/>
          <p:cNvSpPr/>
          <p:nvPr/>
        </p:nvSpPr>
        <p:spPr>
          <a:xfrm>
            <a:off x="9914382" y="2999232"/>
            <a:ext cx="219456" cy="219456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18270" y="22402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C9A961"/>
                </a:solidFill>
                <a:latin typeface="微软雅黑"/>
                <a:eastAsia typeface="微软雅黑"/>
              </a:rPr>
              <a:t>4.0 生态时代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8270" y="2606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2025+ “十五五”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5390" y="33832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解决“活不活”</a:t>
            </a:r>
          </a:p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科创生态 / 平台型不动产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434840"/>
            <a:ext cx="10762488" cy="41148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489704"/>
            <a:ext cx="10762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▎ “十五五”时期的不动产载体形态：四种正在崛起的“高质量空间”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937760"/>
            <a:ext cx="260604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493776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0749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2A47"/>
                </a:solidFill>
                <a:latin typeface="微软雅黑"/>
                <a:eastAsia typeface="微软雅黑"/>
              </a:rPr>
              <a:t>科创园区 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44068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硬科技产线 +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概念验证中心 + 中试平台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4937760"/>
            <a:ext cx="260604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3280" y="493776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50749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2A47"/>
                </a:solidFill>
                <a:latin typeface="微软雅黑"/>
                <a:eastAsia typeface="微软雅黑"/>
              </a:rPr>
              <a:t>产业总部社区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44068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总部办公 +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人才公寓 + 配套服务一体化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53328" y="4937760"/>
            <a:ext cx="260604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3328" y="493776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6208" y="50749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2A47"/>
                </a:solidFill>
                <a:latin typeface="微软雅黑"/>
                <a:eastAsia typeface="微软雅黑"/>
              </a:rPr>
              <a:t>城市更新单元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544068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老厂房 / 老商业焕新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承载新消费、新文化、新办公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23376" y="4937760"/>
            <a:ext cx="260604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23376" y="493776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06256" y="50749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2A47"/>
                </a:solidFill>
                <a:latin typeface="微软雅黑"/>
                <a:eastAsia typeface="微软雅黑"/>
              </a:rPr>
              <a:t>REITs 化资产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06256" y="544068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底层资产标准化 +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公募 REITs 持有运营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02  ·  破局寻路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05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新模式特征 ① 轻重分离：从“持有规模”到“管理半径”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重资产持有  →  轻资产管理输出 / 品牌输出 / 运营输出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194560"/>
            <a:ext cx="5212080" cy="402336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194560"/>
            <a:ext cx="5212080" cy="5029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86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</a:rPr>
              <a:t>重 · 资本平台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29718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●  底层逻辑：资金 + 资产 + 风控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47472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●  关键能力：长期资金获取、资产配置、组合管理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397764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●  代表产品：基础设施 REITs / 持有型物业基金 / 保租房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44805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●  估值锚点：NOI · Cap Rate · DPU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49834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●  组织形态：投资委员会 + 资管中后台 + 风控合规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54864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●  对从业者要求：财务建模、估值、法务结构、跨境资本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194560"/>
            <a:ext cx="5212080" cy="402336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194560"/>
            <a:ext cx="5212080" cy="5029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</a:rPr>
              <a:t>轻 · 服务平台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9718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0F2A47"/>
                </a:solidFill>
                <a:latin typeface="微软雅黑"/>
                <a:eastAsia typeface="微软雅黑"/>
              </a:rPr>
              <a:t>●  底层逻辑：品牌 + 标准 + 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47472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0F2A47"/>
                </a:solidFill>
                <a:latin typeface="微软雅黑"/>
                <a:eastAsia typeface="微软雅黑"/>
              </a:rPr>
              <a:t>●  关键能力：运营 SOP、数字化中台、生态整合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97764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0F2A47"/>
                </a:solidFill>
                <a:latin typeface="微软雅黑"/>
                <a:eastAsia typeface="微软雅黑"/>
              </a:rPr>
              <a:t>●  代表产品：商管 / 物管 / 园区运营 / 长租公寓品牌输出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805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0F2A47"/>
                </a:solidFill>
                <a:latin typeface="微软雅黑"/>
                <a:eastAsia typeface="微软雅黑"/>
              </a:rPr>
              <a:t>●  估值锚点：在管面积 · ARPU · 续约率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9834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0F2A47"/>
                </a:solidFill>
                <a:latin typeface="微软雅黑"/>
                <a:eastAsia typeface="微软雅黑"/>
              </a:rPr>
              <a:t>●  组织形态：产品中心 + 运营中台 + 客户成功团队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4864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0F2A47"/>
                </a:solidFill>
                <a:latin typeface="微软雅黑"/>
                <a:eastAsia typeface="微软雅黑"/>
              </a:rPr>
              <a:t>●  对从业者要求：用户洞察、运营算账、AI 工具、产业资源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5669280"/>
            <a:ext cx="1783080" cy="4114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57150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</a:rPr>
              <a:t>「资本 ⇄ 服务」双轮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02  ·  破局寻路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06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新模式特征 ② 产城融合：不动产作为“超级会客厅”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聚焦实体经济，链接高校智库 × 科技企业 × 国际创新资源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66360" y="3246120"/>
            <a:ext cx="1828800" cy="1828800"/>
          </a:xfrm>
          <a:prstGeom prst="ellipse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749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C9A961"/>
                </a:solidFill>
                <a:latin typeface="微软雅黑"/>
                <a:eastAsia typeface="微软雅黑"/>
              </a:rPr>
              <a:t>不动产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stAsia typeface="微软雅黑"/>
              </a:rPr>
              <a:t>超级会客厅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4480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C9A961"/>
                </a:solidFill>
                <a:latin typeface="微软雅黑"/>
                <a:eastAsia typeface="微软雅黑"/>
              </a:rPr>
              <a:t>Super  Hub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697480"/>
            <a:ext cx="29260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2697480"/>
            <a:ext cx="73152" cy="12801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8346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A9D8F"/>
                </a:solidFill>
                <a:latin typeface="微软雅黑"/>
                <a:eastAsia typeface="微软雅黑"/>
              </a:rPr>
              <a:t>高校 / 智库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0040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中科院系所、双一流高校实验室、产业研究院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697480"/>
            <a:ext cx="29260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697480"/>
            <a:ext cx="73152" cy="128016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8346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7A3C"/>
                </a:solidFill>
                <a:latin typeface="微软雅黑"/>
                <a:eastAsia typeface="微软雅黑"/>
              </a:rPr>
              <a:t>科技企业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0040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专精特新、独角兽、上市科技公司、央国企科创平台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074920"/>
            <a:ext cx="29260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5074920"/>
            <a:ext cx="73152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5212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9A961"/>
                </a:solidFill>
                <a:latin typeface="微软雅黑"/>
                <a:eastAsia typeface="微软雅黑"/>
              </a:rPr>
              <a:t>国际创新资源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57784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海外加速器、跨境基金、国际行业协会、海归创业团队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5074920"/>
            <a:ext cx="29260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5074920"/>
            <a:ext cx="73152" cy="128016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5212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3B6F"/>
                </a:solidFill>
                <a:latin typeface="微软雅黑"/>
                <a:eastAsia typeface="微软雅黑"/>
              </a:rPr>
              <a:t>政府 / 园区平台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57784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区科委、产业引导基金、海关、税务、监管沙盒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2103120"/>
            <a:ext cx="10762488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2167128"/>
            <a:ext cx="10762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2A47"/>
                </a:solidFill>
                <a:latin typeface="微软雅黑"/>
                <a:eastAsia typeface="微软雅黑"/>
              </a:rPr>
              <a:t>▎  空间不再是“出租物业”，而是“价值连接器” —— 把人、产业、资本、政策汇聚在同一物理场域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02  ·  破局寻路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07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高质量的“四把尺子”：可量化的新模式评价标准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用财务、客户、产业、生态四维度，替代过往单一的销售排名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240280"/>
            <a:ext cx="260604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240280"/>
            <a:ext cx="2606040" cy="64008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4048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stAsia typeface="微软雅黑"/>
              </a:rPr>
              <a:t>F · 财务质量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" y="3108960"/>
            <a:ext cx="36576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291840"/>
            <a:ext cx="2057400" cy="2651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经营性现金流 / NOI 增长率</a:t>
            </a:r>
          </a:p>
          <a:p>
            <a:pPr algn="l">
              <a:lnSpc>
                <a:spcPct val="17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资产负债率 / 利息保障倍数</a:t>
            </a:r>
          </a:p>
          <a:p>
            <a:pPr algn="l">
              <a:lnSpc>
                <a:spcPct val="17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ROIC、IRR、Cap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240280"/>
            <a:ext cx="260604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2240280"/>
            <a:ext cx="260604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4048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stAsia typeface="微软雅黑"/>
              </a:rPr>
              <a:t>C · 客户质量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3108960"/>
            <a:ext cx="36576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3291840"/>
            <a:ext cx="2057400" cy="2651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续约率 / NPS / 入驻满意度</a:t>
            </a:r>
          </a:p>
          <a:p>
            <a:pPr algn="l">
              <a:lnSpc>
                <a:spcPct val="17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客户结构 (头部 / 腰部 / 长尾)</a:t>
            </a:r>
          </a:p>
          <a:p>
            <a:pPr algn="l">
              <a:lnSpc>
                <a:spcPct val="17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生命周期价值 LTV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8" y="2240280"/>
            <a:ext cx="260604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53328" y="2240280"/>
            <a:ext cx="2606040" cy="64008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24048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stAsia typeface="微软雅黑"/>
              </a:rPr>
              <a:t>I · 产业质量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3108960"/>
            <a:ext cx="36576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3291840"/>
            <a:ext cx="2057400" cy="2651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入驻企业研发强度</a:t>
            </a:r>
          </a:p>
          <a:p>
            <a:pPr algn="l">
              <a:lnSpc>
                <a:spcPct val="17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专精特新 / 高新技术企业占比</a:t>
            </a:r>
          </a:p>
          <a:p>
            <a:pPr algn="l">
              <a:lnSpc>
                <a:spcPct val="17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产值密度 / 税收密度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23376" y="2240280"/>
            <a:ext cx="260604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23376" y="2240280"/>
            <a:ext cx="2606040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23376" y="24048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stAsia typeface="微软雅黑"/>
              </a:rPr>
              <a:t>E · 生态质量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97696" y="3108960"/>
            <a:ext cx="36576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97696" y="3291840"/>
            <a:ext cx="2057400" cy="2651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活动 / 路演 / 沙龙频次</a:t>
            </a:r>
          </a:p>
          <a:p>
            <a:pPr algn="l">
              <a:lnSpc>
                <a:spcPct val="17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跨界合作机构数量</a:t>
            </a:r>
          </a:p>
          <a:p>
            <a:pPr algn="l">
              <a:lnSpc>
                <a:spcPct val="17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投融资促成金额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6199632"/>
            <a:ext cx="10762488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624535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F2A47"/>
                </a:solidFill>
                <a:latin typeface="微软雅黑"/>
                <a:eastAsia typeface="微软雅黑"/>
              </a:rPr>
              <a:t>从“销售冠军”到“运营冠军”—— “十五五”行业排名的底层逻辑正在重写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02  ·  破局寻路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08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国际经验借鉴：日本 / 新加坡 / 美国的“新模式”答卷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三种成熟市场已经走过的路 —— 给“十五五”高质量发展的镜鉴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194560"/>
            <a:ext cx="358444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194560"/>
            <a:ext cx="3584448" cy="64008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304288"/>
            <a:ext cx="32186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stAsia typeface="微软雅黑"/>
              </a:rPr>
              <a:t>日 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606040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C9A961"/>
                </a:solidFill>
                <a:latin typeface="微软雅黑"/>
                <a:eastAsia typeface="微软雅黑"/>
              </a:rPr>
              <a:t>JAPAN  ·  长期持有 + 城市运营商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971800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stAsia typeface="微软雅黑"/>
              </a:rPr>
              <a:t>代  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200400"/>
            <a:ext cx="3218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0F2A47"/>
                </a:solidFill>
                <a:latin typeface="微软雅黑"/>
                <a:eastAsia typeface="微软雅黑"/>
              </a:rPr>
              <a:t>三菱地所 (大丸有) · 森 Hills (六本木 / 虎之门)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" y="3822192"/>
            <a:ext cx="36576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950208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stAsia typeface="微软雅黑"/>
              </a:rPr>
              <a:t>模  式  特  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187952"/>
            <a:ext cx="321868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超长期持有 + 资产代代相承；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"街区运营 (Town Management)"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硬件 + 软件 + 内容三位一体；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泡沫破灭后转向 "Quality Real Estate"；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" y="5303520"/>
            <a:ext cx="312724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394960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C9A961"/>
                </a:solidFill>
                <a:latin typeface="微软雅黑"/>
                <a:eastAsia typeface="微软雅黑"/>
              </a:rPr>
              <a:t>对“十五五”的镜鉴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650992"/>
            <a:ext cx="321868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▸  从开发商 → 城市运营商；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▸  强调街区品牌 / 文化 / 在地内容；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▸  低利率长资金匹配重资产；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61688" y="2194560"/>
            <a:ext cx="358444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2194560"/>
            <a:ext cx="3584448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2304288"/>
            <a:ext cx="32186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stAsia typeface="微软雅黑"/>
              </a:rPr>
              <a:t>新 加 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2606040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C9A961"/>
                </a:solidFill>
                <a:latin typeface="微软雅黑"/>
                <a:eastAsia typeface="微软雅黑"/>
              </a:rPr>
              <a:t>SINGAPORE  ·  轻重分离 + REITs 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2971800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stAsia typeface="微软雅黑"/>
              </a:rPr>
              <a:t>代  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3200400"/>
            <a:ext cx="3218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0F2A47"/>
                </a:solidFill>
                <a:latin typeface="微软雅黑"/>
                <a:eastAsia typeface="微软雅黑"/>
              </a:rPr>
              <a:t>凯德 (CapitaLand) · 裕廊集团 JTC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90288" y="3822192"/>
            <a:ext cx="36576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0288" y="3950208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stAsia typeface="微软雅黑"/>
              </a:rPr>
              <a:t>模  式  特  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4187952"/>
            <a:ext cx="321868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"开发 → 运营 → REITs / 私募基金" 闭环；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资管规模驱动估值，重资产逐步出表；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JTC 国家级产业地产平台 + 主题园区；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组屋 (HDB) 制度长期稳定供给；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0288" y="5303520"/>
            <a:ext cx="312724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0288" y="5394960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C9A961"/>
                </a:solidFill>
                <a:latin typeface="微软雅黑"/>
                <a:eastAsia typeface="微软雅黑"/>
              </a:rPr>
              <a:t>对“十五五”的镜鉴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5650992"/>
            <a:ext cx="321868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▸  公募 REITs 是新模式的“结算货币”；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▸  产业地产可以国家平台化；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▸  住房保障与商品房双轨制启示；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0144" y="2194560"/>
            <a:ext cx="358444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0144" y="2194560"/>
            <a:ext cx="3584448" cy="64008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8744" y="2304288"/>
            <a:ext cx="32186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stAsia typeface="微软雅黑"/>
              </a:rPr>
              <a:t>美 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2606040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C9A961"/>
                </a:solidFill>
                <a:latin typeface="微软雅黑"/>
                <a:eastAsia typeface="微软雅黑"/>
              </a:rPr>
              <a:t>U S A  ·  资本市场化 + 灵活办公 + 超级综合体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8744" y="2971800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stAsia typeface="微软雅黑"/>
              </a:rPr>
              <a:t>代  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8744" y="3200400"/>
            <a:ext cx="3218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0F2A47"/>
                </a:solidFill>
                <a:latin typeface="微软雅黑"/>
                <a:eastAsia typeface="微软雅黑"/>
              </a:rPr>
              <a:t>Boston Properties / Brookfield / Tishman Speyer / Related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8744" y="3822192"/>
            <a:ext cx="36576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8744" y="3950208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stAsia typeface="微软雅黑"/>
              </a:rPr>
              <a:t>模  式  特  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8744" y="4187952"/>
            <a:ext cx="321868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REITs 高度成熟 (办公 / 物流 / 数据中心)；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WeWork / Industrious 灵活办公为入口；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Hudson Yards · Mission Rock 等科创综合体；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机构资本 (养老金 / 主权基金) 主导持有；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38744" y="5303520"/>
            <a:ext cx="312724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38744" y="5394960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C9A961"/>
                </a:solidFill>
                <a:latin typeface="微软雅黑"/>
                <a:eastAsia typeface="微软雅黑"/>
              </a:rPr>
              <a:t>对“十五五”的镜鉴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38744" y="5650992"/>
            <a:ext cx="321868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▸  细分赛道 REITs 全覆盖 (含数据中心)；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▸  灵活办公作为客户入口与流量池；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▸  "科创 + 体育 + 文化" 综合体范式；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" y="6327648"/>
            <a:ext cx="10762488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6373368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F2A47"/>
                </a:solidFill>
                <a:latin typeface="微软雅黑"/>
                <a:eastAsia typeface="微软雅黑"/>
              </a:rPr>
              <a:t>共同结论：当行业告别土地红利，“长期资本 + 资管能力 + 内容运营”构成新护城河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24000" b="1">
                <a:solidFill>
                  <a:srgbClr val="1B3B6F"/>
                </a:solidFill>
                <a:latin typeface="微软雅黑"/>
                <a:eastAsi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PART  ·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9A961"/>
                </a:solidFill>
                <a:latin typeface="微软雅黑"/>
                <a:eastAsia typeface="微软雅黑"/>
              </a:rPr>
              <a:t>PART 03  ·  Tech-Powered 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stAsia typeface="微软雅黑"/>
              </a:rPr>
              <a:t>核心动能：科技创新如何驱动不动产高质量发展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31920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stAsia typeface="微软雅黑"/>
              </a:rPr>
              <a:t>AI 与大模型  ·  科创生态  ·  OPC 超级个体  ·  跨界协同  ·  实战范式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846320"/>
            <a:ext cx="3474720" cy="128016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84632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010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34924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管理提效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AI × 投资 / 资管 / 招商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4846320"/>
            <a:ext cx="3474720" cy="128016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484632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010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34924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空间增值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科创生态  +  OPC 超级个体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846320"/>
            <a:ext cx="3474720" cy="128016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484632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5010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534924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跨界协同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学术 ⇄ 产业 ⇄ 投资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03  ·  核心动能 · 科技驱动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09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科技驱动的三层飞轮：管理 · 空间 · 生态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AI、大模型、数据中台与生态运营，正在重塑不动产价值链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240280"/>
            <a:ext cx="1076248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240280"/>
            <a:ext cx="164592" cy="132588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423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B3B6F"/>
                </a:solidFill>
                <a:latin typeface="微软雅黑"/>
                <a:eastAsia typeface="微软雅黑"/>
              </a:rPr>
              <a:t>L1  管理提效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175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—— 飞轮第 1 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404872"/>
            <a:ext cx="4114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AI 与数字化重塑</a:t>
            </a:r>
          </a:p>
          <a:p>
            <a:pPr algn="l">
              <a:lnSpc>
                <a:spcPct val="14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投资测算 · 资产管理 · 招商引资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423160"/>
            <a:ext cx="9525" cy="9601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2404872"/>
            <a:ext cx="33832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对内 ：让人更少、决策更快、错配更少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675888"/>
            <a:ext cx="1076248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675888"/>
            <a:ext cx="164592" cy="13258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587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A9D8F"/>
                </a:solidFill>
                <a:latin typeface="微软雅黑"/>
                <a:eastAsia typeface="微软雅黑"/>
              </a:rPr>
              <a:t>L2  空间增值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53128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—— 飞轮第 2 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40480"/>
            <a:ext cx="4114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科创生态赋能</a:t>
            </a:r>
          </a:p>
          <a:p>
            <a:pPr algn="l">
              <a:lnSpc>
                <a:spcPct val="14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沙龙 · 路演 · 加速 · 概念验证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858768"/>
            <a:ext cx="9525" cy="9601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3840480"/>
            <a:ext cx="33832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对外 ：让客户更精准、租金溢价、续约更稳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111496"/>
            <a:ext cx="1076248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5111496"/>
            <a:ext cx="164592" cy="13258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29437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C9A961"/>
                </a:solidFill>
                <a:latin typeface="微软雅黑"/>
                <a:eastAsia typeface="微软雅黑"/>
              </a:rPr>
              <a:t>L3  跨界协同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888736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—— 飞轮第 3 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5276088"/>
            <a:ext cx="4114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学术 ⇄ 产业 ⇄ 投资</a:t>
            </a:r>
          </a:p>
          <a:p>
            <a:pPr algn="l">
              <a:lnSpc>
                <a:spcPct val="14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超级会客厅 · 平台经济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5294376"/>
            <a:ext cx="9525" cy="9601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5276088"/>
            <a:ext cx="33832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对生态 ：让不动产成为“价值链接器”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6199632"/>
            <a:ext cx="10762488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624535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F2A47"/>
                </a:solidFill>
                <a:latin typeface="微软雅黑"/>
                <a:eastAsia typeface="微软雅黑"/>
              </a:rPr>
              <a:t>FLYWHEEL：管理提效  →  空间增值  →  跨界协同  →  反哺管理 (数据 + 案例 + 模型迭代)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03  ·  核心动能 · 科技驱动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10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管理提效 ① 大模型 × 投资测算：从“经验拍脑袋”到“模型推演”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把投决会前的 80% 体力活，交给 LLM + 量化模型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194560"/>
            <a:ext cx="5029200" cy="5029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86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</a:rPr>
              <a:t>应用场景  ·  Where to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834640"/>
            <a:ext cx="50292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834640"/>
            <a:ext cx="73152" cy="868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9260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城市与板块研判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2461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LLM 抓取规划、人口、产业、交通、消费数据 ;  自动生成板块画像与排序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794760"/>
            <a:ext cx="50292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794760"/>
            <a:ext cx="73152" cy="868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8862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地块 / 资产尽调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206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Agent 拉取规划条件 / 周边可比 / 限价信息，10 分钟出“一页纸”备忘录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754880"/>
            <a:ext cx="50292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754880"/>
            <a:ext cx="73152" cy="868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8463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现金流测算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1663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模型按情景 (中性 / 乐观 / 压力) 自动跑动态 IRR / NPV / 敏感性矩阵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715000"/>
            <a:ext cx="50292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5715000"/>
            <a:ext cx="73152" cy="868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58064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投决会问询应答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61264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RAG 检索历史项目 + 行业研报，模拟“老板会问的 30 个问题”自检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2194560"/>
            <a:ext cx="5486400" cy="5029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</a:rPr>
              <a:t>可量化的价值  ·  Why It Matters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2834640"/>
            <a:ext cx="26746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9320" y="2834640"/>
            <a:ext cx="73152" cy="132588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017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F2A47"/>
                </a:solidFill>
                <a:latin typeface="微软雅黑"/>
                <a:eastAsia typeface="微软雅黑"/>
              </a:rPr>
              <a:t>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611880"/>
            <a:ext cx="24003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尽调资料整理时间下降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01100" y="2834640"/>
            <a:ext cx="26746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01100" y="2834640"/>
            <a:ext cx="73152" cy="132588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83980" y="3017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F2A47"/>
                </a:solidFill>
                <a:latin typeface="微软雅黑"/>
                <a:eastAsia typeface="微软雅黑"/>
              </a:rPr>
              <a:t>10×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3980" y="3611880"/>
            <a:ext cx="24003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可比案例检索效率提升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4297680"/>
            <a:ext cx="26746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89320" y="4297680"/>
            <a:ext cx="73152" cy="132588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48056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F2A47"/>
                </a:solidFill>
                <a:latin typeface="微软雅黑"/>
                <a:eastAsia typeface="微软雅黑"/>
              </a:rPr>
              <a:t>3 天 → 3 小时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074920"/>
            <a:ext cx="24003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项目“一页纸”备忘录出稿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01100" y="4297680"/>
            <a:ext cx="26746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01100" y="4297680"/>
            <a:ext cx="73152" cy="132588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83980" y="448056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F2A47"/>
                </a:solidFill>
                <a:latin typeface="微软雅黑"/>
                <a:eastAsia typeface="微软雅黑"/>
              </a:rPr>
              <a:t>≥5 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83980" y="5074920"/>
            <a:ext cx="24003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情景测算并行可视化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5760720"/>
            <a:ext cx="5486400" cy="50292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583387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C9A961"/>
                </a:solidFill>
                <a:latin typeface="微软雅黑"/>
                <a:eastAsia typeface="微软雅黑"/>
              </a:rPr>
              <a:t>▎ 底线：模型只做“草稿”，决策仍由人 + 投委会负责；数据合规 / 隐私不可让位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03  ·  核心动能 · 科技驱动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11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管理提效 ② AI × 资产管理：让“楼”自己说话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数字化中台 + 大模型 Agent，把“资产管家”从被动维护推向主动经营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286000"/>
            <a:ext cx="2606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286000"/>
            <a:ext cx="2606040" cy="45720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7744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</a:rPr>
              <a:t>感知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9260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IoT + BIM</a:t>
            </a:r>
          </a:p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空调 / 电梯 / 能耗 / 客流 / 摄像头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30632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C9A961"/>
                </a:solidFill>
                <a:latin typeface="微软雅黑"/>
                <a:eastAsia typeface="微软雅黑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2286000"/>
            <a:ext cx="2606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6432" y="2286000"/>
            <a:ext cx="260604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237744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</a:rPr>
              <a:t>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9260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数据中台 + 大模型</a:t>
            </a:r>
          </a:p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异常识别 / 趋势预测 / 客户画像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30632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C9A961"/>
                </a:solidFill>
                <a:latin typeface="微软雅黑"/>
                <a:eastAsia typeface="微软雅黑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286000"/>
            <a:ext cx="2606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286000"/>
            <a:ext cx="2606040" cy="45720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237744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</a:rPr>
              <a:t>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9260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AI Copilot</a:t>
            </a:r>
          </a:p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租赁定价 / 招商优先级 / 维保排程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9952" y="30632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C9A961"/>
                </a:solidFill>
                <a:latin typeface="微软雅黑"/>
                <a:eastAsi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2832" y="2286000"/>
            <a:ext cx="2606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42832" y="2286000"/>
            <a:ext cx="260604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237744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</a:rPr>
              <a:t>行动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29260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自动化执行</a:t>
            </a:r>
          </a:p>
          <a:p>
            <a:pPr algn="ctr">
              <a:lnSpc>
                <a:spcPct val="150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工单派发 / 报表生成 / 客户触达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389120"/>
            <a:ext cx="10762488" cy="38404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434840"/>
            <a:ext cx="10762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▎  典型 KPI 改善  ·  从“管事”到“管效益”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4892040"/>
            <a:ext cx="2587752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001768"/>
            <a:ext cx="23134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2A47"/>
                </a:solidFill>
                <a:latin typeface="微软雅黑"/>
                <a:eastAsia typeface="微软雅黑"/>
              </a:rPr>
              <a:t>能耗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530352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07A3C"/>
                </a:solidFill>
                <a:latin typeface="微软雅黑"/>
                <a:eastAsia typeface="微软雅黑"/>
              </a:rPr>
              <a:t>↓ 8-15%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760720"/>
            <a:ext cx="2313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AI 调优 + 错峰策略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38144" y="4892040"/>
            <a:ext cx="2587752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21024" y="5001768"/>
            <a:ext cx="23134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2A47"/>
                </a:solidFill>
                <a:latin typeface="微软雅黑"/>
                <a:eastAsia typeface="微软雅黑"/>
              </a:rPr>
              <a:t>空置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21024" y="530352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07A3C"/>
                </a:solidFill>
                <a:latin typeface="微软雅黑"/>
                <a:eastAsia typeface="微软雅黑"/>
              </a:rPr>
              <a:t>↓ 1-3 个月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21024" y="5760720"/>
            <a:ext cx="2313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客户画像 + 主动招商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3056" y="4892040"/>
            <a:ext cx="2587752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5936" y="5001768"/>
            <a:ext cx="23134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2A47"/>
                </a:solidFill>
                <a:latin typeface="微软雅黑"/>
                <a:eastAsia typeface="微软雅黑"/>
              </a:rPr>
              <a:t>租金溢价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5936" y="530352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07A3C"/>
                </a:solidFill>
                <a:latin typeface="微软雅黑"/>
                <a:eastAsia typeface="微软雅黑"/>
              </a:rPr>
              <a:t>↑ 3-8%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5936" y="5760720"/>
            <a:ext cx="2313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定价模型 + 服务捆绑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87968" y="4892040"/>
            <a:ext cx="2587752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70848" y="5001768"/>
            <a:ext cx="23134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2A47"/>
                </a:solidFill>
                <a:latin typeface="微软雅黑"/>
                <a:eastAsia typeface="微软雅黑"/>
              </a:rPr>
              <a:t>客户满意度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70848" y="530352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07A3C"/>
                </a:solidFill>
                <a:latin typeface="微软雅黑"/>
                <a:eastAsia typeface="微软雅黑"/>
              </a:rPr>
              <a:t>↑ 10+ 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0848" y="5760720"/>
            <a:ext cx="2313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工单响应 + 服务可视化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03  ·  核心动能 · 科技驱动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12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管理提效 ③ 自动化招商引资：从“扫楼陌拜”到“AI 雷达”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把企业搜寻、画像、触达、跟进的全链路装进数字化中台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4410" y="2286000"/>
            <a:ext cx="6515100" cy="64008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410" y="2450592"/>
            <a:ext cx="65151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</a:rPr>
              <a:t>企业池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工商 / 税务 / 招标 / 招聘 / 专利 / 融资数据汇聚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77340" y="3017520"/>
            <a:ext cx="534924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7340" y="3182112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</a:rPr>
              <a:t>画像与匹配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18211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LLM 抽取行业、阶段、空间偏好 → 与园区画像匹配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25980" y="3749040"/>
            <a:ext cx="4251960" cy="64008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25980" y="3913632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</a:rPr>
              <a:t>线索分级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91363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AI 评分 (热 / 温 / 冷) + 接触建议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4620" y="4480560"/>
            <a:ext cx="3154680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4620" y="464515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</a:rPr>
              <a:t>自动化触达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64515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一键生成 BD 话术 / 邮件 / 提案 / 微信内容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5212080"/>
            <a:ext cx="2194560" cy="64008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5376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</a:rPr>
              <a:t>成交与履约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537667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电子签 / 入驻系统 / 服务工单 / 续约预测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852160"/>
            <a:ext cx="10762488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9436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F2A47"/>
                </a:solidFill>
                <a:latin typeface="微软雅黑"/>
                <a:eastAsia typeface="微软雅黑"/>
              </a:rPr>
              <a:t>▎ 招商成本/家  ↓ 30-50%   ·   线索→成交 转化  ↑ 2-3×   ·   “专精特新”目标客户命中率显著提升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03  ·  核心动能 · 科技驱动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13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空间增值 · 科创生态赋能：把“楼宇”运营成“创新场”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通过持续的内容运营，使物理空间成为产业要素的“高频聚合点”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194560"/>
            <a:ext cx="5120640" cy="4572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585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C9A961"/>
                </a:solidFill>
                <a:latin typeface="微软雅黑"/>
                <a:eastAsia typeface="微软雅黑"/>
              </a:rPr>
              <a:t>▎  科创生态运营 · “四件套”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788920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788920"/>
            <a:ext cx="54864" cy="868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880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前沿科技沙龙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1546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高校老师 + 一线工程师小范围深聊 ;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聚焦 AI / 生物医药 / 新能源 / 半导体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749040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749040"/>
            <a:ext cx="54864" cy="868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840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产业 / 投资路演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114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项目方 × 投资人 × 大企业 CVC 三方撮合 ;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月度路演 + 季度专场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709160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709160"/>
            <a:ext cx="54864" cy="868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800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国际创新对接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074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联合海外加速器 / 协会 ;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Landing Pad / 软着陆服务 / 跨境服务包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669280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5669280"/>
            <a:ext cx="54864" cy="868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7607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2A47"/>
                </a:solidFill>
                <a:latin typeface="微软雅黑"/>
                <a:eastAsia typeface="微软雅黑"/>
              </a:rPr>
              <a:t>企业家私享会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6035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Family Office × 上市公司创始人小范围闭门 ;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输出“被需要”的稀缺连接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194560"/>
            <a:ext cx="548640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225856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</a:rPr>
              <a:t>▎  从“内容”到“租金”的价值传导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788920"/>
            <a:ext cx="5486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2788920"/>
            <a:ext cx="91440" cy="64008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9535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B3B6F"/>
                </a:solidFill>
                <a:latin typeface="微软雅黑"/>
                <a:eastAsia typeface="微软雅黑"/>
              </a:rPr>
              <a:t>高频内容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9900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一年 ≥ 50 场高质量活动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3502152"/>
            <a:ext cx="5486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60" y="3502152"/>
            <a:ext cx="9144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66674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A9D8F"/>
                </a:solidFill>
                <a:latin typeface="微软雅黑"/>
                <a:eastAsia typeface="微软雅黑"/>
              </a:rPr>
              <a:t>精准客流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目标客户主动到访 / 复访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4215384"/>
            <a:ext cx="5486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80760" y="4215384"/>
            <a:ext cx="91440" cy="64008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437997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07A3C"/>
                </a:solidFill>
                <a:latin typeface="微软雅黑"/>
                <a:eastAsia typeface="微软雅黑"/>
              </a:rPr>
              <a:t>品牌势能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416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成为细分领域的“必到地标”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4928616"/>
            <a:ext cx="5486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80760" y="4928616"/>
            <a:ext cx="91440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50932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溢价与黏性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12978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租金溢价 + 续约率 + 转介绍提升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5641848"/>
            <a:ext cx="5486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80760" y="5641848"/>
            <a:ext cx="91440" cy="64008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5806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2A47"/>
                </a:solidFill>
                <a:latin typeface="微软雅黑"/>
                <a:eastAsia typeface="微软雅黑"/>
              </a:rPr>
              <a:t>资产估值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584301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微软雅黑"/>
                <a:eastAsia typeface="微软雅黑"/>
              </a:rPr>
              <a:t>NOI 提升 → Cap Rate 收敛 → 估值上行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03  ·  核心动能 · 科技驱动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14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精准服务两类新兴主体：「专精特新」与「一人公司 OPC」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供给侧匹配新主体——空间、服务、资本、合规一体化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194560"/>
            <a:ext cx="1076248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194560"/>
            <a:ext cx="164592" cy="1828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2A47"/>
                </a:solidFill>
                <a:latin typeface="微软雅黑"/>
                <a:eastAsia typeface="微软雅黑"/>
              </a:rPr>
              <a:t>对象 ① ：「专精特新」中小企业  ·  Specialized · Sophisticated · Featured · Novel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834640"/>
            <a:ext cx="260604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9077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A9D8F"/>
                </a:solidFill>
                <a:latin typeface="微软雅黑"/>
                <a:eastAsia typeface="微软雅黑"/>
              </a:rPr>
              <a:t>空间需求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18688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中小型独立单元 + 共享中试 / 实验空间 + 弹性扩容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2834640"/>
            <a:ext cx="260604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29077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A9D8F"/>
                </a:solidFill>
                <a:latin typeface="微软雅黑"/>
                <a:eastAsia typeface="微软雅黑"/>
              </a:rPr>
              <a:t>服务需求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3218688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知识产权、检验检测、人才公寓、子女教育、专项补贴申报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34640"/>
            <a:ext cx="260604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A9D8F"/>
                </a:solidFill>
                <a:latin typeface="微软雅黑"/>
                <a:eastAsia typeface="微软雅黑"/>
              </a:rPr>
              <a:t>资本需求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18688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种子 / 天使 / Pre-A 衔接 ; 与本地引导基金 / CVC 撮合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2834640"/>
            <a:ext cx="260604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29077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A9D8F"/>
                </a:solidFill>
                <a:latin typeface="微软雅黑"/>
                <a:eastAsia typeface="微软雅黑"/>
              </a:rPr>
              <a:t>数据需求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218688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行业景气、政策变动、招投标信息的定向推送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4160520"/>
            <a:ext cx="1076248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60520"/>
            <a:ext cx="164592" cy="224028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297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2A47"/>
                </a:solidFill>
                <a:latin typeface="微软雅黑"/>
                <a:eastAsia typeface="微软雅黑"/>
              </a:rPr>
              <a:t>对象 ② ：「一人公司 / OPC · One Person Company」与超级个体户  ·  AI 时代的新经济细胞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663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stAsia typeface="微软雅黑"/>
              </a:rPr>
              <a:t>代表：独立顾问、AI 工程师、内容创作者、自由律师、跨境电商主理人、独立基金 GP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5074920"/>
            <a:ext cx="2606040" cy="12344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1480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07A3C"/>
                </a:solidFill>
                <a:latin typeface="微软雅黑"/>
                <a:eastAsia typeface="微软雅黑"/>
              </a:rPr>
              <a:t>产品形态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4589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工位 + 私密会议 + 直播间 + 内容工坊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按月 / 按日 / 按小时灵活计费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11880" y="5074920"/>
            <a:ext cx="2606040" cy="12344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51480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07A3C"/>
                </a:solidFill>
                <a:latin typeface="微软雅黑"/>
                <a:eastAsia typeface="微软雅黑"/>
              </a:rPr>
              <a:t>配套服务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54589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工商代办 / 财税 / 法律 / 出海 / 支付通道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“开公司像开会员”一样轻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074920"/>
            <a:ext cx="2606040" cy="12344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1480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07A3C"/>
                </a:solidFill>
                <a:latin typeface="微软雅黑"/>
                <a:eastAsia typeface="微软雅黑"/>
              </a:rPr>
              <a:t>社群运营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4589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小型 Mastermind 圈层 / 行业小组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让独行者也有“组织”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5074920"/>
            <a:ext cx="2606040" cy="12344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51480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07A3C"/>
                </a:solidFill>
                <a:latin typeface="微软雅黑"/>
                <a:eastAsia typeface="微软雅黑"/>
              </a:rPr>
              <a:t>空间美学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4589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可拍可发可分享的“内容友好型”空间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品牌即流量入口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03  ·  核心动能 · 科技驱动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15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OPC 超级个体  ×  “十五五”  ×  不动产：被低估的增量市场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当 AI 把组织最小单元从“公司”降到“一个人”—— 不动产正面临一次客户结构重写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194560"/>
            <a:ext cx="10762488" cy="9601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194560"/>
            <a:ext cx="137160" cy="9601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2860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▎ “十五五”政策语境：四股力量正在做大 OPC 这个池子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43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</a:rPr>
              <a:t>✦  灵活就业  纳入社保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43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</a:rPr>
              <a:t>✦  个体经济登记 + 减税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743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</a:rPr>
              <a:t>✦  科研人员 / 工程师 创业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743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</a:rPr>
              <a:t>✦  AI 普及  1 人 = 原 5-10 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383280"/>
            <a:ext cx="35204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383280"/>
            <a:ext cx="3520440" cy="50292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4728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</a:rPr>
              <a:t>① 谁是 OPC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0332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C9A961"/>
                </a:solidFill>
                <a:latin typeface="微软雅黑"/>
                <a:eastAsia typeface="微软雅黑"/>
              </a:rPr>
              <a:t>WHO  ·  人群画像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0233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独立顾问 / 律师 / 会计 / 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33425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AI 工程师 / 独立开发者 / 数据科学家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6451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内容创作者 / 主播 / 短视频 MCN 主理人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95604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跨境电商主理人 / 出海 SaaS 创始人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526694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独立 GP / Solo VC / Family Office 顾问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623560"/>
            <a:ext cx="3118104" cy="36576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B3B6F"/>
                </a:solidFill>
                <a:latin typeface="微软雅黑"/>
                <a:eastAsia typeface="微软雅黑"/>
              </a:rPr>
              <a:t>一线城市规模  数百万 → 千万级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2544" y="3383280"/>
            <a:ext cx="35204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52544" y="3383280"/>
            <a:ext cx="3520440" cy="502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344728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</a:rPr>
              <a:t>② 不动产产品如何承接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70332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C9A961"/>
                </a:solidFill>
                <a:latin typeface="微软雅黑"/>
                <a:eastAsia typeface="微软雅黑"/>
              </a:rPr>
              <a:t>WHAT  ·  空间 + 服务 + 社群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0233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工位 + 私密会议 + 直播间 + 内容工坊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1144" y="433425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按月 / 按日 / 按小时 灵活计费 + 会员制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46451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工商代办 / 财税 / 法律 / 出海 / 支付 一键开通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81144" y="495604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行业 Mastermind 圈层与跨界沙龙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1144" y="526694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"可拍可发" 的内容友好型空间美学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53712" y="5623560"/>
            <a:ext cx="3118104" cy="36576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53712" y="5669280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2A9D8F"/>
                </a:solidFill>
                <a:latin typeface="微软雅黑"/>
                <a:eastAsia typeface="微软雅黑"/>
              </a:rPr>
              <a:t>楼宇即俱乐部  ARPU &gt; 传统联合办公 30-50%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91856" y="3383280"/>
            <a:ext cx="35204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91856" y="3383280"/>
            <a:ext cx="3520440" cy="50292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93024" y="344728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</a:rPr>
              <a:t>③ 与“十五五”的化学反应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370332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C9A961"/>
                </a:solidFill>
                <a:latin typeface="微软雅黑"/>
                <a:eastAsia typeface="微软雅黑"/>
              </a:rPr>
              <a:t>WHY  ·  战略契合度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0456" y="40233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激活闲置存量 (老商办 / 老厂房 / 街区)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0456" y="433425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承接灵活就业，地方政府就业 / 税源指标受益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0456" y="46451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降低创新创业门槛，服务"专精特新"前置阶段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0456" y="495604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匹配新质生产力的"个体科研 / 个体智造"形态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0456" y="526694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74151"/>
                </a:solidFill>
                <a:latin typeface="微软雅黑"/>
                <a:eastAsia typeface="微软雅黑"/>
              </a:rPr>
              <a:t>·  推动数字 / 绿色 / 普惠金融下沉到个体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93024" y="5623560"/>
            <a:ext cx="3118104" cy="36576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93024" y="5669280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E07A3C"/>
                </a:solidFill>
                <a:latin typeface="微软雅黑"/>
                <a:eastAsia typeface="微软雅黑"/>
              </a:rPr>
              <a:t>从“城市更新”到“城市运营”的关键载体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" y="6263640"/>
            <a:ext cx="10762488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" y="6309360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F2A47"/>
                </a:solidFill>
                <a:latin typeface="微软雅黑"/>
                <a:eastAsia typeface="微软雅黑"/>
              </a:rPr>
              <a:t>一句话：OPC 不是“更小的客户”，而是“更高频、更黏性、更愿意为内容付费”的新型租户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03  ·  核心动能 · 科技驱动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16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跨界协同：打通「学术圈 ⇄ 产业圈 ⇄ 投资圈」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三圈打通，不动产从“租赁中介”升维为“产业服务平台”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2834640"/>
            <a:ext cx="2377440" cy="23774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794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stAsia typeface="微软雅黑"/>
              </a:rPr>
              <a:t>学术圈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1879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stAsia typeface="微软雅黑"/>
              </a:rPr>
              <a:t>高校 · 院所 · 智库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0" y="2834640"/>
            <a:ext cx="2377440" cy="2377440"/>
          </a:xfrm>
          <a:prstGeom prst="ellipse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3794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stAsia typeface="微软雅黑"/>
              </a:rPr>
              <a:t>产业圈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1879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stAsia typeface="微软雅黑"/>
              </a:rPr>
              <a:t>企业 · 链主 · 链群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0" y="4023360"/>
            <a:ext cx="2377440" cy="237744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4983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stAsia typeface="微软雅黑"/>
              </a:rPr>
              <a:t>投资圈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53766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stAsia typeface="微软雅黑"/>
              </a:rPr>
              <a:t>VC / PE · CVC · 引导基金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251960"/>
            <a:ext cx="1280160" cy="64008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3891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9A961"/>
                </a:solidFill>
                <a:latin typeface="微软雅黑"/>
                <a:eastAsia typeface="微软雅黑"/>
              </a:rPr>
              <a:t>不动产平台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2194560"/>
            <a:ext cx="3474720" cy="4297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2377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2A47"/>
                </a:solidFill>
                <a:latin typeface="微软雅黑"/>
                <a:eastAsia typeface="微软雅黑"/>
              </a:rPr>
              <a:t>▎ 协同机制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" y="2834640"/>
            <a:ext cx="54864" cy="868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2834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F2A47"/>
                </a:solidFill>
                <a:latin typeface="微软雅黑"/>
                <a:eastAsia typeface="微软雅黑"/>
              </a:rPr>
              <a:t>成果转化通道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312724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高校实验室 → 概念验证中心 → 中试基地 → 产线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" y="3749040"/>
            <a:ext cx="54864" cy="868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3749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F2A47"/>
                </a:solidFill>
                <a:latin typeface="微软雅黑"/>
                <a:eastAsia typeface="微软雅黑"/>
              </a:rPr>
              <a:t>产学研联合体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04164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企业出题、高校解题、平台搭台、基金接力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" y="4663440"/>
            <a:ext cx="54864" cy="868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663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F2A47"/>
                </a:solidFill>
                <a:latin typeface="微软雅黑"/>
                <a:eastAsia typeface="微软雅黑"/>
              </a:rPr>
              <a:t>人才环流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495604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教授驻企 / 工程师入校 / 学生入企实习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" y="5577840"/>
            <a:ext cx="54864" cy="868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55778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F2A47"/>
                </a:solidFill>
                <a:latin typeface="微软雅黑"/>
                <a:eastAsia typeface="微软雅黑"/>
              </a:rPr>
              <a:t>数据 &amp; 案例库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587044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把“链接”沉淀成可复用的资产 (而非个人人脉)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6080760"/>
            <a:ext cx="10762488" cy="3657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6135624"/>
            <a:ext cx="10762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▎ 不动产价值的“二次跃升” = 物理空间的租金价值 + 链接资源的服务价值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03  ·  核心动能 · 科技驱动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17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实战案例矩阵：科技 × 不动产的六种可复制范式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每个范式都对应“问题—工具—成效”三段式落地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194560"/>
            <a:ext cx="35204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194560"/>
            <a:ext cx="3520440" cy="41148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26771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</a:rPr>
              <a:t>范式 01  ·  AI 投决助手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7432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微软雅黑"/>
                <a:eastAsia typeface="微软雅黑"/>
              </a:rPr>
              <a:t>应用场景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03580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2A47"/>
                </a:solidFill>
                <a:latin typeface="微软雅黑"/>
                <a:eastAsia typeface="微软雅黑"/>
              </a:rPr>
              <a:t>投资测算 / 板块研判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" y="3401568"/>
            <a:ext cx="3063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4747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微软雅黑"/>
                <a:eastAsia typeface="微软雅黑"/>
              </a:rPr>
              <a:t>可量化成效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67588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70% 案头时间释放，3 天 → 3 小时出备忘录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5112" y="2194560"/>
            <a:ext cx="35204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5112" y="2194560"/>
            <a:ext cx="3520440" cy="4114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226771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</a:rPr>
              <a:t>范式 02  ·  智能资管中台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7432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微软雅黑"/>
                <a:eastAsia typeface="微软雅黑"/>
              </a:rPr>
              <a:t>应用场景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03580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2A47"/>
                </a:solidFill>
                <a:latin typeface="微软雅黑"/>
                <a:eastAsia typeface="微软雅黑"/>
              </a:rPr>
              <a:t>持有型物业经营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3401568"/>
            <a:ext cx="3063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4747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微软雅黑"/>
                <a:eastAsia typeface="微软雅黑"/>
              </a:rPr>
              <a:t>可量化成效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67588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能耗 ↓10%，空置月数 ↓30%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36992" y="2194560"/>
            <a:ext cx="35204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36992" y="2194560"/>
            <a:ext cx="3520440" cy="41148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2" y="226771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</a:rPr>
              <a:t>范式 03  ·  AI 招商雷达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27432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微软雅黑"/>
                <a:eastAsia typeface="微软雅黑"/>
              </a:rPr>
              <a:t>应用场景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303580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2A47"/>
                </a:solidFill>
                <a:latin typeface="微软雅黑"/>
                <a:eastAsia typeface="微软雅黑"/>
              </a:rPr>
              <a:t>园区 / 写字楼招商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65592" y="3401568"/>
            <a:ext cx="3063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5592" y="34747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微软雅黑"/>
                <a:eastAsia typeface="微软雅黑"/>
              </a:rPr>
              <a:t>可量化成效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5592" y="367588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线索成本 ↓40%，转化率 2-3×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4206239"/>
            <a:ext cx="35204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4206239"/>
            <a:ext cx="3520440" cy="4114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4279391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</a:rPr>
              <a:t>范式 04  ·  科创内容工厂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" y="475487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微软雅黑"/>
                <a:eastAsia typeface="微软雅黑"/>
              </a:rPr>
              <a:t>应用场景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" y="5047487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2A47"/>
                </a:solidFill>
                <a:latin typeface="微软雅黑"/>
                <a:eastAsia typeface="微软雅黑"/>
              </a:rPr>
              <a:t>园区生态运营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" y="5413247"/>
            <a:ext cx="3063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" y="5486399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微软雅黑"/>
                <a:eastAsia typeface="微软雅黑"/>
              </a:rPr>
              <a:t>可量化成效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5687567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年 ≥50 场，租金溢价 5-8%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5112" y="4206239"/>
            <a:ext cx="35204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5112" y="4206239"/>
            <a:ext cx="3520440" cy="41148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7992" y="4279391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</a:rPr>
              <a:t>范式 05  ·  OPC 服务包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475487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微软雅黑"/>
                <a:eastAsia typeface="微软雅黑"/>
              </a:rPr>
              <a:t>应用场景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3712" y="5047487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2A47"/>
                </a:solidFill>
                <a:latin typeface="微软雅黑"/>
                <a:eastAsia typeface="微软雅黑"/>
              </a:rPr>
              <a:t>灵活办公 + 一人公司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53712" y="5413247"/>
            <a:ext cx="3063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53712" y="5486399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微软雅黑"/>
                <a:eastAsia typeface="微软雅黑"/>
              </a:rPr>
              <a:t>可量化成效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3712" y="5687567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客户结构多元、续费率显著提升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36992" y="4206239"/>
            <a:ext cx="35204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36992" y="4206239"/>
            <a:ext cx="3520440" cy="41148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19872" y="4279391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</a:rPr>
              <a:t>范式 06  ·  REITs 资管闭环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5592" y="475487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微软雅黑"/>
                <a:eastAsia typeface="微软雅黑"/>
              </a:rPr>
              <a:t>应用场景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65592" y="5047487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2A47"/>
                </a:solidFill>
                <a:latin typeface="微软雅黑"/>
                <a:eastAsia typeface="微软雅黑"/>
              </a:rPr>
              <a:t>持有型资产证券化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65592" y="5413247"/>
            <a:ext cx="3063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65592" y="5486399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微软雅黑"/>
                <a:eastAsia typeface="微软雅黑"/>
              </a:rPr>
              <a:t>可量化成效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65592" y="5687567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微软雅黑"/>
                <a:eastAsia typeface="微软雅黑"/>
              </a:rPr>
              <a:t>估值锚点切换为 NOI / DPU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24000" b="1">
                <a:solidFill>
                  <a:srgbClr val="1B3B6F"/>
                </a:solidFill>
                <a:latin typeface="微软雅黑"/>
                <a:eastAsi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PART  ·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9A961"/>
                </a:solidFill>
                <a:latin typeface="微软雅黑"/>
                <a:eastAsia typeface="微软雅黑"/>
              </a:rPr>
              <a:t>PART 04  ·  Outlook  &amp; 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stAsia typeface="微软雅黑"/>
              </a:rPr>
              <a:t>总结展望：「十五五」时期从业者的知与行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31920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stAsia typeface="微软雅黑"/>
              </a:rPr>
              <a:t>学术与实业的共识  ·  行动清单  ·  和光同尘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846320"/>
            <a:ext cx="3474720" cy="128016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84632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010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34924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理论与实践共识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学指方向 实蹚新路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4846320"/>
            <a:ext cx="3474720" cy="128016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484632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010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34924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六条行动清单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今晚就能开始的事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846320"/>
            <a:ext cx="3474720" cy="128016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4846320"/>
            <a:ext cx="54864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5010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534924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结语：阵痛中的土壤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stAsia typeface="微软雅黑"/>
              </a:rPr>
              <a:t>孕育新质生产力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04  ·  总结展望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18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发展共识：理论与实践，缺一不可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学术界提供“为什么”，实业界回答“怎么做”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194560"/>
            <a:ext cx="54406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194560"/>
            <a:ext cx="5440680" cy="640080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30428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stAsia typeface="微软雅黑"/>
              </a:rPr>
              <a:t>学 · 学术界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57860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C9A961"/>
                </a:solidFill>
                <a:latin typeface="微软雅黑"/>
                <a:eastAsia typeface="微软雅黑"/>
              </a:rPr>
              <a:t>ACADEMIA  ·  Why &amp; What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" y="3154680"/>
            <a:ext cx="73152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3063240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宏观研判 ：经济周期、人口结构、产业升级方向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" y="3931920"/>
            <a:ext cx="73152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3840480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理论框架 ：新模式 / 新质生产力 / 新城市化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" y="4709160"/>
            <a:ext cx="73152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617720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数据洞察 ：长周期数据、跨国比较、政策评估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" y="5486400"/>
            <a:ext cx="73152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5394960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人才培养 ：财务 + 产业 + 数字复合人才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2194560"/>
            <a:ext cx="54406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91072" y="2194560"/>
            <a:ext cx="5440680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30428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stAsia typeface="微软雅黑"/>
              </a:rPr>
              <a:t>产 · 实业界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257860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C9A961"/>
                </a:solidFill>
                <a:latin typeface="微软雅黑"/>
                <a:eastAsia typeface="微软雅黑"/>
              </a:rPr>
              <a:t>INDUSTRY  ·  How &amp; Now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5392" y="3154680"/>
            <a:ext cx="73152" cy="64008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3063240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蹚路探索 ：在真实项目里验证模型与产品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65392" y="3931920"/>
            <a:ext cx="73152" cy="64008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3840480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工具落地 ：用 AI / 数字化把方法变成生产力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65392" y="4709160"/>
            <a:ext cx="73152" cy="64008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4617720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客户回馈 ：以一线痛点反向定义研究议题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65392" y="5486400"/>
            <a:ext cx="73152" cy="64008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5394960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74151"/>
                </a:solidFill>
                <a:latin typeface="微软雅黑"/>
                <a:eastAsia typeface="微软雅黑"/>
              </a:rPr>
              <a:t>生态搭建 ：以平台撬动学术与资本资源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6199632"/>
            <a:ext cx="10762488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624535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F2A47"/>
                </a:solidFill>
                <a:latin typeface="微软雅黑"/>
                <a:eastAsia typeface="微软雅黑"/>
              </a:rPr>
              <a:t>学术指引方向，实业蹚出新路 —— 这正是本次跨界汇报的意义所在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29260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微软雅黑"/>
                <a:eastAsia typeface="微软雅黑"/>
              </a:rPr>
              <a:t>PART 04  ·  总结展望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840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stAsia typeface="微软雅黑"/>
              </a:rPr>
              <a:t>面向“十五五”的不动产转型与高质量发展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stAsia typeface="微软雅黑"/>
              </a:rPr>
              <a:t>从空间开发  ·  迈向科技赋能平台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0F2A47"/>
                </a:solidFill>
                <a:latin typeface="微软雅黑"/>
                <a:eastAsia typeface="微软雅黑"/>
              </a:rPr>
              <a:t>19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F2A47"/>
                </a:solidFill>
                <a:latin typeface="微软雅黑"/>
                <a:eastAsia typeface="微软雅黑"/>
              </a:rPr>
              <a:t>“十五五”从业者行动清单：知 与 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stAsia typeface="微软雅黑"/>
              </a:rPr>
              <a:t>对从业者的 6 条建议 —— “今晚就能开始做的事”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956815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148840"/>
            <a:ext cx="1076248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148840"/>
            <a:ext cx="109728" cy="566928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2A47"/>
                </a:solidFill>
                <a:latin typeface="微软雅黑"/>
                <a:eastAsia typeface="微软雅黑"/>
              </a:rPr>
              <a:t>【知】重读规划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2267712"/>
            <a:ext cx="9525" cy="32918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2860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“十五五”规划纲要 + 行业专项规划 + 城市层面“四个一”文件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2267712"/>
            <a:ext cx="1097280" cy="329184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23042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</a:rPr>
              <a:t>认知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807208"/>
            <a:ext cx="1076248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2807208"/>
            <a:ext cx="109728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9443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2A47"/>
                </a:solidFill>
                <a:latin typeface="微软雅黑"/>
                <a:eastAsia typeface="微软雅黑"/>
              </a:rPr>
              <a:t>【知】重学财务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2926080"/>
            <a:ext cx="9525" cy="32918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94436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把 NOI / Cap Rate / IRR / DPU 变成日常通用语言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0" y="2926080"/>
            <a:ext cx="1097280" cy="32918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2962656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</a:rPr>
              <a:t>认知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465576"/>
            <a:ext cx="1076248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3465576"/>
            <a:ext cx="109728" cy="5669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6027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2A47"/>
                </a:solidFill>
                <a:latin typeface="微软雅黑"/>
                <a:eastAsia typeface="微软雅黑"/>
              </a:rPr>
              <a:t>【知】重看产业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3584448"/>
            <a:ext cx="9525" cy="32918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60273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选定 1-2 个产业 (如 AI / 半导体 / 创新药) 持续跟踪，建立深度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3584448"/>
            <a:ext cx="1097280" cy="329184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362102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</a:rPr>
              <a:t>认知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4123944"/>
            <a:ext cx="1076248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4123944"/>
            <a:ext cx="109728" cy="56692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26110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2A47"/>
                </a:solidFill>
                <a:latin typeface="微软雅黑"/>
                <a:eastAsia typeface="微软雅黑"/>
              </a:rPr>
              <a:t>【行】用一次大模型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4242816"/>
            <a:ext cx="9525" cy="32918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26110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本周用 LLM 做一份“项目一页纸”或“客户画像”，亲身体感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1280" y="4242816"/>
            <a:ext cx="1097280" cy="32918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4279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</a:rPr>
              <a:t>行动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4782312"/>
            <a:ext cx="1076248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2" y="4782312"/>
            <a:ext cx="109728" cy="56692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9194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2A47"/>
                </a:solidFill>
                <a:latin typeface="微软雅黑"/>
                <a:eastAsia typeface="微软雅黑"/>
              </a:rPr>
              <a:t>【行】跑一次活动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4901184"/>
            <a:ext cx="9525" cy="32918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0" y="491947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组织一场“小而精”的科创沙龙 / 路演，验证生态运营能力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0" y="4901184"/>
            <a:ext cx="1097280" cy="329184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41280" y="49377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</a:rPr>
              <a:t>行动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" y="5440680"/>
            <a:ext cx="1076248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3232" y="5440680"/>
            <a:ext cx="109728" cy="566928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55778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2A47"/>
                </a:solidFill>
                <a:latin typeface="微软雅黑"/>
                <a:eastAsia typeface="微软雅黑"/>
              </a:rPr>
              <a:t>【行】算一次资产账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54680" y="5559552"/>
            <a:ext cx="9525" cy="32918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0" y="55778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74151"/>
                </a:solidFill>
                <a:latin typeface="微软雅黑"/>
                <a:eastAsia typeface="微软雅黑"/>
              </a:rPr>
              <a:t>选一栋楼，按“NOI 经营”重新算一遍 5 年现金流，跳出销售思维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41280" y="5559552"/>
            <a:ext cx="1097280" cy="329184"/>
          </a:xfrm>
          <a:prstGeom prst="rect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0" y="559612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  <a:eastAsia typeface="微软雅黑"/>
              </a:rPr>
              <a:t>行动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961"/>
                </a:solidFill>
                <a:latin typeface="微软雅黑"/>
                <a:eastAsia typeface="微软雅黑"/>
              </a:rPr>
              <a:t>CLOSING  ·  和 光 同 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FFFFF"/>
                </a:solidFill>
                <a:latin typeface="微软雅黑"/>
                <a:eastAsia typeface="微软雅黑"/>
              </a:rPr>
              <a:t>结语：行业在阵痛，但土壤在生长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54864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C9A961"/>
                </a:solidFill>
                <a:latin typeface="微软雅黑"/>
                <a:eastAsia typeface="微软雅黑"/>
              </a:rPr>
              <a:t>和光同尘  ·  顺应科技大势与国家宏观规划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stAsia typeface="微软雅黑"/>
              </a:rPr>
              <a:t>▍ 房地产正在告别“高歌猛进”，但并未告别“价值创造”。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stAsia typeface="微软雅黑"/>
              </a:rPr>
              <a:t>▍ “十五五”开启的，是从“开发驱动”到“运营驱动”、从“空间红利”到“科技红利”的换挡。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stAsia typeface="微软雅黑"/>
              </a:rPr>
              <a:t>▍ 当不动产真正成为科技、产业、资本、人才的“高频聚合点”，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stAsia typeface="微软雅黑"/>
              </a:rPr>
              <a:t>    它就是孕育「新质生产力」最肥沃的土壤之一。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852160"/>
            <a:ext cx="2743200" cy="6400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F2A47"/>
                </a:solidFill>
                <a:latin typeface="微软雅黑"/>
                <a:eastAsia typeface="微软雅黑"/>
              </a:rPr>
              <a:t>Q  &amp;  A   敬请指正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6035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stAsia typeface="微软雅黑"/>
              </a:rPr>
              <a:t>—  汇报完毕，感谢聆听 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