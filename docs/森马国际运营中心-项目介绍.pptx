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1828800"/>
            <a:ext cx="7315200" cy="7315200"/>
          </a:xfrm>
          <a:prstGeom prst="ellipse">
            <a:avLst/>
          </a:prstGeom>
          <a:solidFill>
            <a:srgbClr val="40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3657600"/>
            <a:ext cx="6400800" cy="6400800"/>
          </a:xfrm>
          <a:prstGeom prst="ellipse">
            <a:avLst/>
          </a:prstGeom>
          <a:solidFill>
            <a:srgbClr val="06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3291840" y="0"/>
            <a:ext cx="3657599"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468880" y="0"/>
            <a:ext cx="3657599"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459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229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459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688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918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148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377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7607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36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066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0525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755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984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5214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3444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1673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9903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0" y="0"/>
            <a:ext cx="12191695" cy="6858000"/>
          </a:xfrm>
          <a:prstGeom prst="rect">
            <a:avLst/>
          </a:prstGeom>
          <a:solidFill>
            <a:srgbClr val="080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0" y="1417320"/>
            <a:ext cx="3017520" cy="329184"/>
          </a:xfrm>
          <a:prstGeom prst="roundRect">
            <a:avLst>
              <a:gd name="adj" fmla="val 50000"/>
            </a:avLst>
          </a:prstGeom>
          <a:no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1417320"/>
            <a:ext cx="3017520" cy="329184"/>
          </a:xfrm>
          <a:prstGeom prst="rect">
            <a:avLst/>
          </a:prstGeom>
          <a:noFill/>
        </p:spPr>
        <p:txBody>
          <a:bodyPr wrap="square" lIns="0" rIns="0" tIns="0" bIns="0" anchor="ctr">
            <a:spAutoFit/>
          </a:bodyPr>
          <a:lstStyle/>
          <a:p>
            <a:pPr algn="ctr">
              <a:lnSpc>
                <a:spcPct val="120000"/>
              </a:lnSpc>
            </a:pPr>
            <a:r>
              <a:rPr sz="900" b="0" i="0" spc="400">
                <a:solidFill>
                  <a:srgbClr val="9AA0B8"/>
                </a:solidFill>
                <a:latin typeface="Inter"/>
              </a:rPr>
              <a:t>SEMIR · SHANGHAI · MINHANG · WUJING</a:t>
            </a:r>
          </a:p>
        </p:txBody>
      </p:sp>
      <p:sp>
        <p:nvSpPr>
          <p:cNvPr id="30" name="TextBox 29"/>
          <p:cNvSpPr txBox="1"/>
          <p:nvPr/>
        </p:nvSpPr>
        <p:spPr>
          <a:xfrm>
            <a:off x="457200" y="2011680"/>
            <a:ext cx="11277295" cy="1280160"/>
          </a:xfrm>
          <a:prstGeom prst="rect">
            <a:avLst/>
          </a:prstGeom>
          <a:noFill/>
        </p:spPr>
        <p:txBody>
          <a:bodyPr wrap="square" lIns="0" rIns="0" tIns="0" bIns="0" anchor="t">
            <a:spAutoFit/>
          </a:bodyPr>
          <a:lstStyle/>
          <a:p>
            <a:pPr algn="ctr">
              <a:lnSpc>
                <a:spcPct val="100000"/>
              </a:lnSpc>
            </a:pPr>
            <a:r>
              <a:rPr sz="5800" b="1" i="0">
                <a:solidFill>
                  <a:srgbClr val="ECECF4"/>
                </a:solidFill>
                <a:latin typeface="思源黑体 CN"/>
              </a:rPr>
              <a:t>森马（上海）</a:t>
            </a:r>
          </a:p>
        </p:txBody>
      </p:sp>
      <p:sp>
        <p:nvSpPr>
          <p:cNvPr id="31" name="TextBox 30"/>
          <p:cNvSpPr txBox="1"/>
          <p:nvPr/>
        </p:nvSpPr>
        <p:spPr>
          <a:xfrm>
            <a:off x="457200" y="3017520"/>
            <a:ext cx="11277295" cy="1280160"/>
          </a:xfrm>
          <a:prstGeom prst="rect">
            <a:avLst/>
          </a:prstGeom>
          <a:noFill/>
        </p:spPr>
        <p:txBody>
          <a:bodyPr wrap="square" lIns="0" rIns="0" tIns="0" bIns="0" anchor="t">
            <a:spAutoFit/>
          </a:bodyPr>
          <a:lstStyle/>
          <a:p>
            <a:pPr algn="ctr">
              <a:lnSpc>
                <a:spcPct val="100000"/>
              </a:lnSpc>
            </a:pPr>
            <a:r>
              <a:rPr sz="7200" b="1" i="0">
                <a:solidFill>
                  <a:srgbClr val="FF4F8B"/>
                </a:solidFill>
                <a:latin typeface="思源黑体 CN"/>
              </a:rPr>
              <a:t>国际</a:t>
            </a:r>
            <a:r>
              <a:rPr sz="7200" b="1" i="0">
                <a:solidFill>
                  <a:srgbClr val="8B5CF6"/>
                </a:solidFill>
                <a:latin typeface="思源黑体 CN"/>
              </a:rPr>
              <a:t>运营</a:t>
            </a:r>
            <a:r>
              <a:rPr sz="7200" b="1" i="0">
                <a:solidFill>
                  <a:srgbClr val="06B6D4"/>
                </a:solidFill>
                <a:latin typeface="思源黑体 CN"/>
              </a:rPr>
              <a:t>中心</a:t>
            </a:r>
          </a:p>
        </p:txBody>
      </p:sp>
      <p:sp>
        <p:nvSpPr>
          <p:cNvPr id="32" name="TextBox 31"/>
          <p:cNvSpPr txBox="1"/>
          <p:nvPr/>
        </p:nvSpPr>
        <p:spPr>
          <a:xfrm>
            <a:off x="457200" y="4297680"/>
            <a:ext cx="11277295" cy="457200"/>
          </a:xfrm>
          <a:prstGeom prst="rect">
            <a:avLst/>
          </a:prstGeom>
          <a:noFill/>
        </p:spPr>
        <p:txBody>
          <a:bodyPr wrap="square" lIns="0" rIns="0" tIns="0" bIns="0" anchor="t">
            <a:spAutoFit/>
          </a:bodyPr>
          <a:lstStyle/>
          <a:p>
            <a:pPr algn="ctr">
              <a:lnSpc>
                <a:spcPct val="120000"/>
              </a:lnSpc>
            </a:pPr>
            <a:r>
              <a:rPr sz="1400" b="0" i="0" spc="400">
                <a:solidFill>
                  <a:srgbClr val="9AA0B8"/>
                </a:solidFill>
                <a:latin typeface="Inter"/>
              </a:rPr>
              <a:t>SEMIR GROUP'S GLOBAL HEADQUARTER</a:t>
            </a:r>
          </a:p>
        </p:txBody>
      </p:sp>
      <p:sp>
        <p:nvSpPr>
          <p:cNvPr id="33" name="TextBox 32"/>
          <p:cNvSpPr txBox="1"/>
          <p:nvPr/>
        </p:nvSpPr>
        <p:spPr>
          <a:xfrm>
            <a:off x="457200" y="4800600"/>
            <a:ext cx="11277295" cy="457200"/>
          </a:xfrm>
          <a:prstGeom prst="rect">
            <a:avLst/>
          </a:prstGeom>
          <a:noFill/>
        </p:spPr>
        <p:txBody>
          <a:bodyPr wrap="square" lIns="0" rIns="0" tIns="0" bIns="0" anchor="t">
            <a:spAutoFit/>
          </a:bodyPr>
          <a:lstStyle/>
          <a:p>
            <a:pPr algn="ctr">
              <a:lnSpc>
                <a:spcPct val="120000"/>
              </a:lnSpc>
            </a:pPr>
            <a:r>
              <a:rPr sz="1600" b="0" i="0" spc="300">
                <a:solidFill>
                  <a:srgbClr val="ECECF4"/>
                </a:solidFill>
                <a:latin typeface="思源黑体 CN"/>
              </a:rPr>
              <a:t>科技潮玩产业策源高地  ·  Z·世代潮玩社交主场</a:t>
            </a:r>
          </a:p>
        </p:txBody>
      </p:sp>
      <p:sp>
        <p:nvSpPr>
          <p:cNvPr id="34" name="Rounded Rectangle 33"/>
          <p:cNvSpPr/>
          <p:nvPr/>
        </p:nvSpPr>
        <p:spPr>
          <a:xfrm>
            <a:off x="1097280" y="5577840"/>
            <a:ext cx="3108960" cy="777240"/>
          </a:xfrm>
          <a:prstGeom prst="roundRect">
            <a:avLst>
              <a:gd name="adj" fmla="val 20000"/>
            </a:avLst>
          </a:prstGeom>
          <a:no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4440" y="5650992"/>
            <a:ext cx="2834640" cy="256032"/>
          </a:xfrm>
          <a:prstGeom prst="rect">
            <a:avLst/>
          </a:prstGeom>
          <a:noFill/>
        </p:spPr>
        <p:txBody>
          <a:bodyPr wrap="square" lIns="0" rIns="0" tIns="0" bIns="0" anchor="t">
            <a:spAutoFit/>
          </a:bodyPr>
          <a:lstStyle/>
          <a:p>
            <a:pPr algn="l">
              <a:lnSpc>
                <a:spcPct val="120000"/>
              </a:lnSpc>
            </a:pPr>
            <a:r>
              <a:rPr sz="800" b="1" i="0" spc="300">
                <a:solidFill>
                  <a:srgbClr val="FF4F8B"/>
                </a:solidFill>
                <a:latin typeface="Inter"/>
              </a:rPr>
              <a:t>IMPORTANT CARRIER</a:t>
            </a:r>
          </a:p>
        </p:txBody>
      </p:sp>
      <p:sp>
        <p:nvSpPr>
          <p:cNvPr id="36" name="TextBox 35"/>
          <p:cNvSpPr txBox="1"/>
          <p:nvPr/>
        </p:nvSpPr>
        <p:spPr>
          <a:xfrm>
            <a:off x="1234440" y="5870448"/>
            <a:ext cx="2834640" cy="457200"/>
          </a:xfrm>
          <a:prstGeom prst="rect">
            <a:avLst/>
          </a:prstGeom>
          <a:noFill/>
        </p:spPr>
        <p:txBody>
          <a:bodyPr wrap="square" lIns="0" rIns="0" tIns="0" bIns="0" anchor="t">
            <a:spAutoFit/>
          </a:bodyPr>
          <a:lstStyle/>
          <a:p>
            <a:pPr algn="l">
              <a:lnSpc>
                <a:spcPct val="120000"/>
              </a:lnSpc>
            </a:pPr>
            <a:r>
              <a:rPr sz="1100" b="1" i="0">
                <a:solidFill>
                  <a:srgbClr val="ECECF4"/>
                </a:solidFill>
                <a:latin typeface="思源黑体 CN"/>
              </a:rPr>
              <a:t>南部科创走廊</a:t>
            </a:r>
          </a:p>
          <a:p>
            <a:pPr algn="l">
              <a:lnSpc>
                <a:spcPct val="120000"/>
              </a:lnSpc>
            </a:pPr>
            <a:r>
              <a:rPr sz="1100" b="1" i="0">
                <a:solidFill>
                  <a:srgbClr val="ECECF4"/>
                </a:solidFill>
                <a:latin typeface="思源黑体 CN"/>
              </a:rPr>
              <a:t>新兴载体</a:t>
            </a:r>
          </a:p>
        </p:txBody>
      </p:sp>
      <p:sp>
        <p:nvSpPr>
          <p:cNvPr id="37" name="Rounded Rectangle 36"/>
          <p:cNvSpPr/>
          <p:nvPr/>
        </p:nvSpPr>
        <p:spPr>
          <a:xfrm>
            <a:off x="4480560" y="5577840"/>
            <a:ext cx="3108960" cy="777240"/>
          </a:xfrm>
          <a:prstGeom prst="roundRect">
            <a:avLst>
              <a:gd name="adj" fmla="val 20000"/>
            </a:avLst>
          </a:prstGeom>
          <a:no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17720" y="5650992"/>
            <a:ext cx="2834640" cy="256032"/>
          </a:xfrm>
          <a:prstGeom prst="rect">
            <a:avLst/>
          </a:prstGeom>
          <a:noFill/>
        </p:spPr>
        <p:txBody>
          <a:bodyPr wrap="square" lIns="0" rIns="0" tIns="0" bIns="0" anchor="t">
            <a:spAutoFit/>
          </a:bodyPr>
          <a:lstStyle/>
          <a:p>
            <a:pPr algn="l">
              <a:lnSpc>
                <a:spcPct val="120000"/>
              </a:lnSpc>
            </a:pPr>
            <a:r>
              <a:rPr sz="800" b="1" i="0" spc="300">
                <a:solidFill>
                  <a:srgbClr val="8B5CF6"/>
                </a:solidFill>
                <a:latin typeface="Inter"/>
              </a:rPr>
              <a:t>INNOVATION NODE</a:t>
            </a:r>
          </a:p>
        </p:txBody>
      </p:sp>
      <p:sp>
        <p:nvSpPr>
          <p:cNvPr id="39" name="TextBox 38"/>
          <p:cNvSpPr txBox="1"/>
          <p:nvPr/>
        </p:nvSpPr>
        <p:spPr>
          <a:xfrm>
            <a:off x="4617720" y="5870448"/>
            <a:ext cx="2834640" cy="457200"/>
          </a:xfrm>
          <a:prstGeom prst="rect">
            <a:avLst/>
          </a:prstGeom>
          <a:noFill/>
        </p:spPr>
        <p:txBody>
          <a:bodyPr wrap="square" lIns="0" rIns="0" tIns="0" bIns="0" anchor="t">
            <a:spAutoFit/>
          </a:bodyPr>
          <a:lstStyle/>
          <a:p>
            <a:pPr algn="l">
              <a:lnSpc>
                <a:spcPct val="120000"/>
              </a:lnSpc>
            </a:pPr>
            <a:r>
              <a:rPr sz="1100" b="1" i="0">
                <a:solidFill>
                  <a:srgbClr val="ECECF4"/>
                </a:solidFill>
                <a:latin typeface="思源黑体 CN"/>
              </a:rPr>
              <a:t>大零号湾科创区</a:t>
            </a:r>
          </a:p>
          <a:p>
            <a:pPr algn="l">
              <a:lnSpc>
                <a:spcPct val="120000"/>
              </a:lnSpc>
            </a:pPr>
            <a:r>
              <a:rPr sz="1100" b="1" i="0">
                <a:solidFill>
                  <a:srgbClr val="ECECF4"/>
                </a:solidFill>
                <a:latin typeface="思源黑体 CN"/>
              </a:rPr>
              <a:t>示范枢纽</a:t>
            </a:r>
          </a:p>
        </p:txBody>
      </p:sp>
      <p:sp>
        <p:nvSpPr>
          <p:cNvPr id="40" name="Rounded Rectangle 39"/>
          <p:cNvSpPr/>
          <p:nvPr/>
        </p:nvSpPr>
        <p:spPr>
          <a:xfrm>
            <a:off x="7863840" y="5577840"/>
            <a:ext cx="3108960" cy="777240"/>
          </a:xfrm>
          <a:prstGeom prst="roundRect">
            <a:avLst>
              <a:gd name="adj" fmla="val 20000"/>
            </a:avLst>
          </a:prstGeom>
          <a:no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01000" y="5650992"/>
            <a:ext cx="2834640" cy="256032"/>
          </a:xfrm>
          <a:prstGeom prst="rect">
            <a:avLst/>
          </a:prstGeom>
          <a:noFill/>
        </p:spPr>
        <p:txBody>
          <a:bodyPr wrap="square" lIns="0" rIns="0" tIns="0" bIns="0" anchor="t">
            <a:spAutoFit/>
          </a:bodyPr>
          <a:lstStyle/>
          <a:p>
            <a:pPr algn="l">
              <a:lnSpc>
                <a:spcPct val="120000"/>
              </a:lnSpc>
            </a:pPr>
            <a:r>
              <a:rPr sz="800" b="1" i="0" spc="300">
                <a:solidFill>
                  <a:srgbClr val="06B6D4"/>
                </a:solidFill>
                <a:latin typeface="Inter"/>
              </a:rPr>
              <a:t>SUPER PLATFORM</a:t>
            </a:r>
          </a:p>
        </p:txBody>
      </p:sp>
      <p:sp>
        <p:nvSpPr>
          <p:cNvPr id="42" name="TextBox 41"/>
          <p:cNvSpPr txBox="1"/>
          <p:nvPr/>
        </p:nvSpPr>
        <p:spPr>
          <a:xfrm>
            <a:off x="8001000" y="5870448"/>
            <a:ext cx="2834640" cy="457200"/>
          </a:xfrm>
          <a:prstGeom prst="rect">
            <a:avLst/>
          </a:prstGeom>
          <a:noFill/>
        </p:spPr>
        <p:txBody>
          <a:bodyPr wrap="square" lIns="0" rIns="0" tIns="0" bIns="0" anchor="t">
            <a:spAutoFit/>
          </a:bodyPr>
          <a:lstStyle/>
          <a:p>
            <a:pPr algn="l">
              <a:lnSpc>
                <a:spcPct val="120000"/>
              </a:lnSpc>
            </a:pPr>
            <a:r>
              <a:rPr sz="1100" b="1" i="0">
                <a:solidFill>
                  <a:srgbClr val="ECECF4"/>
                </a:solidFill>
                <a:latin typeface="思源黑体 CN"/>
              </a:rPr>
              <a:t>长三角一核三带</a:t>
            </a:r>
          </a:p>
          <a:p>
            <a:pPr algn="l">
              <a:lnSpc>
                <a:spcPct val="120000"/>
              </a:lnSpc>
            </a:pPr>
            <a:r>
              <a:rPr sz="1100" b="1" i="0">
                <a:solidFill>
                  <a:srgbClr val="ECECF4"/>
                </a:solidFill>
                <a:latin typeface="思源黑体 CN"/>
              </a:rPr>
              <a:t>融合标杆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CONTENTS / 目  录</a:t>
            </a:r>
          </a:p>
        </p:txBody>
      </p:sp>
      <p:sp>
        <p:nvSpPr>
          <p:cNvPr id="6" name="TextBox 5"/>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4000" b="1" i="0">
                <a:solidFill>
                  <a:srgbClr val="ECECF4"/>
                </a:solidFill>
                <a:latin typeface="思源黑体 CN"/>
              </a:rPr>
              <a:t>一座潮玩之城的四章叙事</a:t>
            </a:r>
          </a:p>
        </p:txBody>
      </p:sp>
      <p:sp>
        <p:nvSpPr>
          <p:cNvPr id="7" name="TextBox 6"/>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从战略卡位到产业生态、从商业落位到运营协同。</a:t>
            </a:r>
          </a:p>
        </p:txBody>
      </p:sp>
      <p:sp>
        <p:nvSpPr>
          <p:cNvPr id="8" name="TextBox 7"/>
          <p:cNvSpPr txBox="1"/>
          <p:nvPr/>
        </p:nvSpPr>
        <p:spPr>
          <a:xfrm>
            <a:off x="640080" y="2468880"/>
            <a:ext cx="1463040" cy="822960"/>
          </a:xfrm>
          <a:prstGeom prst="rect">
            <a:avLst/>
          </a:prstGeom>
          <a:noFill/>
        </p:spPr>
        <p:txBody>
          <a:bodyPr wrap="square" lIns="0" rIns="0" tIns="0" bIns="0" anchor="t">
            <a:spAutoFit/>
          </a:bodyPr>
          <a:lstStyle/>
          <a:p>
            <a:pPr algn="l">
              <a:lnSpc>
                <a:spcPct val="100000"/>
              </a:lnSpc>
            </a:pPr>
            <a:r>
              <a:rPr sz="5600" b="1" i="0">
                <a:solidFill>
                  <a:srgbClr val="FF4F8B"/>
                </a:solidFill>
                <a:latin typeface="Inter"/>
              </a:rPr>
              <a:t>01</a:t>
            </a:r>
          </a:p>
        </p:txBody>
      </p:sp>
      <p:sp>
        <p:nvSpPr>
          <p:cNvPr id="9" name="TextBox 8"/>
          <p:cNvSpPr txBox="1"/>
          <p:nvPr/>
        </p:nvSpPr>
        <p:spPr>
          <a:xfrm>
            <a:off x="2103120" y="2542032"/>
            <a:ext cx="3200400" cy="45720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项目概况篇</a:t>
            </a:r>
          </a:p>
        </p:txBody>
      </p:sp>
      <p:sp>
        <p:nvSpPr>
          <p:cNvPr id="10" name="TextBox 9"/>
          <p:cNvSpPr txBox="1"/>
          <p:nvPr/>
        </p:nvSpPr>
        <p:spPr>
          <a:xfrm>
            <a:off x="2103120" y="3017520"/>
            <a:ext cx="3657600" cy="274320"/>
          </a:xfrm>
          <a:prstGeom prst="rect">
            <a:avLst/>
          </a:prstGeom>
          <a:noFill/>
        </p:spPr>
        <p:txBody>
          <a:bodyPr wrap="square" lIns="0" rIns="0" tIns="0" bIns="0" anchor="t">
            <a:spAutoFit/>
          </a:bodyPr>
          <a:lstStyle/>
          <a:p>
            <a:pPr algn="l">
              <a:lnSpc>
                <a:spcPct val="120000"/>
              </a:lnSpc>
            </a:pPr>
            <a:r>
              <a:rPr sz="900" b="0" i="0" spc="400">
                <a:solidFill>
                  <a:srgbClr val="9AA0B8"/>
                </a:solidFill>
                <a:latin typeface="Inter"/>
              </a:rPr>
              <a:t>PROJECT OVERVIEW</a:t>
            </a:r>
          </a:p>
        </p:txBody>
      </p:sp>
      <p:sp>
        <p:nvSpPr>
          <p:cNvPr id="11" name="TextBox 10"/>
          <p:cNvSpPr txBox="1"/>
          <p:nvPr/>
        </p:nvSpPr>
        <p:spPr>
          <a:xfrm>
            <a:off x="5943600" y="2697480"/>
            <a:ext cx="5943600" cy="548640"/>
          </a:xfrm>
          <a:prstGeom prst="rect">
            <a:avLst/>
          </a:prstGeom>
          <a:noFill/>
        </p:spPr>
        <p:txBody>
          <a:bodyPr wrap="square" lIns="0" rIns="0" tIns="0" bIns="0" anchor="t">
            <a:spAutoFit/>
          </a:bodyPr>
          <a:lstStyle/>
          <a:p>
            <a:pPr algn="l">
              <a:lnSpc>
                <a:spcPct val="120000"/>
              </a:lnSpc>
            </a:pPr>
            <a:r>
              <a:rPr sz="1300" b="0" i="0">
                <a:solidFill>
                  <a:srgbClr val="9AA0B8"/>
                </a:solidFill>
                <a:latin typeface="思源黑体 CN"/>
              </a:rPr>
              <a:t>战略定位 · 宏观区位 · 交通辐射 · 周边产业 · 六栋楼宇程序</a:t>
            </a:r>
          </a:p>
        </p:txBody>
      </p:sp>
      <p:cxnSp>
        <p:nvCxnSpPr>
          <p:cNvPr id="12" name="Connector 11"/>
          <p:cNvCxnSpPr/>
          <p:nvPr/>
        </p:nvCxnSpPr>
        <p:spPr>
          <a:xfrm>
            <a:off x="640080" y="3383280"/>
            <a:ext cx="10881360" cy="0"/>
          </a:xfrm>
          <a:prstGeom prst="line">
            <a:avLst/>
          </a:prstGeom>
          <a:ln w="7620">
            <a:solidFill>
              <a:srgbClr val="22223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3429000"/>
            <a:ext cx="1463040" cy="822960"/>
          </a:xfrm>
          <a:prstGeom prst="rect">
            <a:avLst/>
          </a:prstGeom>
          <a:noFill/>
        </p:spPr>
        <p:txBody>
          <a:bodyPr wrap="square" lIns="0" rIns="0" tIns="0" bIns="0" anchor="t">
            <a:spAutoFit/>
          </a:bodyPr>
          <a:lstStyle/>
          <a:p>
            <a:pPr algn="l">
              <a:lnSpc>
                <a:spcPct val="100000"/>
              </a:lnSpc>
            </a:pPr>
            <a:r>
              <a:rPr sz="5600" b="1" i="0">
                <a:solidFill>
                  <a:srgbClr val="8B5CF6"/>
                </a:solidFill>
                <a:latin typeface="Inter"/>
              </a:rPr>
              <a:t>02</a:t>
            </a:r>
          </a:p>
        </p:txBody>
      </p:sp>
      <p:sp>
        <p:nvSpPr>
          <p:cNvPr id="14" name="TextBox 13"/>
          <p:cNvSpPr txBox="1"/>
          <p:nvPr/>
        </p:nvSpPr>
        <p:spPr>
          <a:xfrm>
            <a:off x="2103120" y="3502152"/>
            <a:ext cx="3200400" cy="45720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产业规划篇</a:t>
            </a:r>
          </a:p>
        </p:txBody>
      </p:sp>
      <p:sp>
        <p:nvSpPr>
          <p:cNvPr id="15" name="TextBox 14"/>
          <p:cNvSpPr txBox="1"/>
          <p:nvPr/>
        </p:nvSpPr>
        <p:spPr>
          <a:xfrm>
            <a:off x="2103120" y="3977639"/>
            <a:ext cx="3657600" cy="274320"/>
          </a:xfrm>
          <a:prstGeom prst="rect">
            <a:avLst/>
          </a:prstGeom>
          <a:noFill/>
        </p:spPr>
        <p:txBody>
          <a:bodyPr wrap="square" lIns="0" rIns="0" tIns="0" bIns="0" anchor="t">
            <a:spAutoFit/>
          </a:bodyPr>
          <a:lstStyle/>
          <a:p>
            <a:pPr algn="l">
              <a:lnSpc>
                <a:spcPct val="120000"/>
              </a:lnSpc>
            </a:pPr>
            <a:r>
              <a:rPr sz="900" b="0" i="0" spc="400">
                <a:solidFill>
                  <a:srgbClr val="9AA0B8"/>
                </a:solidFill>
                <a:latin typeface="Inter"/>
              </a:rPr>
              <a:t>INDUSTRY PLANNING</a:t>
            </a:r>
          </a:p>
        </p:txBody>
      </p:sp>
      <p:sp>
        <p:nvSpPr>
          <p:cNvPr id="16" name="TextBox 15"/>
          <p:cNvSpPr txBox="1"/>
          <p:nvPr/>
        </p:nvSpPr>
        <p:spPr>
          <a:xfrm>
            <a:off x="5943600" y="3657600"/>
            <a:ext cx="5943600" cy="548640"/>
          </a:xfrm>
          <a:prstGeom prst="rect">
            <a:avLst/>
          </a:prstGeom>
          <a:noFill/>
        </p:spPr>
        <p:txBody>
          <a:bodyPr wrap="square" lIns="0" rIns="0" tIns="0" bIns="0" anchor="t">
            <a:spAutoFit/>
          </a:bodyPr>
          <a:lstStyle/>
          <a:p>
            <a:pPr algn="l">
              <a:lnSpc>
                <a:spcPct val="120000"/>
              </a:lnSpc>
            </a:pPr>
            <a:r>
              <a:rPr sz="1300" b="0" i="0">
                <a:solidFill>
                  <a:srgbClr val="9AA0B8"/>
                </a:solidFill>
                <a:latin typeface="思源黑体 CN"/>
              </a:rPr>
              <a:t>产业定位 · 5 层金字塔 · 双牌照 · 6 大配套 · 三轨运营</a:t>
            </a:r>
          </a:p>
        </p:txBody>
      </p:sp>
      <p:cxnSp>
        <p:nvCxnSpPr>
          <p:cNvPr id="17" name="Connector 16"/>
          <p:cNvCxnSpPr/>
          <p:nvPr/>
        </p:nvCxnSpPr>
        <p:spPr>
          <a:xfrm>
            <a:off x="640080" y="4343400"/>
            <a:ext cx="10881360" cy="0"/>
          </a:xfrm>
          <a:prstGeom prst="line">
            <a:avLst/>
          </a:prstGeom>
          <a:ln w="7620">
            <a:solidFill>
              <a:srgbClr val="22223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4389120"/>
            <a:ext cx="1463040" cy="822960"/>
          </a:xfrm>
          <a:prstGeom prst="rect">
            <a:avLst/>
          </a:prstGeom>
          <a:noFill/>
        </p:spPr>
        <p:txBody>
          <a:bodyPr wrap="square" lIns="0" rIns="0" tIns="0" bIns="0" anchor="t">
            <a:spAutoFit/>
          </a:bodyPr>
          <a:lstStyle/>
          <a:p>
            <a:pPr algn="l">
              <a:lnSpc>
                <a:spcPct val="100000"/>
              </a:lnSpc>
            </a:pPr>
            <a:r>
              <a:rPr sz="5600" b="1" i="0">
                <a:solidFill>
                  <a:srgbClr val="06B6D4"/>
                </a:solidFill>
                <a:latin typeface="Inter"/>
              </a:rPr>
              <a:t>03</a:t>
            </a:r>
          </a:p>
        </p:txBody>
      </p:sp>
      <p:sp>
        <p:nvSpPr>
          <p:cNvPr id="19" name="TextBox 18"/>
          <p:cNvSpPr txBox="1"/>
          <p:nvPr/>
        </p:nvSpPr>
        <p:spPr>
          <a:xfrm>
            <a:off x="2103120" y="4462272"/>
            <a:ext cx="3200400" cy="45720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商业规划篇</a:t>
            </a:r>
          </a:p>
        </p:txBody>
      </p:sp>
      <p:sp>
        <p:nvSpPr>
          <p:cNvPr id="20" name="TextBox 19"/>
          <p:cNvSpPr txBox="1"/>
          <p:nvPr/>
        </p:nvSpPr>
        <p:spPr>
          <a:xfrm>
            <a:off x="2103120" y="4937759"/>
            <a:ext cx="3657600" cy="274320"/>
          </a:xfrm>
          <a:prstGeom prst="rect">
            <a:avLst/>
          </a:prstGeom>
          <a:noFill/>
        </p:spPr>
        <p:txBody>
          <a:bodyPr wrap="square" lIns="0" rIns="0" tIns="0" bIns="0" anchor="t">
            <a:spAutoFit/>
          </a:bodyPr>
          <a:lstStyle/>
          <a:p>
            <a:pPr algn="l">
              <a:lnSpc>
                <a:spcPct val="120000"/>
              </a:lnSpc>
            </a:pPr>
            <a:r>
              <a:rPr sz="900" b="0" i="0" spc="400">
                <a:solidFill>
                  <a:srgbClr val="9AA0B8"/>
                </a:solidFill>
                <a:latin typeface="Inter"/>
              </a:rPr>
              <a:t>COMMERCIAL PLANNING</a:t>
            </a:r>
          </a:p>
        </p:txBody>
      </p:sp>
      <p:sp>
        <p:nvSpPr>
          <p:cNvPr id="21" name="TextBox 20"/>
          <p:cNvSpPr txBox="1"/>
          <p:nvPr/>
        </p:nvSpPr>
        <p:spPr>
          <a:xfrm>
            <a:off x="5943600" y="4617720"/>
            <a:ext cx="5943600" cy="548640"/>
          </a:xfrm>
          <a:prstGeom prst="rect">
            <a:avLst/>
          </a:prstGeom>
          <a:noFill/>
        </p:spPr>
        <p:txBody>
          <a:bodyPr wrap="square" lIns="0" rIns="0" tIns="0" bIns="0" anchor="t">
            <a:spAutoFit/>
          </a:bodyPr>
          <a:lstStyle/>
          <a:p>
            <a:pPr algn="l">
              <a:lnSpc>
                <a:spcPct val="120000"/>
              </a:lnSpc>
            </a:pPr>
            <a:r>
              <a:rPr sz="1300" b="0" i="0">
                <a:solidFill>
                  <a:srgbClr val="9AA0B8"/>
                </a:solidFill>
                <a:latin typeface="思源黑体 CN"/>
              </a:rPr>
              <a:t>Z·世代主场 · 业态垂直落位 · 5 大主力业态</a:t>
            </a:r>
          </a:p>
        </p:txBody>
      </p:sp>
      <p:cxnSp>
        <p:nvCxnSpPr>
          <p:cNvPr id="22" name="Connector 21"/>
          <p:cNvCxnSpPr/>
          <p:nvPr/>
        </p:nvCxnSpPr>
        <p:spPr>
          <a:xfrm>
            <a:off x="640080" y="5303520"/>
            <a:ext cx="10881360" cy="0"/>
          </a:xfrm>
          <a:prstGeom prst="line">
            <a:avLst/>
          </a:prstGeom>
          <a:ln w="7620">
            <a:solidFill>
              <a:srgbClr val="22223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349240"/>
            <a:ext cx="1463040" cy="822960"/>
          </a:xfrm>
          <a:prstGeom prst="rect">
            <a:avLst/>
          </a:prstGeom>
          <a:noFill/>
        </p:spPr>
        <p:txBody>
          <a:bodyPr wrap="square" lIns="0" rIns="0" tIns="0" bIns="0" anchor="t">
            <a:spAutoFit/>
          </a:bodyPr>
          <a:lstStyle/>
          <a:p>
            <a:pPr algn="l">
              <a:lnSpc>
                <a:spcPct val="100000"/>
              </a:lnSpc>
            </a:pPr>
            <a:r>
              <a:rPr sz="5600" b="1" i="0">
                <a:solidFill>
                  <a:srgbClr val="F59E0B"/>
                </a:solidFill>
                <a:latin typeface="Inter"/>
              </a:rPr>
              <a:t>04</a:t>
            </a:r>
          </a:p>
        </p:txBody>
      </p:sp>
      <p:sp>
        <p:nvSpPr>
          <p:cNvPr id="24" name="TextBox 23"/>
          <p:cNvSpPr txBox="1"/>
          <p:nvPr/>
        </p:nvSpPr>
        <p:spPr>
          <a:xfrm>
            <a:off x="2103120" y="5422392"/>
            <a:ext cx="3200400" cy="45720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运营合作篇</a:t>
            </a:r>
          </a:p>
        </p:txBody>
      </p:sp>
      <p:sp>
        <p:nvSpPr>
          <p:cNvPr id="25" name="TextBox 24"/>
          <p:cNvSpPr txBox="1"/>
          <p:nvPr/>
        </p:nvSpPr>
        <p:spPr>
          <a:xfrm>
            <a:off x="2103120" y="5897879"/>
            <a:ext cx="3657600" cy="274320"/>
          </a:xfrm>
          <a:prstGeom prst="rect">
            <a:avLst/>
          </a:prstGeom>
          <a:noFill/>
        </p:spPr>
        <p:txBody>
          <a:bodyPr wrap="square" lIns="0" rIns="0" tIns="0" bIns="0" anchor="t">
            <a:spAutoFit/>
          </a:bodyPr>
          <a:lstStyle/>
          <a:p>
            <a:pPr algn="l">
              <a:lnSpc>
                <a:spcPct val="120000"/>
              </a:lnSpc>
            </a:pPr>
            <a:r>
              <a:rPr sz="900" b="0" i="0" spc="400">
                <a:solidFill>
                  <a:srgbClr val="9AA0B8"/>
                </a:solidFill>
                <a:latin typeface="Inter"/>
              </a:rPr>
              <a:t>OPERATIONS &amp; COOPERATION</a:t>
            </a:r>
          </a:p>
        </p:txBody>
      </p:sp>
      <p:sp>
        <p:nvSpPr>
          <p:cNvPr id="26" name="TextBox 25"/>
          <p:cNvSpPr txBox="1"/>
          <p:nvPr/>
        </p:nvSpPr>
        <p:spPr>
          <a:xfrm>
            <a:off x="5943600" y="5577840"/>
            <a:ext cx="5943600" cy="548640"/>
          </a:xfrm>
          <a:prstGeom prst="rect">
            <a:avLst/>
          </a:prstGeom>
          <a:noFill/>
        </p:spPr>
        <p:txBody>
          <a:bodyPr wrap="square" lIns="0" rIns="0" tIns="0" bIns="0" anchor="t">
            <a:spAutoFit/>
          </a:bodyPr>
          <a:lstStyle/>
          <a:p>
            <a:pPr algn="l">
              <a:lnSpc>
                <a:spcPct val="120000"/>
              </a:lnSpc>
            </a:pPr>
            <a:r>
              <a:rPr sz="1300" b="0" i="0">
                <a:solidFill>
                  <a:srgbClr val="9AA0B8"/>
                </a:solidFill>
                <a:latin typeface="思源黑体 CN"/>
              </a:rPr>
              <a:t>特色集会 · 产品首发 · 主题大赛 · 拟合作品牌矩阵</a:t>
            </a:r>
          </a:p>
        </p:txBody>
      </p:sp>
      <p:cxnSp>
        <p:nvCxnSpPr>
          <p:cNvPr id="27" name="Connector 26"/>
          <p:cNvCxnSpPr/>
          <p:nvPr/>
        </p:nvCxnSpPr>
        <p:spPr>
          <a:xfrm>
            <a:off x="640080" y="6263640"/>
            <a:ext cx="10881360" cy="0"/>
          </a:xfrm>
          <a:prstGeom prst="line">
            <a:avLst/>
          </a:prstGeom>
          <a:ln w="7620">
            <a:solidFill>
              <a:srgbClr val="22223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29" name="TextBox 28"/>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2743200"/>
            <a:ext cx="8229600" cy="8229600"/>
          </a:xfrm>
          <a:prstGeom prst="ellipse">
            <a:avLst/>
          </a:prstGeom>
          <a:solidFill>
            <a:srgbClr val="4F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0972800" cy="365760"/>
          </a:xfrm>
          <a:prstGeom prst="rect">
            <a:avLst/>
          </a:prstGeom>
          <a:noFill/>
        </p:spPr>
        <p:txBody>
          <a:bodyPr wrap="square" lIns="0" rIns="0" tIns="0" bIns="0" anchor="t">
            <a:spAutoFit/>
          </a:bodyPr>
          <a:lstStyle/>
          <a:p>
            <a:pPr algn="ctr">
              <a:lnSpc>
                <a:spcPct val="120000"/>
              </a:lnSpc>
            </a:pPr>
            <a:r>
              <a:rPr sz="1100" b="1" i="0" spc="600">
                <a:solidFill>
                  <a:srgbClr val="FF4F8B"/>
                </a:solidFill>
                <a:latin typeface="Inter"/>
              </a:rPr>
              <a:t>CHAPTER 01</a:t>
            </a:r>
          </a:p>
        </p:txBody>
      </p:sp>
      <p:sp>
        <p:nvSpPr>
          <p:cNvPr id="5" name="TextBox 4"/>
          <p:cNvSpPr txBox="1"/>
          <p:nvPr/>
        </p:nvSpPr>
        <p:spPr>
          <a:xfrm>
            <a:off x="457200" y="1188720"/>
            <a:ext cx="11277295" cy="2377440"/>
          </a:xfrm>
          <a:prstGeom prst="rect">
            <a:avLst/>
          </a:prstGeom>
          <a:noFill/>
        </p:spPr>
        <p:txBody>
          <a:bodyPr wrap="square" lIns="0" rIns="0" tIns="0" bIns="0" anchor="t">
            <a:spAutoFit/>
          </a:bodyPr>
          <a:lstStyle/>
          <a:p>
            <a:pPr algn="ctr">
              <a:lnSpc>
                <a:spcPct val="95000"/>
              </a:lnSpc>
            </a:pPr>
            <a:r>
              <a:rPr sz="24000" b="1" i="0">
                <a:solidFill>
                  <a:srgbClr val="ECECF4"/>
                </a:solidFill>
                <a:latin typeface="Inter"/>
              </a:rPr>
              <a:t>01</a:t>
            </a:r>
          </a:p>
        </p:txBody>
      </p:sp>
      <p:sp>
        <p:nvSpPr>
          <p:cNvPr id="6" name="TextBox 5"/>
          <p:cNvSpPr txBox="1"/>
          <p:nvPr/>
        </p:nvSpPr>
        <p:spPr>
          <a:xfrm>
            <a:off x="457200" y="4297680"/>
            <a:ext cx="11277295" cy="731520"/>
          </a:xfrm>
          <a:prstGeom prst="rect">
            <a:avLst/>
          </a:prstGeom>
          <a:noFill/>
        </p:spPr>
        <p:txBody>
          <a:bodyPr wrap="square" lIns="0" rIns="0" tIns="0" bIns="0" anchor="t">
            <a:spAutoFit/>
          </a:bodyPr>
          <a:lstStyle/>
          <a:p>
            <a:pPr algn="ctr">
              <a:lnSpc>
                <a:spcPct val="110000"/>
              </a:lnSpc>
            </a:pPr>
            <a:r>
              <a:rPr sz="4400" b="1" i="0">
                <a:solidFill>
                  <a:srgbClr val="ECECF4"/>
                </a:solidFill>
                <a:latin typeface="思源黑体 CN"/>
              </a:rPr>
              <a:t>项目概况篇</a:t>
            </a:r>
          </a:p>
        </p:txBody>
      </p:sp>
      <p:sp>
        <p:nvSpPr>
          <p:cNvPr id="7" name="TextBox 6"/>
          <p:cNvSpPr txBox="1"/>
          <p:nvPr/>
        </p:nvSpPr>
        <p:spPr>
          <a:xfrm>
            <a:off x="457200" y="5120640"/>
            <a:ext cx="11277295" cy="457200"/>
          </a:xfrm>
          <a:prstGeom prst="rect">
            <a:avLst/>
          </a:prstGeom>
          <a:noFill/>
        </p:spPr>
        <p:txBody>
          <a:bodyPr wrap="square" lIns="0" rIns="0" tIns="0" bIns="0" anchor="t">
            <a:spAutoFit/>
          </a:bodyPr>
          <a:lstStyle/>
          <a:p>
            <a:pPr algn="ctr">
              <a:lnSpc>
                <a:spcPct val="120000"/>
              </a:lnSpc>
            </a:pPr>
            <a:r>
              <a:rPr sz="1300" b="0" i="0" spc="600">
                <a:solidFill>
                  <a:srgbClr val="9AA0B8"/>
                </a:solidFill>
                <a:latin typeface="Inter"/>
              </a:rPr>
              <a:t>PROJECT OVERVIEW</a:t>
            </a:r>
          </a:p>
        </p:txBody>
      </p:sp>
      <p:sp>
        <p:nvSpPr>
          <p:cNvPr id="8" name="Rectangle 7"/>
          <p:cNvSpPr/>
          <p:nvPr/>
        </p:nvSpPr>
        <p:spPr>
          <a:xfrm>
            <a:off x="5632704" y="5760720"/>
            <a:ext cx="914400"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04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01 · 项目概况篇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（一）战略定位 · STRATEGIC POSITIONING</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600" b="1" i="0">
                <a:solidFill>
                  <a:srgbClr val="ECECF4"/>
                </a:solidFill>
                <a:latin typeface="思源黑体 CN"/>
              </a:rPr>
              <a:t>锚定双重身份  ·  构建示范性融合标杆</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锚定「大零号湾科技创新策源功能区文创融合核心区」与「上海市唯一科技时尚特色小镇」双重身份，</a:t>
            </a:r>
          </a:p>
          <a:p>
            <a:pPr algn="l">
              <a:lnSpc>
                <a:spcPct val="160000"/>
              </a:lnSpc>
            </a:pPr>
            <a:r>
              <a:rPr sz="1300" b="0" i="0">
                <a:solidFill>
                  <a:srgbClr val="9AA0B8"/>
                </a:solidFill>
                <a:latin typeface="思源黑体 CN"/>
              </a:rPr>
              <a:t>构建时尚研发与文创转化双向赋能的示范性融合标杆。</a:t>
            </a:r>
          </a:p>
        </p:txBody>
      </p:sp>
      <p:sp>
        <p:nvSpPr>
          <p:cNvPr id="11" name="Rounded Rectangle 10"/>
          <p:cNvSpPr/>
          <p:nvPr/>
        </p:nvSpPr>
        <p:spPr>
          <a:xfrm>
            <a:off x="640080" y="3108960"/>
            <a:ext cx="3566160" cy="2651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08960"/>
            <a:ext cx="3566160"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1828800" cy="457200"/>
          </a:xfrm>
          <a:prstGeom prst="rect">
            <a:avLst/>
          </a:prstGeom>
          <a:noFill/>
        </p:spPr>
        <p:txBody>
          <a:bodyPr wrap="square" lIns="0" rIns="0" tIns="0" bIns="0" anchor="t">
            <a:spAutoFit/>
          </a:bodyPr>
          <a:lstStyle/>
          <a:p>
            <a:pPr algn="l">
              <a:lnSpc>
                <a:spcPct val="120000"/>
              </a:lnSpc>
            </a:pPr>
            <a:r>
              <a:rPr sz="2600" b="1" i="0">
                <a:solidFill>
                  <a:srgbClr val="FF4F8B"/>
                </a:solidFill>
                <a:latin typeface="Inter"/>
              </a:rPr>
              <a:t>01</a:t>
            </a:r>
          </a:p>
        </p:txBody>
      </p:sp>
      <p:sp>
        <p:nvSpPr>
          <p:cNvPr id="14" name="TextBox 13"/>
          <p:cNvSpPr txBox="1"/>
          <p:nvPr/>
        </p:nvSpPr>
        <p:spPr>
          <a:xfrm>
            <a:off x="914400" y="4023360"/>
            <a:ext cx="3200400" cy="54864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南部科创走廊</a:t>
            </a:r>
          </a:p>
        </p:txBody>
      </p:sp>
      <p:sp>
        <p:nvSpPr>
          <p:cNvPr id="15" name="TextBox 14"/>
          <p:cNvSpPr txBox="1"/>
          <p:nvPr/>
        </p:nvSpPr>
        <p:spPr>
          <a:xfrm>
            <a:off x="914400" y="4526280"/>
            <a:ext cx="3200400" cy="548640"/>
          </a:xfrm>
          <a:prstGeom prst="rect">
            <a:avLst/>
          </a:prstGeom>
          <a:noFill/>
        </p:spPr>
        <p:txBody>
          <a:bodyPr wrap="square" lIns="0" rIns="0" tIns="0" bIns="0" anchor="t">
            <a:spAutoFit/>
          </a:bodyPr>
          <a:lstStyle/>
          <a:p>
            <a:pPr algn="l">
              <a:lnSpc>
                <a:spcPct val="120000"/>
              </a:lnSpc>
            </a:pPr>
            <a:r>
              <a:rPr sz="1800" b="0" i="0">
                <a:solidFill>
                  <a:srgbClr val="9AA0B8"/>
                </a:solidFill>
                <a:latin typeface="思源黑体 CN"/>
              </a:rPr>
              <a:t>的新兴载体</a:t>
            </a:r>
          </a:p>
        </p:txBody>
      </p:sp>
      <p:sp>
        <p:nvSpPr>
          <p:cNvPr id="16" name="TextBox 15"/>
          <p:cNvSpPr txBox="1"/>
          <p:nvPr/>
        </p:nvSpPr>
        <p:spPr>
          <a:xfrm>
            <a:off x="914400" y="5349240"/>
            <a:ext cx="3200400" cy="365760"/>
          </a:xfrm>
          <a:prstGeom prst="rect">
            <a:avLst/>
          </a:prstGeom>
          <a:noFill/>
        </p:spPr>
        <p:txBody>
          <a:bodyPr wrap="square" lIns="0" rIns="0" tIns="0" bIns="0" anchor="t">
            <a:spAutoFit/>
          </a:bodyPr>
          <a:lstStyle/>
          <a:p>
            <a:pPr algn="l">
              <a:lnSpc>
                <a:spcPct val="120000"/>
              </a:lnSpc>
            </a:pPr>
            <a:r>
              <a:rPr sz="900" b="1" i="0" spc="400">
                <a:solidFill>
                  <a:srgbClr val="6B7090"/>
                </a:solidFill>
                <a:latin typeface="Inter"/>
              </a:rPr>
              <a:t>IMPORTANT CARRIER</a:t>
            </a:r>
          </a:p>
        </p:txBody>
      </p:sp>
      <p:sp>
        <p:nvSpPr>
          <p:cNvPr id="17" name="Rounded Rectangle 16"/>
          <p:cNvSpPr/>
          <p:nvPr/>
        </p:nvSpPr>
        <p:spPr>
          <a:xfrm>
            <a:off x="4389120" y="3108960"/>
            <a:ext cx="3566160" cy="2651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3108960"/>
            <a:ext cx="356616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337560"/>
            <a:ext cx="1828800" cy="457200"/>
          </a:xfrm>
          <a:prstGeom prst="rect">
            <a:avLst/>
          </a:prstGeom>
          <a:noFill/>
        </p:spPr>
        <p:txBody>
          <a:bodyPr wrap="square" lIns="0" rIns="0" tIns="0" bIns="0" anchor="t">
            <a:spAutoFit/>
          </a:bodyPr>
          <a:lstStyle/>
          <a:p>
            <a:pPr algn="l">
              <a:lnSpc>
                <a:spcPct val="120000"/>
              </a:lnSpc>
            </a:pPr>
            <a:r>
              <a:rPr sz="2600" b="1" i="0">
                <a:solidFill>
                  <a:srgbClr val="8B5CF6"/>
                </a:solidFill>
                <a:latin typeface="Inter"/>
              </a:rPr>
              <a:t>02</a:t>
            </a:r>
          </a:p>
        </p:txBody>
      </p:sp>
      <p:sp>
        <p:nvSpPr>
          <p:cNvPr id="20" name="TextBox 19"/>
          <p:cNvSpPr txBox="1"/>
          <p:nvPr/>
        </p:nvSpPr>
        <p:spPr>
          <a:xfrm>
            <a:off x="4663440" y="4023360"/>
            <a:ext cx="3200400" cy="54864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大零号湾科创区</a:t>
            </a:r>
          </a:p>
        </p:txBody>
      </p:sp>
      <p:sp>
        <p:nvSpPr>
          <p:cNvPr id="21" name="TextBox 20"/>
          <p:cNvSpPr txBox="1"/>
          <p:nvPr/>
        </p:nvSpPr>
        <p:spPr>
          <a:xfrm>
            <a:off x="4663440" y="4526280"/>
            <a:ext cx="3200400" cy="548640"/>
          </a:xfrm>
          <a:prstGeom prst="rect">
            <a:avLst/>
          </a:prstGeom>
          <a:noFill/>
        </p:spPr>
        <p:txBody>
          <a:bodyPr wrap="square" lIns="0" rIns="0" tIns="0" bIns="0" anchor="t">
            <a:spAutoFit/>
          </a:bodyPr>
          <a:lstStyle/>
          <a:p>
            <a:pPr algn="l">
              <a:lnSpc>
                <a:spcPct val="120000"/>
              </a:lnSpc>
            </a:pPr>
            <a:r>
              <a:rPr sz="1800" b="0" i="0">
                <a:solidFill>
                  <a:srgbClr val="9AA0B8"/>
                </a:solidFill>
                <a:latin typeface="思源黑体 CN"/>
              </a:rPr>
              <a:t>示范枢纽</a:t>
            </a:r>
          </a:p>
        </p:txBody>
      </p:sp>
      <p:sp>
        <p:nvSpPr>
          <p:cNvPr id="22" name="TextBox 21"/>
          <p:cNvSpPr txBox="1"/>
          <p:nvPr/>
        </p:nvSpPr>
        <p:spPr>
          <a:xfrm>
            <a:off x="4663440" y="5349240"/>
            <a:ext cx="3200400" cy="365760"/>
          </a:xfrm>
          <a:prstGeom prst="rect">
            <a:avLst/>
          </a:prstGeom>
          <a:noFill/>
        </p:spPr>
        <p:txBody>
          <a:bodyPr wrap="square" lIns="0" rIns="0" tIns="0" bIns="0" anchor="t">
            <a:spAutoFit/>
          </a:bodyPr>
          <a:lstStyle/>
          <a:p>
            <a:pPr algn="l">
              <a:lnSpc>
                <a:spcPct val="120000"/>
              </a:lnSpc>
            </a:pPr>
            <a:r>
              <a:rPr sz="900" b="1" i="0" spc="400">
                <a:solidFill>
                  <a:srgbClr val="6B7090"/>
                </a:solidFill>
                <a:latin typeface="Inter"/>
              </a:rPr>
              <a:t>INNOVATION NODE</a:t>
            </a:r>
          </a:p>
        </p:txBody>
      </p:sp>
      <p:sp>
        <p:nvSpPr>
          <p:cNvPr id="23" name="Rounded Rectangle 22"/>
          <p:cNvSpPr/>
          <p:nvPr/>
        </p:nvSpPr>
        <p:spPr>
          <a:xfrm>
            <a:off x="8138159" y="3108960"/>
            <a:ext cx="3566160" cy="2651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59" y="3108960"/>
            <a:ext cx="356616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9" y="3337560"/>
            <a:ext cx="1828800" cy="457200"/>
          </a:xfrm>
          <a:prstGeom prst="rect">
            <a:avLst/>
          </a:prstGeom>
          <a:noFill/>
        </p:spPr>
        <p:txBody>
          <a:bodyPr wrap="square" lIns="0" rIns="0" tIns="0" bIns="0" anchor="t">
            <a:spAutoFit/>
          </a:bodyPr>
          <a:lstStyle/>
          <a:p>
            <a:pPr algn="l">
              <a:lnSpc>
                <a:spcPct val="120000"/>
              </a:lnSpc>
            </a:pPr>
            <a:r>
              <a:rPr sz="2600" b="1" i="0">
                <a:solidFill>
                  <a:srgbClr val="06B6D4"/>
                </a:solidFill>
                <a:latin typeface="Inter"/>
              </a:rPr>
              <a:t>03</a:t>
            </a:r>
          </a:p>
        </p:txBody>
      </p:sp>
      <p:sp>
        <p:nvSpPr>
          <p:cNvPr id="26" name="TextBox 25"/>
          <p:cNvSpPr txBox="1"/>
          <p:nvPr/>
        </p:nvSpPr>
        <p:spPr>
          <a:xfrm>
            <a:off x="8412479" y="4023360"/>
            <a:ext cx="3200400" cy="54864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长三角一核三带</a:t>
            </a:r>
          </a:p>
        </p:txBody>
      </p:sp>
      <p:sp>
        <p:nvSpPr>
          <p:cNvPr id="27" name="TextBox 26"/>
          <p:cNvSpPr txBox="1"/>
          <p:nvPr/>
        </p:nvSpPr>
        <p:spPr>
          <a:xfrm>
            <a:off x="8412479" y="4526280"/>
            <a:ext cx="3200400" cy="548640"/>
          </a:xfrm>
          <a:prstGeom prst="rect">
            <a:avLst/>
          </a:prstGeom>
          <a:noFill/>
        </p:spPr>
        <p:txBody>
          <a:bodyPr wrap="square" lIns="0" rIns="0" tIns="0" bIns="0" anchor="t">
            <a:spAutoFit/>
          </a:bodyPr>
          <a:lstStyle/>
          <a:p>
            <a:pPr algn="l">
              <a:lnSpc>
                <a:spcPct val="120000"/>
              </a:lnSpc>
            </a:pPr>
            <a:r>
              <a:rPr sz="1800" b="0" i="0">
                <a:solidFill>
                  <a:srgbClr val="9AA0B8"/>
                </a:solidFill>
                <a:latin typeface="思源黑体 CN"/>
              </a:rPr>
              <a:t>融合标杆</a:t>
            </a:r>
          </a:p>
        </p:txBody>
      </p:sp>
      <p:sp>
        <p:nvSpPr>
          <p:cNvPr id="28" name="TextBox 27"/>
          <p:cNvSpPr txBox="1"/>
          <p:nvPr/>
        </p:nvSpPr>
        <p:spPr>
          <a:xfrm>
            <a:off x="8412479" y="5349240"/>
            <a:ext cx="3200400" cy="365760"/>
          </a:xfrm>
          <a:prstGeom prst="rect">
            <a:avLst/>
          </a:prstGeom>
          <a:noFill/>
        </p:spPr>
        <p:txBody>
          <a:bodyPr wrap="square" lIns="0" rIns="0" tIns="0" bIns="0" anchor="t">
            <a:spAutoFit/>
          </a:bodyPr>
          <a:lstStyle/>
          <a:p>
            <a:pPr algn="l">
              <a:lnSpc>
                <a:spcPct val="120000"/>
              </a:lnSpc>
            </a:pPr>
            <a:r>
              <a:rPr sz="900" b="1" i="0" spc="400">
                <a:solidFill>
                  <a:srgbClr val="6B7090"/>
                </a:solidFill>
                <a:latin typeface="Inter"/>
              </a:rPr>
              <a:t>SUPER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05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01 · 项目概况篇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（二）宏观区位 · MACRO LOCATION</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200" b="1" i="0">
                <a:solidFill>
                  <a:srgbClr val="ECECF4"/>
                </a:solidFill>
                <a:latin typeface="思源黑体 CN"/>
              </a:rPr>
              <a:t>闵行千亿发展极  ·  超大产业集群集聚</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元江路-剑川路地区中心为闵行五大中心之一，能级比肩漕河泾、张江，与梅陇、七宝共筑闵行 TOD 金三角。</a:t>
            </a:r>
          </a:p>
        </p:txBody>
      </p:sp>
      <p:sp>
        <p:nvSpPr>
          <p:cNvPr id="11" name="Rounded Rectangle 10"/>
          <p:cNvSpPr/>
          <p:nvPr/>
        </p:nvSpPr>
        <p:spPr>
          <a:xfrm>
            <a:off x="640080" y="2468880"/>
            <a:ext cx="5120640" cy="3383280"/>
          </a:xfrm>
          <a:prstGeom prst="roundRect">
            <a:avLst>
              <a:gd name="adj" fmla="val 4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51760"/>
            <a:ext cx="4572000" cy="365760"/>
          </a:xfrm>
          <a:prstGeom prst="rect">
            <a:avLst/>
          </a:prstGeom>
          <a:noFill/>
        </p:spPr>
        <p:txBody>
          <a:bodyPr wrap="square" lIns="0" rIns="0" tIns="0" bIns="0" anchor="t">
            <a:spAutoFit/>
          </a:bodyPr>
          <a:lstStyle/>
          <a:p>
            <a:pPr algn="l">
              <a:lnSpc>
                <a:spcPct val="120000"/>
              </a:lnSpc>
            </a:pPr>
            <a:r>
              <a:rPr sz="1400" b="1" i="0" spc="300">
                <a:solidFill>
                  <a:srgbClr val="FF4F8B"/>
                </a:solidFill>
                <a:latin typeface="思源黑体 CN"/>
              </a:rPr>
              <a:t>五大产业鼎立</a:t>
            </a:r>
          </a:p>
        </p:txBody>
      </p:sp>
      <p:sp>
        <p:nvSpPr>
          <p:cNvPr id="13" name="Rounded Rectangle 12"/>
          <p:cNvSpPr/>
          <p:nvPr/>
        </p:nvSpPr>
        <p:spPr>
          <a:xfrm>
            <a:off x="914400" y="3246120"/>
            <a:ext cx="1371600" cy="685800"/>
          </a:xfrm>
          <a:prstGeom prst="roundRect">
            <a:avLst>
              <a:gd name="adj" fmla="val 2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46120"/>
            <a:ext cx="1371600" cy="685800"/>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元宇宙</a:t>
            </a:r>
          </a:p>
        </p:txBody>
      </p:sp>
      <p:sp>
        <p:nvSpPr>
          <p:cNvPr id="15" name="Rounded Rectangle 14"/>
          <p:cNvSpPr/>
          <p:nvPr/>
        </p:nvSpPr>
        <p:spPr>
          <a:xfrm>
            <a:off x="2423160" y="3246120"/>
            <a:ext cx="1371600" cy="685800"/>
          </a:xfrm>
          <a:prstGeom prst="roundRect">
            <a:avLst>
              <a:gd name="adj" fmla="val 2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3160" y="3246120"/>
            <a:ext cx="1371600" cy="685800"/>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未来能源</a:t>
            </a:r>
          </a:p>
        </p:txBody>
      </p:sp>
      <p:sp>
        <p:nvSpPr>
          <p:cNvPr id="17" name="Rounded Rectangle 16"/>
          <p:cNvSpPr/>
          <p:nvPr/>
        </p:nvSpPr>
        <p:spPr>
          <a:xfrm>
            <a:off x="3931920" y="3246120"/>
            <a:ext cx="1371600" cy="685800"/>
          </a:xfrm>
          <a:prstGeom prst="roundRect">
            <a:avLst>
              <a:gd name="adj" fmla="val 2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3246120"/>
            <a:ext cx="1371600" cy="685800"/>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智慧医疗</a:t>
            </a:r>
          </a:p>
        </p:txBody>
      </p:sp>
      <p:sp>
        <p:nvSpPr>
          <p:cNvPr id="19" name="Rounded Rectangle 18"/>
          <p:cNvSpPr/>
          <p:nvPr/>
        </p:nvSpPr>
        <p:spPr>
          <a:xfrm>
            <a:off x="914400" y="4114800"/>
            <a:ext cx="1371600" cy="685800"/>
          </a:xfrm>
          <a:prstGeom prst="roundRect">
            <a:avLst>
              <a:gd name="adj" fmla="val 2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114800"/>
            <a:ext cx="1371600" cy="685800"/>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人工智能</a:t>
            </a:r>
          </a:p>
        </p:txBody>
      </p:sp>
      <p:sp>
        <p:nvSpPr>
          <p:cNvPr id="21" name="Rounded Rectangle 20"/>
          <p:cNvSpPr/>
          <p:nvPr/>
        </p:nvSpPr>
        <p:spPr>
          <a:xfrm>
            <a:off x="2423160" y="4114800"/>
            <a:ext cx="1371600" cy="685800"/>
          </a:xfrm>
          <a:prstGeom prst="roundRect">
            <a:avLst>
              <a:gd name="adj" fmla="val 2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23160" y="4114800"/>
            <a:ext cx="1371600" cy="685800"/>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低空经济</a:t>
            </a:r>
          </a:p>
        </p:txBody>
      </p:sp>
      <p:sp>
        <p:nvSpPr>
          <p:cNvPr id="23" name="Rounded Rectangle 22"/>
          <p:cNvSpPr/>
          <p:nvPr/>
        </p:nvSpPr>
        <p:spPr>
          <a:xfrm>
            <a:off x="6035040" y="2468880"/>
            <a:ext cx="5577840" cy="3383280"/>
          </a:xfrm>
          <a:prstGeom prst="roundRect">
            <a:avLst>
              <a:gd name="adj" fmla="val 4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651760"/>
            <a:ext cx="5029200" cy="365760"/>
          </a:xfrm>
          <a:prstGeom prst="rect">
            <a:avLst/>
          </a:prstGeom>
          <a:noFill/>
        </p:spPr>
        <p:txBody>
          <a:bodyPr wrap="square" lIns="0" rIns="0" tIns="0" bIns="0" anchor="t">
            <a:spAutoFit/>
          </a:bodyPr>
          <a:lstStyle/>
          <a:p>
            <a:pPr algn="l">
              <a:lnSpc>
                <a:spcPct val="120000"/>
              </a:lnSpc>
            </a:pPr>
            <a:r>
              <a:rPr sz="1400" b="1" i="0" spc="200">
                <a:solidFill>
                  <a:srgbClr val="8B5CF6"/>
                </a:solidFill>
                <a:latin typeface="思源黑体 CN"/>
              </a:rPr>
              <a:t>上海南部科创中心 · 主要产业功能区</a:t>
            </a:r>
          </a:p>
        </p:txBody>
      </p:sp>
      <p:sp>
        <p:nvSpPr>
          <p:cNvPr id="25" name="TextBox 24"/>
          <p:cNvSpPr txBox="1"/>
          <p:nvPr/>
        </p:nvSpPr>
        <p:spPr>
          <a:xfrm>
            <a:off x="6263640" y="3200400"/>
            <a:ext cx="2606040" cy="292608"/>
          </a:xfrm>
          <a:prstGeom prst="rect">
            <a:avLst/>
          </a:prstGeom>
          <a:noFill/>
        </p:spPr>
        <p:txBody>
          <a:bodyPr wrap="square" lIns="0" rIns="0" tIns="0" bIns="0" anchor="t">
            <a:spAutoFit/>
          </a:bodyPr>
          <a:lstStyle/>
          <a:p>
            <a:pPr algn="l">
              <a:lnSpc>
                <a:spcPct val="120000"/>
              </a:lnSpc>
            </a:pPr>
            <a:r>
              <a:rPr sz="800" b="1" i="0" spc="200">
                <a:solidFill>
                  <a:srgbClr val="FF4F8B"/>
                </a:solidFill>
                <a:latin typeface="思源黑体 CN"/>
              </a:rPr>
              <a:t>创新策源区</a:t>
            </a:r>
          </a:p>
        </p:txBody>
      </p:sp>
      <p:sp>
        <p:nvSpPr>
          <p:cNvPr id="26" name="TextBox 25"/>
          <p:cNvSpPr txBox="1"/>
          <p:nvPr/>
        </p:nvSpPr>
        <p:spPr>
          <a:xfrm>
            <a:off x="6263640" y="342900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"零号湾"创新创业集聚区</a:t>
            </a:r>
          </a:p>
        </p:txBody>
      </p:sp>
      <p:sp>
        <p:nvSpPr>
          <p:cNvPr id="27" name="TextBox 26"/>
          <p:cNvSpPr txBox="1"/>
          <p:nvPr/>
        </p:nvSpPr>
        <p:spPr>
          <a:xfrm>
            <a:off x="8961120" y="3200400"/>
            <a:ext cx="2606040" cy="292608"/>
          </a:xfrm>
          <a:prstGeom prst="rect">
            <a:avLst/>
          </a:prstGeom>
          <a:noFill/>
        </p:spPr>
        <p:txBody>
          <a:bodyPr wrap="square" lIns="0" rIns="0" tIns="0" bIns="0" anchor="t">
            <a:spAutoFit/>
          </a:bodyPr>
          <a:lstStyle/>
          <a:p>
            <a:pPr algn="l">
              <a:lnSpc>
                <a:spcPct val="120000"/>
              </a:lnSpc>
            </a:pPr>
            <a:r>
              <a:rPr sz="800" b="1" i="0" spc="200">
                <a:solidFill>
                  <a:srgbClr val="06B6D4"/>
                </a:solidFill>
                <a:latin typeface="思源黑体 CN"/>
              </a:rPr>
              <a:t>高新产业承载区</a:t>
            </a:r>
          </a:p>
        </p:txBody>
      </p:sp>
      <p:sp>
        <p:nvSpPr>
          <p:cNvPr id="28" name="TextBox 27"/>
          <p:cNvSpPr txBox="1"/>
          <p:nvPr/>
        </p:nvSpPr>
        <p:spPr>
          <a:xfrm>
            <a:off x="8961120" y="342900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紫竹国家高新技术产业开发区</a:t>
            </a:r>
          </a:p>
        </p:txBody>
      </p:sp>
      <p:sp>
        <p:nvSpPr>
          <p:cNvPr id="29" name="TextBox 28"/>
          <p:cNvSpPr txBox="1"/>
          <p:nvPr/>
        </p:nvSpPr>
        <p:spPr>
          <a:xfrm>
            <a:off x="6263640" y="3840480"/>
            <a:ext cx="2606040" cy="292608"/>
          </a:xfrm>
          <a:prstGeom prst="rect">
            <a:avLst/>
          </a:prstGeom>
          <a:noFill/>
        </p:spPr>
        <p:txBody>
          <a:bodyPr wrap="square" lIns="0" rIns="0" tIns="0" bIns="0" anchor="t">
            <a:spAutoFit/>
          </a:bodyPr>
          <a:lstStyle/>
          <a:p>
            <a:pPr algn="l">
              <a:lnSpc>
                <a:spcPct val="120000"/>
              </a:lnSpc>
            </a:pPr>
            <a:r>
              <a:rPr sz="800" b="1" i="0" spc="200">
                <a:solidFill>
                  <a:srgbClr val="06B6D4"/>
                </a:solidFill>
                <a:latin typeface="思源黑体 CN"/>
              </a:rPr>
              <a:t>高新产业承载区</a:t>
            </a:r>
          </a:p>
        </p:txBody>
      </p:sp>
      <p:sp>
        <p:nvSpPr>
          <p:cNvPr id="30" name="TextBox 29"/>
          <p:cNvSpPr txBox="1"/>
          <p:nvPr/>
        </p:nvSpPr>
        <p:spPr>
          <a:xfrm>
            <a:off x="6263640" y="406908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临港浦江国际科技城</a:t>
            </a:r>
          </a:p>
        </p:txBody>
      </p:sp>
      <p:sp>
        <p:nvSpPr>
          <p:cNvPr id="31" name="TextBox 30"/>
          <p:cNvSpPr txBox="1"/>
          <p:nvPr/>
        </p:nvSpPr>
        <p:spPr>
          <a:xfrm>
            <a:off x="8961120" y="3840480"/>
            <a:ext cx="2606040" cy="292608"/>
          </a:xfrm>
          <a:prstGeom prst="rect">
            <a:avLst/>
          </a:prstGeom>
          <a:noFill/>
        </p:spPr>
        <p:txBody>
          <a:bodyPr wrap="square" lIns="0" rIns="0" tIns="0" bIns="0" anchor="t">
            <a:spAutoFit/>
          </a:bodyPr>
          <a:lstStyle/>
          <a:p>
            <a:pPr algn="l">
              <a:lnSpc>
                <a:spcPct val="120000"/>
              </a:lnSpc>
            </a:pPr>
            <a:r>
              <a:rPr sz="800" b="1" i="0" spc="200">
                <a:solidFill>
                  <a:srgbClr val="06B6D4"/>
                </a:solidFill>
                <a:latin typeface="思源黑体 CN"/>
              </a:rPr>
              <a:t>高新产业承载区</a:t>
            </a:r>
          </a:p>
        </p:txBody>
      </p:sp>
      <p:sp>
        <p:nvSpPr>
          <p:cNvPr id="32" name="TextBox 31"/>
          <p:cNvSpPr txBox="1"/>
          <p:nvPr/>
        </p:nvSpPr>
        <p:spPr>
          <a:xfrm>
            <a:off x="8961120" y="406908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向阳工业互联网基地</a:t>
            </a:r>
          </a:p>
        </p:txBody>
      </p:sp>
      <p:sp>
        <p:nvSpPr>
          <p:cNvPr id="33" name="TextBox 32"/>
          <p:cNvSpPr txBox="1"/>
          <p:nvPr/>
        </p:nvSpPr>
        <p:spPr>
          <a:xfrm>
            <a:off x="6263640" y="4480560"/>
            <a:ext cx="2606040" cy="292608"/>
          </a:xfrm>
          <a:prstGeom prst="rect">
            <a:avLst/>
          </a:prstGeom>
          <a:noFill/>
        </p:spPr>
        <p:txBody>
          <a:bodyPr wrap="square" lIns="0" rIns="0" tIns="0" bIns="0" anchor="t">
            <a:spAutoFit/>
          </a:bodyPr>
          <a:lstStyle/>
          <a:p>
            <a:pPr algn="l">
              <a:lnSpc>
                <a:spcPct val="120000"/>
              </a:lnSpc>
            </a:pPr>
            <a:r>
              <a:rPr sz="800" b="1" i="0" spc="200">
                <a:solidFill>
                  <a:srgbClr val="F59E0B"/>
                </a:solidFill>
                <a:latin typeface="思源黑体 CN"/>
              </a:rPr>
              <a:t>先进制造业</a:t>
            </a:r>
          </a:p>
        </p:txBody>
      </p:sp>
      <p:sp>
        <p:nvSpPr>
          <p:cNvPr id="34" name="TextBox 33"/>
          <p:cNvSpPr txBox="1"/>
          <p:nvPr/>
        </p:nvSpPr>
        <p:spPr>
          <a:xfrm>
            <a:off x="6263640" y="470916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闵行经济技术开发区</a:t>
            </a:r>
          </a:p>
        </p:txBody>
      </p:sp>
      <p:sp>
        <p:nvSpPr>
          <p:cNvPr id="35" name="TextBox 34"/>
          <p:cNvSpPr txBox="1"/>
          <p:nvPr/>
        </p:nvSpPr>
        <p:spPr>
          <a:xfrm>
            <a:off x="8961120" y="4480560"/>
            <a:ext cx="2606040" cy="292608"/>
          </a:xfrm>
          <a:prstGeom prst="rect">
            <a:avLst/>
          </a:prstGeom>
          <a:noFill/>
        </p:spPr>
        <p:txBody>
          <a:bodyPr wrap="square" lIns="0" rIns="0" tIns="0" bIns="0" anchor="t">
            <a:spAutoFit/>
          </a:bodyPr>
          <a:lstStyle/>
          <a:p>
            <a:pPr algn="l">
              <a:lnSpc>
                <a:spcPct val="120000"/>
              </a:lnSpc>
            </a:pPr>
            <a:r>
              <a:rPr sz="800" b="1" i="0" spc="200">
                <a:solidFill>
                  <a:srgbClr val="F59E0B"/>
                </a:solidFill>
                <a:latin typeface="思源黑体 CN"/>
              </a:rPr>
              <a:t>先进制造业</a:t>
            </a:r>
          </a:p>
        </p:txBody>
      </p:sp>
      <p:sp>
        <p:nvSpPr>
          <p:cNvPr id="36" name="TextBox 35"/>
          <p:cNvSpPr txBox="1"/>
          <p:nvPr/>
        </p:nvSpPr>
        <p:spPr>
          <a:xfrm>
            <a:off x="8961120" y="470916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莘庄工业区</a:t>
            </a:r>
          </a:p>
        </p:txBody>
      </p:sp>
      <p:sp>
        <p:nvSpPr>
          <p:cNvPr id="37" name="TextBox 36"/>
          <p:cNvSpPr txBox="1"/>
          <p:nvPr/>
        </p:nvSpPr>
        <p:spPr>
          <a:xfrm>
            <a:off x="6263640" y="5120640"/>
            <a:ext cx="2606040" cy="292608"/>
          </a:xfrm>
          <a:prstGeom prst="rect">
            <a:avLst/>
          </a:prstGeom>
          <a:noFill/>
        </p:spPr>
        <p:txBody>
          <a:bodyPr wrap="square" lIns="0" rIns="0" tIns="0" bIns="0" anchor="t">
            <a:spAutoFit/>
          </a:bodyPr>
          <a:lstStyle/>
          <a:p>
            <a:pPr algn="l">
              <a:lnSpc>
                <a:spcPct val="120000"/>
              </a:lnSpc>
            </a:pPr>
            <a:r>
              <a:rPr sz="800" b="1" i="0" spc="200">
                <a:solidFill>
                  <a:srgbClr val="10B981"/>
                </a:solidFill>
                <a:latin typeface="思源黑体 CN"/>
              </a:rPr>
              <a:t>战略产业</a:t>
            </a:r>
          </a:p>
        </p:txBody>
      </p:sp>
      <p:sp>
        <p:nvSpPr>
          <p:cNvPr id="38" name="TextBox 37"/>
          <p:cNvSpPr txBox="1"/>
          <p:nvPr/>
        </p:nvSpPr>
        <p:spPr>
          <a:xfrm>
            <a:off x="6263640" y="534924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上海航天产业基地</a:t>
            </a:r>
          </a:p>
        </p:txBody>
      </p:sp>
      <p:sp>
        <p:nvSpPr>
          <p:cNvPr id="39" name="TextBox 38"/>
          <p:cNvSpPr txBox="1"/>
          <p:nvPr/>
        </p:nvSpPr>
        <p:spPr>
          <a:xfrm>
            <a:off x="8961120" y="5120640"/>
            <a:ext cx="2606040" cy="292608"/>
          </a:xfrm>
          <a:prstGeom prst="rect">
            <a:avLst/>
          </a:prstGeom>
          <a:noFill/>
        </p:spPr>
        <p:txBody>
          <a:bodyPr wrap="square" lIns="0" rIns="0" tIns="0" bIns="0" anchor="t">
            <a:spAutoFit/>
          </a:bodyPr>
          <a:lstStyle/>
          <a:p>
            <a:pPr algn="l">
              <a:lnSpc>
                <a:spcPct val="120000"/>
              </a:lnSpc>
            </a:pPr>
            <a:r>
              <a:rPr sz="800" b="1" i="0" spc="200">
                <a:solidFill>
                  <a:srgbClr val="10B981"/>
                </a:solidFill>
                <a:latin typeface="思源黑体 CN"/>
              </a:rPr>
              <a:t>战略产业</a:t>
            </a:r>
          </a:p>
        </p:txBody>
      </p:sp>
      <p:sp>
        <p:nvSpPr>
          <p:cNvPr id="40" name="TextBox 39"/>
          <p:cNvSpPr txBox="1"/>
          <p:nvPr/>
        </p:nvSpPr>
        <p:spPr>
          <a:xfrm>
            <a:off x="8961120" y="5349240"/>
            <a:ext cx="2606040" cy="365760"/>
          </a:xfrm>
          <a:prstGeom prst="rect">
            <a:avLst/>
          </a:prstGeom>
          <a:noFill/>
        </p:spPr>
        <p:txBody>
          <a:bodyPr wrap="square" lIns="0" rIns="0" tIns="0" bIns="0" anchor="t">
            <a:spAutoFit/>
          </a:bodyPr>
          <a:lstStyle/>
          <a:p>
            <a:pPr algn="l">
              <a:lnSpc>
                <a:spcPct val="120000"/>
              </a:lnSpc>
            </a:pPr>
            <a:r>
              <a:rPr sz="1000" b="0" i="0">
                <a:solidFill>
                  <a:srgbClr val="ECECF4"/>
                </a:solidFill>
                <a:latin typeface="思源黑体 CN"/>
              </a:rPr>
              <a:t>马桥人工智能创新试验区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06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01 · 项目概况篇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（四）交通辐射 · TRAFFIC RADIATION</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科创新城南拓客厅  ·  主城南轴，通达全城</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元江路定位为闵行南部科创功能轴、东西交通主廊、产城融合纽带。</a:t>
            </a:r>
          </a:p>
        </p:txBody>
      </p:sp>
      <p:sp>
        <p:nvSpPr>
          <p:cNvPr id="11" name="Rounded Rectangle 10"/>
          <p:cNvSpPr/>
          <p:nvPr/>
        </p:nvSpPr>
        <p:spPr>
          <a:xfrm>
            <a:off x="640080" y="260604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92608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2608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14" name="TextBox 13"/>
          <p:cNvSpPr txBox="1"/>
          <p:nvPr/>
        </p:nvSpPr>
        <p:spPr>
          <a:xfrm>
            <a:off x="1920240" y="288036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紫竹高新区</a:t>
            </a:r>
          </a:p>
        </p:txBody>
      </p:sp>
      <p:sp>
        <p:nvSpPr>
          <p:cNvPr id="15" name="TextBox 14"/>
          <p:cNvSpPr txBox="1"/>
          <p:nvPr/>
        </p:nvSpPr>
        <p:spPr>
          <a:xfrm>
            <a:off x="1920240" y="3291840"/>
            <a:ext cx="2194560" cy="365760"/>
          </a:xfrm>
          <a:prstGeom prst="rect">
            <a:avLst/>
          </a:prstGeom>
          <a:noFill/>
        </p:spPr>
        <p:txBody>
          <a:bodyPr wrap="square" lIns="0" rIns="0" tIns="0" bIns="0" anchor="t">
            <a:spAutoFit/>
          </a:bodyPr>
          <a:lstStyle/>
          <a:p>
            <a:pPr algn="l">
              <a:lnSpc>
                <a:spcPct val="120000"/>
              </a:lnSpc>
            </a:pPr>
            <a:r>
              <a:rPr sz="1600" b="1" i="0">
                <a:solidFill>
                  <a:srgbClr val="FF4F8B"/>
                </a:solidFill>
                <a:latin typeface="Inter"/>
              </a:rPr>
              <a:t>5 km</a:t>
            </a:r>
          </a:p>
        </p:txBody>
      </p:sp>
      <p:sp>
        <p:nvSpPr>
          <p:cNvPr id="16" name="TextBox 15"/>
          <p:cNvSpPr txBox="1"/>
          <p:nvPr/>
        </p:nvSpPr>
        <p:spPr>
          <a:xfrm>
            <a:off x="1920240" y="365760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车程 10 min</a:t>
            </a:r>
          </a:p>
        </p:txBody>
      </p:sp>
      <p:sp>
        <p:nvSpPr>
          <p:cNvPr id="17" name="Rounded Rectangle 16"/>
          <p:cNvSpPr/>
          <p:nvPr/>
        </p:nvSpPr>
        <p:spPr>
          <a:xfrm>
            <a:off x="4389120" y="260604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17720" y="292608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292608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20" name="TextBox 19"/>
          <p:cNvSpPr txBox="1"/>
          <p:nvPr/>
        </p:nvSpPr>
        <p:spPr>
          <a:xfrm>
            <a:off x="5669280" y="288036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申嘉湖高速入口</a:t>
            </a:r>
          </a:p>
        </p:txBody>
      </p:sp>
      <p:sp>
        <p:nvSpPr>
          <p:cNvPr id="21" name="TextBox 20"/>
          <p:cNvSpPr txBox="1"/>
          <p:nvPr/>
        </p:nvSpPr>
        <p:spPr>
          <a:xfrm>
            <a:off x="5669280" y="3291840"/>
            <a:ext cx="2194560" cy="365760"/>
          </a:xfrm>
          <a:prstGeom prst="rect">
            <a:avLst/>
          </a:prstGeom>
          <a:noFill/>
        </p:spPr>
        <p:txBody>
          <a:bodyPr wrap="square" lIns="0" rIns="0" tIns="0" bIns="0" anchor="t">
            <a:spAutoFit/>
          </a:bodyPr>
          <a:lstStyle/>
          <a:p>
            <a:pPr algn="l">
              <a:lnSpc>
                <a:spcPct val="120000"/>
              </a:lnSpc>
            </a:pPr>
            <a:r>
              <a:rPr sz="1600" b="1" i="0">
                <a:solidFill>
                  <a:srgbClr val="8B5CF6"/>
                </a:solidFill>
                <a:latin typeface="Inter"/>
              </a:rPr>
              <a:t>4 km</a:t>
            </a:r>
          </a:p>
        </p:txBody>
      </p:sp>
      <p:sp>
        <p:nvSpPr>
          <p:cNvPr id="22" name="TextBox 21"/>
          <p:cNvSpPr txBox="1"/>
          <p:nvPr/>
        </p:nvSpPr>
        <p:spPr>
          <a:xfrm>
            <a:off x="5669280" y="365760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车程 15 min</a:t>
            </a:r>
          </a:p>
        </p:txBody>
      </p:sp>
      <p:sp>
        <p:nvSpPr>
          <p:cNvPr id="23" name="Rounded Rectangle 22"/>
          <p:cNvSpPr/>
          <p:nvPr/>
        </p:nvSpPr>
        <p:spPr>
          <a:xfrm>
            <a:off x="8138159" y="260604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66759" y="292608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59" y="292608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26" name="TextBox 25"/>
          <p:cNvSpPr txBox="1"/>
          <p:nvPr/>
        </p:nvSpPr>
        <p:spPr>
          <a:xfrm>
            <a:off x="9418319" y="288036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浦东国际机场</a:t>
            </a:r>
          </a:p>
        </p:txBody>
      </p:sp>
      <p:sp>
        <p:nvSpPr>
          <p:cNvPr id="27" name="TextBox 26"/>
          <p:cNvSpPr txBox="1"/>
          <p:nvPr/>
        </p:nvSpPr>
        <p:spPr>
          <a:xfrm>
            <a:off x="9418319" y="3291840"/>
            <a:ext cx="2194560" cy="365760"/>
          </a:xfrm>
          <a:prstGeom prst="rect">
            <a:avLst/>
          </a:prstGeom>
          <a:noFill/>
        </p:spPr>
        <p:txBody>
          <a:bodyPr wrap="square" lIns="0" rIns="0" tIns="0" bIns="0" anchor="t">
            <a:spAutoFit/>
          </a:bodyPr>
          <a:lstStyle/>
          <a:p>
            <a:pPr algn="l">
              <a:lnSpc>
                <a:spcPct val="120000"/>
              </a:lnSpc>
            </a:pPr>
            <a:r>
              <a:rPr sz="1600" b="1" i="0">
                <a:solidFill>
                  <a:srgbClr val="06B6D4"/>
                </a:solidFill>
                <a:latin typeface="Inter"/>
              </a:rPr>
              <a:t>36 km</a:t>
            </a:r>
          </a:p>
        </p:txBody>
      </p:sp>
      <p:sp>
        <p:nvSpPr>
          <p:cNvPr id="28" name="TextBox 27"/>
          <p:cNvSpPr txBox="1"/>
          <p:nvPr/>
        </p:nvSpPr>
        <p:spPr>
          <a:xfrm>
            <a:off x="9418319" y="365760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车程 1.5 h · 快线 1 h</a:t>
            </a:r>
          </a:p>
        </p:txBody>
      </p:sp>
      <p:sp>
        <p:nvSpPr>
          <p:cNvPr id="29" name="Rounded Rectangle 28"/>
          <p:cNvSpPr/>
          <p:nvPr/>
        </p:nvSpPr>
        <p:spPr>
          <a:xfrm>
            <a:off x="640080" y="438912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8680" y="470916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70916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32" name="TextBox 31"/>
          <p:cNvSpPr txBox="1"/>
          <p:nvPr/>
        </p:nvSpPr>
        <p:spPr>
          <a:xfrm>
            <a:off x="1920240" y="466344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虹桥国际机场</a:t>
            </a:r>
          </a:p>
        </p:txBody>
      </p:sp>
      <p:sp>
        <p:nvSpPr>
          <p:cNvPr id="33" name="TextBox 32"/>
          <p:cNvSpPr txBox="1"/>
          <p:nvPr/>
        </p:nvSpPr>
        <p:spPr>
          <a:xfrm>
            <a:off x="1920240" y="5074920"/>
            <a:ext cx="2194560" cy="365760"/>
          </a:xfrm>
          <a:prstGeom prst="rect">
            <a:avLst/>
          </a:prstGeom>
          <a:noFill/>
        </p:spPr>
        <p:txBody>
          <a:bodyPr wrap="square" lIns="0" rIns="0" tIns="0" bIns="0" anchor="t">
            <a:spAutoFit/>
          </a:bodyPr>
          <a:lstStyle/>
          <a:p>
            <a:pPr algn="l">
              <a:lnSpc>
                <a:spcPct val="120000"/>
              </a:lnSpc>
            </a:pPr>
            <a:r>
              <a:rPr sz="1600" b="1" i="0">
                <a:solidFill>
                  <a:srgbClr val="F59E0B"/>
                </a:solidFill>
                <a:latin typeface="Inter"/>
              </a:rPr>
              <a:t>17 km</a:t>
            </a:r>
          </a:p>
        </p:txBody>
      </p:sp>
      <p:sp>
        <p:nvSpPr>
          <p:cNvPr id="34" name="TextBox 33"/>
          <p:cNvSpPr txBox="1"/>
          <p:nvPr/>
        </p:nvSpPr>
        <p:spPr>
          <a:xfrm>
            <a:off x="1920240" y="544068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车程 1 h · 快线 45 min</a:t>
            </a:r>
          </a:p>
        </p:txBody>
      </p:sp>
      <p:sp>
        <p:nvSpPr>
          <p:cNvPr id="35" name="Rounded Rectangle 34"/>
          <p:cNvSpPr/>
          <p:nvPr/>
        </p:nvSpPr>
        <p:spPr>
          <a:xfrm>
            <a:off x="4389120" y="438912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617720" y="470916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470916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38" name="TextBox 37"/>
          <p:cNvSpPr txBox="1"/>
          <p:nvPr/>
        </p:nvSpPr>
        <p:spPr>
          <a:xfrm>
            <a:off x="5669280" y="466344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大学城</a:t>
            </a:r>
          </a:p>
        </p:txBody>
      </p:sp>
      <p:sp>
        <p:nvSpPr>
          <p:cNvPr id="39" name="TextBox 38"/>
          <p:cNvSpPr txBox="1"/>
          <p:nvPr/>
        </p:nvSpPr>
        <p:spPr>
          <a:xfrm>
            <a:off x="5669280" y="5074920"/>
            <a:ext cx="2194560" cy="365760"/>
          </a:xfrm>
          <a:prstGeom prst="rect">
            <a:avLst/>
          </a:prstGeom>
          <a:noFill/>
        </p:spPr>
        <p:txBody>
          <a:bodyPr wrap="square" lIns="0" rIns="0" tIns="0" bIns="0" anchor="t">
            <a:spAutoFit/>
          </a:bodyPr>
          <a:lstStyle/>
          <a:p>
            <a:pPr algn="l">
              <a:lnSpc>
                <a:spcPct val="120000"/>
              </a:lnSpc>
            </a:pPr>
            <a:r>
              <a:rPr sz="1600" b="1" i="0">
                <a:solidFill>
                  <a:srgbClr val="10B981"/>
                </a:solidFill>
                <a:latin typeface="Inter"/>
              </a:rPr>
              <a:t>4 km</a:t>
            </a:r>
          </a:p>
        </p:txBody>
      </p:sp>
      <p:sp>
        <p:nvSpPr>
          <p:cNvPr id="40" name="TextBox 39"/>
          <p:cNvSpPr txBox="1"/>
          <p:nvPr/>
        </p:nvSpPr>
        <p:spPr>
          <a:xfrm>
            <a:off x="5669280" y="544068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车程 10 min · 地铁直达</a:t>
            </a:r>
          </a:p>
        </p:txBody>
      </p:sp>
      <p:sp>
        <p:nvSpPr>
          <p:cNvPr id="41" name="Rounded Rectangle 40"/>
          <p:cNvSpPr/>
          <p:nvPr/>
        </p:nvSpPr>
        <p:spPr>
          <a:xfrm>
            <a:off x="8138159" y="4389120"/>
            <a:ext cx="3566160" cy="155448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366759" y="4709160"/>
            <a:ext cx="914400" cy="914400"/>
          </a:xfrm>
          <a:prstGeom prst="roundRect">
            <a:avLst>
              <a:gd name="adj" fmla="val 18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66759" y="4709160"/>
            <a:ext cx="914400" cy="914400"/>
          </a:xfrm>
          <a:prstGeom prst="rect">
            <a:avLst/>
          </a:prstGeom>
          <a:noFill/>
        </p:spPr>
        <p:txBody>
          <a:bodyPr wrap="square" lIns="0" rIns="0" tIns="0" bIns="0" anchor="ctr">
            <a:spAutoFit/>
          </a:bodyPr>
          <a:lstStyle/>
          <a:p>
            <a:pPr algn="ctr">
              <a:lnSpc>
                <a:spcPct val="120000"/>
              </a:lnSpc>
            </a:pPr>
            <a:r>
              <a:rPr sz="3000" b="0" i="0">
                <a:solidFill>
                  <a:srgbClr val="ECECF4"/>
                </a:solidFill>
                <a:latin typeface="思源黑体 CN"/>
              </a:rPr>
              <a:t>Ⓜ️</a:t>
            </a:r>
          </a:p>
        </p:txBody>
      </p:sp>
      <p:sp>
        <p:nvSpPr>
          <p:cNvPr id="44" name="TextBox 43"/>
          <p:cNvSpPr txBox="1"/>
          <p:nvPr/>
        </p:nvSpPr>
        <p:spPr>
          <a:xfrm>
            <a:off x="9418319" y="4663440"/>
            <a:ext cx="2194560" cy="365760"/>
          </a:xfrm>
          <a:prstGeom prst="rect">
            <a:avLst/>
          </a:prstGeom>
          <a:noFill/>
        </p:spPr>
        <p:txBody>
          <a:bodyPr wrap="square" lIns="0" rIns="0" tIns="0" bIns="0" anchor="t">
            <a:spAutoFit/>
          </a:bodyPr>
          <a:lstStyle/>
          <a:p>
            <a:pPr algn="l">
              <a:lnSpc>
                <a:spcPct val="120000"/>
              </a:lnSpc>
            </a:pPr>
            <a:r>
              <a:rPr sz="1400" b="1" i="0">
                <a:solidFill>
                  <a:srgbClr val="ECECF4"/>
                </a:solidFill>
                <a:latin typeface="思源黑体 CN"/>
              </a:rPr>
              <a:t>15 号线元江路 TOD</a:t>
            </a:r>
          </a:p>
        </p:txBody>
      </p:sp>
      <p:sp>
        <p:nvSpPr>
          <p:cNvPr id="45" name="TextBox 44"/>
          <p:cNvSpPr txBox="1"/>
          <p:nvPr/>
        </p:nvSpPr>
        <p:spPr>
          <a:xfrm>
            <a:off x="9418319" y="5074920"/>
            <a:ext cx="2194560" cy="365760"/>
          </a:xfrm>
          <a:prstGeom prst="rect">
            <a:avLst/>
          </a:prstGeom>
          <a:noFill/>
        </p:spPr>
        <p:txBody>
          <a:bodyPr wrap="square" lIns="0" rIns="0" tIns="0" bIns="0" anchor="t">
            <a:spAutoFit/>
          </a:bodyPr>
          <a:lstStyle/>
          <a:p>
            <a:pPr algn="l">
              <a:lnSpc>
                <a:spcPct val="120000"/>
              </a:lnSpc>
            </a:pPr>
            <a:r>
              <a:rPr sz="1600" b="1" i="0">
                <a:solidFill>
                  <a:srgbClr val="FF4F8B"/>
                </a:solidFill>
                <a:latin typeface="Inter"/>
              </a:rPr>
              <a:t>日均 5–7 万人次</a:t>
            </a:r>
          </a:p>
        </p:txBody>
      </p:sp>
      <p:sp>
        <p:nvSpPr>
          <p:cNvPr id="46" name="TextBox 45"/>
          <p:cNvSpPr txBox="1"/>
          <p:nvPr/>
        </p:nvSpPr>
        <p:spPr>
          <a:xfrm>
            <a:off x="9418319" y="5440680"/>
            <a:ext cx="219456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主干轨交节点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07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01 · 项目概况篇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（五）立足周边 · SURROUNDINGS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产业氛围浓厚成熟  ·  人居环境持续优化</a:t>
            </a:r>
          </a:p>
        </p:txBody>
      </p:sp>
      <p:sp>
        <p:nvSpPr>
          <p:cNvPr id="10" name="Rounded Rectangle 9"/>
          <p:cNvSpPr/>
          <p:nvPr/>
        </p:nvSpPr>
        <p:spPr>
          <a:xfrm>
            <a:off x="640080" y="2468880"/>
            <a:ext cx="3566160" cy="201168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06040"/>
            <a:ext cx="3566160" cy="1097280"/>
          </a:xfrm>
          <a:prstGeom prst="rect">
            <a:avLst/>
          </a:prstGeom>
          <a:noFill/>
        </p:spPr>
        <p:txBody>
          <a:bodyPr wrap="square" lIns="0" rIns="0" tIns="0" bIns="0" anchor="t">
            <a:spAutoFit/>
          </a:bodyPr>
          <a:lstStyle/>
          <a:p>
            <a:pPr algn="ctr">
              <a:lnSpc>
                <a:spcPct val="100000"/>
              </a:lnSpc>
            </a:pPr>
            <a:r>
              <a:rPr sz="7200" b="1" i="0">
                <a:solidFill>
                  <a:srgbClr val="FF4F8B"/>
                </a:solidFill>
                <a:latin typeface="Inter"/>
              </a:rPr>
              <a:t>24</a:t>
            </a:r>
          </a:p>
        </p:txBody>
      </p:sp>
      <p:sp>
        <p:nvSpPr>
          <p:cNvPr id="12" name="TextBox 11"/>
          <p:cNvSpPr txBox="1"/>
          <p:nvPr/>
        </p:nvSpPr>
        <p:spPr>
          <a:xfrm>
            <a:off x="2651760" y="2788920"/>
            <a:ext cx="1371600" cy="548640"/>
          </a:xfrm>
          <a:prstGeom prst="rect">
            <a:avLst/>
          </a:prstGeom>
          <a:noFill/>
        </p:spPr>
        <p:txBody>
          <a:bodyPr wrap="square" lIns="0" rIns="0" tIns="0" bIns="0" anchor="t">
            <a:spAutoFit/>
          </a:bodyPr>
          <a:lstStyle/>
          <a:p>
            <a:pPr algn="l">
              <a:lnSpc>
                <a:spcPct val="120000"/>
              </a:lnSpc>
            </a:pPr>
            <a:r>
              <a:rPr sz="1800" b="1" i="0">
                <a:solidFill>
                  <a:srgbClr val="ECECF4"/>
                </a:solidFill>
                <a:latin typeface="思源黑体 CN"/>
              </a:rPr>
              <a:t>万</a:t>
            </a:r>
          </a:p>
        </p:txBody>
      </p:sp>
      <p:sp>
        <p:nvSpPr>
          <p:cNvPr id="13" name="TextBox 12"/>
          <p:cNvSpPr txBox="1"/>
          <p:nvPr/>
        </p:nvSpPr>
        <p:spPr>
          <a:xfrm>
            <a:off x="640080" y="3703320"/>
            <a:ext cx="3566160" cy="731520"/>
          </a:xfrm>
          <a:prstGeom prst="rect">
            <a:avLst/>
          </a:prstGeom>
          <a:noFill/>
        </p:spPr>
        <p:txBody>
          <a:bodyPr wrap="square" lIns="0" rIns="0" tIns="0" bIns="0" anchor="t">
            <a:spAutoFit/>
          </a:bodyPr>
          <a:lstStyle/>
          <a:p>
            <a:pPr algn="ctr">
              <a:lnSpc>
                <a:spcPct val="140000"/>
              </a:lnSpc>
            </a:pPr>
            <a:r>
              <a:rPr sz="1200" b="0" i="0">
                <a:solidFill>
                  <a:srgbClr val="9AA0B8"/>
                </a:solidFill>
                <a:latin typeface="思源黑体 CN"/>
              </a:rPr>
              <a:t>15 分钟车行覆盖</a:t>
            </a:r>
          </a:p>
          <a:p>
            <a:pPr algn="ctr">
              <a:lnSpc>
                <a:spcPct val="140000"/>
              </a:lnSpc>
            </a:pPr>
            <a:r>
              <a:rPr sz="1200" b="0" i="0">
                <a:solidFill>
                  <a:srgbClr val="9AA0B8"/>
                </a:solidFill>
                <a:latin typeface="思源黑体 CN"/>
              </a:rPr>
              <a:t>居住人口</a:t>
            </a:r>
          </a:p>
        </p:txBody>
      </p:sp>
      <p:sp>
        <p:nvSpPr>
          <p:cNvPr id="14" name="Rounded Rectangle 13"/>
          <p:cNvSpPr/>
          <p:nvPr/>
        </p:nvSpPr>
        <p:spPr>
          <a:xfrm>
            <a:off x="4389120" y="2468880"/>
            <a:ext cx="3566160" cy="201168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606040"/>
            <a:ext cx="3566160" cy="1097280"/>
          </a:xfrm>
          <a:prstGeom prst="rect">
            <a:avLst/>
          </a:prstGeom>
          <a:noFill/>
        </p:spPr>
        <p:txBody>
          <a:bodyPr wrap="square" lIns="0" rIns="0" tIns="0" bIns="0" anchor="t">
            <a:spAutoFit/>
          </a:bodyPr>
          <a:lstStyle/>
          <a:p>
            <a:pPr algn="ctr">
              <a:lnSpc>
                <a:spcPct val="100000"/>
              </a:lnSpc>
            </a:pPr>
            <a:r>
              <a:rPr sz="7200" b="1" i="0">
                <a:solidFill>
                  <a:srgbClr val="8B5CF6"/>
                </a:solidFill>
                <a:latin typeface="Inter"/>
              </a:rPr>
              <a:t>12</a:t>
            </a:r>
          </a:p>
        </p:txBody>
      </p:sp>
      <p:sp>
        <p:nvSpPr>
          <p:cNvPr id="16" name="TextBox 15"/>
          <p:cNvSpPr txBox="1"/>
          <p:nvPr/>
        </p:nvSpPr>
        <p:spPr>
          <a:xfrm>
            <a:off x="6400800" y="2788920"/>
            <a:ext cx="1371600" cy="548640"/>
          </a:xfrm>
          <a:prstGeom prst="rect">
            <a:avLst/>
          </a:prstGeom>
          <a:noFill/>
        </p:spPr>
        <p:txBody>
          <a:bodyPr wrap="square" lIns="0" rIns="0" tIns="0" bIns="0" anchor="t">
            <a:spAutoFit/>
          </a:bodyPr>
          <a:lstStyle/>
          <a:p>
            <a:pPr algn="l">
              <a:lnSpc>
                <a:spcPct val="120000"/>
              </a:lnSpc>
            </a:pPr>
            <a:r>
              <a:rPr sz="1800" b="1" i="0">
                <a:solidFill>
                  <a:srgbClr val="ECECF4"/>
                </a:solidFill>
                <a:latin typeface="思源黑体 CN"/>
              </a:rPr>
              <a:t>万</a:t>
            </a:r>
          </a:p>
        </p:txBody>
      </p:sp>
      <p:sp>
        <p:nvSpPr>
          <p:cNvPr id="17" name="TextBox 16"/>
          <p:cNvSpPr txBox="1"/>
          <p:nvPr/>
        </p:nvSpPr>
        <p:spPr>
          <a:xfrm>
            <a:off x="4389120" y="3703320"/>
            <a:ext cx="3566160" cy="731520"/>
          </a:xfrm>
          <a:prstGeom prst="rect">
            <a:avLst/>
          </a:prstGeom>
          <a:noFill/>
        </p:spPr>
        <p:txBody>
          <a:bodyPr wrap="square" lIns="0" rIns="0" tIns="0" bIns="0" anchor="t">
            <a:spAutoFit/>
          </a:bodyPr>
          <a:lstStyle/>
          <a:p>
            <a:pPr algn="ctr">
              <a:lnSpc>
                <a:spcPct val="140000"/>
              </a:lnSpc>
            </a:pPr>
            <a:r>
              <a:rPr sz="1200" b="0" i="0">
                <a:solidFill>
                  <a:srgbClr val="9AA0B8"/>
                </a:solidFill>
                <a:latin typeface="思源黑体 CN"/>
              </a:rPr>
              <a:t>15 分钟车行覆盖</a:t>
            </a:r>
          </a:p>
          <a:p>
            <a:pPr algn="ctr">
              <a:lnSpc>
                <a:spcPct val="140000"/>
              </a:lnSpc>
            </a:pPr>
            <a:r>
              <a:rPr sz="1200" b="0" i="0">
                <a:solidFill>
                  <a:srgbClr val="9AA0B8"/>
                </a:solidFill>
                <a:latin typeface="思源黑体 CN"/>
              </a:rPr>
              <a:t>产业办公人口</a:t>
            </a:r>
          </a:p>
        </p:txBody>
      </p:sp>
      <p:sp>
        <p:nvSpPr>
          <p:cNvPr id="18" name="Rounded Rectangle 17"/>
          <p:cNvSpPr/>
          <p:nvPr/>
        </p:nvSpPr>
        <p:spPr>
          <a:xfrm>
            <a:off x="8138159" y="2468880"/>
            <a:ext cx="3566160" cy="201168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59" y="2606040"/>
            <a:ext cx="3566160" cy="1097280"/>
          </a:xfrm>
          <a:prstGeom prst="rect">
            <a:avLst/>
          </a:prstGeom>
          <a:noFill/>
        </p:spPr>
        <p:txBody>
          <a:bodyPr wrap="square" lIns="0" rIns="0" tIns="0" bIns="0" anchor="t">
            <a:spAutoFit/>
          </a:bodyPr>
          <a:lstStyle/>
          <a:p>
            <a:pPr algn="ctr">
              <a:lnSpc>
                <a:spcPct val="100000"/>
              </a:lnSpc>
            </a:pPr>
            <a:r>
              <a:rPr sz="7200" b="1" i="0">
                <a:solidFill>
                  <a:srgbClr val="06B6D4"/>
                </a:solidFill>
                <a:latin typeface="Inter"/>
              </a:rPr>
              <a:t>3</a:t>
            </a:r>
          </a:p>
        </p:txBody>
      </p:sp>
      <p:sp>
        <p:nvSpPr>
          <p:cNvPr id="20" name="TextBox 19"/>
          <p:cNvSpPr txBox="1"/>
          <p:nvPr/>
        </p:nvSpPr>
        <p:spPr>
          <a:xfrm>
            <a:off x="10149839" y="2788920"/>
            <a:ext cx="1371600" cy="548640"/>
          </a:xfrm>
          <a:prstGeom prst="rect">
            <a:avLst/>
          </a:prstGeom>
          <a:noFill/>
        </p:spPr>
        <p:txBody>
          <a:bodyPr wrap="square" lIns="0" rIns="0" tIns="0" bIns="0" anchor="t">
            <a:spAutoFit/>
          </a:bodyPr>
          <a:lstStyle/>
          <a:p>
            <a:pPr algn="l">
              <a:lnSpc>
                <a:spcPct val="120000"/>
              </a:lnSpc>
            </a:pPr>
            <a:r>
              <a:rPr sz="1800" b="1" i="0">
                <a:solidFill>
                  <a:srgbClr val="ECECF4"/>
                </a:solidFill>
                <a:latin typeface="思源黑体 CN"/>
              </a:rPr>
              <a:t>km</a:t>
            </a:r>
          </a:p>
        </p:txBody>
      </p:sp>
      <p:sp>
        <p:nvSpPr>
          <p:cNvPr id="21" name="TextBox 20"/>
          <p:cNvSpPr txBox="1"/>
          <p:nvPr/>
        </p:nvSpPr>
        <p:spPr>
          <a:xfrm>
            <a:off x="8138159" y="3703320"/>
            <a:ext cx="3566160" cy="731520"/>
          </a:xfrm>
          <a:prstGeom prst="rect">
            <a:avLst/>
          </a:prstGeom>
          <a:noFill/>
        </p:spPr>
        <p:txBody>
          <a:bodyPr wrap="square" lIns="0" rIns="0" tIns="0" bIns="0" anchor="t">
            <a:spAutoFit/>
          </a:bodyPr>
          <a:lstStyle/>
          <a:p>
            <a:pPr algn="ctr">
              <a:lnSpc>
                <a:spcPct val="140000"/>
              </a:lnSpc>
            </a:pPr>
            <a:r>
              <a:rPr sz="1200" b="0" i="0">
                <a:solidFill>
                  <a:srgbClr val="9AA0B8"/>
                </a:solidFill>
                <a:latin typeface="思源黑体 CN"/>
              </a:rPr>
              <a:t>范围内聚集大量</a:t>
            </a:r>
          </a:p>
          <a:p>
            <a:pPr algn="ctr">
              <a:lnSpc>
                <a:spcPct val="140000"/>
              </a:lnSpc>
            </a:pPr>
            <a:r>
              <a:rPr sz="1200" b="0" i="0">
                <a:solidFill>
                  <a:srgbClr val="9AA0B8"/>
                </a:solidFill>
                <a:latin typeface="思源黑体 CN"/>
              </a:rPr>
              <a:t>产业园 + 企业办公</a:t>
            </a:r>
          </a:p>
        </p:txBody>
      </p:sp>
      <p:sp>
        <p:nvSpPr>
          <p:cNvPr id="22" name="Rounded Rectangle 21"/>
          <p:cNvSpPr/>
          <p:nvPr/>
        </p:nvSpPr>
        <p:spPr>
          <a:xfrm>
            <a:off x="640080" y="4709160"/>
            <a:ext cx="10972800" cy="1463040"/>
          </a:xfrm>
          <a:prstGeom prst="roundRect">
            <a:avLst>
              <a:gd name="adj" fmla="val 4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00600"/>
            <a:ext cx="10058400" cy="365760"/>
          </a:xfrm>
          <a:prstGeom prst="rect">
            <a:avLst/>
          </a:prstGeom>
          <a:noFill/>
        </p:spPr>
        <p:txBody>
          <a:bodyPr wrap="square" lIns="0" rIns="0" tIns="0" bIns="0" anchor="t">
            <a:spAutoFit/>
          </a:bodyPr>
          <a:lstStyle/>
          <a:p>
            <a:pPr algn="l">
              <a:lnSpc>
                <a:spcPct val="120000"/>
              </a:lnSpc>
            </a:pPr>
            <a:r>
              <a:rPr sz="1000" b="1" i="0" spc="300">
                <a:solidFill>
                  <a:srgbClr val="FF4F8B"/>
                </a:solidFill>
                <a:latin typeface="思源黑体 CN"/>
              </a:rPr>
              <a:t>周边产业坐标 · ECOSYSTEM AROUND</a:t>
            </a:r>
          </a:p>
        </p:txBody>
      </p:sp>
      <p:sp>
        <p:nvSpPr>
          <p:cNvPr id="24" name="Rounded Rectangle 23"/>
          <p:cNvSpPr/>
          <p:nvPr/>
        </p:nvSpPr>
        <p:spPr>
          <a:xfrm>
            <a:off x="914400" y="521208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21208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森马产业</a:t>
            </a:r>
          </a:p>
        </p:txBody>
      </p:sp>
      <p:sp>
        <p:nvSpPr>
          <p:cNvPr id="26" name="Rounded Rectangle 25"/>
          <p:cNvSpPr/>
          <p:nvPr/>
        </p:nvSpPr>
        <p:spPr>
          <a:xfrm>
            <a:off x="1783080" y="521208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83080" y="521208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衣恋</a:t>
            </a:r>
          </a:p>
        </p:txBody>
      </p:sp>
      <p:sp>
        <p:nvSpPr>
          <p:cNvPr id="28" name="Rounded Rectangle 27"/>
          <p:cNvSpPr/>
          <p:nvPr/>
        </p:nvSpPr>
        <p:spPr>
          <a:xfrm>
            <a:off x="2651760" y="521208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51760" y="521208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普洛斯</a:t>
            </a:r>
          </a:p>
        </p:txBody>
      </p:sp>
      <p:sp>
        <p:nvSpPr>
          <p:cNvPr id="30" name="Rounded Rectangle 29"/>
          <p:cNvSpPr/>
          <p:nvPr/>
        </p:nvSpPr>
        <p:spPr>
          <a:xfrm>
            <a:off x="3520439" y="521208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39" y="521208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雅诗兰黛</a:t>
            </a:r>
          </a:p>
        </p:txBody>
      </p:sp>
      <p:sp>
        <p:nvSpPr>
          <p:cNvPr id="32" name="Rounded Rectangle 31"/>
          <p:cNvSpPr/>
          <p:nvPr/>
        </p:nvSpPr>
        <p:spPr>
          <a:xfrm>
            <a:off x="4389120" y="5212080"/>
            <a:ext cx="822959"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0" y="5212080"/>
            <a:ext cx="822959"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莲谷科技园</a:t>
            </a:r>
          </a:p>
        </p:txBody>
      </p:sp>
      <p:sp>
        <p:nvSpPr>
          <p:cNvPr id="34" name="Rounded Rectangle 33"/>
          <p:cNvSpPr/>
          <p:nvPr/>
        </p:nvSpPr>
        <p:spPr>
          <a:xfrm>
            <a:off x="5303520" y="5212080"/>
            <a:ext cx="987552"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0" y="5212080"/>
            <a:ext cx="987552"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保利光合跃城</a:t>
            </a:r>
          </a:p>
        </p:txBody>
      </p:sp>
      <p:sp>
        <p:nvSpPr>
          <p:cNvPr id="36" name="Rounded Rectangle 35"/>
          <p:cNvSpPr/>
          <p:nvPr/>
        </p:nvSpPr>
        <p:spPr>
          <a:xfrm>
            <a:off x="6382512" y="5212080"/>
            <a:ext cx="987552"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5212080"/>
            <a:ext cx="987552"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颛桥科技绿洲</a:t>
            </a:r>
          </a:p>
        </p:txBody>
      </p:sp>
      <p:sp>
        <p:nvSpPr>
          <p:cNvPr id="38" name="Rounded Rectangle 37"/>
          <p:cNvSpPr/>
          <p:nvPr/>
        </p:nvSpPr>
        <p:spPr>
          <a:xfrm>
            <a:off x="7461504" y="521208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61504" y="521208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拉夏贝尔</a:t>
            </a:r>
          </a:p>
        </p:txBody>
      </p:sp>
      <p:sp>
        <p:nvSpPr>
          <p:cNvPr id="40" name="Rounded Rectangle 39"/>
          <p:cNvSpPr/>
          <p:nvPr/>
        </p:nvSpPr>
        <p:spPr>
          <a:xfrm>
            <a:off x="8330183" y="5212080"/>
            <a:ext cx="1645919"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30183" y="5212080"/>
            <a:ext cx="1645919"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舜江集团总部 1 号</a:t>
            </a:r>
          </a:p>
        </p:txBody>
      </p:sp>
      <p:sp>
        <p:nvSpPr>
          <p:cNvPr id="42" name="Rounded Rectangle 41"/>
          <p:cNvSpPr/>
          <p:nvPr/>
        </p:nvSpPr>
        <p:spPr>
          <a:xfrm>
            <a:off x="10067544" y="5212080"/>
            <a:ext cx="822959"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67544" y="5212080"/>
            <a:ext cx="822959"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闵行物流园</a:t>
            </a:r>
          </a:p>
        </p:txBody>
      </p:sp>
      <p:sp>
        <p:nvSpPr>
          <p:cNvPr id="44" name="Rounded Rectangle 43"/>
          <p:cNvSpPr/>
          <p:nvPr/>
        </p:nvSpPr>
        <p:spPr>
          <a:xfrm>
            <a:off x="914400" y="5623560"/>
            <a:ext cx="777240"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623560"/>
            <a:ext cx="777240"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中建产研</a:t>
            </a:r>
          </a:p>
        </p:txBody>
      </p:sp>
      <p:sp>
        <p:nvSpPr>
          <p:cNvPr id="46" name="Rounded Rectangle 45"/>
          <p:cNvSpPr/>
          <p:nvPr/>
        </p:nvSpPr>
        <p:spPr>
          <a:xfrm>
            <a:off x="1783080" y="5623560"/>
            <a:ext cx="987552" cy="320040"/>
          </a:xfrm>
          <a:prstGeom prst="roundRect">
            <a:avLst>
              <a:gd name="adj" fmla="val 40000"/>
            </a:avLst>
          </a:prstGeom>
          <a:solidFill>
            <a:srgbClr val="222238"/>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83080" y="5623560"/>
            <a:ext cx="987552" cy="320040"/>
          </a:xfrm>
          <a:prstGeom prst="rect">
            <a:avLst/>
          </a:prstGeom>
          <a:noFill/>
        </p:spPr>
        <p:txBody>
          <a:bodyPr wrap="square" lIns="0" rIns="0" tIns="0" bIns="0" anchor="ctr">
            <a:spAutoFit/>
          </a:bodyPr>
          <a:lstStyle/>
          <a:p>
            <a:pPr algn="ctr">
              <a:lnSpc>
                <a:spcPct val="120000"/>
              </a:lnSpc>
            </a:pPr>
            <a:r>
              <a:rPr sz="900" b="0" i="0">
                <a:solidFill>
                  <a:srgbClr val="ECECF4"/>
                </a:solidFill>
                <a:latin typeface="思源黑体 CN"/>
              </a:rPr>
              <a:t>首开塘湾基地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08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01 · 项目概况篇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（六）项目概况 · SIX BUILDINGS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六栋楼宇 · 一座潮玩之城</a:t>
            </a:r>
          </a:p>
        </p:txBody>
      </p:sp>
      <p:sp>
        <p:nvSpPr>
          <p:cNvPr id="10" name="Rounded Rectangle 9"/>
          <p:cNvSpPr/>
          <p:nvPr/>
        </p:nvSpPr>
        <p:spPr>
          <a:xfrm>
            <a:off x="640080" y="1828800"/>
            <a:ext cx="10972800" cy="914400"/>
          </a:xfrm>
          <a:prstGeom prst="roundRect">
            <a:avLst>
              <a:gd name="adj" fmla="val 10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20240"/>
            <a:ext cx="3657600" cy="502920"/>
          </a:xfrm>
          <a:prstGeom prst="rect">
            <a:avLst/>
          </a:prstGeom>
          <a:noFill/>
        </p:spPr>
        <p:txBody>
          <a:bodyPr wrap="square" lIns="0" rIns="0" tIns="0" bIns="0" anchor="t">
            <a:spAutoFit/>
          </a:bodyPr>
          <a:lstStyle/>
          <a:p>
            <a:pPr algn="ctr">
              <a:lnSpc>
                <a:spcPct val="120000"/>
              </a:lnSpc>
            </a:pPr>
            <a:r>
              <a:rPr sz="2400" b="1" i="0">
                <a:solidFill>
                  <a:srgbClr val="FF4F8B"/>
                </a:solidFill>
                <a:latin typeface="Inter"/>
              </a:rPr>
              <a:t>22 万㎡</a:t>
            </a:r>
          </a:p>
        </p:txBody>
      </p:sp>
      <p:sp>
        <p:nvSpPr>
          <p:cNvPr id="12" name="TextBox 11"/>
          <p:cNvSpPr txBox="1"/>
          <p:nvPr/>
        </p:nvSpPr>
        <p:spPr>
          <a:xfrm>
            <a:off x="640080" y="2423160"/>
            <a:ext cx="3657600" cy="320040"/>
          </a:xfrm>
          <a:prstGeom prst="rect">
            <a:avLst/>
          </a:prstGeom>
          <a:noFill/>
        </p:spPr>
        <p:txBody>
          <a:bodyPr wrap="square" lIns="0" rIns="0" tIns="0" bIns="0" anchor="t">
            <a:spAutoFit/>
          </a:bodyPr>
          <a:lstStyle/>
          <a:p>
            <a:pPr algn="ctr">
              <a:lnSpc>
                <a:spcPct val="120000"/>
              </a:lnSpc>
            </a:pPr>
            <a:r>
              <a:rPr sz="1000" b="0" i="0" spc="300">
                <a:solidFill>
                  <a:srgbClr val="9AA0B8"/>
                </a:solidFill>
                <a:latin typeface="思源黑体 CN"/>
              </a:rPr>
              <a:t>总体建筑面积</a:t>
            </a:r>
          </a:p>
        </p:txBody>
      </p:sp>
      <p:sp>
        <p:nvSpPr>
          <p:cNvPr id="13" name="TextBox 12"/>
          <p:cNvSpPr txBox="1"/>
          <p:nvPr/>
        </p:nvSpPr>
        <p:spPr>
          <a:xfrm>
            <a:off x="4297680" y="1920240"/>
            <a:ext cx="3657600" cy="502920"/>
          </a:xfrm>
          <a:prstGeom prst="rect">
            <a:avLst/>
          </a:prstGeom>
          <a:noFill/>
        </p:spPr>
        <p:txBody>
          <a:bodyPr wrap="square" lIns="0" rIns="0" tIns="0" bIns="0" anchor="t">
            <a:spAutoFit/>
          </a:bodyPr>
          <a:lstStyle/>
          <a:p>
            <a:pPr algn="ctr">
              <a:lnSpc>
                <a:spcPct val="120000"/>
              </a:lnSpc>
            </a:pPr>
            <a:r>
              <a:rPr sz="2400" b="1" i="0">
                <a:solidFill>
                  <a:srgbClr val="8B5CF6"/>
                </a:solidFill>
                <a:latin typeface="Inter"/>
              </a:rPr>
              <a:t>5.2 万㎡</a:t>
            </a:r>
          </a:p>
        </p:txBody>
      </p:sp>
      <p:sp>
        <p:nvSpPr>
          <p:cNvPr id="14" name="TextBox 13"/>
          <p:cNvSpPr txBox="1"/>
          <p:nvPr/>
        </p:nvSpPr>
        <p:spPr>
          <a:xfrm>
            <a:off x="4297680" y="2423160"/>
            <a:ext cx="3657600" cy="320040"/>
          </a:xfrm>
          <a:prstGeom prst="rect">
            <a:avLst/>
          </a:prstGeom>
          <a:noFill/>
        </p:spPr>
        <p:txBody>
          <a:bodyPr wrap="square" lIns="0" rIns="0" tIns="0" bIns="0" anchor="t">
            <a:spAutoFit/>
          </a:bodyPr>
          <a:lstStyle/>
          <a:p>
            <a:pPr algn="ctr">
              <a:lnSpc>
                <a:spcPct val="120000"/>
              </a:lnSpc>
            </a:pPr>
            <a:r>
              <a:rPr sz="1000" b="0" i="0" spc="300">
                <a:solidFill>
                  <a:srgbClr val="9AA0B8"/>
                </a:solidFill>
                <a:latin typeface="思源黑体 CN"/>
              </a:rPr>
              <a:t>商业建筑面积</a:t>
            </a:r>
          </a:p>
        </p:txBody>
      </p:sp>
      <p:sp>
        <p:nvSpPr>
          <p:cNvPr id="15" name="TextBox 14"/>
          <p:cNvSpPr txBox="1"/>
          <p:nvPr/>
        </p:nvSpPr>
        <p:spPr>
          <a:xfrm>
            <a:off x="7955279" y="1920240"/>
            <a:ext cx="3657600" cy="502920"/>
          </a:xfrm>
          <a:prstGeom prst="rect">
            <a:avLst/>
          </a:prstGeom>
          <a:noFill/>
        </p:spPr>
        <p:txBody>
          <a:bodyPr wrap="square" lIns="0" rIns="0" tIns="0" bIns="0" anchor="t">
            <a:spAutoFit/>
          </a:bodyPr>
          <a:lstStyle/>
          <a:p>
            <a:pPr algn="ctr">
              <a:lnSpc>
                <a:spcPct val="120000"/>
              </a:lnSpc>
            </a:pPr>
            <a:r>
              <a:rPr sz="2400" b="1" i="0">
                <a:solidFill>
                  <a:srgbClr val="06B6D4"/>
                </a:solidFill>
                <a:latin typeface="Inter"/>
              </a:rPr>
              <a:t>1500+</a:t>
            </a:r>
          </a:p>
        </p:txBody>
      </p:sp>
      <p:sp>
        <p:nvSpPr>
          <p:cNvPr id="16" name="TextBox 15"/>
          <p:cNvSpPr txBox="1"/>
          <p:nvPr/>
        </p:nvSpPr>
        <p:spPr>
          <a:xfrm>
            <a:off x="7955279" y="2423160"/>
            <a:ext cx="3657600" cy="320040"/>
          </a:xfrm>
          <a:prstGeom prst="rect">
            <a:avLst/>
          </a:prstGeom>
          <a:noFill/>
        </p:spPr>
        <p:txBody>
          <a:bodyPr wrap="square" lIns="0" rIns="0" tIns="0" bIns="0" anchor="t">
            <a:spAutoFit/>
          </a:bodyPr>
          <a:lstStyle/>
          <a:p>
            <a:pPr algn="ctr">
              <a:lnSpc>
                <a:spcPct val="120000"/>
              </a:lnSpc>
            </a:pPr>
            <a:r>
              <a:rPr sz="1000" b="0" i="0" spc="300">
                <a:solidFill>
                  <a:srgbClr val="9AA0B8"/>
                </a:solidFill>
                <a:latin typeface="思源黑体 CN"/>
              </a:rPr>
              <a:t>商业停车位</a:t>
            </a:r>
          </a:p>
        </p:txBody>
      </p:sp>
      <p:cxnSp>
        <p:nvCxnSpPr>
          <p:cNvPr id="17" name="Connector 16"/>
          <p:cNvCxnSpPr/>
          <p:nvPr/>
        </p:nvCxnSpPr>
        <p:spPr>
          <a:xfrm>
            <a:off x="4297680" y="2011680"/>
            <a:ext cx="0" cy="594360"/>
          </a:xfrm>
          <a:prstGeom prst="line">
            <a:avLst/>
          </a:prstGeom>
          <a:ln w="12700">
            <a:solidFill>
              <a:srgbClr val="33334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55279" y="2011680"/>
            <a:ext cx="0" cy="594360"/>
          </a:xfrm>
          <a:prstGeom prst="line">
            <a:avLst/>
          </a:prstGeom>
          <a:ln w="12700">
            <a:solidFill>
              <a:srgbClr val="33334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 y="301752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017520"/>
            <a:ext cx="73152" cy="1508760"/>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154680"/>
            <a:ext cx="1371600" cy="457200"/>
          </a:xfrm>
          <a:prstGeom prst="rect">
            <a:avLst/>
          </a:prstGeom>
          <a:noFill/>
        </p:spPr>
        <p:txBody>
          <a:bodyPr wrap="square" lIns="0" rIns="0" tIns="0" bIns="0" anchor="t">
            <a:spAutoFit/>
          </a:bodyPr>
          <a:lstStyle/>
          <a:p>
            <a:pPr algn="l">
              <a:lnSpc>
                <a:spcPct val="120000"/>
              </a:lnSpc>
            </a:pPr>
            <a:r>
              <a:rPr sz="2400" b="1" i="0">
                <a:solidFill>
                  <a:srgbClr val="FF4F8B"/>
                </a:solidFill>
                <a:latin typeface="Inter"/>
              </a:rPr>
              <a:t>#1</a:t>
            </a:r>
          </a:p>
        </p:txBody>
      </p:sp>
      <p:sp>
        <p:nvSpPr>
          <p:cNvPr id="22" name="TextBox 21"/>
          <p:cNvSpPr txBox="1"/>
          <p:nvPr/>
        </p:nvSpPr>
        <p:spPr>
          <a:xfrm>
            <a:off x="1828800" y="321868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零售 · 森马总部</a:t>
            </a:r>
          </a:p>
        </p:txBody>
      </p:sp>
      <p:sp>
        <p:nvSpPr>
          <p:cNvPr id="23" name="TextBox 22"/>
          <p:cNvSpPr txBox="1"/>
          <p:nvPr/>
        </p:nvSpPr>
        <p:spPr>
          <a:xfrm>
            <a:off x="914400" y="374904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1–4F 零售</a:t>
            </a:r>
          </a:p>
          <a:p>
            <a:pPr algn="l">
              <a:lnSpc>
                <a:spcPct val="150000"/>
              </a:lnSpc>
            </a:pPr>
            <a:r>
              <a:rPr sz="1000" b="0" i="0">
                <a:solidFill>
                  <a:srgbClr val="9AA0B8"/>
                </a:solidFill>
                <a:latin typeface="思源黑体 CN"/>
              </a:rPr>
              <a:t>5F+ 森马总部办公</a:t>
            </a:r>
          </a:p>
        </p:txBody>
      </p:sp>
      <p:sp>
        <p:nvSpPr>
          <p:cNvPr id="24" name="Rounded Rectangle 23"/>
          <p:cNvSpPr/>
          <p:nvPr/>
        </p:nvSpPr>
        <p:spPr>
          <a:xfrm>
            <a:off x="4389120" y="301752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3017520"/>
            <a:ext cx="73152" cy="15087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154680"/>
            <a:ext cx="1371600" cy="457200"/>
          </a:xfrm>
          <a:prstGeom prst="rect">
            <a:avLst/>
          </a:prstGeom>
          <a:noFill/>
        </p:spPr>
        <p:txBody>
          <a:bodyPr wrap="square" lIns="0" rIns="0" tIns="0" bIns="0" anchor="t">
            <a:spAutoFit/>
          </a:bodyPr>
          <a:lstStyle/>
          <a:p>
            <a:pPr algn="l">
              <a:lnSpc>
                <a:spcPct val="120000"/>
              </a:lnSpc>
            </a:pPr>
            <a:r>
              <a:rPr sz="2400" b="1" i="0">
                <a:solidFill>
                  <a:srgbClr val="8B5CF6"/>
                </a:solidFill>
                <a:latin typeface="Inter"/>
              </a:rPr>
              <a:t>#2</a:t>
            </a:r>
          </a:p>
        </p:txBody>
      </p:sp>
      <p:sp>
        <p:nvSpPr>
          <p:cNvPr id="27" name="TextBox 26"/>
          <p:cNvSpPr txBox="1"/>
          <p:nvPr/>
        </p:nvSpPr>
        <p:spPr>
          <a:xfrm>
            <a:off x="5577840" y="321868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二次元主题秀场</a:t>
            </a:r>
          </a:p>
        </p:txBody>
      </p:sp>
      <p:sp>
        <p:nvSpPr>
          <p:cNvPr id="28" name="TextBox 27"/>
          <p:cNvSpPr txBox="1"/>
          <p:nvPr/>
        </p:nvSpPr>
        <p:spPr>
          <a:xfrm>
            <a:off x="4663440" y="374904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整栋 · Livehouse / 秀场</a:t>
            </a:r>
          </a:p>
        </p:txBody>
      </p:sp>
      <p:sp>
        <p:nvSpPr>
          <p:cNvPr id="29" name="Rounded Rectangle 28"/>
          <p:cNvSpPr/>
          <p:nvPr/>
        </p:nvSpPr>
        <p:spPr>
          <a:xfrm>
            <a:off x="8138159" y="301752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59" y="3017520"/>
            <a:ext cx="73152" cy="15087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9" y="3154680"/>
            <a:ext cx="1371600" cy="457200"/>
          </a:xfrm>
          <a:prstGeom prst="rect">
            <a:avLst/>
          </a:prstGeom>
          <a:noFill/>
        </p:spPr>
        <p:txBody>
          <a:bodyPr wrap="square" lIns="0" rIns="0" tIns="0" bIns="0" anchor="t">
            <a:spAutoFit/>
          </a:bodyPr>
          <a:lstStyle/>
          <a:p>
            <a:pPr algn="l">
              <a:lnSpc>
                <a:spcPct val="120000"/>
              </a:lnSpc>
            </a:pPr>
            <a:r>
              <a:rPr sz="2400" b="1" i="0">
                <a:solidFill>
                  <a:srgbClr val="06B6D4"/>
                </a:solidFill>
                <a:latin typeface="Inter"/>
              </a:rPr>
              <a:t>#3</a:t>
            </a:r>
          </a:p>
        </p:txBody>
      </p:sp>
      <p:sp>
        <p:nvSpPr>
          <p:cNvPr id="32" name="TextBox 31"/>
          <p:cNvSpPr txBox="1"/>
          <p:nvPr/>
        </p:nvSpPr>
        <p:spPr>
          <a:xfrm>
            <a:off x="9326879" y="321868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休闲 · 萌宠 · 酒店</a:t>
            </a:r>
          </a:p>
        </p:txBody>
      </p:sp>
      <p:sp>
        <p:nvSpPr>
          <p:cNvPr id="33" name="TextBox 32"/>
          <p:cNvSpPr txBox="1"/>
          <p:nvPr/>
        </p:nvSpPr>
        <p:spPr>
          <a:xfrm>
            <a:off x="8412479" y="374904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1–4F 休闲运动、萌宠</a:t>
            </a:r>
          </a:p>
          <a:p>
            <a:pPr algn="l">
              <a:lnSpc>
                <a:spcPct val="150000"/>
              </a:lnSpc>
            </a:pPr>
            <a:r>
              <a:rPr sz="1000" b="0" i="0">
                <a:solidFill>
                  <a:srgbClr val="9AA0B8"/>
                </a:solidFill>
                <a:latin typeface="思源黑体 CN"/>
              </a:rPr>
              <a:t>5F+ 酒店</a:t>
            </a:r>
          </a:p>
        </p:txBody>
      </p:sp>
      <p:sp>
        <p:nvSpPr>
          <p:cNvPr id="34" name="Rounded Rectangle 33"/>
          <p:cNvSpPr/>
          <p:nvPr/>
        </p:nvSpPr>
        <p:spPr>
          <a:xfrm>
            <a:off x="640080" y="470916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4709160"/>
            <a:ext cx="73152" cy="1508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846320"/>
            <a:ext cx="1371600" cy="457200"/>
          </a:xfrm>
          <a:prstGeom prst="rect">
            <a:avLst/>
          </a:prstGeom>
          <a:noFill/>
        </p:spPr>
        <p:txBody>
          <a:bodyPr wrap="square" lIns="0" rIns="0" tIns="0" bIns="0" anchor="t">
            <a:spAutoFit/>
          </a:bodyPr>
          <a:lstStyle/>
          <a:p>
            <a:pPr algn="l">
              <a:lnSpc>
                <a:spcPct val="120000"/>
              </a:lnSpc>
            </a:pPr>
            <a:r>
              <a:rPr sz="2400" b="1" i="0">
                <a:solidFill>
                  <a:srgbClr val="F59E0B"/>
                </a:solidFill>
                <a:latin typeface="Inter"/>
              </a:rPr>
              <a:t>#4</a:t>
            </a:r>
          </a:p>
        </p:txBody>
      </p:sp>
      <p:sp>
        <p:nvSpPr>
          <p:cNvPr id="37" name="TextBox 36"/>
          <p:cNvSpPr txBox="1"/>
          <p:nvPr/>
        </p:nvSpPr>
        <p:spPr>
          <a:xfrm>
            <a:off x="1828800" y="491032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潮玩艺术 · 直播</a:t>
            </a:r>
          </a:p>
        </p:txBody>
      </p:sp>
      <p:sp>
        <p:nvSpPr>
          <p:cNvPr id="38" name="TextBox 37"/>
          <p:cNvSpPr txBox="1"/>
          <p:nvPr/>
        </p:nvSpPr>
        <p:spPr>
          <a:xfrm>
            <a:off x="914400" y="544068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1–3F 潮玩艺术中心</a:t>
            </a:r>
          </a:p>
          <a:p>
            <a:pPr algn="l">
              <a:lnSpc>
                <a:spcPct val="150000"/>
              </a:lnSpc>
            </a:pPr>
            <a:r>
              <a:rPr sz="1000" b="0" i="0">
                <a:solidFill>
                  <a:srgbClr val="9AA0B8"/>
                </a:solidFill>
                <a:latin typeface="思源黑体 CN"/>
              </a:rPr>
              <a:t>4F 直播中心 / 5F+ 集群</a:t>
            </a:r>
          </a:p>
        </p:txBody>
      </p:sp>
      <p:sp>
        <p:nvSpPr>
          <p:cNvPr id="39" name="Rounded Rectangle 38"/>
          <p:cNvSpPr/>
          <p:nvPr/>
        </p:nvSpPr>
        <p:spPr>
          <a:xfrm>
            <a:off x="4389120" y="470916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0" y="4709160"/>
            <a:ext cx="73152" cy="1508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63440" y="4846320"/>
            <a:ext cx="1371600" cy="457200"/>
          </a:xfrm>
          <a:prstGeom prst="rect">
            <a:avLst/>
          </a:prstGeom>
          <a:noFill/>
        </p:spPr>
        <p:txBody>
          <a:bodyPr wrap="square" lIns="0" rIns="0" tIns="0" bIns="0" anchor="t">
            <a:spAutoFit/>
          </a:bodyPr>
          <a:lstStyle/>
          <a:p>
            <a:pPr algn="l">
              <a:lnSpc>
                <a:spcPct val="120000"/>
              </a:lnSpc>
            </a:pPr>
            <a:r>
              <a:rPr sz="2400" b="1" i="0">
                <a:solidFill>
                  <a:srgbClr val="10B981"/>
                </a:solidFill>
                <a:latin typeface="Inter"/>
              </a:rPr>
              <a:t>#5</a:t>
            </a:r>
          </a:p>
        </p:txBody>
      </p:sp>
      <p:sp>
        <p:nvSpPr>
          <p:cNvPr id="42" name="TextBox 41"/>
          <p:cNvSpPr txBox="1"/>
          <p:nvPr/>
        </p:nvSpPr>
        <p:spPr>
          <a:xfrm>
            <a:off x="5577840" y="491032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动漫书店 · 潮玩产业</a:t>
            </a:r>
          </a:p>
        </p:txBody>
      </p:sp>
      <p:sp>
        <p:nvSpPr>
          <p:cNvPr id="43" name="TextBox 42"/>
          <p:cNvSpPr txBox="1"/>
          <p:nvPr/>
        </p:nvSpPr>
        <p:spPr>
          <a:xfrm>
            <a:off x="4663440" y="544068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1–4F 动漫书店、娱乐</a:t>
            </a:r>
          </a:p>
          <a:p>
            <a:pPr algn="l">
              <a:lnSpc>
                <a:spcPct val="150000"/>
              </a:lnSpc>
            </a:pPr>
            <a:r>
              <a:rPr sz="1000" b="0" i="0">
                <a:solidFill>
                  <a:srgbClr val="9AA0B8"/>
                </a:solidFill>
                <a:latin typeface="思源黑体 CN"/>
              </a:rPr>
              <a:t>5F+ 潮玩产业集群</a:t>
            </a:r>
          </a:p>
        </p:txBody>
      </p:sp>
      <p:sp>
        <p:nvSpPr>
          <p:cNvPr id="44" name="Rounded Rectangle 43"/>
          <p:cNvSpPr/>
          <p:nvPr/>
        </p:nvSpPr>
        <p:spPr>
          <a:xfrm>
            <a:off x="8138159" y="4709160"/>
            <a:ext cx="3566160" cy="150876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38159" y="4709160"/>
            <a:ext cx="73152" cy="150876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79" y="4846320"/>
            <a:ext cx="1371600" cy="457200"/>
          </a:xfrm>
          <a:prstGeom prst="rect">
            <a:avLst/>
          </a:prstGeom>
          <a:noFill/>
        </p:spPr>
        <p:txBody>
          <a:bodyPr wrap="square" lIns="0" rIns="0" tIns="0" bIns="0" anchor="t">
            <a:spAutoFit/>
          </a:bodyPr>
          <a:lstStyle/>
          <a:p>
            <a:pPr algn="l">
              <a:lnSpc>
                <a:spcPct val="120000"/>
              </a:lnSpc>
            </a:pPr>
            <a:r>
              <a:rPr sz="2400" b="1" i="0">
                <a:solidFill>
                  <a:srgbClr val="F43F5E"/>
                </a:solidFill>
                <a:latin typeface="Inter"/>
              </a:rPr>
              <a:t>#6</a:t>
            </a:r>
          </a:p>
        </p:txBody>
      </p:sp>
      <p:sp>
        <p:nvSpPr>
          <p:cNvPr id="47" name="TextBox 46"/>
          <p:cNvSpPr txBox="1"/>
          <p:nvPr/>
        </p:nvSpPr>
        <p:spPr>
          <a:xfrm>
            <a:off x="9326879" y="4910328"/>
            <a:ext cx="2377440" cy="365760"/>
          </a:xfrm>
          <a:prstGeom prst="rect">
            <a:avLst/>
          </a:prstGeom>
          <a:noFill/>
        </p:spPr>
        <p:txBody>
          <a:bodyPr wrap="square" lIns="0" rIns="0" tIns="0" bIns="0" anchor="t">
            <a:spAutoFit/>
          </a:bodyPr>
          <a:lstStyle/>
          <a:p>
            <a:pPr algn="l">
              <a:lnSpc>
                <a:spcPct val="120000"/>
              </a:lnSpc>
            </a:pPr>
            <a:r>
              <a:rPr sz="1300" b="1" i="0">
                <a:solidFill>
                  <a:srgbClr val="ECECF4"/>
                </a:solidFill>
                <a:latin typeface="思源黑体 CN"/>
              </a:rPr>
              <a:t>品质生活 · 商务宴请</a:t>
            </a:r>
          </a:p>
        </p:txBody>
      </p:sp>
      <p:sp>
        <p:nvSpPr>
          <p:cNvPr id="48" name="TextBox 47"/>
          <p:cNvSpPr txBox="1"/>
          <p:nvPr/>
        </p:nvSpPr>
        <p:spPr>
          <a:xfrm>
            <a:off x="8412479" y="5440680"/>
            <a:ext cx="3200400" cy="73152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1–5F 品质生活、餐饮、配套、宴请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2743200"/>
            <a:ext cx="8229600" cy="8229600"/>
          </a:xfrm>
          <a:prstGeom prst="ellipse">
            <a:avLst/>
          </a:prstGeom>
          <a:solidFill>
            <a:srgbClr val="3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0972800" cy="365760"/>
          </a:xfrm>
          <a:prstGeom prst="rect">
            <a:avLst/>
          </a:prstGeom>
          <a:noFill/>
        </p:spPr>
        <p:txBody>
          <a:bodyPr wrap="square" lIns="0" rIns="0" tIns="0" bIns="0" anchor="t">
            <a:spAutoFit/>
          </a:bodyPr>
          <a:lstStyle/>
          <a:p>
            <a:pPr algn="ctr">
              <a:lnSpc>
                <a:spcPct val="120000"/>
              </a:lnSpc>
            </a:pPr>
            <a:r>
              <a:rPr sz="1100" b="1" i="0" spc="600">
                <a:solidFill>
                  <a:srgbClr val="8B5CF6"/>
                </a:solidFill>
                <a:latin typeface="Inter"/>
              </a:rPr>
              <a:t>CHAPTER 02</a:t>
            </a:r>
          </a:p>
        </p:txBody>
      </p:sp>
      <p:sp>
        <p:nvSpPr>
          <p:cNvPr id="5" name="TextBox 4"/>
          <p:cNvSpPr txBox="1"/>
          <p:nvPr/>
        </p:nvSpPr>
        <p:spPr>
          <a:xfrm>
            <a:off x="457200" y="1188720"/>
            <a:ext cx="11277295" cy="2377440"/>
          </a:xfrm>
          <a:prstGeom prst="rect">
            <a:avLst/>
          </a:prstGeom>
          <a:noFill/>
        </p:spPr>
        <p:txBody>
          <a:bodyPr wrap="square" lIns="0" rIns="0" tIns="0" bIns="0" anchor="t">
            <a:spAutoFit/>
          </a:bodyPr>
          <a:lstStyle/>
          <a:p>
            <a:pPr algn="ctr">
              <a:lnSpc>
                <a:spcPct val="95000"/>
              </a:lnSpc>
            </a:pPr>
            <a:r>
              <a:rPr sz="24000" b="1" i="0">
                <a:solidFill>
                  <a:srgbClr val="ECECF4"/>
                </a:solidFill>
                <a:latin typeface="Inter"/>
              </a:rPr>
              <a:t>02</a:t>
            </a:r>
          </a:p>
        </p:txBody>
      </p:sp>
      <p:sp>
        <p:nvSpPr>
          <p:cNvPr id="6" name="TextBox 5"/>
          <p:cNvSpPr txBox="1"/>
          <p:nvPr/>
        </p:nvSpPr>
        <p:spPr>
          <a:xfrm>
            <a:off x="457200" y="4297680"/>
            <a:ext cx="11277295" cy="731520"/>
          </a:xfrm>
          <a:prstGeom prst="rect">
            <a:avLst/>
          </a:prstGeom>
          <a:noFill/>
        </p:spPr>
        <p:txBody>
          <a:bodyPr wrap="square" lIns="0" rIns="0" tIns="0" bIns="0" anchor="t">
            <a:spAutoFit/>
          </a:bodyPr>
          <a:lstStyle/>
          <a:p>
            <a:pPr algn="ctr">
              <a:lnSpc>
                <a:spcPct val="110000"/>
              </a:lnSpc>
            </a:pPr>
            <a:r>
              <a:rPr sz="4400" b="1" i="0">
                <a:solidFill>
                  <a:srgbClr val="ECECF4"/>
                </a:solidFill>
                <a:latin typeface="思源黑体 CN"/>
              </a:rPr>
              <a:t>产业规划篇</a:t>
            </a:r>
          </a:p>
        </p:txBody>
      </p:sp>
      <p:sp>
        <p:nvSpPr>
          <p:cNvPr id="7" name="TextBox 6"/>
          <p:cNvSpPr txBox="1"/>
          <p:nvPr/>
        </p:nvSpPr>
        <p:spPr>
          <a:xfrm>
            <a:off x="457200" y="5120640"/>
            <a:ext cx="11277295" cy="457200"/>
          </a:xfrm>
          <a:prstGeom prst="rect">
            <a:avLst/>
          </a:prstGeom>
          <a:noFill/>
        </p:spPr>
        <p:txBody>
          <a:bodyPr wrap="square" lIns="0" rIns="0" tIns="0" bIns="0" anchor="t">
            <a:spAutoFit/>
          </a:bodyPr>
          <a:lstStyle/>
          <a:p>
            <a:pPr algn="ctr">
              <a:lnSpc>
                <a:spcPct val="120000"/>
              </a:lnSpc>
            </a:pPr>
            <a:r>
              <a:rPr sz="1300" b="0" i="0" spc="600">
                <a:solidFill>
                  <a:srgbClr val="9AA0B8"/>
                </a:solidFill>
                <a:latin typeface="Inter"/>
              </a:rPr>
              <a:t>INDUSTRY PLANNING</a:t>
            </a:r>
          </a:p>
        </p:txBody>
      </p:sp>
      <p:sp>
        <p:nvSpPr>
          <p:cNvPr id="8" name="Rectangle 7"/>
          <p:cNvSpPr/>
          <p:nvPr/>
        </p:nvSpPr>
        <p:spPr>
          <a:xfrm>
            <a:off x="5632704" y="5760720"/>
            <a:ext cx="91440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10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02 · 产业规划篇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（一）产业定位 · INDUSTRY POSITIONING</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400" b="1" i="0">
                <a:solidFill>
                  <a:srgbClr val="ECECF4"/>
                </a:solidFill>
                <a:latin typeface="思源黑体 CN"/>
              </a:rPr>
              <a:t>科技潮玩产业策源高地</a:t>
            </a:r>
          </a:p>
        </p:txBody>
      </p:sp>
      <p:sp>
        <p:nvSpPr>
          <p:cNvPr id="10" name="TextBox 9"/>
          <p:cNvSpPr txBox="1"/>
          <p:nvPr/>
        </p:nvSpPr>
        <p:spPr>
          <a:xfrm>
            <a:off x="640080" y="2194560"/>
            <a:ext cx="5486400" cy="365760"/>
          </a:xfrm>
          <a:prstGeom prst="rect">
            <a:avLst/>
          </a:prstGeom>
          <a:noFill/>
        </p:spPr>
        <p:txBody>
          <a:bodyPr wrap="square" lIns="0" rIns="0" tIns="0" bIns="0" anchor="t">
            <a:spAutoFit/>
          </a:bodyPr>
          <a:lstStyle/>
          <a:p>
            <a:pPr algn="l">
              <a:lnSpc>
                <a:spcPct val="120000"/>
              </a:lnSpc>
            </a:pPr>
            <a:r>
              <a:rPr sz="1100" b="1" i="0" spc="300">
                <a:solidFill>
                  <a:srgbClr val="F59E0B"/>
                </a:solidFill>
                <a:latin typeface="思源黑体 CN"/>
              </a:rPr>
              <a:t>三大战略目标 · 3 STRATEGIC GOALS</a:t>
            </a:r>
          </a:p>
        </p:txBody>
      </p:sp>
      <p:sp>
        <p:nvSpPr>
          <p:cNvPr id="11" name="Rounded Rectangle 10"/>
          <p:cNvSpPr/>
          <p:nvPr/>
        </p:nvSpPr>
        <p:spPr>
          <a:xfrm>
            <a:off x="640080" y="2651760"/>
            <a:ext cx="5394960" cy="640080"/>
          </a:xfrm>
          <a:prstGeom prst="roundRect">
            <a:avLst>
              <a:gd name="adj" fmla="val 15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651760"/>
            <a:ext cx="73152"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51760"/>
            <a:ext cx="5029200" cy="640080"/>
          </a:xfrm>
          <a:prstGeom prst="rect">
            <a:avLst/>
          </a:prstGeom>
          <a:noFill/>
        </p:spPr>
        <p:txBody>
          <a:bodyPr wrap="square" lIns="0" rIns="0" tIns="0" bIns="0" anchor="ctr">
            <a:spAutoFit/>
          </a:bodyPr>
          <a:lstStyle/>
          <a:p>
            <a:pPr algn="l">
              <a:lnSpc>
                <a:spcPct val="120000"/>
              </a:lnSpc>
            </a:pPr>
            <a:r>
              <a:rPr sz="1800" b="1" i="0">
                <a:solidFill>
                  <a:srgbClr val="ECECF4"/>
                </a:solidFill>
                <a:latin typeface="思源黑体 CN"/>
              </a:rPr>
              <a:t>国际化产业枢纽</a:t>
            </a:r>
          </a:p>
        </p:txBody>
      </p:sp>
      <p:sp>
        <p:nvSpPr>
          <p:cNvPr id="14" name="Rounded Rectangle 13"/>
          <p:cNvSpPr/>
          <p:nvPr/>
        </p:nvSpPr>
        <p:spPr>
          <a:xfrm>
            <a:off x="640080" y="3429000"/>
            <a:ext cx="5394960" cy="640080"/>
          </a:xfrm>
          <a:prstGeom prst="roundRect">
            <a:avLst>
              <a:gd name="adj" fmla="val 15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429000"/>
            <a:ext cx="73152"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429000"/>
            <a:ext cx="5029200" cy="640080"/>
          </a:xfrm>
          <a:prstGeom prst="rect">
            <a:avLst/>
          </a:prstGeom>
          <a:noFill/>
        </p:spPr>
        <p:txBody>
          <a:bodyPr wrap="square" lIns="0" rIns="0" tIns="0" bIns="0" anchor="ctr">
            <a:spAutoFit/>
          </a:bodyPr>
          <a:lstStyle/>
          <a:p>
            <a:pPr algn="l">
              <a:lnSpc>
                <a:spcPct val="120000"/>
              </a:lnSpc>
            </a:pPr>
            <a:r>
              <a:rPr sz="1800" b="1" i="0">
                <a:solidFill>
                  <a:srgbClr val="ECECF4"/>
                </a:solidFill>
                <a:latin typeface="思源黑体 CN"/>
              </a:rPr>
              <a:t>品牌运营高地</a:t>
            </a:r>
          </a:p>
        </p:txBody>
      </p:sp>
      <p:sp>
        <p:nvSpPr>
          <p:cNvPr id="17" name="Rounded Rectangle 16"/>
          <p:cNvSpPr/>
          <p:nvPr/>
        </p:nvSpPr>
        <p:spPr>
          <a:xfrm>
            <a:off x="640080" y="4206240"/>
            <a:ext cx="5394960" cy="640080"/>
          </a:xfrm>
          <a:prstGeom prst="roundRect">
            <a:avLst>
              <a:gd name="adj" fmla="val 15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206240"/>
            <a:ext cx="73152"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206240"/>
            <a:ext cx="5029200" cy="640080"/>
          </a:xfrm>
          <a:prstGeom prst="rect">
            <a:avLst/>
          </a:prstGeom>
          <a:noFill/>
        </p:spPr>
        <p:txBody>
          <a:bodyPr wrap="square" lIns="0" rIns="0" tIns="0" bIns="0" anchor="ctr">
            <a:spAutoFit/>
          </a:bodyPr>
          <a:lstStyle/>
          <a:p>
            <a:pPr algn="l">
              <a:lnSpc>
                <a:spcPct val="120000"/>
              </a:lnSpc>
            </a:pPr>
            <a:r>
              <a:rPr sz="1800" b="1" i="0">
                <a:solidFill>
                  <a:srgbClr val="ECECF4"/>
                </a:solidFill>
                <a:latin typeface="思源黑体 CN"/>
              </a:rPr>
              <a:t>IP 创制中心</a:t>
            </a:r>
          </a:p>
        </p:txBody>
      </p:sp>
      <p:sp>
        <p:nvSpPr>
          <p:cNvPr id="20" name="TextBox 19"/>
          <p:cNvSpPr txBox="1"/>
          <p:nvPr/>
        </p:nvSpPr>
        <p:spPr>
          <a:xfrm>
            <a:off x="6400800" y="2194560"/>
            <a:ext cx="5486400" cy="365760"/>
          </a:xfrm>
          <a:prstGeom prst="rect">
            <a:avLst/>
          </a:prstGeom>
          <a:noFill/>
        </p:spPr>
        <p:txBody>
          <a:bodyPr wrap="square" lIns="0" rIns="0" tIns="0" bIns="0" anchor="t">
            <a:spAutoFit/>
          </a:bodyPr>
          <a:lstStyle/>
          <a:p>
            <a:pPr algn="l">
              <a:lnSpc>
                <a:spcPct val="120000"/>
              </a:lnSpc>
            </a:pPr>
            <a:r>
              <a:rPr sz="1100" b="1" i="0" spc="300">
                <a:solidFill>
                  <a:srgbClr val="06B6D4"/>
                </a:solidFill>
                <a:latin typeface="思源黑体 CN"/>
              </a:rPr>
              <a:t>五大优势聚焦 · 5 STRENGTHS</a:t>
            </a:r>
          </a:p>
        </p:txBody>
      </p:sp>
      <p:sp>
        <p:nvSpPr>
          <p:cNvPr id="21" name="Rounded Rectangle 20"/>
          <p:cNvSpPr/>
          <p:nvPr/>
        </p:nvSpPr>
        <p:spPr>
          <a:xfrm>
            <a:off x="6400800" y="2651760"/>
            <a:ext cx="2606040" cy="640080"/>
          </a:xfrm>
          <a:prstGeom prst="roundRect">
            <a:avLst>
              <a:gd name="adj" fmla="val 15000"/>
            </a:avLst>
          </a:prstGeom>
          <a:solidFill>
            <a:srgbClr val="22223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651760"/>
            <a:ext cx="2606040" cy="640080"/>
          </a:xfrm>
          <a:prstGeom prst="rect">
            <a:avLst/>
          </a:prstGeom>
          <a:noFill/>
        </p:spPr>
        <p:txBody>
          <a:bodyPr wrap="square" lIns="0" rIns="0" tIns="0" bIns="0" anchor="ctr">
            <a:spAutoFit/>
          </a:bodyPr>
          <a:lstStyle/>
          <a:p>
            <a:pPr algn="ctr">
              <a:lnSpc>
                <a:spcPct val="120000"/>
              </a:lnSpc>
            </a:pPr>
            <a:r>
              <a:rPr sz="1600" b="1" i="0">
                <a:solidFill>
                  <a:srgbClr val="ECECF4"/>
                </a:solidFill>
                <a:latin typeface="思源黑体 CN"/>
              </a:rPr>
              <a:t>创意集聚</a:t>
            </a:r>
          </a:p>
        </p:txBody>
      </p:sp>
      <p:sp>
        <p:nvSpPr>
          <p:cNvPr id="23" name="Rounded Rectangle 22"/>
          <p:cNvSpPr/>
          <p:nvPr/>
        </p:nvSpPr>
        <p:spPr>
          <a:xfrm>
            <a:off x="9144000" y="2651760"/>
            <a:ext cx="2606040" cy="640080"/>
          </a:xfrm>
          <a:prstGeom prst="roundRect">
            <a:avLst>
              <a:gd name="adj" fmla="val 15000"/>
            </a:avLst>
          </a:prstGeom>
          <a:solidFill>
            <a:srgbClr val="22223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2651760"/>
            <a:ext cx="2606040" cy="640080"/>
          </a:xfrm>
          <a:prstGeom prst="rect">
            <a:avLst/>
          </a:prstGeom>
          <a:noFill/>
        </p:spPr>
        <p:txBody>
          <a:bodyPr wrap="square" lIns="0" rIns="0" tIns="0" bIns="0" anchor="ctr">
            <a:spAutoFit/>
          </a:bodyPr>
          <a:lstStyle/>
          <a:p>
            <a:pPr algn="ctr">
              <a:lnSpc>
                <a:spcPct val="120000"/>
              </a:lnSpc>
            </a:pPr>
            <a:r>
              <a:rPr sz="1600" b="1" i="0">
                <a:solidFill>
                  <a:srgbClr val="ECECF4"/>
                </a:solidFill>
                <a:latin typeface="思源黑体 CN"/>
              </a:rPr>
              <a:t>源头孵化</a:t>
            </a:r>
          </a:p>
        </p:txBody>
      </p:sp>
      <p:sp>
        <p:nvSpPr>
          <p:cNvPr id="25" name="Rounded Rectangle 24"/>
          <p:cNvSpPr/>
          <p:nvPr/>
        </p:nvSpPr>
        <p:spPr>
          <a:xfrm>
            <a:off x="6400800" y="3429000"/>
            <a:ext cx="2606040" cy="640080"/>
          </a:xfrm>
          <a:prstGeom prst="roundRect">
            <a:avLst>
              <a:gd name="adj" fmla="val 15000"/>
            </a:avLst>
          </a:prstGeom>
          <a:solidFill>
            <a:srgbClr val="22223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429000"/>
            <a:ext cx="2606040" cy="640080"/>
          </a:xfrm>
          <a:prstGeom prst="rect">
            <a:avLst/>
          </a:prstGeom>
          <a:noFill/>
        </p:spPr>
        <p:txBody>
          <a:bodyPr wrap="square" lIns="0" rIns="0" tIns="0" bIns="0" anchor="ctr">
            <a:spAutoFit/>
          </a:bodyPr>
          <a:lstStyle/>
          <a:p>
            <a:pPr algn="ctr">
              <a:lnSpc>
                <a:spcPct val="120000"/>
              </a:lnSpc>
            </a:pPr>
            <a:r>
              <a:rPr sz="1600" b="1" i="0">
                <a:solidFill>
                  <a:srgbClr val="ECECF4"/>
                </a:solidFill>
                <a:latin typeface="思源黑体 CN"/>
              </a:rPr>
              <a:t>场景体验</a:t>
            </a:r>
          </a:p>
        </p:txBody>
      </p:sp>
      <p:sp>
        <p:nvSpPr>
          <p:cNvPr id="27" name="Rounded Rectangle 26"/>
          <p:cNvSpPr/>
          <p:nvPr/>
        </p:nvSpPr>
        <p:spPr>
          <a:xfrm>
            <a:off x="9144000" y="3429000"/>
            <a:ext cx="2606040" cy="640080"/>
          </a:xfrm>
          <a:prstGeom prst="roundRect">
            <a:avLst>
              <a:gd name="adj" fmla="val 15000"/>
            </a:avLst>
          </a:prstGeom>
          <a:solidFill>
            <a:srgbClr val="22223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3429000"/>
            <a:ext cx="2606040" cy="640080"/>
          </a:xfrm>
          <a:prstGeom prst="rect">
            <a:avLst/>
          </a:prstGeom>
          <a:noFill/>
        </p:spPr>
        <p:txBody>
          <a:bodyPr wrap="square" lIns="0" rIns="0" tIns="0" bIns="0" anchor="ctr">
            <a:spAutoFit/>
          </a:bodyPr>
          <a:lstStyle/>
          <a:p>
            <a:pPr algn="ctr">
              <a:lnSpc>
                <a:spcPct val="120000"/>
              </a:lnSpc>
            </a:pPr>
            <a:r>
              <a:rPr sz="1600" b="1" i="0">
                <a:solidFill>
                  <a:srgbClr val="ECECF4"/>
                </a:solidFill>
                <a:latin typeface="思源黑体 CN"/>
              </a:rPr>
              <a:t>生态复合</a:t>
            </a:r>
          </a:p>
        </p:txBody>
      </p:sp>
      <p:sp>
        <p:nvSpPr>
          <p:cNvPr id="29" name="Rounded Rectangle 28"/>
          <p:cNvSpPr/>
          <p:nvPr/>
        </p:nvSpPr>
        <p:spPr>
          <a:xfrm>
            <a:off x="6400800" y="4206240"/>
            <a:ext cx="5349240" cy="640080"/>
          </a:xfrm>
          <a:prstGeom prst="roundRect">
            <a:avLst>
              <a:gd name="adj" fmla="val 15000"/>
            </a:avLst>
          </a:prstGeom>
          <a:solidFill>
            <a:srgbClr val="22223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4206240"/>
            <a:ext cx="5349240" cy="640080"/>
          </a:xfrm>
          <a:prstGeom prst="rect">
            <a:avLst/>
          </a:prstGeom>
          <a:noFill/>
        </p:spPr>
        <p:txBody>
          <a:bodyPr wrap="square" lIns="0" rIns="0" tIns="0" bIns="0" anchor="ctr">
            <a:spAutoFit/>
          </a:bodyPr>
          <a:lstStyle/>
          <a:p>
            <a:pPr algn="ctr">
              <a:lnSpc>
                <a:spcPct val="120000"/>
              </a:lnSpc>
            </a:pPr>
            <a:r>
              <a:rPr sz="1600" b="1" i="0">
                <a:solidFill>
                  <a:srgbClr val="ECECF4"/>
                </a:solidFill>
                <a:latin typeface="思源黑体 CN"/>
              </a:rPr>
              <a:t>集约选品</a:t>
            </a:r>
          </a:p>
        </p:txBody>
      </p:sp>
      <p:sp>
        <p:nvSpPr>
          <p:cNvPr id="31" name="Rounded Rectangle 30"/>
          <p:cNvSpPr/>
          <p:nvPr/>
        </p:nvSpPr>
        <p:spPr>
          <a:xfrm>
            <a:off x="640080" y="5486400"/>
            <a:ext cx="5486400" cy="822960"/>
          </a:xfrm>
          <a:prstGeom prst="roundRect">
            <a:avLst>
              <a:gd name="adj" fmla="val 10000"/>
            </a:avLst>
          </a:prstGeom>
          <a:solidFill>
            <a:srgbClr val="18182A"/>
          </a:solidFill>
          <a:ln w="9525">
            <a:solidFill>
              <a:srgbClr val="FF4F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577840"/>
            <a:ext cx="5120640" cy="365760"/>
          </a:xfrm>
          <a:prstGeom prst="rect">
            <a:avLst/>
          </a:prstGeom>
          <a:noFill/>
        </p:spPr>
        <p:txBody>
          <a:bodyPr wrap="square" lIns="0" rIns="0" tIns="0" bIns="0" anchor="t">
            <a:spAutoFit/>
          </a:bodyPr>
          <a:lstStyle/>
          <a:p>
            <a:pPr algn="l">
              <a:lnSpc>
                <a:spcPct val="120000"/>
              </a:lnSpc>
            </a:pPr>
            <a:r>
              <a:rPr sz="1300" b="1" i="0">
                <a:solidFill>
                  <a:srgbClr val="FF4F8B"/>
                </a:solidFill>
                <a:latin typeface="思源黑体 CN"/>
              </a:rPr>
              <a:t>"产业转化" + "转化产业"</a:t>
            </a:r>
          </a:p>
        </p:txBody>
      </p:sp>
      <p:sp>
        <p:nvSpPr>
          <p:cNvPr id="33" name="TextBox 32"/>
          <p:cNvSpPr txBox="1"/>
          <p:nvPr/>
        </p:nvSpPr>
        <p:spPr>
          <a:xfrm>
            <a:off x="914400" y="5925312"/>
            <a:ext cx="512064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双轮驱动 · 为吴泾贡献特色地标产业</a:t>
            </a:r>
          </a:p>
        </p:txBody>
      </p:sp>
      <p:sp>
        <p:nvSpPr>
          <p:cNvPr id="34" name="Rounded Rectangle 33"/>
          <p:cNvSpPr/>
          <p:nvPr/>
        </p:nvSpPr>
        <p:spPr>
          <a:xfrm>
            <a:off x="6400800" y="5486400"/>
            <a:ext cx="5486400" cy="822960"/>
          </a:xfrm>
          <a:prstGeom prst="roundRect">
            <a:avLst>
              <a:gd name="adj" fmla="val 10000"/>
            </a:avLst>
          </a:prstGeom>
          <a:solidFill>
            <a:srgbClr val="18182A"/>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5577840"/>
            <a:ext cx="5120640" cy="365760"/>
          </a:xfrm>
          <a:prstGeom prst="rect">
            <a:avLst/>
          </a:prstGeom>
          <a:noFill/>
        </p:spPr>
        <p:txBody>
          <a:bodyPr wrap="square" lIns="0" rIns="0" tIns="0" bIns="0" anchor="t">
            <a:spAutoFit/>
          </a:bodyPr>
          <a:lstStyle/>
          <a:p>
            <a:pPr algn="l">
              <a:lnSpc>
                <a:spcPct val="120000"/>
              </a:lnSpc>
            </a:pPr>
            <a:r>
              <a:rPr sz="1300" b="1" i="0">
                <a:solidFill>
                  <a:srgbClr val="8B5CF6"/>
                </a:solidFill>
                <a:latin typeface="思源黑体 CN"/>
              </a:rPr>
              <a:t>"投资驱动" + "市场驱动"</a:t>
            </a:r>
          </a:p>
        </p:txBody>
      </p:sp>
      <p:sp>
        <p:nvSpPr>
          <p:cNvPr id="36" name="TextBox 35"/>
          <p:cNvSpPr txBox="1"/>
          <p:nvPr/>
        </p:nvSpPr>
        <p:spPr>
          <a:xfrm>
            <a:off x="6675120" y="5925312"/>
            <a:ext cx="5120640" cy="365760"/>
          </a:xfrm>
          <a:prstGeom prst="rect">
            <a:avLst/>
          </a:prstGeom>
          <a:noFill/>
        </p:spPr>
        <p:txBody>
          <a:bodyPr wrap="square" lIns="0" rIns="0" tIns="0" bIns="0" anchor="t">
            <a:spAutoFit/>
          </a:bodyPr>
          <a:lstStyle/>
          <a:p>
            <a:pPr algn="l">
              <a:lnSpc>
                <a:spcPct val="120000"/>
              </a:lnSpc>
            </a:pPr>
            <a:r>
              <a:rPr sz="1000" b="0" i="0">
                <a:solidFill>
                  <a:srgbClr val="9AA0B8"/>
                </a:solidFill>
                <a:latin typeface="思源黑体 CN"/>
              </a:rPr>
              <a:t>双管齐下 · 为闵行构建潮玩产业生态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11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02 · 产业规划篇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（二）产业规划 · INDUSTRY ECOSYSTEM</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一体化潮玩产业生态体系</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依托共享配套形成强大吸附效应，夯实中型企业产业基础，筑牢小型企业发展骨架，机构服务血肉补充。</a:t>
            </a:r>
          </a:p>
        </p:txBody>
      </p:sp>
      <p:sp>
        <p:nvSpPr>
          <p:cNvPr id="11" name="TextBox 10"/>
          <p:cNvSpPr txBox="1"/>
          <p:nvPr/>
        </p:nvSpPr>
        <p:spPr>
          <a:xfrm>
            <a:off x="640080" y="2468880"/>
            <a:ext cx="822960" cy="502920"/>
          </a:xfrm>
          <a:prstGeom prst="rect">
            <a:avLst/>
          </a:prstGeom>
          <a:noFill/>
        </p:spPr>
        <p:txBody>
          <a:bodyPr wrap="square" lIns="0" rIns="0" tIns="0" bIns="0" anchor="ctr">
            <a:spAutoFit/>
          </a:bodyPr>
          <a:lstStyle/>
          <a:p>
            <a:pPr algn="r">
              <a:lnSpc>
                <a:spcPct val="120000"/>
              </a:lnSpc>
            </a:pPr>
            <a:r>
              <a:rPr sz="2000" b="1" i="0">
                <a:solidFill>
                  <a:srgbClr val="FF4F8B"/>
                </a:solidFill>
                <a:latin typeface="Inter"/>
              </a:rPr>
              <a:t>10%</a:t>
            </a:r>
          </a:p>
        </p:txBody>
      </p:sp>
      <p:sp>
        <p:nvSpPr>
          <p:cNvPr id="12" name="Rounded Rectangle 11"/>
          <p:cNvSpPr/>
          <p:nvPr/>
        </p:nvSpPr>
        <p:spPr>
          <a:xfrm>
            <a:off x="1554480" y="2468880"/>
            <a:ext cx="2633472" cy="502920"/>
          </a:xfrm>
          <a:prstGeom prst="roundRect">
            <a:avLst>
              <a:gd name="adj" fmla="val 18000"/>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2468880"/>
            <a:ext cx="2267712" cy="502920"/>
          </a:xfrm>
          <a:prstGeom prst="rect">
            <a:avLst/>
          </a:prstGeom>
          <a:noFill/>
        </p:spPr>
        <p:txBody>
          <a:bodyPr wrap="square" lIns="0" rIns="0" tIns="0" bIns="0" anchor="ctr">
            <a:spAutoFit/>
          </a:bodyPr>
          <a:lstStyle/>
          <a:p>
            <a:pPr algn="l">
              <a:lnSpc>
                <a:spcPct val="120000"/>
              </a:lnSpc>
            </a:pPr>
            <a:r>
              <a:rPr sz="1200" b="1" i="0">
                <a:solidFill>
                  <a:srgbClr val="070710"/>
                </a:solidFill>
                <a:latin typeface="思源黑体 CN"/>
              </a:rPr>
              <a:t>头部央企 · 行业协会 · 导向</a:t>
            </a:r>
          </a:p>
        </p:txBody>
      </p:sp>
      <p:sp>
        <p:nvSpPr>
          <p:cNvPr id="14" name="TextBox 13"/>
          <p:cNvSpPr txBox="1"/>
          <p:nvPr/>
        </p:nvSpPr>
        <p:spPr>
          <a:xfrm>
            <a:off x="4325112" y="2468880"/>
            <a:ext cx="2743200" cy="502920"/>
          </a:xfrm>
          <a:prstGeom prst="rect">
            <a:avLst/>
          </a:prstGeom>
          <a:noFill/>
        </p:spPr>
        <p:txBody>
          <a:bodyPr wrap="square" lIns="0" rIns="0" tIns="0" bIns="0" anchor="ctr">
            <a:spAutoFit/>
          </a:bodyPr>
          <a:lstStyle/>
          <a:p>
            <a:pPr algn="l">
              <a:lnSpc>
                <a:spcPct val="120000"/>
              </a:lnSpc>
            </a:pPr>
            <a:r>
              <a:rPr sz="1000" b="0" i="0">
                <a:solidFill>
                  <a:srgbClr val="9AA0B8"/>
                </a:solidFill>
                <a:latin typeface="思源黑体 CN"/>
              </a:rPr>
              <a:t>3 个 · 2000㎡</a:t>
            </a:r>
          </a:p>
        </p:txBody>
      </p:sp>
      <p:sp>
        <p:nvSpPr>
          <p:cNvPr id="15" name="TextBox 14"/>
          <p:cNvSpPr txBox="1"/>
          <p:nvPr/>
        </p:nvSpPr>
        <p:spPr>
          <a:xfrm>
            <a:off x="640080" y="3127248"/>
            <a:ext cx="822960" cy="502920"/>
          </a:xfrm>
          <a:prstGeom prst="rect">
            <a:avLst/>
          </a:prstGeom>
          <a:noFill/>
        </p:spPr>
        <p:txBody>
          <a:bodyPr wrap="square" lIns="0" rIns="0" tIns="0" bIns="0" anchor="ctr">
            <a:spAutoFit/>
          </a:bodyPr>
          <a:lstStyle/>
          <a:p>
            <a:pPr algn="r">
              <a:lnSpc>
                <a:spcPct val="120000"/>
              </a:lnSpc>
            </a:pPr>
            <a:r>
              <a:rPr sz="2000" b="1" i="0">
                <a:solidFill>
                  <a:srgbClr val="F59E0B"/>
                </a:solidFill>
                <a:latin typeface="Inter"/>
              </a:rPr>
              <a:t>10%</a:t>
            </a:r>
          </a:p>
        </p:txBody>
      </p:sp>
      <p:sp>
        <p:nvSpPr>
          <p:cNvPr id="16" name="Rounded Rectangle 15"/>
          <p:cNvSpPr/>
          <p:nvPr/>
        </p:nvSpPr>
        <p:spPr>
          <a:xfrm>
            <a:off x="1554480" y="3127248"/>
            <a:ext cx="3703320" cy="502920"/>
          </a:xfrm>
          <a:prstGeom prst="roundRect">
            <a:avLst>
              <a:gd name="adj" fmla="val 1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3127248"/>
            <a:ext cx="3337560" cy="502920"/>
          </a:xfrm>
          <a:prstGeom prst="rect">
            <a:avLst/>
          </a:prstGeom>
          <a:noFill/>
        </p:spPr>
        <p:txBody>
          <a:bodyPr wrap="square" lIns="0" rIns="0" tIns="0" bIns="0" anchor="ctr">
            <a:spAutoFit/>
          </a:bodyPr>
          <a:lstStyle/>
          <a:p>
            <a:pPr algn="l">
              <a:lnSpc>
                <a:spcPct val="120000"/>
              </a:lnSpc>
            </a:pPr>
            <a:r>
              <a:rPr sz="1200" b="1" i="0">
                <a:solidFill>
                  <a:srgbClr val="070710"/>
                </a:solidFill>
                <a:latin typeface="思源黑体 CN"/>
              </a:rPr>
              <a:t>共享配套服务体系 · 吸附点</a:t>
            </a:r>
          </a:p>
        </p:txBody>
      </p:sp>
      <p:sp>
        <p:nvSpPr>
          <p:cNvPr id="18" name="TextBox 17"/>
          <p:cNvSpPr txBox="1"/>
          <p:nvPr/>
        </p:nvSpPr>
        <p:spPr>
          <a:xfrm>
            <a:off x="5394960" y="3127248"/>
            <a:ext cx="2743200" cy="502920"/>
          </a:xfrm>
          <a:prstGeom prst="rect">
            <a:avLst/>
          </a:prstGeom>
          <a:noFill/>
        </p:spPr>
        <p:txBody>
          <a:bodyPr wrap="square" lIns="0" rIns="0" tIns="0" bIns="0" anchor="ctr">
            <a:spAutoFit/>
          </a:bodyPr>
          <a:lstStyle/>
          <a:p>
            <a:pPr algn="l">
              <a:lnSpc>
                <a:spcPct val="120000"/>
              </a:lnSpc>
            </a:pPr>
            <a:r>
              <a:rPr sz="1000" b="0" i="0">
                <a:solidFill>
                  <a:srgbClr val="9AA0B8"/>
                </a:solidFill>
                <a:latin typeface="思源黑体 CN"/>
              </a:rPr>
              <a:t>3 个 · 2000㎡</a:t>
            </a:r>
          </a:p>
        </p:txBody>
      </p:sp>
      <p:sp>
        <p:nvSpPr>
          <p:cNvPr id="19" name="TextBox 18"/>
          <p:cNvSpPr txBox="1"/>
          <p:nvPr/>
        </p:nvSpPr>
        <p:spPr>
          <a:xfrm>
            <a:off x="640080" y="3785616"/>
            <a:ext cx="822960" cy="502920"/>
          </a:xfrm>
          <a:prstGeom prst="rect">
            <a:avLst/>
          </a:prstGeom>
          <a:noFill/>
        </p:spPr>
        <p:txBody>
          <a:bodyPr wrap="square" lIns="0" rIns="0" tIns="0" bIns="0" anchor="ctr">
            <a:spAutoFit/>
          </a:bodyPr>
          <a:lstStyle/>
          <a:p>
            <a:pPr algn="r">
              <a:lnSpc>
                <a:spcPct val="120000"/>
              </a:lnSpc>
            </a:pPr>
            <a:r>
              <a:rPr sz="2000" b="1" i="0">
                <a:solidFill>
                  <a:srgbClr val="06B6D4"/>
                </a:solidFill>
                <a:latin typeface="Inter"/>
              </a:rPr>
              <a:t>20%</a:t>
            </a:r>
          </a:p>
        </p:txBody>
      </p:sp>
      <p:sp>
        <p:nvSpPr>
          <p:cNvPr id="20" name="Rounded Rectangle 19"/>
          <p:cNvSpPr/>
          <p:nvPr/>
        </p:nvSpPr>
        <p:spPr>
          <a:xfrm>
            <a:off x="1554480" y="3785616"/>
            <a:ext cx="4937759" cy="502920"/>
          </a:xfrm>
          <a:prstGeom prst="roundRect">
            <a:avLst>
              <a:gd name="adj" fmla="val 18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7360" y="3785616"/>
            <a:ext cx="4571999" cy="502920"/>
          </a:xfrm>
          <a:prstGeom prst="rect">
            <a:avLst/>
          </a:prstGeom>
          <a:noFill/>
        </p:spPr>
        <p:txBody>
          <a:bodyPr wrap="square" lIns="0" rIns="0" tIns="0" bIns="0" anchor="ctr">
            <a:spAutoFit/>
          </a:bodyPr>
          <a:lstStyle/>
          <a:p>
            <a:pPr algn="l">
              <a:lnSpc>
                <a:spcPct val="120000"/>
              </a:lnSpc>
            </a:pPr>
            <a:r>
              <a:rPr sz="1200" b="1" i="0">
                <a:solidFill>
                  <a:srgbClr val="070710"/>
                </a:solidFill>
                <a:latin typeface="思源黑体 CN"/>
              </a:rPr>
              <a:t>中型潮玩运营企业 · 基础</a:t>
            </a:r>
          </a:p>
        </p:txBody>
      </p:sp>
      <p:sp>
        <p:nvSpPr>
          <p:cNvPr id="22" name="TextBox 21"/>
          <p:cNvSpPr txBox="1"/>
          <p:nvPr/>
        </p:nvSpPr>
        <p:spPr>
          <a:xfrm>
            <a:off x="6629400" y="3785616"/>
            <a:ext cx="2743200" cy="502920"/>
          </a:xfrm>
          <a:prstGeom prst="rect">
            <a:avLst/>
          </a:prstGeom>
          <a:noFill/>
        </p:spPr>
        <p:txBody>
          <a:bodyPr wrap="square" lIns="0" rIns="0" tIns="0" bIns="0" anchor="ctr">
            <a:spAutoFit/>
          </a:bodyPr>
          <a:lstStyle/>
          <a:p>
            <a:pPr algn="l">
              <a:lnSpc>
                <a:spcPct val="120000"/>
              </a:lnSpc>
            </a:pPr>
            <a:r>
              <a:rPr sz="1000" b="0" i="0">
                <a:solidFill>
                  <a:srgbClr val="9AA0B8"/>
                </a:solidFill>
                <a:latin typeface="思源黑体 CN"/>
              </a:rPr>
              <a:t>4–6 个 · 5000㎡</a:t>
            </a:r>
          </a:p>
        </p:txBody>
      </p:sp>
      <p:sp>
        <p:nvSpPr>
          <p:cNvPr id="23" name="TextBox 22"/>
          <p:cNvSpPr txBox="1"/>
          <p:nvPr/>
        </p:nvSpPr>
        <p:spPr>
          <a:xfrm>
            <a:off x="640080" y="4443984"/>
            <a:ext cx="822960" cy="502920"/>
          </a:xfrm>
          <a:prstGeom prst="rect">
            <a:avLst/>
          </a:prstGeom>
          <a:noFill/>
        </p:spPr>
        <p:txBody>
          <a:bodyPr wrap="square" lIns="0" rIns="0" tIns="0" bIns="0" anchor="ctr">
            <a:spAutoFit/>
          </a:bodyPr>
          <a:lstStyle/>
          <a:p>
            <a:pPr algn="r">
              <a:lnSpc>
                <a:spcPct val="120000"/>
              </a:lnSpc>
            </a:pPr>
            <a:r>
              <a:rPr sz="2000" b="1" i="0">
                <a:solidFill>
                  <a:srgbClr val="8B5CF6"/>
                </a:solidFill>
                <a:latin typeface="Inter"/>
              </a:rPr>
              <a:t>40%</a:t>
            </a:r>
          </a:p>
        </p:txBody>
      </p:sp>
      <p:sp>
        <p:nvSpPr>
          <p:cNvPr id="24" name="Rounded Rectangle 23"/>
          <p:cNvSpPr/>
          <p:nvPr/>
        </p:nvSpPr>
        <p:spPr>
          <a:xfrm>
            <a:off x="1554480" y="4443984"/>
            <a:ext cx="6583680" cy="502920"/>
          </a:xfrm>
          <a:prstGeom prst="roundRect">
            <a:avLst>
              <a:gd name="adj" fmla="val 18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4443984"/>
            <a:ext cx="6217920" cy="502920"/>
          </a:xfrm>
          <a:prstGeom prst="rect">
            <a:avLst/>
          </a:prstGeom>
          <a:noFill/>
        </p:spPr>
        <p:txBody>
          <a:bodyPr wrap="square" lIns="0" rIns="0" tIns="0" bIns="0" anchor="ctr">
            <a:spAutoFit/>
          </a:bodyPr>
          <a:lstStyle/>
          <a:p>
            <a:pPr algn="l">
              <a:lnSpc>
                <a:spcPct val="120000"/>
              </a:lnSpc>
            </a:pPr>
            <a:r>
              <a:rPr sz="1200" b="1" i="0">
                <a:solidFill>
                  <a:srgbClr val="070710"/>
                </a:solidFill>
                <a:latin typeface="思源黑体 CN"/>
              </a:rPr>
              <a:t>小型潮玩运营企业 · 骨架</a:t>
            </a:r>
          </a:p>
        </p:txBody>
      </p:sp>
      <p:sp>
        <p:nvSpPr>
          <p:cNvPr id="26" name="TextBox 25"/>
          <p:cNvSpPr txBox="1"/>
          <p:nvPr/>
        </p:nvSpPr>
        <p:spPr>
          <a:xfrm>
            <a:off x="8275320" y="4443984"/>
            <a:ext cx="2743200" cy="502920"/>
          </a:xfrm>
          <a:prstGeom prst="rect">
            <a:avLst/>
          </a:prstGeom>
          <a:noFill/>
        </p:spPr>
        <p:txBody>
          <a:bodyPr wrap="square" lIns="0" rIns="0" tIns="0" bIns="0" anchor="ctr">
            <a:spAutoFit/>
          </a:bodyPr>
          <a:lstStyle/>
          <a:p>
            <a:pPr algn="l">
              <a:lnSpc>
                <a:spcPct val="120000"/>
              </a:lnSpc>
            </a:pPr>
            <a:r>
              <a:rPr sz="1000" b="0" i="0">
                <a:solidFill>
                  <a:srgbClr val="9AA0B8"/>
                </a:solidFill>
                <a:latin typeface="思源黑体 CN"/>
              </a:rPr>
              <a:t>30 个 · 200–500㎡</a:t>
            </a:r>
          </a:p>
        </p:txBody>
      </p:sp>
      <p:sp>
        <p:nvSpPr>
          <p:cNvPr id="27" name="TextBox 26"/>
          <p:cNvSpPr txBox="1"/>
          <p:nvPr/>
        </p:nvSpPr>
        <p:spPr>
          <a:xfrm>
            <a:off x="640080" y="5102352"/>
            <a:ext cx="822960" cy="502920"/>
          </a:xfrm>
          <a:prstGeom prst="rect">
            <a:avLst/>
          </a:prstGeom>
          <a:noFill/>
        </p:spPr>
        <p:txBody>
          <a:bodyPr wrap="square" lIns="0" rIns="0" tIns="0" bIns="0" anchor="ctr">
            <a:spAutoFit/>
          </a:bodyPr>
          <a:lstStyle/>
          <a:p>
            <a:pPr algn="r">
              <a:lnSpc>
                <a:spcPct val="120000"/>
              </a:lnSpc>
            </a:pPr>
            <a:r>
              <a:rPr sz="2000" b="1" i="0">
                <a:solidFill>
                  <a:srgbClr val="10B981"/>
                </a:solidFill>
                <a:latin typeface="Inter"/>
              </a:rPr>
              <a:t>20%</a:t>
            </a:r>
          </a:p>
        </p:txBody>
      </p:sp>
      <p:sp>
        <p:nvSpPr>
          <p:cNvPr id="28" name="Rounded Rectangle 27"/>
          <p:cNvSpPr/>
          <p:nvPr/>
        </p:nvSpPr>
        <p:spPr>
          <a:xfrm>
            <a:off x="1554480" y="5102352"/>
            <a:ext cx="8229600" cy="502920"/>
          </a:xfrm>
          <a:prstGeom prst="roundRect">
            <a:avLst>
              <a:gd name="adj" fmla="val 1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7360" y="5102352"/>
            <a:ext cx="7863840" cy="502920"/>
          </a:xfrm>
          <a:prstGeom prst="rect">
            <a:avLst/>
          </a:prstGeom>
          <a:noFill/>
        </p:spPr>
        <p:txBody>
          <a:bodyPr wrap="square" lIns="0" rIns="0" tIns="0" bIns="0" anchor="ctr">
            <a:spAutoFit/>
          </a:bodyPr>
          <a:lstStyle/>
          <a:p>
            <a:pPr algn="l">
              <a:lnSpc>
                <a:spcPct val="120000"/>
              </a:lnSpc>
            </a:pPr>
            <a:r>
              <a:rPr sz="1200" b="1" i="0">
                <a:solidFill>
                  <a:srgbClr val="070710"/>
                </a:solidFill>
                <a:latin typeface="思源黑体 CN"/>
              </a:rPr>
              <a:t>中小型潮玩服务机构 · 血肉</a:t>
            </a:r>
          </a:p>
        </p:txBody>
      </p:sp>
      <p:sp>
        <p:nvSpPr>
          <p:cNvPr id="30" name="TextBox 29"/>
          <p:cNvSpPr txBox="1"/>
          <p:nvPr/>
        </p:nvSpPr>
        <p:spPr>
          <a:xfrm>
            <a:off x="9921240" y="5102352"/>
            <a:ext cx="2743200" cy="502920"/>
          </a:xfrm>
          <a:prstGeom prst="rect">
            <a:avLst/>
          </a:prstGeom>
          <a:noFill/>
        </p:spPr>
        <p:txBody>
          <a:bodyPr wrap="square" lIns="0" rIns="0" tIns="0" bIns="0" anchor="ctr">
            <a:spAutoFit/>
          </a:bodyPr>
          <a:lstStyle/>
          <a:p>
            <a:pPr algn="l">
              <a:lnSpc>
                <a:spcPct val="120000"/>
              </a:lnSpc>
            </a:pPr>
            <a:r>
              <a:rPr sz="1000" b="0" i="0">
                <a:solidFill>
                  <a:srgbClr val="9AA0B8"/>
                </a:solidFill>
                <a:latin typeface="思源黑体 CN"/>
              </a:rPr>
              <a:t>15 个 · 200–500㎡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12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02 · 产业规划篇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（三）产业牌照 · INDUSTRY LICENSES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双牌照赋能  ·  共建两大产业平台</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确认与中国百货协会和中国动漫集团在本项目共同设立两大产业牌照。</a:t>
            </a:r>
          </a:p>
        </p:txBody>
      </p:sp>
      <p:sp>
        <p:nvSpPr>
          <p:cNvPr id="11" name="Rounded Rectangle 10"/>
          <p:cNvSpPr/>
          <p:nvPr/>
        </p:nvSpPr>
        <p:spPr>
          <a:xfrm>
            <a:off x="640080" y="2468880"/>
            <a:ext cx="5394960" cy="3657600"/>
          </a:xfrm>
          <a:prstGeom prst="roundRect">
            <a:avLst>
              <a:gd name="adj" fmla="val 5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97480"/>
            <a:ext cx="1828800" cy="640080"/>
          </a:xfrm>
          <a:prstGeom prst="rect">
            <a:avLst/>
          </a:prstGeom>
          <a:noFill/>
        </p:spPr>
        <p:txBody>
          <a:bodyPr wrap="square" lIns="0" rIns="0" tIns="0" bIns="0" anchor="t">
            <a:spAutoFit/>
          </a:bodyPr>
          <a:lstStyle/>
          <a:p>
            <a:pPr algn="l">
              <a:lnSpc>
                <a:spcPct val="120000"/>
              </a:lnSpc>
            </a:pPr>
            <a:r>
              <a:rPr sz="4000" b="0" i="0">
                <a:solidFill>
                  <a:srgbClr val="ECECF4"/>
                </a:solidFill>
                <a:latin typeface="思源黑体 CN"/>
              </a:rPr>
              <a:t>🏛️</a:t>
            </a:r>
          </a:p>
        </p:txBody>
      </p:sp>
      <p:sp>
        <p:nvSpPr>
          <p:cNvPr id="13" name="TextBox 12"/>
          <p:cNvSpPr txBox="1"/>
          <p:nvPr/>
        </p:nvSpPr>
        <p:spPr>
          <a:xfrm>
            <a:off x="914400" y="3520440"/>
            <a:ext cx="5029200" cy="54864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潮玩次元商业专委会</a:t>
            </a:r>
          </a:p>
        </p:txBody>
      </p:sp>
      <p:sp>
        <p:nvSpPr>
          <p:cNvPr id="14" name="TextBox 13"/>
          <p:cNvSpPr txBox="1"/>
          <p:nvPr/>
        </p:nvSpPr>
        <p:spPr>
          <a:xfrm>
            <a:off x="914400" y="4160520"/>
            <a:ext cx="5029200" cy="36576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CHINA RETAIL · TRENDY-TOY COMMITTEE</a:t>
            </a:r>
          </a:p>
        </p:txBody>
      </p:sp>
      <p:sp>
        <p:nvSpPr>
          <p:cNvPr id="15" name="Rounded Rectangle 14"/>
          <p:cNvSpPr/>
          <p:nvPr/>
        </p:nvSpPr>
        <p:spPr>
          <a:xfrm>
            <a:off x="914400" y="4663440"/>
            <a:ext cx="502920" cy="292608"/>
          </a:xfrm>
          <a:prstGeom prst="roundRect">
            <a:avLst>
              <a:gd name="adj" fmla="val 40000"/>
            </a:avLst>
          </a:prstGeom>
          <a:solidFill>
            <a:srgbClr val="44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63440"/>
            <a:ext cx="502920" cy="292608"/>
          </a:xfrm>
          <a:prstGeom prst="rect">
            <a:avLst/>
          </a:prstGeom>
          <a:noFill/>
        </p:spPr>
        <p:txBody>
          <a:bodyPr wrap="square" lIns="0" rIns="0" tIns="0" bIns="0" anchor="ctr">
            <a:spAutoFit/>
          </a:bodyPr>
          <a:lstStyle/>
          <a:p>
            <a:pPr algn="ctr">
              <a:lnSpc>
                <a:spcPct val="120000"/>
              </a:lnSpc>
            </a:pPr>
            <a:r>
              <a:rPr sz="900" b="1" i="0">
                <a:solidFill>
                  <a:srgbClr val="FF4F8B"/>
                </a:solidFill>
                <a:latin typeface="思源黑体 CN"/>
              </a:rPr>
              <a:t>4月</a:t>
            </a:r>
          </a:p>
        </p:txBody>
      </p:sp>
      <p:sp>
        <p:nvSpPr>
          <p:cNvPr id="17" name="TextBox 16"/>
          <p:cNvSpPr txBox="1"/>
          <p:nvPr/>
        </p:nvSpPr>
        <p:spPr>
          <a:xfrm>
            <a:off x="1508760" y="4663440"/>
            <a:ext cx="4389120" cy="292608"/>
          </a:xfrm>
          <a:prstGeom prst="rect">
            <a:avLst/>
          </a:prstGeom>
          <a:noFill/>
        </p:spPr>
        <p:txBody>
          <a:bodyPr wrap="square" lIns="0" rIns="0" tIns="0" bIns="0" anchor="ctr">
            <a:spAutoFit/>
          </a:bodyPr>
          <a:lstStyle/>
          <a:p>
            <a:pPr algn="l">
              <a:lnSpc>
                <a:spcPct val="120000"/>
              </a:lnSpc>
            </a:pPr>
            <a:r>
              <a:rPr sz="1100" b="0" i="0">
                <a:solidFill>
                  <a:srgbClr val="9AA0B8"/>
                </a:solidFill>
                <a:latin typeface="思源黑体 CN"/>
              </a:rPr>
              <a:t>中百协潮玩次元商业专委会（筹）启动筹备</a:t>
            </a:r>
          </a:p>
        </p:txBody>
      </p:sp>
      <p:sp>
        <p:nvSpPr>
          <p:cNvPr id="18" name="Rounded Rectangle 17"/>
          <p:cNvSpPr/>
          <p:nvPr/>
        </p:nvSpPr>
        <p:spPr>
          <a:xfrm>
            <a:off x="914400" y="5120640"/>
            <a:ext cx="502920" cy="292608"/>
          </a:xfrm>
          <a:prstGeom prst="roundRect">
            <a:avLst>
              <a:gd name="adj" fmla="val 40000"/>
            </a:avLst>
          </a:prstGeom>
          <a:solidFill>
            <a:srgbClr val="44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120640"/>
            <a:ext cx="502920" cy="292608"/>
          </a:xfrm>
          <a:prstGeom prst="rect">
            <a:avLst/>
          </a:prstGeom>
          <a:noFill/>
        </p:spPr>
        <p:txBody>
          <a:bodyPr wrap="square" lIns="0" rIns="0" tIns="0" bIns="0" anchor="ctr">
            <a:spAutoFit/>
          </a:bodyPr>
          <a:lstStyle/>
          <a:p>
            <a:pPr algn="ctr">
              <a:lnSpc>
                <a:spcPct val="120000"/>
              </a:lnSpc>
            </a:pPr>
            <a:r>
              <a:rPr sz="900" b="1" i="0">
                <a:solidFill>
                  <a:srgbClr val="FF4F8B"/>
                </a:solidFill>
                <a:latin typeface="思源黑体 CN"/>
              </a:rPr>
              <a:t>6月</a:t>
            </a:r>
          </a:p>
        </p:txBody>
      </p:sp>
      <p:sp>
        <p:nvSpPr>
          <p:cNvPr id="20" name="TextBox 19"/>
          <p:cNvSpPr txBox="1"/>
          <p:nvPr/>
        </p:nvSpPr>
        <p:spPr>
          <a:xfrm>
            <a:off x="1508760" y="5120640"/>
            <a:ext cx="4389120" cy="292608"/>
          </a:xfrm>
          <a:prstGeom prst="rect">
            <a:avLst/>
          </a:prstGeom>
          <a:noFill/>
        </p:spPr>
        <p:txBody>
          <a:bodyPr wrap="square" lIns="0" rIns="0" tIns="0" bIns="0" anchor="ctr">
            <a:spAutoFit/>
          </a:bodyPr>
          <a:lstStyle/>
          <a:p>
            <a:pPr algn="l">
              <a:lnSpc>
                <a:spcPct val="120000"/>
              </a:lnSpc>
            </a:pPr>
            <a:r>
              <a:rPr sz="1100" b="0" i="0">
                <a:solidFill>
                  <a:srgbClr val="9AA0B8"/>
                </a:solidFill>
                <a:latin typeface="思源黑体 CN"/>
              </a:rPr>
              <a:t>济南理事会会议上正式挂牌成立</a:t>
            </a:r>
          </a:p>
        </p:txBody>
      </p:sp>
      <p:sp>
        <p:nvSpPr>
          <p:cNvPr id="21" name="TextBox 20"/>
          <p:cNvSpPr txBox="1"/>
          <p:nvPr/>
        </p:nvSpPr>
        <p:spPr>
          <a:xfrm>
            <a:off x="914400" y="5577840"/>
            <a:ext cx="5029200" cy="365760"/>
          </a:xfrm>
          <a:prstGeom prst="rect">
            <a:avLst/>
          </a:prstGeom>
          <a:noFill/>
        </p:spPr>
        <p:txBody>
          <a:bodyPr wrap="square" lIns="0" rIns="0" tIns="0" bIns="0" anchor="t">
            <a:spAutoFit/>
          </a:bodyPr>
          <a:lstStyle/>
          <a:p>
            <a:pPr algn="l">
              <a:lnSpc>
                <a:spcPct val="120000"/>
              </a:lnSpc>
            </a:pPr>
            <a:r>
              <a:rPr sz="1000" b="1" i="0">
                <a:solidFill>
                  <a:srgbClr val="FF4F8B"/>
                </a:solidFill>
                <a:latin typeface="思源黑体 CN"/>
              </a:rPr>
              <a:t>已开始正常业务往来展开 →</a:t>
            </a:r>
          </a:p>
        </p:txBody>
      </p:sp>
      <p:sp>
        <p:nvSpPr>
          <p:cNvPr id="22" name="Rounded Rectangle 21"/>
          <p:cNvSpPr/>
          <p:nvPr/>
        </p:nvSpPr>
        <p:spPr>
          <a:xfrm>
            <a:off x="6217920" y="2468880"/>
            <a:ext cx="5394960" cy="3657600"/>
          </a:xfrm>
          <a:prstGeom prst="roundRect">
            <a:avLst>
              <a:gd name="adj" fmla="val 5000"/>
            </a:avLst>
          </a:prstGeom>
          <a:solidFill>
            <a:srgbClr val="121828"/>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697480"/>
            <a:ext cx="1828800" cy="640080"/>
          </a:xfrm>
          <a:prstGeom prst="rect">
            <a:avLst/>
          </a:prstGeom>
          <a:noFill/>
        </p:spPr>
        <p:txBody>
          <a:bodyPr wrap="square" lIns="0" rIns="0" tIns="0" bIns="0" anchor="t">
            <a:spAutoFit/>
          </a:bodyPr>
          <a:lstStyle/>
          <a:p>
            <a:pPr algn="l">
              <a:lnSpc>
                <a:spcPct val="120000"/>
              </a:lnSpc>
            </a:pPr>
            <a:r>
              <a:rPr sz="4000" b="0" i="0">
                <a:solidFill>
                  <a:srgbClr val="ECECF4"/>
                </a:solidFill>
                <a:latin typeface="思源黑体 CN"/>
              </a:rPr>
              <a:t>🤖</a:t>
            </a:r>
          </a:p>
        </p:txBody>
      </p:sp>
      <p:sp>
        <p:nvSpPr>
          <p:cNvPr id="24" name="TextBox 23"/>
          <p:cNvSpPr txBox="1"/>
          <p:nvPr/>
        </p:nvSpPr>
        <p:spPr>
          <a:xfrm>
            <a:off x="6492240" y="3520440"/>
            <a:ext cx="5029200" cy="548640"/>
          </a:xfrm>
          <a:prstGeom prst="rect">
            <a:avLst/>
          </a:prstGeom>
          <a:noFill/>
        </p:spPr>
        <p:txBody>
          <a:bodyPr wrap="square" lIns="0" rIns="0" tIns="0" bIns="0" anchor="t">
            <a:spAutoFit/>
          </a:bodyPr>
          <a:lstStyle/>
          <a:p>
            <a:pPr algn="l">
              <a:lnSpc>
                <a:spcPct val="120000"/>
              </a:lnSpc>
            </a:pPr>
            <a:r>
              <a:rPr sz="2200" b="1" i="0">
                <a:solidFill>
                  <a:srgbClr val="ECECF4"/>
                </a:solidFill>
                <a:latin typeface="思源黑体 CN"/>
              </a:rPr>
              <a:t>AI 潮玩产业基地</a:t>
            </a:r>
          </a:p>
        </p:txBody>
      </p:sp>
      <p:sp>
        <p:nvSpPr>
          <p:cNvPr id="25" name="TextBox 24"/>
          <p:cNvSpPr txBox="1"/>
          <p:nvPr/>
        </p:nvSpPr>
        <p:spPr>
          <a:xfrm>
            <a:off x="6492240" y="4160520"/>
            <a:ext cx="5029200" cy="365760"/>
          </a:xfrm>
          <a:prstGeom prst="rect">
            <a:avLst/>
          </a:prstGeom>
          <a:noFill/>
        </p:spPr>
        <p:txBody>
          <a:bodyPr wrap="square" lIns="0" rIns="0" tIns="0" bIns="0" anchor="t">
            <a:spAutoFit/>
          </a:bodyPr>
          <a:lstStyle/>
          <a:p>
            <a:pPr algn="l">
              <a:lnSpc>
                <a:spcPct val="120000"/>
              </a:lnSpc>
            </a:pPr>
            <a:r>
              <a:rPr sz="900" b="1" i="0" spc="300">
                <a:solidFill>
                  <a:srgbClr val="06B6D4"/>
                </a:solidFill>
                <a:latin typeface="Inter"/>
              </a:rPr>
              <a:t>AI · TRENDY-TOY INDUSTRIAL BASE</a:t>
            </a:r>
          </a:p>
        </p:txBody>
      </p:sp>
      <p:sp>
        <p:nvSpPr>
          <p:cNvPr id="26" name="TextBox 25"/>
          <p:cNvSpPr txBox="1"/>
          <p:nvPr/>
        </p:nvSpPr>
        <p:spPr>
          <a:xfrm>
            <a:off x="6492240" y="4617720"/>
            <a:ext cx="5029200" cy="274320"/>
          </a:xfrm>
          <a:prstGeom prst="rect">
            <a:avLst/>
          </a:prstGeom>
          <a:noFill/>
        </p:spPr>
        <p:txBody>
          <a:bodyPr wrap="square" lIns="0" rIns="0" tIns="0" bIns="0" anchor="t">
            <a:spAutoFit/>
          </a:bodyPr>
          <a:lstStyle/>
          <a:p>
            <a:pPr algn="l">
              <a:lnSpc>
                <a:spcPct val="120000"/>
              </a:lnSpc>
            </a:pPr>
            <a:r>
              <a:rPr sz="1000" b="1" i="0" spc="200">
                <a:solidFill>
                  <a:srgbClr val="06B6D4"/>
                </a:solidFill>
                <a:latin typeface="思源黑体 CN"/>
              </a:rPr>
              <a:t>合作资源</a:t>
            </a:r>
          </a:p>
        </p:txBody>
      </p:sp>
      <p:sp>
        <p:nvSpPr>
          <p:cNvPr id="27" name="TextBox 26"/>
          <p:cNvSpPr txBox="1"/>
          <p:nvPr/>
        </p:nvSpPr>
        <p:spPr>
          <a:xfrm>
            <a:off x="6492240" y="4864608"/>
            <a:ext cx="5029200" cy="457200"/>
          </a:xfrm>
          <a:prstGeom prst="rect">
            <a:avLst/>
          </a:prstGeom>
          <a:noFill/>
        </p:spPr>
        <p:txBody>
          <a:bodyPr wrap="square" lIns="0" rIns="0" tIns="0" bIns="0" anchor="t">
            <a:spAutoFit/>
          </a:bodyPr>
          <a:lstStyle/>
          <a:p>
            <a:pPr algn="l">
              <a:lnSpc>
                <a:spcPct val="140000"/>
              </a:lnSpc>
            </a:pPr>
            <a:r>
              <a:rPr sz="1100" b="0" i="0">
                <a:solidFill>
                  <a:srgbClr val="9AA0B8"/>
                </a:solidFill>
                <a:latin typeface="思源黑体 CN"/>
              </a:rPr>
              <a:t>中国动漫集团 · 上海交大设计学院 · 闵行科协 · 森马集团</a:t>
            </a:r>
          </a:p>
        </p:txBody>
      </p:sp>
      <p:sp>
        <p:nvSpPr>
          <p:cNvPr id="28" name="TextBox 27"/>
          <p:cNvSpPr txBox="1"/>
          <p:nvPr/>
        </p:nvSpPr>
        <p:spPr>
          <a:xfrm>
            <a:off x="6492240" y="5349240"/>
            <a:ext cx="5029200" cy="274320"/>
          </a:xfrm>
          <a:prstGeom prst="rect">
            <a:avLst/>
          </a:prstGeom>
          <a:noFill/>
        </p:spPr>
        <p:txBody>
          <a:bodyPr wrap="square" lIns="0" rIns="0" tIns="0" bIns="0" anchor="t">
            <a:spAutoFit/>
          </a:bodyPr>
          <a:lstStyle/>
          <a:p>
            <a:pPr algn="l">
              <a:lnSpc>
                <a:spcPct val="120000"/>
              </a:lnSpc>
            </a:pPr>
            <a:r>
              <a:rPr sz="1000" b="1" i="0" spc="200">
                <a:solidFill>
                  <a:srgbClr val="06B6D4"/>
                </a:solidFill>
                <a:latin typeface="思源黑体 CN"/>
              </a:rPr>
              <a:t>未来活动</a:t>
            </a:r>
          </a:p>
        </p:txBody>
      </p:sp>
      <p:sp>
        <p:nvSpPr>
          <p:cNvPr id="29" name="TextBox 28"/>
          <p:cNvSpPr txBox="1"/>
          <p:nvPr/>
        </p:nvSpPr>
        <p:spPr>
          <a:xfrm>
            <a:off x="6492240" y="5596128"/>
            <a:ext cx="5029200" cy="548640"/>
          </a:xfrm>
          <a:prstGeom prst="rect">
            <a:avLst/>
          </a:prstGeom>
          <a:noFill/>
        </p:spPr>
        <p:txBody>
          <a:bodyPr wrap="square" lIns="0" rIns="0" tIns="0" bIns="0" anchor="t">
            <a:spAutoFit/>
          </a:bodyPr>
          <a:lstStyle/>
          <a:p>
            <a:pPr algn="l">
              <a:lnSpc>
                <a:spcPct val="140000"/>
              </a:lnSpc>
            </a:pPr>
            <a:r>
              <a:rPr sz="1100" b="0" i="0">
                <a:solidFill>
                  <a:srgbClr val="9AA0B8"/>
                </a:solidFill>
                <a:latin typeface="思源黑体 CN"/>
              </a:rPr>
              <a:t>全国潮玩设计技能大赛 · 国漫·潮游集 · 动漫新品及跨界产品首发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13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02 · 产业规划篇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（四）产业配套 · INDUSTRY SUPPORTING PLATFORMS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六大产业配套平台</a:t>
            </a:r>
          </a:p>
        </p:txBody>
      </p:sp>
      <p:sp>
        <p:nvSpPr>
          <p:cNvPr id="10" name="Rounded Rectangle 9"/>
          <p:cNvSpPr/>
          <p:nvPr/>
        </p:nvSpPr>
        <p:spPr>
          <a:xfrm>
            <a:off x="640080" y="26060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606040"/>
            <a:ext cx="3566160"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28346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34640"/>
            <a:ext cx="1463040" cy="292608"/>
          </a:xfrm>
          <a:prstGeom prst="rect">
            <a:avLst/>
          </a:prstGeom>
          <a:noFill/>
        </p:spPr>
        <p:txBody>
          <a:bodyPr wrap="square" lIns="0" rIns="0" tIns="0" bIns="0" anchor="ctr">
            <a:spAutoFit/>
          </a:bodyPr>
          <a:lstStyle/>
          <a:p>
            <a:pPr algn="ctr">
              <a:lnSpc>
                <a:spcPct val="120000"/>
              </a:lnSpc>
            </a:pPr>
            <a:r>
              <a:rPr sz="900" b="1" i="0" spc="200">
                <a:solidFill>
                  <a:srgbClr val="FF4F8B"/>
                </a:solidFill>
                <a:latin typeface="Inter"/>
              </a:rPr>
              <a:t>1# 4F</a:t>
            </a:r>
          </a:p>
        </p:txBody>
      </p:sp>
      <p:sp>
        <p:nvSpPr>
          <p:cNvPr id="14" name="TextBox 13"/>
          <p:cNvSpPr txBox="1"/>
          <p:nvPr/>
        </p:nvSpPr>
        <p:spPr>
          <a:xfrm>
            <a:off x="914400" y="32461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选品中心</a:t>
            </a:r>
          </a:p>
        </p:txBody>
      </p:sp>
      <p:sp>
        <p:nvSpPr>
          <p:cNvPr id="15" name="TextBox 14"/>
          <p:cNvSpPr txBox="1"/>
          <p:nvPr/>
        </p:nvSpPr>
        <p:spPr>
          <a:xfrm>
            <a:off x="914400" y="36850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华东首个 IP 潮玩选品 + 仓储式销售空间</a:t>
            </a:r>
          </a:p>
        </p:txBody>
      </p:sp>
      <p:sp>
        <p:nvSpPr>
          <p:cNvPr id="16" name="Rounded Rectangle 15"/>
          <p:cNvSpPr/>
          <p:nvPr/>
        </p:nvSpPr>
        <p:spPr>
          <a:xfrm>
            <a:off x="4389120" y="26060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2606040"/>
            <a:ext cx="356616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63440" y="28346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834640"/>
            <a:ext cx="1463040" cy="292608"/>
          </a:xfrm>
          <a:prstGeom prst="rect">
            <a:avLst/>
          </a:prstGeom>
          <a:noFill/>
        </p:spPr>
        <p:txBody>
          <a:bodyPr wrap="square" lIns="0" rIns="0" tIns="0" bIns="0" anchor="ctr">
            <a:spAutoFit/>
          </a:bodyPr>
          <a:lstStyle/>
          <a:p>
            <a:pPr algn="ctr">
              <a:lnSpc>
                <a:spcPct val="120000"/>
              </a:lnSpc>
            </a:pPr>
            <a:r>
              <a:rPr sz="900" b="1" i="0" spc="200">
                <a:solidFill>
                  <a:srgbClr val="8B5CF6"/>
                </a:solidFill>
                <a:latin typeface="Inter"/>
              </a:rPr>
              <a:t>森马二期仓库</a:t>
            </a:r>
          </a:p>
        </p:txBody>
      </p:sp>
      <p:sp>
        <p:nvSpPr>
          <p:cNvPr id="20" name="TextBox 19"/>
          <p:cNvSpPr txBox="1"/>
          <p:nvPr/>
        </p:nvSpPr>
        <p:spPr>
          <a:xfrm>
            <a:off x="4663440" y="32461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代运营物流中心</a:t>
            </a:r>
          </a:p>
        </p:txBody>
      </p:sp>
      <p:sp>
        <p:nvSpPr>
          <p:cNvPr id="21" name="TextBox 20"/>
          <p:cNvSpPr txBox="1"/>
          <p:nvPr/>
        </p:nvSpPr>
        <p:spPr>
          <a:xfrm>
            <a:off x="4663440" y="36850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联动骏耀科技 · 智能仓储 + 物流代运营</a:t>
            </a:r>
          </a:p>
        </p:txBody>
      </p:sp>
      <p:sp>
        <p:nvSpPr>
          <p:cNvPr id="22" name="Rounded Rectangle 21"/>
          <p:cNvSpPr/>
          <p:nvPr/>
        </p:nvSpPr>
        <p:spPr>
          <a:xfrm>
            <a:off x="8138159" y="26060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59" y="2606040"/>
            <a:ext cx="356616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12479" y="28346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9" y="2834640"/>
            <a:ext cx="1463040" cy="292608"/>
          </a:xfrm>
          <a:prstGeom prst="rect">
            <a:avLst/>
          </a:prstGeom>
          <a:noFill/>
        </p:spPr>
        <p:txBody>
          <a:bodyPr wrap="square" lIns="0" rIns="0" tIns="0" bIns="0" anchor="ctr">
            <a:spAutoFit/>
          </a:bodyPr>
          <a:lstStyle/>
          <a:p>
            <a:pPr algn="ctr">
              <a:lnSpc>
                <a:spcPct val="120000"/>
              </a:lnSpc>
            </a:pPr>
            <a:r>
              <a:rPr sz="900" b="1" i="0" spc="200">
                <a:solidFill>
                  <a:srgbClr val="06B6D4"/>
                </a:solidFill>
                <a:latin typeface="Inter"/>
              </a:rPr>
              <a:t>4# 4F</a:t>
            </a:r>
          </a:p>
        </p:txBody>
      </p:sp>
      <p:sp>
        <p:nvSpPr>
          <p:cNvPr id="26" name="TextBox 25"/>
          <p:cNvSpPr txBox="1"/>
          <p:nvPr/>
        </p:nvSpPr>
        <p:spPr>
          <a:xfrm>
            <a:off x="8412479" y="32461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共享直播中心</a:t>
            </a:r>
          </a:p>
        </p:txBody>
      </p:sp>
      <p:sp>
        <p:nvSpPr>
          <p:cNvPr id="27" name="TextBox 26"/>
          <p:cNvSpPr txBox="1"/>
          <p:nvPr/>
        </p:nvSpPr>
        <p:spPr>
          <a:xfrm>
            <a:off x="8412479" y="36850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潮玩电商直播间 · 联动绮丽少女女团</a:t>
            </a:r>
          </a:p>
        </p:txBody>
      </p:sp>
      <p:sp>
        <p:nvSpPr>
          <p:cNvPr id="28" name="Rounded Rectangle 27"/>
          <p:cNvSpPr/>
          <p:nvPr/>
        </p:nvSpPr>
        <p:spPr>
          <a:xfrm>
            <a:off x="640080" y="44348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4434840"/>
            <a:ext cx="356616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4400" y="46634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63440"/>
            <a:ext cx="1463040" cy="292608"/>
          </a:xfrm>
          <a:prstGeom prst="rect">
            <a:avLst/>
          </a:prstGeom>
          <a:noFill/>
        </p:spPr>
        <p:txBody>
          <a:bodyPr wrap="square" lIns="0" rIns="0" tIns="0" bIns="0" anchor="ctr">
            <a:spAutoFit/>
          </a:bodyPr>
          <a:lstStyle/>
          <a:p>
            <a:pPr algn="ctr">
              <a:lnSpc>
                <a:spcPct val="120000"/>
              </a:lnSpc>
            </a:pPr>
            <a:r>
              <a:rPr sz="900" b="1" i="0" spc="200">
                <a:solidFill>
                  <a:srgbClr val="F59E0B"/>
                </a:solidFill>
                <a:latin typeface="Inter"/>
              </a:rPr>
              <a:t>4# 5F</a:t>
            </a:r>
          </a:p>
        </p:txBody>
      </p:sp>
      <p:sp>
        <p:nvSpPr>
          <p:cNvPr id="32" name="TextBox 31"/>
          <p:cNvSpPr txBox="1"/>
          <p:nvPr/>
        </p:nvSpPr>
        <p:spPr>
          <a:xfrm>
            <a:off x="914400" y="50749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AI 共享设计中心</a:t>
            </a:r>
          </a:p>
        </p:txBody>
      </p:sp>
      <p:sp>
        <p:nvSpPr>
          <p:cNvPr id="33" name="TextBox 32"/>
          <p:cNvSpPr txBox="1"/>
          <p:nvPr/>
        </p:nvSpPr>
        <p:spPr>
          <a:xfrm>
            <a:off x="914400" y="55138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联动高校人才资源 · 引入 AI 科技 · 共建 AI 潮玩设计</a:t>
            </a:r>
          </a:p>
        </p:txBody>
      </p:sp>
      <p:sp>
        <p:nvSpPr>
          <p:cNvPr id="34" name="Rounded Rectangle 33"/>
          <p:cNvSpPr/>
          <p:nvPr/>
        </p:nvSpPr>
        <p:spPr>
          <a:xfrm>
            <a:off x="4389120" y="44348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89120" y="4434840"/>
            <a:ext cx="35661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663440" y="46634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4663440"/>
            <a:ext cx="1463040" cy="292608"/>
          </a:xfrm>
          <a:prstGeom prst="rect">
            <a:avLst/>
          </a:prstGeom>
          <a:noFill/>
        </p:spPr>
        <p:txBody>
          <a:bodyPr wrap="square" lIns="0" rIns="0" tIns="0" bIns="0" anchor="ctr">
            <a:spAutoFit/>
          </a:bodyPr>
          <a:lstStyle/>
          <a:p>
            <a:pPr algn="ctr">
              <a:lnSpc>
                <a:spcPct val="120000"/>
              </a:lnSpc>
            </a:pPr>
            <a:r>
              <a:rPr sz="900" b="1" i="0" spc="200">
                <a:solidFill>
                  <a:srgbClr val="10B981"/>
                </a:solidFill>
                <a:latin typeface="Inter"/>
              </a:rPr>
              <a:t>4# 5F</a:t>
            </a:r>
          </a:p>
        </p:txBody>
      </p:sp>
      <p:sp>
        <p:nvSpPr>
          <p:cNvPr id="38" name="TextBox 37"/>
          <p:cNvSpPr txBox="1"/>
          <p:nvPr/>
        </p:nvSpPr>
        <p:spPr>
          <a:xfrm>
            <a:off x="4663440" y="50749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AI 共享打样 / DIY</a:t>
            </a:r>
          </a:p>
        </p:txBody>
      </p:sp>
      <p:sp>
        <p:nvSpPr>
          <p:cNvPr id="39" name="TextBox 38"/>
          <p:cNvSpPr txBox="1"/>
          <p:nvPr/>
        </p:nvSpPr>
        <p:spPr>
          <a:xfrm>
            <a:off x="4663440" y="55138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助力客户快速打样 · 提高面世效率</a:t>
            </a:r>
          </a:p>
        </p:txBody>
      </p:sp>
      <p:sp>
        <p:nvSpPr>
          <p:cNvPr id="40" name="Rounded Rectangle 39"/>
          <p:cNvSpPr/>
          <p:nvPr/>
        </p:nvSpPr>
        <p:spPr>
          <a:xfrm>
            <a:off x="8138159" y="4434840"/>
            <a:ext cx="3566160" cy="1645920"/>
          </a:xfrm>
          <a:prstGeom prst="roundRect">
            <a:avLst>
              <a:gd name="adj" fmla="val 8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38159" y="4434840"/>
            <a:ext cx="3566160"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412479" y="4663440"/>
            <a:ext cx="1463040" cy="292608"/>
          </a:xfrm>
          <a:prstGeom prst="roundRect">
            <a:avLst>
              <a:gd name="adj" fmla="val 4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79" y="4663440"/>
            <a:ext cx="1463040" cy="292608"/>
          </a:xfrm>
          <a:prstGeom prst="rect">
            <a:avLst/>
          </a:prstGeom>
          <a:noFill/>
        </p:spPr>
        <p:txBody>
          <a:bodyPr wrap="square" lIns="0" rIns="0" tIns="0" bIns="0" anchor="ctr">
            <a:spAutoFit/>
          </a:bodyPr>
          <a:lstStyle/>
          <a:p>
            <a:pPr algn="ctr">
              <a:lnSpc>
                <a:spcPct val="120000"/>
              </a:lnSpc>
            </a:pPr>
            <a:r>
              <a:rPr sz="900" b="1" i="0" spc="200">
                <a:solidFill>
                  <a:srgbClr val="FF4F8B"/>
                </a:solidFill>
                <a:latin typeface="Inter"/>
              </a:rPr>
              <a:t>5# 5F</a:t>
            </a:r>
          </a:p>
        </p:txBody>
      </p:sp>
      <p:sp>
        <p:nvSpPr>
          <p:cNvPr id="44" name="TextBox 43"/>
          <p:cNvSpPr txBox="1"/>
          <p:nvPr/>
        </p:nvSpPr>
        <p:spPr>
          <a:xfrm>
            <a:off x="8412479" y="5074920"/>
            <a:ext cx="3200400" cy="411480"/>
          </a:xfrm>
          <a:prstGeom prst="rect">
            <a:avLst/>
          </a:prstGeom>
          <a:noFill/>
        </p:spPr>
        <p:txBody>
          <a:bodyPr wrap="square" lIns="0" rIns="0" tIns="0" bIns="0" anchor="t">
            <a:spAutoFit/>
          </a:bodyPr>
          <a:lstStyle/>
          <a:p>
            <a:pPr algn="l">
              <a:lnSpc>
                <a:spcPct val="120000"/>
              </a:lnSpc>
            </a:pPr>
            <a:r>
              <a:rPr sz="1600" b="1" i="0">
                <a:solidFill>
                  <a:srgbClr val="ECECF4"/>
                </a:solidFill>
                <a:latin typeface="思源黑体 CN"/>
              </a:rPr>
              <a:t>潮玩产业展厅</a:t>
            </a:r>
          </a:p>
        </p:txBody>
      </p:sp>
      <p:sp>
        <p:nvSpPr>
          <p:cNvPr id="45" name="TextBox 44"/>
          <p:cNvSpPr txBox="1"/>
          <p:nvPr/>
        </p:nvSpPr>
        <p:spPr>
          <a:xfrm>
            <a:off x="8412479" y="5513832"/>
            <a:ext cx="320040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聚焦品牌 IP 叙事 · 强化行业交流与渠道拓展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14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02 · 产业规划篇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（五）产业服务 · OPERATION STRATEGIES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三轨并行  ·  创新园区服务综合解决方案</a:t>
            </a:r>
          </a:p>
        </p:txBody>
      </p:sp>
      <p:sp>
        <p:nvSpPr>
          <p:cNvPr id="10" name="TextBox 9"/>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吸引企业集聚 · 培育产业发展。</a:t>
            </a:r>
          </a:p>
        </p:txBody>
      </p:sp>
      <p:sp>
        <p:nvSpPr>
          <p:cNvPr id="11" name="Rounded Rectangle 10"/>
          <p:cNvSpPr/>
          <p:nvPr/>
        </p:nvSpPr>
        <p:spPr>
          <a:xfrm>
            <a:off x="640080" y="2468880"/>
            <a:ext cx="3566160" cy="32918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34640"/>
            <a:ext cx="1828800" cy="548640"/>
          </a:xfrm>
          <a:prstGeom prst="rect">
            <a:avLst/>
          </a:prstGeom>
          <a:noFill/>
        </p:spPr>
        <p:txBody>
          <a:bodyPr wrap="square" lIns="0" rIns="0" tIns="0" bIns="0" anchor="t">
            <a:spAutoFit/>
          </a:bodyPr>
          <a:lstStyle/>
          <a:p>
            <a:pPr algn="l">
              <a:lnSpc>
                <a:spcPct val="120000"/>
              </a:lnSpc>
            </a:pPr>
            <a:r>
              <a:rPr sz="3200" b="1" i="0">
                <a:solidFill>
                  <a:srgbClr val="FF4F8B"/>
                </a:solidFill>
                <a:latin typeface="Inter"/>
              </a:rPr>
              <a:t>01</a:t>
            </a:r>
          </a:p>
        </p:txBody>
      </p:sp>
      <p:sp>
        <p:nvSpPr>
          <p:cNvPr id="13" name="TextBox 12"/>
          <p:cNvSpPr txBox="1"/>
          <p:nvPr/>
        </p:nvSpPr>
        <p:spPr>
          <a:xfrm>
            <a:off x="1005840" y="3566160"/>
            <a:ext cx="2926080" cy="54864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企业主导自营</a:t>
            </a:r>
          </a:p>
        </p:txBody>
      </p:sp>
      <p:sp>
        <p:nvSpPr>
          <p:cNvPr id="14" name="Rectangle 13"/>
          <p:cNvSpPr/>
          <p:nvPr/>
        </p:nvSpPr>
        <p:spPr>
          <a:xfrm>
            <a:off x="1005840" y="4160520"/>
            <a:ext cx="548640" cy="36576"/>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343399"/>
            <a:ext cx="2926080" cy="18288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保障配套服务提供能力 · 自持综合服务中心、园区餐饮、商务办公、设计工作室、人才/财务服务中心。</a:t>
            </a:r>
          </a:p>
        </p:txBody>
      </p:sp>
      <p:sp>
        <p:nvSpPr>
          <p:cNvPr id="16" name="Rounded Rectangle 15"/>
          <p:cNvSpPr/>
          <p:nvPr/>
        </p:nvSpPr>
        <p:spPr>
          <a:xfrm>
            <a:off x="4389120" y="2286000"/>
            <a:ext cx="3566160" cy="3657600"/>
          </a:xfrm>
          <a:prstGeom prst="roundRect">
            <a:avLst>
              <a:gd name="adj" fmla="val 6000"/>
            </a:avLst>
          </a:prstGeom>
          <a:solidFill>
            <a:srgbClr val="1E1024"/>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2651760"/>
            <a:ext cx="1828800" cy="548640"/>
          </a:xfrm>
          <a:prstGeom prst="rect">
            <a:avLst/>
          </a:prstGeom>
          <a:noFill/>
        </p:spPr>
        <p:txBody>
          <a:bodyPr wrap="square" lIns="0" rIns="0" tIns="0" bIns="0" anchor="t">
            <a:spAutoFit/>
          </a:bodyPr>
          <a:lstStyle/>
          <a:p>
            <a:pPr algn="l">
              <a:lnSpc>
                <a:spcPct val="120000"/>
              </a:lnSpc>
            </a:pPr>
            <a:r>
              <a:rPr sz="3200" b="1" i="0">
                <a:solidFill>
                  <a:srgbClr val="8B5CF6"/>
                </a:solidFill>
                <a:latin typeface="Inter"/>
              </a:rPr>
              <a:t>02</a:t>
            </a:r>
          </a:p>
        </p:txBody>
      </p:sp>
      <p:sp>
        <p:nvSpPr>
          <p:cNvPr id="18" name="TextBox 17"/>
          <p:cNvSpPr txBox="1"/>
          <p:nvPr/>
        </p:nvSpPr>
        <p:spPr>
          <a:xfrm>
            <a:off x="4754880" y="3383280"/>
            <a:ext cx="2926080" cy="54864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绿色通道协助</a:t>
            </a:r>
          </a:p>
        </p:txBody>
      </p:sp>
      <p:sp>
        <p:nvSpPr>
          <p:cNvPr id="19" name="Rectangle 18"/>
          <p:cNvSpPr/>
          <p:nvPr/>
        </p:nvSpPr>
        <p:spPr>
          <a:xfrm>
            <a:off x="4754880" y="3977640"/>
            <a:ext cx="548640"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4160519"/>
            <a:ext cx="2926080" cy="18288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发挥行政力量能动性 · 申请街道政府开启绿色通道 · 行政审批 / 企业代办 / 申报协调。</a:t>
            </a:r>
          </a:p>
        </p:txBody>
      </p:sp>
      <p:sp>
        <p:nvSpPr>
          <p:cNvPr id="21" name="Rounded Rectangle 20"/>
          <p:cNvSpPr/>
          <p:nvPr/>
        </p:nvSpPr>
        <p:spPr>
          <a:xfrm>
            <a:off x="8138159" y="2468880"/>
            <a:ext cx="3566160" cy="32918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19" y="2834640"/>
            <a:ext cx="1828800" cy="548640"/>
          </a:xfrm>
          <a:prstGeom prst="rect">
            <a:avLst/>
          </a:prstGeom>
          <a:noFill/>
        </p:spPr>
        <p:txBody>
          <a:bodyPr wrap="square" lIns="0" rIns="0" tIns="0" bIns="0" anchor="t">
            <a:spAutoFit/>
          </a:bodyPr>
          <a:lstStyle/>
          <a:p>
            <a:pPr algn="l">
              <a:lnSpc>
                <a:spcPct val="120000"/>
              </a:lnSpc>
            </a:pPr>
            <a:r>
              <a:rPr sz="3200" b="1" i="0">
                <a:solidFill>
                  <a:srgbClr val="06B6D4"/>
                </a:solidFill>
                <a:latin typeface="Inter"/>
              </a:rPr>
              <a:t>03</a:t>
            </a:r>
          </a:p>
        </p:txBody>
      </p:sp>
      <p:sp>
        <p:nvSpPr>
          <p:cNvPr id="23" name="TextBox 22"/>
          <p:cNvSpPr txBox="1"/>
          <p:nvPr/>
        </p:nvSpPr>
        <p:spPr>
          <a:xfrm>
            <a:off x="8503919" y="3566160"/>
            <a:ext cx="2926080" cy="54864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机构专业运营</a:t>
            </a:r>
          </a:p>
        </p:txBody>
      </p:sp>
      <p:sp>
        <p:nvSpPr>
          <p:cNvPr id="24" name="Rectangle 23"/>
          <p:cNvSpPr/>
          <p:nvPr/>
        </p:nvSpPr>
        <p:spPr>
          <a:xfrm>
            <a:off x="8503919" y="4160520"/>
            <a:ext cx="54864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19" y="4343399"/>
            <a:ext cx="2926080" cy="18288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引入专业潮玩产业服务机构 · 客户招聘、人力资源、人才培训、财务服务、科技金融等专业服务。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2743200"/>
            <a:ext cx="8229600" cy="8229600"/>
          </a:xfrm>
          <a:prstGeom prst="ellipse">
            <a:avLst/>
          </a:prstGeom>
          <a:solidFill>
            <a:srgbClr val="113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0972800" cy="365760"/>
          </a:xfrm>
          <a:prstGeom prst="rect">
            <a:avLst/>
          </a:prstGeom>
          <a:noFill/>
        </p:spPr>
        <p:txBody>
          <a:bodyPr wrap="square" lIns="0" rIns="0" tIns="0" bIns="0" anchor="t">
            <a:spAutoFit/>
          </a:bodyPr>
          <a:lstStyle/>
          <a:p>
            <a:pPr algn="ctr">
              <a:lnSpc>
                <a:spcPct val="120000"/>
              </a:lnSpc>
            </a:pPr>
            <a:r>
              <a:rPr sz="1100" b="1" i="0" spc="600">
                <a:solidFill>
                  <a:srgbClr val="06B6D4"/>
                </a:solidFill>
                <a:latin typeface="Inter"/>
              </a:rPr>
              <a:t>CHAPTER 03</a:t>
            </a:r>
          </a:p>
        </p:txBody>
      </p:sp>
      <p:sp>
        <p:nvSpPr>
          <p:cNvPr id="5" name="TextBox 4"/>
          <p:cNvSpPr txBox="1"/>
          <p:nvPr/>
        </p:nvSpPr>
        <p:spPr>
          <a:xfrm>
            <a:off x="457200" y="1188720"/>
            <a:ext cx="11277295" cy="2377440"/>
          </a:xfrm>
          <a:prstGeom prst="rect">
            <a:avLst/>
          </a:prstGeom>
          <a:noFill/>
        </p:spPr>
        <p:txBody>
          <a:bodyPr wrap="square" lIns="0" rIns="0" tIns="0" bIns="0" anchor="t">
            <a:spAutoFit/>
          </a:bodyPr>
          <a:lstStyle/>
          <a:p>
            <a:pPr algn="ctr">
              <a:lnSpc>
                <a:spcPct val="95000"/>
              </a:lnSpc>
            </a:pPr>
            <a:r>
              <a:rPr sz="24000" b="1" i="0">
                <a:solidFill>
                  <a:srgbClr val="ECECF4"/>
                </a:solidFill>
                <a:latin typeface="Inter"/>
              </a:rPr>
              <a:t>03</a:t>
            </a:r>
          </a:p>
        </p:txBody>
      </p:sp>
      <p:sp>
        <p:nvSpPr>
          <p:cNvPr id="6" name="TextBox 5"/>
          <p:cNvSpPr txBox="1"/>
          <p:nvPr/>
        </p:nvSpPr>
        <p:spPr>
          <a:xfrm>
            <a:off x="457200" y="4297680"/>
            <a:ext cx="11277295" cy="731520"/>
          </a:xfrm>
          <a:prstGeom prst="rect">
            <a:avLst/>
          </a:prstGeom>
          <a:noFill/>
        </p:spPr>
        <p:txBody>
          <a:bodyPr wrap="square" lIns="0" rIns="0" tIns="0" bIns="0" anchor="t">
            <a:spAutoFit/>
          </a:bodyPr>
          <a:lstStyle/>
          <a:p>
            <a:pPr algn="ctr">
              <a:lnSpc>
                <a:spcPct val="110000"/>
              </a:lnSpc>
            </a:pPr>
            <a:r>
              <a:rPr sz="4400" b="1" i="0">
                <a:solidFill>
                  <a:srgbClr val="ECECF4"/>
                </a:solidFill>
                <a:latin typeface="思源黑体 CN"/>
              </a:rPr>
              <a:t>商业规划篇</a:t>
            </a:r>
          </a:p>
        </p:txBody>
      </p:sp>
      <p:sp>
        <p:nvSpPr>
          <p:cNvPr id="7" name="TextBox 6"/>
          <p:cNvSpPr txBox="1"/>
          <p:nvPr/>
        </p:nvSpPr>
        <p:spPr>
          <a:xfrm>
            <a:off x="457200" y="5120640"/>
            <a:ext cx="11277295" cy="457200"/>
          </a:xfrm>
          <a:prstGeom prst="rect">
            <a:avLst/>
          </a:prstGeom>
          <a:noFill/>
        </p:spPr>
        <p:txBody>
          <a:bodyPr wrap="square" lIns="0" rIns="0" tIns="0" bIns="0" anchor="t">
            <a:spAutoFit/>
          </a:bodyPr>
          <a:lstStyle/>
          <a:p>
            <a:pPr algn="ctr">
              <a:lnSpc>
                <a:spcPct val="120000"/>
              </a:lnSpc>
            </a:pPr>
            <a:r>
              <a:rPr sz="1300" b="0" i="0" spc="600">
                <a:solidFill>
                  <a:srgbClr val="9AA0B8"/>
                </a:solidFill>
                <a:latin typeface="Inter"/>
              </a:rPr>
              <a:t>COMMERCIAL PLANNING</a:t>
            </a:r>
          </a:p>
        </p:txBody>
      </p:sp>
      <p:sp>
        <p:nvSpPr>
          <p:cNvPr id="8" name="Rectangle 7"/>
          <p:cNvSpPr/>
          <p:nvPr/>
        </p:nvSpPr>
        <p:spPr>
          <a:xfrm>
            <a:off x="5632704" y="5760720"/>
            <a:ext cx="9144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16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03 · 商业规划篇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06B6D4"/>
                </a:solidFill>
                <a:latin typeface="思源黑体 CN"/>
              </a:rPr>
              <a:t>（一）商业定位 · COMMERCIAL POSITIONING</a:t>
            </a:r>
          </a:p>
        </p:txBody>
      </p:sp>
      <p:sp>
        <p:nvSpPr>
          <p:cNvPr id="9" name="TextBox 8"/>
          <p:cNvSpPr txBox="1"/>
          <p:nvPr/>
        </p:nvSpPr>
        <p:spPr>
          <a:xfrm>
            <a:off x="457200" y="1828800"/>
            <a:ext cx="11277295" cy="1280160"/>
          </a:xfrm>
          <a:prstGeom prst="rect">
            <a:avLst/>
          </a:prstGeom>
          <a:noFill/>
        </p:spPr>
        <p:txBody>
          <a:bodyPr wrap="square" lIns="0" rIns="0" tIns="0" bIns="0" anchor="t">
            <a:spAutoFit/>
          </a:bodyPr>
          <a:lstStyle/>
          <a:p>
            <a:pPr algn="ctr">
              <a:lnSpc>
                <a:spcPct val="100000"/>
              </a:lnSpc>
            </a:pPr>
            <a:r>
              <a:rPr sz="7600" b="1" i="0">
                <a:solidFill>
                  <a:srgbClr val="FF4F8B"/>
                </a:solidFill>
                <a:latin typeface="思源黑体 CN"/>
              </a:rPr>
              <a:t>Z·世代</a:t>
            </a:r>
            <a:r>
              <a:rPr sz="7600" b="1" i="0">
                <a:solidFill>
                  <a:srgbClr val="ECECF4"/>
                </a:solidFill>
                <a:latin typeface="思源黑体 CN"/>
              </a:rPr>
              <a:t>潮玩社交主场</a:t>
            </a:r>
          </a:p>
        </p:txBody>
      </p:sp>
      <p:sp>
        <p:nvSpPr>
          <p:cNvPr id="10" name="TextBox 9"/>
          <p:cNvSpPr txBox="1"/>
          <p:nvPr/>
        </p:nvSpPr>
        <p:spPr>
          <a:xfrm>
            <a:off x="457200" y="3291840"/>
            <a:ext cx="11277295" cy="731520"/>
          </a:xfrm>
          <a:prstGeom prst="rect">
            <a:avLst/>
          </a:prstGeom>
          <a:noFill/>
        </p:spPr>
        <p:txBody>
          <a:bodyPr wrap="square" lIns="0" rIns="0" tIns="0" bIns="0" anchor="t">
            <a:spAutoFit/>
          </a:bodyPr>
          <a:lstStyle/>
          <a:p>
            <a:pPr algn="ctr">
              <a:lnSpc>
                <a:spcPct val="110000"/>
              </a:lnSpc>
            </a:pPr>
            <a:r>
              <a:rPr sz="3400" b="1" i="0">
                <a:solidFill>
                  <a:srgbClr val="ECECF4"/>
                </a:solidFill>
                <a:latin typeface="思源黑体 CN"/>
              </a:rPr>
              <a:t>潮玩元宇宙  ·  青年引力场</a:t>
            </a:r>
          </a:p>
        </p:txBody>
      </p:sp>
      <p:sp>
        <p:nvSpPr>
          <p:cNvPr id="11" name="TextBox 10"/>
          <p:cNvSpPr txBox="1"/>
          <p:nvPr/>
        </p:nvSpPr>
        <p:spPr>
          <a:xfrm>
            <a:off x="457200" y="4114800"/>
            <a:ext cx="11277295" cy="548640"/>
          </a:xfrm>
          <a:prstGeom prst="rect">
            <a:avLst/>
          </a:prstGeom>
          <a:noFill/>
        </p:spPr>
        <p:txBody>
          <a:bodyPr wrap="square" lIns="0" rIns="0" tIns="0" bIns="0" anchor="t">
            <a:spAutoFit/>
          </a:bodyPr>
          <a:lstStyle/>
          <a:p>
            <a:pPr algn="ctr">
              <a:lnSpc>
                <a:spcPct val="120000"/>
              </a:lnSpc>
            </a:pPr>
            <a:r>
              <a:rPr sz="2400" b="0" i="0" spc="200">
                <a:solidFill>
                  <a:srgbClr val="9AA0B8"/>
                </a:solidFill>
                <a:latin typeface="思源黑体 CN"/>
              </a:rPr>
              <a:t>潮玩艺术爱好者聚集地</a:t>
            </a:r>
          </a:p>
        </p:txBody>
      </p:sp>
      <p:sp>
        <p:nvSpPr>
          <p:cNvPr id="12" name="Rectangle 11"/>
          <p:cNvSpPr/>
          <p:nvPr/>
        </p:nvSpPr>
        <p:spPr>
          <a:xfrm>
            <a:off x="5175504" y="5212080"/>
            <a:ext cx="603504"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79008" y="5212080"/>
            <a:ext cx="603504"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82512" y="5212080"/>
            <a:ext cx="603504"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17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03 · 商业规划篇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06B6D4"/>
                </a:solidFill>
                <a:latin typeface="思源黑体 CN"/>
              </a:rPr>
              <a:t>（二）业态落位 · VERTICAL PROGRAM</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2800" b="1" i="0">
                <a:solidFill>
                  <a:srgbClr val="ECECF4"/>
                </a:solidFill>
                <a:latin typeface="思源黑体 CN"/>
              </a:rPr>
              <a:t>楼层业态垂直分布</a:t>
            </a:r>
          </a:p>
        </p:txBody>
      </p:sp>
      <p:sp>
        <p:nvSpPr>
          <p:cNvPr id="10" name="Rectangle 9"/>
          <p:cNvSpPr/>
          <p:nvPr/>
        </p:nvSpPr>
        <p:spPr>
          <a:xfrm>
            <a:off x="640080" y="2194560"/>
            <a:ext cx="91440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94560"/>
            <a:ext cx="91440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楼层</a:t>
            </a:r>
          </a:p>
        </p:txBody>
      </p:sp>
      <p:sp>
        <p:nvSpPr>
          <p:cNvPr id="12" name="Rectangle 11"/>
          <p:cNvSpPr/>
          <p:nvPr/>
        </p:nvSpPr>
        <p:spPr>
          <a:xfrm>
            <a:off x="155448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1#</a:t>
            </a:r>
          </a:p>
        </p:txBody>
      </p:sp>
      <p:sp>
        <p:nvSpPr>
          <p:cNvPr id="14" name="Rectangle 13"/>
          <p:cNvSpPr/>
          <p:nvPr/>
        </p:nvSpPr>
        <p:spPr>
          <a:xfrm>
            <a:off x="320040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2#</a:t>
            </a:r>
          </a:p>
        </p:txBody>
      </p:sp>
      <p:sp>
        <p:nvSpPr>
          <p:cNvPr id="16" name="Rectangle 15"/>
          <p:cNvSpPr/>
          <p:nvPr/>
        </p:nvSpPr>
        <p:spPr>
          <a:xfrm>
            <a:off x="484632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3#</a:t>
            </a:r>
          </a:p>
        </p:txBody>
      </p:sp>
      <p:sp>
        <p:nvSpPr>
          <p:cNvPr id="18" name="Rectangle 17"/>
          <p:cNvSpPr/>
          <p:nvPr/>
        </p:nvSpPr>
        <p:spPr>
          <a:xfrm>
            <a:off x="649224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4#</a:t>
            </a:r>
          </a:p>
        </p:txBody>
      </p:sp>
      <p:sp>
        <p:nvSpPr>
          <p:cNvPr id="20" name="Rectangle 19"/>
          <p:cNvSpPr/>
          <p:nvPr/>
        </p:nvSpPr>
        <p:spPr>
          <a:xfrm>
            <a:off x="813816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5#</a:t>
            </a:r>
          </a:p>
        </p:txBody>
      </p:sp>
      <p:sp>
        <p:nvSpPr>
          <p:cNvPr id="22" name="Rectangle 21"/>
          <p:cNvSpPr/>
          <p:nvPr/>
        </p:nvSpPr>
        <p:spPr>
          <a:xfrm>
            <a:off x="9784080" y="2194560"/>
            <a:ext cx="1645920" cy="411480"/>
          </a:xfrm>
          <a:prstGeom prst="rect">
            <a:avLst/>
          </a:prstGeom>
          <a:solidFill>
            <a:srgbClr val="221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2194560"/>
            <a:ext cx="1645920" cy="411480"/>
          </a:xfrm>
          <a:prstGeom prst="rect">
            <a:avLst/>
          </a:prstGeom>
          <a:noFill/>
        </p:spPr>
        <p:txBody>
          <a:bodyPr wrap="square" lIns="0" rIns="0" tIns="0" bIns="0" anchor="ctr">
            <a:spAutoFit/>
          </a:bodyPr>
          <a:lstStyle/>
          <a:p>
            <a:pPr algn="ctr">
              <a:lnSpc>
                <a:spcPct val="120000"/>
              </a:lnSpc>
            </a:pPr>
            <a:r>
              <a:rPr sz="1100" b="1" i="0">
                <a:solidFill>
                  <a:srgbClr val="ECECF4"/>
                </a:solidFill>
                <a:latin typeface="思源黑体 CN"/>
              </a:rPr>
              <a:t>6#</a:t>
            </a:r>
          </a:p>
        </p:txBody>
      </p:sp>
      <p:sp>
        <p:nvSpPr>
          <p:cNvPr id="24" name="Rectangle 23"/>
          <p:cNvSpPr/>
          <p:nvPr/>
        </p:nvSpPr>
        <p:spPr>
          <a:xfrm>
            <a:off x="640080" y="2606040"/>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606040"/>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6F+</a:t>
            </a:r>
          </a:p>
        </p:txBody>
      </p:sp>
      <p:sp>
        <p:nvSpPr>
          <p:cNvPr id="26" name="Rectangle 25"/>
          <p:cNvSpPr/>
          <p:nvPr/>
        </p:nvSpPr>
        <p:spPr>
          <a:xfrm>
            <a:off x="155448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00200" y="2606040"/>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森马总部办公</a:t>
            </a:r>
          </a:p>
        </p:txBody>
      </p:sp>
      <p:sp>
        <p:nvSpPr>
          <p:cNvPr id="28" name="Rectangle 27"/>
          <p:cNvSpPr/>
          <p:nvPr/>
        </p:nvSpPr>
        <p:spPr>
          <a:xfrm>
            <a:off x="320040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6120" y="2606040"/>
            <a:ext cx="1554480" cy="475488"/>
          </a:xfrm>
          <a:prstGeom prst="rect">
            <a:avLst/>
          </a:prstGeom>
          <a:noFill/>
        </p:spPr>
        <p:txBody>
          <a:bodyPr wrap="square" lIns="0" rIns="0" tIns="0" bIns="0" anchor="ctr">
            <a:spAutoFit/>
          </a:bodyPr>
          <a:lstStyle/>
          <a:p>
            <a:pPr algn="ctr">
              <a:lnSpc>
                <a:spcPct val="120000"/>
              </a:lnSpc>
            </a:pPr>
            <a:r>
              <a:rPr sz="1000" b="0" i="0">
                <a:solidFill>
                  <a:srgbClr val="6B7090"/>
                </a:solidFill>
                <a:latin typeface="思源黑体 CN"/>
              </a:rPr>
              <a:t>—</a:t>
            </a:r>
          </a:p>
        </p:txBody>
      </p:sp>
      <p:sp>
        <p:nvSpPr>
          <p:cNvPr id="30" name="Rectangle 29"/>
          <p:cNvSpPr/>
          <p:nvPr/>
        </p:nvSpPr>
        <p:spPr>
          <a:xfrm>
            <a:off x="484632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2606040"/>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酒店</a:t>
            </a:r>
          </a:p>
        </p:txBody>
      </p:sp>
      <p:sp>
        <p:nvSpPr>
          <p:cNvPr id="32" name="Rectangle 31"/>
          <p:cNvSpPr/>
          <p:nvPr/>
        </p:nvSpPr>
        <p:spPr>
          <a:xfrm>
            <a:off x="649224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2606040"/>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潮玩产业办公</a:t>
            </a:r>
          </a:p>
        </p:txBody>
      </p:sp>
      <p:sp>
        <p:nvSpPr>
          <p:cNvPr id="34" name="Rectangle 33"/>
          <p:cNvSpPr/>
          <p:nvPr/>
        </p:nvSpPr>
        <p:spPr>
          <a:xfrm>
            <a:off x="813816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80" y="2606040"/>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潮玩产业办公</a:t>
            </a:r>
          </a:p>
        </p:txBody>
      </p:sp>
      <p:sp>
        <p:nvSpPr>
          <p:cNvPr id="36" name="Rectangle 35"/>
          <p:cNvSpPr/>
          <p:nvPr/>
        </p:nvSpPr>
        <p:spPr>
          <a:xfrm>
            <a:off x="9784080" y="2606040"/>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29800" y="2606040"/>
            <a:ext cx="1554480" cy="475488"/>
          </a:xfrm>
          <a:prstGeom prst="rect">
            <a:avLst/>
          </a:prstGeom>
          <a:noFill/>
        </p:spPr>
        <p:txBody>
          <a:bodyPr wrap="square" lIns="0" rIns="0" tIns="0" bIns="0" anchor="ctr">
            <a:spAutoFit/>
          </a:bodyPr>
          <a:lstStyle/>
          <a:p>
            <a:pPr algn="ctr">
              <a:lnSpc>
                <a:spcPct val="120000"/>
              </a:lnSpc>
            </a:pPr>
            <a:r>
              <a:rPr sz="1000" b="0" i="0">
                <a:solidFill>
                  <a:srgbClr val="6B7090"/>
                </a:solidFill>
                <a:latin typeface="思源黑体 CN"/>
              </a:rPr>
              <a:t>—</a:t>
            </a:r>
          </a:p>
        </p:txBody>
      </p:sp>
      <p:sp>
        <p:nvSpPr>
          <p:cNvPr id="38" name="Rectangle 37"/>
          <p:cNvSpPr/>
          <p:nvPr/>
        </p:nvSpPr>
        <p:spPr>
          <a:xfrm>
            <a:off x="640080" y="3081528"/>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3081528"/>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5F</a:t>
            </a:r>
          </a:p>
        </p:txBody>
      </p:sp>
      <p:sp>
        <p:nvSpPr>
          <p:cNvPr id="40" name="Rectangle 39"/>
          <p:cNvSpPr/>
          <p:nvPr/>
        </p:nvSpPr>
        <p:spPr>
          <a:xfrm>
            <a:off x="155448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00200" y="3081528"/>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森马总部办公</a:t>
            </a:r>
          </a:p>
        </p:txBody>
      </p:sp>
      <p:sp>
        <p:nvSpPr>
          <p:cNvPr id="42" name="Rectangle 41"/>
          <p:cNvSpPr/>
          <p:nvPr/>
        </p:nvSpPr>
        <p:spPr>
          <a:xfrm>
            <a:off x="320040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46120" y="3081528"/>
            <a:ext cx="1554480" cy="475488"/>
          </a:xfrm>
          <a:prstGeom prst="rect">
            <a:avLst/>
          </a:prstGeom>
          <a:noFill/>
        </p:spPr>
        <p:txBody>
          <a:bodyPr wrap="square" lIns="0" rIns="0" tIns="0" bIns="0" anchor="ctr">
            <a:spAutoFit/>
          </a:bodyPr>
          <a:lstStyle/>
          <a:p>
            <a:pPr algn="ctr">
              <a:lnSpc>
                <a:spcPct val="120000"/>
              </a:lnSpc>
            </a:pPr>
            <a:r>
              <a:rPr sz="1000" b="0" i="0">
                <a:solidFill>
                  <a:srgbClr val="6B7090"/>
                </a:solidFill>
                <a:latin typeface="思源黑体 CN"/>
              </a:rPr>
              <a:t>—</a:t>
            </a:r>
          </a:p>
        </p:txBody>
      </p:sp>
      <p:sp>
        <p:nvSpPr>
          <p:cNvPr id="44" name="Rectangle 43"/>
          <p:cNvSpPr/>
          <p:nvPr/>
        </p:nvSpPr>
        <p:spPr>
          <a:xfrm>
            <a:off x="484632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3081528"/>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酒店</a:t>
            </a:r>
          </a:p>
        </p:txBody>
      </p:sp>
      <p:sp>
        <p:nvSpPr>
          <p:cNvPr id="46" name="Rectangle 45"/>
          <p:cNvSpPr/>
          <p:nvPr/>
        </p:nvSpPr>
        <p:spPr>
          <a:xfrm>
            <a:off x="649224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60" y="3081528"/>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潮玩产业办公</a:t>
            </a:r>
          </a:p>
        </p:txBody>
      </p:sp>
      <p:sp>
        <p:nvSpPr>
          <p:cNvPr id="48" name="Rectangle 47"/>
          <p:cNvSpPr/>
          <p:nvPr/>
        </p:nvSpPr>
        <p:spPr>
          <a:xfrm>
            <a:off x="813816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80" y="3081528"/>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潮玩产业办公</a:t>
            </a:r>
          </a:p>
        </p:txBody>
      </p:sp>
      <p:sp>
        <p:nvSpPr>
          <p:cNvPr id="50" name="Rectangle 49"/>
          <p:cNvSpPr/>
          <p:nvPr/>
        </p:nvSpPr>
        <p:spPr>
          <a:xfrm>
            <a:off x="9784080" y="3081528"/>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29800" y="3081528"/>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商务宴请</a:t>
            </a:r>
          </a:p>
        </p:txBody>
      </p:sp>
      <p:sp>
        <p:nvSpPr>
          <p:cNvPr id="52" name="Rectangle 51"/>
          <p:cNvSpPr/>
          <p:nvPr/>
        </p:nvSpPr>
        <p:spPr>
          <a:xfrm>
            <a:off x="640080" y="3557016"/>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3557016"/>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4F</a:t>
            </a:r>
          </a:p>
        </p:txBody>
      </p:sp>
      <p:sp>
        <p:nvSpPr>
          <p:cNvPr id="54" name="Rectangle 53"/>
          <p:cNvSpPr/>
          <p:nvPr/>
        </p:nvSpPr>
        <p:spPr>
          <a:xfrm>
            <a:off x="1554480" y="3557016"/>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0200" y="3557016"/>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旗舰零售</a:t>
            </a:r>
          </a:p>
        </p:txBody>
      </p:sp>
      <p:sp>
        <p:nvSpPr>
          <p:cNvPr id="56" name="Rectangle 55"/>
          <p:cNvSpPr/>
          <p:nvPr/>
        </p:nvSpPr>
        <p:spPr>
          <a:xfrm>
            <a:off x="3200400" y="3557016"/>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46120" y="3557016"/>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二次元 Live</a:t>
            </a:r>
          </a:p>
        </p:txBody>
      </p:sp>
      <p:sp>
        <p:nvSpPr>
          <p:cNvPr id="58" name="Rectangle 57"/>
          <p:cNvSpPr/>
          <p:nvPr/>
        </p:nvSpPr>
        <p:spPr>
          <a:xfrm>
            <a:off x="4846320" y="3557016"/>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92040" y="3557016"/>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休闲运动</a:t>
            </a:r>
          </a:p>
        </p:txBody>
      </p:sp>
      <p:sp>
        <p:nvSpPr>
          <p:cNvPr id="60" name="Rectangle 59"/>
          <p:cNvSpPr/>
          <p:nvPr/>
        </p:nvSpPr>
        <p:spPr>
          <a:xfrm>
            <a:off x="6492240" y="3557016"/>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37960" y="3557016"/>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直播基地</a:t>
            </a:r>
          </a:p>
        </p:txBody>
      </p:sp>
      <p:sp>
        <p:nvSpPr>
          <p:cNvPr id="62" name="Rectangle 61"/>
          <p:cNvSpPr/>
          <p:nvPr/>
        </p:nvSpPr>
        <p:spPr>
          <a:xfrm>
            <a:off x="8138160" y="3557016"/>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83880" y="3557016"/>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动漫书店</a:t>
            </a:r>
          </a:p>
        </p:txBody>
      </p:sp>
      <p:sp>
        <p:nvSpPr>
          <p:cNvPr id="64" name="Rectangle 63"/>
          <p:cNvSpPr/>
          <p:nvPr/>
        </p:nvSpPr>
        <p:spPr>
          <a:xfrm>
            <a:off x="9784080" y="3557016"/>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29800" y="3557016"/>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特色餐饮</a:t>
            </a:r>
          </a:p>
        </p:txBody>
      </p:sp>
      <p:sp>
        <p:nvSpPr>
          <p:cNvPr id="66" name="Rectangle 65"/>
          <p:cNvSpPr/>
          <p:nvPr/>
        </p:nvSpPr>
        <p:spPr>
          <a:xfrm>
            <a:off x="640080" y="4032504"/>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4032504"/>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3F</a:t>
            </a:r>
          </a:p>
        </p:txBody>
      </p:sp>
      <p:sp>
        <p:nvSpPr>
          <p:cNvPr id="68" name="Rectangle 67"/>
          <p:cNvSpPr/>
          <p:nvPr/>
        </p:nvSpPr>
        <p:spPr>
          <a:xfrm>
            <a:off x="1554480" y="4032504"/>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600200" y="4032504"/>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旗舰零售</a:t>
            </a:r>
          </a:p>
        </p:txBody>
      </p:sp>
      <p:sp>
        <p:nvSpPr>
          <p:cNvPr id="70" name="Rectangle 69"/>
          <p:cNvSpPr/>
          <p:nvPr/>
        </p:nvSpPr>
        <p:spPr>
          <a:xfrm>
            <a:off x="3200400" y="4032504"/>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46120" y="4032504"/>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二次元 Live</a:t>
            </a:r>
          </a:p>
        </p:txBody>
      </p:sp>
      <p:sp>
        <p:nvSpPr>
          <p:cNvPr id="72" name="Rectangle 71"/>
          <p:cNvSpPr/>
          <p:nvPr/>
        </p:nvSpPr>
        <p:spPr>
          <a:xfrm>
            <a:off x="4846320" y="4032504"/>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892040" y="4032504"/>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萌宠空间</a:t>
            </a:r>
          </a:p>
        </p:txBody>
      </p:sp>
      <p:sp>
        <p:nvSpPr>
          <p:cNvPr id="74" name="Rectangle 73"/>
          <p:cNvSpPr/>
          <p:nvPr/>
        </p:nvSpPr>
        <p:spPr>
          <a:xfrm>
            <a:off x="6492240" y="4032504"/>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37960" y="4032504"/>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潮玩艺术</a:t>
            </a:r>
          </a:p>
        </p:txBody>
      </p:sp>
      <p:sp>
        <p:nvSpPr>
          <p:cNvPr id="76" name="Rectangle 75"/>
          <p:cNvSpPr/>
          <p:nvPr/>
        </p:nvSpPr>
        <p:spPr>
          <a:xfrm>
            <a:off x="8138160" y="4032504"/>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183880" y="4032504"/>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动漫书店</a:t>
            </a:r>
          </a:p>
        </p:txBody>
      </p:sp>
      <p:sp>
        <p:nvSpPr>
          <p:cNvPr id="78" name="Rectangle 77"/>
          <p:cNvSpPr/>
          <p:nvPr/>
        </p:nvSpPr>
        <p:spPr>
          <a:xfrm>
            <a:off x="9784080" y="4032504"/>
            <a:ext cx="1645920" cy="475488"/>
          </a:xfrm>
          <a:prstGeom prst="rect">
            <a:avLst/>
          </a:prstGeom>
          <a:solidFill>
            <a:srgbClr val="10101C"/>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29800" y="4032504"/>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品质生活</a:t>
            </a:r>
          </a:p>
        </p:txBody>
      </p:sp>
      <p:sp>
        <p:nvSpPr>
          <p:cNvPr id="80" name="Rectangle 79"/>
          <p:cNvSpPr/>
          <p:nvPr/>
        </p:nvSpPr>
        <p:spPr>
          <a:xfrm>
            <a:off x="640080" y="4507992"/>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 y="4507992"/>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2F</a:t>
            </a:r>
          </a:p>
        </p:txBody>
      </p:sp>
      <p:sp>
        <p:nvSpPr>
          <p:cNvPr id="82" name="Rectangle 81"/>
          <p:cNvSpPr/>
          <p:nvPr/>
        </p:nvSpPr>
        <p:spPr>
          <a:xfrm>
            <a:off x="1554480" y="4507992"/>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600200" y="4507992"/>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旗舰零售</a:t>
            </a:r>
          </a:p>
        </p:txBody>
      </p:sp>
      <p:sp>
        <p:nvSpPr>
          <p:cNvPr id="84" name="Rectangle 83"/>
          <p:cNvSpPr/>
          <p:nvPr/>
        </p:nvSpPr>
        <p:spPr>
          <a:xfrm>
            <a:off x="3200400" y="4507992"/>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246120" y="4507992"/>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二次元 Live</a:t>
            </a:r>
          </a:p>
        </p:txBody>
      </p:sp>
      <p:sp>
        <p:nvSpPr>
          <p:cNvPr id="86" name="Rectangle 85"/>
          <p:cNvSpPr/>
          <p:nvPr/>
        </p:nvSpPr>
        <p:spPr>
          <a:xfrm>
            <a:off x="4846320" y="4507992"/>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892040" y="4507992"/>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休闲运动</a:t>
            </a:r>
          </a:p>
        </p:txBody>
      </p:sp>
      <p:sp>
        <p:nvSpPr>
          <p:cNvPr id="88" name="Rectangle 87"/>
          <p:cNvSpPr/>
          <p:nvPr/>
        </p:nvSpPr>
        <p:spPr>
          <a:xfrm>
            <a:off x="6492240" y="4507992"/>
            <a:ext cx="1645920" cy="475488"/>
          </a:xfrm>
          <a:prstGeom prst="rect">
            <a:avLst/>
          </a:prstGeom>
          <a:solidFill>
            <a:srgbClr val="2A143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537960" y="4507992"/>
            <a:ext cx="1554480" cy="475488"/>
          </a:xfrm>
          <a:prstGeom prst="rect">
            <a:avLst/>
          </a:prstGeom>
          <a:noFill/>
        </p:spPr>
        <p:txBody>
          <a:bodyPr wrap="square" lIns="0" rIns="0" tIns="0" bIns="0" anchor="ctr">
            <a:spAutoFit/>
          </a:bodyPr>
          <a:lstStyle/>
          <a:p>
            <a:pPr algn="ctr">
              <a:lnSpc>
                <a:spcPct val="120000"/>
              </a:lnSpc>
            </a:pPr>
            <a:r>
              <a:rPr sz="1000" b="1" i="0">
                <a:solidFill>
                  <a:srgbClr val="FF4F8B"/>
                </a:solidFill>
                <a:latin typeface="思源黑体 CN"/>
              </a:rPr>
              <a:t>★ 潮玩艺术</a:t>
            </a:r>
          </a:p>
        </p:txBody>
      </p:sp>
      <p:sp>
        <p:nvSpPr>
          <p:cNvPr id="90" name="Rectangle 89"/>
          <p:cNvSpPr/>
          <p:nvPr/>
        </p:nvSpPr>
        <p:spPr>
          <a:xfrm>
            <a:off x="8138160" y="4507992"/>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183880" y="4507992"/>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IP 潮玩零售</a:t>
            </a:r>
          </a:p>
        </p:txBody>
      </p:sp>
      <p:sp>
        <p:nvSpPr>
          <p:cNvPr id="92" name="Rectangle 91"/>
          <p:cNvSpPr/>
          <p:nvPr/>
        </p:nvSpPr>
        <p:spPr>
          <a:xfrm>
            <a:off x="9784080" y="4507992"/>
            <a:ext cx="1645920" cy="475488"/>
          </a:xfrm>
          <a:prstGeom prst="rect">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29800" y="4507992"/>
            <a:ext cx="1554480" cy="475488"/>
          </a:xfrm>
          <a:prstGeom prst="rect">
            <a:avLst/>
          </a:prstGeom>
          <a:noFill/>
        </p:spPr>
        <p:txBody>
          <a:bodyPr wrap="square" lIns="0" rIns="0" tIns="0" bIns="0" anchor="ctr">
            <a:spAutoFit/>
          </a:bodyPr>
          <a:lstStyle/>
          <a:p>
            <a:pPr algn="ctr">
              <a:lnSpc>
                <a:spcPct val="120000"/>
              </a:lnSpc>
            </a:pPr>
            <a:r>
              <a:rPr sz="1000" b="0" i="0">
                <a:solidFill>
                  <a:srgbClr val="ECECF4"/>
                </a:solidFill>
                <a:latin typeface="思源黑体 CN"/>
              </a:rPr>
              <a:t>服务配套</a:t>
            </a:r>
          </a:p>
        </p:txBody>
      </p:sp>
      <p:sp>
        <p:nvSpPr>
          <p:cNvPr id="94" name="Rectangle 93"/>
          <p:cNvSpPr/>
          <p:nvPr/>
        </p:nvSpPr>
        <p:spPr>
          <a:xfrm>
            <a:off x="640080" y="4983480"/>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40080" y="4983480"/>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1F</a:t>
            </a:r>
          </a:p>
        </p:txBody>
      </p:sp>
      <p:sp>
        <p:nvSpPr>
          <p:cNvPr id="96" name="Rectangle 95"/>
          <p:cNvSpPr/>
          <p:nvPr/>
        </p:nvSpPr>
        <p:spPr>
          <a:xfrm>
            <a:off x="1554480" y="4983480"/>
            <a:ext cx="9875520" cy="475488"/>
          </a:xfrm>
          <a:prstGeom prst="rect">
            <a:avLst/>
          </a:prstGeom>
          <a:solidFill>
            <a:srgbClr val="441844"/>
          </a:solidFill>
          <a:ln w="9525">
            <a:solidFill>
              <a:srgbClr val="333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554480" y="4983480"/>
            <a:ext cx="9875520" cy="475488"/>
          </a:xfrm>
          <a:prstGeom prst="rect">
            <a:avLst/>
          </a:prstGeom>
          <a:noFill/>
        </p:spPr>
        <p:txBody>
          <a:bodyPr wrap="square" lIns="0" rIns="0" tIns="0" bIns="0" anchor="ctr">
            <a:spAutoFit/>
          </a:bodyPr>
          <a:lstStyle/>
          <a:p>
            <a:pPr algn="ctr">
              <a:lnSpc>
                <a:spcPct val="120000"/>
              </a:lnSpc>
            </a:pPr>
            <a:r>
              <a:rPr sz="1400" b="1" i="0">
                <a:solidFill>
                  <a:srgbClr val="ECECF4"/>
                </a:solidFill>
                <a:latin typeface="思源黑体 CN"/>
              </a:rPr>
              <a:t>★ IP 潮玩街区</a:t>
            </a:r>
          </a:p>
        </p:txBody>
      </p:sp>
      <p:sp>
        <p:nvSpPr>
          <p:cNvPr id="98" name="Rectangle 97"/>
          <p:cNvSpPr/>
          <p:nvPr/>
        </p:nvSpPr>
        <p:spPr>
          <a:xfrm>
            <a:off x="640080" y="5458968"/>
            <a:ext cx="914400" cy="475488"/>
          </a:xfrm>
          <a:prstGeom prst="rect">
            <a:avLst/>
          </a:prstGeom>
          <a:solidFill>
            <a:srgbClr val="121220"/>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0080" y="5458968"/>
            <a:ext cx="914400" cy="475488"/>
          </a:xfrm>
          <a:prstGeom prst="rect">
            <a:avLst/>
          </a:prstGeom>
          <a:noFill/>
        </p:spPr>
        <p:txBody>
          <a:bodyPr wrap="square" lIns="0" rIns="0" tIns="0" bIns="0" anchor="ctr">
            <a:spAutoFit/>
          </a:bodyPr>
          <a:lstStyle/>
          <a:p>
            <a:pPr algn="ctr">
              <a:lnSpc>
                <a:spcPct val="120000"/>
              </a:lnSpc>
            </a:pPr>
            <a:r>
              <a:rPr sz="1200" b="1" i="0">
                <a:solidFill>
                  <a:srgbClr val="FF4F8B"/>
                </a:solidFill>
                <a:latin typeface="Inter"/>
              </a:rPr>
              <a:t>B1/B2</a:t>
            </a:r>
          </a:p>
        </p:txBody>
      </p:sp>
      <p:sp>
        <p:nvSpPr>
          <p:cNvPr id="100" name="Rectangle 99"/>
          <p:cNvSpPr/>
          <p:nvPr/>
        </p:nvSpPr>
        <p:spPr>
          <a:xfrm>
            <a:off x="1554480" y="5458968"/>
            <a:ext cx="9875520" cy="475488"/>
          </a:xfrm>
          <a:prstGeom prst="rect">
            <a:avLst/>
          </a:prstGeom>
          <a:solidFill>
            <a:srgbClr val="181828"/>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554480" y="5458968"/>
            <a:ext cx="9875520" cy="475488"/>
          </a:xfrm>
          <a:prstGeom prst="rect">
            <a:avLst/>
          </a:prstGeom>
          <a:noFill/>
        </p:spPr>
        <p:txBody>
          <a:bodyPr wrap="square" lIns="0" rIns="0" tIns="0" bIns="0" anchor="ctr">
            <a:spAutoFit/>
          </a:bodyPr>
          <a:lstStyle/>
          <a:p>
            <a:pPr algn="ctr">
              <a:lnSpc>
                <a:spcPct val="120000"/>
              </a:lnSpc>
            </a:pPr>
            <a:r>
              <a:rPr sz="1100" b="0" i="0" spc="300">
                <a:solidFill>
                  <a:srgbClr val="9AA0B8"/>
                </a:solidFill>
                <a:latin typeface="思源黑体 CN"/>
              </a:rPr>
              <a:t>停车场 · PARKING</a:t>
            </a:r>
          </a:p>
        </p:txBody>
      </p:sp>
      <p:sp>
        <p:nvSpPr>
          <p:cNvPr id="102" name="TextBox 101"/>
          <p:cNvSpPr txBox="1"/>
          <p:nvPr/>
        </p:nvSpPr>
        <p:spPr>
          <a:xfrm>
            <a:off x="640080" y="6217920"/>
            <a:ext cx="10972800" cy="274320"/>
          </a:xfrm>
          <a:prstGeom prst="rect">
            <a:avLst/>
          </a:prstGeom>
          <a:noFill/>
        </p:spPr>
        <p:txBody>
          <a:bodyPr wrap="square" lIns="0" rIns="0" tIns="0" bIns="0" anchor="t">
            <a:spAutoFit/>
          </a:bodyPr>
          <a:lstStyle/>
          <a:p>
            <a:pPr algn="l">
              <a:lnSpc>
                <a:spcPct val="120000"/>
              </a:lnSpc>
            </a:pPr>
            <a:r>
              <a:rPr sz="900" b="1" i="0" spc="200">
                <a:solidFill>
                  <a:srgbClr val="FF4F8B"/>
                </a:solidFill>
                <a:latin typeface="思源黑体 CN"/>
              </a:rPr>
              <a:t>★ 主力业态 · ANCHOR FORMAT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18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03 · 商业规划篇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06B6D4"/>
                </a:solidFill>
                <a:latin typeface="思源黑体 CN"/>
              </a:rPr>
              <a:t>（三）主力业态 · ANCHOR FORMATS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五大主力业态 · 锚定潮玩之城</a:t>
            </a:r>
          </a:p>
        </p:txBody>
      </p:sp>
      <p:sp>
        <p:nvSpPr>
          <p:cNvPr id="10" name="Rounded Rectangle 9"/>
          <p:cNvSpPr/>
          <p:nvPr/>
        </p:nvSpPr>
        <p:spPr>
          <a:xfrm>
            <a:off x="640080" y="2468880"/>
            <a:ext cx="3566160" cy="210312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68880"/>
            <a:ext cx="3566160"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97480"/>
            <a:ext cx="1371600" cy="365760"/>
          </a:xfrm>
          <a:prstGeom prst="rect">
            <a:avLst/>
          </a:prstGeom>
          <a:noFill/>
        </p:spPr>
        <p:txBody>
          <a:bodyPr wrap="square" lIns="0" rIns="0" tIns="0" bIns="0" anchor="t">
            <a:spAutoFit/>
          </a:bodyPr>
          <a:lstStyle/>
          <a:p>
            <a:pPr algn="l">
              <a:lnSpc>
                <a:spcPct val="120000"/>
              </a:lnSpc>
            </a:pPr>
            <a:r>
              <a:rPr sz="1400" b="1" i="0" spc="300">
                <a:solidFill>
                  <a:srgbClr val="FF4F8B"/>
                </a:solidFill>
                <a:latin typeface="Inter"/>
              </a:rPr>
              <a:t>01</a:t>
            </a:r>
          </a:p>
        </p:txBody>
      </p:sp>
      <p:sp>
        <p:nvSpPr>
          <p:cNvPr id="13" name="TextBox 12"/>
          <p:cNvSpPr txBox="1"/>
          <p:nvPr/>
        </p:nvSpPr>
        <p:spPr>
          <a:xfrm>
            <a:off x="914400" y="3063240"/>
            <a:ext cx="3017520" cy="457200"/>
          </a:xfrm>
          <a:prstGeom prst="rect">
            <a:avLst/>
          </a:prstGeom>
          <a:noFill/>
        </p:spPr>
        <p:txBody>
          <a:bodyPr wrap="square" lIns="0" rIns="0" tIns="0" bIns="0" anchor="t">
            <a:spAutoFit/>
          </a:bodyPr>
          <a:lstStyle/>
          <a:p>
            <a:pPr algn="l">
              <a:lnSpc>
                <a:spcPct val="125000"/>
              </a:lnSpc>
            </a:pPr>
            <a:r>
              <a:rPr sz="1500" b="1" i="0">
                <a:solidFill>
                  <a:srgbClr val="ECECF4"/>
                </a:solidFill>
                <a:latin typeface="思源黑体 CN"/>
              </a:rPr>
              <a:t>动漫潮玩谷主题街区</a:t>
            </a:r>
          </a:p>
        </p:txBody>
      </p:sp>
      <p:sp>
        <p:nvSpPr>
          <p:cNvPr id="14" name="Rounded Rectangle 13"/>
          <p:cNvSpPr/>
          <p:nvPr/>
        </p:nvSpPr>
        <p:spPr>
          <a:xfrm>
            <a:off x="914400" y="3566160"/>
            <a:ext cx="2011680" cy="292608"/>
          </a:xfrm>
          <a:prstGeom prst="roundRect">
            <a:avLst>
              <a:gd name="adj" fmla="val 5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66160"/>
            <a:ext cx="2011680" cy="292608"/>
          </a:xfrm>
          <a:prstGeom prst="rect">
            <a:avLst/>
          </a:prstGeom>
          <a:noFill/>
        </p:spPr>
        <p:txBody>
          <a:bodyPr wrap="square" lIns="0" rIns="0" tIns="0" bIns="0" anchor="ctr">
            <a:spAutoFit/>
          </a:bodyPr>
          <a:lstStyle/>
          <a:p>
            <a:pPr algn="ctr">
              <a:lnSpc>
                <a:spcPct val="120000"/>
              </a:lnSpc>
            </a:pPr>
            <a:r>
              <a:rPr sz="900" b="1" i="0" spc="200">
                <a:solidFill>
                  <a:srgbClr val="FF4F8B"/>
                </a:solidFill>
                <a:latin typeface="Inter"/>
              </a:rPr>
              <a:t>~3,000 ㎡</a:t>
            </a:r>
          </a:p>
        </p:txBody>
      </p:sp>
      <p:sp>
        <p:nvSpPr>
          <p:cNvPr id="16" name="TextBox 15"/>
          <p:cNvSpPr txBox="1"/>
          <p:nvPr/>
        </p:nvSpPr>
        <p:spPr>
          <a:xfrm>
            <a:off x="914400" y="3950208"/>
            <a:ext cx="301752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南上海首个动漫潮玩主题商业街区</a:t>
            </a:r>
          </a:p>
        </p:txBody>
      </p:sp>
      <p:sp>
        <p:nvSpPr>
          <p:cNvPr id="17" name="Rounded Rectangle 16"/>
          <p:cNvSpPr/>
          <p:nvPr/>
        </p:nvSpPr>
        <p:spPr>
          <a:xfrm>
            <a:off x="4389120" y="2468880"/>
            <a:ext cx="3566160" cy="210312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2468880"/>
            <a:ext cx="356616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697480"/>
            <a:ext cx="1371600" cy="365760"/>
          </a:xfrm>
          <a:prstGeom prst="rect">
            <a:avLst/>
          </a:prstGeom>
          <a:noFill/>
        </p:spPr>
        <p:txBody>
          <a:bodyPr wrap="square" lIns="0" rIns="0" tIns="0" bIns="0" anchor="t">
            <a:spAutoFit/>
          </a:bodyPr>
          <a:lstStyle/>
          <a:p>
            <a:pPr algn="l">
              <a:lnSpc>
                <a:spcPct val="120000"/>
              </a:lnSpc>
            </a:pPr>
            <a:r>
              <a:rPr sz="1400" b="1" i="0" spc="300">
                <a:solidFill>
                  <a:srgbClr val="8B5CF6"/>
                </a:solidFill>
                <a:latin typeface="Inter"/>
              </a:rPr>
              <a:t>02</a:t>
            </a:r>
          </a:p>
        </p:txBody>
      </p:sp>
      <p:sp>
        <p:nvSpPr>
          <p:cNvPr id="20" name="TextBox 19"/>
          <p:cNvSpPr txBox="1"/>
          <p:nvPr/>
        </p:nvSpPr>
        <p:spPr>
          <a:xfrm>
            <a:off x="4663440" y="3063240"/>
            <a:ext cx="3017520" cy="457200"/>
          </a:xfrm>
          <a:prstGeom prst="rect">
            <a:avLst/>
          </a:prstGeom>
          <a:noFill/>
        </p:spPr>
        <p:txBody>
          <a:bodyPr wrap="square" lIns="0" rIns="0" tIns="0" bIns="0" anchor="t">
            <a:spAutoFit/>
          </a:bodyPr>
          <a:lstStyle/>
          <a:p>
            <a:pPr algn="l">
              <a:lnSpc>
                <a:spcPct val="125000"/>
              </a:lnSpc>
            </a:pPr>
            <a:r>
              <a:rPr sz="1500" b="1" i="0">
                <a:solidFill>
                  <a:srgbClr val="ECECF4"/>
                </a:solidFill>
                <a:latin typeface="思源黑体 CN"/>
              </a:rPr>
              <a:t>IP 潮玩选品 &amp; 仓储零售</a:t>
            </a:r>
          </a:p>
        </p:txBody>
      </p:sp>
      <p:sp>
        <p:nvSpPr>
          <p:cNvPr id="21" name="Rounded Rectangle 20"/>
          <p:cNvSpPr/>
          <p:nvPr/>
        </p:nvSpPr>
        <p:spPr>
          <a:xfrm>
            <a:off x="4663440" y="3566160"/>
            <a:ext cx="2011680" cy="292608"/>
          </a:xfrm>
          <a:prstGeom prst="roundRect">
            <a:avLst>
              <a:gd name="adj" fmla="val 5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3566160"/>
            <a:ext cx="2011680" cy="292608"/>
          </a:xfrm>
          <a:prstGeom prst="rect">
            <a:avLst/>
          </a:prstGeom>
          <a:noFill/>
        </p:spPr>
        <p:txBody>
          <a:bodyPr wrap="square" lIns="0" rIns="0" tIns="0" bIns="0" anchor="ctr">
            <a:spAutoFit/>
          </a:bodyPr>
          <a:lstStyle/>
          <a:p>
            <a:pPr algn="ctr">
              <a:lnSpc>
                <a:spcPct val="120000"/>
              </a:lnSpc>
            </a:pPr>
            <a:r>
              <a:rPr sz="900" b="1" i="0" spc="200">
                <a:solidFill>
                  <a:srgbClr val="8B5CF6"/>
                </a:solidFill>
                <a:latin typeface="Inter"/>
              </a:rPr>
              <a:t>~5,000 ㎡</a:t>
            </a:r>
          </a:p>
        </p:txBody>
      </p:sp>
      <p:sp>
        <p:nvSpPr>
          <p:cNvPr id="23" name="TextBox 22"/>
          <p:cNvSpPr txBox="1"/>
          <p:nvPr/>
        </p:nvSpPr>
        <p:spPr>
          <a:xfrm>
            <a:off x="4663440" y="3950208"/>
            <a:ext cx="301752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华东首个 IP 潮玩选品 + 仓储零售中心</a:t>
            </a:r>
          </a:p>
        </p:txBody>
      </p:sp>
      <p:sp>
        <p:nvSpPr>
          <p:cNvPr id="24" name="Rounded Rectangle 23"/>
          <p:cNvSpPr/>
          <p:nvPr/>
        </p:nvSpPr>
        <p:spPr>
          <a:xfrm>
            <a:off x="8138159" y="2468880"/>
            <a:ext cx="3566160" cy="210312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59" y="2468880"/>
            <a:ext cx="356616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9" y="2697480"/>
            <a:ext cx="1371600" cy="365760"/>
          </a:xfrm>
          <a:prstGeom prst="rect">
            <a:avLst/>
          </a:prstGeom>
          <a:noFill/>
        </p:spPr>
        <p:txBody>
          <a:bodyPr wrap="square" lIns="0" rIns="0" tIns="0" bIns="0" anchor="t">
            <a:spAutoFit/>
          </a:bodyPr>
          <a:lstStyle/>
          <a:p>
            <a:pPr algn="l">
              <a:lnSpc>
                <a:spcPct val="120000"/>
              </a:lnSpc>
            </a:pPr>
            <a:r>
              <a:rPr sz="1400" b="1" i="0" spc="300">
                <a:solidFill>
                  <a:srgbClr val="06B6D4"/>
                </a:solidFill>
                <a:latin typeface="Inter"/>
              </a:rPr>
              <a:t>03</a:t>
            </a:r>
          </a:p>
        </p:txBody>
      </p:sp>
      <p:sp>
        <p:nvSpPr>
          <p:cNvPr id="27" name="TextBox 26"/>
          <p:cNvSpPr txBox="1"/>
          <p:nvPr/>
        </p:nvSpPr>
        <p:spPr>
          <a:xfrm>
            <a:off x="8412479" y="3063240"/>
            <a:ext cx="3017520" cy="457200"/>
          </a:xfrm>
          <a:prstGeom prst="rect">
            <a:avLst/>
          </a:prstGeom>
          <a:noFill/>
        </p:spPr>
        <p:txBody>
          <a:bodyPr wrap="square" lIns="0" rIns="0" tIns="0" bIns="0" anchor="t">
            <a:spAutoFit/>
          </a:bodyPr>
          <a:lstStyle/>
          <a:p>
            <a:pPr algn="l">
              <a:lnSpc>
                <a:spcPct val="125000"/>
              </a:lnSpc>
            </a:pPr>
            <a:r>
              <a:rPr sz="1500" b="1" i="0">
                <a:solidFill>
                  <a:srgbClr val="ECECF4"/>
                </a:solidFill>
                <a:latin typeface="思源黑体 CN"/>
              </a:rPr>
              <a:t>潮玩艺术中心</a:t>
            </a:r>
          </a:p>
        </p:txBody>
      </p:sp>
      <p:sp>
        <p:nvSpPr>
          <p:cNvPr id="28" name="Rounded Rectangle 27"/>
          <p:cNvSpPr/>
          <p:nvPr/>
        </p:nvSpPr>
        <p:spPr>
          <a:xfrm>
            <a:off x="8412479" y="3566160"/>
            <a:ext cx="2011680" cy="292608"/>
          </a:xfrm>
          <a:prstGeom prst="roundRect">
            <a:avLst>
              <a:gd name="adj" fmla="val 5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9" y="3566160"/>
            <a:ext cx="2011680" cy="292608"/>
          </a:xfrm>
          <a:prstGeom prst="rect">
            <a:avLst/>
          </a:prstGeom>
          <a:noFill/>
        </p:spPr>
        <p:txBody>
          <a:bodyPr wrap="square" lIns="0" rIns="0" tIns="0" bIns="0" anchor="ctr">
            <a:spAutoFit/>
          </a:bodyPr>
          <a:lstStyle/>
          <a:p>
            <a:pPr algn="ctr">
              <a:lnSpc>
                <a:spcPct val="120000"/>
              </a:lnSpc>
            </a:pPr>
            <a:r>
              <a:rPr sz="900" b="1" i="0" spc="200">
                <a:solidFill>
                  <a:srgbClr val="06B6D4"/>
                </a:solidFill>
                <a:latin typeface="Inter"/>
              </a:rPr>
              <a:t>2,000 ㎡ · 4# 1–3F</a:t>
            </a:r>
          </a:p>
        </p:txBody>
      </p:sp>
      <p:sp>
        <p:nvSpPr>
          <p:cNvPr id="30" name="TextBox 29"/>
          <p:cNvSpPr txBox="1"/>
          <p:nvPr/>
        </p:nvSpPr>
        <p:spPr>
          <a:xfrm>
            <a:off x="8412479" y="3950208"/>
            <a:ext cx="301752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南上海首个特色艺术文化体验空间</a:t>
            </a:r>
          </a:p>
        </p:txBody>
      </p:sp>
      <p:sp>
        <p:nvSpPr>
          <p:cNvPr id="31" name="Rounded Rectangle 30"/>
          <p:cNvSpPr/>
          <p:nvPr/>
        </p:nvSpPr>
        <p:spPr>
          <a:xfrm>
            <a:off x="640080" y="4709160"/>
            <a:ext cx="5440680" cy="14630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709160"/>
            <a:ext cx="544068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937760"/>
            <a:ext cx="1371600" cy="365760"/>
          </a:xfrm>
          <a:prstGeom prst="rect">
            <a:avLst/>
          </a:prstGeom>
          <a:noFill/>
        </p:spPr>
        <p:txBody>
          <a:bodyPr wrap="square" lIns="0" rIns="0" tIns="0" bIns="0" anchor="t">
            <a:spAutoFit/>
          </a:bodyPr>
          <a:lstStyle/>
          <a:p>
            <a:pPr algn="l">
              <a:lnSpc>
                <a:spcPct val="120000"/>
              </a:lnSpc>
            </a:pPr>
            <a:r>
              <a:rPr sz="1400" b="1" i="0" spc="300">
                <a:solidFill>
                  <a:srgbClr val="F59E0B"/>
                </a:solidFill>
                <a:latin typeface="Inter"/>
              </a:rPr>
              <a:t>04</a:t>
            </a:r>
          </a:p>
        </p:txBody>
      </p:sp>
      <p:sp>
        <p:nvSpPr>
          <p:cNvPr id="34" name="TextBox 33"/>
          <p:cNvSpPr txBox="1"/>
          <p:nvPr/>
        </p:nvSpPr>
        <p:spPr>
          <a:xfrm>
            <a:off x="914400" y="5303520"/>
            <a:ext cx="4892040" cy="457200"/>
          </a:xfrm>
          <a:prstGeom prst="rect">
            <a:avLst/>
          </a:prstGeom>
          <a:noFill/>
        </p:spPr>
        <p:txBody>
          <a:bodyPr wrap="square" lIns="0" rIns="0" tIns="0" bIns="0" anchor="t">
            <a:spAutoFit/>
          </a:bodyPr>
          <a:lstStyle/>
          <a:p>
            <a:pPr algn="l">
              <a:lnSpc>
                <a:spcPct val="125000"/>
              </a:lnSpc>
            </a:pPr>
            <a:r>
              <a:rPr sz="1500" b="1" i="0">
                <a:solidFill>
                  <a:srgbClr val="ECECF4"/>
                </a:solidFill>
                <a:latin typeface="思源黑体 CN"/>
              </a:rPr>
              <a:t>森马展厅 &amp; 二次元 Livehouse</a:t>
            </a:r>
          </a:p>
        </p:txBody>
      </p:sp>
      <p:sp>
        <p:nvSpPr>
          <p:cNvPr id="35" name="Rounded Rectangle 34"/>
          <p:cNvSpPr/>
          <p:nvPr/>
        </p:nvSpPr>
        <p:spPr>
          <a:xfrm>
            <a:off x="914400" y="5806440"/>
            <a:ext cx="2011680" cy="292608"/>
          </a:xfrm>
          <a:prstGeom prst="roundRect">
            <a:avLst>
              <a:gd name="adj" fmla="val 5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806440"/>
            <a:ext cx="2011680" cy="292608"/>
          </a:xfrm>
          <a:prstGeom prst="rect">
            <a:avLst/>
          </a:prstGeom>
          <a:noFill/>
        </p:spPr>
        <p:txBody>
          <a:bodyPr wrap="square" lIns="0" rIns="0" tIns="0" bIns="0" anchor="ctr">
            <a:spAutoFit/>
          </a:bodyPr>
          <a:lstStyle/>
          <a:p>
            <a:pPr algn="ctr">
              <a:lnSpc>
                <a:spcPct val="120000"/>
              </a:lnSpc>
            </a:pPr>
            <a:r>
              <a:rPr sz="900" b="1" i="0" spc="200">
                <a:solidFill>
                  <a:srgbClr val="F59E0B"/>
                </a:solidFill>
                <a:latin typeface="Inter"/>
              </a:rPr>
              <a:t>700 ㎡</a:t>
            </a:r>
          </a:p>
        </p:txBody>
      </p:sp>
      <p:sp>
        <p:nvSpPr>
          <p:cNvPr id="37" name="TextBox 36"/>
          <p:cNvSpPr txBox="1"/>
          <p:nvPr/>
        </p:nvSpPr>
        <p:spPr>
          <a:xfrm>
            <a:off x="914400" y="6190488"/>
            <a:ext cx="489204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国内首个二次元主题 Livehouse</a:t>
            </a:r>
          </a:p>
        </p:txBody>
      </p:sp>
      <p:sp>
        <p:nvSpPr>
          <p:cNvPr id="38" name="Rounded Rectangle 37"/>
          <p:cNvSpPr/>
          <p:nvPr/>
        </p:nvSpPr>
        <p:spPr>
          <a:xfrm>
            <a:off x="6263640" y="4709160"/>
            <a:ext cx="5440680" cy="14630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63640" y="4709160"/>
            <a:ext cx="544068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37960" y="4937760"/>
            <a:ext cx="1371600" cy="365760"/>
          </a:xfrm>
          <a:prstGeom prst="rect">
            <a:avLst/>
          </a:prstGeom>
          <a:noFill/>
        </p:spPr>
        <p:txBody>
          <a:bodyPr wrap="square" lIns="0" rIns="0" tIns="0" bIns="0" anchor="t">
            <a:spAutoFit/>
          </a:bodyPr>
          <a:lstStyle/>
          <a:p>
            <a:pPr algn="l">
              <a:lnSpc>
                <a:spcPct val="120000"/>
              </a:lnSpc>
            </a:pPr>
            <a:r>
              <a:rPr sz="1400" b="1" i="0" spc="300">
                <a:solidFill>
                  <a:srgbClr val="10B981"/>
                </a:solidFill>
                <a:latin typeface="Inter"/>
              </a:rPr>
              <a:t>05</a:t>
            </a:r>
          </a:p>
        </p:txBody>
      </p:sp>
      <p:sp>
        <p:nvSpPr>
          <p:cNvPr id="41" name="TextBox 40"/>
          <p:cNvSpPr txBox="1"/>
          <p:nvPr/>
        </p:nvSpPr>
        <p:spPr>
          <a:xfrm>
            <a:off x="6537960" y="5303520"/>
            <a:ext cx="4892040" cy="457200"/>
          </a:xfrm>
          <a:prstGeom prst="rect">
            <a:avLst/>
          </a:prstGeom>
          <a:noFill/>
        </p:spPr>
        <p:txBody>
          <a:bodyPr wrap="square" lIns="0" rIns="0" tIns="0" bIns="0" anchor="t">
            <a:spAutoFit/>
          </a:bodyPr>
          <a:lstStyle/>
          <a:p>
            <a:pPr algn="l">
              <a:lnSpc>
                <a:spcPct val="125000"/>
              </a:lnSpc>
            </a:pPr>
            <a:r>
              <a:rPr sz="1500" b="1" i="0">
                <a:solidFill>
                  <a:srgbClr val="ECECF4"/>
                </a:solidFill>
                <a:latin typeface="思源黑体 CN"/>
              </a:rPr>
              <a:t>动漫主题书店</a:t>
            </a:r>
          </a:p>
        </p:txBody>
      </p:sp>
      <p:sp>
        <p:nvSpPr>
          <p:cNvPr id="42" name="Rounded Rectangle 41"/>
          <p:cNvSpPr/>
          <p:nvPr/>
        </p:nvSpPr>
        <p:spPr>
          <a:xfrm>
            <a:off x="6537960" y="5806440"/>
            <a:ext cx="2011680" cy="292608"/>
          </a:xfrm>
          <a:prstGeom prst="roundRect">
            <a:avLst>
              <a:gd name="adj" fmla="val 50000"/>
            </a:avLst>
          </a:prstGeom>
          <a:solidFill>
            <a:srgbClr val="22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5806440"/>
            <a:ext cx="2011680" cy="292608"/>
          </a:xfrm>
          <a:prstGeom prst="rect">
            <a:avLst/>
          </a:prstGeom>
          <a:noFill/>
        </p:spPr>
        <p:txBody>
          <a:bodyPr wrap="square" lIns="0" rIns="0" tIns="0" bIns="0" anchor="ctr">
            <a:spAutoFit/>
          </a:bodyPr>
          <a:lstStyle/>
          <a:p>
            <a:pPr algn="ctr">
              <a:lnSpc>
                <a:spcPct val="120000"/>
              </a:lnSpc>
            </a:pPr>
            <a:r>
              <a:rPr sz="900" b="1" i="0" spc="200">
                <a:solidFill>
                  <a:srgbClr val="10B981"/>
                </a:solidFill>
                <a:latin typeface="Inter"/>
              </a:rPr>
              <a:t>1,500 ㎡</a:t>
            </a:r>
          </a:p>
        </p:txBody>
      </p:sp>
      <p:sp>
        <p:nvSpPr>
          <p:cNvPr id="44" name="TextBox 43"/>
          <p:cNvSpPr txBox="1"/>
          <p:nvPr/>
        </p:nvSpPr>
        <p:spPr>
          <a:xfrm>
            <a:off x="6537960" y="6190488"/>
            <a:ext cx="4892040" cy="502920"/>
          </a:xfrm>
          <a:prstGeom prst="rect">
            <a:avLst/>
          </a:prstGeom>
          <a:noFill/>
        </p:spPr>
        <p:txBody>
          <a:bodyPr wrap="square" lIns="0" rIns="0" tIns="0" bIns="0" anchor="t">
            <a:spAutoFit/>
          </a:bodyPr>
          <a:lstStyle/>
          <a:p>
            <a:pPr algn="l">
              <a:lnSpc>
                <a:spcPct val="145000"/>
              </a:lnSpc>
            </a:pPr>
            <a:r>
              <a:rPr sz="1000" b="0" i="0">
                <a:solidFill>
                  <a:srgbClr val="9AA0B8"/>
                </a:solidFill>
                <a:latin typeface="思源黑体 CN"/>
              </a:rPr>
              <a:t>南上海首个动漫主题书店 · 展售 + 签售 + 咖啡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2743200"/>
            <a:ext cx="8229600" cy="8229600"/>
          </a:xfrm>
          <a:prstGeom prst="ellipse">
            <a:avLst/>
          </a:prstGeom>
          <a:solidFill>
            <a:srgbClr val="4D2F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0972800" cy="365760"/>
          </a:xfrm>
          <a:prstGeom prst="rect">
            <a:avLst/>
          </a:prstGeom>
          <a:noFill/>
        </p:spPr>
        <p:txBody>
          <a:bodyPr wrap="square" lIns="0" rIns="0" tIns="0" bIns="0" anchor="t">
            <a:spAutoFit/>
          </a:bodyPr>
          <a:lstStyle/>
          <a:p>
            <a:pPr algn="ctr">
              <a:lnSpc>
                <a:spcPct val="120000"/>
              </a:lnSpc>
            </a:pPr>
            <a:r>
              <a:rPr sz="1100" b="1" i="0" spc="600">
                <a:solidFill>
                  <a:srgbClr val="F59E0B"/>
                </a:solidFill>
                <a:latin typeface="Inter"/>
              </a:rPr>
              <a:t>CHAPTER 04</a:t>
            </a:r>
          </a:p>
        </p:txBody>
      </p:sp>
      <p:sp>
        <p:nvSpPr>
          <p:cNvPr id="5" name="TextBox 4"/>
          <p:cNvSpPr txBox="1"/>
          <p:nvPr/>
        </p:nvSpPr>
        <p:spPr>
          <a:xfrm>
            <a:off x="457200" y="1188720"/>
            <a:ext cx="11277295" cy="2377440"/>
          </a:xfrm>
          <a:prstGeom prst="rect">
            <a:avLst/>
          </a:prstGeom>
          <a:noFill/>
        </p:spPr>
        <p:txBody>
          <a:bodyPr wrap="square" lIns="0" rIns="0" tIns="0" bIns="0" anchor="t">
            <a:spAutoFit/>
          </a:bodyPr>
          <a:lstStyle/>
          <a:p>
            <a:pPr algn="ctr">
              <a:lnSpc>
                <a:spcPct val="95000"/>
              </a:lnSpc>
            </a:pPr>
            <a:r>
              <a:rPr sz="24000" b="1" i="0">
                <a:solidFill>
                  <a:srgbClr val="ECECF4"/>
                </a:solidFill>
                <a:latin typeface="Inter"/>
              </a:rPr>
              <a:t>04</a:t>
            </a:r>
          </a:p>
        </p:txBody>
      </p:sp>
      <p:sp>
        <p:nvSpPr>
          <p:cNvPr id="6" name="TextBox 5"/>
          <p:cNvSpPr txBox="1"/>
          <p:nvPr/>
        </p:nvSpPr>
        <p:spPr>
          <a:xfrm>
            <a:off x="457200" y="4297680"/>
            <a:ext cx="11277295" cy="731520"/>
          </a:xfrm>
          <a:prstGeom prst="rect">
            <a:avLst/>
          </a:prstGeom>
          <a:noFill/>
        </p:spPr>
        <p:txBody>
          <a:bodyPr wrap="square" lIns="0" rIns="0" tIns="0" bIns="0" anchor="t">
            <a:spAutoFit/>
          </a:bodyPr>
          <a:lstStyle/>
          <a:p>
            <a:pPr algn="ctr">
              <a:lnSpc>
                <a:spcPct val="110000"/>
              </a:lnSpc>
            </a:pPr>
            <a:r>
              <a:rPr sz="4400" b="1" i="0">
                <a:solidFill>
                  <a:srgbClr val="ECECF4"/>
                </a:solidFill>
                <a:latin typeface="思源黑体 CN"/>
              </a:rPr>
              <a:t>运营合作篇</a:t>
            </a:r>
          </a:p>
        </p:txBody>
      </p:sp>
      <p:sp>
        <p:nvSpPr>
          <p:cNvPr id="7" name="TextBox 6"/>
          <p:cNvSpPr txBox="1"/>
          <p:nvPr/>
        </p:nvSpPr>
        <p:spPr>
          <a:xfrm>
            <a:off x="457200" y="5120640"/>
            <a:ext cx="11277295" cy="457200"/>
          </a:xfrm>
          <a:prstGeom prst="rect">
            <a:avLst/>
          </a:prstGeom>
          <a:noFill/>
        </p:spPr>
        <p:txBody>
          <a:bodyPr wrap="square" lIns="0" rIns="0" tIns="0" bIns="0" anchor="t">
            <a:spAutoFit/>
          </a:bodyPr>
          <a:lstStyle/>
          <a:p>
            <a:pPr algn="ctr">
              <a:lnSpc>
                <a:spcPct val="120000"/>
              </a:lnSpc>
            </a:pPr>
            <a:r>
              <a:rPr sz="1300" b="0" i="0" spc="600">
                <a:solidFill>
                  <a:srgbClr val="9AA0B8"/>
                </a:solidFill>
                <a:latin typeface="Inter"/>
              </a:rPr>
              <a:t>OPERATIONS &amp; COOPERATION</a:t>
            </a:r>
          </a:p>
        </p:txBody>
      </p:sp>
      <p:sp>
        <p:nvSpPr>
          <p:cNvPr id="8" name="Rectangle 7"/>
          <p:cNvSpPr/>
          <p:nvPr/>
        </p:nvSpPr>
        <p:spPr>
          <a:xfrm>
            <a:off x="5632704" y="5760720"/>
            <a:ext cx="91440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20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04 · 运营合作篇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59E0B"/>
                </a:solidFill>
                <a:latin typeface="思源黑体 CN"/>
              </a:rPr>
              <a:t>三大旗舰活动 · FLAGSHIP EVENTS</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从垂类热度  延展广域客群</a:t>
            </a:r>
          </a:p>
        </p:txBody>
      </p:sp>
      <p:sp>
        <p:nvSpPr>
          <p:cNvPr id="10" name="Rounded Rectangle 9"/>
          <p:cNvSpPr/>
          <p:nvPr/>
        </p:nvSpPr>
        <p:spPr>
          <a:xfrm>
            <a:off x="640080" y="2468880"/>
            <a:ext cx="3566160" cy="3749039"/>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743200"/>
            <a:ext cx="1554480" cy="274320"/>
          </a:xfrm>
          <a:prstGeom prst="roundRect">
            <a:avLst>
              <a:gd name="adj" fmla="val 50000"/>
            </a:avLst>
          </a:prstGeom>
          <a:solidFill>
            <a:srgbClr val="442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43200"/>
            <a:ext cx="1554480" cy="274320"/>
          </a:xfrm>
          <a:prstGeom prst="rect">
            <a:avLst/>
          </a:prstGeom>
          <a:noFill/>
        </p:spPr>
        <p:txBody>
          <a:bodyPr wrap="square" lIns="0" rIns="0" tIns="0" bIns="0" anchor="ctr">
            <a:spAutoFit/>
          </a:bodyPr>
          <a:lstStyle/>
          <a:p>
            <a:pPr algn="ctr">
              <a:lnSpc>
                <a:spcPct val="120000"/>
              </a:lnSpc>
            </a:pPr>
            <a:r>
              <a:rPr sz="800" b="1" i="0" spc="200">
                <a:solidFill>
                  <a:srgbClr val="F59E0B"/>
                </a:solidFill>
                <a:latin typeface="思源黑体 CN"/>
              </a:rPr>
              <a:t>（一）特色集会</a:t>
            </a:r>
          </a:p>
        </p:txBody>
      </p:sp>
      <p:sp>
        <p:nvSpPr>
          <p:cNvPr id="13" name="TextBox 12"/>
          <p:cNvSpPr txBox="1"/>
          <p:nvPr/>
        </p:nvSpPr>
        <p:spPr>
          <a:xfrm>
            <a:off x="914400" y="3154680"/>
            <a:ext cx="3108960" cy="64008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潮玩集市</a:t>
            </a:r>
          </a:p>
        </p:txBody>
      </p:sp>
      <p:sp>
        <p:nvSpPr>
          <p:cNvPr id="14" name="TextBox 13"/>
          <p:cNvSpPr txBox="1"/>
          <p:nvPr/>
        </p:nvSpPr>
        <p:spPr>
          <a:xfrm>
            <a:off x="914400" y="3931920"/>
            <a:ext cx="3108960" cy="320040"/>
          </a:xfrm>
          <a:prstGeom prst="rect">
            <a:avLst/>
          </a:prstGeom>
          <a:noFill/>
        </p:spPr>
        <p:txBody>
          <a:bodyPr wrap="square" lIns="0" rIns="0" tIns="0" bIns="0" anchor="t">
            <a:spAutoFit/>
          </a:bodyPr>
          <a:lstStyle/>
          <a:p>
            <a:pPr algn="l">
              <a:lnSpc>
                <a:spcPct val="120000"/>
              </a:lnSpc>
            </a:pPr>
            <a:r>
              <a:rPr sz="1000" b="1" i="0">
                <a:solidFill>
                  <a:srgbClr val="FF4F8B"/>
                </a:solidFill>
                <a:latin typeface="思源黑体 CN"/>
              </a:rPr>
              <a:t>📍 中心广场</a:t>
            </a:r>
          </a:p>
        </p:txBody>
      </p:sp>
      <p:sp>
        <p:nvSpPr>
          <p:cNvPr id="15" name="Rectangle 14"/>
          <p:cNvSpPr/>
          <p:nvPr/>
        </p:nvSpPr>
        <p:spPr>
          <a:xfrm>
            <a:off x="914400" y="4297680"/>
            <a:ext cx="457200" cy="36576"/>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434840"/>
            <a:ext cx="3108960" cy="13716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IP 艺术展 · 次元市集 · 嘉年华 · 动漫展会 · 二次元路演 · 品牌出海交流会</a:t>
            </a:r>
          </a:p>
        </p:txBody>
      </p:sp>
      <p:sp>
        <p:nvSpPr>
          <p:cNvPr id="17" name="Rounded Rectangle 16"/>
          <p:cNvSpPr/>
          <p:nvPr/>
        </p:nvSpPr>
        <p:spPr>
          <a:xfrm>
            <a:off x="4389120" y="2468880"/>
            <a:ext cx="3566160" cy="3749039"/>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63440" y="2743200"/>
            <a:ext cx="1554480" cy="274320"/>
          </a:xfrm>
          <a:prstGeom prst="roundRect">
            <a:avLst>
              <a:gd name="adj" fmla="val 50000"/>
            </a:avLst>
          </a:prstGeom>
          <a:solidFill>
            <a:srgbClr val="442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2743200"/>
            <a:ext cx="1554480" cy="274320"/>
          </a:xfrm>
          <a:prstGeom prst="rect">
            <a:avLst/>
          </a:prstGeom>
          <a:noFill/>
        </p:spPr>
        <p:txBody>
          <a:bodyPr wrap="square" lIns="0" rIns="0" tIns="0" bIns="0" anchor="ctr">
            <a:spAutoFit/>
          </a:bodyPr>
          <a:lstStyle/>
          <a:p>
            <a:pPr algn="ctr">
              <a:lnSpc>
                <a:spcPct val="120000"/>
              </a:lnSpc>
            </a:pPr>
            <a:r>
              <a:rPr sz="800" b="1" i="0" spc="200">
                <a:solidFill>
                  <a:srgbClr val="F59E0B"/>
                </a:solidFill>
                <a:latin typeface="思源黑体 CN"/>
              </a:rPr>
              <a:t>（二）产品首发</a:t>
            </a:r>
          </a:p>
        </p:txBody>
      </p:sp>
      <p:sp>
        <p:nvSpPr>
          <p:cNvPr id="20" name="TextBox 19"/>
          <p:cNvSpPr txBox="1"/>
          <p:nvPr/>
        </p:nvSpPr>
        <p:spPr>
          <a:xfrm>
            <a:off x="4663440" y="3154680"/>
            <a:ext cx="3108960" cy="64008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动漫新品 &amp; 跨界首发会</a:t>
            </a:r>
          </a:p>
        </p:txBody>
      </p:sp>
      <p:sp>
        <p:nvSpPr>
          <p:cNvPr id="21" name="TextBox 20"/>
          <p:cNvSpPr txBox="1"/>
          <p:nvPr/>
        </p:nvSpPr>
        <p:spPr>
          <a:xfrm>
            <a:off x="4663440" y="3931920"/>
            <a:ext cx="3108960" cy="320040"/>
          </a:xfrm>
          <a:prstGeom prst="rect">
            <a:avLst/>
          </a:prstGeom>
          <a:noFill/>
        </p:spPr>
        <p:txBody>
          <a:bodyPr wrap="square" lIns="0" rIns="0" tIns="0" bIns="0" anchor="t">
            <a:spAutoFit/>
          </a:bodyPr>
          <a:lstStyle/>
          <a:p>
            <a:pPr algn="l">
              <a:lnSpc>
                <a:spcPct val="120000"/>
              </a:lnSpc>
            </a:pPr>
            <a:r>
              <a:rPr sz="1000" b="1" i="0">
                <a:solidFill>
                  <a:srgbClr val="8B5CF6"/>
                </a:solidFill>
                <a:latin typeface="思源黑体 CN"/>
              </a:rPr>
              <a:t>📍 中心广场 · 4#</a:t>
            </a:r>
          </a:p>
        </p:txBody>
      </p:sp>
      <p:sp>
        <p:nvSpPr>
          <p:cNvPr id="22" name="Rectangle 21"/>
          <p:cNvSpPr/>
          <p:nvPr/>
        </p:nvSpPr>
        <p:spPr>
          <a:xfrm>
            <a:off x="4663440" y="4297680"/>
            <a:ext cx="457200"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4434840"/>
            <a:ext cx="3108960" cy="13716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年度全新动漫内容 · 原创 IP 形象 · 潮玩手办 · 周边衍生 · 多品类跨界联名</a:t>
            </a:r>
          </a:p>
        </p:txBody>
      </p:sp>
      <p:sp>
        <p:nvSpPr>
          <p:cNvPr id="24" name="TextBox 23"/>
          <p:cNvSpPr txBox="1"/>
          <p:nvPr/>
        </p:nvSpPr>
        <p:spPr>
          <a:xfrm>
            <a:off x="4663440" y="5715000"/>
            <a:ext cx="3108960" cy="457200"/>
          </a:xfrm>
          <a:prstGeom prst="rect">
            <a:avLst/>
          </a:prstGeom>
          <a:noFill/>
        </p:spPr>
        <p:txBody>
          <a:bodyPr wrap="square" lIns="0" rIns="0" tIns="0" bIns="0" anchor="t">
            <a:spAutoFit/>
          </a:bodyPr>
          <a:lstStyle/>
          <a:p>
            <a:pPr algn="l">
              <a:lnSpc>
                <a:spcPct val="140000"/>
              </a:lnSpc>
            </a:pPr>
            <a:r>
              <a:rPr sz="1000" b="1" i="0">
                <a:solidFill>
                  <a:srgbClr val="ECECF4"/>
                </a:solidFill>
                <a:latin typeface="思源黑体 CN"/>
              </a:rPr>
              <a:t>现场体验 + 互动打卡 + 合作签约</a:t>
            </a:r>
          </a:p>
        </p:txBody>
      </p:sp>
      <p:sp>
        <p:nvSpPr>
          <p:cNvPr id="25" name="Rounded Rectangle 24"/>
          <p:cNvSpPr/>
          <p:nvPr/>
        </p:nvSpPr>
        <p:spPr>
          <a:xfrm>
            <a:off x="8138159" y="2468880"/>
            <a:ext cx="3566160" cy="3749039"/>
          </a:xfrm>
          <a:prstGeom prst="roundRect">
            <a:avLst>
              <a:gd name="adj" fmla="val 6000"/>
            </a:avLst>
          </a:prstGeom>
          <a:solidFill>
            <a:srgbClr val="1E1410"/>
          </a:solidFill>
          <a:ln w="95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12479" y="2743200"/>
            <a:ext cx="1554480" cy="274320"/>
          </a:xfrm>
          <a:prstGeom prst="roundRect">
            <a:avLst>
              <a:gd name="adj" fmla="val 50000"/>
            </a:avLst>
          </a:prstGeom>
          <a:solidFill>
            <a:srgbClr val="442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9" y="2743200"/>
            <a:ext cx="1554480" cy="274320"/>
          </a:xfrm>
          <a:prstGeom prst="rect">
            <a:avLst/>
          </a:prstGeom>
          <a:noFill/>
        </p:spPr>
        <p:txBody>
          <a:bodyPr wrap="square" lIns="0" rIns="0" tIns="0" bIns="0" anchor="ctr">
            <a:spAutoFit/>
          </a:bodyPr>
          <a:lstStyle/>
          <a:p>
            <a:pPr algn="ctr">
              <a:lnSpc>
                <a:spcPct val="120000"/>
              </a:lnSpc>
            </a:pPr>
            <a:r>
              <a:rPr sz="800" b="1" i="0" spc="200">
                <a:solidFill>
                  <a:srgbClr val="F59E0B"/>
                </a:solidFill>
                <a:latin typeface="思源黑体 CN"/>
              </a:rPr>
              <a:t>（三）主题大赛</a:t>
            </a:r>
          </a:p>
        </p:txBody>
      </p:sp>
      <p:sp>
        <p:nvSpPr>
          <p:cNvPr id="28" name="TextBox 27"/>
          <p:cNvSpPr txBox="1"/>
          <p:nvPr/>
        </p:nvSpPr>
        <p:spPr>
          <a:xfrm>
            <a:off x="8412479" y="3154680"/>
            <a:ext cx="3108960" cy="640080"/>
          </a:xfrm>
          <a:prstGeom prst="rect">
            <a:avLst/>
          </a:prstGeom>
          <a:noFill/>
        </p:spPr>
        <p:txBody>
          <a:bodyPr wrap="square" lIns="0" rIns="0" tIns="0" bIns="0" anchor="t">
            <a:spAutoFit/>
          </a:bodyPr>
          <a:lstStyle/>
          <a:p>
            <a:pPr algn="l">
              <a:lnSpc>
                <a:spcPct val="120000"/>
              </a:lnSpc>
            </a:pPr>
            <a:r>
              <a:rPr sz="2000" b="1" i="0">
                <a:solidFill>
                  <a:srgbClr val="ECECF4"/>
                </a:solidFill>
                <a:latin typeface="思源黑体 CN"/>
              </a:rPr>
              <a:t>全国潮玩设计大赛</a:t>
            </a:r>
          </a:p>
        </p:txBody>
      </p:sp>
      <p:sp>
        <p:nvSpPr>
          <p:cNvPr id="29" name="TextBox 28"/>
          <p:cNvSpPr txBox="1"/>
          <p:nvPr/>
        </p:nvSpPr>
        <p:spPr>
          <a:xfrm>
            <a:off x="8412479" y="3931920"/>
            <a:ext cx="3108960" cy="320040"/>
          </a:xfrm>
          <a:prstGeom prst="rect">
            <a:avLst/>
          </a:prstGeom>
          <a:noFill/>
        </p:spPr>
        <p:txBody>
          <a:bodyPr wrap="square" lIns="0" rIns="0" tIns="0" bIns="0" anchor="t">
            <a:spAutoFit/>
          </a:bodyPr>
          <a:lstStyle/>
          <a:p>
            <a:pPr algn="l">
              <a:lnSpc>
                <a:spcPct val="120000"/>
              </a:lnSpc>
            </a:pPr>
            <a:r>
              <a:rPr sz="1000" b="1" i="0">
                <a:solidFill>
                  <a:srgbClr val="06B6D4"/>
                </a:solidFill>
                <a:latin typeface="思源黑体 CN"/>
              </a:rPr>
              <a:t>📍 中心广场</a:t>
            </a:r>
          </a:p>
        </p:txBody>
      </p:sp>
      <p:sp>
        <p:nvSpPr>
          <p:cNvPr id="30" name="Rectangle 29"/>
          <p:cNvSpPr/>
          <p:nvPr/>
        </p:nvSpPr>
        <p:spPr>
          <a:xfrm>
            <a:off x="8412479" y="4297680"/>
            <a:ext cx="4572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9" y="4434840"/>
            <a:ext cx="3108960" cy="1371600"/>
          </a:xfrm>
          <a:prstGeom prst="rect">
            <a:avLst/>
          </a:prstGeom>
          <a:noFill/>
        </p:spPr>
        <p:txBody>
          <a:bodyPr wrap="square" lIns="0" rIns="0" tIns="0" bIns="0" anchor="t">
            <a:spAutoFit/>
          </a:bodyPr>
          <a:lstStyle/>
          <a:p>
            <a:pPr algn="l">
              <a:lnSpc>
                <a:spcPct val="170000"/>
              </a:lnSpc>
            </a:pPr>
            <a:r>
              <a:rPr sz="1100" b="0" i="0">
                <a:solidFill>
                  <a:srgbClr val="9AA0B8"/>
                </a:solidFill>
                <a:latin typeface="思源黑体 CN"/>
              </a:rPr>
              <a:t>原创 IP 形象 · 手办盲盒 · 国潮文创 · 数字潮玩</a:t>
            </a:r>
          </a:p>
        </p:txBody>
      </p:sp>
      <p:sp>
        <p:nvSpPr>
          <p:cNvPr id="32" name="TextBox 31"/>
          <p:cNvSpPr txBox="1"/>
          <p:nvPr/>
        </p:nvSpPr>
        <p:spPr>
          <a:xfrm>
            <a:off x="8412479" y="5715000"/>
            <a:ext cx="3108960" cy="457200"/>
          </a:xfrm>
          <a:prstGeom prst="rect">
            <a:avLst/>
          </a:prstGeom>
          <a:noFill/>
        </p:spPr>
        <p:txBody>
          <a:bodyPr wrap="square" lIns="0" rIns="0" tIns="0" bIns="0" anchor="t">
            <a:spAutoFit/>
          </a:bodyPr>
          <a:lstStyle/>
          <a:p>
            <a:pPr algn="l">
              <a:lnSpc>
                <a:spcPct val="140000"/>
              </a:lnSpc>
            </a:pPr>
            <a:r>
              <a:rPr sz="1000" b="1" i="0">
                <a:solidFill>
                  <a:srgbClr val="ECECF4"/>
                </a:solidFill>
                <a:latin typeface="思源黑体 CN"/>
              </a:rPr>
              <a:t>合作单位：中国动漫集团 · 上海交大设计学院</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21 / 24</a:t>
            </a:r>
          </a:p>
        </p:txBody>
      </p:sp>
      <p:sp>
        <p:nvSpPr>
          <p:cNvPr id="7" name="TextBox 6"/>
          <p:cNvSpPr txBox="1"/>
          <p:nvPr/>
        </p:nvSpPr>
        <p:spPr>
          <a:xfrm>
            <a:off x="457200" y="164592"/>
            <a:ext cx="5486400" cy="274320"/>
          </a:xfrm>
          <a:prstGeom prst="rect">
            <a:avLst/>
          </a:prstGeom>
          <a:noFill/>
        </p:spPr>
        <p:txBody>
          <a:bodyPr wrap="square" lIns="0" rIns="0" tIns="0" bIns="0" anchor="t">
            <a:spAutoFit/>
          </a:bodyPr>
          <a:lstStyle/>
          <a:p>
            <a:pPr algn="l">
              <a:lnSpc>
                <a:spcPct val="120000"/>
              </a:lnSpc>
            </a:pPr>
            <a:r>
              <a:rPr sz="900" b="1" i="0" spc="300">
                <a:solidFill>
                  <a:srgbClr val="FF4F8B"/>
                </a:solidFill>
                <a:latin typeface="Inter"/>
              </a:rPr>
              <a:t>04 · 运营合作篇</a:t>
            </a:r>
          </a:p>
        </p:txBody>
      </p:sp>
      <p:sp>
        <p:nvSpPr>
          <p:cNvPr id="8" name="TextBox 7"/>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59E0B"/>
                </a:solidFill>
                <a:latin typeface="思源黑体 CN"/>
              </a:rPr>
              <a:t>（四）拟合作品牌 · PARTNER MATRIX</a:t>
            </a:r>
          </a:p>
        </p:txBody>
      </p:sp>
      <p:sp>
        <p:nvSpPr>
          <p:cNvPr id="9" name="TextBox 8"/>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3000" b="1" i="0">
                <a:solidFill>
                  <a:srgbClr val="ECECF4"/>
                </a:solidFill>
                <a:latin typeface="思源黑体 CN"/>
              </a:rPr>
              <a:t>生态合作伙伴矩阵</a:t>
            </a:r>
          </a:p>
        </p:txBody>
      </p:sp>
      <p:sp>
        <p:nvSpPr>
          <p:cNvPr id="10" name="Rounded Rectangle 9"/>
          <p:cNvSpPr/>
          <p:nvPr/>
        </p:nvSpPr>
        <p:spPr>
          <a:xfrm>
            <a:off x="640080" y="2468880"/>
            <a:ext cx="3566160" cy="3749039"/>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97480"/>
            <a:ext cx="310896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IP 潮玩 / 二次元</a:t>
            </a:r>
          </a:p>
        </p:txBody>
      </p:sp>
      <p:sp>
        <p:nvSpPr>
          <p:cNvPr id="12" name="Rectangle 11"/>
          <p:cNvSpPr/>
          <p:nvPr/>
        </p:nvSpPr>
        <p:spPr>
          <a:xfrm>
            <a:off x="914400" y="3108960"/>
            <a:ext cx="548640" cy="36576"/>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0120" y="34564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337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绮丽少女</a:t>
            </a:r>
          </a:p>
        </p:txBody>
      </p:sp>
      <p:sp>
        <p:nvSpPr>
          <p:cNvPr id="15" name="Oval 14"/>
          <p:cNvSpPr/>
          <p:nvPr/>
        </p:nvSpPr>
        <p:spPr>
          <a:xfrm>
            <a:off x="960120" y="39136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947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秋子 ACG 超级贩卖仓</a:t>
            </a:r>
          </a:p>
        </p:txBody>
      </p:sp>
      <p:sp>
        <p:nvSpPr>
          <p:cNvPr id="17" name="Oval 16"/>
          <p:cNvSpPr/>
          <p:nvPr/>
        </p:nvSpPr>
        <p:spPr>
          <a:xfrm>
            <a:off x="960120" y="43708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2519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轻语有品</a:t>
            </a:r>
          </a:p>
        </p:txBody>
      </p:sp>
      <p:sp>
        <p:nvSpPr>
          <p:cNvPr id="19" name="Oval 18"/>
          <p:cNvSpPr/>
          <p:nvPr/>
        </p:nvSpPr>
        <p:spPr>
          <a:xfrm>
            <a:off x="960120" y="48280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47091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宏腾玩具</a:t>
            </a:r>
          </a:p>
        </p:txBody>
      </p:sp>
      <p:sp>
        <p:nvSpPr>
          <p:cNvPr id="21" name="Oval 20"/>
          <p:cNvSpPr/>
          <p:nvPr/>
        </p:nvSpPr>
        <p:spPr>
          <a:xfrm>
            <a:off x="960120" y="52852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1663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超级悦沢</a:t>
            </a:r>
          </a:p>
        </p:txBody>
      </p:sp>
      <p:sp>
        <p:nvSpPr>
          <p:cNvPr id="23" name="Oval 22"/>
          <p:cNvSpPr/>
          <p:nvPr/>
        </p:nvSpPr>
        <p:spPr>
          <a:xfrm>
            <a:off x="960120" y="5742432"/>
            <a:ext cx="91440" cy="91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5623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樱漫书店</a:t>
            </a:r>
          </a:p>
        </p:txBody>
      </p:sp>
      <p:sp>
        <p:nvSpPr>
          <p:cNvPr id="25" name="Rounded Rectangle 24"/>
          <p:cNvSpPr/>
          <p:nvPr/>
        </p:nvSpPr>
        <p:spPr>
          <a:xfrm>
            <a:off x="4389120" y="2468880"/>
            <a:ext cx="3566160" cy="3749039"/>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2697480"/>
            <a:ext cx="3108960" cy="365760"/>
          </a:xfrm>
          <a:prstGeom prst="rect">
            <a:avLst/>
          </a:prstGeom>
          <a:noFill/>
        </p:spPr>
        <p:txBody>
          <a:bodyPr wrap="square" lIns="0" rIns="0" tIns="0" bIns="0" anchor="t">
            <a:spAutoFit/>
          </a:bodyPr>
          <a:lstStyle/>
          <a:p>
            <a:pPr algn="l">
              <a:lnSpc>
                <a:spcPct val="120000"/>
              </a:lnSpc>
            </a:pPr>
            <a:r>
              <a:rPr sz="1100" b="1" i="0" spc="300">
                <a:solidFill>
                  <a:srgbClr val="8B5CF6"/>
                </a:solidFill>
                <a:latin typeface="思源黑体 CN"/>
              </a:rPr>
              <a:t>产业合作机构</a:t>
            </a:r>
          </a:p>
        </p:txBody>
      </p:sp>
      <p:sp>
        <p:nvSpPr>
          <p:cNvPr id="27" name="Rectangle 26"/>
          <p:cNvSpPr/>
          <p:nvPr/>
        </p:nvSpPr>
        <p:spPr>
          <a:xfrm>
            <a:off x="4663440" y="3108960"/>
            <a:ext cx="548640" cy="365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09160" y="34564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0" y="3337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中国百货协会</a:t>
            </a:r>
          </a:p>
        </p:txBody>
      </p:sp>
      <p:sp>
        <p:nvSpPr>
          <p:cNvPr id="30" name="Oval 29"/>
          <p:cNvSpPr/>
          <p:nvPr/>
        </p:nvSpPr>
        <p:spPr>
          <a:xfrm>
            <a:off x="4709160" y="39136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37947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中国动漫集团</a:t>
            </a:r>
          </a:p>
        </p:txBody>
      </p:sp>
      <p:sp>
        <p:nvSpPr>
          <p:cNvPr id="32" name="Oval 31"/>
          <p:cNvSpPr/>
          <p:nvPr/>
        </p:nvSpPr>
        <p:spPr>
          <a:xfrm>
            <a:off x="4709160" y="43708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42519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上海交大设计学院</a:t>
            </a:r>
          </a:p>
        </p:txBody>
      </p:sp>
      <p:sp>
        <p:nvSpPr>
          <p:cNvPr id="34" name="Oval 33"/>
          <p:cNvSpPr/>
          <p:nvPr/>
        </p:nvSpPr>
        <p:spPr>
          <a:xfrm>
            <a:off x="4709160" y="48280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47091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闵行科协</a:t>
            </a:r>
          </a:p>
        </p:txBody>
      </p:sp>
      <p:sp>
        <p:nvSpPr>
          <p:cNvPr id="36" name="Oval 35"/>
          <p:cNvSpPr/>
          <p:nvPr/>
        </p:nvSpPr>
        <p:spPr>
          <a:xfrm>
            <a:off x="4709160" y="52852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0" y="51663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森马集团</a:t>
            </a:r>
          </a:p>
        </p:txBody>
      </p:sp>
      <p:sp>
        <p:nvSpPr>
          <p:cNvPr id="38" name="Oval 37"/>
          <p:cNvSpPr/>
          <p:nvPr/>
        </p:nvSpPr>
        <p:spPr>
          <a:xfrm>
            <a:off x="4709160" y="5742432"/>
            <a:ext cx="91440" cy="914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5623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骏耀科技</a:t>
            </a:r>
          </a:p>
        </p:txBody>
      </p:sp>
      <p:sp>
        <p:nvSpPr>
          <p:cNvPr id="40" name="Rounded Rectangle 39"/>
          <p:cNvSpPr/>
          <p:nvPr/>
        </p:nvSpPr>
        <p:spPr>
          <a:xfrm>
            <a:off x="8138159" y="2468880"/>
            <a:ext cx="3566160" cy="3749039"/>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79" y="2697480"/>
            <a:ext cx="3108960" cy="365760"/>
          </a:xfrm>
          <a:prstGeom prst="rect">
            <a:avLst/>
          </a:prstGeom>
          <a:noFill/>
        </p:spPr>
        <p:txBody>
          <a:bodyPr wrap="square" lIns="0" rIns="0" tIns="0" bIns="0" anchor="t">
            <a:spAutoFit/>
          </a:bodyPr>
          <a:lstStyle/>
          <a:p>
            <a:pPr algn="l">
              <a:lnSpc>
                <a:spcPct val="120000"/>
              </a:lnSpc>
            </a:pPr>
            <a:r>
              <a:rPr sz="1100" b="1" i="0" spc="300">
                <a:solidFill>
                  <a:srgbClr val="06B6D4"/>
                </a:solidFill>
                <a:latin typeface="思源黑体 CN"/>
              </a:rPr>
              <a:t>周边产业生态</a:t>
            </a:r>
          </a:p>
        </p:txBody>
      </p:sp>
      <p:sp>
        <p:nvSpPr>
          <p:cNvPr id="42" name="Rectangle 41"/>
          <p:cNvSpPr/>
          <p:nvPr/>
        </p:nvSpPr>
        <p:spPr>
          <a:xfrm>
            <a:off x="8412479" y="3108960"/>
            <a:ext cx="54864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458199" y="34564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799" y="3337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森马产业</a:t>
            </a:r>
          </a:p>
        </p:txBody>
      </p:sp>
      <p:sp>
        <p:nvSpPr>
          <p:cNvPr id="45" name="Oval 44"/>
          <p:cNvSpPr/>
          <p:nvPr/>
        </p:nvSpPr>
        <p:spPr>
          <a:xfrm>
            <a:off x="8458199" y="39136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799" y="37947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衣恋</a:t>
            </a:r>
          </a:p>
        </p:txBody>
      </p:sp>
      <p:sp>
        <p:nvSpPr>
          <p:cNvPr id="47" name="Oval 46"/>
          <p:cNvSpPr/>
          <p:nvPr/>
        </p:nvSpPr>
        <p:spPr>
          <a:xfrm>
            <a:off x="8458199" y="43708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799" y="42519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普洛斯</a:t>
            </a:r>
          </a:p>
        </p:txBody>
      </p:sp>
      <p:sp>
        <p:nvSpPr>
          <p:cNvPr id="49" name="Oval 48"/>
          <p:cNvSpPr/>
          <p:nvPr/>
        </p:nvSpPr>
        <p:spPr>
          <a:xfrm>
            <a:off x="8458199" y="48280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799" y="47091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雅诗兰黛</a:t>
            </a:r>
          </a:p>
        </p:txBody>
      </p:sp>
      <p:sp>
        <p:nvSpPr>
          <p:cNvPr id="51" name="Oval 50"/>
          <p:cNvSpPr/>
          <p:nvPr/>
        </p:nvSpPr>
        <p:spPr>
          <a:xfrm>
            <a:off x="8458199" y="52852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799" y="51663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保利</a:t>
            </a:r>
          </a:p>
        </p:txBody>
      </p:sp>
      <p:sp>
        <p:nvSpPr>
          <p:cNvPr id="53" name="Oval 52"/>
          <p:cNvSpPr/>
          <p:nvPr/>
        </p:nvSpPr>
        <p:spPr>
          <a:xfrm>
            <a:off x="8458199" y="5742432"/>
            <a:ext cx="91440" cy="9144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799" y="5623560"/>
            <a:ext cx="2743200" cy="411480"/>
          </a:xfrm>
          <a:prstGeom prst="rect">
            <a:avLst/>
          </a:prstGeom>
          <a:noFill/>
        </p:spPr>
        <p:txBody>
          <a:bodyPr wrap="square" lIns="0" rIns="0" tIns="0" bIns="0" anchor="ctr">
            <a:spAutoFit/>
          </a:bodyPr>
          <a:lstStyle/>
          <a:p>
            <a:pPr algn="l">
              <a:lnSpc>
                <a:spcPct val="120000"/>
              </a:lnSpc>
            </a:pPr>
            <a:r>
              <a:rPr sz="1300" b="0" i="0">
                <a:solidFill>
                  <a:srgbClr val="ECECF4"/>
                </a:solidFill>
                <a:latin typeface="思源黑体 CN"/>
              </a:rPr>
              <a:t>中建产研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365760"/>
          </a:xfrm>
          <a:prstGeom prst="rect">
            <a:avLst/>
          </a:prstGeom>
          <a:noFill/>
        </p:spPr>
        <p:txBody>
          <a:bodyPr wrap="square" lIns="0" rIns="0" tIns="0" bIns="0" anchor="t">
            <a:spAutoFit/>
          </a:bodyPr>
          <a:lstStyle/>
          <a:p>
            <a:pPr algn="l">
              <a:lnSpc>
                <a:spcPct val="120000"/>
              </a:lnSpc>
            </a:pPr>
            <a:r>
              <a:rPr sz="800" b="0" i="0" spc="200">
                <a:solidFill>
                  <a:srgbClr val="6B7090"/>
                </a:solidFill>
                <a:latin typeface="思源黑体 CN"/>
              </a:rPr>
              <a:t>森马（上海）国际运营中心 · SEMIR GROUP'S GLOBAL HEADQUARTER</a:t>
            </a:r>
          </a:p>
        </p:txBody>
      </p:sp>
      <p:sp>
        <p:nvSpPr>
          <p:cNvPr id="6" name="TextBox 5"/>
          <p:cNvSpPr txBox="1"/>
          <p:nvPr/>
        </p:nvSpPr>
        <p:spPr>
          <a:xfrm>
            <a:off x="10515600" y="6446520"/>
            <a:ext cx="1188720" cy="365760"/>
          </a:xfrm>
          <a:prstGeom prst="rect">
            <a:avLst/>
          </a:prstGeom>
          <a:noFill/>
        </p:spPr>
        <p:txBody>
          <a:bodyPr wrap="square" lIns="0" rIns="0" tIns="0" bIns="0" anchor="t">
            <a:spAutoFit/>
          </a:bodyPr>
          <a:lstStyle/>
          <a:p>
            <a:pPr algn="r">
              <a:lnSpc>
                <a:spcPct val="120000"/>
              </a:lnSpc>
            </a:pPr>
            <a:r>
              <a:rPr sz="900" b="0" i="0" spc="200">
                <a:solidFill>
                  <a:srgbClr val="9AA0B8"/>
                </a:solidFill>
                <a:latin typeface="Inter"/>
              </a:rPr>
              <a:t>22 / 24</a:t>
            </a:r>
          </a:p>
        </p:txBody>
      </p:sp>
      <p:sp>
        <p:nvSpPr>
          <p:cNvPr id="7" name="TextBox 6"/>
          <p:cNvSpPr txBox="1"/>
          <p:nvPr/>
        </p:nvSpPr>
        <p:spPr>
          <a:xfrm>
            <a:off x="640080" y="502920"/>
            <a:ext cx="5486400" cy="365760"/>
          </a:xfrm>
          <a:prstGeom prst="rect">
            <a:avLst/>
          </a:prstGeom>
          <a:noFill/>
        </p:spPr>
        <p:txBody>
          <a:bodyPr wrap="square" lIns="0" rIns="0" tIns="0" bIns="0" anchor="t">
            <a:spAutoFit/>
          </a:bodyPr>
          <a:lstStyle/>
          <a:p>
            <a:pPr algn="l">
              <a:lnSpc>
                <a:spcPct val="120000"/>
              </a:lnSpc>
            </a:pPr>
            <a:r>
              <a:rPr sz="1100" b="1" i="0" spc="300">
                <a:solidFill>
                  <a:srgbClr val="FF4F8B"/>
                </a:solidFill>
                <a:latin typeface="思源黑体 CN"/>
              </a:rPr>
              <a:t>核心价值 · CORE VALUE</a:t>
            </a:r>
          </a:p>
        </p:txBody>
      </p:sp>
      <p:sp>
        <p:nvSpPr>
          <p:cNvPr id="8" name="TextBox 7"/>
          <p:cNvSpPr txBox="1"/>
          <p:nvPr/>
        </p:nvSpPr>
        <p:spPr>
          <a:xfrm>
            <a:off x="640080" y="868680"/>
            <a:ext cx="10972800" cy="1097280"/>
          </a:xfrm>
          <a:prstGeom prst="rect">
            <a:avLst/>
          </a:prstGeom>
          <a:noFill/>
        </p:spPr>
        <p:txBody>
          <a:bodyPr wrap="square" lIns="0" rIns="0" tIns="0" bIns="0" anchor="t">
            <a:spAutoFit/>
          </a:bodyPr>
          <a:lstStyle/>
          <a:p>
            <a:pPr algn="l">
              <a:lnSpc>
                <a:spcPct val="110000"/>
              </a:lnSpc>
            </a:pPr>
            <a:r>
              <a:rPr sz="2800" b="1" i="0">
                <a:solidFill>
                  <a:srgbClr val="ECECF4"/>
                </a:solidFill>
                <a:latin typeface="思源黑体 CN"/>
              </a:rPr>
              <a:t>一站式潮玩产业  ·  全要素城市级解决方案</a:t>
            </a:r>
          </a:p>
        </p:txBody>
      </p:sp>
      <p:sp>
        <p:nvSpPr>
          <p:cNvPr id="9" name="TextBox 8"/>
          <p:cNvSpPr txBox="1"/>
          <p:nvPr/>
        </p:nvSpPr>
        <p:spPr>
          <a:xfrm>
            <a:off x="640080" y="1691640"/>
            <a:ext cx="10972800" cy="548640"/>
          </a:xfrm>
          <a:prstGeom prst="rect">
            <a:avLst/>
          </a:prstGeom>
          <a:noFill/>
        </p:spPr>
        <p:txBody>
          <a:bodyPr wrap="square" lIns="0" rIns="0" tIns="0" bIns="0" anchor="t">
            <a:spAutoFit/>
          </a:bodyPr>
          <a:lstStyle/>
          <a:p>
            <a:pPr algn="l">
              <a:lnSpc>
                <a:spcPct val="160000"/>
              </a:lnSpc>
            </a:pPr>
            <a:r>
              <a:rPr sz="1300" b="0" i="0">
                <a:solidFill>
                  <a:srgbClr val="9AA0B8"/>
                </a:solidFill>
                <a:latin typeface="思源黑体 CN"/>
              </a:rPr>
              <a:t>从战略卡位到生态协同，从空间叙事到客群运营，森马国际运营中心提供完整答案。</a:t>
            </a:r>
          </a:p>
        </p:txBody>
      </p:sp>
      <p:sp>
        <p:nvSpPr>
          <p:cNvPr id="10" name="Rounded Rectangle 9"/>
          <p:cNvSpPr/>
          <p:nvPr/>
        </p:nvSpPr>
        <p:spPr>
          <a:xfrm>
            <a:off x="640080" y="24688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432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12" name="TextBox 11"/>
          <p:cNvSpPr txBox="1"/>
          <p:nvPr/>
        </p:nvSpPr>
        <p:spPr>
          <a:xfrm>
            <a:off x="1737360" y="2743200"/>
            <a:ext cx="2377440" cy="365760"/>
          </a:xfrm>
          <a:prstGeom prst="rect">
            <a:avLst/>
          </a:prstGeom>
          <a:noFill/>
        </p:spPr>
        <p:txBody>
          <a:bodyPr wrap="square" lIns="0" rIns="0" tIns="0" bIns="0" anchor="t">
            <a:spAutoFit/>
          </a:bodyPr>
          <a:lstStyle/>
          <a:p>
            <a:pPr algn="l">
              <a:lnSpc>
                <a:spcPct val="120000"/>
              </a:lnSpc>
            </a:pPr>
            <a:r>
              <a:rPr sz="1500" b="1" i="0">
                <a:solidFill>
                  <a:srgbClr val="FF4F8B"/>
                </a:solidFill>
                <a:latin typeface="思源黑体 CN"/>
              </a:rPr>
              <a:t>战略级卡位</a:t>
            </a:r>
          </a:p>
        </p:txBody>
      </p:sp>
      <p:sp>
        <p:nvSpPr>
          <p:cNvPr id="13" name="TextBox 12"/>
          <p:cNvSpPr txBox="1"/>
          <p:nvPr/>
        </p:nvSpPr>
        <p:spPr>
          <a:xfrm>
            <a:off x="1737360" y="31546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南部科创走廊 + 大零号湾 + 长三角</a:t>
            </a:r>
          </a:p>
        </p:txBody>
      </p:sp>
      <p:sp>
        <p:nvSpPr>
          <p:cNvPr id="14" name="Rounded Rectangle 13"/>
          <p:cNvSpPr/>
          <p:nvPr/>
        </p:nvSpPr>
        <p:spPr>
          <a:xfrm>
            <a:off x="4389120" y="24688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7432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16" name="TextBox 15"/>
          <p:cNvSpPr txBox="1"/>
          <p:nvPr/>
        </p:nvSpPr>
        <p:spPr>
          <a:xfrm>
            <a:off x="5486400" y="2743200"/>
            <a:ext cx="2377440" cy="365760"/>
          </a:xfrm>
          <a:prstGeom prst="rect">
            <a:avLst/>
          </a:prstGeom>
          <a:noFill/>
        </p:spPr>
        <p:txBody>
          <a:bodyPr wrap="square" lIns="0" rIns="0" tIns="0" bIns="0" anchor="t">
            <a:spAutoFit/>
          </a:bodyPr>
          <a:lstStyle/>
          <a:p>
            <a:pPr algn="l">
              <a:lnSpc>
                <a:spcPct val="120000"/>
              </a:lnSpc>
            </a:pPr>
            <a:r>
              <a:rPr sz="1500" b="1" i="0">
                <a:solidFill>
                  <a:srgbClr val="8B5CF6"/>
                </a:solidFill>
                <a:latin typeface="思源黑体 CN"/>
              </a:rPr>
              <a:t>TOD 级流量</a:t>
            </a:r>
          </a:p>
        </p:txBody>
      </p:sp>
      <p:sp>
        <p:nvSpPr>
          <p:cNvPr id="17" name="TextBox 16"/>
          <p:cNvSpPr txBox="1"/>
          <p:nvPr/>
        </p:nvSpPr>
        <p:spPr>
          <a:xfrm>
            <a:off x="5486400" y="31546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15 号线元江路日均 5–7 万人次</a:t>
            </a:r>
          </a:p>
        </p:txBody>
      </p:sp>
      <p:sp>
        <p:nvSpPr>
          <p:cNvPr id="18" name="Rounded Rectangle 17"/>
          <p:cNvSpPr/>
          <p:nvPr/>
        </p:nvSpPr>
        <p:spPr>
          <a:xfrm>
            <a:off x="8138159" y="24688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9" y="27432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20" name="TextBox 19"/>
          <p:cNvSpPr txBox="1"/>
          <p:nvPr/>
        </p:nvSpPr>
        <p:spPr>
          <a:xfrm>
            <a:off x="9235439" y="2743200"/>
            <a:ext cx="2377440" cy="365760"/>
          </a:xfrm>
          <a:prstGeom prst="rect">
            <a:avLst/>
          </a:prstGeom>
          <a:noFill/>
        </p:spPr>
        <p:txBody>
          <a:bodyPr wrap="square" lIns="0" rIns="0" tIns="0" bIns="0" anchor="t">
            <a:spAutoFit/>
          </a:bodyPr>
          <a:lstStyle/>
          <a:p>
            <a:pPr algn="l">
              <a:lnSpc>
                <a:spcPct val="120000"/>
              </a:lnSpc>
            </a:pPr>
            <a:r>
              <a:rPr sz="1500" b="1" i="0">
                <a:solidFill>
                  <a:srgbClr val="06B6D4"/>
                </a:solidFill>
                <a:latin typeface="思源黑体 CN"/>
              </a:rPr>
              <a:t>22 万㎡ 综合体</a:t>
            </a:r>
          </a:p>
        </p:txBody>
      </p:sp>
      <p:sp>
        <p:nvSpPr>
          <p:cNvPr id="21" name="TextBox 20"/>
          <p:cNvSpPr txBox="1"/>
          <p:nvPr/>
        </p:nvSpPr>
        <p:spPr>
          <a:xfrm>
            <a:off x="9235439" y="31546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6 栋楼宇 · 商业 5.2 万㎡</a:t>
            </a:r>
          </a:p>
        </p:txBody>
      </p:sp>
      <p:sp>
        <p:nvSpPr>
          <p:cNvPr id="22" name="Rounded Rectangle 21"/>
          <p:cNvSpPr/>
          <p:nvPr/>
        </p:nvSpPr>
        <p:spPr>
          <a:xfrm>
            <a:off x="640080" y="42976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5720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24" name="TextBox 23"/>
          <p:cNvSpPr txBox="1"/>
          <p:nvPr/>
        </p:nvSpPr>
        <p:spPr>
          <a:xfrm>
            <a:off x="1737360" y="4572000"/>
            <a:ext cx="2377440" cy="365760"/>
          </a:xfrm>
          <a:prstGeom prst="rect">
            <a:avLst/>
          </a:prstGeom>
          <a:noFill/>
        </p:spPr>
        <p:txBody>
          <a:bodyPr wrap="square" lIns="0" rIns="0" tIns="0" bIns="0" anchor="t">
            <a:spAutoFit/>
          </a:bodyPr>
          <a:lstStyle/>
          <a:p>
            <a:pPr algn="l">
              <a:lnSpc>
                <a:spcPct val="120000"/>
              </a:lnSpc>
            </a:pPr>
            <a:r>
              <a:rPr sz="1500" b="1" i="0">
                <a:solidFill>
                  <a:srgbClr val="F59E0B"/>
                </a:solidFill>
                <a:latin typeface="思源黑体 CN"/>
              </a:rPr>
              <a:t>产业级牌照</a:t>
            </a:r>
          </a:p>
        </p:txBody>
      </p:sp>
      <p:sp>
        <p:nvSpPr>
          <p:cNvPr id="25" name="TextBox 24"/>
          <p:cNvSpPr txBox="1"/>
          <p:nvPr/>
        </p:nvSpPr>
        <p:spPr>
          <a:xfrm>
            <a:off x="1737360" y="49834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中百协 + 中国动漫集团 双牌照</a:t>
            </a:r>
          </a:p>
        </p:txBody>
      </p:sp>
      <p:sp>
        <p:nvSpPr>
          <p:cNvPr id="26" name="Rounded Rectangle 25"/>
          <p:cNvSpPr/>
          <p:nvPr/>
        </p:nvSpPr>
        <p:spPr>
          <a:xfrm>
            <a:off x="4389120" y="42976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5720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28" name="TextBox 27"/>
          <p:cNvSpPr txBox="1"/>
          <p:nvPr/>
        </p:nvSpPr>
        <p:spPr>
          <a:xfrm>
            <a:off x="5486400" y="4572000"/>
            <a:ext cx="2377440" cy="365760"/>
          </a:xfrm>
          <a:prstGeom prst="rect">
            <a:avLst/>
          </a:prstGeom>
          <a:noFill/>
        </p:spPr>
        <p:txBody>
          <a:bodyPr wrap="square" lIns="0" rIns="0" tIns="0" bIns="0" anchor="t">
            <a:spAutoFit/>
          </a:bodyPr>
          <a:lstStyle/>
          <a:p>
            <a:pPr algn="l">
              <a:lnSpc>
                <a:spcPct val="120000"/>
              </a:lnSpc>
            </a:pPr>
            <a:r>
              <a:rPr sz="1500" b="1" i="0">
                <a:solidFill>
                  <a:srgbClr val="10B981"/>
                </a:solidFill>
                <a:latin typeface="思源黑体 CN"/>
              </a:rPr>
              <a:t>AI · IP 全链路</a:t>
            </a:r>
          </a:p>
        </p:txBody>
      </p:sp>
      <p:sp>
        <p:nvSpPr>
          <p:cNvPr id="29" name="TextBox 28"/>
          <p:cNvSpPr txBox="1"/>
          <p:nvPr/>
        </p:nvSpPr>
        <p:spPr>
          <a:xfrm>
            <a:off x="5486400" y="49834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设计 / 打样 / 选品 / 直播 / 仓储</a:t>
            </a:r>
          </a:p>
        </p:txBody>
      </p:sp>
      <p:sp>
        <p:nvSpPr>
          <p:cNvPr id="30" name="Rounded Rectangle 29"/>
          <p:cNvSpPr/>
          <p:nvPr/>
        </p:nvSpPr>
        <p:spPr>
          <a:xfrm>
            <a:off x="8138159" y="4297680"/>
            <a:ext cx="3566160" cy="1691640"/>
          </a:xfrm>
          <a:prstGeom prst="roundRect">
            <a:avLst>
              <a:gd name="adj" fmla="val 6000"/>
            </a:avLst>
          </a:prstGeom>
          <a:solidFill>
            <a:srgbClr val="18182A"/>
          </a:solidFill>
          <a:ln w="9525">
            <a:solidFill>
              <a:srgbClr val="2222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9" y="4572000"/>
            <a:ext cx="731520" cy="731520"/>
          </a:xfrm>
          <a:prstGeom prst="rect">
            <a:avLst/>
          </a:prstGeom>
          <a:noFill/>
        </p:spPr>
        <p:txBody>
          <a:bodyPr wrap="square" lIns="0" rIns="0" tIns="0" bIns="0" anchor="t">
            <a:spAutoFit/>
          </a:bodyPr>
          <a:lstStyle/>
          <a:p>
            <a:pPr algn="l">
              <a:lnSpc>
                <a:spcPct val="120000"/>
              </a:lnSpc>
            </a:pPr>
            <a:r>
              <a:rPr sz="2800" b="0" i="0">
                <a:solidFill>
                  <a:srgbClr val="ECECF4"/>
                </a:solidFill>
                <a:latin typeface="思源黑体 CN"/>
              </a:rPr>
              <a:t>🎉</a:t>
            </a:r>
          </a:p>
        </p:txBody>
      </p:sp>
      <p:sp>
        <p:nvSpPr>
          <p:cNvPr id="32" name="TextBox 31"/>
          <p:cNvSpPr txBox="1"/>
          <p:nvPr/>
        </p:nvSpPr>
        <p:spPr>
          <a:xfrm>
            <a:off x="9235439" y="4572000"/>
            <a:ext cx="2377440" cy="365760"/>
          </a:xfrm>
          <a:prstGeom prst="rect">
            <a:avLst/>
          </a:prstGeom>
          <a:noFill/>
        </p:spPr>
        <p:txBody>
          <a:bodyPr wrap="square" lIns="0" rIns="0" tIns="0" bIns="0" anchor="t">
            <a:spAutoFit/>
          </a:bodyPr>
          <a:lstStyle/>
          <a:p>
            <a:pPr algn="l">
              <a:lnSpc>
                <a:spcPct val="120000"/>
              </a:lnSpc>
            </a:pPr>
            <a:r>
              <a:rPr sz="1500" b="1" i="0">
                <a:solidFill>
                  <a:srgbClr val="FF4F8B"/>
                </a:solidFill>
                <a:latin typeface="思源黑体 CN"/>
              </a:rPr>
              <a:t>潮玩级活动</a:t>
            </a:r>
          </a:p>
        </p:txBody>
      </p:sp>
      <p:sp>
        <p:nvSpPr>
          <p:cNvPr id="33" name="TextBox 32"/>
          <p:cNvSpPr txBox="1"/>
          <p:nvPr/>
        </p:nvSpPr>
        <p:spPr>
          <a:xfrm>
            <a:off x="9235439" y="4983480"/>
            <a:ext cx="2377440" cy="914400"/>
          </a:xfrm>
          <a:prstGeom prst="rect">
            <a:avLst/>
          </a:prstGeom>
          <a:noFill/>
        </p:spPr>
        <p:txBody>
          <a:bodyPr wrap="square" lIns="0" rIns="0" tIns="0" bIns="0" anchor="t">
            <a:spAutoFit/>
          </a:bodyPr>
          <a:lstStyle/>
          <a:p>
            <a:pPr algn="l">
              <a:lnSpc>
                <a:spcPct val="150000"/>
              </a:lnSpc>
            </a:pPr>
            <a:r>
              <a:rPr sz="1000" b="0" i="0">
                <a:solidFill>
                  <a:srgbClr val="9AA0B8"/>
                </a:solidFill>
                <a:latin typeface="思源黑体 CN"/>
              </a:rPr>
              <a:t>集市 / 首发 / 大赛 持续引流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2743200"/>
            <a:ext cx="8229600" cy="8229600"/>
          </a:xfrm>
          <a:prstGeom prst="ellipse">
            <a:avLst/>
          </a:prstGeom>
          <a:solidFill>
            <a:srgbClr val="321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914400"/>
          </a:xfrm>
          <a:prstGeom prst="rect">
            <a:avLst/>
          </a:prstGeom>
          <a:noFill/>
        </p:spPr>
        <p:txBody>
          <a:bodyPr wrap="square" lIns="0" rIns="0" tIns="0" bIns="0" anchor="t">
            <a:spAutoFit/>
          </a:bodyPr>
          <a:lstStyle/>
          <a:p>
            <a:pPr algn="ctr">
              <a:lnSpc>
                <a:spcPct val="80000"/>
              </a:lnSpc>
            </a:pPr>
            <a:r>
              <a:rPr sz="12000" b="1" i="0">
                <a:solidFill>
                  <a:srgbClr val="FF4F8B"/>
                </a:solidFill>
                <a:latin typeface="Inter"/>
              </a:rPr>
              <a:t>"</a:t>
            </a:r>
          </a:p>
        </p:txBody>
      </p:sp>
      <p:sp>
        <p:nvSpPr>
          <p:cNvPr id="5" name="TextBox 4"/>
          <p:cNvSpPr txBox="1"/>
          <p:nvPr/>
        </p:nvSpPr>
        <p:spPr>
          <a:xfrm>
            <a:off x="914400" y="3017520"/>
            <a:ext cx="10362895" cy="1828800"/>
          </a:xfrm>
          <a:prstGeom prst="rect">
            <a:avLst/>
          </a:prstGeom>
          <a:noFill/>
        </p:spPr>
        <p:txBody>
          <a:bodyPr wrap="square" lIns="0" rIns="0" tIns="0" bIns="0" anchor="t">
            <a:spAutoFit/>
          </a:bodyPr>
          <a:lstStyle/>
          <a:p>
            <a:pPr algn="ctr">
              <a:lnSpc>
                <a:spcPct val="140000"/>
              </a:lnSpc>
            </a:pPr>
            <a:r>
              <a:rPr sz="3200" b="1" i="0">
                <a:solidFill>
                  <a:srgbClr val="ECECF4"/>
                </a:solidFill>
                <a:latin typeface="思源黑体 CN"/>
              </a:rPr>
              <a:t>不只是一座综合体，</a:t>
            </a:r>
          </a:p>
          <a:p>
            <a:pPr algn="ctr">
              <a:lnSpc>
                <a:spcPct val="140000"/>
              </a:lnSpc>
            </a:pPr>
            <a:r>
              <a:rPr sz="3200" b="1" i="0">
                <a:solidFill>
                  <a:srgbClr val="ECECF4"/>
                </a:solidFill>
                <a:latin typeface="思源黑体 CN"/>
              </a:rPr>
              <a:t>而是一片 Z·世代心目中的潮玩元宇宙。</a:t>
            </a:r>
          </a:p>
        </p:txBody>
      </p:sp>
      <p:sp>
        <p:nvSpPr>
          <p:cNvPr id="6" name="TextBox 5"/>
          <p:cNvSpPr txBox="1"/>
          <p:nvPr/>
        </p:nvSpPr>
        <p:spPr>
          <a:xfrm>
            <a:off x="914400" y="4937760"/>
            <a:ext cx="10362895" cy="457200"/>
          </a:xfrm>
          <a:prstGeom prst="rect">
            <a:avLst/>
          </a:prstGeom>
          <a:noFill/>
        </p:spPr>
        <p:txBody>
          <a:bodyPr wrap="square" lIns="0" rIns="0" tIns="0" bIns="0" anchor="t">
            <a:spAutoFit/>
          </a:bodyPr>
          <a:lstStyle/>
          <a:p>
            <a:pPr algn="ctr">
              <a:lnSpc>
                <a:spcPct val="120000"/>
              </a:lnSpc>
            </a:pPr>
            <a:r>
              <a:rPr sz="1200" b="0" i="0" spc="400">
                <a:solidFill>
                  <a:srgbClr val="9AA0B8"/>
                </a:solidFill>
                <a:latin typeface="Inter"/>
              </a:rPr>
              <a:t>— SEMIR GROUP'S GLOBAL HEADQUARTER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0710"/>
        </a:solidFill>
        <a:effectLst/>
      </p:bgPr>
    </p:bg>
    <p:spTree>
      <p:nvGrpSpPr>
        <p:cNvPr id="1" name=""/>
        <p:cNvGrpSpPr/>
        <p:nvPr/>
      </p:nvGrpSpPr>
      <p:grpSpPr/>
      <p:sp>
        <p:nvSpPr>
          <p:cNvPr id="2" name="Oval 1"/>
          <p:cNvSpPr/>
          <p:nvPr/>
        </p:nvSpPr>
        <p:spPr>
          <a:xfrm>
            <a:off x="-2743200" y="-1828800"/>
            <a:ext cx="7315200" cy="7315200"/>
          </a:xfrm>
          <a:prstGeom prst="ellipse">
            <a:avLst/>
          </a:prstGeom>
          <a:solidFill>
            <a:srgbClr val="40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0" y="-2743200"/>
            <a:ext cx="8229600" cy="8229600"/>
          </a:xfrm>
          <a:prstGeom prst="ellipse">
            <a:avLst/>
          </a:prstGeom>
          <a:solidFill>
            <a:srgbClr val="2A1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3657600"/>
            <a:ext cx="6400800" cy="6400800"/>
          </a:xfrm>
          <a:prstGeom prst="ellipse">
            <a:avLst/>
          </a:prstGeom>
          <a:solidFill>
            <a:srgbClr val="06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3291840" y="0"/>
            <a:ext cx="3657599"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468880" y="0"/>
            <a:ext cx="3657599"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459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229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459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688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918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148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377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7607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36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066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0525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755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9848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52144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34440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16736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990320" y="0"/>
            <a:ext cx="3657600" cy="6858000"/>
          </a:xfrm>
          <a:prstGeom prst="line">
            <a:avLst/>
          </a:prstGeom>
          <a:ln w="6350">
            <a:solidFill>
              <a:srgbClr val="18182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0" y="0"/>
            <a:ext cx="12191695" cy="6858000"/>
          </a:xfrm>
          <a:prstGeom prst="rect">
            <a:avLst/>
          </a:prstGeom>
          <a:solidFill>
            <a:srgbClr val="080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194560"/>
            <a:ext cx="11277295" cy="2286000"/>
          </a:xfrm>
          <a:prstGeom prst="rect">
            <a:avLst/>
          </a:prstGeom>
          <a:noFill/>
        </p:spPr>
        <p:txBody>
          <a:bodyPr wrap="square" lIns="0" rIns="0" tIns="0" bIns="0" anchor="t">
            <a:spAutoFit/>
          </a:bodyPr>
          <a:lstStyle/>
          <a:p>
            <a:pPr algn="ctr">
              <a:lnSpc>
                <a:spcPct val="100000"/>
              </a:lnSpc>
            </a:pPr>
            <a:r>
              <a:rPr sz="20000" b="1" i="0">
                <a:solidFill>
                  <a:srgbClr val="FF4F8B"/>
                </a:solidFill>
                <a:latin typeface="Inter"/>
              </a:rPr>
              <a:t>THA</a:t>
            </a:r>
            <a:r>
              <a:rPr sz="20000" b="1" i="0">
                <a:solidFill>
                  <a:srgbClr val="8B5CF6"/>
                </a:solidFill>
                <a:latin typeface="Inter"/>
              </a:rPr>
              <a:t>NK</a:t>
            </a:r>
            <a:r>
              <a:rPr sz="20000" b="1" i="0">
                <a:solidFill>
                  <a:srgbClr val="06B6D4"/>
                </a:solidFill>
                <a:latin typeface="Inter"/>
              </a:rPr>
              <a:t>S</a:t>
            </a:r>
          </a:p>
        </p:txBody>
      </p:sp>
      <p:sp>
        <p:nvSpPr>
          <p:cNvPr id="29" name="TextBox 28"/>
          <p:cNvSpPr txBox="1"/>
          <p:nvPr/>
        </p:nvSpPr>
        <p:spPr>
          <a:xfrm>
            <a:off x="457200" y="4572000"/>
            <a:ext cx="11277295" cy="548640"/>
          </a:xfrm>
          <a:prstGeom prst="rect">
            <a:avLst/>
          </a:prstGeom>
          <a:noFill/>
        </p:spPr>
        <p:txBody>
          <a:bodyPr wrap="square" lIns="0" rIns="0" tIns="0" bIns="0" anchor="t">
            <a:spAutoFit/>
          </a:bodyPr>
          <a:lstStyle/>
          <a:p>
            <a:pPr algn="ctr">
              <a:lnSpc>
                <a:spcPct val="120000"/>
              </a:lnSpc>
            </a:pPr>
            <a:r>
              <a:rPr sz="1400" b="0" i="0" spc="300">
                <a:solidFill>
                  <a:srgbClr val="ECECF4"/>
                </a:solidFill>
                <a:latin typeface="思源黑体 CN"/>
              </a:rPr>
              <a:t>森马（上海）国际运营中心  ·  SEMIR GROUP'S GLOBAL HEADQUARTER</a:t>
            </a:r>
          </a:p>
        </p:txBody>
      </p:sp>
      <p:sp>
        <p:nvSpPr>
          <p:cNvPr id="30" name="TextBox 29"/>
          <p:cNvSpPr txBox="1"/>
          <p:nvPr/>
        </p:nvSpPr>
        <p:spPr>
          <a:xfrm>
            <a:off x="457200" y="5212080"/>
            <a:ext cx="11277295" cy="457200"/>
          </a:xfrm>
          <a:prstGeom prst="rect">
            <a:avLst/>
          </a:prstGeom>
          <a:noFill/>
        </p:spPr>
        <p:txBody>
          <a:bodyPr wrap="square" lIns="0" rIns="0" tIns="0" bIns="0" anchor="t">
            <a:spAutoFit/>
          </a:bodyPr>
          <a:lstStyle/>
          <a:p>
            <a:pPr algn="ctr">
              <a:lnSpc>
                <a:spcPct val="120000"/>
              </a:lnSpc>
            </a:pPr>
            <a:r>
              <a:rPr sz="1000" b="0" i="0" spc="500">
                <a:solidFill>
                  <a:srgbClr val="9AA0B8"/>
                </a:solidFill>
                <a:latin typeface="Inter"/>
              </a:rPr>
              <a:t>SHANGHAI  ·  MINHANG  ·  WUJING  ·  15 号线元江路 TOD</a:t>
            </a:r>
          </a:p>
        </p:txBody>
      </p:sp>
      <p:sp>
        <p:nvSpPr>
          <p:cNvPr id="31" name="Rectangle 30"/>
          <p:cNvSpPr/>
          <p:nvPr/>
        </p:nvSpPr>
        <p:spPr>
          <a:xfrm>
            <a:off x="5632704" y="5943600"/>
            <a:ext cx="914400" cy="36576"/>
          </a:xfrm>
          <a:prstGeom prst="rect">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