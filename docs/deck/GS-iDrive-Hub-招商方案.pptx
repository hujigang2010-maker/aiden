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54864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9601200" y="-1828800"/>
            <a:ext cx="7315200" cy="7315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GS · iDrive 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058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冠松静安智能驾驶研发中心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招商方案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22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让中心城区跑通智能驾驶最后一公里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5 个 Phase · 8 个任务 · 一份可执行的产业园招商蓝图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669280"/>
            <a:ext cx="2194560" cy="41148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v1.0 · 招商策划阶段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5669280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汇报对象：集团董事会 / 静安区政府 / 链主企业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议程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汇报议程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约 30 分钟形成完整认知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2 / 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1887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1887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核心结论与战略定位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1887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Executive Summary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7556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731520" y="18745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18745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策略与定位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8745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产业研究 + 空间规划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4414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731520" y="25603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5603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招商执行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5603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链主攻坚 + 生态漏斗 + 政府关系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1272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731520" y="32461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2461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3 · 品牌与活动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2461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9 月发布会 + 年度活动 + 媒体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8130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731520" y="39319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9319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4 · 商业条款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39319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四档收费 + 合同 + 三年财务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4988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731520" y="46177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6177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5 · 落地推进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6177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12 个月甘特 + 团队分工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1846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31520" y="53035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4480" y="53035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投决建议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53035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里程碑承诺与风险对冲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704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01 · 核心结论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一页看懂：项目战略与三年目标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GS · iDrive Hub · 中心城区智能驾驶研发与总部首选地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3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05840"/>
            <a:ext cx="269748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7200" y="1078992"/>
            <a:ext cx="26974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8 万㎡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269748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总建面 · A~E 五栋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可出租 5.6 万㎡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005840"/>
            <a:ext cx="2697480" cy="14173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291840" y="1078992"/>
            <a:ext cx="26974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1.2 万㎡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783080"/>
            <a:ext cx="269748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户外封闭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智驾测试区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005840"/>
            <a:ext cx="2697480" cy="14173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26480" y="1078992"/>
            <a:ext cx="26974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¥4.5–8.5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783080"/>
            <a:ext cx="269748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起始租金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元/㎡·天 (四档)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1005840"/>
            <a:ext cx="2697480" cy="14173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961120" y="1078992"/>
            <a:ext cx="26974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92%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1783080"/>
            <a:ext cx="269748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Y3 入驻率目标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链主≥3 / 生态≥60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6974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5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战略定位 · 三圈层客群 · 四大差异化壁垒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108960"/>
            <a:ext cx="1124712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3657600" cy="23774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333756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战略定位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749040"/>
            <a:ext cx="3383280" cy="18288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L4 城市 NOA + 车路云一体化 + 智驾后市场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研发总部 + 测试验证 + 产业服务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三位一体园区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品牌主张：让中心城区跑通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智能驾驶最后一公里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3246120"/>
            <a:ext cx="3657600" cy="23774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389120" y="333756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三圈层客群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749040"/>
            <a:ext cx="3383280" cy="18288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内圈 · A 栋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链主独栋 · 1–3 家总部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中圈 · B/C 栋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算法/域控/传感器/仿真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30–50 家生态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外圈 · D/E 栋 + 测试区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服务/投资/政府/后市场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3246120"/>
            <a:ext cx="3657600" cy="23774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183879" y="333756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四大差异化壁垒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3749040"/>
            <a:ext cx="3383280" cy="18288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① 中心城区罕见的「独栋+测试区」组合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② 静安区「一企一策」政策包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③ 冠松后市场资源闭环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 (4S/保险/二手车)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④ 地铁直达 · 30min 通达虹桥/浦东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关键举措：5 链主 · 300 生态 · 5 中介 · 1 场 9 月发布会 · 4 档商业模式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策略与定位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Strategy &amp; Positioning · 奠基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840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1 · 产业定位研究与竞品对标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4340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34340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2 · 空间功能规划（A~E 栋 + 户外测试区）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任务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智能驾驶产业链六层图谱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客群匹配的『地图』：从基础设施到应用运营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5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1430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11430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L6 应用与运营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03120" y="1143000"/>
            <a:ext cx="6309360" cy="594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194560" y="11430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Robotaxi · Robobus · Robotruck · 矿区港口 · 末端配送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18288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18288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L5 整车与方案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1828800"/>
            <a:ext cx="6309360" cy="59436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194560" y="18288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车企 ADAS/AD 部门 · 全栈方案商（华为/Momenta/...）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5146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0080" y="25146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L4 软件与算法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03120" y="2514600"/>
            <a:ext cx="6309360" cy="594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194560" y="25146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感知 · 规控 · 定位 · 端到端大模型 · 仿真 · 数据闭环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2004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" y="32004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L3 域控与计算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3200400"/>
            <a:ext cx="6309360" cy="59436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94560" y="32004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智驾域控 · 中央计算 · 芯片（地平线/黑芝麻/英伟达）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8862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" y="38862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L2 传感器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03120" y="3886200"/>
            <a:ext cx="6309360" cy="594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194560" y="38862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激光雷达 · 4D 毫米波 · 摄像头 · 高精地图 · IMU/RTK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0080" y="45720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L1 基础设施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03120" y="4572000"/>
            <a:ext cx="6309360" cy="59436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194560" y="45720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路侧 RSU · V2X · 5G/卫星通信 · 高精地图测绘资质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86800" y="1463040"/>
            <a:ext cx="3108960" cy="1143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823960" y="155448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资本 / 孵化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1920240"/>
            <a:ext cx="2834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国调/中金/高瓴/园区基金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0" y="2788920"/>
            <a:ext cx="3108960" cy="1143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23960" y="288036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测试 / 认证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3246120"/>
            <a:ext cx="2834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中汽研 · TüV · CATARC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0" y="4114800"/>
            <a:ext cx="3108960" cy="1143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823960" y="420624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后市场服务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23960" y="4572000"/>
            <a:ext cx="2834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保险 · 维修 · 改装 · 二手车 (冠松)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Calibri"/>
                <a:ea typeface="WenQuanYi Micro Hei"/>
                <a:cs typeface="WenQuanYi Micro Hei"/>
              </a:rPr>
              <a:t>→ A 栋承接 L5 链主 · B 栋承接 L3/L4 · C 栋承接仿真/数据 · D 栋承接服务集群 · E 栋承接冠松后市场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任务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静安区内 + 跨区竞品对标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核心结论：中心城区独栋+测试区组合稀缺，租金锚定 6.5–8.5 元/㎡·天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6 / 22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1371600"/>
                <a:gridCol w="1280160"/>
                <a:gridCol w="822960"/>
                <a:gridCol w="2468880"/>
                <a:gridCol w="2377440"/>
              </a:tblGrid>
              <a:tr h="52578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园区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区位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主导产业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租金 (元/㎡·天)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入驻率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政策亮点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对我方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市北高新 · 大数据基地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静安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大数据/AI/智算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6.0–8.5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区级 5%~10% 租补 · 公寓 800 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无智驾产业链 / 无测试区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静安国际中心片区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静安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总部金融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9.0–13.0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~90%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总部经济奖励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无产业属性 / 不可改造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大宁国际办公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静安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商务/文创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6.5–8.0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一般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非产业园定位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嘉定 · 创新中心 (新能港)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嘉定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智驾全产业链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3.5–5.0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~95%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国家级测试场 + 牌照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牌照不可复制 · 我方区位优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临港 · AI 创新港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浦东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L4/Robotaxi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3.0–4.5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装补 800–1500/㎡ · 全域开放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政策强 · 距市区 1.5h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张江 · IC 设计园 / AI 岛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浦东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芯片/AI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6.5–8.5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~92%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张江专项 + IC 补贴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算力强 · 智驾整车弱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徐汇 · 西岸 AI 走廊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徐汇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AI 大模型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8.5–11.0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模速空间补贴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单价高 · 无独栋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486400"/>
            <a:ext cx="11247120" cy="8686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我方差异化定价策略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52160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基础租金（6.5–8.5）+ 政策返还（区级留成 80% 三年返）+ 服务积分（测试/算力/招聘） — 等效净价低于南西核心 25%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任务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A~E 栋功能拆分 + 户外测试区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独栋链主 / 生态联办 / 共享研发 / 产业服务 / 冠松总部 + 1.2 万㎡ 测试区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7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6400800" cy="49377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园区平面示意（北 ↑）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554480"/>
            <a:ext cx="1371600" cy="128016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60" y="1554480"/>
            <a:ext cx="1371600" cy="12801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D 栋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产业服务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10,000 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1554480"/>
            <a:ext cx="1371600" cy="12801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20640" y="1554480"/>
            <a:ext cx="1371600" cy="12801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A 栋</a:t>
            </a:r>
          </a:p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链主独栋</a:t>
            </a:r>
          </a:p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18,000 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1554480"/>
            <a:ext cx="237744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468880" y="1554480"/>
            <a:ext cx="2377440" cy="12801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中央广场 / 路演灯柱</a:t>
            </a:r>
          </a:p>
          <a:p>
            <a:pPr algn="ctr"/>
            <a:r>
              <a:rPr sz="10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林荫水景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017520"/>
            <a:ext cx="137160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2960" y="3017520"/>
            <a:ext cx="1371600" cy="12801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C 栋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共享研发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12,000 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3017520"/>
            <a:ext cx="1371600" cy="12801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0" y="3017520"/>
            <a:ext cx="1371600" cy="12801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B 栋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生态联办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16,000 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68880" y="3474720"/>
            <a:ext cx="2377440" cy="3657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468880" y="347472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连廊 / 食堂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526280"/>
            <a:ext cx="4023360" cy="146304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22960" y="4526280"/>
            <a:ext cx="4023360" cy="1463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户外封闭测试区  12,000 ㎡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城市道 / 极限场景 / 泊车 / 雨雾夜 / V2X / 监控塔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4526280"/>
            <a:ext cx="1371600" cy="1463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0" y="4526280"/>
            <a:ext cx="1371600" cy="1463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E 栋</a:t>
            </a:r>
          </a:p>
          <a:p>
            <a:pPr algn="ctr"/>
            <a:r>
              <a:rPr sz="11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冠松总部</a:t>
            </a:r>
          </a:p>
          <a:p>
            <a:pPr algn="ctr"/>
            <a:r>
              <a:rPr sz="11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14,000 ㎡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7132320" y="1097280"/>
          <a:ext cx="4572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80160"/>
                <a:gridCol w="1463040"/>
              </a:tblGrid>
              <a:tr h="448887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区域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面积 (㎡)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性质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4888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 栋 链主独栋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出租 (可竖切 2 家)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B 栋 生态联办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16,000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出租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4888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 栋 共享研发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出租 + 工位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D 栋 产业服务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10,000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出租 + 公共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4888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E 栋 冠松总部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14,000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自留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户外测试区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12,000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公共/会员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4888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公共/连廊/绿化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公共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8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地下停车/库房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12,000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部分商业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4888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合计建筑面积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约 80,000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89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可出租净面积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约 56,000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招商执行（核心）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Leasing Execution · Anchor + Ecosystem + Government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840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3 · 链主 TOP5 攻坚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4340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34340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4 · 300 家生态招商漏斗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84632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8463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5 · 政府关系与政策包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链主 TOP5 攻坚作战图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项目总监 + GR 总监 双人出动 · 周一例会 / 季度董事会复盘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9 / 22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1371600"/>
                <a:gridCol w="1280160"/>
                <a:gridCol w="1828800"/>
                <a:gridCol w="1463040"/>
                <a:gridCol w="2377440"/>
                <a:gridCol w="914400"/>
                <a:gridCol w="1645920"/>
              </a:tblGrid>
              <a:tr h="39624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#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面积 (㎡)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决策人 / 关键人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当前阶段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下一动作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截止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状态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3962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华为车 BU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8,000–12,000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上海中心负责人 / GTS 上海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T0 名片建联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区委书记+市经信委约见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T+30d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推进中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百度 Apollo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4,000–6,000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IDG 总裁 / 华东负责人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已发邀约函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联合投促办赴京拜访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T+45d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顺利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小鹏汽车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3,000–5,000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李力耘 / 上海负责人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公司层初接触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邀请出席 9 月发布会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T+60d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推进中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地平线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4,000–8,000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余凯 / 黄畅 / 政企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高层已建联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邀请参观测试区 + V2X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T+30d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顺利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Momenta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5,000–8,000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曹旭东 / GR VP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已建联，等会面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曹 CEO + 静安区长会面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T+45d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推进中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657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每家「一页纸」定制提案 · 四要点结构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41648"/>
            <a:ext cx="1124712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2697480" cy="2103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343400"/>
            <a:ext cx="2423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决策人 / 关键人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846320"/>
            <a:ext cx="2423160" cy="13258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30 秒电梯演讲 → CEO/总裁层；GR 把区领导接口排进议程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4206240"/>
            <a:ext cx="2697480" cy="21031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429000" y="4343400"/>
            <a:ext cx="2423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正缺什么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4846320"/>
            <a:ext cx="2423160" cy="13258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中心城区落点 · 测试场地 · 后市场闭环 · 政企协同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4206240"/>
            <a:ext cx="2697480" cy="21031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63640" y="4343400"/>
            <a:ext cx="2423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独家供给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846320"/>
            <a:ext cx="2423160" cy="13258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A 栋整栋冠名 · 户外测试区 · 静安一企一策 · 冠松 4S 流量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4206240"/>
            <a:ext cx="2697480" cy="21031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098280" y="4343400"/>
            <a:ext cx="2423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报价权益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4846320"/>
            <a:ext cx="2423160" cy="13258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起始租 4.5–5.5 · 免租 18–24m · 装补 1,000–1,500/㎡ · 留成 80% 三年返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生态企业招商漏斗 · 300 家库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5 家中介 · 9 类来源 · 端到端转化 17% · 60 家年签约目标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10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02920" y="114300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L1 线索 (Lead)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143000"/>
            <a:ext cx="603504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474720" y="1143000"/>
            <a:ext cx="713232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360 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73736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02920" y="173736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L2 触达 (Reached)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1737360"/>
            <a:ext cx="4878324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474720" y="1737360"/>
            <a:ext cx="5975604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290 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33172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920" y="233172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L3 意向 (Intent)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0" y="2331720"/>
            <a:ext cx="2414016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74720" y="2331720"/>
            <a:ext cx="3511296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145 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92608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2920" y="292608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L4 谈判 (Negotiation)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2926080"/>
            <a:ext cx="1458468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74720" y="2926080"/>
            <a:ext cx="2555748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87 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52044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2920" y="352044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L5 签约 (Signed)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0" y="3520440"/>
            <a:ext cx="1005840" cy="5029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474720" y="352044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60 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11480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02920" y="411480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L6 入驻 (Move-in)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0" y="4114800"/>
            <a:ext cx="955547" cy="5029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74720" y="4114800"/>
            <a:ext cx="2052827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57 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02920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理论端到端转化（线索 → 签约）： 80% × 50% × 60% × 70% ≈ 17%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413248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F6FEB"/>
                </a:solidFill>
                <a:latin typeface="Calibri"/>
                <a:ea typeface="WenQuanYi Micro Hei"/>
                <a:cs typeface="WenQuanYi Micro Hei"/>
              </a:rPr>
              <a:t>60 家签约 ⇐ 360 有效线索 ⇐ 300 库 + 自拓溢出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91440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 家中介渠道 · 非独家 + 30 天首报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7498079" y="1280160"/>
          <a:ext cx="4389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280160"/>
                <a:gridCol w="914400"/>
                <a:gridCol w="731520"/>
              </a:tblGrid>
              <a:tr h="47244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中介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侧重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佣金档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年度任务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724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戴德梁行 C&amp;W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跨国/外资 ADAS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首月 100% / 长租 120%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60 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仲量联行 JLL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互联网/科技搬迁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同上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60 家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24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高力 Colliers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C+ 腰部企业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同上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50 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世邦 CBRE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 / 整层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链主最高 150%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40 家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24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本地精品行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中小生态/工位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首月 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90 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7498079" y="429768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300 家库 · 产业链层级配比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61772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L4 算法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0" y="4654296"/>
            <a:ext cx="2194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0972800" y="46177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79" y="480060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L2 传感器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0" y="4837176"/>
            <a:ext cx="182880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0972800" y="480060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498348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L3 域控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86800" y="5020056"/>
            <a:ext cx="12801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0972800" y="498348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79" y="516636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仿真/数据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86800" y="5202936"/>
            <a:ext cx="12801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0972800" y="516636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79" y="534924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后市场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686800" y="5385816"/>
            <a:ext cx="109728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972800" y="534924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79" y="553212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投资/法律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86800" y="5568696"/>
            <a:ext cx="109728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10972800" y="55321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571500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高校/科研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0" y="5751576"/>
            <a:ext cx="109728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0972800" y="571500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8079" y="589788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L5 整车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686800" y="5934456"/>
            <a:ext cx="54864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10972800" y="589788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98079" y="608076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测试认证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86800" y="6117336"/>
            <a:ext cx="54864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0972800" y="608076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政府关系对接 · 路径地图与政策包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区/市双层 · 7 步首轮汇报 · 形成「一企一策」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11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对接路径地图（市/区双层）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669280" cy="4846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286000" y="1554480"/>
            <a:ext cx="1828800" cy="41148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市委市政府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286000"/>
            <a:ext cx="146304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市经信委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2286000"/>
            <a:ext cx="182880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市公安/交通委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286000"/>
            <a:ext cx="164592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市科委/发改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03120" y="3200400"/>
            <a:ext cx="2194560" cy="45720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静安区委区政府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023360"/>
            <a:ext cx="1463040" cy="41148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区投促办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4023360"/>
            <a:ext cx="1828800" cy="41148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区经委/科委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023360"/>
            <a:ext cx="1645920" cy="41148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区财政/税务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663440"/>
            <a:ext cx="146304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区交警支队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4663440"/>
            <a:ext cx="182880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区人社/房管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4663440"/>
            <a:ext cx="164592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区国资/街道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3949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7 步首轮汇报 · 30 天完成全覆盖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71500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区投促办 → 副区长 → 区委书记/区长 → 市经信委 → 市公安交警 → 市科委/发改 → 区四套班子专题会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政策包 · 六维适配清单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1417320"/>
            <a:ext cx="182880" cy="685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0" y="141732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720840" y="146304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牌照 / 测试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17465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封闭场地备案 · 1.5km 路测延伸 · L3/L4 试点联合体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194560"/>
            <a:ext cx="182880" cy="685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583680" y="219456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720840" y="224028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财税返还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252374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区级留成 80% 三年返 / 50% 后两年返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2971800"/>
            <a:ext cx="182880" cy="6858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83680" y="297180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720840" y="301752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人才 / 公寓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330098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 200 套 + 生态 300 套 · 落户绿通 80/年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3749040"/>
            <a:ext cx="182880" cy="685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83680" y="374904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720840" y="379476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数据合规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407822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数交所沙盒 · 算力券最高 500 万 · 出境绿通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4526280"/>
            <a:ext cx="182880" cy="68580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6583680" y="452628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720840" y="457200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产业基金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85546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区基金 1:1 配资 · 国调/中金/高瓴 LP 5–10 亿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5303520"/>
            <a:ext cx="182880" cy="6858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6583680" y="530352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720840" y="534924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用地 / 配套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0840" y="5632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测试区合规使用 · 周边路侧充电 · 一址多照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品牌与活动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Brand &amp; Events · Make Noise, Build Trust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840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6 · 9 月旗舰发布会 + 年度 10 场活动 + 媒体清单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3 · 任务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9 月旗舰发布会 · 「中心城区 · 智驾未来」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200 人现场 + 200 人在线 · 政企签约 · 政策包发布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13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议程（9 月第三周 周四 14:00–20:30）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0876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50876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13:00–13:50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19" y="150876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965960" y="150876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注册 / 户外测试区分批参观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7452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7200" y="187452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14:00–14:25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19" y="187452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965960" y="187452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开场 + 静安区领导致辞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24028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7200" y="224028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14:25–14:35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74519" y="224028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965960" y="224028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市经信委致辞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60604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" y="260604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14:35–14:55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19" y="260604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65960" y="260604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主旨发布：GS · iDrive Hub 产业定位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97180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57200" y="297180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14:55–15:30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74519" y="297180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965960" y="297180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链主主题演讲 ×2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3756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" y="333756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15:30–16:00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19" y="333756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965960" y="333756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重大签约仪式（5–8 家）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0332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57200" y="370332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16:00–16:20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74519" y="370332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965960" y="370332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茶歇 + 户外实车演示（直播）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06908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57200" y="406908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16:20–17:30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4519" y="406908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965960" y="406908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圆桌：城市 NOA / 数据合规 / 中心城区基础设施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43484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57200" y="443484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17:30–17:45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74519" y="443484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965960" y="443484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政策包发布：「iDrive · 静安 10 条」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80060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57200" y="480060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17:45–18:00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19" y="480060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965960" y="480060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园区生态启动 + 集体合影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16636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57200" y="516636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18:30–20:30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74519" y="516636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1965960" y="516636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招待晚宴 + 闭门 1v1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10972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受邀 200 人 · 结构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150876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政府领导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955279" y="1554480"/>
            <a:ext cx="11430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10789920" y="150876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1801368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 CEO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55279" y="1847088"/>
            <a:ext cx="13716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10789920" y="18013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0" y="2093976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生态代表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55279" y="2139696"/>
            <a:ext cx="27432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789920" y="209397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0" y="2386584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投资机构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55279" y="2432304"/>
            <a:ext cx="11430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10789920" y="23865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0" y="2679192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高校研究院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955279" y="2724912"/>
            <a:ext cx="6858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10789920" y="2679192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297180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中介渠道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955279" y="3017520"/>
            <a:ext cx="4572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0789920" y="2971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0" y="3264408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媒体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55279" y="3310128"/>
            <a:ext cx="11430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0789920" y="32644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00800" y="3557016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内部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955279" y="3602736"/>
            <a:ext cx="4572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10789920" y="35570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0" y="39319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倒推时间表（T = 发布日）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400800" y="4297680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66560" y="4288536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T-90d 立项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400800" y="4498848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66560" y="4489704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T-60d 物料一稿 / 邀请函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400800" y="4700016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66560" y="4690872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T-45d 签约项目锁定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400800" y="4901184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66560" y="4892040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T-30d 彩排 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400800" y="5102352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766560" y="5093208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T-21d 内容定稿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400800" y="5303520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66560" y="5294376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T-14d 彩排 2 + 直播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400800" y="5504688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766560" y="5495544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T-7d 彩排 3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0800" y="5705856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766560" y="5696712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T-1d 全员彩排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400800" y="5907024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66560" y="5897880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 日 执行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400800" y="6108192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766560" y="6099048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T+7d 复盘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3 · 任务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年度 10 场活动日历 + 媒体四层矩阵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1 大会 + 4 季度沙龙 + 4 月度生态闭门会 + 1 国际峰会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14 / 22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731520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914400"/>
                <a:gridCol w="2377440"/>
                <a:gridCol w="1554480"/>
                <a:gridCol w="2103120"/>
              </a:tblGrid>
              <a:tr h="440574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#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月份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活动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形式 / 规模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主题方向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园区品牌发布会（启动）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现场 80 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项目首秀 / 链主候选官宣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2026-06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城市 NOA 商业化沙龙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闭门 30 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 + 算法 + 出行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数据合规与算力训练营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工作坊 50 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数据沙盒 + 算力券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2026-08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智驾后市场闭门会（冠松特色）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闭门 40 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保险 / 改装 / 售后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GS · iDrive Hub 全球招商发布会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200 + 在线 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政企签约 / 政策包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2026-10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仿真与端到端模型沙龙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半日 60 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仿真生态 / 算力联训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智驾投融资 Demo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半日 80 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早期算法 / 域控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2026-12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年终招商盘点 + 入驻晚宴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晚宴 120 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全年成果 / 续约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2027-01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国际智驾产业峰会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现场 250 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跨国车企 / 外资 ADAS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2027-03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春季产业开放日 + 测试区开放周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系列 5 天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公众/媒体/高校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46720" y="1097280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媒体四层矩阵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508760"/>
            <a:ext cx="4114800" cy="9601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046720" y="1508760"/>
            <a:ext cx="164592" cy="9601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75320" y="1581912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权威 · 政策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192024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央视 / 人民日报 / 新华社 / 解放日报 / 上观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606040"/>
            <a:ext cx="4114800" cy="9601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46720" y="2606040"/>
            <a:ext cx="164592" cy="960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75320" y="2679192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财经 · 商业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01752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财新 / 一财 / 21 世纪 / 36Kr / 钛媒体 / 界面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3703320"/>
            <a:ext cx="4114800" cy="9601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046720" y="3703320"/>
            <a:ext cx="164592" cy="9601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75320" y="3776472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行业 · 垂类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11480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汽车之家 / 懂车帝 / 高工智能 / 焉知 / 36 个公众号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4800600"/>
            <a:ext cx="4114800" cy="9601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6720" y="4800600"/>
            <a:ext cx="164592" cy="9601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275320" y="4873752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国际 · 英文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521208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Reuters / Bloomberg / FT / Nikkei / TechCrunch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PHASE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商业条款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Commercial · 4 Tiers · 3-Year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840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7 · 四档收费 + 合同框架 + 三年财务测算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4 · 任务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四档收费方案矩阵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链主月费+政策返还 / 生态月费 / 共享月费+服务佣金 / 对赌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16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697480" cy="49377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2697480" cy="8686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14300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甲档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463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链主独栋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69164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月费 + 政策返还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26771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10312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4.5–5.5 元/㎡·天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86207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69748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18–24 个月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45643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29184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装补 1,000–1,500/㎡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05079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88620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区级税收 80% 三年返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64515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4805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整栋冠名 + 测试区终身免费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1097280"/>
            <a:ext cx="2697480" cy="49377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3291840" y="1097280"/>
            <a:ext cx="2697480" cy="868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291840" y="114300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乙档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1463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生态联办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169164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月费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9000" y="226771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210312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6.5–8.0 元/㎡·天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29000" y="286207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269748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6–12 个月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29000" y="345643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329184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装补 300–800/㎡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9000" y="405079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0" y="388620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合同 3+3+1 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29000" y="464515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44805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测试区会员价 / 路演免费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1097280"/>
            <a:ext cx="2697480" cy="49377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6126480" y="1097280"/>
            <a:ext cx="2697480" cy="8686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126480" y="114300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丙档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1463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共享研发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169164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月费 + 服务佣金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63640" y="2267712"/>
            <a:ext cx="164592" cy="164592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210312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工位 1,800–2,800/月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2862072"/>
            <a:ext cx="164592" cy="164592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269748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小独间 8.0–9.0 元/㎡·天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63640" y="3456432"/>
            <a:ext cx="164592" cy="164592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329184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月付制 / 免租 0–2 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4050792"/>
            <a:ext cx="164592" cy="164592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88620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服务 GMV 5%–10% 抽成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4645152"/>
            <a:ext cx="164592" cy="164592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4805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算力券 7 折 / 共享实验室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61120" y="1097280"/>
            <a:ext cx="2697480" cy="49377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8961120" y="1097280"/>
            <a:ext cx="2697480" cy="8686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961120" y="114300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丁档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20" y="1463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对赌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61120" y="169164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低租 + 收益分成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98280" y="2267712"/>
            <a:ext cx="164592" cy="164592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26880" y="210312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折扣租金 60%–70%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98280" y="2862072"/>
            <a:ext cx="164592" cy="164592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0" y="269748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营收 / 利润 / 估值对赌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098280" y="3456432"/>
            <a:ext cx="164592" cy="164592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326880" y="329184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超额营收 5%–10% 返现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098280" y="4050792"/>
            <a:ext cx="164592" cy="164592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388620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园区基金 1%–3% 跟投权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098280" y="4645152"/>
            <a:ext cx="164592" cy="164592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26880" y="44805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未达标差额补偿（双向上限）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4 · 任务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三年财务测算 · 关键 KPI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Y3 入驻率 92% / 收入 2.5 亿 / EBITDA 由负转正 ≈ 1.25 亿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17 / 22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6400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371600"/>
                <a:gridCol w="1371600"/>
                <a:gridCol w="1463040"/>
              </a:tblGrid>
              <a:tr h="374072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科目（万元）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Y1 2026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Y2 2027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Y3 2028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租金收入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3,433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7,438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11,663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物业费收入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658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1,222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1,730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测试区/服务/后市场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政策返还（净计入）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1,500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4,500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基金管理费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总收入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5,191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13,860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24,993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总成本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12,500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EBITDA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−4,109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+2,660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+12,493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EBIT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−7,109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+9,493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税前利润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−8,609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−1,740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+8,293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132320" y="109728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三年关键 KPI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55448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入驻率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527048"/>
            <a:ext cx="777240" cy="5029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205740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49840" y="1527048"/>
            <a:ext cx="777240" cy="5029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65%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205740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64240" y="1527048"/>
            <a:ext cx="777240" cy="5029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92%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0" y="205740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42316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链主签约（累计）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395728"/>
            <a:ext cx="77724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92608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2395728"/>
            <a:ext cx="77724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292608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064240" y="2395728"/>
            <a:ext cx="77724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292608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32918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生态签约（累计）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35440" y="3264408"/>
            <a:ext cx="777240" cy="50292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79476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3264408"/>
            <a:ext cx="777240" cy="50292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379476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3264408"/>
            <a:ext cx="777240" cy="50292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78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379476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416052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EBITDA 利润率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35440" y="4133088"/>
            <a:ext cx="777240" cy="50292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−79%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466344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149840" y="4133088"/>
            <a:ext cx="777240" cy="50292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+19%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466344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064240" y="4133088"/>
            <a:ext cx="777240" cy="50292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+50%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64240" y="466344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349240"/>
            <a:ext cx="118872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敏感性（Y3 EBITDA 万元变化）：入驻 ±10% → ∓3,200/+1,400 · 租金 ±10% → ±2,100 · 政策兑现 −30% → −1,350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PHASE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落地推进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Rollout · 12 Months · 4→22 Team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840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8 · 12 个月里程碑 + 团队扩编 + RACI 分工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5 · 任务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12 个月里程碑甘特图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M1 团队就位 → M5 9 月发布会 → M12 入驻率 65%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19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560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22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22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84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084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846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08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608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0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70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132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94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894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56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656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418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180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180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942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942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146304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立项与法人主体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0" y="1463040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80320" y="1483040"/>
            <a:ext cx="722000" cy="21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65760" y="1746504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团队组建（4→22）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60320" y="1746504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2580320" y="1766504"/>
            <a:ext cx="9104000" cy="216032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65760" y="2029968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样板间 / 视觉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60320" y="2029968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3342320" y="2049968"/>
            <a:ext cx="2246000" cy="21603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365760" y="2313432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户外测试区一期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60320" y="2313432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3342320" y="2333432"/>
            <a:ext cx="3770000" cy="216032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365760" y="2596896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品牌官网 + CRM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60320" y="2596896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3342320" y="2616896"/>
            <a:ext cx="2246000" cy="21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65760" y="288036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300 家库 + 中介签约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560320" y="2880360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4104320" y="2900360"/>
            <a:ext cx="2246000" cy="216032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65760" y="3163824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首轮政府汇报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60320" y="3163824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3342320" y="3183824"/>
            <a:ext cx="2246000" cy="21603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65760" y="3447288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政策包 v0 → v1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560320" y="3447288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4866320" y="3467288"/>
            <a:ext cx="3770000" cy="21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365760" y="3730752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 TOP5 接触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560320" y="3730752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3342320" y="3750752"/>
            <a:ext cx="6818000" cy="216032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365760" y="4014216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链主首份 Term Sheet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560320" y="4014216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4104320" y="4034216"/>
            <a:ext cx="1484000" cy="21603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365760" y="429768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生态意向 30 家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560320" y="4297680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5628320" y="4317680"/>
            <a:ext cx="3008000" cy="21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365760" y="4581144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 月品牌发布会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560320" y="4581144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5628320" y="4601144"/>
            <a:ext cx="722000" cy="216032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365760" y="4864608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9 月旗舰发布会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560320" y="4864608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8676320" y="4884608"/>
            <a:ext cx="722000" cy="216032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365760" y="5148072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「iDrive 静安 10 条」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560320" y="5148072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8676320" y="5168072"/>
            <a:ext cx="1484000" cy="21603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365760" y="5431536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入驻率 50%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560320" y="5431536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ectangle 76"/>
          <p:cNvSpPr/>
          <p:nvPr/>
        </p:nvSpPr>
        <p:spPr>
          <a:xfrm>
            <a:off x="10200320" y="5451536"/>
            <a:ext cx="722000" cy="216032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65760" y="571500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入驻率 65%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560320" y="5715000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10962320" y="5735000"/>
            <a:ext cx="722000" cy="216032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5 · 任务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 人核心团队 → 22 人稳态 + RACI 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启动 M1–3：4 人 / 扩张 M4–6：14 人 / 稳态 M7–12：22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20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 人核心团队（启动期）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48640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57200" y="1417320"/>
            <a:ext cx="164592" cy="7772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149047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项目总监 GM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8288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全面统筹 / 链主谈判 / 重大客户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86000"/>
            <a:ext cx="548640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57200" y="2286000"/>
            <a:ext cx="164592" cy="7772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0080" y="23591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GR 总监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69748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政府关系 / 政策包 / 合规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154680"/>
            <a:ext cx="548640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57200" y="3154680"/>
            <a:ext cx="164592" cy="77724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" y="322783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招商总监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661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渠道 / 漏斗 / 生态签约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023360"/>
            <a:ext cx="548640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4023360"/>
            <a:ext cx="164592" cy="77724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0080" y="409651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运营总监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43484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物业 / IT / 测试区 / 活动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12064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扩编节奏：4 → 14 → 22 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4068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招商 1→5→8 · GR 1→2→2 · 运营 1→3→5 · 市场 0→1→3 · 法务/财务/HR 0→3→3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RACI 关键事项分工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400800" y="1417320"/>
          <a:ext cx="55778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"/>
                <a:gridCol w="548640"/>
                <a:gridCol w="640080"/>
                <a:gridCol w="640080"/>
                <a:gridCol w="731520"/>
                <a:gridCol w="548640"/>
              </a:tblGrid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关键事项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项目总监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GR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招商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运营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董事长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法务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链主谈判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政府汇报 / 政策包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中介渠道 / 漏斗例会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 月发布会 / 测试区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合同 / 对赌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财务模型 / 预算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数据合规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400800" y="516636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R = Responsible · A = Accountable · C = Consulted · I = Informed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07 · 投决建议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投决建议 · 里程碑承诺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资源到位的前提下，T+30/90/180 三个节点的硬承诺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21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3749039" cy="4114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3749039" cy="868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14300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 + 30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5448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团队就位 + 政府首轮汇报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286000"/>
            <a:ext cx="22860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1945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4 人核心入职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80360"/>
            <a:ext cx="22860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78892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区投促办 + 副区长 + 市经信委首轮汇报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474720"/>
            <a:ext cx="22860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3832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 家中介签约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1097280"/>
            <a:ext cx="3749039" cy="4114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89120" y="1097280"/>
            <a:ext cx="3749039" cy="8686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389120" y="114300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 + 90 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55448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链主首份 Term Sheet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2286000"/>
            <a:ext cx="228600" cy="22860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1945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TOP5 全部进入会面阶段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2880360"/>
            <a:ext cx="228600" cy="22860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8892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≥ 1 家链主签 Term Sheet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0" y="3474720"/>
            <a:ext cx="228600" cy="22860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3832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300 家库 + CRM 上线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1097280"/>
            <a:ext cx="3749039" cy="4114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8321040" y="1097280"/>
            <a:ext cx="3749039" cy="8686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21040" y="114300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 + 180 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155448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9 月发布会 + 政策包定稿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03920" y="2286000"/>
            <a:ext cx="228600" cy="22860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21945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发布会 200 人到场 + 5 家签约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03920" y="2880360"/>
            <a:ext cx="228600" cy="22860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278892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「iDrive 静安 10 条」发布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03920" y="3474720"/>
            <a:ext cx="228600" cy="22860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33832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签约 ≥ 30 家 / 入驻率 ≥ 30%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0080" y="54864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请董事会审议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5852160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① 启动预算（Y0–Y1）  ② 4 人核心团队招聘授权  ③ 静安区一企一策政府专班 ④ 9 月发布会预算  ⑤ 链主谈判授权区间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29184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058400" cy="12801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4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GS · iDrive 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2200" b="0" i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让中心城区跑通智能驾驶最后一公里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Q &amp; A · 谢 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冠松集团 · GS iDrive Hub 项目组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