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601200" y="-1828800"/>
            <a:ext cx="7315200" cy="7315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GS · iDrive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冠松静安智能驾驶研发中心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招商方案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2200" b="0" i="1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让中心城区跑通智能驾驶最后一公里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5 个 Phase · 8 个任务 · 35 页商务汇报版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2194560" cy="41148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v1.0 · 招商策划阶段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56692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汇报对象：集团董事会 / 静安区政府 / 链主企业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汇报议程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约 35 分钟形成完整认知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640080" cy="5029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1887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执行摘要 · 区位 · SWOT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1887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Executive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755648"/>
            <a:ext cx="10698480" cy="15000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31520" y="1874520"/>
            <a:ext cx="640080" cy="5029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8745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1 · 策略与定位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745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产业研究 + 楼栋方案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41448"/>
            <a:ext cx="10698480" cy="15000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31520" y="2560320"/>
            <a:ext cx="640080" cy="5029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5603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2 · 招商执行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5603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链主 5 张一页纸 + 漏斗 + 政府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127248"/>
            <a:ext cx="10698480" cy="15000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31520" y="3246120"/>
            <a:ext cx="640080" cy="5029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2461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3 · 品牌与活动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2461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9 月发布会 + 年度活动 + 媒体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813048"/>
            <a:ext cx="10698480" cy="15000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31520" y="3931920"/>
            <a:ext cx="640080" cy="5029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9319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4 · 商业条款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9319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四档 + 服务包 + 报价 + 财务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498848"/>
            <a:ext cx="10698480" cy="15000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31520" y="4617720"/>
            <a:ext cx="640080" cy="5029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6177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5 · 落地推进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6177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12 个月甘特 + 团队 + 风险矩阵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184648"/>
            <a:ext cx="10698480" cy="15000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731520" y="5303520"/>
            <a:ext cx="640080" cy="5029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3035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投决建议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3035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三个里程碑承诺 + 5 项授权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70448"/>
            <a:ext cx="10698480" cy="15000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01 · 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一页看懂：项目战略与三年目标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GS · iDrive Hub · 中心城区智能驾驶研发与总部首选地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269748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078992"/>
            <a:ext cx="26974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8 万㎡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总建面 · A~E 五栋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可出租 5.6 万㎡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005840"/>
            <a:ext cx="2697480" cy="14173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291840" y="1078992"/>
            <a:ext cx="26974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1.2 万㎡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8308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户外封闭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智驾测试区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05840"/>
            <a:ext cx="2697480" cy="14173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6480" y="1078992"/>
            <a:ext cx="26974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¥4.5–8.5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78308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起始租金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元/㎡·天 (四档)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005840"/>
            <a:ext cx="2697480" cy="14173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61120" y="1078992"/>
            <a:ext cx="26974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78308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Y3 入驻率目标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链主≥3 / 生态≥60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战略定位 · 三圈层客群 · 四大差异化壁垒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08960"/>
            <a:ext cx="1124712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3246120"/>
            <a:ext cx="3657600" cy="23774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战略定位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4904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L4 城市 NOA + 车路云一体化 + 智驾后市场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研发总部 + 测试验证 + 产业服务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三位一体园区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品牌主张：让中心城区跑通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智能驾驶最后一公里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3246120"/>
            <a:ext cx="3657600" cy="23774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389120" y="33375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三圈层客群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74904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内圈 · A 栋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链主独栋 · 1–3 家总部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中圈 · B/C 栋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算法/域控/传感器/仿真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30–50 家生态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外圈 · D/E 栋 + 测试区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服务/投资/政府/后市场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246120"/>
            <a:ext cx="3657600" cy="23774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83879" y="33375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四大差异化壁垒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74904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① 中心城区罕见的「独栋+测试区」组合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② 静安「一企一策」政策包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③ 冠松后市场资源闭环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 (4S/保险/二手车)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④ 地铁直达 · 30min 通达虹桥/浦东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关键举措：5 链主 · 300 生态 · 5 中介 · 1 场 9 月发布会 · 4 档商业模式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01 · 项目区位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项目区位 · 中心城区独栋园区的稀缺性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地铁双线直达 · 30 min 触达虹桥/浦东 · 1.5 km 环内可申请测试延伸路段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区位辐射示意（GS · iDrive Hub 为中心）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6858000" cy="48463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474720" y="3429000"/>
            <a:ext cx="822960" cy="822960"/>
          </a:xfrm>
          <a:prstGeom prst="ellipse">
            <a:avLst/>
          </a:prstGeom>
          <a:solidFill>
            <a:srgbClr val="C9A24A"/>
          </a:solidFill>
          <a:ln w="2540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GS
Hub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508760.0" y="2651760.0"/>
            <a:ext cx="2377440.0" cy="1188720.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359152"/>
            <a:ext cx="1737360" cy="310896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南京西路 CBD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95728" y="2359152"/>
            <a:ext cx="548640" cy="31089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10 min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2057400.0" y="1920240.0"/>
            <a:ext cx="1828800.0" cy="1920240.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88720" y="1627632"/>
            <a:ext cx="1737360" cy="310896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人民广场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44368" y="1627632"/>
            <a:ext cx="548640" cy="31089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12 min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886200.0" y="2651760.0"/>
            <a:ext cx="2377440.0" cy="1188720.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94960" y="2359152"/>
            <a:ext cx="1737360" cy="310896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陆家嘴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0608" y="2359152"/>
            <a:ext cx="548640" cy="31089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25 min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86200.0" y="3840480.0"/>
            <a:ext cx="2926080.0" cy="731520.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43600" y="4279392"/>
            <a:ext cx="1737360" cy="310896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张江 / AI 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99248" y="4279392"/>
            <a:ext cx="548640" cy="31089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40 min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143000.0" y="3840480.0"/>
            <a:ext cx="2743200.0" cy="914400.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4320" y="4462272"/>
            <a:ext cx="1737360" cy="310896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虹桥枢纽 / 机场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29968" y="4462272"/>
            <a:ext cx="548640" cy="31089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30 min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86200.0" y="3840480.0"/>
            <a:ext cx="2926080.0" cy="1645920.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43600" y="5193792"/>
            <a:ext cx="1737360" cy="310896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浦东机场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99248" y="5193792"/>
            <a:ext cx="548640" cy="31089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55 min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971800.0" y="1645920.0"/>
            <a:ext cx="914400.0" cy="2194560.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103120" y="1353312"/>
            <a:ext cx="1737360" cy="310896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嘉定汽车城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58768" y="1353312"/>
            <a:ext cx="548640" cy="31089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45 min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86200.0" y="3840480.0"/>
            <a:ext cx="2194560.0" cy="2011680.0"/>
          </a:xfrm>
          <a:prstGeom prst="line">
            <a:avLst/>
          </a:prstGeom>
          <a:ln w="127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212080" y="5559552"/>
            <a:ext cx="1737360" cy="310896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临港滴水湖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67728" y="5559552"/>
            <a:ext cx="548640" cy="31089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75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105156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交通与配套（步行/车程口径）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141732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863840" y="1417320"/>
            <a:ext cx="41148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001000" y="14630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地铁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146304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双线直达 · 园区主入口 5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201168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863840" y="2011680"/>
            <a:ext cx="41148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01000" y="20574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公交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20574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12 条公交线 · 多个站点环抱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2606040"/>
            <a:ext cx="164592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863840" y="2606040"/>
            <a:ext cx="41148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01000" y="26517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机场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265176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虹桥 30 min · 浦东 55 min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3200400"/>
            <a:ext cx="164592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7863840" y="3200400"/>
            <a:ext cx="41148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001000" y="324612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高铁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324612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上海站 15 min · 虹桥站 30 min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0" y="3794760"/>
            <a:ext cx="164592" cy="5029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7863840" y="3794760"/>
            <a:ext cx="41148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001000" y="38404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CBD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384048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南京西路 10 min · 人民广场 12 min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0" y="4389120"/>
            <a:ext cx="164592" cy="5029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7863840" y="4389120"/>
            <a:ext cx="41148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001000" y="44348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产业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0" y="443484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嘉定 45 min · 张江 40 min · 临港 75 min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0" y="4983480"/>
            <a:ext cx="164592" cy="5029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7863840" y="4983480"/>
            <a:ext cx="41148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001000" y="50292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人才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50292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周边 5 km 内 12 所高校 / 60 万 IT 白领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0" y="5577840"/>
            <a:ext cx="164592" cy="5029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7863840" y="5577840"/>
            <a:ext cx="41148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001000" y="56235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住居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562356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区内 8 个人才公寓社区 + 高端住宅带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01 ·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SWOT 总览 · 把优势变成差异化报价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把外部机会与内部优势耦合，形成不可复制的 4 道护城河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562356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114300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优势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1430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Strengths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764792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91640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中心城区罕见的独栋 + 户外测试区组合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40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075688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冠松集团 4S/保险/二手车后市场资源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32888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459736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静安区财政与政策腾挪空间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16936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843784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地铁直达 · 30 min 触达虹桥与浦东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00984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27832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总建面 8 万㎡ + 1.2 万㎡ 户外测试区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097280"/>
            <a:ext cx="562356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63640" y="1097280"/>
            <a:ext cx="562356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00800" y="114300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劣势 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1430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Weaknesses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764792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691640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路测牌照需逐级申请，非自动获得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2148840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075688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单体规模 8 万㎡（在大型园区中属中等）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2532888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459736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智驾产业基础需从零搭建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2916936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843784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户外测试区 1.2 万㎡ 较嘉定/临港偏小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3300984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227832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中心城区运营成本高于郊区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40480"/>
            <a:ext cx="562356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57200" y="3840480"/>
            <a:ext cx="5623560" cy="4572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94360" y="388620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机会 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3886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Opportunities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507992"/>
            <a:ext cx="164592" cy="1645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434840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城市 NOA + L3 法规 进入量产爆发期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892040"/>
            <a:ext cx="164592" cy="1645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4818888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智驾后市场（保险/改装/二手车）爆发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276088"/>
            <a:ext cx="164592" cy="1645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202936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央企 / 外资 ADAS 总部外迁需求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660136"/>
            <a:ext cx="164592" cy="1645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586984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政府推动「中心城区智算/智驾」走廊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6044184"/>
            <a:ext cx="164592" cy="1645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971032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L3 准入试点带来政策红利窗口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840480"/>
            <a:ext cx="562356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263640" y="3840480"/>
            <a:ext cx="5623560" cy="457200"/>
          </a:xfrm>
          <a:prstGeom prst="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0" y="388620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威胁 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3886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Threats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46520" y="4507992"/>
            <a:ext cx="164592" cy="164592"/>
          </a:xfrm>
          <a:prstGeom prst="round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4434840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嘉定 / 临港政策护城河深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4892040"/>
            <a:ext cx="164592" cy="164592"/>
          </a:xfrm>
          <a:prstGeom prst="round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4818888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张江 / 徐汇高端租金天花板压缩定价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46520" y="5276088"/>
            <a:ext cx="164592" cy="164592"/>
          </a:xfrm>
          <a:prstGeom prst="round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5202936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智驾行业整合期，腰部企业出清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46520" y="5660136"/>
            <a:ext cx="164592" cy="164592"/>
          </a:xfrm>
          <a:prstGeom prst="round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5586984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地缘 / 数据合规对外资客户造成不确定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46520" y="6044184"/>
            <a:ext cx="164592" cy="164592"/>
          </a:xfrm>
          <a:prstGeom prst="round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5971032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公共预算紧张，专项补贴趋严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策略与定位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Strategy &amp; Positioning · 奠基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1 · 产业定位研究与竞品对标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43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2 · 空间功能规划（A~E 栋 + 户外测试区）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1 · 任务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智能驾驶产业链六层图谱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客群匹配的『地图』：从基础设施到应用运营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46304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L6 应用与运营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143000"/>
            <a:ext cx="6309360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194560" y="114300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Robotaxi · Robobus · Robotruck · 矿区港口 · 末端配送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28800"/>
            <a:ext cx="146304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L5 整车与方案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828800"/>
            <a:ext cx="6309360" cy="5943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194560" y="182880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车企 ADAS/AD 部门 · 全栈方案商（华为/Momenta/...）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14600"/>
            <a:ext cx="146304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25146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L4 软件与算法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514600"/>
            <a:ext cx="6309360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194560" y="251460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感知 · 规控 · 定位 · 端到端大模型 · 仿真 · 数据闭环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00400"/>
            <a:ext cx="146304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32004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L3 域控与计算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3200400"/>
            <a:ext cx="6309360" cy="5943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194560" y="320040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智驾域控 · 中央计算 · 芯片（地平线/黑芝麻/英伟达）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886200"/>
            <a:ext cx="146304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L2 传感器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886200"/>
            <a:ext cx="6309360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194560" y="388620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激光雷达 · 4D 毫米波 · 摄像头 · 高精地图 · IMU/RTK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572000"/>
            <a:ext cx="146304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L1 基础设施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4572000"/>
            <a:ext cx="6309360" cy="5943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194560" y="457200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路侧 RSU · V2X · 5G/卫星通信 · 高精地图测绘资质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1463040"/>
            <a:ext cx="3108960" cy="11430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823960" y="15544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资本 / 孵化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192024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国调/中金/高瓴/园区基金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2788920"/>
            <a:ext cx="3108960" cy="11430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23960" y="28803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测试 / 认证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324612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中汽研 · TüV · CATARC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4114800"/>
            <a:ext cx="3108960" cy="11430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823960" y="42062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后市场服务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457200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保险 · 维修 · 改装 · 二手车 (冠松)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F6FEB"/>
                </a:solidFill>
                <a:latin typeface="Calibri"/>
                <a:ea typeface="WenQuanYi Micro Hei"/>
                <a:cs typeface="WenQuanYi Micro Hei"/>
              </a:rPr>
              <a:t>→ A 栋承接 L5 链主 · B 栋承接 L3/L4 · C 栋承接仿真/数据 · D 栋承接服务集群 · E 栋承接冠松后市场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1 · 任务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静安区内 + 跨区竞品对标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核心结论：中心城区独栋+测试区组合稀缺，租金锚定 6.5–8.5 元/㎡·天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1371600"/>
                <a:gridCol w="1280160"/>
                <a:gridCol w="822960"/>
                <a:gridCol w="2468880"/>
                <a:gridCol w="2377440"/>
              </a:tblGrid>
              <a:tr h="52578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园区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区位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主导产业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租金 (元/㎡·天)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入驻率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政策亮点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对我方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市北高新 · 大数据基地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静安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大数据/AI/智算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6.0–8.5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区级 5%~10% 租补 · 公寓 800 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无智驾产业链 / 无测试区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静安国际中心片区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静安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总部金融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9.0–13.0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~90%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总部经济奖励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无产业属性 / 不可改造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大宁国际办公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静安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商务/文创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6.5–8.0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一般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非产业园定位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嘉定 · 创新中心 (新能港)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嘉定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智驾全产业链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3.5–5.0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~95%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国家级测试场 + 牌照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牌照不可复制 · 我方区位优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临港 · AI 创新港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浦东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L4/Robotaxi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3.0–4.5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装补 800–1500/㎡ · 全域开放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政策强 · 距市区 1.5h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张江 · IC 设计园 / AI 岛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浦东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芯片/AI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6.5–8.5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~92%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张江专项 + IC 补贴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算力强 · 智驾整车弱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徐汇 · 西岸 AI 走廊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徐汇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AI 大模型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8.5–11.0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模速空间补贴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单价高 · 无独栋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我方差异化定价策略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基础租金（6.5–8.5）+ 政策返还（区级留成 80% 三年返）+ 服务积分（测试/算力/招聘） — 等效净价低于南西核心 25%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1 · 任务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A~E 栋功能拆分 + 户外测试区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独栋链主 / 生态联办 / 共享研发 / 产业服务 / 冠松总部 + 1.2 万㎡ 测试区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6400800" cy="4937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园区平面示意（北 ↑）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554480"/>
            <a:ext cx="1371600" cy="128016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155448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D 栋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产业服务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10,000 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554480"/>
            <a:ext cx="1371600" cy="12801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20640" y="155448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A 栋</a:t>
            </a:r>
          </a:p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链主独栋</a:t>
            </a:r>
          </a:p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18,000 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1554480"/>
            <a:ext cx="2377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68880" y="155448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中央广场 / 路演灯柱</a:t>
            </a:r>
          </a:p>
          <a:p>
            <a:pPr algn="ctr"/>
            <a:r>
              <a:rPr sz="10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林荫水景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017520"/>
            <a:ext cx="1371600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C 栋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共享研发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12,000 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017520"/>
            <a:ext cx="1371600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120640" y="301752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B 栋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生态联办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16,000 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474720"/>
            <a:ext cx="237744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68880" y="34747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连廊 / 食堂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526280"/>
            <a:ext cx="4023360" cy="146304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" y="4526280"/>
            <a:ext cx="4023360" cy="1463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户外封闭测试区  12,000 ㎡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城市道 / 极限场景 / 泊车 / 雨雾夜 / V2X / 监控塔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4526280"/>
            <a:ext cx="1371600" cy="1463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20640" y="4526280"/>
            <a:ext cx="1371600" cy="1463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E 栋</a:t>
            </a:r>
          </a:p>
          <a:p>
            <a:pPr algn="ctr"/>
            <a:r>
              <a:rPr sz="11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冠松总部</a:t>
            </a:r>
          </a:p>
          <a:p>
            <a:pPr algn="ctr"/>
            <a:r>
              <a:rPr sz="11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14,000 ㎡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132320" y="1097280"/>
          <a:ext cx="4572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463040"/>
              </a:tblGrid>
              <a:tr h="448887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区域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面积 (㎡)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性质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 栋 链主独栋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出租 (可竖切 2 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B 栋 生态联办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16,000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出租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 栋 共享研发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出租 + 工位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D 栋 产业服务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10,000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出租 + 公共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E 栋 冠松总部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自留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户外测试区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12,000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公共/会员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公共/连廊/绿化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地下停车/库房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12,000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部分商业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合计建筑面积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约 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可出租净面积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约 56,000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1 · 任务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A 栋 · 链主独栋（『链主灯塔』）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可整栋 1 家 / 竖切 2 家 · 起始租金 4.5–5.5 元/㎡·天 · 8–10 年长租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纵剖示意（10F · 18,000 ㎡）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777240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10F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1417320"/>
            <a:ext cx="420624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71600" y="14173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CEO 楼层 + 露台 / 客户接待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65376"/>
            <a:ext cx="777240" cy="4114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1865376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1865376"/>
            <a:ext cx="420624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71600" y="1865376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战略与投资部门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13432"/>
            <a:ext cx="777240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313432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8F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2313432"/>
            <a:ext cx="420624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71600" y="2313432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全球研发管理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61488"/>
            <a:ext cx="777240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2761488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7F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2761488"/>
            <a:ext cx="420624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371600" y="2761488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智驾研发 (软件)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09544"/>
            <a:ext cx="777240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3209544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6F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3209544"/>
            <a:ext cx="420624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371600" y="320954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智驾研发 (硬件)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57600"/>
            <a:ext cx="777240" cy="41148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7200" y="365760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5F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3657600"/>
            <a:ext cx="420624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371600" y="36576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智驾研发 (数据/仿真) — 可选竖切分隔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105656"/>
            <a:ext cx="777240" cy="4114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4105656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4F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4105656"/>
            <a:ext cx="420624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371600" y="4105656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前装 / 量产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553712"/>
            <a:ext cx="777240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" y="4553712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4553712"/>
            <a:ext cx="420624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371600" y="4553712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测试与认证联调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001768"/>
            <a:ext cx="777240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7200" y="5001768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0160" y="5001768"/>
            <a:ext cx="420624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371600" y="5001768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客户体验中心 / 演示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449824"/>
            <a:ext cx="777240" cy="4114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5449824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5449824"/>
            <a:ext cx="420624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371600" y="5449824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礼宾大堂 / 接待 / 高管会议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897880"/>
            <a:ext cx="777240" cy="41148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57200" y="589788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B1–B2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80160" y="5897880"/>
            <a:ext cx="420624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371600" y="58978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专属车队入口 / 充电 / 库房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核心卖点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1417320"/>
            <a:ext cx="164592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6583680" y="1417320"/>
            <a:ext cx="521208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720840" y="1435608"/>
            <a:ext cx="210312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整栋冠名权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1435608"/>
            <a:ext cx="292608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「[链主] · iDrive Tower」 5 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1920240"/>
            <a:ext cx="164592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583680" y="1920240"/>
            <a:ext cx="521208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720840" y="1938528"/>
            <a:ext cx="210312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独立礼宾大堂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1938528"/>
            <a:ext cx="292608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1F 6 m 挑空 + 客户专属电梯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423160"/>
            <a:ext cx="164592" cy="4114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6583680" y="2423160"/>
            <a:ext cx="521208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720840" y="2441448"/>
            <a:ext cx="210312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CEO 楼层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23960" y="2441448"/>
            <a:ext cx="292608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10F 含露台 + 屋顶停机/光伏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2926080"/>
            <a:ext cx="164592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6583680" y="2926080"/>
            <a:ext cx="521208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720840" y="2944368"/>
            <a:ext cx="210312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地下专属入口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23960" y="2944368"/>
            <a:ext cx="292608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测试车队不与办公人流交叉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3429000"/>
            <a:ext cx="164592" cy="41148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6583680" y="3429000"/>
            <a:ext cx="521208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720840" y="3447288"/>
            <a:ext cx="210312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竖切方案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23960" y="3447288"/>
            <a:ext cx="292608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5F 防火分隔，可分 2 家独立运营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3931920"/>
            <a:ext cx="164592" cy="4114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6583680" y="3931920"/>
            <a:ext cx="5212080" cy="4114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720840" y="3950208"/>
            <a:ext cx="210312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机电预留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23960" y="3950208"/>
            <a:ext cx="292608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≥ 200 W/㎡ · 4 m 净高 · 4.5 kN/㎡ 荷载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0" y="4526280"/>
            <a:ext cx="5394960" cy="17830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537960" y="45720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签约组合（草案）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7960" y="4892040"/>
            <a:ext cx="5120640" cy="1417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起始租金 4.5–5.5 元/㎡·天 · 8–10 年长租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免租 18–24 个月 · 装补 1,000–1,500 元/㎡ (封顶 2,700 万)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区级税收留成 80% 三年返 / 50% 后两年返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户外测试区终身免费 + 1.5 km 路测延伸段联合申请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人才公寓 200 套 + 落户绿通 30 个/年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 月发布会主旨演讲 + 媒体首发权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1 · 任务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B / C / D 栋 · 生态 + 共享 + 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算法/域控/传感器堆栈层 · 早期算法加速器 · 一站式产业服务大楼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749039" cy="50292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749039" cy="960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B 栋 · 生态联办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16,000 ㎡ · 7.0–8.0 元/㎡·天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50592"/>
            <a:ext cx="274320" cy="2743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8600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户型 500/800/1500/2500 ㎡ 多层组合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27832"/>
            <a:ext cx="274320" cy="2743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6324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每层中部「共享路演 + 茶水 + 接待」模块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05072"/>
            <a:ext cx="274320" cy="2743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4048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适配 L3 域控 / L2 传感器 / Tier1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274320" cy="2743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1772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签约 3+3+1 年 · 免租 6–12 月 · 装补 300–800/㎡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1097280"/>
            <a:ext cx="3749039" cy="50292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297679" y="1097280"/>
            <a:ext cx="3749039" cy="9601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297679" y="118872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C 栋 · 共享研发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160020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12,000 ㎡ · 8.0–8.5 元/㎡·天 + 工位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245059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599" y="228600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工位 1,800–2,800/工位/月（10–30 工位起）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322783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599" y="306324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数据闭环实验室 / 仿真验证实验室 / 端到端联训间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400507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599" y="384048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共享 GPU 算力 + 仿真平台会员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478231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599" y="461772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适配早期算法 / 高校转化 / 飞地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58" y="1097280"/>
            <a:ext cx="3749039" cy="50292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138158" y="1097280"/>
            <a:ext cx="3749039" cy="9601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138158" y="118872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D 栋 · 产业服务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58" y="160020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10,000 ㎡ · 7.0–8.5 元/㎡·天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38" y="2450592"/>
            <a:ext cx="274320" cy="2743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78" y="228600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1F 600 ㎡ 路演中心 + 媒体直播间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38" y="3227832"/>
            <a:ext cx="274320" cy="2743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78" y="306324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区投促办 + 市经信委 + 交警支队驻点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38" y="4005072"/>
            <a:ext cx="274320" cy="2743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78" y="384048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中汽研 / TüV / CATARC / 君合 / 方达 / 毕马威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38" y="4782312"/>
            <a:ext cx="274320" cy="2743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78" y="461772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海关 / 税务 / 知识产权快速通道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1 · 任务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E 栋 · 冠松总部 + 户外测试区 7 大场景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独家壁垒：让真实后市场流量与园区企业测试数据形成闭环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E 栋 · 冠松总部 / 后市场超级体验店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914400" cy="8686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9–10F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1417320"/>
            <a:ext cx="45262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554480" y="146304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冠松产业基金 + 战略投资 + 高管接待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914400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4–8F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2377440"/>
            <a:ext cx="45262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54480" y="242316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冠松集团总部办公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91440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2–3F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3337560"/>
            <a:ext cx="45262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554480" y="338328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冠松车队 + 4S 联动指挥中心 (接入园区测试车)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914400" cy="8686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B1–1F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4297680"/>
            <a:ext cx="45262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554480" y="434340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智驾后市场体验店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(保险定损 / 改装 / 数据上链 / 二手智驾车)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05156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户外封闭测试区 · 7 大场景模块（共 12,000 ㎡）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41732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446520" y="1417320"/>
            <a:ext cx="54864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0" y="14630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城市道路缩比环线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1463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4,500 ㎡ · 双车道 + 信号灯 ×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011680"/>
            <a:ext cx="164592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446520" y="2011680"/>
            <a:ext cx="54864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0" y="20574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极限场景区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0574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1,800 ㎡ · Cut-in / 鬼探头 / 加塞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606040"/>
            <a:ext cx="16459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446520" y="2606040"/>
            <a:ext cx="54864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0" y="26517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泊车与召唤区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26517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1,500 ㎡ · 立体/机械/室外混合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200400"/>
            <a:ext cx="164592" cy="5029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446520" y="3200400"/>
            <a:ext cx="54864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0" y="32461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雨/雾/夜模拟区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324612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1,200 ㎡ · 喷淋 + 雾发生器 + 可调照明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794760"/>
            <a:ext cx="164592" cy="50292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446520" y="3794760"/>
            <a:ext cx="54864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583680" y="3840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路侧 V2X 试验段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38404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600 ㎡ · RSU×4 / 5G-A×2 / MEC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4389120"/>
            <a:ext cx="164592" cy="5029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446520" y="4389120"/>
            <a:ext cx="54864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583680" y="44348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充/换电与维保区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44348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800 ㎡ · 超充 8 + 换电站 1 + 维修 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4983480"/>
            <a:ext cx="164592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446520" y="4983480"/>
            <a:ext cx="548640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0" y="50292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监控指挥塔 + 数据机房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50292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600 ㎡ · 4D 监控 + 100 TB 本地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5669280"/>
            <a:ext cx="5669280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400800" y="57150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商业模式：会员 (链主免费) · 按场次 (生态 6k–20k/场) · 工程包月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招商执行（核心）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Leasing Execution · Anchor + Ecosystem + Government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3 · 链主 TOP5 攻坚 + 5 张一页纸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43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4 · 300 家生态招商漏斗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5 · 政府关系与政策包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2 · 任务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链主 TOP5 攻坚作战图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项目总监 + GR 总监 双人出动 · 周一例会 / 季度董事会复盘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371600"/>
                <a:gridCol w="1280160"/>
                <a:gridCol w="1828800"/>
                <a:gridCol w="1463040"/>
                <a:gridCol w="2377440"/>
                <a:gridCol w="914400"/>
                <a:gridCol w="1645920"/>
              </a:tblGrid>
              <a:tr h="39624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#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链主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面积 (㎡)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决策人 / 关键人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当前阶段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下一动作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截止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状态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3962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华为车 BU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8,000–12,000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上海中心负责人 / GTS 上海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T0 名片建联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区委书记+市经信委约见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T+30d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推进中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百度 Apollo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4,000–6,000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IDG 总裁 / 华东负责人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已发邀约函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联合投促办赴京拜访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T+45d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顺利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小鹏汽车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3,000–5,000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李力耘 / 上海负责人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公司层初接触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邀请出席 9 月发布会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T+60d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推进中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地平线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4,000–8,000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余凯 / 黄畅 / 政企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高层已建联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邀请参观测试区 + V2X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T+30d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顺利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Momenta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5,000–8,000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曹旭东 / GR 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已建联，等会面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曹 CEO + 静安区长会面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T+45d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推进中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每家「一页纸」定制提案 · 四要点结构（详见接下来 5 页）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41648"/>
            <a:ext cx="1124712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57200" y="4206240"/>
            <a:ext cx="2697480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3434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决策人 / 关键人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30 秒电梯演讲 → CEO/总裁层；GR 把区领导接口排进议程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4206240"/>
            <a:ext cx="2697480" cy="21031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43434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正缺什么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84632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中心城区落点 · 测试场地 · 后市场闭环 · 政企协同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206240"/>
            <a:ext cx="2697480" cy="21031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63640" y="43434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独家供给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84632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A 栋整栋冠名 · 户外测试区 · 静安一企一策 · 冠松 4S 流量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4206240"/>
            <a:ext cx="2697480" cy="21031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98280" y="43434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报价权益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484632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起始租 4.5–5.5 · 免租 18–24m · 装补 1,000–1,500/㎡ · 留成 80% 三年返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2 · 任务 3 · 提案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华为车 BU · 一页纸定制提案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静安智能驾驶上海第二中心 — 城市 NOA 与车路云一体化的中心城区样板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14173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为什么是 华为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鸿蒙智行 + 引望 = 中国智驾最具号召力的链主。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上海中心已落地金桥，需要中心城区「展示 + 客户接待 + 政府协同」的第二极。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2356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他正缺什么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中心城区客户接待与政商展示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城市 NOA 路测延伸路段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鸿蒙生态后市场闭环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政企协同的高效接口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静安 + 冠松 · 独家供给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834640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A 栋整栋冠名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「华为 · iDrive Tower」南京西路 30min 直达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200400"/>
            <a:ext cx="2834640" cy="4114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户外测试 + 路测延伸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2900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1.5 km 测试延伸路段 联合公安申请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2834640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冠松 4S 后市场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鸿蒙智行华东最大经销/售后协同伙伴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200400"/>
            <a:ext cx="2834640" cy="4114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9828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静安一企一策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8972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区委书记直接对接 · 一窗通办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报价与权益（草案）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920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7315200" cy="13716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94360" y="5166360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20640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整栋 18,000 ㎡ · 签约 10 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21808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4.8 元/㎡·天 · 3 年一调（CPI+0.5%）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568696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2297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24 个月 · 装补 1,500 元/㎡（封顶 2,700 万）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769864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724144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区级税收留成 80% 三年返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971032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92531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户外测试区终身免费会员 · 人才公寓 200 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5029200"/>
            <a:ext cx="3977639" cy="1371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6720" y="5093208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下一步行动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431536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T+15d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394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见余承东、王军，约上海中心负责人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724144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T+30d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6875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上海中心负责人 + 静安区委书记互访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6016752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T+90d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9801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意向条款书 (Term Sheet) 签署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2 · 任务 3 · 提案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百度 Apollo · 一页纸定制提案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上海中心城区「萝卜快跑 + 城市 NOA」双总部基地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14173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为什么是 百度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Apollo 是中国 L4 Robotaxi 商业化最深的玩家；萝卜快跑已多城运营。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上海中心城区是 Apollo 尚未补齐的关键拼图。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2356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他正缺什么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上海中心城区 Robotaxi 运营基地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城市 NOA 数据闭环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政府关系与牌照绿通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商务展示与媒体首发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静安 + 冠松 · 独家供给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834640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户外测试区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1.5 km 延伸路段 + 冠松车队夜间充电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200400"/>
            <a:ext cx="2834640" cy="4114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数据合规沙盒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2900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冠松后市场数据池 + 上海数交所沙盒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2834640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Apollo 专项工作组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区交警 + 经委 + 投促办承诺成立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200400"/>
            <a:ext cx="2834640" cy="4114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9828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A 栋路演中心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8972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1F 600 ㎡ + 冠名首发权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报价与权益（草案）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920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7315200" cy="13716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94360" y="5166360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20640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A 栋下半区 9,000 ㎡（5–10F）· 签约 8 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21808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5.2 元/㎡·天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568696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2297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18 个月 · 装补 1,200 元/㎡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769864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724144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与冠松共建「Apollo · GS 出行实验室」（双方各 50%）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971032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92531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牌照绿色通道：区交警 + 市经信委协作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5029200"/>
            <a:ext cx="3977639" cy="1371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6720" y="5093208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下一步行动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431536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T+10d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394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联合静安投促办赴京拜会 IDG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724144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T+45d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6875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王云鹏（或代表）静安考察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6016752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T+120d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9801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Term Sheet 签署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2 · 任务 3 · 提案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小鹏汽车 · 一页纸定制提案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上海智能驾驶研发飞地 + 智驾出行运营基地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14173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为什么是 小鹏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城市 NOA / XNGP 量产领先，急需上海「研发飞地 + 高端用户体验」。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上海是新能源汽车销售第一大市，但小鹏华东研发尚未成型。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2356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他正缺什么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上海研发飞地（招聘 AI 人才）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高端用户接待与品牌展示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Robo 网约车运营试点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数据闭环成本压缩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静安 + 冠松 · 独家供给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834640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B 栋 5,000 ㎡ 高端办公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+ 静安人才公寓 80 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200400"/>
            <a:ext cx="2834640" cy="4114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E 栋 1F 联合体验店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2900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中央广场城市发布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2834640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60 个智驾车专用车位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+ 户外测试区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200400"/>
            <a:ext cx="2834640" cy="4114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9828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C 栋共享数据/仿真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8972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节省自建成本 30%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报价与权益（草案）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920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7315200" cy="13716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94360" y="5166360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20640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B 栋 4,500 ㎡ · 签约 5+5 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21808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6.5 元/㎡·天（生态价）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568696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2297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12 个月 · 装补 800 元/㎡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769864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724144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9 月发布会主旨演讲位 + 媒体首发权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971032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92531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E 栋 1F 联合体验店免租 36 个月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5029200"/>
            <a:ext cx="3977639" cy="1371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6720" y="5093208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下一步行动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431536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T+15d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394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项目总监赴广州拜访李力耘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724144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T+45d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6875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邀请何小鹏出席 9 月发布会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6016752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T+90d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9801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意向书签署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2 · 任务 3 · 提案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地平线 · 一页纸定制提案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静安「征程生态」开放实验室与算法-硬件协同中心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14173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为什么是 地平线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中国车规算力领跑，「征程」系列已成行业标配。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急需上海生态拓展窗口 + 与算法/Tier1/车厂联调的实体场所。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2356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他正缺什么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算法-硬件联调场所（中心城区）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城市 NOA 客户演示路段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Tier1 客户接待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投资协同与上市资源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静安 + 冠松 · 独家供给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834640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C 栋 1,500 ㎡ 联合实验室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「征程开放实验室」共建命名权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200400"/>
            <a:ext cx="2834640" cy="4114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户外测试 + V2X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2900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城市道缩比环线 + 路侧设备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2834640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A 栋客户接待中心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共享权 + 大客户演示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200400"/>
            <a:ext cx="2834640" cy="4114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9828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产业基金协同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8972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区基金 + 冠松基金合计 5 亿优先 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报价与权益（草案）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920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7315200" cy="13716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94360" y="5166360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20640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C 栋 + B 栋合计 6,000 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21808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6.8 元/㎡·天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568696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2297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15 个月 · 装补 1,000 元/㎡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769864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724144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「征程开放实验室」共建 + 优先调度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971032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92531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上海科技新人才落户配额 30 个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5029200"/>
            <a:ext cx="3977639" cy="1371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6720" y="5093208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下一步行动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431536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T+10d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394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邀请上海办参观户外测试区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724144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T+30d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6875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余凯（或黄畅）静安考察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6016752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T+90d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9801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联合实验室共建协议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2 · 任务 3 · 提案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Momenta · 一页纸定制提案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上海「飞轮总部」 — 量产 + 数据闭环 + 出行三位一体基地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14173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为什么是 Momenta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「飞轮」模式量产化领先，已与多家车企量产合作。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上海有研发但分散，需要「总部级」叙事整合。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2356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他正缺什么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上海「总部级」门面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量产数据-后市场闭环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城市级 NOA 真实路测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政府关系一企一策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静安 + 冠松 · 独家供给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834640" cy="411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A 栋下半区或 B 栋整层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冠名权 5 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200400"/>
            <a:ext cx="2834640" cy="4114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冠松后市场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2900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4S/保险数据合规通道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2834640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户外封闭 + 延伸路段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城市级 NOA 真实路测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200400"/>
            <a:ext cx="2834640" cy="4114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9828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静安区一企一策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3611880"/>
            <a:ext cx="283464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8972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区领导班子直接对接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报价与权益（草案）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920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7315200" cy="13716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94360" y="5166360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20640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A 栋下半区 8,000 ㎡ · 签约 8 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21808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5.5 元/㎡·天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568696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2297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20 个月 · 装补 1,200 元/㎡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769864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724144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「Momenta 飞轮 · GS 数据沙盒」联合立项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971032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92531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区级人才公寓 100 套 + 落户绿通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5029200"/>
            <a:ext cx="3977639" cy="1371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6720" y="5093208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下一步行动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431536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T+10d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394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曹 CEO + 集团董事长 + 静安区长会面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724144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T+45d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6875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Term Sheet 草案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6016752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T+120d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9801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签约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2 · 任务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生态企业招商漏斗 · 300 家库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5 家中介 · 9 类来源 · 端到端转化 17% · 60 家年签约目标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292608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" y="114300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L1 线索 (Lead)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143000"/>
            <a:ext cx="603504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74720" y="114300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360 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37360"/>
            <a:ext cx="292608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2920" y="173736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L2 触达 (Reached)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737360"/>
            <a:ext cx="4878324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74720" y="1737360"/>
            <a:ext cx="5975604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290 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31720"/>
            <a:ext cx="292608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233172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L3 意向 (Intent)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331720"/>
            <a:ext cx="2414016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74720" y="2331720"/>
            <a:ext cx="3511296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145 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292608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2920" y="292608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L4 谈判 (Negotiation)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926080"/>
            <a:ext cx="1458468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74720" y="2926080"/>
            <a:ext cx="2555748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87 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20440"/>
            <a:ext cx="292608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2920" y="352044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L5 签约 (Signed)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520440"/>
            <a:ext cx="1005840" cy="5029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74720" y="35204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60 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14800"/>
            <a:ext cx="2926080" cy="5029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02920" y="411480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L6 入驻 (Move-in)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114800"/>
            <a:ext cx="955547" cy="5029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74720" y="4114800"/>
            <a:ext cx="2052827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57 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29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理论端到端转化（线索 → 签约）： 80% × 50% × 60% × 70% ≈ 17%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F6FEB"/>
                </a:solidFill>
                <a:latin typeface="Calibri"/>
                <a:ea typeface="WenQuanYi Micro Hei"/>
                <a:cs typeface="WenQuanYi Micro Hei"/>
              </a:rPr>
              <a:t>60 家签约 ⇐ 360 有效线索 ⇐ 300 库 + 自拓溢出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9144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5 家中介渠道 · 非独家 + 30 天首报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498079" y="1280160"/>
          <a:ext cx="4389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80160"/>
                <a:gridCol w="914400"/>
                <a:gridCol w="731520"/>
              </a:tblGrid>
              <a:tr h="47244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中介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侧重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佣金档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年度任务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4724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戴德梁行 C&amp;W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跨国/外资 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首月 100% / 长租 120%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60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仲量联行 JLL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互联网/科技搬迁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同上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60 家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24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高力 Colliers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C+ 腰部企业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同上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50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世邦 CBRE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链主 / 整层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链主最高 150%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40 家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24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本地精品行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中小生态/工位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首月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90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7498079" y="4297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300 家库 · 产业链层级配比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61772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L4 算法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4654296"/>
            <a:ext cx="2194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972800" y="461772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80060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L2 传感器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4837176"/>
            <a:ext cx="182880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972800" y="480060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98348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L3 域控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0" y="5020056"/>
            <a:ext cx="12801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972800" y="498348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35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516636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仿真/数据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5202936"/>
            <a:ext cx="12801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0972800" y="516636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534924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后市场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5385816"/>
            <a:ext cx="10972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972800" y="534924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553212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投资/法律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5568696"/>
            <a:ext cx="10972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972800" y="553212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571500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高校/科研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0" y="5751576"/>
            <a:ext cx="109728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972800" y="571500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79" y="589788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L5 整车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86800" y="5934456"/>
            <a:ext cx="54864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0972800" y="589788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608076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测试认证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6117336"/>
            <a:ext cx="54864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0972800" y="608076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2 · 任务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政府关系对接 · 路径地图与政策包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区/市双层 · 7 步首轮汇报 · 形成「一企一策」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对接路径地图（市/区双层）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669280" cy="48463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286000" y="1554480"/>
            <a:ext cx="1828800" cy="41148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市委市政府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1463040" cy="4114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市经信委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286000"/>
            <a:ext cx="1828800" cy="4114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市公安/交通委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286000"/>
            <a:ext cx="1645920" cy="4114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市科委/发改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200400"/>
            <a:ext cx="2194560" cy="45720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静安区委区政府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1463040" cy="41148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区投促办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023360"/>
            <a:ext cx="1828800" cy="41148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区经委/科委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023360"/>
            <a:ext cx="1645920" cy="41148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区财政/税务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63440"/>
            <a:ext cx="1463040" cy="4114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区交警支队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663440"/>
            <a:ext cx="1828800" cy="4114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区人社/房管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663440"/>
            <a:ext cx="1645920" cy="4114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区国资/街道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7 步首轮汇报 · 30 天完成全覆盖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150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区投促办 → 副区长 → 区委书记/区长 → 市经信委 → 市公安交警 → 市科委/发改 → 区四套班子专题会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政策包 · 六维适配清单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417320"/>
            <a:ext cx="182880" cy="685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83680" y="1417320"/>
            <a:ext cx="5212080" cy="6858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20840" y="146304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牌照 / 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7465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封闭场地备案 · 1.5km 路测延伸 · L3/L4 试点联合体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194560"/>
            <a:ext cx="182880" cy="685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583680" y="2194560"/>
            <a:ext cx="5212080" cy="6858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20840" y="224028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财税返还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52374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区级留成 80% 三年返 / 50% 后两年返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971800"/>
            <a:ext cx="182880" cy="6858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583680" y="2971800"/>
            <a:ext cx="5212080" cy="6858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720840" y="301752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人才 / 公寓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30098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 200 套 + 生态 300 套 · 落户绿通 80/年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749040"/>
            <a:ext cx="182880" cy="685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583680" y="3749040"/>
            <a:ext cx="5212080" cy="6858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720840" y="379476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数据合规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07822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数交所沙盒 · 算力券最高 500 万 · 出境绿通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526280"/>
            <a:ext cx="182880" cy="68580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583680" y="4526280"/>
            <a:ext cx="5212080" cy="6858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720840" y="457200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产业基金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85546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区基金 1:1 配资 · 国调/中金/高瓴 LP 5–10 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303520"/>
            <a:ext cx="182880" cy="6858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583680" y="5303520"/>
            <a:ext cx="5212080" cy="6858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720840" y="534924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用地 / 配套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5632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测试区合规使用 · 周边路侧充电 · 一址多照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品牌与活动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Brand &amp; Events · Make Noise, Build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6 · 9 月旗舰发布会 + 年度 10 场活动 + 媒体清单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3 · 任务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 月旗舰发布会 · 「中心城区 · 智驾未来」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200 人现场 + 200 人在线 · 政企签约 · 政策包发布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议程（9 月第三周 周四 14:00–20:30）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1371600" cy="292608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13:00–13:50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1508760"/>
            <a:ext cx="4160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65960" y="15087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注册 / 户外测试区分批参观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74520"/>
            <a:ext cx="1371600" cy="292608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18745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14:00–14:25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1874520"/>
            <a:ext cx="4160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965960" y="187452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开场 + 静安区领导致辞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40280"/>
            <a:ext cx="1371600" cy="292608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24028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14:25–14:35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240280"/>
            <a:ext cx="4160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965960" y="224028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市经信委致辞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06040"/>
            <a:ext cx="1371600" cy="292608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260604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14:35–14:55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606040"/>
            <a:ext cx="4160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965960" y="260604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主旨发布：GS · iDrive Hub 产业定位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971800"/>
            <a:ext cx="1371600" cy="292608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29718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14:55–15:30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2971800"/>
            <a:ext cx="4160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965960" y="297180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链主主题演讲 ×2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37560"/>
            <a:ext cx="1371600" cy="292608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7200" y="333756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15:30–16:00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3337560"/>
            <a:ext cx="4160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965960" y="33375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重大签约仪式（5–8 家）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03320"/>
            <a:ext cx="1371600" cy="292608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370332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16:00–16:20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3703320"/>
            <a:ext cx="4160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965960" y="370332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茶歇 + 户外实车演示（直播）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069080"/>
            <a:ext cx="1371600" cy="292608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" y="406908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16:20–17:30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4069080"/>
            <a:ext cx="4160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965960" y="406908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圆桌：城市 NOA / 数据合规 / 中心城区基础设施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434840"/>
            <a:ext cx="1371600" cy="292608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7200" y="443484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17:30–17:45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74519" y="4434840"/>
            <a:ext cx="4160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965960" y="443484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政策包发布：「iDrive · 静安 10 条」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800600"/>
            <a:ext cx="1371600" cy="292608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48006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17:45–18:00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19" y="4800600"/>
            <a:ext cx="4160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965960" y="480060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园区生态启动 + 集体合影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166360"/>
            <a:ext cx="1371600" cy="292608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57200" y="516636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18:30–20:30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74519" y="5166360"/>
            <a:ext cx="4160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965960" y="5166360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招待晚宴 + 闭门 1v1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受邀 200 人 · 结构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15087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政府领导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79" y="1554480"/>
            <a:ext cx="114300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789920" y="150876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1801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 CEO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79" y="1847088"/>
            <a:ext cx="137160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0789920" y="180136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209397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生态代表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55279" y="2139696"/>
            <a:ext cx="274320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789920" y="2093976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60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238658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投资机构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5279" y="2432304"/>
            <a:ext cx="114300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0789920" y="238658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26791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高校研究院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55279" y="2724912"/>
            <a:ext cx="68580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0789920" y="267919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29718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中介渠道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79" y="3017520"/>
            <a:ext cx="45720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0789920" y="297180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0" y="326440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媒体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55279" y="3310128"/>
            <a:ext cx="114300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789920" y="32644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35570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内部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55279" y="3602736"/>
            <a:ext cx="45720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10789920" y="3557016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3931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倒推时间表（T = 发布日）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00800" y="4297680"/>
            <a:ext cx="274320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66560" y="428853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T-90d 立项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0" y="4498848"/>
            <a:ext cx="274320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0" y="448970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T-60d 物料一稿 / 邀请函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00800" y="4700016"/>
            <a:ext cx="274320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66560" y="469087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T-45d 签约项目锁定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00800" y="4901184"/>
            <a:ext cx="274320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6656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T-30d 彩排 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00800" y="5102352"/>
            <a:ext cx="274320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766560" y="509320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T-21d 内容定稿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400800" y="5303520"/>
            <a:ext cx="274320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66560" y="529437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T-14d 彩排 2 + 直播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00800" y="5504688"/>
            <a:ext cx="274320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66560" y="549554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T-7d 彩排 3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0800" y="5705856"/>
            <a:ext cx="274320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66560" y="569671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T-1d 全员彩排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400800" y="5907024"/>
            <a:ext cx="274320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66560" y="589788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 日 执行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400800" y="6108192"/>
            <a:ext cx="274320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66560" y="6099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T+7d 复盘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3 · 任务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年度 10 场活动日历 + 媒体四层矩阵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1 大会 + 4 季度沙龙 + 4 月度生态闭门会 + 1 国际峰会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73152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914400"/>
                <a:gridCol w="2377440"/>
                <a:gridCol w="1554480"/>
                <a:gridCol w="2103120"/>
              </a:tblGrid>
              <a:tr h="440574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#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月份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活动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形式 / 规模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主题方向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440574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园区品牌发布会（启动）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现场 80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项目首秀 / 链主候选官宣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2026-06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城市 NOA 商业化沙龙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闭门 30 人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链主 + 算法 + 出行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0574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数据合规与算力训练营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工作坊 50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数据沙盒 + 算力券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2026-08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智驾后市场闭门会（冠松特色）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闭门 40 人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保险 / 改装 / 售后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0574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GS · iDrive Hub 全球招商发布会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200 + 在线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政企签约 / 政策包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2026-10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仿真与端到端模型沙龙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半日 60 人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仿真生态 / 算力联训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0574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智驾投融资 Demo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半日 80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早期算法 / 域控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74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8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2026-12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年终招商盘点 + 入驻晚宴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晚宴 120 人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全年成果 / 续约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0574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2027-01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国际智驾产业峰会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现场 250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跨国车企 / 外资 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05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2027-03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春季产业开放日 + 测试区开放周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系列 5 天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公众/媒体/高校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46720" y="10972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媒体四层矩阵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508760"/>
            <a:ext cx="4114800" cy="9601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046720" y="1508760"/>
            <a:ext cx="164592" cy="9601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75320" y="158191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权威 · 政策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央视 / 人民日报 / 新华社 / 解放日报 / 上观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606040"/>
            <a:ext cx="4114800" cy="9601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46720" y="2606040"/>
            <a:ext cx="164592" cy="960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20" y="26791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财经 · 商业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01752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财新 / 一财 / 21 世纪 / 36Kr / 钛媒体 / 界面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703320"/>
            <a:ext cx="4114800" cy="9601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46720" y="3703320"/>
            <a:ext cx="164592" cy="9601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75320" y="377647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行业 · 垂类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1148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汽车之家 / 懂车帝 / 高工智能 / 焉知 / 36 个公众号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4800600"/>
            <a:ext cx="4114800" cy="9601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46720" y="4800600"/>
            <a:ext cx="164592" cy="9601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75320" y="48737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国际 · 英文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2120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Reuters / Bloomberg / FT / Nikkei / TechCrunch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PHASE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商业条款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Commercial · 4 Tiers · Service Pack · 3-Year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7 · 四档收费 + 服务包 + 报价单 + 三年财务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4 · 任务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四档收费方案矩阵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链主月费+政策返还 / 生态月费 / 共享月费+服务佣金 / 对赌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697480" cy="4937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2697480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甲档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链主独栋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月费 + 政策返还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267712"/>
            <a:ext cx="164592" cy="1645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031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4.5–5.5 元/㎡·天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62072"/>
            <a:ext cx="164592" cy="1645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18–24 个月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56432"/>
            <a:ext cx="164592" cy="1645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9184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装补 1,000–1,500/㎡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50792"/>
            <a:ext cx="164592" cy="1645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区级税收 80% 三年返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645152"/>
            <a:ext cx="164592" cy="164592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805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整栋冠名 + 测试区终身免费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1097280"/>
            <a:ext cx="2697480" cy="4937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291840" y="1097280"/>
            <a:ext cx="269748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291840" y="11430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乙档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1463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生态联办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16916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月费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2267712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21031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6.5–8.0 元/㎡·天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2862072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6–12 个月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3456432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29184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装补 300–800/㎡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4050792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886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合同 3+3+1 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4645152"/>
            <a:ext cx="164592" cy="16459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4805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测试区会员价 / 路演免费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097280"/>
            <a:ext cx="2697480" cy="4937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126480" y="1097280"/>
            <a:ext cx="2697480" cy="8686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26480" y="11430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丙档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1463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共享研发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16916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月费 + 服务佣金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2267712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21031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工位 1,800–2,800/月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2862072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小独间 8.0–9.0 元/㎡·天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3456432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29184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月付制 / 免租 0–2 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4050792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886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服务 GMV 5%–10% 抽成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4645152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4805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算力券 7 折 / 共享实验室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1097280"/>
            <a:ext cx="2697480" cy="49377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961120" y="1097280"/>
            <a:ext cx="2697480" cy="8686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961120" y="11430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丁档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1463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对赌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16916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低租 + 收益分成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98280" y="2267712"/>
            <a:ext cx="164592" cy="164592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21031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折扣租金 60%–70%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98280" y="2862072"/>
            <a:ext cx="164592" cy="164592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营收 / 利润 / 估值对赌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98280" y="3456432"/>
            <a:ext cx="164592" cy="164592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329184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超额营收 5%–10% 返现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4050792"/>
            <a:ext cx="164592" cy="164592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3886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园区基金 1%–3% 跟投权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98280" y="4645152"/>
            <a:ext cx="164592" cy="164592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44805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未达标差额补偿（双向上限）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4 · 任务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服务包矩阵 · 把租金以外的价值显性化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6 大类 · 12 项服务 · 按四档差异化配置 · 是租金等效折扣的核心抓手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194560"/>
                <a:gridCol w="2194560"/>
                <a:gridCol w="2286000"/>
              </a:tblGrid>
              <a:tr h="386861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服务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甲档 链主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乙档 生态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丙档 共享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丁档 对赌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户外测试区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免费会员（终身）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会员价（6k–20k/场）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会员价 / 抽签免费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免费会员（合作期）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共享路演中心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免费 24 小时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免费 8 小时/月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免费 4 小时/月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免费 12 小时/月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算力券（与算力中心合作）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配额 100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配额 30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7 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配额 50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数据合规沙盒（数交所）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白名单 + 优先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标准会员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联合申请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白名单 + 优先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招聘联运（招聘 + 落户）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50 个落户/年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10 个落户/年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集体面试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30 个落户/年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政策代办（一窗通办）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一企一策专人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标准代办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自助 + 模板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一企一策专人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公关与媒体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主旨发布 + 首发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主题分享位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Demo 抽签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主旨发布 + 首发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产业基金对接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优先 LP/GP 5 亿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标准对接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Demo Day 路演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强制跟投权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律所 / 财税 /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顶尖年框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优惠折扣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标准目录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顶尖年框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租户俱乐部 / 高管社群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VIP 席位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标准席位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受邀席位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VIP 席位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园区 IT / Wi-Fi6E / 5G-A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全栋专属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标准包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标准包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全栋专属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国际化 / 跨国对接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海外峰会优先位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海外峰会标准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线上参会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海外峰会优先位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把租金以外的服务量化为『积分券』——为客户算清账，为我们沉淀粘性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4 · 任务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链主报价单样张（甲档 · 保密）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致 [链主]：18,000 ㎡ · 10 年 · 4.8 元/㎡·天 · 一企一策政策包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GS · iDrive Hub  |  链主独栋报价单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097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有效期：30 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一、商业条款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49424"/>
            <a:ext cx="1188720" cy="21945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标的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194560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A 栋 整栋 18,000 ㎡（地上 1–10F + 地下专属车位 50）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78608"/>
            <a:ext cx="1188720" cy="21945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租赁期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23744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10 年（含免租期）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07792"/>
            <a:ext cx="1188720" cy="21945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起始租金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852928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4.8 元/㎡·天 · 物业 28 元/㎡·月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36976"/>
            <a:ext cx="1188720" cy="21945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免租期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182112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24 个月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66160"/>
            <a:ext cx="1188720" cy="21945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调价机制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511296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3 年一调 · 调幅 = max(CPI, 5%)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95344"/>
            <a:ext cx="1188720" cy="21945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装补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840480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1,200 元/㎡ · 封顶 2,160 万元 · 里程碑分期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224528"/>
            <a:ext cx="1188720" cy="21945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履约保证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169664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6 个月租金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53712"/>
            <a:ext cx="1188720" cy="21945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续约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4498848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到期前 12 个月可优先续约 5 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783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二、一企一策政策包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249424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税收返还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19456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区级留成 80% 三年返 / 50% 后两年返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578608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一次性奖励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523744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[一事一议]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2907792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人才公寓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85292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200 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236976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落户绿通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3182112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高级研发 30 个 / 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566160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户外测试区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511296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终身免费会员 + 1.5 km 路测延伸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3895344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智驾试点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84048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L3/L4 试点联合体推荐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4224528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数据合规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169664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上海数交所沙盒席位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553712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品牌权益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49884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整栋冠名 5 年 + 9 月主旨发布位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三、签约里程碑：T+30d 意向条款书 → T+90d 正式合同 → T+150d 进场装修 → T+330d 入驻 + 区领导剪彩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冠松集团 · GS · iDrive Hub 项目组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联系人：项目总监 [姓名]  |  电话：[xxx]  |  邮箱：[xxx@xxx.com]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4 · 任务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三年财务测算 · 关键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Y3 入驻率 92% / 收入 2.5 亿 / EBITDA 由负转正 ≈ 1.25 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1371600"/>
                <a:gridCol w="1463040"/>
              </a:tblGrid>
              <a:tr h="374072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科目（万元）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Y1 2026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Y2 2027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Y3 2028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374072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租金收入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7,438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11,663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物业费收入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658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1,222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1,730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74072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测试区/服务/后市场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政策返还（净计入）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1,500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4,500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74072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基金管理费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总收入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5,191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13,860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24,993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74072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总成本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9,300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EBITDA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−4,109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+2,660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+12,493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74072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EBIT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−7,109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−340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+9,493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税前利润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−8,609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−1,740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+8,293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32320" y="1097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三年关键 KPI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54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入驻率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527048"/>
            <a:ext cx="777240" cy="5029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574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1527048"/>
            <a:ext cx="777240" cy="5029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0574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64240" y="1527048"/>
            <a:ext cx="777240" cy="50292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20574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4231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链主签约（累计）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395728"/>
            <a:ext cx="777240" cy="5029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92608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2395728"/>
            <a:ext cx="777240" cy="5029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92608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064240" y="2395728"/>
            <a:ext cx="777240" cy="502920"/>
          </a:xfrm>
          <a:prstGeom prst="round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292608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918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生态签约（累计）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264408"/>
            <a:ext cx="777240" cy="5029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79476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3264408"/>
            <a:ext cx="777240" cy="5029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379476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3264408"/>
            <a:ext cx="777240" cy="5029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379476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1605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EBITDA 利润率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133088"/>
            <a:ext cx="777240" cy="502920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−79%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6634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40" y="4133088"/>
            <a:ext cx="777240" cy="502920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+19%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46634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064240" y="4133088"/>
            <a:ext cx="777240" cy="502920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+50%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46634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49240"/>
            <a:ext cx="1188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敏感性（Y3 EBITDA 万元变化）：入驻 ±10% → ∓3,200/+1,400 · 租金 ±10% → ±2,100 · 政策兑现 −30% → −1,350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PHASE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落地推进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Rollout · 12 Months · 4 → 22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8 · 12 个月里程碑 + 团队扩编 + RACI + 风险矩阵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5 · 任务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12 个月里程碑甘特图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M1 团队就位 → M5 9 月发布会 → M12 入驻率 65%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097280"/>
            <a:ext cx="762000" cy="320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560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2320" y="1097280"/>
            <a:ext cx="762000" cy="320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22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4320" y="1097280"/>
            <a:ext cx="762000" cy="320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084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762000" cy="320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846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08320" y="1097280"/>
            <a:ext cx="762000" cy="320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08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0320" y="1097280"/>
            <a:ext cx="762000" cy="320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70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097280"/>
            <a:ext cx="762000" cy="320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94320" y="1097280"/>
            <a:ext cx="762000" cy="320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94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56320" y="1097280"/>
            <a:ext cx="762000" cy="320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56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1097280"/>
            <a:ext cx="762000" cy="320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418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80320" y="1097280"/>
            <a:ext cx="762000" cy="320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180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42320" y="1097280"/>
            <a:ext cx="762000" cy="3200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942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146304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立项与法人主体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1463040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580320" y="1483040"/>
            <a:ext cx="722000" cy="21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65760" y="1746504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团队组建（4→22）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1746504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2580320" y="1766504"/>
            <a:ext cx="9104000" cy="216032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65760" y="20299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样板间 / 视觉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2029968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3342320" y="2049968"/>
            <a:ext cx="2246000" cy="21603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65760" y="231343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户外测试区一期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2313432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3342320" y="2333432"/>
            <a:ext cx="3770000" cy="216032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65760" y="2596896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品牌官网 + CRM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2596896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342320" y="2616896"/>
            <a:ext cx="2246000" cy="21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300 家库 + 中介签约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2880360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4104320" y="2900360"/>
            <a:ext cx="2246000" cy="216032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65760" y="3163824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首轮政府汇报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0" y="3163824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3342320" y="3183824"/>
            <a:ext cx="2246000" cy="21603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65760" y="344728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政策包 v0 → v1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3447288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4866320" y="3467288"/>
            <a:ext cx="3770000" cy="21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65760" y="373075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 TOP5 接触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3730752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3342320" y="3750752"/>
            <a:ext cx="6818000" cy="216032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65760" y="4014216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链主首份 Term Sheet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4014216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4104320" y="4034216"/>
            <a:ext cx="1484000" cy="21603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365760" y="429768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生态意向 30 家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4297680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5628320" y="4317680"/>
            <a:ext cx="3008000" cy="2160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65760" y="4581144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5 月品牌发布会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60320" y="4581144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5628320" y="4601144"/>
            <a:ext cx="722000" cy="216032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65760" y="486460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9 月旗舰发布会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0" y="4864608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8676320" y="4884608"/>
            <a:ext cx="722000" cy="216032"/>
          </a:xfrm>
          <a:prstGeom prst="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65760" y="514807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「iDrive 静安 10 条」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0" y="5148072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8676320" y="5168072"/>
            <a:ext cx="1484000" cy="21603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365760" y="5431536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入驻率 50%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60320" y="5431536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0200320" y="5451536"/>
            <a:ext cx="722000" cy="216032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65760" y="571500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入驻率 65%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0" y="5715000"/>
            <a:ext cx="9144000" cy="2560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10962320" y="5735000"/>
            <a:ext cx="722000" cy="216032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5 · 任务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4 人核心团队 → 22 人稳态 + RACI 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启动 M1–3：4 人 / 扩张 M4–6：14 人 / 稳态 M7–12：22 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4 人核心团队（启动期）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64592" cy="7772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149047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项目总监 GM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全面统筹 / 链主谈判 / 重大客户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5486400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164592" cy="7772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" y="23591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GR 总监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974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政府关系 / 政策包 / 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5486400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57200" y="3154680"/>
            <a:ext cx="164592" cy="77724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322783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招商总监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渠道 / 漏斗 / 生态签约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5486400" cy="7772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164592" cy="77724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40965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运营总监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348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物业 / IT / 测试区 / 活动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扩编节奏：4 → 14 → 22 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406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招商 1→5→8 · GR 1→2→2 · 运营 1→3→5 · 市场 0→1→3 · 法务/财务/HR 0→3→3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RACI 关键事项分工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400800" y="1417320"/>
          <a:ext cx="55778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"/>
                <a:gridCol w="548640"/>
                <a:gridCol w="640080"/>
                <a:gridCol w="640080"/>
                <a:gridCol w="731520"/>
                <a:gridCol w="548640"/>
              </a:tblGrid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关键事项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项目总监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GR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招商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运营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董事长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法务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链主谈判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政府汇报 / 政策包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中介渠道 / 漏斗例会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9 月发布会 / 测试区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合同 / 对赌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财务模型 / 预算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数据合规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400800" y="51663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R = Responsible · A = Accountable · C = Consulted · I = Informed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Phase 5 · 任务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风险矩阵 · 高频高影响项的对冲方案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按概率 × 影响排序，每项配对应『对冲手段』和『启动条件』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94560"/>
                <a:gridCol w="640080"/>
                <a:gridCol w="640080"/>
                <a:gridCol w="4114800"/>
                <a:gridCol w="3200400"/>
              </a:tblGrid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#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风险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概率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影响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对冲手段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启动条件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链主推进慢于预期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启动备选名单（蔚来/理想/大众问问/Smart）+ 链主分阶段意向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TOP5 中 ≤1 进入 Term Sheet @ M6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户外测试区报批延迟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第三方代办 + 先以 V2X 试验段名义启用 + 与中汽研合作过渡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M4 仍未取得备案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政策返还兑现延迟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改约定 + 财政确认函分期，避免谈判停滞 + 集团财政担保过渡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区财政书面确认延误 &gt; 60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媒体或事故敏感期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低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公关年框 SOP，重大突发暂停所有路测对外发声 + 法务声明库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行业重大事故 / 监管整顿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团队建设速度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启动期接受外包（PR/HR/法务）+ 快速 Convert · 头部猎头授权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招聘缺口 &gt; 30% @ 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R6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资金压力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Y2 起 REITs 化探索 + 集团信用借款 + 工程款分期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现金安全垫 &lt; 6 个月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竞品价格战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服务包等效折扣 + 一企一策护城河 + 对赌档差异化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嘉定/张江同期推出新政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R8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数据合规 / 出口管制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低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上海数交所沙盒 + 法务审查 + 客户分级（外资单独通道）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新法规出台 / 客户被审查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施工 / 装修延期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工程总包 + 关键节点违约金 + 分阶段交付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里程碑滞后 &gt; 30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R10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物业运营 / 安全事故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低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Tier III 等同数据机房 + 24h 安保 + 保险年框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首次重大事故立刻启动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26364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风险委员会按月评审；任何风险升至「红」状态，72 小时内升级至集团董事长 + 项目总监 + 法务三方专项会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  <a:ea typeface="WenQuanYi Micro Hei"/>
                <a:cs typeface="WenQuanYi Micro Hei"/>
              </a:rPr>
              <a:t>07 · 投决建议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投决建议 · 里程碑承诺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资源到位的前提下，T+30 / 90 / 180 三个节点的硬承诺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GS · iDrive Hub · 冠松静安智能驾驶研发中心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749039" cy="41148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749039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 + 30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团队就位 + 政府首轮汇报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22860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945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4 人核心入职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22860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区投促办 + 副区长 + 市经信委首轮汇报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228600" cy="2286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832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5 家中介签约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097280"/>
            <a:ext cx="3749039" cy="41148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89120" y="1097280"/>
            <a:ext cx="3749039" cy="8686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389120" y="114300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 + 90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55448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链主首份 Term Sheet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286000"/>
            <a:ext cx="228600" cy="22860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1945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TOP5 全部进入会面阶段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880360"/>
            <a:ext cx="228600" cy="22860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7889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≥ 1 家链主签 Term Sheet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474720"/>
            <a:ext cx="228600" cy="22860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3832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300 家库 + CRM 上线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1097280"/>
            <a:ext cx="3749039" cy="4114800"/>
          </a:xfrm>
          <a:prstGeom prst="rect">
            <a:avLst/>
          </a:prstGeom>
          <a:solidFill>
            <a:srgbClr val="F4F6FA"/>
          </a:solidFill>
          <a:ln w="635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321040" y="1097280"/>
            <a:ext cx="3749039" cy="8686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21040" y="114300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 + 180 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55448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 月发布会 + 政策包定稿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2286000"/>
            <a:ext cx="228600" cy="228600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1945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发布会 200 人到场 + 5 家签约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2880360"/>
            <a:ext cx="228600" cy="228600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7889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「iDrive 静安 10 条」发布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3474720"/>
            <a:ext cx="228600" cy="228600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33832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签约 ≥ 30 家 / 入驻率 ≥ 30%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5486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请董事会审议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① 启动预算（Y0–Y1）  ② 4 人核心团队招聘授权  ③ 静安区一企一策政府专班 ④ 9 月发布会预算  ⑤ 链主谈判授权区间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4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GS · iDrive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让中心城区跑通智能驾驶最后一公里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Q &amp; A · 谢 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4F6FA"/>
                </a:solidFill>
                <a:latin typeface="Calibri"/>
                <a:ea typeface="WenQuanYi Micro Hei"/>
                <a:cs typeface="WenQuanYi Micro Hei"/>
              </a:rPr>
              <a:t>冠松集团 · GS iDrive Hub 项目组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