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54864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9601200" y="-1828800"/>
            <a:ext cx="7315200" cy="731520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01# 新建研发楼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智能驾驶研发与总部楼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22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永和社区 075b-07 地块 · 1.5 万㎡ · 9F · 高 44.95 m · C6 教育科研用地 · 绿建二星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69280"/>
            <a:ext cx="2194560" cy="4114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v1.1 · 基于设计 PDF 实测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5669280"/>
            <a:ext cx="73152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汇报对象：集团董事会 / 静安区政府 / 链主企业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汇报议程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约 35 分钟形成完整认知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188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188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执行摘要 · 项目实测 · SWOT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1188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01# 研发楼 · 1.5 万方真实口径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1755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31520" y="1874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874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策略与定位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874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产业研究 + 9F 垂直拆分 + 绿色 ESG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441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31520" y="25603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5603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招商执行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25603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链主 5 张一页纸 + 漏斗 + 政府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272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31520" y="32461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461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品牌与活动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2461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9 月发布会 + 年度活动 + 媒体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130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31520" y="39319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319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商业条款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9319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四档 + 服务包 + 报价 + 财务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4988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731520" y="46177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6177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落地推进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46177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12 个月甘特 + 团队 + 风险矩阵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1846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31520" y="5303520"/>
            <a:ext cx="64008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303520"/>
            <a:ext cx="5486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投决建议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303520"/>
            <a:ext cx="45720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3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三个里程碑承诺 + 5 项授权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70448"/>
            <a:ext cx="10698480" cy="15000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核心结论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一页看懂：项目战略与三年目标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GS · iDrive Hub · 中心城区智能驾驶研发与总部首选地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05840"/>
            <a:ext cx="269748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15,153 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地上 9F · 高 44.95 m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 地下 6,993 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005840"/>
            <a:ext cx="2697480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29184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5.4–5.7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3–4F 净层高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中心城区硬科技稀缺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005840"/>
            <a:ext cx="2697480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12648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绿建二星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装配式 100% · 540 ㎡ 光伏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碳排放 −48.93%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1005840"/>
            <a:ext cx="269748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961120" y="1078992"/>
            <a:ext cx="26974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783080"/>
            <a:ext cx="269748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Y3 入驻率 · 链主≥1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入驻企业 12–18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6974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5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 · 三圈层客群 · 四大差异化壁垒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108960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战略定位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城市 NOA + 车路云一体化 + 智驾后市场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研发总部 + 测试验证 + 产业服务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三位一体园区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品牌主张：让中心城区跑通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智能驾驶最后一公里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3246120"/>
            <a:ext cx="36576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89120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垂直三层客群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8–9F · 链主总部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4.2–4.3 m · 1–2 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· 核心研发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5.4–5.7 m 高层高 · 4–6 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6–7F · 算法软件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4.2 m · 6–10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0" y="3246120"/>
            <a:ext cx="3657600" cy="23774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183879" y="3337560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五大差异化壁垒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749040"/>
            <a:ext cx="3383280" cy="18288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3–4F 5.4–5.7 m 硬科技层高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② 绿建二星 + 装配式 + 光伏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③ 静安一企一策政策包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④ 冠松汽车后市场资源闭环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⑤ 三段式测试方案 (轻资产)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关键举措：5 链主 · 300 生态 · 5 中介 · 1 场 9 月发布会 · 4 档商业模式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项目区位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项目区位 · 中心城区独栋园区的稀缺性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地铁双线直达 · 30 min 触达虹桥/浦东 · 1.5 km 环内可申请测试延伸路段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6858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区位辐射示意（GS · iDrive Hub 为中心）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685800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474720" y="3429000"/>
            <a:ext cx="822960" cy="822960"/>
          </a:xfrm>
          <a:prstGeom prst="ellipse">
            <a:avLst/>
          </a:prstGeom>
          <a:solidFill>
            <a:srgbClr val="C9A24A"/>
          </a:solidFill>
          <a:ln w="25400">
            <a:solidFill>
              <a:srgbClr val="0F2D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25400" bIns="25400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GS
Hub</a:t>
            </a:r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1508760.0" y="2651760.0"/>
            <a:ext cx="2377440.0" cy="11887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23591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南京西路 CBD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95728" y="23591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 min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2057400.0" y="1920240.0"/>
            <a:ext cx="1828800.0" cy="192024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188720" y="162763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人民广场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44368" y="162763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12 min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886200.0" y="2651760.0"/>
            <a:ext cx="2377440.0" cy="11887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94960" y="23591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陆家嘴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608" y="23591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 min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86200.0" y="3840480.0"/>
            <a:ext cx="2926080.0" cy="7315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0" y="427939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张江 / AI 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99248" y="427939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40 min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1143000.0" y="3840480.0"/>
            <a:ext cx="2743200.0" cy="91440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4320" y="446227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虹桥枢纽 / 机场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29968" y="446227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 min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886200.0" y="3840480.0"/>
            <a:ext cx="2926080.0" cy="164592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943600" y="519379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浦东机场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99248" y="519379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55 min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971800.0" y="1645920.0"/>
            <a:ext cx="914400.0" cy="219456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103120" y="135331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嘉定汽车城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58768" y="135331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45 min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886200.0" y="3840480.0"/>
            <a:ext cx="2194560.0" cy="2011680.0"/>
          </a:xfrm>
          <a:prstGeom prst="line">
            <a:avLst/>
          </a:prstGeom>
          <a:ln w="1270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212080" y="5559552"/>
            <a:ext cx="1737360" cy="310896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临港滴水湖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67728" y="5559552"/>
            <a:ext cx="548640" cy="31089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75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1051560"/>
            <a:ext cx="42976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交通与配套（步行/车程口径）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960" y="1417320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7863840" y="141732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001000" y="14630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地铁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61120" y="146304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双线直达 · 园区主入口 5 min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0" y="2011680"/>
            <a:ext cx="164592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7863840" y="201168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01000" y="205740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公交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20574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12 条公交线 · 多个站点环抱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680960" y="260604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7863840" y="260604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01000" y="26517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机场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26517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虹桥 30 min · 浦东 55 min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960" y="3200400"/>
            <a:ext cx="164592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863840" y="320040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8001000" y="324612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高铁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324612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上海站 15 min · 虹桥站 30 min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80960" y="3794760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7863840" y="379476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001000" y="384048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61120" y="384048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南京西路 10 min · 人民广场 12 min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4389120"/>
            <a:ext cx="164592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ectangle 57"/>
          <p:cNvSpPr/>
          <p:nvPr/>
        </p:nvSpPr>
        <p:spPr>
          <a:xfrm>
            <a:off x="7863840" y="438912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8001000" y="443484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61120" y="443484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 45 min · 张江 40 min · 临港 75 min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960" y="4983480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7863840" y="498348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8001000" y="502920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61120" y="502920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周边 5 km 内 12 所高校 / 60 万 IT 白领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680960" y="5577840"/>
            <a:ext cx="164592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7863840" y="5577840"/>
            <a:ext cx="411480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8001000" y="5623560"/>
            <a:ext cx="9144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住居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961120" y="56235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区内 8 个人才公寓社区 + 高端住宅带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 ·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SWOT 总览 · 把优势变成差异化报价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把外部机会与内部优势耦合，形成不可复制的 4 道护城河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562356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1430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优势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143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Strengths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764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6916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净高 5.4–5.7 m 中心城区硬科技稀缺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14884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0756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绿建二星 + 装配式 100% + 540 ㎡ 光伏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53288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597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 4S / 保险 / 二手车后市场资源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91693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8437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C6 教育科研用地 · 政策定位明确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30098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2278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地铁直达 · 30 min 触达虹桥/浦东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6263640" y="1097280"/>
            <a:ext cx="5623560" cy="4572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00800" y="11430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劣势 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143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Weaknesses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1764792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6916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单体 1.5 万方（地上）· 出租净 ~8,300㎡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2148840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0756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无地块内大型户外封闭测试场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46520" y="2532888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24597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C6 用地限制纯商务 / 制造 / 仓储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46520" y="2916936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28437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路测牌照需逐级申请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46520" y="3300984"/>
            <a:ext cx="164592" cy="164592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2278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中心城区运营成本高于郊区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57200" y="3840480"/>
            <a:ext cx="5623560" cy="4572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94360" y="38862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机会 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51960" y="38862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Opportunities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5079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4348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 NOA + L3 法规 进入量产爆发期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0080" y="4892040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" y="48188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智驾后市场（保险/改装/二手车）爆发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5276088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2029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央企 / 外资 ADAS 总部外迁需求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5660136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55869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政府推动「中心城区智算/智驾」走廊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6044184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9710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准入试点带来政策红利窗口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ectangle 51"/>
          <p:cNvSpPr/>
          <p:nvPr/>
        </p:nvSpPr>
        <p:spPr>
          <a:xfrm>
            <a:off x="6263640" y="3840480"/>
            <a:ext cx="5623560" cy="45720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400800" y="3886200"/>
            <a:ext cx="5349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威胁 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58400" y="38862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Threats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46520" y="4507992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0" y="4434840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 / 临港政策护城河深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46520" y="4892040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4818888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张江 / 徐汇高端租金天花板压缩定价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46520" y="5276088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75120" y="5202936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智驾行业整合期，腰部企业出清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446520" y="5660136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586984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地缘 / 数据合规对外资客户造成不确定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46520" y="6044184"/>
            <a:ext cx="164592" cy="164592"/>
          </a:xfrm>
          <a:prstGeom prst="round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5971032"/>
            <a:ext cx="50749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公共预算紧张，专项补贴趋严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策略与定位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Strategy &amp; Positioning · 奠基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1 · 产业定位研究与竞品对标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2 · 空间功能规划（A~E 栋 + 户外测试区）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智能驾驶产业链六层图谱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客群匹配的『地图』：从基础设施到应用运营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应用与运营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11430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194560" y="1143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Robotaxi · Robobus · Robotruck · 矿区港口 · 末端配送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18288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整车与方案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8288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194560" y="18288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车企 ADAS/AD 部门 · 全栈方案商（华为/Momenta/...）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25146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软件与算法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03120" y="25146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194560" y="25146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感知 · 规控 · 定位 · 端到端大模型 · 仿真 · 数据闭环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32004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域控与计算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32004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194560" y="32004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智驾域控 · 中央计算 · 芯片（地平线/黑芝麻/英伟达）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38862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03120" y="3886200"/>
            <a:ext cx="6309360" cy="5943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194560" y="38862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激光雷达 · 4D 毫米波 · 摄像头 · 高精地图 · IMU/RTK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0080" y="4572000"/>
            <a:ext cx="146304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基础设施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3120" y="4572000"/>
            <a:ext cx="630936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2194560" y="4572000"/>
            <a:ext cx="6217920" cy="5943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路侧 RSU · V2X · 5G/卫星通信 · 高精地图测绘资质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686800" y="146304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823960" y="15544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资本 / 孵化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92024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国调/中金/高瓴/园区基金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686800" y="278892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823960" y="288036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 / 认证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24612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中汽研 · TüV · CATARC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114800"/>
            <a:ext cx="3108960" cy="1143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8823960" y="42062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后市场服务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23960" y="4572000"/>
            <a:ext cx="2834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保险 · 维修 · 改装 · 二手车 (冠松)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→ A 栋承接 L5 链主 · B 栋承接 L3/L4 · C 栋承接仿真/数据 · D 栋承接服务集群 · E 栋承接冠松后市场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静安区内 + 跨区竞品对标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核心结论：中心城区独栋+测试区组合稀缺，租金锚定 6.5–8.5 元/㎡·天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1371600"/>
                <a:gridCol w="1280160"/>
                <a:gridCol w="822960"/>
                <a:gridCol w="2468880"/>
                <a:gridCol w="2377440"/>
              </a:tblGrid>
              <a:tr h="5257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主导产业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 (元/㎡·天)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入驻率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政策亮点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对我方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市北高新 · 大数据基地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大数据/AI/智算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6.0–8.5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区级 5%~10% 租补 · 公寓 800 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无智驾产业链 / 无测试区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静安国际中心片区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总部金融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9.0–13.0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总部经济奖励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无产业属性 / 不可改造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大宁国际办公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静安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商务/文创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非产业园定位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 · 创新中心 (新能港)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智驾全产业链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3.5–5.0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国家级测试场 + 牌照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牌照不可复制 · 我方区位优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临港 · AI 创新港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L4/Robotaxi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3.0–4.5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800–1500/㎡ · 全域开放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政策强 · 距市区 1.5h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 · IC 设计园 / AI 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浦东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芯片/AI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6.5–8.5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~92%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张江专项 + IC 补贴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算力强 · 智驾整车弱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257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 · 西岸 AI 走廊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徐汇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AI 大模型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8.5–11.0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~95%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模速空间补贴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单价高 · 无独栋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我方差异化定价策略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基础租金（6.5–8.5）+ 政策返还（区级留成 80% 三年返）+ 服务积分（测试/算力/招聘） — 等效净价低于南西核心 25%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01# 研发楼 · 9F 垂直功能拆分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链主总部(8–9F) · 算法软件(6–7F) · 公共配套(5F) · 核心研发(3–4F) · 大堂展厅(1–2F)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94360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9436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01# 研发楼 · 垂直叠加（北侧立面示意）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508760"/>
            <a:ext cx="502920" cy="356616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150876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150876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150876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3080" y="150876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874520" y="150876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屋顶花园 + 540 ㎡ 光伏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883664"/>
            <a:ext cx="502920" cy="35661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188366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188366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43000" y="188366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188366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874520" y="188366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总部 · CEO/战略/投资 (链主)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258568"/>
            <a:ext cx="502920" cy="35661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2258568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8F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2258568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143000" y="2258568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83080" y="2258568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874520" y="2258568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总部 · 产品/商务/GR (链主)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633472"/>
            <a:ext cx="502920" cy="3566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94360" y="2633472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2633472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143000" y="2633472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83080" y="2633472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874520" y="2633472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标准研发 · 算法/软件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3008376"/>
            <a:ext cx="502920" cy="3566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94360" y="300837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3008376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1143000" y="3008376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83080" y="3008376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874520" y="3008376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标准研发 · 算法/数据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383280"/>
            <a:ext cx="502920" cy="356616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94360" y="338328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338328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1143000" y="338328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4.2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83080" y="338328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874520" y="338328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公共配套 · 餐厅 + 健身 (不出租)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758184"/>
            <a:ext cx="502920" cy="35661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94360" y="375818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375818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1143000" y="375818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83080" y="375818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874520" y="375818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核心研发 · 高层高硬件/座舱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" y="4133088"/>
            <a:ext cx="502920" cy="35661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94360" y="4133088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43000" y="4133088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1143000" y="4133088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783080" y="4133088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874520" y="4133088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核心研发 · 联合实验室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" y="4507992"/>
            <a:ext cx="502920" cy="35661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94360" y="4507992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2F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43000" y="4507992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1143000" y="4507992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6.3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83080" y="4507992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874520" y="4507992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展厅 + 食堂 (1F+2F 可冠名)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" y="4882896"/>
            <a:ext cx="502920" cy="35661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594360" y="4882896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1F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43000" y="4882896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1143000" y="4882896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5.7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783080" y="4882896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874520" y="4882896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大堂 + 展厅 + 接待 (品牌门面)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94360" y="5257800"/>
            <a:ext cx="502920" cy="35661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594360" y="5257800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B1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5257800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1143000" y="5257800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783080" y="5257800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1874520" y="5257800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+ 设备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94360" y="5632704"/>
            <a:ext cx="502920" cy="356616"/>
          </a:xfrm>
          <a:prstGeom prst="rect">
            <a:avLst/>
          </a:prstGeom>
          <a:solidFill>
            <a:srgbClr val="D8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594360" y="5632704"/>
            <a:ext cx="50292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B2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5632704"/>
            <a:ext cx="594360" cy="35661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1143000" y="5632704"/>
            <a:ext cx="59436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783080" y="5632704"/>
            <a:ext cx="4480560" cy="356616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1874520" y="5632704"/>
            <a:ext cx="4343400" cy="35661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停车 108 位 (智驾专车 30–50)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7200" y="5760720"/>
            <a:ext cx="594360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9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层 / 净层高 (m) / 功能</a:t>
            </a:r>
          </a:p>
        </p:txBody>
      </p:sp>
      <p:graphicFrame>
        <p:nvGraphicFramePr>
          <p:cNvPr id="84" name="Table 83"/>
          <p:cNvGraphicFramePr>
            <a:graphicFrameLocks noGrp="1"/>
          </p:cNvGraphicFramePr>
          <p:nvPr/>
        </p:nvGraphicFramePr>
        <p:xfrm>
          <a:off x="6675120" y="1097280"/>
          <a:ext cx="50292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</a:tblGrid>
              <a:tr h="379827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关键指标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数值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地上建筑面积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15,152.75 ㎡（无生产）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地下建筑面积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6,992.87 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建筑高度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44.95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地上 9F · 地下 2F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可出租净面积（地上）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8,300 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1F+2F 冠名空间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1,100 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地下停车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108 个（3 普 + 105 机械）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智驾专车规划车位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30–50 个（含充电）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用地性质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C6 教育科研设计用地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建筑高度内荷载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 ≥ 4.0 kN/㎡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9827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建议加固（3–4F）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7.5 kN/㎡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836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供电预留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 ≥ 200 W/㎡，3–4F ≥ 350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8–9F · 链主总部楼层（『顶部冠名』）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 整层共 ~3,366 ㎡ · 净高 4.2–4.3 m · 起始 5.5–6.5 元/㎡·天 · 6 年长租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 · CEO 与战略层（约 1,683 ㎡）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029200" cy="1828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48640" y="1508760"/>
            <a:ext cx="1463040" cy="9144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CEO 室+露台</a:t>
            </a:r>
          </a:p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16%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1508760"/>
            <a:ext cx="14630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103120" y="1508760"/>
            <a:ext cx="146304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战略 + 投资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508760"/>
            <a:ext cx="173736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0" y="1508760"/>
            <a:ext cx="1737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高管接待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468880"/>
            <a:ext cx="2286000" cy="77724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246888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多功能厅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468880"/>
            <a:ext cx="246888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26080" y="2468880"/>
            <a:ext cx="24688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开放办公 + 会议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8F · 产品 / 商务 / GR 层（约 1,683 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49039"/>
            <a:ext cx="5029200" cy="1828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48640" y="3840480"/>
            <a:ext cx="310896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384048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开放办公区 (产品+研发管理)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45%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49039" y="3840480"/>
            <a:ext cx="16459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749039" y="3840480"/>
            <a:ext cx="16459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会议室集群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48640" y="480060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商务 + GR 独立办公</a:t>
            </a:r>
          </a:p>
          <a:p>
            <a:pPr algn="ctr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4800600"/>
            <a:ext cx="2468880" cy="7315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926080" y="4800600"/>
            <a:ext cx="246888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茶水/休闲/打印</a:t>
            </a:r>
          </a:p>
          <a:p>
            <a:pPr algn="ctr"/>
            <a:r>
              <a:rPr sz="9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核心卖点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417320"/>
            <a:ext cx="164592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6583680" y="141732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720840" y="143560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楼宇冠名权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23960" y="143560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「[链主] · iDrive Tower 01」 5 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920240"/>
            <a:ext cx="164592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6583680" y="192024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720840" y="193852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1F 大堂背景墙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23960" y="193852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5.7 m 挑空 + 主形象墙 + LED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423160"/>
            <a:ext cx="164592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6583680" y="242316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720840" y="244144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9F 屋顶花园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44144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ESG/媒体大片专属取景日 ≥ 2/年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926080"/>
            <a:ext cx="164592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6583680" y="292608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720840" y="294436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地下专属车位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3960" y="294436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8–12 个 · 智驾测试车连通 1F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429000"/>
            <a:ext cx="164592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6583680" y="342900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720840" y="344728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装配式 100%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23960" y="344728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整层无柱大空间 · 净高 4.2–4.3 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931920"/>
            <a:ext cx="164592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6583680" y="3931920"/>
            <a:ext cx="5212080" cy="41148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720840" y="3950208"/>
            <a:ext cx="210312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供电/弱电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23960" y="3950208"/>
            <a:ext cx="2926080" cy="37490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200 W/㎡ · POL + 5G-A + Wi-Fi 6E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526280"/>
            <a:ext cx="5394960" cy="17830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537960" y="457200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签约组合（草案）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37960" y="4892040"/>
            <a:ext cx="5120640" cy="1417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 5.5–6.5 元/㎡·天 · 6 年（含免租）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免租 12–18 个月 · 装补 800–1,200 元/㎡ (封顶 400 万)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区级税收留成 80% 三年返 / 50% 后两年返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嘉定/临港封闭测试场会员代办 · 1.5 km 路测延伸段联合申请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人才公寓 80–120 套 + 高级研发落户 20 个/年</a:t>
            </a:r>
          </a:p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月发布会主旨演讲 + 媒体首发 + 楼宇冠名 5 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3–7F · 核心研发 + 算法软件 / 1–2F · 大堂展厅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3–4F 高层高 5.4–5.7 m 硬科技稀缺空间 · 6–7F 算法标准研发 · 1–2F 品牌门面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96012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3–4F · 核心研发</a:t>
            </a:r>
          </a:p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（高层高）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3,366 ㎡ · 5.4–5.7 m · 7.0–8.0 元/㎡·天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净层高 5.4–5.7 m，中心城区罕见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2783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适配域控 / 座舱 / 传感器集成调试台架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0507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建议加固楼面荷载 ≥ 7.5 kN/㎡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联合实验室共建（链主或 Tier1 命名权）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274320" cy="274320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3+3 年 · 免租 6–10 月 · 装补 500–800/㎡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7679" y="1097280"/>
            <a:ext cx="3749039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79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6–7F · 算法软件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3,366 ㎡ · 4.2 m · 7.5–8.5 元/㎡·天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245059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软件 / 算法 / 数据团队标准研发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22783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599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适配 L4 算法 / 仿真 / 数据闭环企业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00507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599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全光网到桌面 (POL) + 5G-A + Wi-Fi 6E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78231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599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可分割 300–800 ㎡ 单元，6–10 家共存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555955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599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3+3+1 · 免租 4–8 月 · 装补 300–500/㎡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138158" y="1097280"/>
            <a:ext cx="3749039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38158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1–2F · 大堂 + 展厅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约 3,371 ㎡ · 5.7 m / 6.3 m · 自留+冠名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38" y="245059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78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5.7 m 挑空大堂 + 展厅 + 接待 + 咖啡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38" y="322783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78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2F 6.3 m 展厅 + 食堂（兼路演 200 人）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38" y="400507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78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可分拆冠名：大堂主背景墙 / 展厅 / LED 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38" y="478231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78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用作智驾产业展厅 + 9 月发布会主场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38" y="555955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78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丁档冠名 5 年 + 政府/媒体路演阵地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1 · 任务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绿色低碳成绩单 + 三段式测试方案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ESG 卖点 + 政府双碳考核 / 取代自建测试场，『轻资产』高效率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绿色低碳与 ESG 成绩单（PDF 实测）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38404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356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绿建二星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4356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上海中心城区智驾园区中等级最高之一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18928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装配式 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18928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预制率 ≥ 40% · 装配整体式框架核心筒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31720"/>
            <a:ext cx="164592" cy="384048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23317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23500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屋面光伏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3500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540 ㎡ · 自发自用 + 预留扩展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7889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2807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透水铺装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28072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400 ㎡（海绵城市）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246120"/>
            <a:ext cx="164592" cy="384048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0080" y="32461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32644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下凹式绿地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2644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50 ㎡（海绵城市）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703320"/>
            <a:ext cx="164592" cy="3840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37033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37216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雨水蓄水池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7216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75 m³ · 雨水回用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160520"/>
            <a:ext cx="164592" cy="384048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41788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年径流控制率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788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66.8% · 高于上海市基础要求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617720"/>
            <a:ext cx="164592" cy="384048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40080" y="46177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46360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碳排放强度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6360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较 2016 节能基准 −48.93%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074920"/>
            <a:ext cx="164592" cy="384048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0080" y="5074920"/>
            <a:ext cx="5120640" cy="38404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5093208"/>
            <a:ext cx="182880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单位降碳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093208"/>
            <a:ext cx="3108960" cy="34747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−7.06 kgCO₂/(㎡·a)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577840"/>
            <a:ext cx="5303520" cy="5943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594360" y="5605272"/>
            <a:ext cx="512064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→ 整套指标可直接用于「双碳考核 / 链主 ESG 报告 / 政府高质量发展」三类汇报口径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1051560"/>
            <a:ext cx="5943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三段式测试方案（替代自建 1.2 万方测试场）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80760" y="141732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080760" y="1417320"/>
            <a:ext cx="16459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ounded Rectangle 50"/>
          <p:cNvSpPr/>
          <p:nvPr/>
        </p:nvSpPr>
        <p:spPr>
          <a:xfrm>
            <a:off x="6263640" y="1600200"/>
            <a:ext cx="640080" cy="3657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段1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95160" y="150876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1 · 园区内 (静态 + 数据)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60" y="192024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3–4F 高层高研发 / 联合实验室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B2 智驾测试车专用车位 30–50 个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仿真平台 + 共享算力券 + 数据合规沙盒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80760" y="292608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6080760" y="2926080"/>
            <a:ext cx="164592" cy="1417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6263640" y="3108960"/>
            <a:ext cx="64008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95160" y="301752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2 · 静安区 (1.5 km 路测延伸)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342900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区交警支队 + 市公安 + 区经委协同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申请「iDrive 静安路测专项」夜间/低峰段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首批 1.5 km，验证后逐步扩展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4434840"/>
            <a:ext cx="594360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080760" y="4434840"/>
            <a:ext cx="164592" cy="14173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ounded Rectangle 60"/>
          <p:cNvSpPr/>
          <p:nvPr/>
        </p:nvSpPr>
        <p:spPr>
          <a:xfrm>
            <a:off x="6263640" y="4617720"/>
            <a:ext cx="640080" cy="36576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段3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60" y="4526280"/>
            <a:ext cx="493776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段 3 · 嘉定 / 临港 (会员通道)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95160" y="4937760"/>
            <a:ext cx="4937760" cy="8686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与上海智能网联汽车创新中心(嘉定)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临港 AI 创新港 签战略合作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链主免费会员 / 生态会员 8–9 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80760" y="5669280"/>
            <a:ext cx="594360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217920" y="5715000"/>
            <a:ext cx="57607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→ 轻资产 · 不重投自建测试场 · 政府关系撬动 + 战略合作组合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招商执行（核心）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Leasing Execution · Anchor + Ecosystem + Government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3 · 链主 TOP5 攻坚 + 5 张一页纸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34340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34340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4 · 300 家生态招商漏斗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84632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8463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5 · 政府关系与政策包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 TOP5 攻坚作战图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项目总监 + GR 总监 双人出动 · 周一例会 / 季度董事会复盘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1371600"/>
                <a:gridCol w="1280160"/>
                <a:gridCol w="1828800"/>
                <a:gridCol w="1463040"/>
                <a:gridCol w="2377440"/>
                <a:gridCol w="914400"/>
                <a:gridCol w="1645920"/>
              </a:tblGrid>
              <a:tr h="3962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落位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决策人 / 关键人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当前阶段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下一动作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截止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状态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华为车 BU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8F+9F 整层 ~3,366㎡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上海中心负责人 / GTS 上海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T0 名片建联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区委书记+市经信委约见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百度 Apollo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9F 整层 ~1,683㎡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IDG 总裁 / 华东负责人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已发邀约函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联合投促办赴京拜访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小鹏汽车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6F+7F 算法 ~3,366㎡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李力耘 / 上海负责人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公司层初接触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邀请出席 9 月发布会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T+60d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地平线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3F 核心研发 ~1,683㎡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余凯 / 黄畅 / 政企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高层已建联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邀请参观高层高研发层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T+30d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顺利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962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Momenta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8F 整层 ~1,683㎡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曹旭东 / GR VP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已建联，等会面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曹 CEO + 静安区长会面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T+45d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推进中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每家「一页纸」定制提案 · 四要点结构（详见接下来 5 页）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41648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4206240"/>
            <a:ext cx="2697480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决策人 / 关键人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30 秒电梯演讲 → CEO/总裁层；GR 把区领导接口排进议程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4206240"/>
            <a:ext cx="2697480" cy="2103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2900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正缺什么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中心城区落点 · 测试场地 · 后市场闭环 · 政企协同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4206240"/>
            <a:ext cx="2697480" cy="2103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6364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独家供给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 · 户外测试区 · 静安一企一策 · 冠松 4S 流量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206240"/>
            <a:ext cx="2697480" cy="2103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098280" y="4343400"/>
            <a:ext cx="242316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报价权益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4846320"/>
            <a:ext cx="2423160" cy="13258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 4.5–5.5 · 免租 18–24m · 装补 1,000–1,500/㎡ · 留成 80% 三年返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华为车 BU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静安智能驾驶上海第二中心 — 城市 NOA 与车路云一体化的中心城区样板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华为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鸿蒙智行 + 引望 = 中国智驾最具号召力的链主。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上海中心已落地金桥，需要中心城区「展示 + 客户接待 + 政府协同」的第二极。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中心城区客户接待与政商展示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路测延伸路段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鸿蒙生态后市场闭环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政企协同的高效接口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栋整栋冠名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「华为 · iDrive Tower」南京西路 30min 直达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 + 路测延伸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测试延伸路段 联合公安申请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冠松 4S 后市场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鸿蒙智行华东最大经销/售后协同伙伴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静安一企一策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区委书记直接对接 · 一窗通办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8F + 9F 整层 ~3,366 ㎡ · 签约 6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5.8 元/㎡·天 · 3 年一调（CPI+0.5%）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15 个月 · 装补 1,000 元/㎡（封顶 336 万）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区级税收留成 80% 三年返 · 1F 大堂冠名 5 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嘉定/临港测试场免费会员 · 人才公寓 100 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见余承东、王军，约上海中心负责人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上海中心负责人 + 静安区委书记互访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意向条款书 (Term Sheet) 签署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百度 Apollo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上海中心城区「萝卜快跑 + 城市 NOA」双总部基地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百度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Apollo 是中国 L4 Robotaxi 商业化最深的玩家；萝卜快跑已多城运营。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上海中心城区是 Apollo 尚未补齐的关键拼图。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上海中心城区 Robotaxi 运营基地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数据闭环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政府关系与牌照绿通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商务展示与媒体首发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延伸路段 + 冠松车队夜间充电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数据合规沙盒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冠松后市场数据池 + 上海数交所沙盒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Apollo 专项工作组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区交警 + 经委 + 投促办承诺成立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栋路演中心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600 ㎡ + 冠名首发权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9F 整层 ~1,683 ㎡ · 签约 5 年（可叠 8F 至 ~3,366 ㎡）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5.5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12 个月 · 装补 1,000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大堂冠名 + 与冠松共建「Apollo · GS 出行实验室」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牌照绿色通道：区交警 + 市经信委协作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联合静安投促办赴京拜会 IDG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王云鹏（或代表）静安考察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T+120d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Term Sheet 签署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小鹏汽车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上海智能驾驶研发飞地 + 智驾出行运营基地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小鹏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/ XNGP 量产领先，急需上海「研发飞地 + 高端用户体验」。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上海是新能源汽车销售第一大市，但小鹏华东研发尚未成型。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上海研发飞地（招聘 AI 人才）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高端用户接待与品牌展示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Robo 网约车运营试点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数据闭环成本压缩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B 栋 5,000 ㎡ 高端办公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静安人才公寓 80 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E 栋 1F 联合体验店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中央广场城市发布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 个智驾车专用车位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户外测试区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栋共享数据/仿真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节省自建成本 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6F + 7F 算法层共 ~3,366 ㎡ · 签约 5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7.5 元/㎡·天（算法软件价）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8 个月 · 装补 500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月发布会主旨演讲位 + 媒体首发权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大堂咖啡角联合体验区（可冠名）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项目总监赴广州拜访李力耘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邀请何小鹏出席 9 月发布会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意向书签署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地平线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静安「征程生态」开放实验室与算法-硬件协同中心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地平线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中国车规算力领跑，「征程」系列已成行业标配。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急需上海生态拓展窗口 + 与算法/Tier1/车厂联调的实体场所。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算法-硬件联调场所（中心城区）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 NOA 客户演示路段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Tier1 客户接待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投资协同与上市资源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C 栋 1,500 ㎡ 联合实验室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「征程开放实验室」共建命名权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户外测试 + V2X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城市道缩比环线 + 路侧设备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A 栋客户接待中心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共享权 + 大客户演示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产业基金协同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+ 冠松基金合计 5 亿优先 LP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核心研发整层 ~1,683 ㎡ · 净高 5.7 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7.2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10 个月 · 装补 700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「征程开放实验室」共建 + 优先调度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上海科技新人才落户配额 20 个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邀请上海办参观户外测试区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T+30d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余凯（或黄畅）静安考察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联合实验室共建协议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3 · 提案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Momenta · 一页纸定制提案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上海「飞轮总部」 — 量产 + 数据闭环 + 出行三位一体基地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14173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为什么是 Momenta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「飞轮」模式量产化领先，已与多家车企量产合作。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上海有研发但分散，需要「总部级」叙事整合。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097280"/>
            <a:ext cx="5623560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46520" y="11887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他正缺什么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554480"/>
            <a:ext cx="53035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上海「总部级」门面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量产数据-后市场闭环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城市级 NOA 真实路测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政府关系一企一策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 + 冠松 · 独家供给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632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57200" y="3200400"/>
            <a:ext cx="283464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5720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A 栋下半区或 B 栋整层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4864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冠名权 5 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37560" y="3200400"/>
            <a:ext cx="283464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3756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冠松后市场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3756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2900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4S/保险数据合规通道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200400"/>
            <a:ext cx="283464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1792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户外封闭 + 延伸路段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0936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城市级 NOA 真实路测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200400"/>
            <a:ext cx="283464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098280" y="3246120"/>
            <a:ext cx="283464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静安区一企一策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98280" y="3611880"/>
            <a:ext cx="2834640" cy="9144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89720" y="370332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区领导班子直接对接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526280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报价与权益（草案）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892040"/>
            <a:ext cx="1143000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457200" y="5029200"/>
            <a:ext cx="7315200" cy="13716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594360" y="5166360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120640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8F 整层 ~1,683 ㎡ · 签约 6 年（含可叠加 9F）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5367528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321808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5.8 元/㎡·天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568696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5522976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14 个月 · 装补 1,000 元/㎡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769864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724144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「Momenta 飞轮 · GS 数据沙盒」联合立项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9710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25312"/>
            <a:ext cx="694944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区级人才公寓 60 套 + 落户绿通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029200"/>
            <a:ext cx="3977639" cy="13716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8046720" y="5093208"/>
            <a:ext cx="3749039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下一步行动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5431536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T+10d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32520" y="5394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曹 CEO + 集团董事长 + 静安区长会面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46720" y="5724144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32520" y="5687568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Term Sheet 草案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6720" y="6016752"/>
            <a:ext cx="640080" cy="201168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T+120d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732520" y="5980176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签约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生态企业招商漏斗 · 300 家库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家中介 · 9 类来源 · 端到端转化 17% · 60 家年签约目标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430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02920" y="11430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L1 线索 (Lead)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43000"/>
            <a:ext cx="60350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74720" y="1143000"/>
            <a:ext cx="71323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360 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73736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2920" y="173736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L2 触达 (Reached)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0" y="1737360"/>
            <a:ext cx="4878324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474720" y="1737360"/>
            <a:ext cx="5975604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290 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33172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02920" y="233172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L3 意向 (Intent)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2331720"/>
            <a:ext cx="2414016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474720" y="2331720"/>
            <a:ext cx="3511296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145 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92608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L4 谈判 (Negotiation)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926080"/>
            <a:ext cx="1458468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74720" y="2926080"/>
            <a:ext cx="2555748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87 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52044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" y="352044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L5 签约 (Signed)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0" y="3520440"/>
            <a:ext cx="1005840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474720" y="3520440"/>
            <a:ext cx="210312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60 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114800"/>
            <a:ext cx="2926080" cy="5029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" y="4114800"/>
            <a:ext cx="283464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L6 入驻 (Move-in)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0" y="4114800"/>
            <a:ext cx="955547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474720" y="4114800"/>
            <a:ext cx="2052827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  57 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理论端到端转化（线索 → 签约）： 80% × 50% × 60% × 70% ≈ 17%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413248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F6FEB"/>
                </a:solidFill>
                <a:latin typeface="Calibri"/>
                <a:ea typeface="WenQuanYi Micro Hei"/>
                <a:cs typeface="WenQuanYi Micro Hei"/>
              </a:rPr>
              <a:t>60 家签约 ⇐ 360 有效线索 ⇐ 300 库 + 自拓溢出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9144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 家中介渠道 · 非独家 + 30 天首报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7498079" y="1280160"/>
          <a:ext cx="4389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914400"/>
                <a:gridCol w="731520"/>
              </a:tblGrid>
              <a:tr h="47244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侧重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佣金档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年度任务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戴德梁行 C&amp;W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跨国/外资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100% / 长租 120%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仲量联行 JLL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互联网/科技搬迁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60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高力 Colliers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C+ 腰部企业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50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世邦 CBRE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/ 整层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链主最高 150%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40 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7244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本地精品行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中小生态/工位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首月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≥ 90 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7498079" y="42976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300 家库 · 产业链层级配比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6177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L4 算法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4654296"/>
            <a:ext cx="2194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10972800" y="46177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48006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L2 传感器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4837176"/>
            <a:ext cx="182880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10972800" y="48006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9834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L3 域控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0" y="502005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0" y="49834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98079" y="51663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仿真/数据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686800" y="5202936"/>
            <a:ext cx="12801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0972800" y="51663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34924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后市场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0" y="538581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972800" y="534924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98079" y="553212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投资/法律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686800" y="556869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972800" y="553212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71500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高校/科研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0" y="5751576"/>
            <a:ext cx="109728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972800" y="571500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98079" y="589788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L5 整车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686800" y="593445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10972800" y="5897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98079" y="6080760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测试认证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6117336"/>
            <a:ext cx="54864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10972800" y="608076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2 · 任务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政府关系对接 · 路径地图与政策包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区/市双层 · 7 步首轮汇报 · 形成「一企一策」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对接路径地图（市/区双层）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669280" cy="4846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86000" y="155448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市委市政府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8600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市经信委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228600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市公安/交通委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28600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市科委/发改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03120" y="3200400"/>
            <a:ext cx="2194560" cy="4572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静安区委区政府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023360"/>
            <a:ext cx="146304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区投促办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023360"/>
            <a:ext cx="18288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区经委/科委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023360"/>
            <a:ext cx="164592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区财政/税务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663440"/>
            <a:ext cx="146304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区交警支队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4663440"/>
            <a:ext cx="182880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区人社/房管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4663440"/>
            <a:ext cx="1645920" cy="4114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区国资/街道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949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7 步首轮汇报 · 30 天完成全覆盖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→ 副区长 → 区委书记/区长 → 市经信委 → 市公安交警 → 市科委/发改 → 区四套班子专题会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政策包 · 六维适配清单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41732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583680" y="14173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720840" y="14630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牌照 / 测试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7465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封闭场地备案 · 1.5km 路测延伸 · L3/L4 试点联合体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194560"/>
            <a:ext cx="182880" cy="6858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6583680" y="219456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720840" y="224028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财税返还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52374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297180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583680" y="297180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720840" y="301752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 / 公寓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3009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200 套 + 生态 300 套 · 落户绿通 80/年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3749040"/>
            <a:ext cx="182880" cy="6858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583680" y="374904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720840" y="379476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07822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数交所沙盒 · 算力券最高 500 万 · 出境绿通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4526280"/>
            <a:ext cx="182880" cy="68580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6583680" y="452628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720840" y="457200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产业基金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485546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区基金 1:1 配资 · 国调/中金/高瓴 LP 5–10 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303520"/>
            <a:ext cx="182880" cy="6858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583680" y="5303520"/>
            <a:ext cx="5212080" cy="685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720840" y="5349240"/>
            <a:ext cx="484632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用地 / 配套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563270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测试区合规使用 · 周边路侧充电 · 一址多照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品牌与活动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Brand &amp; Events · Make Noise, Build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6 · 9 月旗舰发布会 + 年度 10 场活动 + 媒体清单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月旗舰发布会 · 「中心城区 · 智驾未来」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200 人现场 + 200 人在线 · 政企签约 · 政策包发布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议程（9 月第三周 周四 14:00–20:30）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5087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13:00–13:50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5087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965960" y="15087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注册 / 户外测试区分批参观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745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14:00–14:25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74519" y="18745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18745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开场 + 静安区领导致辞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57200" y="22402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14:25–14:35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4519" y="22402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965960" y="22402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市经信委致辞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26060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14:35–14:55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74519" y="26060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65960" y="26060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主旨发布：GS · iDrive Hub 产业定位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" y="29718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14:55–15:30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74519" y="29718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965960" y="29718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链主主题演讲 ×2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33375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15:30–16:00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33375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965960" y="33375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重大签约仪式（5–8 家）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57200" y="370332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16:00–16:20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74519" y="370332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965960" y="370332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茶歇 + 户外实车演示（直播）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57200" y="406908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16:20–17:30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874519" y="406908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965960" y="406908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圆桌：城市 NOA / 数据合规 / 中心城区基础设施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443484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17:30–17:45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74519" y="443484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965960" y="443484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政策包发布：「iDrive · 静安 10 条」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57200" y="480060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17:45–18:00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874519" y="480060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1965960" y="480060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园区生态启动 + 集体合影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57200" y="5166360"/>
            <a:ext cx="137160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18:30–20:30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5166360"/>
            <a:ext cx="4160520" cy="292608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1965960" y="5166360"/>
            <a:ext cx="4069080" cy="29260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招待晚宴 + 闭门 1v1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受邀 200 人 · 结构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0" y="150876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政府领导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55279" y="1554480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10789920" y="150876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180136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CEO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1847088"/>
            <a:ext cx="13716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10789920" y="18013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209397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生态代表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955279" y="2139696"/>
            <a:ext cx="2743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10789920" y="209397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0" y="2386584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投资机构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2432304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10789920" y="23865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2679192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高校研究院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955279" y="2724912"/>
            <a:ext cx="6858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10789920" y="2679192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2971800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中介渠道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955279" y="3017520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10789920" y="2971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0" y="3264408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媒体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955279" y="3310128"/>
            <a:ext cx="11430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89920" y="32644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00800" y="3557016"/>
            <a:ext cx="14630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内部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955279" y="3602736"/>
            <a:ext cx="457200" cy="16459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0789920" y="35570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0" y="39319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倒推时间表（T = 发布日）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00800" y="429768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766560" y="428853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T-90d 立项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400800" y="449884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66560" y="448970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T-60d 物料一稿 / 邀请函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00800" y="470001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766560" y="469087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T-45d 签约项目锁定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0" y="490118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66560" y="489204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T-30d 彩排 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400800" y="510235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766560" y="509320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T-21d 内容定稿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400800" y="5303520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52943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T-14d 彩排 2 + 直播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00800" y="5504688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766560" y="5495544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T-7d 彩排 3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400800" y="5705856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766560" y="5696712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T-1d 全员彩排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400800" y="5907024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66560" y="5897880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 日 执行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400800" y="6108192"/>
            <a:ext cx="274320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766560" y="6099048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T+7d 复盘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3 · 任务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年度 10 场活动日历 + 媒体四层矩阵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1 大会 + 4 季度沙龙 + 4 月度生态闭门会 + 1 国际峰会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731520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/>
                <a:gridCol w="914400"/>
                <a:gridCol w="2377440"/>
                <a:gridCol w="1554480"/>
                <a:gridCol w="2103120"/>
              </a:tblGrid>
              <a:tr h="440574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月份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活动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形式 / 规模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主题方向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园区品牌发布会（启动）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项目首秀 / 链主候选官宣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城市 NOA 商业化沙龙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30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+ 算法 + 出行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数据合规与算力训练营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工作坊 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数据沙盒 + 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智驾后市场闭门会（冠松特色）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闭门 40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保险 / 改装 / 售后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GS · iDrive Hub 全球招商发布会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200 + 在线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政企签约 / 政策包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仿真与端到端模型沙龙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60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仿真生态 / 算力联训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智驾投融资 Demo 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半日 80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早期算法 / 域控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2026-12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年终招商盘点 + 入驻晚宴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晚宴 120 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全年成果 / 续约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40574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国际智驾产业峰会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现场 250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跨国车企 / 外资 ADAS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2027-03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春季产业开放日 + 测试区开放周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系列 5 天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公众/媒体/高校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46720" y="1097280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媒体四层矩阵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50876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8046720" y="1508760"/>
            <a:ext cx="164592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20" y="158191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权威 · 政策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192024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央视 / 人民日报 / 新华社 / 解放日报 / 上观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60604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46720" y="2606040"/>
            <a:ext cx="164592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267919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财经 · 商业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财新 / 一财 / 21 世纪 / 36Kr / 钛媒体 / 界面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370332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046720" y="3703320"/>
            <a:ext cx="164592" cy="960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275320" y="377647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行业 · 垂类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411480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汽车之家 / 懂车帝 / 高工智能 / 焉知 / 36 个公众号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4800600"/>
            <a:ext cx="4114800" cy="9601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6720" y="4800600"/>
            <a:ext cx="164592" cy="9601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275320" y="4873752"/>
            <a:ext cx="3840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国际 · 英文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5212080"/>
            <a:ext cx="384048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Reuters / Bloomberg / FT / Nikkei / TechCrunch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商业条款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Commercial · 4 Tiers · Service Pack · 3-Year Model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7 · 四档收费 + 服务包 + 报价单 + 三年财务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四档收费方案矩阵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链主月费+政策返还 / 生态月费 / 共享月费+服务佣金 / 对赌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69748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甲档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链主总部 (8–9F)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政策返还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26771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5.5–6.5 元/㎡·天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286207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整层 1,683 ㎡ / 双层 ~3,366 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45643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12–18 个月 · 装补 800–1,200/㎡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05079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区级税收 80% 三年返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645152"/>
            <a:ext cx="164592" cy="164592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楼宇冠名 + 1F 大堂 + 嘉定/临港免费会员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9184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3291840" y="1097280"/>
            <a:ext cx="2697480" cy="8686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9184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乙档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核心研发 (3–4F)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 + 实验室共建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226771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7.0–8.0 元/㎡·天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9000" y="286207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净层高 5.4–5.7 m （硬科技）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345643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6–10 个月 · 装补 500–800/㎡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9000" y="405079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3F 联合实验室命名权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4645152"/>
            <a:ext cx="164592" cy="164592"/>
          </a:xfrm>
          <a:prstGeom prst="round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楼面荷载加固至 ≥ 7.5 kN/㎡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6126480" y="1097280"/>
            <a:ext cx="269748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12648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丙档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算法软件 (6–7F)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月费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226771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9224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起始租金 7.5–8.5 元/㎡·天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286207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300 ㎡ 单元 (6–10 家)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45643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9224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4–8 个月 · 装补 300–500/㎡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405079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合同 3+3+1 年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4645152"/>
            <a:ext cx="164592" cy="16459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算力券 7 折 / 数据合规沙盒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61120" y="1097280"/>
            <a:ext cx="2697480" cy="49377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8961120" y="1097280"/>
            <a:ext cx="2697480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8961120" y="114300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丁档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20" y="1463040"/>
            <a:ext cx="26974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冠名 + 对赌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61120" y="16916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低租 + 收益分成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98280" y="226771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0" y="210312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折扣租金 60%–70%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98280" y="286207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0" y="269748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1F+2F 冠名权 / 楼宇外立面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098280" y="345643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326880" y="329184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营收/利润/估值对赌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05079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388620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超额营收 5%–10% 返现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098280" y="4645152"/>
            <a:ext cx="164592" cy="164592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326880" y="4480560"/>
            <a:ext cx="224028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园区基金 1%–3% 跟投权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服务包矩阵 · 把租金以外的价值显性化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6 大类 · 12 项服务 · 按四档差异化配置 · 是租金等效折扣的核心抓手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  <a:gridCol w="2194560"/>
                <a:gridCol w="2286000"/>
              </a:tblGrid>
              <a:tr h="386861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服务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甲 链主总部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乙 核心研发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丙 算法软件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丁 冠名+对赌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1F 大堂冠名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 5 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默认（叠加 2F 展厅）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楼宇外立面冠名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可选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屋顶花园专属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默认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联合实验室共建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命名权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命名权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嘉定/临港测试场会员代办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路测延伸路段协调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平等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平等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共享算力券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 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 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数据合规沙盒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白名单 + 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联合申请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白名单 + 优先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招聘联运 / 落户绿通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集体面试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 个/年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政策代办（一窗通办）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一企一策专人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标准代办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自助 + 模板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一企一策专人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86861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公关与媒体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主旨发布 + 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主题分享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Demo 抽签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主旨发布 + 首发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686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后市场协同 (冠松)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数据接口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应用试点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数据接口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把租金以外的服务量化为『积分券』——为客户算清账，为我们沉淀粘性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链主总部报价单样张（甲档 · 保密）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致 [链主]：8F + 9F 整层 ~3,366 ㎡ · 6 年 · 5.8 元/㎡·天 · 一企一策政策包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73152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  |  链主独栋报价单  |  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097280"/>
            <a:ext cx="36576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有效期：30 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一、商业条款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249424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标的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194560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01# 8F + 9F 整层 ~3,366 ㎡（4.2 / 4.3 m 净高）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78608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租赁期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523744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 年（含免租期）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07792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起始租金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852928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5.8 元/㎡·天 · 物业 28 元/㎡·月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36976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免租期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182112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15 个月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566160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调价机制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3511296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 年一调 · 调幅 = max(CPI, 5%)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895344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装补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840480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1,000 元/㎡ · 封顶 336 万元 · 里程碑分期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履约保证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169664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6 个月租金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53712"/>
            <a:ext cx="1188720" cy="21945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续约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4498848"/>
            <a:ext cx="429768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到期前 12 个月可优先续约 5 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17830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3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二、一企一策政策包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249424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税收返还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21945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区级留成 80% 三年返 / 50% 后两年返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2578608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一次性奖励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523744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[一事一议]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2907792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人才公寓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89520" y="2852928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80–120 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09360" y="3236976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落户绿通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3182112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高级研发 20 个 / 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309360" y="3566160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测试场会员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89520" y="3511296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嘉定/临港封闭场代办（终身免费）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3895344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路测延伸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84048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1.5 km 静安区路测专项联合申请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60" y="4224528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数据合规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169664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上海数交所沙盒白名单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4553712"/>
            <a:ext cx="1188720" cy="219456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品牌权益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20" y="4498848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1F 大堂 + 楼宇外立面冠名 5 年 + 9 月主旨发布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三、签约里程碑：T+30d 意向条款书 → T+90d 正式合同 → T+150d 进场装修 → T+330d 入驻 + 区领导剪彩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486400"/>
            <a:ext cx="11247120" cy="8686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冠松集团 · GS · iDrive Hub 项目组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589788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联系人：项目总监 [姓名]  |  电话：[xxx]  |  邮箱：[xxx@xxx.com]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4 · 任务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三年财务测算 · 关键 KPI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基于 1.5 万方 实测口径 · 出租净 8,300 ㎡ · Y3 EBITDA 转正约 1,400 万元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6400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371600"/>
                <a:gridCol w="1371600"/>
                <a:gridCol w="1463040"/>
              </a:tblGrid>
              <a:tr h="374072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科目（万元）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Y1 2026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2027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2028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租金收入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2,091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物业费收入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195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冠名 / 服务 / 后市场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政策返还（净计入）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基金管理费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总收入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1,022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3,237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5,748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总成本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3,130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3,790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EBITDA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−2,108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−553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+1,368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7407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EBIT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−3,308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−1,753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408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税前利润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−3,908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−2,333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−352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0" y="109728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三年关键 KPI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155448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354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498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064240" y="1527048"/>
            <a:ext cx="777240" cy="5029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64240" y="205740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24231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链主签约（累计）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064240" y="2395728"/>
            <a:ext cx="777240" cy="5029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292608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2918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入驻企业（累计）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3264408"/>
            <a:ext cx="777240" cy="5029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379476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16052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EBITDA 利润率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354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−206%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498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−17%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064240" y="4133088"/>
            <a:ext cx="777240" cy="50292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+24%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64240" y="4663440"/>
            <a:ext cx="777240" cy="2286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8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Y3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349240"/>
            <a:ext cx="118872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敏感性（Y3 EBITDA 万元变化）：入驻 ±10% → −480/+220 · 租金 ±10% → ±210 · 政策兑现 −30% → −450 · 冠名/服务 −30% → −420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PHASE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058400" cy="11887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落地推进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800" b="0" i="1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Rollout · 12 Months · 4 → 22 Team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365760" cy="36576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8404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任务 8 · 12 个月里程碑 + 团队扩编 + RACI + 风险矩阵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 个月里程碑甘特图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M1 团队就位 → M5 9 月发布会 → M12 入驻率 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56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32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08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84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60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7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13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94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656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M9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418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180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42320" y="1097280"/>
            <a:ext cx="762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M12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146304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立项与法人主体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0" y="146304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80320" y="1483040"/>
            <a:ext cx="722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65760" y="174650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团队组建（4→22）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60320" y="174650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80320" y="1766504"/>
            <a:ext cx="9104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65760" y="202996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样板间 / 视觉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60320" y="202996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42320" y="2049968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5760" y="231343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户外测试区一期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60320" y="231343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3342320" y="2333432"/>
            <a:ext cx="3770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365760" y="259689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品牌官网 + CRM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60320" y="259689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3342320" y="2616896"/>
            <a:ext cx="2246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65760" y="288036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中介签约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0" y="288036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4104320" y="2900360"/>
            <a:ext cx="2246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65760" y="316382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首轮政府汇报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60320" y="316382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3342320" y="3183824"/>
            <a:ext cx="2246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65760" y="344728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政策包 v0 → v1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560320" y="344728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4866320" y="3467288"/>
            <a:ext cx="3770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365760" y="373075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TOP5 接触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560320" y="373075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3342320" y="3750752"/>
            <a:ext cx="6818000" cy="216032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365760" y="401421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60320" y="401421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4104320" y="4034216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365760" y="429768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生态意向 30 家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560320" y="429768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5628320" y="4317680"/>
            <a:ext cx="3008000" cy="21603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365760" y="4581144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月品牌发布会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560320" y="4581144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5628320" y="4601144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65760" y="4864608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9 月旗舰发布会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560320" y="4864608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Rectangle 70"/>
          <p:cNvSpPr/>
          <p:nvPr/>
        </p:nvSpPr>
        <p:spPr>
          <a:xfrm>
            <a:off x="8676320" y="4884608"/>
            <a:ext cx="722000" cy="216032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365760" y="5148072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560320" y="5148072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8676320" y="5168072"/>
            <a:ext cx="1484000" cy="216032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365760" y="5431536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50%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560320" y="5431536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Rectangle 76"/>
          <p:cNvSpPr/>
          <p:nvPr/>
        </p:nvSpPr>
        <p:spPr>
          <a:xfrm>
            <a:off x="10200320" y="5451536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365760" y="5715000"/>
            <a:ext cx="2148840" cy="256032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入驻率 65%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60320" y="5715000"/>
            <a:ext cx="9144000" cy="256032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10962320" y="5735000"/>
            <a:ext cx="722000" cy="216032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 人核心团队 → 22 人稳态 + RACI 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启动 M1–3：4 人 / 扩张 M4–6：14 人 / 稳态 M7–12：22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 人核心团队（启动期）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57200" y="1417320"/>
            <a:ext cx="164592" cy="77724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149047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项目总监 GM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8288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全面统筹 / 链主谈判 / 重大客户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457200" y="2286000"/>
            <a:ext cx="164592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35915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GR 总监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69748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政府关系 / 政策包 / 合规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15468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57200" y="3154680"/>
            <a:ext cx="164592" cy="7772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322783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招商总监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5661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渠道 / 漏斗 / 生态签约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548640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457200" y="4023360"/>
            <a:ext cx="164592" cy="7772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0080" y="4096512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运营总监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43484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 / IT / 测试区 / 活动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206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扩编节奏：4 → 14 → 22 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4406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招商 1→5→8 · GR 1→2→2 · 运营 1→3→5 · 市场 0→1→3 · 法务/财务/HR 0→3→3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RACI 关键事项分工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400800" y="1417320"/>
          <a:ext cx="55778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40080"/>
                <a:gridCol w="548640"/>
                <a:gridCol w="640080"/>
                <a:gridCol w="640080"/>
                <a:gridCol w="731520"/>
                <a:gridCol w="54864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关键事项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运营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董事长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法务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链主谈判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政府汇报 / 政策包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中介渠道 / 漏斗例会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月发布会 / 测试区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合同 / 对赌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财务模型 / 预算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0" y="51663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R = Responsible · A = Accountable · C = Consulted · I = Informed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Phase 5 · 任务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风险矩阵 · 高频高影响项的对冲方案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按概率 × 影响排序，每项配对应『对冲手段』和『启动条件』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194560"/>
                <a:gridCol w="640080"/>
                <a:gridCol w="640080"/>
                <a:gridCol w="4114800"/>
                <a:gridCol w="320040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风险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概率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影响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对冲手段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启动条件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链主推进慢于预期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启动备选名单（蔚来/理想/大众问问/Smart）+ 链主分阶段意向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TOP5 中 ≤1 进入 Term Sheet @ M6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户外测试区报批延迟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第三方代办 + 先以 V2X 试验段名义启用 + 与中汽研合作过渡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 仍未取得备案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政策返还兑现延迟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改约定 + 财政确认函分期，避免谈判停滞 + 集团财政担保过渡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区财政书面确认延误 &gt; 60 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媒体或事故敏感期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公关年框 SOP，重大突发暂停所有路测对外发声 + 法务声明库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行业重大事故 / 监管整顿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团队建设速度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启动期接受外包（PR/HR/法务）+ 快速 Convert · 头部猎头授权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招聘缺口 &gt; 30% @ M3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资金压力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Y2 起 REITs 化探索 + 集团信用借款 + 工程款分期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现金安全垫 &lt; 6 个月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竞品价格战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服务包等效折扣 + 一企一策护城河 + 对赌档差异化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嘉定/张江同期推出新政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数据合规 / 出口管制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上海数交所沙盒 + 法务审查 + 客户分级（外资单独通道）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新法规出台 / 客户被审查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施工 / 装修延期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工程总包 + 关键节点违约金 + 分阶段交付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里程碑滞后 &gt; 30 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R10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物业运营 / 安全事故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低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Tier III 等同数据机房 + 24h 安保 + 保险年框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首次重大事故立刻启动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6263640"/>
            <a:ext cx="1188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风险委员会按月评审；任何风险升至「红」状态，72 小时内升级至集团董事长 + 项目总监 + 法务三方专项会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谈判策略总览 · 四类对手画像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链主 / 政府 / 中介 / 生态客户 · 不同节奏 · 不同主谈 · 统一原则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562356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11430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I · 链主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916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CEO / 总裁 / CTO + 政府事务 + 法务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主谈：项目总监 + 集团董事长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备谈：GR + 法务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节奏：30–90 天 5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（建联 → 踏勘 → TS → 合同 → 落定）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0972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263640" y="1097280"/>
            <a:ext cx="562356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0" y="11430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II · 政府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16916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区委书记 / 区长 / 副区长 / 区投促办 / 市经信委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主谈：GR 总监 + 集团董事长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备谈：项目总监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节奏：7–30 天 3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（投促办 → 副区长 → 四套班子）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5623560" cy="5029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III · 中介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4348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经纪团队 GM / Sr. Director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主谈：招商总监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备谈：销售经理 + 法务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节奏：7–14 天 2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（议价 → 签约 + 启动会）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840480"/>
            <a:ext cx="5623560" cy="26060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6263640" y="3840480"/>
            <a:ext cx="5623560" cy="50292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34924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IV · 生态客户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434840"/>
            <a:ext cx="5257800" cy="1920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创始人 / CEO / HR / 行政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主谈：招商经理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备谈：销售经理 + 客户成功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/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节奏：14–30 天 3 轮</a:t>
            </a:r>
          </a:p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（电话 → 踏勘 → 合同）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链主谈判 · 5 轮节奏 + 三层底线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谈判前必须内部明确底线（绿/黄/红）· 超线立即休会请示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 轮谈判节奏（30–90 天）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77724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R1 建联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013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80160" y="14173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417320" y="14173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项目总监送一页纸提案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31720"/>
            <a:ext cx="777240" cy="7772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7200" y="23317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R2 踏勘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157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T+15d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3317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417320" y="23317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现场踏勘 + 报价单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46120"/>
            <a:ext cx="777240" cy="7772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R3 议定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301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T+45d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80160" y="32461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17320" y="32461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Term Sheet + 财务对比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60520"/>
            <a:ext cx="777240" cy="77724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7200" y="41605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R4 合同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445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T+75d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280160" y="41605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417320" y="41605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合同条款逐条 + 法务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74920"/>
            <a:ext cx="777240" cy="77724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7200" y="5074920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R5 落定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458968"/>
            <a:ext cx="7772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T+90d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5074920"/>
            <a:ext cx="4663440" cy="77724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417320" y="5074920"/>
            <a:ext cx="452628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+ 区领导见证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0515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三层底线（红/黄/绿）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400800" y="1417320"/>
          <a:ext cx="5486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188720"/>
                <a:gridCol w="1280160"/>
                <a:gridCol w="1188720"/>
              </a:tblGrid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条款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🟢 理想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🟡 目标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🔴 底线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起始租金 元/㎡·天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免租期 (月)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元/㎡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合同期 (年)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履约保证 (月)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调价机制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每3y max(CPI,5%)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每3y max(CPI,4%)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每5y max(CPI,3%)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80% 三年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80% 三年+50%两年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80% 三年+30%两年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楼宇冠名 (年)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37" name="Rectangle 36"/>
          <p:cNvSpPr/>
          <p:nvPr/>
        </p:nvSpPr>
        <p:spPr>
          <a:xfrm>
            <a:off x="6400800" y="5943600"/>
            <a:ext cx="5486400" cy="3657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537960" y="594360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超过授权区间立即休会请示集团董事长 · 不在书面承诺政府未确认事项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链主让步阶梯 · 每让一步必有「换」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5 步让步 · 对应 NPV 影响 · 严禁无条件让步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让步阶梯（Concession Ladder）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1247120" cy="2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160020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474720"/>
                <a:gridCol w="914400"/>
                <a:gridCol w="1645920"/>
                <a:gridCol w="3108960"/>
                <a:gridCol w="1554480"/>
              </a:tblGrid>
              <a:tr h="587828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我方让步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幅度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NPV 影响 (万元)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对方对等承诺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授权层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起始租金 6.5 → 6.0 元/㎡·天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−550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 年长租 + 6 个月履约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免租期 12 → 15 个月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+25%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−240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装补封顶 1,000/㎡（不浮动）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装补 800 → 1,000 元/㎡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楼宇冠名 5 年 + 9 月主旨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 70% → 80%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+14%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−340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以政府专班书面文件兑现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 + 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587828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续约权（涨幅封顶 5%）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退租赔偿 ≥ 60% 政策返还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底线：5.0 / 24 / 1,500 / 5 年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—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−1,500+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超线请示集团董事长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★ 让步原则：每让一步必带条件 · 小步多次 · 让 5 次小步胜过让 1 次大步 · 24h 内出书面纪要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谈判策略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政府 / 中介 / 生态 三类谈判要点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不同对手不同打法 · 但都共享统一谈判工具箱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9601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II · 政府谈判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7–30 天 3 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5059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从「汇报」到「专班」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22783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从「政策包」到「一企一策」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0507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从「承诺」到「书面」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8231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从「返还」到「确认函」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559552"/>
            <a:ext cx="27432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从「口袋书」到「政绩素材」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4297679" y="1097280"/>
            <a:ext cx="3749039" cy="960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79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III · 中介谈判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7–14 天 2 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245059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599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佣金 80% → 100% ⇄ 任务量 60 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59" y="322783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599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 → 120% ⇄ 30 天首报独家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59" y="400507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00599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续约 → 30% ⇄ 12 个月退租扣回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59" y="478231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599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链主一事一议最高 150% ⇄ 季度评比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59" y="5559552"/>
            <a:ext cx="274320" cy="27432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00599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末位淘汰 → 下季度佣金档下调 20%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1097280"/>
            <a:ext cx="3749039" cy="50292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8138158" y="1097280"/>
            <a:ext cx="3749039" cy="9601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138158" y="118872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IV · 生态客户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160020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14–30 天 3 轮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38" y="245059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78" y="228600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免租 4 → 6 个月 ⇄ 3+3 年合同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21038" y="322783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78" y="306324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装补 300 → 500 ⇄ 不可单方退租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21038" y="400507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41078" y="384048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物业费 28 → 26 ⇄ 年涨 3% 不可调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321038" y="478231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41078" y="461772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客户类型差异化报价（算法/硬件/早期）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21038" y="5559552"/>
            <a:ext cx="274320" cy="27432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41078" y="5394960"/>
            <a:ext cx="3108959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踏勘后 3–5 天内主动让一步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资源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冠松集团资源协同地图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把集团 4S 网络 / 保险 / 二手车 / 融资租赁 转化为园区独家壁垒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3291840"/>
            <a:ext cx="2194560" cy="7315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486400" y="32918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2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冠松集团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09728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7200" y="1097280"/>
            <a:ext cx="301752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10972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4S 经销网络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55448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华东 60+ 网点 · 鸿蒙智行 / 主流品牌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链主售后渠道协同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65960" y="1737360"/>
            <a:ext cx="461772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686800" y="109728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686800" y="1097280"/>
            <a:ext cx="3017520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686800" y="10972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保险事业部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55448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智驾保险 / 定损 / 理赔大数据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Apollo / Momenta 数据闭环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583680" y="1737360"/>
            <a:ext cx="361188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" y="301752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57200" y="3017520"/>
            <a:ext cx="301752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57200" y="30175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二手智驾车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47472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二手车检测 / 翻新 / 流通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智驾车残值数据 + 数据采集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65960" y="3657600"/>
            <a:ext cx="4617720" cy="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8686800" y="301752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686800" y="3017520"/>
            <a:ext cx="301752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686800" y="301752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融资租赁子公司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347472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测试车队融资租赁 / 设备分期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链主测试车队成本压缩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6583680" y="3657600"/>
            <a:ext cx="3611880" cy="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57200" y="493776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57200" y="4937760"/>
            <a:ext cx="301752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57200" y="493776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冠松车队（试运营）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39496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现役车队 100+ · 数据采集与标注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城市 NOA 数据池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1965960" y="3657600"/>
            <a:ext cx="461772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8686800" y="4937760"/>
            <a:ext cx="3017520" cy="128016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8686800" y="4937760"/>
            <a:ext cx="301752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686800" y="493776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冠松产业基金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78240" y="5394960"/>
            <a:ext cx="2834640" cy="77724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战投部 + 5 亿规模</a:t>
            </a:r>
          </a:p>
          <a:p>
            <a:pPr algn="l"/>
            <a:r>
              <a:rPr sz="10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→ 园区 LP/GP 双模式 + 跟投权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6583680" y="3657600"/>
            <a:ext cx="3611880" cy="1920240"/>
          </a:xfrm>
          <a:prstGeom prst="line">
            <a:avLst/>
          </a:prstGeom>
          <a:ln w="19050">
            <a:solidFill>
              <a:srgbClr val="C9A2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 人稳态组织架构图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启动 4 人 → 扩张 14 人 → 稳态 22 人 · 8 个部门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960120"/>
            <a:ext cx="2286000" cy="41148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集团董事长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600200"/>
            <a:ext cx="2286000" cy="41148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项目总监 GM (1)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1371600"/>
            <a:ext cx="0" cy="228600"/>
          </a:xfrm>
          <a:prstGeom prst="line">
            <a:avLst/>
          </a:prstGeom>
          <a:ln w="19050">
            <a:solidFill>
              <a:srgbClr val="0F2D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57200" y="2377440"/>
            <a:ext cx="137160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GR / 政府事务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2 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GR 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政府事务经理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43000" y="2011680"/>
            <a:ext cx="502920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874519" y="2377440"/>
            <a:ext cx="137160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874519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招商部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79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8 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4519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39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招商总监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高招(链主)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招商×4 + 销售助理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客户成功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2560319" y="2011680"/>
            <a:ext cx="3611881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91840" y="2377440"/>
            <a:ext cx="1371600" cy="41148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29184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运营部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5 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33756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运营总监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物业 / IT / 测试场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行政主任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3977640" y="2011680"/>
            <a:ext cx="219456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709160" y="2377440"/>
            <a:ext cx="1371600" cy="4114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70916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市场 / 品牌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7492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3 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75488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市场总监</a:t>
            </a:r>
          </a:p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+ 品牌 / 活动经理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5394960" y="2011680"/>
            <a:ext cx="77724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126480" y="2377440"/>
            <a:ext cx="1371600" cy="41148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12648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法务 / 合规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9224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17220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法务经理</a:t>
            </a:r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6172200" y="2011680"/>
            <a:ext cx="64008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7543800" y="2377440"/>
            <a:ext cx="1371600" cy="4114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54380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财务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0956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4380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58952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财务经理</a:t>
            </a:r>
          </a:p>
        </p:txBody>
      </p:sp>
      <p:cxnSp>
        <p:nvCxnSpPr>
          <p:cNvPr id="47" name="Connector 46"/>
          <p:cNvCxnSpPr/>
          <p:nvPr/>
        </p:nvCxnSpPr>
        <p:spPr>
          <a:xfrm flipH="1" flipV="1">
            <a:off x="6172200" y="2011680"/>
            <a:ext cx="205740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961120" y="2377440"/>
            <a:ext cx="137160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896112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HR / 行政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32688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2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900684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HR 经理</a:t>
            </a:r>
          </a:p>
        </p:txBody>
      </p:sp>
      <p:cxnSp>
        <p:nvCxnSpPr>
          <p:cNvPr id="53" name="Connector 52"/>
          <p:cNvCxnSpPr/>
          <p:nvPr/>
        </p:nvCxnSpPr>
        <p:spPr>
          <a:xfrm flipH="1" flipV="1">
            <a:off x="6172200" y="2011680"/>
            <a:ext cx="347472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0378440" y="2377440"/>
            <a:ext cx="1371600" cy="4114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378440" y="2377440"/>
            <a:ext cx="13716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项目办公室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744200" y="2834640"/>
            <a:ext cx="640080" cy="274320"/>
          </a:xfrm>
          <a:prstGeom prst="round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1 人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78440" y="3154680"/>
            <a:ext cx="1371600" cy="22860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10424160" y="3218688"/>
            <a:ext cx="1280160" cy="21945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项目总监</a:t>
            </a:r>
          </a:p>
        </p:txBody>
      </p:sp>
      <p:cxnSp>
        <p:nvCxnSpPr>
          <p:cNvPr id="59" name="Connector 58"/>
          <p:cNvCxnSpPr/>
          <p:nvPr/>
        </p:nvCxnSpPr>
        <p:spPr>
          <a:xfrm flipH="1" flipV="1">
            <a:off x="6172200" y="2011680"/>
            <a:ext cx="4892040" cy="365760"/>
          </a:xfrm>
          <a:prstGeom prst="line">
            <a:avLst/>
          </a:prstGeom>
          <a:ln w="9525">
            <a:solidFill>
              <a:srgbClr val="D8DE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457200" y="585216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0080" y="587044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扩编节奏：M1–3 启动 4 人 → M4–6 扩 14 人 → M7–12 稳态 22 人 · 年度人力预算 ¥400→¥1,500→¥2,200 万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22 人岗位薪酬带宽（年度税前 · 万元）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按等级分组 · D 总监级 / S 资深 / M 经理 / E 普通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731520"/>
                <a:gridCol w="1828800"/>
                <a:gridCol w="1371600"/>
                <a:gridCol w="2743200"/>
              </a:tblGrid>
              <a:tr h="2540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岗位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等级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年包带宽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中位包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入职时点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项目总监 GM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120–180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GR 总监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80–130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80–120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运营总监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60–90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市场总监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60–85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高级招商经理（链主）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50–80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法务经理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45–70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IT / 数据经理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40–60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测试场协同主任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财务经理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40–60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物业主管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25–35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招商经理 ×4 (算法/硬件/中介/自拓)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30–45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政府事务经理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40–60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客户成功经理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35–50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品牌 / 活动经理 ×2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25–40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M4/M7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行政主任 / HR 经理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20–45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M7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2540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销售助理 / CRM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15–22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M4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760720"/>
            <a:ext cx="11247120" cy="50292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5779008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★ 链主签约项目奖：项目总监 0.5–0.8% · 招商总监 0.3–0.5% · GR 总监 0.2–0.3% · 期权池核心 8 人 5–8% / 4 年 vesting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12 个月 KPI 仪表盘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周度更新 · 月度复盘 · 季度董事会校准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2834640" cy="365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团队人数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4 / M6 14 / M9 18 / M12 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337560" y="1097280"/>
            <a:ext cx="2834640" cy="3657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33756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 Term 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 / M6 2 / M9 3 / M12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17920" y="1097280"/>
            <a:ext cx="2834640" cy="3657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1792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链主签约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0 / M6 1 / M9 2 / M12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109728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098280" y="1097280"/>
            <a:ext cx="2834640" cy="36576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098280" y="109728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生态签约 (累计)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155448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0 / M6 12 / M9 30 / M12 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57200" y="2606040"/>
            <a:ext cx="2834640" cy="36576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5720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入驻率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18% / M9 45% / M12 65%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3337560" y="2606040"/>
            <a:ext cx="2834640" cy="365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333756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漏斗线索 (累计)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M3 100 / M6 250 / M9 350 / M12 500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6217920" y="2606040"/>
            <a:ext cx="2834640" cy="36576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21792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政府汇报次数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4 / M6 8 / M9 12 / M12 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260604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9098280" y="2606040"/>
            <a:ext cx="2834640" cy="365760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9098280" y="260604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媒体曝光指数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06324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1x / M6 3x / M9 8x / M12 12x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ectangle 41"/>
          <p:cNvSpPr/>
          <p:nvPr/>
        </p:nvSpPr>
        <p:spPr>
          <a:xfrm>
            <a:off x="457200" y="4114800"/>
            <a:ext cx="2834640" cy="36576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5720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客户 NPS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60 / M9 65 / M12 70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3756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3337560" y="4114800"/>
            <a:ext cx="2834640" cy="36576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33756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现金安全垫 (月)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M3 12 / M6 9 / M9 7 / M12 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6217920" y="4114800"/>
            <a:ext cx="2834640" cy="365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1792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收入 (累计 · 万)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M6 250 / M9 600 / M12 1,022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4114800"/>
            <a:ext cx="2834640" cy="1417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9098280" y="4114800"/>
            <a:ext cx="2834640" cy="36576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098280" y="4114800"/>
            <a:ext cx="283464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EBITDA 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4572000"/>
            <a:ext cx="2560320" cy="9144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1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M6 −80% / M9 −60% / M12 −206%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" y="5943600"/>
            <a:ext cx="11247120" cy="41148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40080" y="59436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周一招商例会 · 周三 GR 例会 · 周五项目复盘 · 月度运营会 · 季度董事会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高频问答 FAQ · 投决会 / 政府汇报常见 10 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提前备答 · 有数据 / 有口径 / 有书面材料兜底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9728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114800"/>
                <a:gridCol w="6675120"/>
              </a:tblGrid>
              <a:tr h="457200"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#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常见问题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应对口径</a:t>
                      </a:r>
                    </a:p>
                  </a:txBody>
                  <a:tcPr>
                    <a:solidFill>
                      <a:srgbClr val="0F2D52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C6 用地下能注册链主总部吗？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已与区规划/经委预先沟通"用途相符性"，链主主体名单经备案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入驻率 92% 会做不到吗？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敏感性：入驻 -10% 仍能 Y3 EBITDA 转正；最坏情形不会黑洞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链主 TOP5 跑了怎么办？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备选名单（蔚来/理想/大众问问/Smart）+ 8/9F 分租方案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4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户外测试场没有，能算智驾园吗？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三段式方案：园区静态 + 1.5km 路测延伸 + 嘉定/临港会员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政策返还万一兑现不了？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区财政书面确认函；改分期口径；不构成项目方独立担保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6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 月发布会能拉多少政府嘉宾？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目标 25 位（市级 1 + 区级 5 + 委办 19），区委书记/区长背书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Y0 启动现金需求多少？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约 3 亿；Y1 期初安全垫 ≥ 12 个月；Y3 期末现金 + 1.28 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8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如果价格被压到 5.0 元/㎡·天？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已超底线红线；立即休会请示集团董事长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公关与媒体年度预算多少？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1,500–2,000 万/年；目标全媒体阅读 ≥ 1 亿，央/新华 ≥ 6 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退出机制有吗？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50800" rIns="50800" tIns="25400" bIns="25400"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1B1F2A"/>
                          </a:solidFill>
                          <a:latin typeface="Calibri"/>
                          <a:ea typeface="WenQuanYi Micro Hei"/>
                          <a:cs typeface="WenQuanYi Micro Hei"/>
                        </a:rPr>
                        <a:t>Y3 后视入驻率推 REITs 化；集团信用借款托底；A 栋分租预案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6263640"/>
            <a:ext cx="11247120" cy="9144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附 · 索引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决策文档包 · 一键直达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本汇报后续支撑材料清单 · 法务 / 财务 / 商务 / 团队 全覆盖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📑 商务汇报 PPT 与策略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16459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" y="1417320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77240" y="1417320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项目总览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1417320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README.md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01368"/>
            <a:ext cx="16459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40080" y="1801368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1801368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产业定位报告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1801368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docs/phase1-strategy/01-industry-positioning-report.md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85416"/>
            <a:ext cx="164592" cy="31089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0080" y="2185416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77240" y="2185416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空间规划（9F 楼层）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185416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docs/phase1-strategy/02-space-planning.md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69464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2569464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77240" y="2569464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链主攻坚 + 5 张一页纸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569464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docs/phase2-execution/03-anchor-tenant-tracker.md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953512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0080" y="2953512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77240" y="2953512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谈判策略 Playbook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2953512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docs/phase2-execution/03b-negotiation-playbook.md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337560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640080" y="3337560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77240" y="3337560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生态漏斗 + 中介策略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3337560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docs/phase2-execution/04-ecosystem-funnel.md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21608"/>
            <a:ext cx="164592" cy="310896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40080" y="3721608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77240" y="3721608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政府关系 + 政策包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17520" y="3721608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docs/phase2-execution/05-government-relations.md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105656"/>
            <a:ext cx="164592" cy="310896"/>
          </a:xfrm>
          <a:prstGeom prst="rect">
            <a:avLst/>
          </a:prstGeom>
          <a:solidFill>
            <a:srgbClr val="6B4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40080" y="4105656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77240" y="4105656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品牌活动 + 9 月发布会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4105656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docs/phase3-brand/06-launch-and-events.md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489704"/>
            <a:ext cx="164592" cy="310896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640080" y="4489704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777240" y="4489704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商业条款 + 报价单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17520" y="4489704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docs/phase4-commercial/07-pricing-and-contract.md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873752"/>
            <a:ext cx="164592" cy="31089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640080" y="4873752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77240" y="4873752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12 个月执行计划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4873752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docs/phase5-rollout/08-execution-plan.md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257800"/>
            <a:ext cx="164592" cy="310896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Rectangle 50"/>
          <p:cNvSpPr/>
          <p:nvPr/>
        </p:nvSpPr>
        <p:spPr>
          <a:xfrm>
            <a:off x="640080" y="5257800"/>
            <a:ext cx="5486400" cy="310896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77240" y="5257800"/>
            <a:ext cx="228600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0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22 人 JD + 薪酬 + KPI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0" y="5257800"/>
            <a:ext cx="3017520" cy="310896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docs/phase5-rollout/08b-team-and-jd.md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100584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📋 法务 Word + 财务 Excel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1417320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6583680" y="1417320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6720840" y="141732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链主总部租赁合同 (草案)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98280" y="141732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docs/legal/01-合作协议-链主总部租赁合同.docx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1746504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ectangle 59"/>
          <p:cNvSpPr/>
          <p:nvPr/>
        </p:nvSpPr>
        <p:spPr>
          <a:xfrm>
            <a:off x="6583680" y="1746504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720840" y="174650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中介居间服务协议 (草案)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1746504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docs/legal/02-合作协议-中介居间服务协议.docx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2075688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ectangle 63"/>
          <p:cNvSpPr/>
          <p:nvPr/>
        </p:nvSpPr>
        <p:spPr>
          <a:xfrm>
            <a:off x="6583680" y="2075688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720840" y="20756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联合实验室共建协议 (草案)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98280" y="2075688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docs/legal/03-合作协议-联合实验室共建协议.docx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2404872"/>
            <a:ext cx="164592" cy="274320"/>
          </a:xfrm>
          <a:prstGeom prst="rect">
            <a:avLst/>
          </a:prstGeom>
          <a:solidFill>
            <a:srgbClr val="D0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6583680" y="2404872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720840" y="240487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政府专班合作备忘录 (草案)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98280" y="2404872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docs/legal/04-合作协议-政府专班合作备忘录.docx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2734056"/>
            <a:ext cx="164592" cy="27432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Rectangle 71"/>
          <p:cNvSpPr/>
          <p:nvPr/>
        </p:nvSpPr>
        <p:spPr>
          <a:xfrm>
            <a:off x="6583680" y="2734056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6720840" y="273405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财务测算与商务模型 (8 Sheet)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2734056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docs/finance/财务测算与商务模型.xlsx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3063240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Rectangle 75"/>
          <p:cNvSpPr/>
          <p:nvPr/>
        </p:nvSpPr>
        <p:spPr>
          <a:xfrm>
            <a:off x="6583680" y="3063240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TextBox 76"/>
          <p:cNvSpPr txBox="1"/>
          <p:nvPr/>
        </p:nvSpPr>
        <p:spPr>
          <a:xfrm>
            <a:off x="6720840" y="306324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1：摘要 Dashboard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98280" y="306324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0" y="3392424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Rectangle 79"/>
          <p:cNvSpPr/>
          <p:nvPr/>
        </p:nvSpPr>
        <p:spPr>
          <a:xfrm>
            <a:off x="6583680" y="3392424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6720840" y="339242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2：假设与参数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3392424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0" y="3721608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Rectangle 83"/>
          <p:cNvSpPr/>
          <p:nvPr/>
        </p:nvSpPr>
        <p:spPr>
          <a:xfrm>
            <a:off x="6583680" y="3721608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6720840" y="372160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3：三年损益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98280" y="3721608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00800" y="4050792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ectangle 87"/>
          <p:cNvSpPr/>
          <p:nvPr/>
        </p:nvSpPr>
        <p:spPr>
          <a:xfrm>
            <a:off x="6583680" y="4050792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720840" y="4050792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4：月度滚动现金流（36m）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98280" y="4050792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400800" y="4379976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6583680" y="4379976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6720840" y="4379976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5：入驻进度爬坡（36m）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098280" y="4379976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400800" y="4709160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Rectangle 95"/>
          <p:cNvSpPr/>
          <p:nvPr/>
        </p:nvSpPr>
        <p:spPr>
          <a:xfrm>
            <a:off x="6583680" y="4709160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TextBox 96"/>
          <p:cNvSpPr txBox="1"/>
          <p:nvPr/>
        </p:nvSpPr>
        <p:spPr>
          <a:xfrm>
            <a:off x="6720840" y="470916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6：双变量敏感性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98280" y="4709160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400800" y="5038344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Rectangle 99"/>
          <p:cNvSpPr/>
          <p:nvPr/>
        </p:nvSpPr>
        <p:spPr>
          <a:xfrm>
            <a:off x="6583680" y="5038344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TextBox 100"/>
          <p:cNvSpPr txBox="1"/>
          <p:nvPr/>
        </p:nvSpPr>
        <p:spPr>
          <a:xfrm>
            <a:off x="6720840" y="50383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7：22 人薪酬带宽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98280" y="5038344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400800" y="5367528"/>
            <a:ext cx="164592" cy="27432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583680" y="5367528"/>
            <a:ext cx="5212080" cy="27432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720840" y="53675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900" b="0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─ Sheet 8：让步阶梯计算器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098280" y="5367528"/>
            <a:ext cx="269748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800" b="0" i="1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—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0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457200" y="164592"/>
            <a:ext cx="1828800" cy="329184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100" b="1" i="0">
                <a:solidFill>
                  <a:srgbClr val="0F2D52"/>
                </a:solidFill>
                <a:latin typeface="Calibri"/>
                <a:ea typeface="WenQuanYi Micro Hei"/>
                <a:cs typeface="WenQuanYi Micro Hei"/>
              </a:rPr>
              <a:t>07 · 投决建议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91440"/>
            <a:ext cx="77724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投决建议 · 里程碑承诺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50292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ctr">
            <a:spAutoFit/>
          </a:bodyPr>
          <a:lstStyle/>
          <a:p>
            <a:pPr algn="l"/>
            <a:r>
              <a:rPr sz="11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资源到位的前提下，T+30 / 90 / 180 三个节点的硬承诺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78000"/>
            <a:ext cx="12191695" cy="8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GS · iDrive Hub · 冠松静安智能驾驶研发中心 · 招商方案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r"/>
            <a:r>
              <a:rPr sz="900" b="0" i="0">
                <a:solidFill>
                  <a:srgbClr val="6B7380"/>
                </a:solidFill>
                <a:latin typeface="Calibri"/>
                <a:ea typeface="WenQuanYi Micro Hei"/>
                <a:cs typeface="WenQuanYi Micro Hei"/>
              </a:rPr>
              <a:t>0 /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57200" y="1097280"/>
            <a:ext cx="3749039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+ 30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团队就位 + 政府首轮汇报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28600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4 人核心入职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区投促办 + 副区长 + 市经信委首轮汇报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74720"/>
            <a:ext cx="228600" cy="22860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5 家中介签约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89120" y="1097280"/>
            <a:ext cx="3749039" cy="86868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38912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+ 90 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链主首份 Term Sheet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228600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TOP5 全部进入会面阶段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288036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≥ 1 家链主签 Term Sheet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3474720"/>
            <a:ext cx="228600" cy="228600"/>
          </a:xfrm>
          <a:prstGeom prst="round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300 家库 + CRM 上线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097280"/>
            <a:ext cx="3749039" cy="4114800"/>
          </a:xfrm>
          <a:prstGeom prst="rect">
            <a:avLst/>
          </a:prstGeom>
          <a:solidFill>
            <a:srgbClr val="F4F6FA"/>
          </a:solidFill>
          <a:ln w="6350">
            <a:solidFill>
              <a:srgbClr val="D8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8321040" y="1097280"/>
            <a:ext cx="3749039" cy="868680"/>
          </a:xfrm>
          <a:prstGeom prst="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21040" y="1143000"/>
            <a:ext cx="3749039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T + 180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1554480"/>
            <a:ext cx="3749039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9 月发布会 + 政策包定稿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228600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3960" y="21945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发布会 200 人到场 + 5 家签约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288036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78892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「iDrive 静安 10 条」发布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03920" y="3474720"/>
            <a:ext cx="228600" cy="228600"/>
          </a:xfrm>
          <a:prstGeom prst="roundRect">
            <a:avLst/>
          </a:prstGeom>
          <a:solidFill>
            <a:srgbClr val="2FA3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6200" rIns="76200" tIns="25400" bIns="25400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23960" y="338328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1B1F2A"/>
                </a:solidFill>
                <a:latin typeface="Calibri"/>
                <a:ea typeface="WenQuanYi Micro Hei"/>
                <a:cs typeface="WenQuanYi Micro Hei"/>
              </a:rPr>
              <a:t>签约 ≥ 30 家 / 入驻率 ≥ 30%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0080" y="5486400"/>
            <a:ext cx="10972800" cy="4114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请董事会审议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72800" cy="50292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① 启动预算（Y0–Y1）  ② 4 人核心团队招聘授权  ③ 静安区一企一策政府专班 ④ 9 月发布会预算  ⑤ 链主谈判授权区间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40000"/>
          </a:xfrm>
          <a:prstGeom prst="rect">
            <a:avLst/>
          </a:prstGeom>
          <a:solidFill>
            <a:srgbClr val="C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12801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4400" b="1" i="0">
                <a:solidFill>
                  <a:srgbClr val="C9A24A"/>
                </a:solidFill>
                <a:latin typeface="Calibri"/>
                <a:ea typeface="WenQuanYi Micro Hei"/>
                <a:cs typeface="WenQuanYi Micro Hei"/>
              </a:rPr>
              <a:t>GS · iDrive 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058400" cy="64008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让中心城区跑通智能驾驶最后一公里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ea typeface="WenQuanYi Micro Hei"/>
                <a:cs typeface="WenQuanYi Micro Hei"/>
              </a:rPr>
              <a:t>Q &amp; A · 谢 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wrap="square" lIns="76200" rIns="76200" tIns="25400" bIns="25400" anchor="t">
            <a:spAutoFit/>
          </a:bodyPr>
          <a:lstStyle/>
          <a:p>
            <a:pPr algn="ctr"/>
            <a:r>
              <a:rPr sz="1200" b="0" i="0">
                <a:solidFill>
                  <a:srgbClr val="F4F6FA"/>
                </a:solidFill>
                <a:latin typeface="Calibri"/>
                <a:ea typeface="WenQuanYi Micro Hei"/>
                <a:cs typeface="WenQuanYi Micro Hei"/>
              </a:rPr>
              <a:t>冠松集团 · GS iDrive Hub 项目组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