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617720"/>
            <a:ext cx="12191695" cy="28000"/>
          </a:xfrm>
          <a:prstGeom prst="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5156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600" b="1" i="1">
                <a:solidFill>
                  <a:srgbClr val="B7862E"/>
                </a:solidFill>
                <a:latin typeface="Georgia"/>
                <a:ea typeface="WenQuanYi Micro Hei"/>
                <a:cs typeface="WenQuanYi Micro Hei"/>
              </a:rPr>
              <a:t>01# 研发楼 · 招商合作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698480" cy="12801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我们帮你们把这栋楼租出去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6400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2000" b="0" i="0">
                <a:solidFill>
                  <a:srgbClr val="F0F1F3"/>
                </a:solidFill>
                <a:latin typeface="Georgia"/>
                <a:ea typeface="WenQuanYi Micro Hei"/>
                <a:cs typeface="WenQuanYi Micro Hei"/>
              </a:rPr>
              <a:t>合作协议讲收费 · 这几页讲思路 · 招到盖章才算完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029200"/>
            <a:ext cx="3108960" cy="438912"/>
          </a:xfrm>
          <a:prstGeom prst="round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wrap="square"/>
          <a:lstStyle/>
          <a:p>
            <a:pPr algn="ctr"/>
            <a:r>
              <a:rPr sz="14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会上版 · 6 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5029200"/>
            <a:ext cx="7315200" cy="43891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400" b="0" i="0">
                <a:solidFill>
                  <a:srgbClr val="F0F1F3"/>
                </a:solidFill>
                <a:latin typeface="Georgia"/>
                <a:ea typeface="WenQuanYi Micro Hei"/>
                <a:cs typeface="WenQuanYi Micro Hei"/>
              </a:rPr>
              <a:t>配套：05b 商务简版（收费确认栏可当场填）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1B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11480" y="164592"/>
            <a:ext cx="2194560" cy="329184"/>
          </a:xfrm>
          <a:prstGeom prst="round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wrap="square"/>
          <a:lstStyle/>
          <a:p>
            <a:pPr algn="ctr"/>
            <a:r>
              <a:rPr sz="11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对齐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91440"/>
            <a:ext cx="8778240" cy="47548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我们听懂了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475488"/>
            <a:ext cx="87782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0" i="0">
                <a:solidFill>
                  <a:srgbClr val="F0F1F3"/>
                </a:solidFill>
                <a:latin typeface="Georgia"/>
                <a:ea typeface="WenQuanYi Micro Hei"/>
                <a:cs typeface="WenQuanYi Micro Hei"/>
              </a:rPr>
              <a:t>得到大脑口径：跟进招商。不是再做一版定位。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41248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6B7380"/>
                </a:solidFill>
                <a:latin typeface="Georgia"/>
                <a:ea typeface="WenQuanYi Micro Hei"/>
                <a:cs typeface="WenQuanYi Micro Hei"/>
              </a:rPr>
              <a:t>冠松 01# 楼 · 招商合作会上版 · 保密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4652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1000" b="0" i="0">
                <a:solidFill>
                  <a:srgbClr val="6B7380"/>
                </a:solidFill>
                <a:latin typeface="Georgia"/>
                <a:ea typeface="WenQuanYi Micro Hei"/>
                <a:cs typeface="WenQuanYi Micro Hei"/>
              </a:rPr>
              <a:t>2 / 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143000"/>
            <a:ext cx="640080" cy="960120"/>
          </a:xfrm>
          <a:prstGeom prst="roundRect">
            <a:avLst/>
          </a:prstGeom>
          <a:solidFill>
            <a:srgbClr val="1B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wrap="square"/>
          <a:lstStyle/>
          <a:p>
            <a:pPr algn="ctr"/>
            <a:r>
              <a:rPr sz="2200" b="1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143000"/>
            <a:ext cx="3017520" cy="9601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楼要有人租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1143000"/>
            <a:ext cx="7223760" cy="9601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汽车展厅走不通了。目标是生效合同，不是品牌发布会。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31720"/>
            <a:ext cx="640080" cy="960120"/>
          </a:xfrm>
          <a:prstGeom prst="roundRect">
            <a:avLst/>
          </a:prstGeom>
          <a:solidFill>
            <a:srgbClr val="1B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wrap="square"/>
          <a:lstStyle/>
          <a:p>
            <a:pPr algn="ctr"/>
            <a:r>
              <a:rPr sz="2200" b="1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331720"/>
            <a:ext cx="3017520" cy="9601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不当小白鼠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331720"/>
            <a:ext cx="7223760" cy="9601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抄已经跑通的研发楼，不搞全国首创。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520440"/>
            <a:ext cx="640080" cy="960120"/>
          </a:xfrm>
          <a:prstGeom prst="roundRect">
            <a:avLst/>
          </a:prstGeom>
          <a:solidFill>
            <a:srgbClr val="1B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wrap="square"/>
          <a:lstStyle/>
          <a:p>
            <a:pPr algn="ctr"/>
            <a:r>
              <a:rPr sz="2200" b="1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3520440"/>
            <a:ext cx="3017520" cy="9601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不丢掉汽车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3520440"/>
            <a:ext cx="7223760" cy="9601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不招整车 4S；汽车配套、后市场可以留。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709160"/>
            <a:ext cx="640080" cy="960120"/>
          </a:xfrm>
          <a:prstGeom prst="roundRect">
            <a:avLst/>
          </a:prstGeom>
          <a:solidFill>
            <a:srgbClr val="1B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wrap="square"/>
          <a:lstStyle/>
          <a:p>
            <a:pPr algn="ctr"/>
            <a:r>
              <a:rPr sz="2200" b="1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709160"/>
            <a:ext cx="3017520" cy="9601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你们拍板我们跑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4709160"/>
            <a:ext cx="7223760" cy="9601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合同您盖章。我们建库、带看、谈判、盯收款。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1B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11480" y="164592"/>
            <a:ext cx="2194560" cy="329184"/>
          </a:xfrm>
          <a:prstGeom prst="round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wrap="square"/>
          <a:lstStyle/>
          <a:p>
            <a:pPr algn="ctr"/>
            <a:r>
              <a:rPr sz="11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思路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91440"/>
            <a:ext cx="8778240" cy="47548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招谁、怎么招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475488"/>
            <a:ext cx="87782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0" i="0">
                <a:solidFill>
                  <a:srgbClr val="F0F1F3"/>
                </a:solidFill>
                <a:latin typeface="Georgia"/>
                <a:ea typeface="WenQuanYi Micro Hei"/>
                <a:cs typeface="WenQuanYi Micro Hei"/>
              </a:rPr>
              <a:t>C6 教育科研用地是硬约束。地上不能按 4S 店来用。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41248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6B7380"/>
                </a:solidFill>
                <a:latin typeface="Georgia"/>
                <a:ea typeface="WenQuanYi Micro Hei"/>
                <a:cs typeface="WenQuanYi Micro Hei"/>
              </a:rPr>
              <a:t>冠松 01# 楼 · 招商合作会上版 · 保密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4652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1000" b="0" i="0">
                <a:solidFill>
                  <a:srgbClr val="6B7380"/>
                </a:solidFill>
                <a:latin typeface="Georgia"/>
                <a:ea typeface="WenQuanYi Micro Hei"/>
                <a:cs typeface="WenQuanYi Micro Hei"/>
              </a:rPr>
              <a:t>3 / 6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43000"/>
            <a:ext cx="5577840" cy="48920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11480" y="1143000"/>
            <a:ext cx="5577840" cy="502920"/>
          </a:xfrm>
          <a:prstGeom prst="rect">
            <a:avLst/>
          </a:prstGeom>
          <a:solidFill>
            <a:srgbClr val="1B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11480" y="1143000"/>
            <a:ext cx="557784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招谁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28800"/>
            <a:ext cx="5120640" cy="3931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优先：AI / 集成电路 / 智能机器人研发</a:t>
            </a:r>
          </a:p>
          <a:p>
            <a:pPr algn="l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可组合：生物医药研发、汽车配套研发</a:t>
            </a:r>
          </a:p>
          <a:p>
            <a:pPr algn="l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/>
            </a:r>
          </a:p>
          <a:p>
            <a:pPr algn="l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不招：整车 4S、整车展厅、汽车卖场</a:t>
            </a:r>
          </a:p>
          <a:p>
            <a:pPr algn="l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先不承诺：公寓（C6 要先做合规）</a:t>
            </a:r>
          </a:p>
          <a:p>
            <a:pPr algn="l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/>
            </a:r>
          </a:p>
          <a:p>
            <a:pPr algn="l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1F+2F 高空间做展示和接待，甲方自留或冠名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143000"/>
            <a:ext cx="5577840" cy="48920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217920" y="1143000"/>
            <a:ext cx="5577840" cy="502920"/>
          </a:xfrm>
          <a:prstGeom prst="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17920" y="1143000"/>
            <a:ext cx="557784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8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怎么招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1828800"/>
            <a:ext cx="5120640" cy="3931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1  建库，决策人到人</a:t>
            </a:r>
          </a:p>
          <a:p>
            <a:pPr algn="l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2  拜访、带看，48 小时出纪要</a:t>
            </a:r>
          </a:p>
          <a:p>
            <a:pPr algn="l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3  绿区直接报价，超线请示您</a:t>
            </a:r>
          </a:p>
          <a:p>
            <a:pPr algn="l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4  统管中介，只留一套客户名单</a:t>
            </a:r>
          </a:p>
          <a:p>
            <a:pPr algn="l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5  盯到盖章、保证金到账</a:t>
            </a:r>
          </a:p>
          <a:p>
            <a:pPr algn="l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/>
            </a:r>
          </a:p>
          <a:p>
            <a:pPr algn="l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每周书面漏斗。出 PPT 不算完成。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1B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11480" y="164592"/>
            <a:ext cx="2194560" cy="329184"/>
          </a:xfrm>
          <a:prstGeom prst="round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wrap="square"/>
          <a:lstStyle/>
          <a:p>
            <a:pPr algn="ctr"/>
            <a:r>
              <a:rPr sz="11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收费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91440"/>
            <a:ext cx="8778240" cy="47548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三笔账 · 招到才抽佣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475488"/>
            <a:ext cx="87782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0" i="0">
                <a:solidFill>
                  <a:srgbClr val="F0F1F3"/>
                </a:solidFill>
                <a:latin typeface="Georgia"/>
                <a:ea typeface="WenQuanYi Micro Hei"/>
                <a:cs typeface="WenQuanYi Micro Hei"/>
              </a:rPr>
              <a:t>建议口径，商务简版确认栏可改数字。未税，增值税另计。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41248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6B7380"/>
                </a:solidFill>
                <a:latin typeface="Georgia"/>
                <a:ea typeface="WenQuanYi Micro Hei"/>
                <a:cs typeface="WenQuanYi Micro Hei"/>
              </a:rPr>
              <a:t>冠松 01# 楼 · 招商合作会上版 · 保密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4652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1000" b="0" i="0">
                <a:solidFill>
                  <a:srgbClr val="6B7380"/>
                </a:solidFill>
                <a:latin typeface="Georgia"/>
                <a:ea typeface="WenQuanYi Micro Hei"/>
                <a:cs typeface="WenQuanYi Micro Hei"/>
              </a:rPr>
              <a:t>4 / 6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43000"/>
            <a:ext cx="3657600" cy="288036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11480" y="1143000"/>
            <a:ext cx="3657600" cy="457200"/>
          </a:xfrm>
          <a:prstGeom prst="rect">
            <a:avLst/>
          </a:prstGeom>
          <a:solidFill>
            <a:srgbClr val="1B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11480" y="1143000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启动费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691640"/>
            <a:ext cx="3657600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26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15 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514600"/>
            <a:ext cx="3383280" cy="12801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5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一次性 · 进场</a:t>
            </a:r>
          </a:p>
          <a:p>
            <a:pPr algn="ctr"/>
            <a:r>
              <a:rPr sz="15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全额抵扣成功佣金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60" y="1143000"/>
            <a:ext cx="3657600" cy="288036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4251960" y="1143000"/>
            <a:ext cx="3657600" cy="457200"/>
          </a:xfrm>
          <a:prstGeom prst="rect">
            <a:avLst/>
          </a:prstGeom>
          <a:solidFill>
            <a:srgbClr val="1B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251960" y="1143000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月度费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0" y="1691640"/>
            <a:ext cx="3657600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26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8 万 / 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514600"/>
            <a:ext cx="3383280" cy="12801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5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干活 · 3–4 人组</a:t>
            </a:r>
          </a:p>
          <a:p>
            <a:pPr algn="ctr"/>
            <a:r>
              <a:rPr sz="15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不含中介和活动硬成本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92440" y="1143000"/>
            <a:ext cx="3657600" cy="288036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8092440" y="1143000"/>
            <a:ext cx="3657600" cy="457200"/>
          </a:xfrm>
          <a:prstGeom prst="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92440" y="1143000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6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成功佣金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40" y="1691640"/>
            <a:ext cx="3657600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26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8% / 链主 12%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514600"/>
            <a:ext cx="3383280" cy="12801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5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首年租金为基数</a:t>
            </a:r>
          </a:p>
          <a:p>
            <a:pPr algn="ctr"/>
            <a:r>
              <a:rPr sz="15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扣免租 · 没签成不抽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4206240"/>
            <a:ext cx="11338560" cy="1828800"/>
          </a:xfrm>
          <a:prstGeom prst="rect">
            <a:avLst/>
          </a:prstGeom>
          <a:solidFill>
            <a:srgbClr val="1B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0080" y="4343400"/>
            <a:ext cx="10972800" cy="1554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和空置比：4,000 ㎡ 空一年，6.5 元/㎡·天，大约少收 949 万。</a:t>
            </a:r>
          </a:p>
          <a:p>
            <a:pPr algn="l"/>
            <a:r>
              <a:rPr sz="1600" b="0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付给操盘方：月度 96 万 + 成功佣金约 57 万 ≈ 153 万。</a:t>
            </a:r>
          </a:p>
          <a:p>
            <a:pPr algn="l"/>
            <a:r>
              <a:rPr sz="1600" b="0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甲方自有未报备客户成交，不付成功佣金。中介佣金另付。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1B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11480" y="164592"/>
            <a:ext cx="2194560" cy="329184"/>
          </a:xfrm>
          <a:prstGeom prst="round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wrap="square"/>
          <a:lstStyle/>
          <a:p>
            <a:pPr algn="ctr"/>
            <a:r>
              <a:rPr sz="11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签法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91440"/>
            <a:ext cx="8778240" cy="47548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可以先干 90 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475488"/>
            <a:ext cx="87782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0" i="0">
                <a:solidFill>
                  <a:srgbClr val="F0F1F3"/>
                </a:solidFill>
                <a:latin typeface="Georgia"/>
                <a:ea typeface="WenQuanYi Micro Hei"/>
                <a:cs typeface="WenQuanYi Micro Hei"/>
              </a:rPr>
              <a:t>怕 12 个月锁死，就先看人干活。收费标准两套签法一样。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41248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6B7380"/>
                </a:solidFill>
                <a:latin typeface="Georgia"/>
                <a:ea typeface="WenQuanYi Micro Hei"/>
                <a:cs typeface="WenQuanYi Micro Hei"/>
              </a:rPr>
              <a:t>冠松 01# 楼 · 招商合作会上版 · 保密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4652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1000" b="0" i="0">
                <a:solidFill>
                  <a:srgbClr val="6B7380"/>
                </a:solidFill>
                <a:latin typeface="Georgia"/>
                <a:ea typeface="WenQuanYi Micro Hei"/>
                <a:cs typeface="WenQuanYi Micro Hei"/>
              </a:rPr>
              <a:t>5 / 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43000"/>
          <a:ext cx="1133856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846320"/>
                <a:gridCol w="4846320"/>
              </a:tblGrid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/>
                      </a:r>
                    </a:p>
                  </a:txBody>
                  <a:tcPr>
                    <a:solidFill>
                      <a:srgbClr val="1B35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方案 A · 12 个月独家（推荐）</a:t>
                      </a:r>
                    </a:p>
                  </a:txBody>
                  <a:tcPr>
                    <a:solidFill>
                      <a:srgbClr val="1B35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方案 B · 先 90 天</a:t>
                      </a:r>
                    </a:p>
                  </a:txBody>
                  <a:tcPr>
                    <a:solidFill>
                      <a:srgbClr val="1B3555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适合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决心把楼租出去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想先看执行再锁独家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怎么停</a:t>
                      </a:r>
                    </a:p>
                  </a:txBody>
                  <a:tcPr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满 6 个月没有锚定意向，可停月度费</a:t>
                      </a:r>
                    </a:p>
                  </a:txBody>
                  <a:tcPr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90 天到期可以不转正</a:t>
                      </a:r>
                    </a:p>
                  </a:txBody>
                  <a:tcPr>
                    <a:solidFill>
                      <a:srgbClr val="F0F1F3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合同章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始终在您手里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始终在您手里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报价</a:t>
                      </a:r>
                    </a:p>
                  </a:txBody>
                  <a:tcPr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绿区我们直接报，黄区 48 小时您批</a:t>
                      </a:r>
                    </a:p>
                  </a:txBody>
                  <a:tcPr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同样</a:t>
                      </a:r>
                    </a:p>
                  </a:txBody>
                  <a:tcPr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4480560"/>
            <a:ext cx="11338560" cy="15544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0080" y="4617720"/>
            <a:ext cx="10972800" cy="12801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绿区：租金 ≥ 6.5 元/㎡·天 · 免租 ≤ 9 个月 · 装补 ≤ 600 元/㎡</a:t>
            </a:r>
          </a:p>
          <a:p>
            <a:pPr algn="l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不承诺政府政策、落户、公寓。不收租户或中介回扣。</a:t>
            </a:r>
          </a:p>
          <a:p>
            <a:pPr algn="l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详细条款在 05 号全稿，会上先把简版确认栏勾完。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1B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11480" y="164592"/>
            <a:ext cx="2194560" cy="329184"/>
          </a:xfrm>
          <a:prstGeom prst="round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wrap="square"/>
          <a:lstStyle/>
          <a:p>
            <a:pPr algn="ctr"/>
            <a:r>
              <a:rPr sz="11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拍板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91440"/>
            <a:ext cx="8778240" cy="47548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今天勾这四项就够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475488"/>
            <a:ext cx="87782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0" i="0">
                <a:solidFill>
                  <a:srgbClr val="F0F1F3"/>
                </a:solidFill>
                <a:latin typeface="Georgia"/>
                <a:ea typeface="WenQuanYi Micro Hei"/>
                <a:cs typeface="WenQuanYi Micro Hei"/>
              </a:rPr>
              <a:t>数字写在商务简版确认栏。法务随后出全稿，不改收费结构。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41248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6B7380"/>
                </a:solidFill>
                <a:latin typeface="Georgia"/>
                <a:ea typeface="WenQuanYi Micro Hei"/>
                <a:cs typeface="WenQuanYi Micro Hei"/>
              </a:rPr>
              <a:t>冠松 01# 楼 · 招商合作会上版 · 保密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4652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1000" b="0" i="0">
                <a:solidFill>
                  <a:srgbClr val="6B7380"/>
                </a:solidFill>
                <a:latin typeface="Georgia"/>
                <a:ea typeface="WenQuanYi Micro Hei"/>
                <a:cs typeface="WenQuanYi Micro Hei"/>
              </a:rPr>
              <a:t>6 / 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143000"/>
            <a:ext cx="1051560" cy="960120"/>
          </a:xfrm>
          <a:prstGeom prst="round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wrap="square"/>
          <a:lstStyle/>
          <a:p>
            <a:pPr algn="ctr"/>
            <a:r>
              <a:rPr sz="20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1143000"/>
            <a:ext cx="2011680" cy="9601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签法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1143000"/>
            <a:ext cx="7772400" cy="9601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A 十二个月独家，或 B 先九十天。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286000"/>
            <a:ext cx="1051560" cy="960120"/>
          </a:xfrm>
          <a:prstGeom prst="round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wrap="square"/>
          <a:lstStyle/>
          <a:p>
            <a:pPr algn="ctr"/>
            <a:r>
              <a:rPr sz="20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2286000"/>
            <a:ext cx="2011680" cy="9601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三个数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286000"/>
            <a:ext cx="7772400" cy="9601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启动费 / 月度费 / 成功佣金。可按 15 万、8 万、8%·12% 先填。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429000"/>
            <a:ext cx="1051560" cy="960120"/>
          </a:xfrm>
          <a:prstGeom prst="round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wrap="square"/>
          <a:lstStyle/>
          <a:p>
            <a:pPr algn="ctr"/>
            <a:r>
              <a:rPr sz="20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429000"/>
            <a:ext cx="2011680" cy="9601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对接人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3429000"/>
            <a:ext cx="7772400" cy="9601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唯一商务对接人 + 红区谁拍板。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572000"/>
            <a:ext cx="1051560" cy="960120"/>
          </a:xfrm>
          <a:prstGeom prst="round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wrap="square"/>
          <a:lstStyle/>
          <a:p>
            <a:pPr algn="ctr"/>
            <a:r>
              <a:rPr sz="20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4572000"/>
            <a:ext cx="2011680" cy="9601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绿区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4572000"/>
            <a:ext cx="7772400" cy="9601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能否直接报价。每单都开会，节奏会断。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