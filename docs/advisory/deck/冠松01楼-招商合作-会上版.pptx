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4617720"/>
            <a:ext cx="12191695" cy="28000"/>
          </a:xfrm>
          <a:prstGeom prst="rect">
            <a:avLst/>
          </a:prstGeom>
          <a:solidFill>
            <a:srgbClr val="B78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51560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600" b="1" i="1">
                <a:solidFill>
                  <a:srgbClr val="B7862E"/>
                </a:solidFill>
                <a:latin typeface="Georgia"/>
                <a:ea typeface="WenQuanYi Micro Hei"/>
                <a:cs typeface="WenQuanYi Micro Hei"/>
              </a:rPr>
              <a:t>01# 研发楼 · 招商合作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10698480" cy="12801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Georgia"/>
                <a:ea typeface="WenQuanYi Micro Hei"/>
                <a:cs typeface="WenQuanYi Micro Hei"/>
              </a:rPr>
              <a:t>我们帮你们把这栋楼租出去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6400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2000" b="0" i="0">
                <a:solidFill>
                  <a:srgbClr val="F0F1F3"/>
                </a:solidFill>
                <a:latin typeface="Georgia"/>
                <a:ea typeface="WenQuanYi Micro Hei"/>
                <a:cs typeface="WenQuanYi Micro Hei"/>
              </a:rPr>
              <a:t>先 90 天 · 包干 8 万 · 佣金跟中介同一把尺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029200"/>
            <a:ext cx="3108960" cy="438912"/>
          </a:xfrm>
          <a:prstGeom prst="roundRect">
            <a:avLst/>
          </a:prstGeom>
          <a:solidFill>
            <a:srgbClr val="B78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rIns="101600" wrap="square"/>
          <a:lstStyle/>
          <a:p>
            <a:pPr algn="ctr"/>
            <a:r>
              <a:rPr sz="1400" b="1" i="0">
                <a:solidFill>
                  <a:srgbClr val="1B3555"/>
                </a:solidFill>
                <a:latin typeface="Georgia"/>
                <a:ea typeface="WenQuanYi Micro Hei"/>
                <a:cs typeface="WenQuanYi Micro Hei"/>
              </a:rPr>
              <a:t>会上版 · 6 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5029200"/>
            <a:ext cx="7315200" cy="43891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400" b="0" i="0">
                <a:solidFill>
                  <a:srgbClr val="F0F1F3"/>
                </a:solidFill>
                <a:latin typeface="Georgia"/>
                <a:ea typeface="WenQuanYi Micro Hei"/>
                <a:cs typeface="WenQuanYi Micro Hei"/>
              </a:rPr>
              <a:t>细版请看「工作版」12 页 · 05b 确认栏当场填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1B3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11480" y="164592"/>
            <a:ext cx="2194560" cy="329184"/>
          </a:xfrm>
          <a:prstGeom prst="roundRect">
            <a:avLst/>
          </a:prstGeom>
          <a:solidFill>
            <a:srgbClr val="B78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rIns="101600" wrap="square"/>
          <a:lstStyle/>
          <a:p>
            <a:pPr algn="ctr"/>
            <a:r>
              <a:rPr sz="1100" b="1" i="0">
                <a:solidFill>
                  <a:srgbClr val="1B3555"/>
                </a:solidFill>
                <a:latin typeface="Georgia"/>
                <a:ea typeface="WenQuanYi Micro Hei"/>
                <a:cs typeface="WenQuanYi Micro Hei"/>
              </a:rPr>
              <a:t>对齐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88920" y="91440"/>
            <a:ext cx="8778240" cy="47548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Georgia"/>
                <a:ea typeface="WenQuanYi Micro Hei"/>
                <a:cs typeface="WenQuanYi Micro Hei"/>
              </a:rPr>
              <a:t>我们听懂了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8920" y="475488"/>
            <a:ext cx="87782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200" b="0" i="0">
                <a:solidFill>
                  <a:srgbClr val="F0F1F3"/>
                </a:solidFill>
                <a:latin typeface="Georgia"/>
                <a:ea typeface="WenQuanYi Micro Hei"/>
                <a:cs typeface="WenQuanYi Micro Hei"/>
              </a:rPr>
              <a:t>得到大脑口径：跟进招商。不是再做一版定位。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B78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841248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6B7380"/>
                </a:solidFill>
                <a:latin typeface="Georgia"/>
                <a:ea typeface="WenQuanYi Micro Hei"/>
                <a:cs typeface="WenQuanYi Micro Hei"/>
              </a:rPr>
              <a:t>冠松 01# 楼 · 招商合作会上版 · 保密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46520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1000" b="0" i="0">
                <a:solidFill>
                  <a:srgbClr val="6B7380"/>
                </a:solidFill>
                <a:latin typeface="Georgia"/>
                <a:ea typeface="WenQuanYi Micro Hei"/>
                <a:cs typeface="WenQuanYi Micro Hei"/>
              </a:rPr>
              <a:t>2 / 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143000"/>
            <a:ext cx="640080" cy="960120"/>
          </a:xfrm>
          <a:prstGeom prst="roundRect">
            <a:avLst/>
          </a:prstGeom>
          <a:solidFill>
            <a:srgbClr val="1B3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rIns="101600" wrap="square"/>
          <a:lstStyle/>
          <a:p>
            <a:pPr algn="ctr"/>
            <a:r>
              <a:rPr sz="2200" b="1" i="0">
                <a:solidFill>
                  <a:srgbClr val="FFFFFF"/>
                </a:solidFill>
                <a:latin typeface="Georgia"/>
                <a:ea typeface="WenQuanYi Micro Hei"/>
                <a:cs typeface="WenQuanYi Micro He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1143000"/>
            <a:ext cx="3017520" cy="9601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1B3555"/>
                </a:solidFill>
                <a:latin typeface="Georgia"/>
                <a:ea typeface="WenQuanYi Micro Hei"/>
                <a:cs typeface="WenQuanYi Micro Hei"/>
              </a:rPr>
              <a:t>楼要有人租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1143000"/>
            <a:ext cx="7223760" cy="9601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8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汽车展厅走不通了。目标是生效合同，不是品牌发布会。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31720"/>
            <a:ext cx="640080" cy="960120"/>
          </a:xfrm>
          <a:prstGeom prst="roundRect">
            <a:avLst/>
          </a:prstGeom>
          <a:solidFill>
            <a:srgbClr val="1B3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rIns="101600" wrap="square"/>
          <a:lstStyle/>
          <a:p>
            <a:pPr algn="ctr"/>
            <a:r>
              <a:rPr sz="2200" b="1" i="0">
                <a:solidFill>
                  <a:srgbClr val="FFFFFF"/>
                </a:solidFill>
                <a:latin typeface="Georgia"/>
                <a:ea typeface="WenQuanYi Micro Hei"/>
                <a:cs typeface="WenQuanYi Micro He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2331720"/>
            <a:ext cx="3017520" cy="9601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1B3555"/>
                </a:solidFill>
                <a:latin typeface="Georgia"/>
                <a:ea typeface="WenQuanYi Micro Hei"/>
                <a:cs typeface="WenQuanYi Micro Hei"/>
              </a:rPr>
              <a:t>不当小白鼠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2331720"/>
            <a:ext cx="7223760" cy="9601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8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抄已经跑通的研发楼，不搞全国首创。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520440"/>
            <a:ext cx="640080" cy="960120"/>
          </a:xfrm>
          <a:prstGeom prst="roundRect">
            <a:avLst/>
          </a:prstGeom>
          <a:solidFill>
            <a:srgbClr val="1B3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rIns="101600" wrap="square"/>
          <a:lstStyle/>
          <a:p>
            <a:pPr algn="ctr"/>
            <a:r>
              <a:rPr sz="2200" b="1" i="0">
                <a:solidFill>
                  <a:srgbClr val="FFFFFF"/>
                </a:solidFill>
                <a:latin typeface="Georgia"/>
                <a:ea typeface="WenQuanYi Micro Hei"/>
                <a:cs typeface="WenQuanYi Micro He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3520440"/>
            <a:ext cx="3017520" cy="9601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1B3555"/>
                </a:solidFill>
                <a:latin typeface="Georgia"/>
                <a:ea typeface="WenQuanYi Micro Hei"/>
                <a:cs typeface="WenQuanYi Micro Hei"/>
              </a:rPr>
              <a:t>不丢掉汽车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3520440"/>
            <a:ext cx="7223760" cy="9601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8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不招整车 4S；汽车配套、后市场可以留。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709160"/>
            <a:ext cx="640080" cy="960120"/>
          </a:xfrm>
          <a:prstGeom prst="roundRect">
            <a:avLst/>
          </a:prstGeom>
          <a:solidFill>
            <a:srgbClr val="1B3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rIns="101600" wrap="square"/>
          <a:lstStyle/>
          <a:p>
            <a:pPr algn="ctr"/>
            <a:r>
              <a:rPr sz="2200" b="1" i="0">
                <a:solidFill>
                  <a:srgbClr val="FFFFFF"/>
                </a:solidFill>
                <a:latin typeface="Georgia"/>
                <a:ea typeface="WenQuanYi Micro Hei"/>
                <a:cs typeface="WenQuanYi Micro He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4709160"/>
            <a:ext cx="3017520" cy="9601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1B3555"/>
                </a:solidFill>
                <a:latin typeface="Georgia"/>
                <a:ea typeface="WenQuanYi Micro Hei"/>
                <a:cs typeface="WenQuanYi Micro Hei"/>
              </a:rPr>
              <a:t>你们拍板我们跑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4709160"/>
            <a:ext cx="7223760" cy="9601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8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合同您盖章。我们建库、带看、谈判、盯收款。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1B3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11480" y="164592"/>
            <a:ext cx="2194560" cy="329184"/>
          </a:xfrm>
          <a:prstGeom prst="roundRect">
            <a:avLst/>
          </a:prstGeom>
          <a:solidFill>
            <a:srgbClr val="B78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rIns="101600" wrap="square"/>
          <a:lstStyle/>
          <a:p>
            <a:pPr algn="ctr"/>
            <a:r>
              <a:rPr sz="1100" b="1" i="0">
                <a:solidFill>
                  <a:srgbClr val="1B3555"/>
                </a:solidFill>
                <a:latin typeface="Georgia"/>
                <a:ea typeface="WenQuanYi Micro Hei"/>
                <a:cs typeface="WenQuanYi Micro Hei"/>
              </a:rPr>
              <a:t>90 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88920" y="91440"/>
            <a:ext cx="8778240" cy="47548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Georgia"/>
                <a:ea typeface="WenQuanYi Micro Hei"/>
                <a:cs typeface="WenQuanYi Micro Hei"/>
              </a:rPr>
              <a:t>未来 90 天怎么干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8920" y="475488"/>
            <a:ext cx="87782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200" b="0" i="0">
                <a:solidFill>
                  <a:srgbClr val="F0F1F3"/>
                </a:solidFill>
                <a:latin typeface="Georgia"/>
                <a:ea typeface="WenQuanYi Micro Hei"/>
                <a:cs typeface="WenQuanYi Micro Hei"/>
              </a:rPr>
              <a:t>必须：库 150 · 深接触 8 · 带看 5 · 书面意向 3。达不到可不转正。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B78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841248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6B7380"/>
                </a:solidFill>
                <a:latin typeface="Georgia"/>
                <a:ea typeface="WenQuanYi Micro Hei"/>
                <a:cs typeface="WenQuanYi Micro Hei"/>
              </a:rPr>
              <a:t>冠松 01# 楼 · 招商合作会上版 · 保密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46520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1000" b="0" i="0">
                <a:solidFill>
                  <a:srgbClr val="6B7380"/>
                </a:solidFill>
                <a:latin typeface="Georgia"/>
                <a:ea typeface="WenQuanYi Micro Hei"/>
                <a:cs typeface="WenQuanYi Micro Hei"/>
              </a:rPr>
              <a:t>3 / 6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143000"/>
            <a:ext cx="3657600" cy="48920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411480" y="1143000"/>
            <a:ext cx="3657600" cy="548640"/>
          </a:xfrm>
          <a:prstGeom prst="rect">
            <a:avLst/>
          </a:prstGeom>
          <a:solidFill>
            <a:srgbClr val="1B3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11480" y="1143000"/>
            <a:ext cx="3657600" cy="5486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Georgia"/>
                <a:ea typeface="WenQuanYi Micro Hei"/>
                <a:cs typeface="WenQuanYi Micro Hei"/>
              </a:rPr>
              <a:t>D1–30 进场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920240"/>
            <a:ext cx="3291840" cy="3840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18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一页楼书（C6 / 层高）</a:t>
            </a:r>
          </a:p>
          <a:p>
            <a:pPr algn="ctr"/>
            <a:r>
              <a:rPr sz="18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看房动线、种子库</a:t>
            </a:r>
          </a:p>
          <a:p>
            <a:pPr algn="ctr"/>
            <a:r>
              <a:rPr sz="18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中介先开 2 家</a:t>
            </a:r>
          </a:p>
          <a:p>
            <a:pPr algn="ctr"/>
            <a:r>
              <a:rPr sz="18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周五周报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1960" y="1143000"/>
            <a:ext cx="3657600" cy="48920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4251960" y="1143000"/>
            <a:ext cx="3657600" cy="548640"/>
          </a:xfrm>
          <a:prstGeom prst="rect">
            <a:avLst/>
          </a:prstGeom>
          <a:solidFill>
            <a:srgbClr val="1B3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251960" y="1143000"/>
            <a:ext cx="3657600" cy="5486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Georgia"/>
                <a:ea typeface="WenQuanYi Micro Hei"/>
                <a:cs typeface="WenQuanYi Micro Hei"/>
              </a:rPr>
              <a:t>D31–60 见客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1920240"/>
            <a:ext cx="3291840" cy="3840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18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带看 + 48h 纪要</a:t>
            </a:r>
          </a:p>
          <a:p>
            <a:pPr algn="ctr"/>
            <a:r>
              <a:rPr sz="18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15 人闭门 1 场</a:t>
            </a:r>
          </a:p>
          <a:p>
            <a:pPr algn="ctr"/>
            <a:r>
              <a:rPr sz="18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只提市北、西岸</a:t>
            </a:r>
          </a:p>
          <a:p>
            <a:pPr algn="ctr"/>
            <a:r>
              <a:rPr sz="18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投促办备案不加码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92440" y="1143000"/>
            <a:ext cx="3657600" cy="48920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8092440" y="1143000"/>
            <a:ext cx="3657600" cy="548640"/>
          </a:xfrm>
          <a:prstGeom prst="rect">
            <a:avLst/>
          </a:prstGeom>
          <a:solidFill>
            <a:srgbClr val="1B3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092440" y="1143000"/>
            <a:ext cx="3657600" cy="5486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Georgia"/>
                <a:ea typeface="WenQuanYi Micro Hei"/>
                <a:cs typeface="WenQuanYi Micro Hei"/>
              </a:rPr>
              <a:t>D61–90 收口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1920240"/>
            <a:ext cx="3291840" cy="3840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18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意向写成书面</a:t>
            </a:r>
          </a:p>
          <a:p>
            <a:pPr algn="ctr"/>
            <a:r>
              <a:rPr sz="18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黄区 48h 请示</a:t>
            </a:r>
          </a:p>
          <a:p>
            <a:pPr algn="ctr"/>
            <a:r>
              <a:rPr sz="18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漏斗会 90 分钟</a:t>
            </a:r>
          </a:p>
          <a:p>
            <a:pPr algn="ctr"/>
            <a:r>
              <a:rPr sz="18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转正 / 再试 / 停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1B3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11480" y="164592"/>
            <a:ext cx="2194560" cy="329184"/>
          </a:xfrm>
          <a:prstGeom prst="roundRect">
            <a:avLst/>
          </a:prstGeom>
          <a:solidFill>
            <a:srgbClr val="B78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rIns="101600" wrap="square"/>
          <a:lstStyle/>
          <a:p>
            <a:pPr algn="ctr"/>
            <a:r>
              <a:rPr sz="1100" b="1" i="0">
                <a:solidFill>
                  <a:srgbClr val="1B3555"/>
                </a:solidFill>
                <a:latin typeface="Georgia"/>
                <a:ea typeface="WenQuanYi Micro Hei"/>
                <a:cs typeface="WenQuanYi Micro Hei"/>
              </a:rPr>
              <a:t>收费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88920" y="91440"/>
            <a:ext cx="8778240" cy="47548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Georgia"/>
                <a:ea typeface="WenQuanYi Micro Hei"/>
                <a:cs typeface="WenQuanYi Micro Hei"/>
              </a:rPr>
              <a:t>对齐后：试跑只付 8 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8920" y="475488"/>
            <a:ext cx="87782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200" b="0" i="0">
                <a:solidFill>
                  <a:srgbClr val="F0F1F3"/>
                </a:solidFill>
                <a:latin typeface="Georgia"/>
                <a:ea typeface="WenQuanYi Micro Hei"/>
                <a:cs typeface="WenQuanYi Micro Hei"/>
              </a:rPr>
              <a:t>旧口径 90 天约 39 万，叠了顾问费和满佣。现在跟中介同一把尺。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B78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841248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6B7380"/>
                </a:solidFill>
                <a:latin typeface="Georgia"/>
                <a:ea typeface="WenQuanYi Micro Hei"/>
                <a:cs typeface="WenQuanYi Micro Hei"/>
              </a:rPr>
              <a:t>冠松 01# 楼 · 招商合作会上版 · 保密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46520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1000" b="0" i="0">
                <a:solidFill>
                  <a:srgbClr val="6B7380"/>
                </a:solidFill>
                <a:latin typeface="Georgia"/>
                <a:ea typeface="WenQuanYi Micro Hei"/>
                <a:cs typeface="WenQuanYi Micro Hei"/>
              </a:rPr>
              <a:t>4 / 6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143000"/>
            <a:ext cx="3657600" cy="288036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411480" y="1143000"/>
            <a:ext cx="3657600" cy="457200"/>
          </a:xfrm>
          <a:prstGeom prst="rect">
            <a:avLst/>
          </a:prstGeom>
          <a:solidFill>
            <a:srgbClr val="1B3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11480" y="1143000"/>
            <a:ext cx="3657600" cy="4572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Georgia"/>
                <a:ea typeface="WenQuanYi Micro Hei"/>
                <a:cs typeface="WenQuanYi Micro Hei"/>
              </a:rPr>
              <a:t>90 天包干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691640"/>
            <a:ext cx="3657600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2600" b="1" i="0">
                <a:solidFill>
                  <a:srgbClr val="1B3555"/>
                </a:solidFill>
                <a:latin typeface="Georgia"/>
                <a:ea typeface="WenQuanYi Micro Hei"/>
                <a:cs typeface="WenQuanYi Micro Hei"/>
              </a:rPr>
              <a:t>8 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514600"/>
            <a:ext cx="3383280" cy="12801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15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含人、材料、带看</a:t>
            </a:r>
          </a:p>
          <a:p>
            <a:pPr algn="ctr"/>
            <a:r>
              <a:rPr sz="15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试跑期不另收月度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51960" y="1143000"/>
            <a:ext cx="3657600" cy="288036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4251960" y="1143000"/>
            <a:ext cx="3657600" cy="457200"/>
          </a:xfrm>
          <a:prstGeom prst="rect">
            <a:avLst/>
          </a:prstGeom>
          <a:solidFill>
            <a:srgbClr val="1B3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251960" y="1143000"/>
            <a:ext cx="3657600" cy="4572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Georgia"/>
                <a:ea typeface="WenQuanYi Micro Hei"/>
                <a:cs typeface="WenQuanYi Micro Hei"/>
              </a:rPr>
              <a:t>自拓佣金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51960" y="1691640"/>
            <a:ext cx="3657600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2600" b="1" i="0">
                <a:solidFill>
                  <a:srgbClr val="1B3555"/>
                </a:solidFill>
                <a:latin typeface="Georgia"/>
                <a:ea typeface="WenQuanYi Micro Hei"/>
                <a:cs typeface="WenQuanYi Micro Hei"/>
              </a:rPr>
              <a:t>首月 × 100%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514600"/>
            <a:ext cx="3383280" cy="12801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15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和中介同一尺</a:t>
            </a:r>
          </a:p>
          <a:p>
            <a:pPr algn="ctr"/>
            <a:r>
              <a:rPr sz="15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没签成不抽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92440" y="1143000"/>
            <a:ext cx="3657600" cy="288036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8092440" y="1143000"/>
            <a:ext cx="3657600" cy="457200"/>
          </a:xfrm>
          <a:prstGeom prst="rect">
            <a:avLst/>
          </a:prstGeom>
          <a:solidFill>
            <a:srgbClr val="B78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92440" y="1143000"/>
            <a:ext cx="3657600" cy="4572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600" b="1" i="0">
                <a:solidFill>
                  <a:srgbClr val="1B3555"/>
                </a:solidFill>
                <a:latin typeface="Georgia"/>
                <a:ea typeface="WenQuanYi Micro Hei"/>
                <a:cs typeface="WenQuanYi Micro Hei"/>
              </a:rPr>
              <a:t>锚定佣金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2440" y="1691640"/>
            <a:ext cx="3657600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2600" b="1" i="0">
                <a:solidFill>
                  <a:srgbClr val="1B3555"/>
                </a:solidFill>
                <a:latin typeface="Georgia"/>
                <a:ea typeface="WenQuanYi Micro Hei"/>
                <a:cs typeface="WenQuanYi Micro Hei"/>
              </a:rPr>
              <a:t>首月 × 150%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2514600"/>
            <a:ext cx="3383280" cy="12801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15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≥ 1,500 ㎡ 或整层</a:t>
            </a:r>
          </a:p>
          <a:p>
            <a:pPr algn="ctr"/>
            <a:r>
              <a:rPr sz="15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中介单业主只付一套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4206240"/>
            <a:ext cx="11338560" cy="1828800"/>
          </a:xfrm>
          <a:prstGeom prst="rect">
            <a:avLst/>
          </a:prstGeom>
          <a:solidFill>
            <a:srgbClr val="1B3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40080" y="4343400"/>
            <a:ext cx="10972800" cy="1554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Georgia"/>
                <a:ea typeface="WenQuanYi Micro Hei"/>
                <a:cs typeface="WenQuanYi Micro Hei"/>
              </a:rPr>
              <a:t>试跑无人成交，业主只出 8 万。转正后月度 4 万，当月有佣金则抵扣。</a:t>
            </a:r>
          </a:p>
          <a:p>
            <a:pPr algn="l"/>
            <a:r>
              <a:rPr sz="1600" b="0" i="0">
                <a:solidFill>
                  <a:srgbClr val="FFFFFF"/>
                </a:solidFill>
                <a:latin typeface="Georgia"/>
                <a:ea typeface="WenQuanYi Micro Hei"/>
                <a:cs typeface="WenQuanYi Micro Hei"/>
              </a:rPr>
              <a:t>中介成交：业主合计不超过该档，中介约 70% + 我们约 30%。</a:t>
            </a:r>
          </a:p>
          <a:p>
            <a:pPr algn="l"/>
            <a:r>
              <a:rPr sz="1600" b="0" i="0">
                <a:solidFill>
                  <a:srgbClr val="FFFFFF"/>
                </a:solidFill>
                <a:latin typeface="Georgia"/>
                <a:ea typeface="WenQuanYi Micro Hei"/>
                <a:cs typeface="WenQuanYi Micro Hei"/>
              </a:rPr>
              <a:t>4,000 ㎡ 空一年大约少收 949 万。甲方自有未报备客户不付佣金。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1B3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11480" y="164592"/>
            <a:ext cx="2194560" cy="329184"/>
          </a:xfrm>
          <a:prstGeom prst="roundRect">
            <a:avLst/>
          </a:prstGeom>
          <a:solidFill>
            <a:srgbClr val="B78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rIns="101600" wrap="square"/>
          <a:lstStyle/>
          <a:p>
            <a:pPr algn="ctr"/>
            <a:r>
              <a:rPr sz="1100" b="1" i="0">
                <a:solidFill>
                  <a:srgbClr val="1B3555"/>
                </a:solidFill>
                <a:latin typeface="Georgia"/>
                <a:ea typeface="WenQuanYi Micro Hei"/>
                <a:cs typeface="WenQuanYi Micro Hei"/>
              </a:rPr>
              <a:t>签法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88920" y="91440"/>
            <a:ext cx="8778240" cy="47548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Georgia"/>
                <a:ea typeface="WenQuanYi Micro Hei"/>
                <a:cs typeface="WenQuanYi Micro Hei"/>
              </a:rPr>
              <a:t>建议先勾 90 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8920" y="475488"/>
            <a:ext cx="87782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200" b="0" i="0">
                <a:solidFill>
                  <a:srgbClr val="F0F1F3"/>
                </a:solidFill>
                <a:latin typeface="Georgia"/>
                <a:ea typeface="WenQuanYi Micro Hei"/>
                <a:cs typeface="WenQuanYi Micro Hei"/>
              </a:rPr>
              <a:t>收费已经按试跑对齐。12 个月独家等看完人再锁。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B78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841248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6B7380"/>
                </a:solidFill>
                <a:latin typeface="Georgia"/>
                <a:ea typeface="WenQuanYi Micro Hei"/>
                <a:cs typeface="WenQuanYi Micro Hei"/>
              </a:rPr>
              <a:t>冠松 01# 楼 · 招商合作会上版 · 保密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46520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1000" b="0" i="0">
                <a:solidFill>
                  <a:srgbClr val="6B7380"/>
                </a:solidFill>
                <a:latin typeface="Georgia"/>
                <a:ea typeface="WenQuanYi Micro Hei"/>
                <a:cs typeface="WenQuanYi Micro Hei"/>
              </a:rPr>
              <a:t>5 / 6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143000"/>
          <a:ext cx="1133856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4846320"/>
                <a:gridCol w="4846320"/>
              </a:tblGrid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/>
                      </a:r>
                    </a:p>
                  </a:txBody>
                  <a:tcPr>
                    <a:solidFill>
                      <a:srgbClr val="1B35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方案 B · 先 90 天（建议）</a:t>
                      </a:r>
                    </a:p>
                  </a:txBody>
                  <a:tcPr>
                    <a:solidFill>
                      <a:srgbClr val="1B35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方案 A · 12 个月独家</a:t>
                      </a:r>
                    </a:p>
                  </a:txBody>
                  <a:tcPr>
                    <a:solidFill>
                      <a:srgbClr val="1B3555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A2D34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适合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A2D34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先看人干活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A2D34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已决心排他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A2D34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试跑费用</a:t>
                      </a:r>
                    </a:p>
                  </a:txBody>
                  <a:tcPr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A2D34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只付包干 8 万</a:t>
                      </a:r>
                    </a:p>
                  </a:txBody>
                  <a:tcPr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A2D34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8 万记作前 90 天，之后月度 4 万</a:t>
                      </a:r>
                    </a:p>
                  </a:txBody>
                  <a:tcPr>
                    <a:solidFill>
                      <a:srgbClr val="F0F1F3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A2D34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怎么停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A2D34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第 90 天可转正 / 再试 / 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A2D34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满 6 个月无锚定意向可停月度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A2D34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合同章 / 报价</a:t>
                      </a:r>
                    </a:p>
                  </a:txBody>
                  <a:tcPr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A2D34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您盖章 · 绿区我们直接报</a:t>
                      </a:r>
                    </a:p>
                  </a:txBody>
                  <a:tcPr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A2D34"/>
                          </a:solidFill>
                          <a:latin typeface="Georgia"/>
                          <a:ea typeface="WenQuanYi Micro Hei"/>
                          <a:cs typeface="WenQuanYi Micro Hei"/>
                        </a:rPr>
                        <a:t>同样</a:t>
                      </a:r>
                    </a:p>
                  </a:txBody>
                  <a:tcPr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11480" y="4480560"/>
            <a:ext cx="11338560" cy="15544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0080" y="4617720"/>
            <a:ext cx="10972800" cy="12801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6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绿区：租金 ≥ 6.5 元/㎡·天 · 免租 ≤ 9 个月 · 装补 ≤ 600 元/㎡</a:t>
            </a:r>
          </a:p>
          <a:p>
            <a:pPr algn="l"/>
            <a:r>
              <a:rPr sz="16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不承诺政府政策、落户、公寓。不收租户或中介回扣。</a:t>
            </a:r>
          </a:p>
          <a:p>
            <a:pPr algn="l"/>
            <a:r>
              <a:rPr sz="16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详细条款在 05 号全稿，会上先把简版确认栏勾完。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1B3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11480" y="164592"/>
            <a:ext cx="2194560" cy="329184"/>
          </a:xfrm>
          <a:prstGeom prst="roundRect">
            <a:avLst/>
          </a:prstGeom>
          <a:solidFill>
            <a:srgbClr val="B78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rIns="101600" wrap="square"/>
          <a:lstStyle/>
          <a:p>
            <a:pPr algn="ctr"/>
            <a:r>
              <a:rPr sz="1100" b="1" i="0">
                <a:solidFill>
                  <a:srgbClr val="1B3555"/>
                </a:solidFill>
                <a:latin typeface="Georgia"/>
                <a:ea typeface="WenQuanYi Micro Hei"/>
                <a:cs typeface="WenQuanYi Micro Hei"/>
              </a:rPr>
              <a:t>拍板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88920" y="91440"/>
            <a:ext cx="8778240" cy="47548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Georgia"/>
                <a:ea typeface="WenQuanYi Micro Hei"/>
                <a:cs typeface="WenQuanYi Micro Hei"/>
              </a:rPr>
              <a:t>今天勾这四项就够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8920" y="475488"/>
            <a:ext cx="87782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200" b="0" i="0">
                <a:solidFill>
                  <a:srgbClr val="F0F1F3"/>
                </a:solidFill>
                <a:latin typeface="Georgia"/>
                <a:ea typeface="WenQuanYi Micro Hei"/>
                <a:cs typeface="WenQuanYi Micro Hei"/>
              </a:rPr>
              <a:t>数字写在商务简版确认栏。法务随后出全稿，不改收费结构。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B78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841248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6B7380"/>
                </a:solidFill>
                <a:latin typeface="Georgia"/>
                <a:ea typeface="WenQuanYi Micro Hei"/>
                <a:cs typeface="WenQuanYi Micro Hei"/>
              </a:rPr>
              <a:t>冠松 01# 楼 · 招商合作会上版 · 保密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46520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1000" b="0" i="0">
                <a:solidFill>
                  <a:srgbClr val="6B7380"/>
                </a:solidFill>
                <a:latin typeface="Georgia"/>
                <a:ea typeface="WenQuanYi Micro Hei"/>
                <a:cs typeface="WenQuanYi Micro Hei"/>
              </a:rPr>
              <a:t>6 / 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143000"/>
            <a:ext cx="1051560" cy="960120"/>
          </a:xfrm>
          <a:prstGeom prst="roundRect">
            <a:avLst/>
          </a:prstGeom>
          <a:solidFill>
            <a:srgbClr val="B78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rIns="101600" wrap="square"/>
          <a:lstStyle/>
          <a:p>
            <a:pPr algn="ctr"/>
            <a:r>
              <a:rPr sz="2000" b="1" i="0">
                <a:solidFill>
                  <a:srgbClr val="1B3555"/>
                </a:solidFill>
                <a:latin typeface="Georgia"/>
                <a:ea typeface="WenQuanYi Micro Hei"/>
                <a:cs typeface="WenQuanYi Micro He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1143000"/>
            <a:ext cx="2011680" cy="9601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1B3555"/>
                </a:solidFill>
                <a:latin typeface="Georgia"/>
                <a:ea typeface="WenQuanYi Micro Hei"/>
                <a:cs typeface="WenQuanYi Micro Hei"/>
              </a:rPr>
              <a:t>签法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1143000"/>
            <a:ext cx="7772400" cy="9601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8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建议 B：先 90 天。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286000"/>
            <a:ext cx="1051560" cy="960120"/>
          </a:xfrm>
          <a:prstGeom prst="roundRect">
            <a:avLst/>
          </a:prstGeom>
          <a:solidFill>
            <a:srgbClr val="B78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rIns="101600" wrap="square"/>
          <a:lstStyle/>
          <a:p>
            <a:pPr algn="ctr"/>
            <a:r>
              <a:rPr sz="2000" b="1" i="0">
                <a:solidFill>
                  <a:srgbClr val="1B3555"/>
                </a:solidFill>
                <a:latin typeface="Georgia"/>
                <a:ea typeface="WenQuanYi Micro Hei"/>
                <a:cs typeface="WenQuanYi Micro 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2286000"/>
            <a:ext cx="2011680" cy="9601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1B3555"/>
                </a:solidFill>
                <a:latin typeface="Georgia"/>
                <a:ea typeface="WenQuanYi Micro Hei"/>
                <a:cs typeface="WenQuanYi Micro Hei"/>
              </a:rPr>
              <a:t>收费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2286000"/>
            <a:ext cx="7772400" cy="9601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8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包干 8 万 · 首月 100% / 锚定 150%。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429000"/>
            <a:ext cx="1051560" cy="960120"/>
          </a:xfrm>
          <a:prstGeom prst="roundRect">
            <a:avLst/>
          </a:prstGeom>
          <a:solidFill>
            <a:srgbClr val="B78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rIns="101600" wrap="square"/>
          <a:lstStyle/>
          <a:p>
            <a:pPr algn="ctr"/>
            <a:r>
              <a:rPr sz="2000" b="1" i="0">
                <a:solidFill>
                  <a:srgbClr val="1B3555"/>
                </a:solidFill>
                <a:latin typeface="Georgia"/>
                <a:ea typeface="WenQuanYi Micro Hei"/>
                <a:cs typeface="WenQuanYi Micro He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3429000"/>
            <a:ext cx="2011680" cy="9601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1B3555"/>
                </a:solidFill>
                <a:latin typeface="Georgia"/>
                <a:ea typeface="WenQuanYi Micro Hei"/>
                <a:cs typeface="WenQuanYi Micro Hei"/>
              </a:rPr>
              <a:t>对接人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3429000"/>
            <a:ext cx="7772400" cy="9601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8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唯一商务对接人 + 红区谁拍板。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572000"/>
            <a:ext cx="1051560" cy="960120"/>
          </a:xfrm>
          <a:prstGeom prst="roundRect">
            <a:avLst/>
          </a:prstGeom>
          <a:solidFill>
            <a:srgbClr val="B78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rIns="101600" wrap="square"/>
          <a:lstStyle/>
          <a:p>
            <a:pPr algn="ctr"/>
            <a:r>
              <a:rPr sz="2000" b="1" i="0">
                <a:solidFill>
                  <a:srgbClr val="1B3555"/>
                </a:solidFill>
                <a:latin typeface="Georgia"/>
                <a:ea typeface="WenQuanYi Micro Hei"/>
                <a:cs typeface="WenQuanYi Micro 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4572000"/>
            <a:ext cx="2011680" cy="9601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1B3555"/>
                </a:solidFill>
                <a:latin typeface="Georgia"/>
                <a:ea typeface="WenQuanYi Micro Hei"/>
                <a:cs typeface="WenQuanYi Micro Hei"/>
              </a:rPr>
              <a:t>绿区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4572000"/>
            <a:ext cx="7772400" cy="9601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800" b="0" i="0">
                <a:solidFill>
                  <a:srgbClr val="2A2D34"/>
                </a:solidFill>
                <a:latin typeface="Georgia"/>
                <a:ea typeface="WenQuanYi Micro Hei"/>
                <a:cs typeface="WenQuanYi Micro Hei"/>
              </a:rPr>
              <a:t>能否直接报价。每单都开会，节奏会断。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