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28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600" b="1" i="1">
                <a:solidFill>
                  <a:srgbClr val="B7862E"/>
                </a:solidFill>
                <a:latin typeface="Georgia"/>
                <a:ea typeface="WenQuanYi Micro Hei"/>
                <a:cs typeface="WenQuanYi Micro Hei"/>
              </a:rPr>
              <a:t>01# 研发楼 · 2026-09-03 报价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政府公关为主，招商为辅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配合把 C6 往公寓 / 酒店的路径问清楚</a:t>
            </a:r>
          </a:p>
          <a:p>
            <a:pPr algn="l"/>
            <a:r>
              <a:rPr sz="18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不保证能批 · 补差价随时同步 · 招商同步不放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5120640" cy="438912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6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启动金 15 万覆盖头 90 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5029200"/>
            <a:ext cx="5303520" cy="43891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之后 8 万 / 月 · 散 8% / 整层 12%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论证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C6 改公寓酒店：先拆开，再去问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论证的不是「已经能改」，而是「有几扇门、过几道坎、哪一道可能补差价」。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报价函配套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2 / 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43000"/>
          <a:ext cx="114300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3657600"/>
                <a:gridCol w="3657600"/>
              </a:tblGrid>
              <a:tr h="662939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形态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预判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90 天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整栋持牌酒店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低 · 多半改性质、补差大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只问规则和账，不做承诺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整栋市场化公寓 / 商住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很低 · 易被看成改住宅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点明风险，不主攻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部分楼层服务式公寓（整体持有）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低到中 · 看更新窗口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有窗口再加深，先装修不算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人才公寓 / 专家公寓（科研配套）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相对可争 · 仍不保证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主攻：不改主导功能、不分割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66294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维持研发 + 小型配套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保底；招商随时可执行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5257800"/>
            <a:ext cx="11430000" cy="82296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2920" y="5349240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静安「酒店、人才公寓」写在存量商务楼宇条款里。01# 是 C6 新建研发楼，该走园区更新这扇门，不能直接套。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五步论证 · 用请示问，不用方案压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书面批复不做保证。没有纪要和染色，才算没做完。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报价函配套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3 /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15568"/>
            <a:ext cx="640080" cy="80467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115568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读地证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115568"/>
            <a:ext cx="8046720" cy="8046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合同、图则、消防专篇。没有原文不去空谈。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75688"/>
            <a:ext cx="640080" cy="80467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075688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选对门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075688"/>
            <a:ext cx="8046720" cy="8046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园区更新，不是商务楼宇更新。M0 到不了酒店。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35808"/>
            <a:ext cx="640080" cy="80467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35808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四条请示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035808"/>
            <a:ext cx="8046720" cy="8046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入口 · 配套住宿 · 酒店是否改性质 · 与 9/30 关系。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95928"/>
            <a:ext cx="640080" cy="80467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95928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消防单列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995928"/>
            <a:ext cx="8046720" cy="8046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土地松口 ≠ 能开业。同项目不同楼可以相反。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56048"/>
            <a:ext cx="640080" cy="804672"/>
          </a:xfrm>
          <a:prstGeom prst="round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56048"/>
            <a:ext cx="2194560" cy="8046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补差单独账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956048"/>
            <a:ext cx="8046720" cy="80467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要不要补、规则、周期。数字一出立刻同步。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能配合，不保证；补差价随时说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不设获批成功费，避免报价看起来像在卖批文。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报价函配套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4 / 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577840" cy="2880360"/>
          </a:xfrm>
          <a:prstGeom prst="rect">
            <a:avLst/>
          </a:prstGeom>
          <a:solidFill>
            <a:srgbClr val="2E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我们配合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5120640" cy="1920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写请示、备材料、陪同沟通、做纪要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路径染色交给董事会表决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招商备选库和渠道同步推进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43000"/>
            <a:ext cx="5577840" cy="2880360"/>
          </a:xfrm>
          <a:prstGeom prst="rect">
            <a:avLst/>
          </a:prstGeom>
          <a:solidFill>
            <a:srgbClr val="8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63640" y="1280160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我们不保证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19"/>
            <a:ext cx="5120640" cy="1920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不保证能改酒店或市场化公寓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不保证不补地价、不保证补多少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不保证规划消防营业一定过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206240"/>
            <a:ext cx="11338560" cy="182880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972800" cy="1554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补差价是土地使用权价款，主体是业主。我们问清规则和周期，数字一经窗口或估价机构提出，立即书面同步。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减免、分期可协助准备口径，不代为承诺。估价、测绘、设计消防变更，不包在启动金里。</a:t>
            </a:r>
          </a:p>
          <a:p>
            <a:pPr algn="l"/>
            <a:r>
              <a:rPr sz="15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9 月 30 日按已批研发楼进场。政策并行，不拿滞纳金赌博。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报价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两线做在一笔启动金里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不另收公关项目费。头 90 天现金就是 15 万。招到了，15 万抵佣金。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报价函配套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5 / 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15568"/>
          <a:ext cx="114300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6126480"/>
              </a:tblGrid>
              <a:tr h="58674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项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数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说明</a:t>
                      </a:r>
                    </a:p>
                  </a:txBody>
                  <a:tcPr>
                    <a:solidFill>
                      <a:srgbClr val="1B3555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启动金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15 万 / 90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论证、请示、纪要、可决稿；同步招商备选与渠道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月度费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8 万 / 月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第 91 天起，两线继续；当月有佣金则抵扣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散户佣金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首年租金 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生效租赁才收；甲方自有未报备客户不收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整层 / 大客户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首年租金 12%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9 月 2 日见面口径</a:t>
                      </a:r>
                    </a:p>
                  </a:txBody>
                  <a:tcPr>
                    <a:solidFill>
                      <a:srgbClr val="F0F1F3"/>
                    </a:solidFill>
                  </a:tcPr>
                </a:tc>
              </a:tr>
              <a:tr h="5867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孵化器品牌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另计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A2D34"/>
                          </a:solidFill>
                          <a:latin typeface="Georgia"/>
                          <a:ea typeface="WenQuanYi Micro Hei"/>
                          <a:cs typeface="WenQuanYi Micro Hei"/>
                        </a:rPr>
                        <a:t>不包在 15 万内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4800600"/>
            <a:ext cx="11430000" cy="123444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招商不放弃：政策在问的同时，研发客户库照建，避免楼盖好了两边都空。无协议不代看。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常规中介约年租金 16%；我方佣金大约一半量级。中介带来的单，我方只收一半比例。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1B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2194560" cy="329184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11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请定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91440"/>
            <a:ext cx="8778240" cy="47548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  <a:ea typeface="WenQuanYi Micro Hei"/>
                <a:cs typeface="WenQuanYi Micro Hei"/>
              </a:rPr>
              <a:t>请确认这四项，我们按函推进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475488"/>
            <a:ext cx="87782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0" i="0">
                <a:solidFill>
                  <a:srgbClr val="F0F1F3"/>
                </a:solidFill>
                <a:latin typeface="Georgia"/>
                <a:ea typeface="WenQuanYi Micro Hei"/>
                <a:cs typeface="WenQuanYi Micro Hei"/>
              </a:rPr>
              <a:t>纸质报价函有效期 15 个工作日。正式权利义务以盖章协议为准。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冠松 01# 楼 · 报价函配套 · 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Georgia"/>
                <a:ea typeface="WenQuanYi Micro Hei"/>
                <a:cs typeface="WenQuanYi Micro Hei"/>
              </a:rPr>
              <a:t>6 /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43000"/>
            <a:ext cx="1051560" cy="96012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14300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费用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143000"/>
            <a:ext cx="786384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15 万 / 90 天 · 之后 8 万/月 · 散 8% · 整层 12%。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051560" cy="96012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8600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86000"/>
            <a:ext cx="786384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配合推进，不保证获批；补差价随时沟通，业主承担并决策。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29000"/>
            <a:ext cx="1051560" cy="96012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2900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主攻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429000"/>
            <a:ext cx="786384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配套住宿论证为主；整栋酒店只问；招商同步不放。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051560" cy="960120"/>
          </a:xfrm>
          <a:prstGeom prst="roundRect">
            <a:avLst/>
          </a:prstGeom>
          <a:solidFill>
            <a:srgbClr val="B7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wrap="square"/>
          <a:lstStyle/>
          <a:p>
            <a:pPr algn="ctr"/>
            <a:r>
              <a:rPr sz="20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57200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1B3555"/>
                </a:solidFill>
                <a:latin typeface="Georgia"/>
                <a:ea typeface="WenQuanYi Micro Hei"/>
                <a:cs typeface="WenQuanYi Micro Hei"/>
              </a:rPr>
              <a:t>材料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572000"/>
            <a:ext cx="7863840" cy="960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0" i="0">
                <a:solidFill>
                  <a:srgbClr val="2A2D34"/>
                </a:solidFill>
                <a:latin typeface="Georgia"/>
                <a:ea typeface="WenQuanYi Micro Hei"/>
                <a:cs typeface="WenQuanYi Micro Hei"/>
              </a:rPr>
              <a:t>3 个工作日内土地证 + 出让合同用途全文；指定出面人。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