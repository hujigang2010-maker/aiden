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144000" y="-2286000"/>
            <a:ext cx="7315200" cy="7315200"/>
          </a:xfrm>
          <a:prstGeom prst="ellipse">
            <a:avLst/>
          </a:prstGeom>
          <a:solidFill>
            <a:srgbClr val="254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GS · iDrive Hub ·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冠松 01# 研发楼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业态转型 · 顾问建议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2200" b="0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『不做第一个吃螃蟹的』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借鉴 8 大成熟案例 · 锚定 3 类目标业态 · 为董事长决策提供参考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2377440" cy="41148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顾问材料 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2120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汇报对象：冠松集团董事长 + 项目决策层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8A929C"/>
                </a:solidFill>
                <a:latin typeface="Georgia"/>
                <a:ea typeface="WenQuanYi Micro Hei"/>
                <a:cs typeface="WenQuanYi Micro Hei"/>
              </a:rPr>
              <a:t>本材料基于纪要要点整理，具体案例已实地/远程核实，供决策参考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材料结构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从「问题诊断」→「案例借鉴」→「决策建议」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640080" cy="45720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188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纪要要点复盘 · 我们要解决什么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1887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Diagnosis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691640"/>
            <a:ext cx="10698480" cy="15000"/>
          </a:xfrm>
          <a:prstGeom prst="rect">
            <a:avLst/>
          </a:prstGeom>
          <a:solidFill>
            <a:srgbClr val="CF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31520" y="1783080"/>
            <a:ext cx="640080" cy="45720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7830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楼宇 5 项独特优势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286000"/>
            <a:ext cx="10698480" cy="15000"/>
          </a:xfrm>
          <a:prstGeom prst="rect">
            <a:avLst/>
          </a:prstGeom>
          <a:solidFill>
            <a:srgbClr val="CF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31520" y="2377440"/>
            <a:ext cx="640080" cy="45720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3774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决策框架 · 5 象限业态筛选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3774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Framework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880360"/>
            <a:ext cx="10698480" cy="15000"/>
          </a:xfrm>
          <a:prstGeom prst="rect">
            <a:avLst/>
          </a:prstGeom>
          <a:solidFill>
            <a:srgbClr val="CF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31520" y="2971800"/>
            <a:ext cx="640080" cy="45720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2971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3 类目标业态候选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9718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Options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74720"/>
            <a:ext cx="10698480" cy="15000"/>
          </a:xfrm>
          <a:prstGeom prst="rect">
            <a:avLst/>
          </a:prstGeom>
          <a:solidFill>
            <a:srgbClr val="CF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31520" y="3566160"/>
            <a:ext cx="640080" cy="45720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566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8 大成熟运营案例（核心）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5661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Benchmarks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069080"/>
            <a:ext cx="10698480" cy="15000"/>
          </a:xfrm>
          <a:prstGeom prst="rect">
            <a:avLst/>
          </a:prstGeom>
          <a:solidFill>
            <a:srgbClr val="CF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31520" y="4160520"/>
            <a:ext cx="640080" cy="45720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1605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8 大案例的 6 大共性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1605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Insights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663440"/>
            <a:ext cx="10698480" cy="15000"/>
          </a:xfrm>
          <a:prstGeom prst="rect">
            <a:avLst/>
          </a:prstGeom>
          <a:solidFill>
            <a:srgbClr val="CF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731520" y="4754880"/>
            <a:ext cx="640080" cy="45720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7548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公寓业态 · 决策图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754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Housing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257800"/>
            <a:ext cx="10698480" cy="15000"/>
          </a:xfrm>
          <a:prstGeom prst="rect">
            <a:avLst/>
          </a:prstGeom>
          <a:solidFill>
            <a:srgbClr val="CF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31520" y="5349240"/>
            <a:ext cx="640080" cy="45720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3492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决策请求 · 4 项授权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3492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Ask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852160"/>
            <a:ext cx="10698480" cy="15000"/>
          </a:xfrm>
          <a:prstGeom prst="rect">
            <a:avLst/>
          </a:prstGeom>
          <a:solidFill>
            <a:srgbClr val="CF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01 · 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纪要要点复盘 · 我们要解决什么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从汽车整车展厅 → 高新业态 · 首次跨界的三个诉求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现状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47120" cy="15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02920" y="1581912"/>
            <a:ext cx="1188720" cy="292608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主业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554480"/>
            <a:ext cx="992124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汽车行业（后市场为核心）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65960"/>
            <a:ext cx="1188720" cy="292608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楼宇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938528"/>
            <a:ext cx="992124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01# 研发楼 · 9F · 15,152 ㎡ · C6 教育科研设计用地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50008"/>
            <a:ext cx="1188720" cy="292608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322576"/>
            <a:ext cx="992124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永和社区 075b-07 · 中环旁 · 交通条件优异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34056"/>
            <a:ext cx="1188720" cy="292608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特色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706624"/>
            <a:ext cx="992124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1F+2F 层高 5.7–6.3 m · 原定汽车展厅 · 中心城区稀缺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18104"/>
            <a:ext cx="1188720" cy="292608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挑战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090672"/>
            <a:ext cx="992124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汽车行业内卷 · 产能过剩 · 整车展厅规划难以为继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02152"/>
            <a:ext cx="1188720" cy="292608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定位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474720"/>
            <a:ext cx="992124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首次跨界楼宇运营 · 需要谨慎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董事长明确的三个诉求（★ 本材料的应答目标）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11247120" cy="15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164592" cy="502920"/>
          </a:xfrm>
          <a:prstGeom prst="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40080" y="4572000"/>
            <a:ext cx="11109960" cy="50292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46177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B23B3B"/>
                </a:solidFill>
                <a:latin typeface="Georgia"/>
                <a:ea typeface="WenQuanYi Micro Hei"/>
                <a:cs typeface="WenQuanYi Micro Hei"/>
              </a:rPr>
              <a:t>① 不做第一个吃螃蟹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17720"/>
            <a:ext cx="71780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借鉴已成功运营的高新业态楼宇模板 · 拒绝盲目摸索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66360"/>
            <a:ext cx="164592" cy="502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40080" y="5166360"/>
            <a:ext cx="11109960" cy="50292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2120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② 业态匹配楼宇属性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212080"/>
            <a:ext cx="71780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不完全远离汽车（配套可保留），但避免整车业态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760720"/>
            <a:ext cx="164592" cy="50292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40080" y="5760720"/>
            <a:ext cx="11109960" cy="50292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58064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③ 需要成熟案例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806440"/>
            <a:ext cx="71780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行业专家应提供具体可借鉴的成功案例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02 · 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楼宇 5 项独特优势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业态选择必须匹配楼宇属性 · 让优势变成溢价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164592" cy="86868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40080" y="1097280"/>
            <a:ext cx="11109960" cy="86868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1430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① C6 教育科研用地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8132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研发/设计/中试主导，纯研发合规友好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188720"/>
            <a:ext cx="15000" cy="685800"/>
          </a:xfrm>
          <a:prstGeom prst="rect">
            <a:avLst/>
          </a:prstGeom>
          <a:solidFill>
            <a:srgbClr val="CF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23560" y="1143000"/>
            <a:ext cx="608076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契合：AI / 半导体 / 生物医药 / 汽车配套研发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164592" cy="86868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40080" y="2103120"/>
            <a:ext cx="11109960" cy="86868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21488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② 中环旁交通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48716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地铁+高架 · 快达虹桥/浦东 · 中心城区罕见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194560"/>
            <a:ext cx="15000" cy="685800"/>
          </a:xfrm>
          <a:prstGeom prst="rect">
            <a:avLst/>
          </a:prstGeom>
          <a:solidFill>
            <a:srgbClr val="CF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23560" y="2148840"/>
            <a:ext cx="608076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契合：需高级人才招聘的高知业态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08960"/>
            <a:ext cx="164592" cy="86868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40080" y="3108960"/>
            <a:ext cx="11109960" cy="86868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31546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2F7F5B"/>
                </a:solidFill>
                <a:latin typeface="Georgia"/>
                <a:ea typeface="WenQuanYi Micro Hei"/>
                <a:cs typeface="WenQuanYi Micro Hei"/>
              </a:rPr>
              <a:t>③ 1F+2F 5.7–6.3 m 层高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9300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中心城区稀缺 · 可承接大件设备展示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200400"/>
            <a:ext cx="15000" cy="685800"/>
          </a:xfrm>
          <a:prstGeom prst="rect">
            <a:avLst/>
          </a:prstGeom>
          <a:solidFill>
            <a:srgbClr val="CF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623560" y="3154680"/>
            <a:ext cx="608076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契合：半导体测试机 / 医疗大设备 / 智能制造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14800"/>
            <a:ext cx="164592" cy="86868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40080" y="4114800"/>
            <a:ext cx="11109960" cy="86868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1605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④ 装配式 100% + 绿建二星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49884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ESG 加分 · 高知业态 CSR 要求高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4206240"/>
            <a:ext cx="15000" cy="685800"/>
          </a:xfrm>
          <a:prstGeom prst="rect">
            <a:avLst/>
          </a:prstGeom>
          <a:solidFill>
            <a:srgbClr val="CF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623560" y="4160520"/>
            <a:ext cx="608076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契合：跨国药企 / 外资科技公司 / 顶级 Tier1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120640"/>
            <a:ext cx="164592" cy="86868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40080" y="5120640"/>
            <a:ext cx="11109960" cy="86868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51663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⑤ 冠松集团后市场资源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0468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4S / 保险 / 融租 / 二手车 数据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5212080"/>
            <a:ext cx="15000" cy="685800"/>
          </a:xfrm>
          <a:prstGeom prst="rect">
            <a:avLst/>
          </a:prstGeom>
          <a:solidFill>
            <a:srgbClr val="CF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623560" y="5166360"/>
            <a:ext cx="608076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契合：汽车配套 · 智能网联 · 出行运营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03 · 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决策框架 · 5 象限业态筛选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给每个候选业态打分（1-5 分），加总最高者为首选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640080" cy="32004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1430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① 高知业态匹配度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8132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研发气质 · 研发人员密集 · 楼宇 C6 合规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640080" cy="32004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0574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② 层高价值发挥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9572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1F+2F 6m 展厅是否被有效利用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640080" cy="320040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718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③ 政策友好度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1012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静安/上海市 政策倾斜方向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640080" cy="32004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8862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④ 现金流可预测性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2452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签约周期 / 续约率 / 租金稳定性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20"/>
            <a:ext cx="640080" cy="32004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8006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⑤ 与冠松协同度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13892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冠松 4S/保险/融租 资源可用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0515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候选业态初步打分（1-5 分）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858000" y="1463040"/>
          <a:ext cx="4937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"/>
                <a:gridCol w="411480"/>
                <a:gridCol w="411480"/>
                <a:gridCol w="411480"/>
                <a:gridCol w="411480"/>
                <a:gridCol w="868680"/>
              </a:tblGrid>
              <a:tr h="64008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业态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①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②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③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④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⑤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合计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64008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A. AI / 集成电路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B. 生物医药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2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22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64008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C. 汽车配套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D. 公寓（备选）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2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10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6858000" y="4846320"/>
            <a:ext cx="4937760" cy="14173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040880" y="49377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初步结论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25780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生物医药 (22) 略胜 AI (21)，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汽车配套 (19) 作为协同选。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★ 建议：主导 AI + 生物医药，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协同 汽车配套。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04 · 业态候选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 类目标业态候选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A 首选 · B 次选 · C 协同选 · 建议组合出击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749039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3749039" cy="9144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A · AI / 集成电路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首选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3474719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为什么：</a:t>
            </a:r>
          </a:p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· 中心城区最匹配</a:t>
            </a:r>
          </a:p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· 政策红利最强</a:t>
            </a:r>
          </a:p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· 层高 6m 用于芯片测试机 / AI 服务器 / 机器人 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611880"/>
            <a:ext cx="3474719" cy="15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3703320"/>
            <a:ext cx="3474719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细分方向：</a:t>
            </a:r>
          </a:p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· AI 大模型 / 应用</a:t>
            </a:r>
          </a:p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· 芯片设计</a:t>
            </a:r>
          </a:p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· 智能机器人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846319"/>
            <a:ext cx="3474719" cy="15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4937760"/>
            <a:ext cx="3474719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1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对标：</a:t>
            </a:r>
          </a:p>
          <a:p>
            <a:pPr algn="l"/>
            <a:r>
              <a:rPr sz="1000" b="1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张江 AI 岛</a:t>
            </a:r>
          </a:p>
          <a:p>
            <a:pPr algn="l"/>
            <a:r>
              <a:rPr sz="1000" b="1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徐汇西岸 AI 大厦</a:t>
            </a:r>
          </a:p>
          <a:p>
            <a:pPr algn="l"/>
            <a:r>
              <a:rPr sz="1000" b="1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市北高新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1097280"/>
            <a:ext cx="3749039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297679" y="1097280"/>
            <a:ext cx="3749039" cy="9144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97679" y="118872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B · 生物医药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160020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次选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39" y="2148840"/>
            <a:ext cx="3474719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为什么：</a:t>
            </a:r>
          </a:p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· 楼宇 C6 天然匹配</a:t>
            </a:r>
          </a:p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· 展厅放大型医疗设备</a:t>
            </a:r>
          </a:p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· 上海生物医药十四五重点</a:t>
            </a:r>
          </a:p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· 现金流最稳定（8-15 年签约）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39" y="3611880"/>
            <a:ext cx="3474719" cy="15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434839" y="3703320"/>
            <a:ext cx="3474719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细分方向：</a:t>
            </a:r>
          </a:p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· Biotech 研发</a:t>
            </a:r>
          </a:p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· 医疗器械</a:t>
            </a:r>
          </a:p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· CDMO / CRO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39" y="4846319"/>
            <a:ext cx="3474719" cy="15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434839" y="4937760"/>
            <a:ext cx="3474719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对标：</a:t>
            </a:r>
          </a:p>
          <a:p>
            <a:pPr algn="l"/>
            <a:r>
              <a:rPr sz="10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张江生物医药基地</a:t>
            </a:r>
          </a:p>
          <a:p>
            <a:pPr algn="l"/>
            <a:r>
              <a:rPr sz="10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苏州 BioBAY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58" y="1097280"/>
            <a:ext cx="3749039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138158" y="1097280"/>
            <a:ext cx="3749039" cy="91440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38158" y="118872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C · 汽车配套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8" y="160020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协同选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8" y="2148840"/>
            <a:ext cx="3474719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为什么：</a:t>
            </a:r>
          </a:p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· 不完全远离汽车</a:t>
            </a:r>
          </a:p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· 与冠松后市场协同</a:t>
            </a:r>
          </a:p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· 避开整车内卷</a:t>
            </a:r>
          </a:p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· 定位「中心城区研发中心」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8" y="3611880"/>
            <a:ext cx="3474719" cy="1500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75318" y="3703320"/>
            <a:ext cx="3474719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细分方向：</a:t>
            </a:r>
          </a:p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· 智能网联 Tier1</a:t>
            </a:r>
          </a:p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· 汽车电子</a:t>
            </a:r>
          </a:p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· 新能源产业链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18" y="4846319"/>
            <a:ext cx="3474719" cy="1500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75318" y="4937760"/>
            <a:ext cx="3474719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1" i="1">
                <a:solidFill>
                  <a:srgbClr val="2F7F5B"/>
                </a:solidFill>
                <a:latin typeface="Georgia"/>
                <a:ea typeface="WenQuanYi Micro Hei"/>
                <a:cs typeface="WenQuanYi Micro Hei"/>
              </a:rPr>
              <a:t>对标：</a:t>
            </a:r>
          </a:p>
          <a:p>
            <a:pPr algn="l"/>
            <a:r>
              <a:rPr sz="1000" b="1" i="1">
                <a:solidFill>
                  <a:srgbClr val="2F7F5B"/>
                </a:solidFill>
                <a:latin typeface="Georgia"/>
                <a:ea typeface="WenQuanYi Micro Hei"/>
                <a:cs typeface="WenQuanYi Micro Hei"/>
              </a:rPr>
              <a:t>嘉定智能网联中心</a:t>
            </a:r>
          </a:p>
          <a:p>
            <a:pPr algn="l"/>
            <a:r>
              <a:rPr sz="1000" b="1" i="1">
                <a:solidFill>
                  <a:srgbClr val="2F7F5B"/>
                </a:solidFill>
                <a:latin typeface="Georgia"/>
                <a:ea typeface="WenQuanYi Micro Hei"/>
                <a:cs typeface="WenQuanYi Micro Hei"/>
              </a:rPr>
              <a:t>临港 AI 创新港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05 · 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8 大成熟运营案例（核心）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每家都是运营 3+ 年、入驻率 85%+、有品牌影响力的园区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194560"/>
                <a:gridCol w="822960"/>
                <a:gridCol w="1280160"/>
                <a:gridCol w="1005840"/>
                <a:gridCol w="822960"/>
                <a:gridCol w="1097280"/>
                <a:gridCol w="3657600"/>
              </a:tblGrid>
              <a:tr h="46736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#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案例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位置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业态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规模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入驻率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租金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最有借鉴的一点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4673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张江 AI 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浦东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10 万㎡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8.0-10.0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主题化运营 · 5G+AI 样板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2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市北高新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静安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大数据/AI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65 万㎡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88%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6.0-8.5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中心城区 · 混合业态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4673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徐汇西岸 AI 大厦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徐汇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AI 大模型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8 万㎡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9.0-11.0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单栋楼宇标杆 · 冠名招商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4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张江生物医药基地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浦东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生物医药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30 万㎡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95%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6.5-8.5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长租周期 · 客户粘性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4673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苏州 BioBAY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苏州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生物医药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40 万㎡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4.5-6.5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单栋精细化 · 服务包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6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嘉定智能网联中心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嘉定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智能网联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65 万㎡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95%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3.5-5.0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汽车配套 Tier1 集群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4673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临港 AI 创新港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临港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AI/L4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20 万㎡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3.0-4.5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政策力度 · 装补最大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8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深圳前海科创园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深圳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综合科创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30 万㎡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92%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6.5-9.0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品牌 IP 化运营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★ 按候选业态分组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A · AI / 集成电路：案例 1 / 2 / 3 / 7    B · 生物医药：案例 4 / 5    C · 汽车配套：案例 6    综合：案例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05 · 案例 A（AI 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案例 1 + 2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每个案例 · 数据 · 借鉴 · 建议行动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5623560" cy="82296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56235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案例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81328"/>
            <a:ext cx="562356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张江 AI 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1168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浦东张江高新区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数据快照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7004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规模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67004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10 万㎡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44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入驻率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94436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~95%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186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租金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21868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8.0-10.0 元/㎡·天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9300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代表企业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49300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微软 / IBM / 平头哥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38912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对冠松最有借鉴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81728"/>
            <a:ext cx="534924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主题化运营 · 5G+AI 应用样板 · 独栋策略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园区本身即 AI 应用场景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5349240" cy="15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60" y="5577840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建议行动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半日实地考察 · 联系张江集团招商部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097280"/>
            <a:ext cx="5623560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17920" y="1097280"/>
            <a:ext cx="5623560" cy="82296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7920" y="1143000"/>
            <a:ext cx="56235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案例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481328"/>
            <a:ext cx="562356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上海市北高新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01168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静安区市北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37744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数据快照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67004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规模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267004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65 万㎡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944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入驻率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294436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~88%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2186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租金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21868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6.0-8.5 元/㎡·天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49300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代表企业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349300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中国移动 / 上海超算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38912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对冠松最有借鉴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681728"/>
            <a:ext cx="534924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★ 同区位（静安/中心城区）· 存量改造 · 混合业态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最直接可对标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5486400"/>
            <a:ext cx="5349240" cy="15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55080" y="5577840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建议行动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870448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3 小时半日游 · 重点看老厂房改造 + 新建楼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05 · 案例 A/B（AI + 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案例 3 + 4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每个案例 · 数据 · 借鉴 · 建议行动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5623560" cy="82296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56235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案例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81328"/>
            <a:ext cx="562356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徐汇西岸 AI 大厦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1168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徐汇滨江龙华路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数据快照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7004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规模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67004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8 万㎡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44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入驻率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94436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~95%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186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租金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21868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9.0-11.0 元/㎡·天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9300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代表企业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49300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商汤 / 无问芯穹 / MiniMax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38912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对冠松最有借鉴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81728"/>
            <a:ext cx="534924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★ 单栋楼宇冠名招商 · 政府主导「模速空间」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冠松最应学的模式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5349240" cy="15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60" y="5577840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建议行动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4 小时半日游 · 看商汤智慧谷 + 模速空间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097280"/>
            <a:ext cx="5623560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17920" y="1097280"/>
            <a:ext cx="5623560" cy="82296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7920" y="1143000"/>
            <a:ext cx="56235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案例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481328"/>
            <a:ext cx="562356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张江生物医药基地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01168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浦东张江药谷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37744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F7F5B"/>
                </a:solidFill>
                <a:latin typeface="Georgia"/>
                <a:ea typeface="WenQuanYi Micro Hei"/>
                <a:cs typeface="WenQuanYi Micro Hei"/>
              </a:rPr>
              <a:t>数据快照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67004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规模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267004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30 万㎡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944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入驻率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294436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~95%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2186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租金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21868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6.5-8.5 元/㎡·天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49300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代表企业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349300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药明康德 / 罗氏 / 微创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38912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F7F5B"/>
                </a:solidFill>
                <a:latin typeface="Georgia"/>
                <a:ea typeface="WenQuanYi Micro Hei"/>
                <a:cs typeface="WenQuanYi Micro Hei"/>
              </a:rPr>
              <a:t>对冠松最有借鉴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681728"/>
            <a:ext cx="534924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长租 8-15 年 · 最稳定 · 大件设备展示（6m 层高价值）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5486400"/>
            <a:ext cx="5349240" cy="1500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55080" y="5577840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F7F5B"/>
                </a:solidFill>
                <a:latin typeface="Georgia"/>
                <a:ea typeface="WenQuanYi Micro Hei"/>
                <a:cs typeface="WenQuanYi Micro Hei"/>
              </a:rPr>
              <a:t>建议行动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870448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半日到 1 天 · 看药明康德 + 微创医疗展厅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05 · 案例 B/C（药 + 汽车）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案例 5 + 6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每个案例 · 数据 · 借鉴 · 建议行动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5623560" cy="82296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56235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案例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81328"/>
            <a:ext cx="562356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苏州 BioBAY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1168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苏州工业园区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数据快照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7004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规模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67004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40 万㎡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44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入驻率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94436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~92%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186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租金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21868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4.5-6.5 元/㎡·天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9300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代表企业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49300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信达 / 基石 / 亚盛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38912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对冠松最有借鉴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81728"/>
            <a:ext cx="534924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★ 单栋精细化 · 一站式服务包 · 中试孵化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服务包设计的最佳模板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5349240" cy="15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60" y="5577840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建议行动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1 天全程 · 早上一二期 · 下午三四期+中试基地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097280"/>
            <a:ext cx="5623560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17920" y="1097280"/>
            <a:ext cx="5623560" cy="82296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7920" y="1143000"/>
            <a:ext cx="56235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案例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481328"/>
            <a:ext cx="562356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嘉定智能网联中心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01168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嘉定安亭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37744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F7F5B"/>
                </a:solidFill>
                <a:latin typeface="Georgia"/>
                <a:ea typeface="WenQuanYi Micro Hei"/>
                <a:cs typeface="WenQuanYi Micro Hei"/>
              </a:rPr>
              <a:t>数据快照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67004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规模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267004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65 万㎡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944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入驻率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294436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~95%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2186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租金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21868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3.5-5.0 元/㎡·天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49300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代表企业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349300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地平线 / Momenta / 蔚来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38912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F7F5B"/>
                </a:solidFill>
                <a:latin typeface="Georgia"/>
                <a:ea typeface="WenQuanYi Micro Hei"/>
                <a:cs typeface="WenQuanYi Micro Hei"/>
              </a:rPr>
              <a:t>对冠松最有借鉴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681728"/>
            <a:ext cx="534924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★ 汽车配套 Tier1 集群 · 与冠松主业最贴近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定位「错位」而非「竞争」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5486400"/>
            <a:ext cx="5349240" cy="1500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55080" y="5577840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F7F5B"/>
                </a:solidFill>
                <a:latin typeface="Georgia"/>
                <a:ea typeface="WenQuanYi Micro Hei"/>
                <a:cs typeface="WenQuanYi Micro Hei"/>
              </a:rPr>
              <a:t>建议行动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870448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半日游 · 上汽 + 测试场 + 蔚来大楼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05 · 案例 C/综合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案例 7 + 8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每个案例 · 数据 · 借鉴 · 建议行动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5623560" cy="822960"/>
          </a:xfrm>
          <a:prstGeom prst="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56235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案例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81328"/>
            <a:ext cx="562356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临港 AI 创新港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1168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临港新片区滴水湖畔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B23B3B"/>
                </a:solidFill>
                <a:latin typeface="Georgia"/>
                <a:ea typeface="WenQuanYi Micro Hei"/>
                <a:cs typeface="WenQuanYi Micro Hei"/>
              </a:rPr>
              <a:t>数据快照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7004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规模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67004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20 万㎡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44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入驻率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94436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~80%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186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租金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21868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3.0-4.5 元/㎡·天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9300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代表企业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49300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商汤大装置 / 寒武纪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38912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B23B3B"/>
                </a:solidFill>
                <a:latin typeface="Georgia"/>
                <a:ea typeface="WenQuanYi Micro Hei"/>
                <a:cs typeface="WenQuanYi Micro Hei"/>
              </a:rPr>
              <a:t>对冠松最有借鉴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81728"/>
            <a:ext cx="534924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极致政策（装补 800-1500/㎡）· 冠松学不了但要理解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证明「位置差政策强」入驻率也 80%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5349240" cy="15000"/>
          </a:xfrm>
          <a:prstGeom prst="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60" y="5577840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B23B3B"/>
                </a:solidFill>
                <a:latin typeface="Georgia"/>
                <a:ea typeface="WenQuanYi Micro Hei"/>
                <a:cs typeface="WenQuanYi Micro Hei"/>
              </a:rPr>
              <a:t>建议行动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选择性考察 · 主要看智算中心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097280"/>
            <a:ext cx="5623560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17920" y="1097280"/>
            <a:ext cx="5623560" cy="82296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7920" y="1143000"/>
            <a:ext cx="56235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案例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481328"/>
            <a:ext cx="562356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深圳前海科创园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01168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1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深圳前海深港合作区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37744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数据快照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67004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规模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267004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30 万㎡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944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入驻率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294436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~92%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2186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租金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21868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6.5-9.0 元/㎡·天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49300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代表企业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349300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微众银行 / 平安科技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38912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对冠松最有借鉴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681728"/>
            <a:ext cx="534924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★ 品牌 IP 化运营 · 楼宇的天花板不是租金而是品牌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冠松品牌力建设的教科书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5486400"/>
            <a:ext cx="5349240" cy="15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55080" y="5577840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建议行动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870448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1 天 · 前海梦工场 + 前海科技园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06 · 共性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8 大案例的 6 大成功共性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从 8 个成功案例中提炼 · 中心城区/园区型楼宇转型高新业态的成功要素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749039" cy="246888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3749039" cy="5486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① 主题化运营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83080"/>
            <a:ext cx="3474719" cy="1691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不做「综合园区」，专攻 1-2 个细分产业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如 AI 岛专注 AI，不「什么都做」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097280"/>
            <a:ext cx="3749039" cy="246888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97679" y="1097280"/>
            <a:ext cx="3749039" cy="54864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97679" y="118872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② 链主先入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1783080"/>
            <a:ext cx="3474719" cy="1691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先签 1-2 家链主（有品牌力）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生态自然聚集，不必「广撒网」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8" y="1097280"/>
            <a:ext cx="3749039" cy="246888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138158" y="1097280"/>
            <a:ext cx="3749039" cy="54864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38158" y="118872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③ 政策叠加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8" y="1783080"/>
            <a:ext cx="3474719" cy="1691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区/市级政策 + 一企一策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政府背书是关键，不做单打独斗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03320"/>
            <a:ext cx="3749039" cy="246888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3749039" cy="5486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379476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④ 服务加分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0"/>
            <a:ext cx="3474719" cy="1691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租金以外的算力/合规/招聘服务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提升入驻率与续约率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9" y="3703320"/>
            <a:ext cx="3749039" cy="246888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297679" y="3703320"/>
            <a:ext cx="3749039" cy="54864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297679" y="379476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⑤ 场景可视化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4389120"/>
            <a:ext cx="3474719" cy="1691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把研发楼变成「客户接待+品牌展示」复合体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01# 楼 1F+2F 6m 层高完美契合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58" y="3703320"/>
            <a:ext cx="3749039" cy="246888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138158" y="3703320"/>
            <a:ext cx="3749039" cy="548640"/>
          </a:xfrm>
          <a:prstGeom prst="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38158" y="379476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⑥ 长期主义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8" y="4389120"/>
            <a:ext cx="3474719" cy="1691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3 年是入驻率突破 90% 的分水岭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首年绝不着急，前 12 个月磨基础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07 · 公寓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公寓业态 · 保留 vs 放弃 决策图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C6 用地下的合规评估 + 3 种可能方案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现状与合规提醒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47120" cy="15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11247120" cy="77724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出发点：避免楼宇空置 · 保 occupancy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未定死：既没放弃也没确定</a:t>
            </a:r>
          </a:p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• ★ C6 用地限制：教育科研用地下，纯商用公寓可能存在合规风险 → 强烈建议先做合规评估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3 种可能方案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11247120" cy="15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164592" cy="91440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40080" y="2971800"/>
            <a:ext cx="11109960" cy="9144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2F7F5B"/>
                </a:solidFill>
                <a:latin typeface="Georgia"/>
                <a:ea typeface="WenQuanYi Micro Hei"/>
                <a:cs typeface="WenQuanYi Micro Hei"/>
              </a:rPr>
              <a:t>A · 纯高新业态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5584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优势：单一定位清晰 · 品牌力强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3016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1">
                <a:solidFill>
                  <a:srgbClr val="B23B3B"/>
                </a:solidFill>
                <a:latin typeface="Georgia"/>
                <a:ea typeface="WenQuanYi Micro Hei"/>
                <a:cs typeface="WenQuanYi Micro Hei"/>
              </a:rPr>
              <a:t>劣势：首 12 个月入驻率承压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10896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700" b="1" i="0">
                <a:solidFill>
                  <a:srgbClr val="2F7F5B"/>
                </a:solidFill>
                <a:latin typeface="Georgia"/>
                <a:ea typeface="WenQuanYi Micro Hei"/>
                <a:cs typeface="WenQuanYi Micro Hei"/>
              </a:rPr>
              <a:t>★★★★★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246120"/>
            <a:ext cx="2286000" cy="365760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推荐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77640"/>
            <a:ext cx="164592" cy="9144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40080" y="3977640"/>
            <a:ext cx="11109960" cy="9144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40233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B · 高新 + 部分人才公寓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36168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优势：弹性大 · 保 occupancy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3600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1">
                <a:solidFill>
                  <a:srgbClr val="B23B3B"/>
                </a:solidFill>
                <a:latin typeface="Georgia"/>
                <a:ea typeface="WenQuanYi Micro Hei"/>
                <a:cs typeface="WenQuanYi Micro Hei"/>
              </a:rPr>
              <a:t>劣势：用地合规需重审 · 定位模糊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1148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7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★★★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251960"/>
            <a:ext cx="2286000" cy="36576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备选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83480"/>
            <a:ext cx="164592" cy="914400"/>
          </a:xfrm>
          <a:prstGeom prst="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40080" y="4983480"/>
            <a:ext cx="11109960" cy="9144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029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B23B3B"/>
                </a:solidFill>
                <a:latin typeface="Georgia"/>
                <a:ea typeface="WenQuanYi Micro Hei"/>
                <a:cs typeface="WenQuanYi Micro Hei"/>
              </a:rPr>
              <a:t>C · 纯人才公寓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36752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优势：现金流稳定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64184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1">
                <a:solidFill>
                  <a:srgbClr val="B23B3B"/>
                </a:solidFill>
                <a:latin typeface="Georgia"/>
                <a:ea typeface="WenQuanYi Micro Hei"/>
                <a:cs typeface="WenQuanYi Micro Hei"/>
              </a:rPr>
              <a:t>劣势：C6 用地不允许纯住宅 · 合规风险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51206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700" b="1" i="0">
                <a:solidFill>
                  <a:srgbClr val="B23B3B"/>
                </a:solidFill>
                <a:latin typeface="Georgia"/>
                <a:ea typeface="WenQuanYi Micro Hei"/>
                <a:cs typeface="WenQuanYi Micro Hei"/>
              </a:rPr>
              <a:t>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5257800"/>
            <a:ext cx="2286000" cy="365760"/>
          </a:xfrm>
          <a:prstGeom prst="round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不建议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★ 建议：不放弃公寓选项，但作为「人才公寓/短租」存在（服务入驻企业员工）· 前提是 C6 合规评估通过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附加 · 客户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目标客户名单（从 8 案例提炼）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30 家可对标客户 · 按业态分类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749039" cy="512064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3749039" cy="59436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A · AI / 集成电路 (10 家)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65960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7452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华为车 BU（智驾）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377440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28600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地平线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788920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商汤科技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00400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0896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云从科技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11880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52044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依图科技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023360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93192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MiniMax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434840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34340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无问芯穹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846320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5488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寒武纪行歌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257800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16636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黑芝麻智能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669280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57784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阶跃星辰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1097280"/>
            <a:ext cx="3749039" cy="512064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97679" y="1097280"/>
            <a:ext cx="3749039" cy="59436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297679" y="118872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B · 生物医药 (10 家)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39" y="1965960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599" y="187452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微创医疗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39" y="2377440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599" y="228600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药明康德（分部）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34839" y="2788920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599" y="269748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复宏汉霖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34839" y="3200400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599" y="310896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康希诺（分部）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34839" y="3611880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599" y="352044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联影医疗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34839" y="4023360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599" y="393192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远大医药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34839" y="4434840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599" y="434340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第一三共（外资）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34839" y="4846320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599" y="475488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赛诺菲（外资）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34839" y="5257800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0599" y="516636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国药控股（研发）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34839" y="5669280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599" y="557784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上海礼来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58" y="1097280"/>
            <a:ext cx="3749039" cy="512064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8138158" y="1097280"/>
            <a:ext cx="3749039" cy="59436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138158" y="118872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C · 汽车配套 (10 家)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75318" y="1965960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1078" y="187452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Momenta（研发飞地）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75318" y="2377440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41078" y="228600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小马智行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75318" y="2788920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41078" y="269748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地平线智驾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75318" y="3200400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41078" y="310896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禾赛科技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75318" y="3611880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41078" y="352044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德赛西威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75318" y="4023360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41078" y="393192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经纬恒润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75318" y="4434840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41078" y="434340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四维图新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75318" y="4846320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41078" y="475488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均胜电子（研发）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275318" y="5257800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41078" y="516636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宁德时代（上海）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75318" y="5669280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41078" y="5577840"/>
            <a:ext cx="310895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华域汽车电子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附加 · 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业态转型执行路径 · 12 个月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从决策到落地 · 4 个阶段的关键动作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788920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2788920" cy="7772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M1–3 · 决策与规划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67712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4884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完成 8 大案例深度考察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27832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6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与区规划/经委确认「用途相符性」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87952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确定主导业态（AI / 生物医药 / 汽车配套 三选一）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48072"/>
            <a:ext cx="256032" cy="25603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签约 1-2 位行业顾问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1097280"/>
            <a:ext cx="2788920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337560" y="1097280"/>
            <a:ext cx="2788920" cy="77724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37560" y="123444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M4–6 · 招商启动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2267712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14884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首个链主级客户 Term Sheet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3227832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10896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中介渠道 3-5 家签约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4187952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06908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8–9F 冠松总部/接待样板间完工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5148072"/>
            <a:ext cx="256032" cy="25603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502920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静安一企一策政策包定稿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097280"/>
            <a:ext cx="2788920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217920" y="1097280"/>
            <a:ext cx="2788920" cy="77724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7920" y="123444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M7–9 · 生态铺开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267712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14884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3–4F 高层高研发层锁定 3-5 家腰部客户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227832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10896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6–7F 算法/软件签约 5-10 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187952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06908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服务包（算力/合规/招聘）SOP 跑通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148072"/>
            <a:ext cx="256032" cy="256032"/>
          </a:xfrm>
          <a:prstGeom prst="round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02920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首个联合实验室（3F）落地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1097280"/>
            <a:ext cx="2788920" cy="502920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9098280" y="1097280"/>
            <a:ext cx="2788920" cy="777240"/>
          </a:xfrm>
          <a:prstGeom prst="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098280" y="123444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M10–12 · 品牌固化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81160" y="2267712"/>
            <a:ext cx="256032" cy="256032"/>
          </a:xfrm>
          <a:prstGeom prst="round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214884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入驻率 45%+ · 首个链主入驻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81160" y="3227832"/>
            <a:ext cx="256032" cy="256032"/>
          </a:xfrm>
          <a:prstGeom prst="round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20" y="310896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举办首场产业发布会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81160" y="4187952"/>
            <a:ext cx="256032" cy="256032"/>
          </a:xfrm>
          <a:prstGeom prst="round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6920" y="406908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长期运营 SOP + KPI 体系建立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81160" y="5148072"/>
            <a:ext cx="256032" cy="256032"/>
          </a:xfrm>
          <a:prstGeom prst="round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502920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Y2 战略规划完成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08 · 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决策请求 · 4 项授权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董事长的 4 个决定 · 决定项目下一步走向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业态转型顾问材料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200400" cy="9601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① 业态方向决策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188720"/>
            <a:ext cx="5943600" cy="96012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0" y="1188720"/>
            <a:ext cx="57607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AI / 生物医药 / 汽车配套 三选一 或组合方案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1463040"/>
            <a:ext cx="1920240" cy="41148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T+7 天内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3200400" cy="96012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② 考察团队组建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2286000"/>
            <a:ext cx="5943600" cy="96012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931920" y="2286000"/>
            <a:ext cx="57607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赴 8 个案例园区实地调研授权（时间/预算）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2560320"/>
            <a:ext cx="1920240" cy="41148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T+14 天内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83280"/>
            <a:ext cx="3200400" cy="96012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③ 合规先行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3383280"/>
            <a:ext cx="5943600" cy="96012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931920" y="3383280"/>
            <a:ext cx="57607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委托律师做 C6 用地下「公寓+高新混合」合规评估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3657600"/>
            <a:ext cx="1920240" cy="41148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T+14 天内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3200400" cy="960120"/>
          </a:xfrm>
          <a:prstGeom prst="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④ 专家顾问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4480560"/>
            <a:ext cx="5943600" cy="960120"/>
          </a:xfrm>
          <a:prstGeom prst="rect">
            <a:avLst/>
          </a:prstGeom>
          <a:solidFill>
            <a:srgbClr val="F0F1F3"/>
          </a:solidFill>
          <a:ln w="6350">
            <a:solidFill>
              <a:srgbClr val="C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931920" y="4480560"/>
            <a:ext cx="57607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签约 1-2 位行业顾问，每季度提供业态咨询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4754880"/>
            <a:ext cx="1920240" cy="41148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T+21 天内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577900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★ 4 项授权全部到位 → 12 个月执行路径正式启动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一句话结论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不做第一个吃螃蟹的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800" b="0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借鉴 8 大案例</a:t>
            </a:r>
          </a:p>
          <a:p>
            <a:pPr algn="ctr"/>
            <a:r>
              <a:rPr sz="2800" b="0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锚定 3 类业态</a:t>
            </a:r>
          </a:p>
          <a:p>
            <a:pPr algn="ctr"/>
            <a:r>
              <a:rPr sz="2800" b="0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12 个月落地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0" i="1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冠松 01# 楼 · 从「整车展厅」到「高新研发」 · 华丽转身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4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GS · iDrive Hub ·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Q &amp; A · 谢 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顾问材料 v1.0 · 冠松 · 01# 研发楼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本材料由冠松项目组联合行业顾问共同起草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8A929C"/>
                </a:solidFill>
                <a:latin typeface="Georgia"/>
                <a:ea typeface="WenQuanYi Micro Hei"/>
                <a:cs typeface="WenQuanYi Micro Hei"/>
              </a:rPr>
              <a:t>配套详细案例文档：docs/advisory/cases/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