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663440"/>
            <a:ext cx="12191695" cy="28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6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工作版 v1.1 · 给你继续改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01# 楼招商合作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先干 90 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包干 8 万 · 佣金跟中介同一把尺 · 招到盖章才算完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深化方向：带看照片 / 冠松供应商名录 / 闭门会名单 / 市北走看</a:t>
            </a:r>
          </a:p>
          <a:p>
            <a:pPr algn="l"/>
            <a:r>
              <a:rPr sz="14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不要改：收费页、90 天必须项（改了和协议对不上）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28600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9144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我们听懂了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47548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得到大脑：跟进招商。不是再做定位，也不是招 4S 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工作版 v1.1 · 可深化 · 收费口径勿改乱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640080" cy="96012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143000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楼要有人租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143000"/>
            <a:ext cx="71323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汽车展厅走不通。目标是生效合同，不是品牌发布会。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31720"/>
            <a:ext cx="640080" cy="96012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31720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不当小白鼠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31720"/>
            <a:ext cx="71323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同区先看市北高新。不搞全国首创。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20440"/>
            <a:ext cx="640080" cy="96012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0440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不丢掉汽车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520440"/>
            <a:ext cx="71323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不招整车 4S。配套研发、后市场可以留。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09160"/>
            <a:ext cx="640080" cy="960120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709160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先看人干活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709160"/>
            <a:ext cx="71323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90 天包干。达不到必须项，可以不转正。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28600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9144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这栋楼能讲的硬条件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47548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吸收设计实测。带看就讲这些，不讲园区梦。可补现场照片。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工作版 v1.1 · 可深化 · 收费口径勿改乱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3 / 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972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06240"/>
                <a:gridCol w="5760720"/>
              </a:tblGrid>
              <a:tr h="705394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项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数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招商时怎么用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用地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C6 教育科研设计用地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只招研发设计，不按 4S / 公寓主业态对外讲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规模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地上 15,152.75 ㎡ · 9F · 高 44.95 m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考核分母约 8,300 ㎡（1F+2F 自留）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层高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1F 5.7 / 2F 6.3 / 3F 5.7 / 4F 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3–4F 进设备；1F+2F 展示接待，不设整车展厅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落位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8–9F 总部 · 3–4F 硬科技 · 6–7F 算法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按层高和预算分，不按「链主叙事」硬塞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70539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绿建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装配式 100% · 绿建二星 · 光伏 540 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外资 / 药企 / 芯片客户的 ESG 加分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停车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108 个（3 普 + 105 机械）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如实讲，不编测试场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28600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客群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9144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招谁、不招谁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47548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吸收 8 案例的客群分类。名单下一页。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工作版 v1.1 · 可深化 · 收费口径勿改乱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4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3657600" cy="301752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3657600" cy="5029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11430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优先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3291840" cy="2103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AI / 集成电路 / 智能机器人研发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中心城区招人、要层高、要接待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143000"/>
            <a:ext cx="3657600" cy="301752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51960" y="1143000"/>
            <a:ext cx="3657600" cy="50292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51960" y="11430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可组合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0"/>
            <a:ext cx="3291840" cy="2103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生物医药研发、医疗器械研发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汽车配套：电控、传感、软件、测试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3657600" cy="301752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92440" y="1143000"/>
            <a:ext cx="3657600" cy="502920"/>
          </a:xfrm>
          <a:prstGeom prst="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92440" y="11430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不招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828800"/>
            <a:ext cx="3291840" cy="2103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整车 4S / 展厅 / 卖场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零售、教培、仓储、生产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43400"/>
            <a:ext cx="11338560" cy="16916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452628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公寓先做 C6 合规，90 天不对外承诺。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对标只提两家：市北高新（同区已跑通）、西岸 AI 大厦（单栋冠名）。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其余 6 个案例放包里，问到再掏。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28600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名单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9144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90 天种子客户（从案例里收）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47548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可深化：换成冠松 4S / 配件供应商名录，比这份更真。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工作版 v1.1 · 可深化 · 收费口径勿改乱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5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3657600" cy="493776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11480" y="1097280"/>
            <a:ext cx="3657600" cy="50292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1097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AI / 芯片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1  地平线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2  黑芝麻智能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6324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3  寒武纪行歌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033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4  商汤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434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5  MiniMax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834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6  无问芯穹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097280"/>
            <a:ext cx="3657600" cy="493776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251960" y="1097280"/>
            <a:ext cx="3657600" cy="502920"/>
          </a:xfrm>
          <a:prstGeom prst="rect">
            <a:avLst/>
          </a:prstGeom>
          <a:solidFill>
            <a:srgbClr val="2F7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51960" y="1097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汽车配套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7830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1  Momenta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231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2  禾赛科技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06324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3  德赛西威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7033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4  经纬恒润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3434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5  四维图新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9834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6  华域汽车电子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1097280"/>
            <a:ext cx="3657600" cy="493776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092440" y="1097280"/>
            <a:ext cx="3657600" cy="50292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092440" y="1097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生物医药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7830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1  联影医疗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4231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2  微创医疗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06324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3  复宏汉霖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7033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4  药明康德（分部）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3434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5  第一三共（外资）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9834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6  赛诺菲（外资）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28600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90 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9144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90 天要交什么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47548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必须项达不到，建议不转正。锚定 TS 是冲刺，不绑死。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工作版 v1.1 · 可深化 · 收费口径勿改乱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6 / 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9728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120640"/>
                <a:gridCol w="4663440"/>
              </a:tblGrid>
              <a:tr h="574765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/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必须看见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冲刺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≥ 150 家，决策人到人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200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接触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深度接触 ≥ 8 家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12 家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带看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≥ 5 场，48 小时纪要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8 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意向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有效书面意向 ≥ 3 份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意向面积 ≥ 1,500 ㎡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渠道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中介 2 家 + 首报制度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第 3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复盘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第 90 天董事长 90 分钟漏斗会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 份锚定 Term Sheet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B23B3B"/>
                </a:solidFill>
                <a:latin typeface="Georgia"/>
                <a:ea typeface="WenQuanYi Micro Hei"/>
                <a:cs typeface="WenQuanYi Micro Hei"/>
              </a:rPr>
              <a:t>出 PPT、开会、只给名单，一律不算完成。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28600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排期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9144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90 天怎么排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47548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不办 200 人发布会，不装修样板间，不跑 8 个园区。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工作版 v1.1 · 可深化 · 收费口径勿改乱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7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3657600" cy="48920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11480" y="1143000"/>
            <a:ext cx="3657600" cy="5486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" y="11430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D1–30 进场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74519"/>
            <a:ext cx="3291840" cy="3931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确认栏、钥匙图纸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一页楼书（层高/C6）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看房动线：1F→3–4F→8–9F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种子库 + 中介 2 家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周五第一份周报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143000"/>
            <a:ext cx="3657600" cy="48920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51960" y="1143000"/>
            <a:ext cx="3657600" cy="5486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51960" y="11430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D31–60 见客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74519"/>
            <a:ext cx="3291840" cy="3931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种子名单攻坚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带看 + 纪要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15 人闭门 1 场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只提市北、西岸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投促办备案，不加码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3657600" cy="48920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92440" y="1143000"/>
            <a:ext cx="3657600" cy="5486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92440" y="11430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D61–90 收口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874519"/>
            <a:ext cx="3291840" cy="3931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意向写成书面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绿区能定的定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黄区 48 小时请示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漏斗红黄灯</a:t>
            </a:r>
          </a:p>
          <a:p>
            <a:pPr algn="ctr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转正 / 再试 / 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28600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9144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怎么招（漏斗收干净）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47548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吸收中介首报、周报字段。90 天先开 2 家中介，不要五家一起烧。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工作版 v1.1 · 可深化 · 收费口径勿改乱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280160"/>
            <a:ext cx="822960" cy="82296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40280"/>
            <a:ext cx="187451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建库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1874519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种子 30 家</a:t>
            </a:r>
          </a:p>
          <a:p>
            <a:pPr algn="ctr"/>
            <a:r>
              <a:rPr sz="13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+ 冠松供应商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280160"/>
            <a:ext cx="822960" cy="82296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240280"/>
            <a:ext cx="187451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报备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743200"/>
            <a:ext cx="1874519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30 天首报</a:t>
            </a:r>
          </a:p>
          <a:p>
            <a:pPr algn="ctr"/>
            <a:r>
              <a:rPr sz="13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一客一份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280160"/>
            <a:ext cx="822960" cy="82296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240280"/>
            <a:ext cx="187451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带看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743200"/>
            <a:ext cx="1874519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空层 + 层高尺</a:t>
            </a:r>
          </a:p>
          <a:p>
            <a:pPr algn="ctr"/>
            <a:r>
              <a:rPr sz="13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不装修样板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280160"/>
            <a:ext cx="822960" cy="82296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240280"/>
            <a:ext cx="187451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报价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743200"/>
            <a:ext cx="1874519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绿区直接报</a:t>
            </a:r>
          </a:p>
          <a:p>
            <a:pPr algn="ctr"/>
            <a:r>
              <a:rPr sz="13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超线必请示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1280160"/>
            <a:ext cx="822960" cy="82296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40280"/>
            <a:ext cx="187451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书面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43200"/>
            <a:ext cx="1874519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意向 / TS</a:t>
            </a:r>
          </a:p>
          <a:p>
            <a:pPr algn="ctr"/>
            <a:r>
              <a:rPr sz="13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用途写上 C6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98480" y="1280160"/>
            <a:ext cx="822960" cy="82296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240280"/>
            <a:ext cx="187451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盖章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743200"/>
            <a:ext cx="1874519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甲方盖合同</a:t>
            </a:r>
          </a:p>
          <a:p>
            <a:pPr algn="ctr"/>
            <a:r>
              <a:rPr sz="13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盯保证金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89120"/>
            <a:ext cx="11430000" cy="160020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4526280"/>
            <a:ext cx="1106424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带看三句话：中心城区招人 · 3–4F 层高能进设备 · C6 合规做研发。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不讲「中国中心城区首个智驾总部」。那是我们编过的，和他要的相反。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每周五漏斗：新增、带看、阻塞、下周三件最重要的事。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28600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收费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9144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月度和佣金为什么改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47548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叠在一起高了。单独看「一个点佣金」并不高。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工作版 v1.1 · 可深化 · 收费口径勿改乱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9 / 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97280"/>
          <a:ext cx="115214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846320"/>
                <a:gridCol w="4663440"/>
              </a:tblGrid>
              <a:tr h="676656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/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上一版（偏高）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现在对齐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90 天现金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启动 15 万 + 月度 8×3 ≈ 39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包干 8 万，不另收月度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成功佣金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首年租金 8% / 12%（听着像切利润）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首月净租金 100% / 锚定 150%（和中介同一尺）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中介单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中介满佣 + 我们再拿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业主只付一套，中介约 70% + 我们约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转正后月度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8 万/月从进场就收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第 91 天起 4 万/月；当月有佣金则抵扣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4663440"/>
            <a:ext cx="11521440" cy="13716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1155680" cy="11430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试跑 90 天若无人成交，业主只出 8 万。有成交，再按「一个点」付。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4,000 ㎡ 空一年，6.5 元/㎡·天，大约少收 949 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28600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举例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9144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一单大概多少钱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47548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首月不含税净租金 = 面积 × 日租金 × 30。免租不影响这个分子。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工作版 v1.1 · 可深化 · 收费口径勿改乱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10 / 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97280"/>
          <a:ext cx="114300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03120"/>
                <a:gridCol w="2468880"/>
                <a:gridCol w="2468880"/>
              </a:tblGrid>
              <a:tr h="81153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例子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面积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首月净租金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我们自拓（100%）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锚定（150%）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</a:tr>
              <a:tr h="81153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腰部研发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800 ㎡ × 6.5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约 15.6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15.6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整层/锚定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1,680 ㎡ × 5.8 元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约 29.2 万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约 43.8 万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81153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中介带来的腰部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800 ㎡ × 6.5 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约 15.6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业主仍付 15.6 万
我们约 4.7 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包干 8 万从第一笔成功佣金里抵扣。招到了，试跑费等于退回。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甲方自己带来的未报备客户，不付成功佣金。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可深化：按他们心里的目标租金再做一列。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28600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授权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9144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红黄绿 · 您不用每单上桌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47548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吸收谈判 Playbook。黄区 48 小时不批 = 不同意。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工作版 v1.1 · 可深化 · 收费口径勿改乱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11 / 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9728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  <a:gridCol w="3017520"/>
                <a:gridCol w="310896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条款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绿区 · 可直接报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黄区 · 48h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红区 · 董事长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租金 元/㎡·天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≥ 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5.8–6.5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底线 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免租（月）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≤ 9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9–15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底线 24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装补 元/㎡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≤ 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600–1,000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底线 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4297680"/>
            <a:ext cx="11430000" cy="173736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合同章始终在您手里。不承诺政府政策、落户、公寓。不收租户或中介回扣。</a:t>
            </a:r>
          </a:p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方案 B：先 90 天。方案 A：进场即 12 个月独家（第 91 天起月度 4 万）。</a:t>
            </a:r>
          </a:p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建议勾 B。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28600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拍板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9144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今天勾完，回去再深化名单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47548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数字写在 05b 确认栏。全稿随后出，不改收费结构。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工作版 v1.1 · 可深化 · 收费口径勿改乱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12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1005840" cy="96012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143000"/>
            <a:ext cx="16459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签法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14300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建议 B：先 90 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1005840" cy="96012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286000"/>
            <a:ext cx="16459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收费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8600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包干 8 万 · 首月 100% / 锚定 150% · 转正后月度 4 万可抵扣。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29000"/>
            <a:ext cx="1005840" cy="96012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29000"/>
            <a:ext cx="16459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42900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唯一对接人 + 红区谁拍板 + 绿区能否直接报。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005840" cy="96012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572000"/>
            <a:ext cx="164592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名录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57200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请冠松提供 4S / 配件 / 保险供应商名单，作为种子库。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