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28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01# 研发楼 · 2026-09-03 优化方案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政府公关为主，招商为辅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顺着董事长的公寓 / 酒店方向走</a:t>
            </a:r>
          </a:p>
          <a:p>
            <a:pPr algn="l"/>
            <a:r>
              <a:rPr sz="18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把土地、规划、消防问题拆开，带着去问政府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3840480" cy="43891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董事会版 · 8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29200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C6 不能直接改酒店 · 9 月 30 日按已批图纸进场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我们听懂了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9 月 2 日沟通口径。不再劝回到纯写字楼。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4300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不信空置写字楼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143000"/>
            <a:ext cx="69494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金桥、陆家嘴、杨浦是董事长自己走的。诺富特满房，才是他信的对标。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3172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要公寓 / 酒店路径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69494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一人公司、商住、特色酒店。要的是政策怎么过，不是再听一版研发招商。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044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9 月 30 日必须进场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69494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逾期按总造价滞纳金。第一优先是节点，不是招租名单。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0916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要实证，过董事会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09160"/>
            <a:ext cx="69494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照片、视频、带看、静安本地案例。口头 PPT 过不了董事长。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转向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这次谈成的新方向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与其把老板的头从西拧到东，不如顺着往西走，路上的问题我们拆掉。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3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32120" cy="30632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以前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0749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独家招商填研发楼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90 天建库带看签意向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劝董事长相信办公能租出去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32120" cy="306324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0749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0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政府公关为主，招商为辅</a:t>
            </a:r>
          </a:p>
          <a:p>
            <a:pPr algn="ctr"/>
            <a:r>
              <a:rPr sz="1800" b="0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90 天把能不能做写成可表决材料</a:t>
            </a:r>
          </a:p>
          <a:p>
            <a:pPr algn="ctr"/>
            <a:r>
              <a:rPr sz="1800" b="0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公寓 / 酒店是叙事，C6 是约束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11292840" cy="16002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8813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角色：政策突破操盘。复旦住房政策研究中心可出第三方身份。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国家级孵化器品牌可叠加，授权另收费。公寓品牌可接触，没有土地路径不签约。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无委托协议，不开展代看——没协议的对接是权责模糊期。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四件事不能写进承诺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可以说帮你问。不能说已经能做。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4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11338560" cy="107899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48640" y="1399032"/>
            <a:ext cx="502920" cy="566928"/>
          </a:xfrm>
          <a:prstGeom prst="round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21615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C6 直接做酒店 / 公寓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4592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教育科研设计用地，工业属性，亩产税收要求最高。硬上不合规。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11338560" cy="107899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48640" y="2587752"/>
            <a:ext cx="502920" cy="566928"/>
          </a:xfrm>
          <a:prstGeom prst="round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048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改性质几乎必然补地价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346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会上量级：商业大约是工业的 10 倍。精确数以估价和规土为准。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0440"/>
            <a:ext cx="11338560" cy="107899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48640" y="3776472"/>
            <a:ext cx="502920" cy="566928"/>
          </a:xfrm>
          <a:prstGeom prst="round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9359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规划过了 ≠ 消防能开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233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杨浦亚朵四号楼（会上）：保证金搁置。同项目不同楼结果可以相反。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09160"/>
            <a:ext cx="11338560" cy="107899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48640" y="4965192"/>
            <a:ext cx="502920" cy="566928"/>
          </a:xfrm>
          <a:prstGeom prst="round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8231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为等批文耽误 9/30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12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施工按已批研发楼进场。业态路径并行，不拿滞纳金赌博。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三条可问的路，不是三条已批的路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绿保底 · 黄主攻 · 红只做账。染色以土地证和控规图则为准。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5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370332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703320" cy="502920"/>
          </a:xfrm>
          <a:prstGeom prst="rect">
            <a:avLst/>
          </a:prstGeom>
          <a:solidFill>
            <a:srgbClr val="2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A  绿 · 保底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维持 C6</a:t>
            </a:r>
          </a:p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研发为主</a:t>
            </a:r>
          </a:p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只做合规配套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3429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合法、不补大额地价、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不误 9/30。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「能住」只问人才公寓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是否允许作科研配套。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70332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3703320" cy="50292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51960" y="114300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B  黄 · 主攻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纳入园区更新</a:t>
            </a:r>
          </a:p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争取功能兼容</a:t>
            </a:r>
          </a:p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不先改性质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83280"/>
            <a:ext cx="3429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静安 5 号文第 5 条写的是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存量商务楼宇，默认套不上。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第 7 条园区混合利用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才是 01# 该问的门。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70332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38160" y="1143000"/>
            <a:ext cx="3703320" cy="502920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38160" y="114300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C  红 · 只做账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8308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改商业 / 收储</a:t>
            </a:r>
          </a:p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R 类擦边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383280"/>
            <a:ext cx="3429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补地价、周期长。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塘南村人才公寓出现在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收储再出让里。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R0 只叠在商办上。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静安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本地窗口：有复合，没有 C6 改酒店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详细来源见「14-静安研发用地业态调整-案例与政策窗口」。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6 /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23360"/>
                <a:gridCol w="4572000"/>
              </a:tblGrid>
              <a:tr h="70539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对象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结果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和 01# 的距离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 号文第 5 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商务楼宇可兼容酒店、人才公寓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01# 是 C6 新建研发楼，默认不是商务楼宇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 号文第 7 / 13 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园区可混合利用；严禁改住宅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问配套可以；商住两用易撞墙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市规土 449 号 M0 / 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工研仓互转；R0 只叠商办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C6 走 M0 到不了酒店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走马塘 · 信谊药厂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工业升级成研发，补地价开工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静安愿帮升级研发，不帮降成酒店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塘南村北块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收储带方案，科研 + 人才公寓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公寓在收地后再出让的方案里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杨浦亚朵（会上）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四号楼规划消防搁置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外区反面：先装修不能当批准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90 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施工照旧，政策并行，招商备着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完成标准：董事会能表决的路径备忘录 + 至少一轮政府预沟通纪要。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7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33832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D1–15 吃透地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土地证、出让合同、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控规图则、产业准入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四条红线一页纸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657600" cy="33832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5196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D16–45 政府对表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874519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街道 + 规资 / 更新办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甲方出面、我方备材料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路径 A/B/C 染色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657600" cy="33832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D46–90 可表决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19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业态路径备忘录定稿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补地价量级、对 9/30 影响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招商库备着不对外承诺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09160"/>
            <a:ext cx="11338560" cy="132588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复旦住房政策研究中心可出非正式意见（冲刺）。孵化器品牌授权另收费。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无协议不代看。公寓品牌只接触。指定企业入驻、政府一定批准，这两句不写。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拍板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请董事会定这四件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收费已在 9 月 2 日对齐，不是本页争议点。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政策路径优化方案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15568"/>
            <a:ext cx="960120" cy="749808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115568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施工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115568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9 月 30 日按已批研发楼进场。业态路径不绑死开竣工。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84248"/>
            <a:ext cx="960120" cy="749808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84248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主攻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84248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90 天主攻路径 B（更新/兼容）。A 保底，C 只做账。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52928"/>
            <a:ext cx="960120" cy="749808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852928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852928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个工作日内给土地证和出让合同用途全文。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21608"/>
            <a:ext cx="960120" cy="749808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21608"/>
            <a:ext cx="1554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身份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21608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是否授权复旦住房中心出面；孵化器品牌是否需要（另收费）。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09160"/>
            <a:ext cx="11338560" cy="13258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启动金 15 万，覆盖头 90 天。之后月度 8 万。散户首年租金 8%，整层 / 大客户 12%。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启动金成交后抵佣金。常规中介约年租金 16%，我方大约一半。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