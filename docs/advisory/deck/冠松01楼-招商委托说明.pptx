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3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144000" y="-2286000"/>
            <a:ext cx="7315200" cy="7315200"/>
          </a:xfrm>
          <a:prstGeom prst="ellipse">
            <a:avLst/>
          </a:prstGeom>
          <a:solidFill>
            <a:srgbClr val="254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GS · iDrive Hub · Mandate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我们替你们招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2400" b="0" i="0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01# 研发楼 · 招商服务委托协议说明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6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不是顾问备忘录 · 不是中介居间 · 是独家全案操盘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2926080" cy="41148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给董事长拍板 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50292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配套：docs/legal/05-合作协议-招商服务委托协议.docx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1">
                <a:solidFill>
                  <a:srgbClr val="8A929C"/>
                </a:solidFill>
                <a:latin typeface="Georgia"/>
                <a:ea typeface="WenQuanYi Micro Hei"/>
                <a:cs typeface="WenQuanYi Micro Hei"/>
              </a:rPr>
              <a:t>费用为建议口径 · 签约前法务定稿 · 完成标准只有一条：生效租赁合同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37744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不要再签顾问协议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5029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方案已经有了。楼要填满，差的是谁在授权里把客户带到盖章。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招商服务委托说明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2 / 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4300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09160"/>
                <a:gridCol w="4709160"/>
              </a:tblGrid>
              <a:tr h="444137">
                <a:tc>
                  <a:txBody>
                    <a:bodyPr lIns="50800" rIns="50800"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/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顾问协议（兜圈子）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本委托协议（直接干）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444137"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完成标准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出方案、出案例、开会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生效租赁合同（盖章+保证金到账）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乙方角色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参谋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替业主招商的操盘方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444137"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对入驻率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不负责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M6 / M12 节点写进合同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收费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咨询费，与空置无关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月度干活 + 招到才抽佣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444137"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报价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每次请示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绿区可直接报，黄区 48 小时，红区董事长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业态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建议，可听可不听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禁止整车展厅，写进合同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4480560"/>
            <a:ext cx="11247120" cy="1554480"/>
          </a:xfrm>
          <a:prstGeom prst="round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l"/>
            <a:r>
              <a:rPr sz="1600" b="0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一句话：顾问解决「招什么」；委托解决「谁去招、招到哪算完、怎么付钱」。
01–04 号协议是园区对外的。05 号才是冠松委托我们操盘的这一份。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37744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骨架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协议四句话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5029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能在会上念完，就不要再加形容词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招商服务委托说明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3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40680" cy="219456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2011680" cy="41148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01 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07492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甲方冠松 = 业主。乙方 = 独家招商操盘方。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租赁合同仍由甲方盖章，乙方不能私自签。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188720"/>
            <a:ext cx="5440680" cy="219456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2011680" cy="41148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02 干什么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20240"/>
            <a:ext cx="507492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建库、攻坚、带看、谈判、统管中介、协同政府、盯到保证金到账。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出 PPT 不算完成。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5440680" cy="219456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" y="3749040"/>
            <a:ext cx="2011680" cy="41148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03 算完成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507492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生效合同。M6：1 份锚定 TS 或意向 ≥ 2,000 ㎡。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M12：签约 ≥ 3,735 ㎡ 或入驻率 ≥ 45%。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3566160"/>
            <a:ext cx="5440680" cy="219456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263640" y="3749040"/>
            <a:ext cx="2011680" cy="41148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04 怎么付钱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297680"/>
            <a:ext cx="507492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启动费进场 · 月度费干活 · 成功佣金招到才收。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中介佣金另付，乙方不截留。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37744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替你们招 · 八件事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5029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每一件都要留下甲方能抽查的记录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招商服务委托说明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4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88720"/>
            <a:ext cx="2743200" cy="228600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11480" y="1188720"/>
            <a:ext cx="2743200" cy="502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11887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 建库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1828800"/>
            <a:ext cx="2523744" cy="1508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≥ 200 家目标企业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决策人到人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188720"/>
            <a:ext cx="2743200" cy="228600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291840" y="1188720"/>
            <a:ext cx="2743200" cy="502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291840" y="11887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 攻坚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828800"/>
            <a:ext cx="2523744" cy="1508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建联、拜访、痛点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接触记录可核验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188720"/>
            <a:ext cx="2743200" cy="228600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 带看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1828800"/>
            <a:ext cx="2523744" cy="1508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现场讲解 + 48h 纪要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异议点写下来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188720"/>
            <a:ext cx="2743200" cy="228600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052560" y="1188720"/>
            <a:ext cx="2743200" cy="502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0" y="11887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 谈判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1828800"/>
            <a:ext cx="2523744" cy="1508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绿区直接报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TS / 合同商务稿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657600"/>
            <a:ext cx="2743200" cy="228600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11480" y="3657600"/>
            <a:ext cx="2743200" cy="502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11480" y="36576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5 中介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" y="4297680"/>
            <a:ext cx="2523744" cy="1508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统一报备、冲突裁决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只保留一套真相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3657600"/>
            <a:ext cx="2743200" cy="228600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291840" y="3657600"/>
            <a:ext cx="2743200" cy="502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291840" y="36576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6 政府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1568" y="4297680"/>
            <a:ext cx="2523744" cy="1508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材料、陪同、诉求清单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对外承诺须甲方确认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3657600"/>
            <a:ext cx="2743200" cy="228600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72200" y="3657600"/>
            <a:ext cx="2743200" cy="502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172200" y="36576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7 活动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4297680"/>
            <a:ext cx="2523744" cy="1508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闭门会 / 发布会招商段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硬成本甲方承担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3657600"/>
            <a:ext cx="2743200" cy="228600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052560" y="3657600"/>
            <a:ext cx="2743200" cy="502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052560" y="36576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8 盯签约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4297680"/>
            <a:ext cx="2523744" cy="1508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从意向到盖章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到保证金到账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37744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考核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12 个月 · 招到什么算完成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5029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分母：可出租净面积约 8,300 ㎡（1F+2F 大堂展厅自留，不计入）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招商服务委托说明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5 / 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43000"/>
          <a:ext cx="113385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760720"/>
                <a:gridCol w="4389120"/>
              </a:tblGrid>
              <a:tr h="649224">
                <a:tc>
                  <a:txBody>
                    <a:bodyPr lIns="50800" rIns="50800"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时点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过程（必须看得见）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结果（合同认的）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649224"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库 ≥ 200 · 深接触 ≥ 8 · 带看 ≥ 5 · 周报不断档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≥ 3 份书面意向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M6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中介报备制度跑通 · 至少 1 场闭门招商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 份锚定 TS，或意向面积 ≥ 2,000 ㎡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649224"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M9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漏斗周会连续 · 重点客户一页纸齐备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生效签约 ≥ 3,000 ㎡（约 36%）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M12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档案与 SOP 可移交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生效签约 ≥ 3,735 ㎡，或入驻率 ≥ 45%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4617720"/>
            <a:ext cx="11338560" cy="14173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4709160"/>
            <a:ext cx="10972800" cy="12344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M6 杀招（保护业主）：达不到结果指标，且不是甲方不配合导致的，甲方可终止，之后月度费不付。</a:t>
            </a:r>
          </a:p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M12 未达目标不自动算根本违约，但影响续约；续约则第 13–18 月月度费下浮 20%。</a:t>
            </a:r>
          </a:p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只开会、只出方案、只有口头意向 —— 一律不算完成。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37744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授权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红黄绿 + 业态边界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5029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董事长不用每单上桌；也不能被口头加码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招商服务委托说明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6 / 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9728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3108960"/>
                <a:gridCol w="3108960"/>
              </a:tblGrid>
              <a:tr h="617220">
                <a:tc>
                  <a:txBody>
                    <a:bodyPr lIns="50800" rIns="50800"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条款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绿区 · 可直接报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黄区 · 48h 批复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红区 · 董事长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617220"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租金 元/㎡·天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≥ 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5.8–6.5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底线 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免租（月）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≤ 9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9–15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底线 24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617220"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装补 元/㎡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≤ 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600–1,000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底线 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749039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F7F5B"/>
                </a:solidFill>
                <a:latin typeface="Georgia"/>
                <a:ea typeface="WenQuanYi Micro Hei"/>
                <a:cs typeface="WenQuanYi Micro Hei"/>
              </a:rPr>
              <a:t>允许招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AI / 集成电路 / 智能机器人研发</a:t>
            </a:r>
          </a:p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生物医药与器械研发（依法定许可）</a:t>
            </a:r>
          </a:p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汽车配套研发（电控、传感、软件、测试）</a:t>
            </a:r>
          </a:p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非整车销售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39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B23B3B"/>
                </a:solidFill>
                <a:latin typeface="Georgia"/>
                <a:ea typeface="WenQuanYi Micro Hei"/>
                <a:cs typeface="WenQuanYi Micro Hei"/>
              </a:rPr>
              <a:t>禁止招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5303520" cy="1645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整车 4S / 整车展厅 / 汽车卖场</a:t>
            </a:r>
          </a:p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纯零售、教培、仓储、生产</a:t>
            </a:r>
          </a:p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地上主业态公寓（人才短租须先做 C6 合规）</a:t>
            </a:r>
          </a:p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回扣、口头政策、包牌照、保 GMV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37744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算账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三笔账 · 招到才抽佣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5029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建议口径，写入附件 E 可改数字，不改结构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招商服务委托说明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7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3657600" cy="30632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3657600" cy="4572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11430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启动费 · 进场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9164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15 万一次性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10–20 万可谈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全额抵扣成功佣金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不是再收一笔咨询费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143000"/>
            <a:ext cx="3657600" cy="30632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251960" y="1143000"/>
            <a:ext cx="3657600" cy="4572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51960" y="11430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月度费 · 干活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69164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8 万 /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7744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6–12 万可谈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3–4 人核心组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低于自建团队全成本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1143000"/>
            <a:ext cx="3657600" cy="30632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92440" y="1143000"/>
            <a:ext cx="3657600" cy="4572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92440" y="11430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成功佣金 · 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69164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8% / 链主 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37744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基数 = 首年租金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不含税、物业，扣免租</a:t>
            </a:r>
          </a:p>
          <a:p>
            <a:pPr algn="ctr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没签成不抽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389120"/>
            <a:ext cx="11338560" cy="1645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52628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和空置比：4,000 ㎡ 空一年，按 6.5 元/㎡·天约损失 949 万。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付给操盘方：月度 96 万 + 成功佣金约 57 万 ≈ 153 万（启动费抵扣进佣金）。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中介佣金甲方另付。甲方自有未报备客户成交，不付成功佣金。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37744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甲方拍板，乙方跑动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5029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独家 12 个月，但租赁合同章永远在甲方手里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招商服务委托说明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8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532120" cy="48920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5532120" cy="502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1143000"/>
            <a:ext cx="55321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甲方 · 冠松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5120640" cy="3931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产权与出租主体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指定唯一对接人，黄区 48h 答复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红区由董事长或授权人批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提供看房、图纸、物业陪同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链主拜访按预约出席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法务 10 个工作日反馈合同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不向已报备客户暗中压价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中介佣金、活动硬成本自担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5532120" cy="48920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5532120" cy="50292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55321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乙方 · 操盘方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5120640" cy="3931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项目经理每周现场 ≥ 3 天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漏斗、带看、谈判、周报月报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绿区报价，超线必请示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统管中介报备，避免一客多报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起草 TS / 合同商务条款（含 C6）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不向租户、中介收回扣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不口头承诺政府政策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终止后 10 日移交全部档案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37744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保护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业主五道闸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5029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独家不是把楼交给别人瞎承诺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招商服务委托说明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9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640080" cy="77724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143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M6 杀招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143000"/>
            <a:ext cx="749807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达不到锚定 TS 或 2,000 ㎡ 意向，可终止，之后月度费停。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640080" cy="77724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031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合同甲方盖章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03120"/>
            <a:ext cx="749807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乙方无权以甲方名义签租赁合同、收款。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63240"/>
            <a:ext cx="640080" cy="77724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632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黄区默认否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063240"/>
            <a:ext cx="749807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48 小时不批复 = 不同意，防止沉默即授权。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640080" cy="77724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2336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红线可解除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023360"/>
            <a:ext cx="749807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虚假报备、收回扣、超授权承诺政策，立即解除并追偿。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83480"/>
            <a:ext cx="640080" cy="77724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8348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业态写死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983480"/>
            <a:ext cx="749807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禁止整车展厅；公寓不是地上主业态，须先做 C6 合规。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237744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拍板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今天请定四件事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5029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法务只改表述和主体名称；商务结构不要改回顾问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· 01# 研发楼 · 招商服务委托说明 v1.0（保密）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10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1005840" cy="91440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18872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1887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走委托招商，不走顾问续约。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31720"/>
            <a:ext cx="1005840" cy="91440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33172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数字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317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确认附件 E：启动费 15 万 / 月度 8 万 / 佣金 8%·12%。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74720"/>
            <a:ext cx="1005840" cy="91440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7472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4747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指定唯一对接人 + 红区最终决策人。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005840" cy="91440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1772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6177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书面确认绿区可直接报价，否则每单开会、节奏会断。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3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一句话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我们替你们招。招到才算完。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协议：docs/legal/05-合作协议-招商服务委托协议.docx</a:t>
            </a:r>
          </a:p>
          <a:p>
            <a:pPr algn="ctr"/>
            <a:r>
              <a:rPr sz="16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要点：docs/advisory/09-招商委托协议要点.md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草案 v1.0 · 冠松 01# 研发楼 · 签约前法务定稿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