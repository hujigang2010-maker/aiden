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07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20" y="0"/>
            <a:ext cx="7315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0" y="548640"/>
            <a:ext cx="2560320" cy="2560320"/>
          </a:xfrm>
          <a:prstGeom prst="rect">
            <a:avLst/>
          </a:prstGeom>
          <a:solidFill>
            <a:srgbClr val="19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822960"/>
            <a:ext cx="256032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十五五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3774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E6C24A"/>
                </a:solidFill>
                <a:latin typeface="Calibri"/>
                <a:ea typeface="Calibri"/>
                <a:cs typeface="Calibri"/>
              </a:rPr>
              <a:t>2026 — 2030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5303520"/>
            <a:ext cx="822960" cy="82296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5349240"/>
            <a:ext cx="822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
质
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8503920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上海市房产经济学会  ·  中青年学术研讨会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960120"/>
            <a:ext cx="25603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1280160"/>
            <a:ext cx="7680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“十五五”时期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920240"/>
            <a:ext cx="7680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房地产高质量发展的新模式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——以科技创新与产城融合为驱动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49039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8C4D6"/>
                </a:solidFill>
                <a:latin typeface="Calibri"/>
                <a:ea typeface="Calibri"/>
                <a:cs typeface="Calibri"/>
              </a:rPr>
              <a:t>A New Model of High-Quality Real-Estate Development for the 15th Five-Year Plan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4297680"/>
            <a:ext cx="4297680" cy="0"/>
          </a:xfrm>
          <a:prstGeom prst="line">
            <a:avLst/>
          </a:prstGeom>
          <a:ln w="127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汇报场合：中青年学术研讨会  ·  规模 50–60 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汇报时间：2026 年 5 月 27 日  下午  ·  时长 30 分钟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议题方向：十五五规划 · 房地产新模式 · 高质量发展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17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9C2"/>
                </a:solidFill>
                <a:latin typeface="Microsoft YaHei"/>
                <a:ea typeface="Microsoft YaHei"/>
                <a:cs typeface="Microsoft YaHei"/>
              </a:rPr>
              <a:t>汇报人：（拟定稿  ·  供老同志审阅）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84124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ABSTRACT  ·  内容摘要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150 字摘要  ·  供主办方先行审定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02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09728" cy="4572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内容摘要  ·  Executive Abstract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Approx. 150 字，紧扣“十五五 / 高质量 / 新模式 / 转型 / 实体经济”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694944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15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立足“十五五”规划开局，房地产行业正从“高杠杆、高周转”的旧模式，全面转向“稳健经营、提质增效”的新阶段。本汇报围绕“房地产新模式”与“高质量发展”两大主题，提出：未来五年，行业竞争的核心已由土储与去化，转向存量资产精细化运营与科技产业化融合。报告将聚焦人工智能与大语言模型在不动产管理中的落地、科创生态对空间价值的二次赋能，以及“学术—产业—投资”跨界协同的实践路径，探讨服务实体经济、孕育新质生产力的不动产新范式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417320"/>
            <a:ext cx="3108960" cy="4572000"/>
          </a:xfrm>
          <a:prstGeom prst="rect">
            <a:avLst/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95360" y="1417320"/>
            <a:ext cx="3108960" cy="4572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417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关 键 词 / KEYWORDS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05740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十五五规划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441448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B31B1B"/>
                </a:solidFill>
                <a:latin typeface="Microsoft YaHei"/>
                <a:ea typeface="Microsoft YaHei"/>
                <a:cs typeface="Microsoft YaHei"/>
              </a:rPr>
              <a:t>高质量发展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825496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房地产新模式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209544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6F6B"/>
                </a:solidFill>
                <a:latin typeface="Microsoft YaHei"/>
                <a:ea typeface="Microsoft YaHei"/>
                <a:cs typeface="Microsoft YaHei"/>
              </a:rPr>
              <a:t>产城融合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359359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93A6B"/>
                </a:solidFill>
                <a:latin typeface="Microsoft YaHei"/>
                <a:ea typeface="Microsoft YaHei"/>
                <a:cs typeface="Microsoft YaHei"/>
              </a:rPr>
              <a:t>科技赋能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97764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存量运营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4361688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新质生产力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745736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实体经济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5129784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F6F6B"/>
                </a:solidFill>
                <a:latin typeface="Microsoft YaHei"/>
                <a:ea typeface="Microsoft YaHei"/>
                <a:cs typeface="Microsoft YaHei"/>
              </a:rPr>
              <a:t>AI · 大模型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551383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产业转型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上海市房产经济学会 · 中青年学术研讨会  |  2026.05.27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CFD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84124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AGENDA  ·  汇报大纲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四个板块  ·  共 30 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03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汇报大纲   Outline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以宏观政策切入，落地到实战领域，兼顾学术严谨与产业落地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23160"/>
            <a:ext cx="265176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423160"/>
            <a:ext cx="2651760" cy="164592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0B2447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63040" y="3840480"/>
            <a:ext cx="1188720" cy="0"/>
          </a:xfrm>
          <a:prstGeom prst="line">
            <a:avLst/>
          </a:prstGeom>
          <a:ln w="1524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39776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时代定调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61772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“十五五”开局与房地产周期的新旧转换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623560"/>
            <a:ext cx="1371600" cy="320040"/>
          </a:xfrm>
          <a:prstGeom prst="roundRect">
            <a:avLst/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6235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约 5 分钟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47872" y="2423160"/>
            <a:ext cx="265176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47872" y="2423160"/>
            <a:ext cx="2651760" cy="164592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47872" y="278892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1F6F6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79392" y="3840480"/>
            <a:ext cx="1188720" cy="0"/>
          </a:xfrm>
          <a:prstGeom prst="line">
            <a:avLst/>
          </a:prstGeom>
          <a:ln w="1524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30752" y="39776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破局寻路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461772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房地产“新模式”的核心内涵与高质量标准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87952" y="5623560"/>
            <a:ext cx="1371600" cy="320040"/>
          </a:xfrm>
          <a:prstGeom prst="roundRect">
            <a:avLst/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87952" y="56235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约 8 分钟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64224" y="2423160"/>
            <a:ext cx="265176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64224" y="2423160"/>
            <a:ext cx="2651760" cy="164592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278892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B31B1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95744" y="3840480"/>
            <a:ext cx="1188720" cy="0"/>
          </a:xfrm>
          <a:prstGeom prst="line">
            <a:avLst/>
          </a:prstGeom>
          <a:ln w="1524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47104" y="39776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核心动能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92824" y="461772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科技创新如何驱动不动产高质量发展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04304" y="5623560"/>
            <a:ext cx="1371600" cy="320040"/>
          </a:xfrm>
          <a:prstGeom prst="roundRect">
            <a:avLst/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04304" y="56235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约 12 分钟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0576" y="2423160"/>
            <a:ext cx="265176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0576" y="2423160"/>
            <a:ext cx="2651760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0576" y="278892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912096" y="3840480"/>
            <a:ext cx="1188720" cy="0"/>
          </a:xfrm>
          <a:prstGeom prst="line">
            <a:avLst/>
          </a:prstGeom>
          <a:ln w="1524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363456" y="39776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09176" y="461772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“十五五”时期从业者的知与行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20656" y="5623560"/>
            <a:ext cx="1371600" cy="320040"/>
          </a:xfrm>
          <a:prstGeom prst="roundRect">
            <a:avLst/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20656" y="56235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约 5 分钟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上海市房产经济学会 · 中青年学术研讨会  |  2026.05.27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CFD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7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99248" y="0"/>
            <a:ext cx="7315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657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0" b="1">
                <a:solidFill>
                  <a:srgbClr val="193A6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PART 01  ·  时代定调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3703320"/>
            <a:ext cx="150876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38862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“十五五”开局与房地产周期的新旧转换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54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C8D3E4"/>
                </a:solidFill>
                <a:latin typeface="Microsoft YaHei"/>
                <a:ea typeface="Microsoft YaHei"/>
                <a:cs typeface="Microsoft YaHei"/>
              </a:rPr>
              <a:t>宏观背景 · 旧模式告别 · 核心论点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3657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04 / 18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6217920"/>
            <a:ext cx="10698480" cy="0"/>
          </a:xfrm>
          <a:prstGeom prst="line">
            <a:avLst/>
          </a:prstGeom>
          <a:ln w="9525">
            <a:solidFill>
              <a:srgbClr val="19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A9C2"/>
                </a:solidFill>
                <a:latin typeface="Microsoft YaHei"/>
                <a:ea typeface="Microsoft YaHei"/>
                <a:cs typeface="Microsoft YaHei"/>
              </a:rPr>
              <a:t>上海市房产经济学会  ·  中青年学术研讨会  ·  2026.05.27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84124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PART 01  ·  时代定调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宏观背景解读：“十五五”的战略地位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05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“十五五”：国家经济结构转型的关键五年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从“数量扩张” 走向 “质量跃迁”，从“要素驱动” 走向 “创新驱动”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3611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109728" cy="3200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889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战略定位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97280" y="3337560"/>
            <a:ext cx="914400" cy="0"/>
          </a:xfrm>
          <a:prstGeom prst="line">
            <a:avLst/>
          </a:prstGeom>
          <a:ln w="190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97280" y="3520440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国家由 中高速增长 转向 高质量发展 的关键期；
也是构建 新发展格局、培育 新质生产力 的攻坚期。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2468880"/>
            <a:ext cx="3611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80" y="2468880"/>
            <a:ext cx="109728" cy="3200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27889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政策主线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92040" y="3337560"/>
            <a:ext cx="914400" cy="0"/>
          </a:xfrm>
          <a:prstGeom prst="line">
            <a:avLst/>
          </a:prstGeom>
          <a:ln w="190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92040" y="3520440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扩大内需 + 科技自立自强 + 现代化产业体系；
房地产作为支柱产业，承担稳投资、稳预期的功能。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468880"/>
            <a:ext cx="3611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2468880"/>
            <a:ext cx="109728" cy="3200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27889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行业坐标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0" y="3337560"/>
            <a:ext cx="914400" cy="0"/>
          </a:xfrm>
          <a:prstGeom prst="line">
            <a:avLst/>
          </a:prstGeom>
          <a:ln w="190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86800" y="3520440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“房住不炒”长期不变，行业重心从 增量开发 
转向 存量经营 与 服务实体经济。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06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B31B1B"/>
                </a:solidFill>
                <a:latin typeface="Microsoft YaHei"/>
                <a:ea typeface="Microsoft YaHei"/>
                <a:cs typeface="Microsoft YaHei"/>
              </a:rPr>
              <a:t>▌ 论点：宏观叙事下，房地产的角色从“增长引擎”转向“质量底盘”。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上海市房产经济学会 · 中青年学术研讨会  |  2026.05.27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CFD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84124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PART 01  ·  时代定调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告别旧模式：从“三高”到“稳健经营、提质增效”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06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旧模式 vs 新模式 · 对照表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10744200" cy="56692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1645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74519"/>
            <a:ext cx="4297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旧模式（增量时代）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874519"/>
            <a:ext cx="4251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新模式（“十五五”）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41447"/>
            <a:ext cx="107442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441447"/>
            <a:ext cx="1645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发展逻辑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441447"/>
            <a:ext cx="4297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高杠杆 · 高周转 · 高增长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441447"/>
            <a:ext cx="4251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B31B1B"/>
                </a:solidFill>
                <a:latin typeface="Microsoft YaHei"/>
                <a:ea typeface="Microsoft YaHei"/>
                <a:cs typeface="Microsoft YaHei"/>
              </a:rPr>
              <a:t>稳健经营 · 提质增效 · 长周期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008375"/>
            <a:ext cx="10744200" cy="566928"/>
          </a:xfrm>
          <a:prstGeom prst="rect">
            <a:avLst/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008375"/>
            <a:ext cx="1645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竞争核心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008375"/>
            <a:ext cx="4297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土地储备 · 销售去化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008375"/>
            <a:ext cx="4251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B31B1B"/>
                </a:solidFill>
                <a:latin typeface="Microsoft YaHei"/>
                <a:ea typeface="Microsoft YaHei"/>
                <a:cs typeface="Microsoft YaHei"/>
              </a:rPr>
              <a:t>存量运营 · 服务能力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575303"/>
            <a:ext cx="107442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575303"/>
            <a:ext cx="1645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收益来源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575303"/>
            <a:ext cx="4297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开发利润 · 资产升值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575303"/>
            <a:ext cx="4251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B31B1B"/>
                </a:solidFill>
                <a:latin typeface="Microsoft YaHei"/>
                <a:ea typeface="Microsoft YaHei"/>
                <a:cs typeface="Microsoft YaHei"/>
              </a:rPr>
              <a:t>运营收益 · 资管费 · 增值服务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142231"/>
            <a:ext cx="10744200" cy="566928"/>
          </a:xfrm>
          <a:prstGeom prst="rect">
            <a:avLst/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142231"/>
            <a:ext cx="1645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产品形态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142231"/>
            <a:ext cx="4297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标准化住宅 · 商办堆量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142231"/>
            <a:ext cx="4251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B31B1B"/>
                </a:solidFill>
                <a:latin typeface="Microsoft YaHei"/>
                <a:ea typeface="Microsoft YaHei"/>
                <a:cs typeface="Microsoft YaHei"/>
              </a:rPr>
              <a:t>产品+服务+生态 · 场景化复合空间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709159"/>
            <a:ext cx="107442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709159"/>
            <a:ext cx="1645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评价指标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709159"/>
            <a:ext cx="4297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规模 · 排名 · 市占率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709159"/>
            <a:ext cx="4251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B31B1B"/>
                </a:solidFill>
                <a:latin typeface="Microsoft YaHei"/>
                <a:ea typeface="Microsoft YaHei"/>
                <a:cs typeface="Microsoft YaHei"/>
              </a:rPr>
              <a:t>ROE · ROA · NOI · 客户复购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276087"/>
            <a:ext cx="10744200" cy="566928"/>
          </a:xfrm>
          <a:prstGeom prst="rect">
            <a:avLst/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276087"/>
            <a:ext cx="1645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行业关系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276087"/>
            <a:ext cx="4297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土地财政 · 金融加杠杆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5276087"/>
            <a:ext cx="4251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B31B1B"/>
                </a:solidFill>
                <a:latin typeface="Microsoft YaHei"/>
                <a:ea typeface="Microsoft YaHei"/>
                <a:cs typeface="Microsoft YaHei"/>
              </a:rPr>
              <a:t>服务实体 · 赋能产业 · 协同创新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▌ 转变不是周期性的回调，而是结构性、范式性的“换轨”。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上海市房产经济学会 · 中青年学术研讨会  |  2026.05.27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CFD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84124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PART 01  ·  时代定调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核心论点：竞争维度的根本转移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07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64592" cy="4572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9164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62179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“十五五”期间的房地产高质量发展，
不再是单纯的去化和土储竞争，
而是 存量资产精细化运营 
与 科技产业化融合 的竞争。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05840" y="5257800"/>
            <a:ext cx="173736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53492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— 本汇报的核心论点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4630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三个根本转移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80960" y="1920240"/>
            <a:ext cx="91440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680960" y="2194560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6992" y="21031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从 开发 → 运营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248716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拼建造、拼速度，转为拼服务、拼体验、拼长期收益。</a:t>
            </a:r>
          </a:p>
        </p:txBody>
      </p:sp>
      <p:sp>
        <p:nvSpPr>
          <p:cNvPr id="19" name="Oval 18"/>
          <p:cNvSpPr/>
          <p:nvPr/>
        </p:nvSpPr>
        <p:spPr>
          <a:xfrm>
            <a:off x="7680960" y="3172968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36992" y="308152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从 资产 → 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6992" y="3465576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重资产持有，转为轻资产管理输出与品牌赋能。</a:t>
            </a:r>
          </a:p>
        </p:txBody>
      </p:sp>
      <p:sp>
        <p:nvSpPr>
          <p:cNvPr id="22" name="Oval 21"/>
          <p:cNvSpPr/>
          <p:nvPr/>
        </p:nvSpPr>
        <p:spPr>
          <a:xfrm>
            <a:off x="7680960" y="4151376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36992" y="405993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从 空间 → 生态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2" y="4443984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提供物理空间，转为构建产业 + 科创 + 资本生态。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上海市房产经济学会 · 中青年学术研讨会  |  2026.05.27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CFD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7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99248" y="0"/>
            <a:ext cx="7315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657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0" b="1">
                <a:solidFill>
                  <a:srgbClr val="193A6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PART 02  ·  破局寻路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3703320"/>
            <a:ext cx="150876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38862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房地产“新模式”的核心内涵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54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C8D3E4"/>
                </a:solidFill>
                <a:latin typeface="Microsoft YaHei"/>
                <a:ea typeface="Microsoft YaHei"/>
                <a:cs typeface="Microsoft YaHei"/>
              </a:rPr>
              <a:t>空间载体跃迁 · 轻重分离 · 产城融合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3657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08 / 18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6217920"/>
            <a:ext cx="10698480" cy="0"/>
          </a:xfrm>
          <a:prstGeom prst="line">
            <a:avLst/>
          </a:prstGeom>
          <a:ln w="9525">
            <a:solidFill>
              <a:srgbClr val="19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A9C2"/>
                </a:solidFill>
                <a:latin typeface="Microsoft YaHei"/>
                <a:ea typeface="Microsoft YaHei"/>
                <a:cs typeface="Microsoft YaHei"/>
              </a:rPr>
              <a:t>上海市房产经济学会  ·  中青年学术研讨会  ·  2026.05.27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84124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PART 02  ·  破局寻路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高质量发展的空间载体：从“居住与办公”到“科创与产业”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09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空间载体的代际跃迁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不动产不再只是“盛放生活与办公的容器”，而是“激发创新与产业的舞台”。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269748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2697480" cy="548640"/>
          </a:xfrm>
          <a:prstGeom prst="rect">
            <a:avLst/>
          </a:prstGeom>
          <a:solidFill>
            <a:srgbClr val="19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阶段 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居住空间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63040" y="3886200"/>
            <a:ext cx="1234440" cy="0"/>
          </a:xfrm>
          <a:prstGeom prst="line">
            <a:avLst/>
          </a:prstGeom>
          <a:ln w="1524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0120" y="40690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2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解决“有没有”
刚需 · 改善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468880"/>
            <a:ext cx="269748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66160" y="2468880"/>
            <a:ext cx="2697480" cy="54864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46888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阶段 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2461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办公空间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97680" y="3886200"/>
            <a:ext cx="1234440" cy="0"/>
          </a:xfrm>
          <a:prstGeom prst="line">
            <a:avLst/>
          </a:prstGeom>
          <a:ln w="1524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794760" y="40690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2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解决“好不好”
商办 · 商业 · 物流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468880"/>
            <a:ext cx="269748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2468880"/>
            <a:ext cx="2697480" cy="54864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46888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阶段 3.0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2461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产城融合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32320" y="3886200"/>
            <a:ext cx="1234440" cy="0"/>
          </a:xfrm>
          <a:prstGeom prst="line">
            <a:avLst/>
          </a:prstGeom>
          <a:ln w="1524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29400" y="40690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2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解决“活不活”
科创园 · 总部基地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2468880"/>
            <a:ext cx="269748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35440" y="2468880"/>
            <a:ext cx="2697480" cy="548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246888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阶段 4.0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2461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科创生态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966960" y="3886200"/>
            <a:ext cx="1234440" cy="0"/>
          </a:xfrm>
          <a:prstGeom prst="line">
            <a:avLst/>
          </a:prstGeom>
          <a:ln w="1524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464040" y="40690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2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解决“能不能孕育新质生产力”
超级会客厅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▌ 高质量发展的空间载体，是 “能让科技 · 资本 · 人才共振” 的产业舞台。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上海市房产经济学会 · 中青年学术研讨会  |  2026.05.27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CFD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84124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PART 02  ·  破局寻路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新模式的两大特征：轻重分离 + 产城融合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10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“新模式”的两大底层特征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54406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74519"/>
            <a:ext cx="5440680" cy="54864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5440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特征一  ·  轻重分离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97479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重资产持有 → 轻资产管理输出 · 品牌输出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88720" y="3200399"/>
            <a:ext cx="1371600" cy="0"/>
          </a:xfrm>
          <a:prstGeom prst="line">
            <a:avLst/>
          </a:prstGeom>
          <a:ln w="190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97280" y="3428999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3337559"/>
            <a:ext cx="4434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资本结构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666743"/>
            <a:ext cx="4434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降低对单一开发利润和高杠杆融资的依赖。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4123943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3312" y="4032503"/>
            <a:ext cx="4434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能力输出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4361687"/>
            <a:ext cx="4434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把管理、运营、招商、科技四大能力对外赋能。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4818887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3312" y="4727447"/>
            <a:ext cx="4434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收益模式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5056631"/>
            <a:ext cx="4434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管理费 + 业绩分成 + 长期租金 + 资管增值。</a:t>
            </a:r>
          </a:p>
        </p:txBody>
      </p:sp>
      <p:sp>
        <p:nvSpPr>
          <p:cNvPr id="23" name="Oval 22"/>
          <p:cNvSpPr/>
          <p:nvPr/>
        </p:nvSpPr>
        <p:spPr>
          <a:xfrm>
            <a:off x="1097280" y="5513831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53312" y="5422391"/>
            <a:ext cx="4434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退出路径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5751575"/>
            <a:ext cx="4434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对接 公募 REITs · 类 REITs · 不动产私募基金。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874519"/>
            <a:ext cx="54406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874519"/>
            <a:ext cx="5440680" cy="54864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874519"/>
            <a:ext cx="5440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特征二  ·  产城融合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697479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聚焦实体经济  ·  打造科创“超级会客厅”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58000" y="3200399"/>
            <a:ext cx="1371600" cy="0"/>
          </a:xfrm>
          <a:prstGeom prst="line">
            <a:avLst/>
          </a:prstGeom>
          <a:ln w="190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766560" y="3428999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22592" y="3337559"/>
            <a:ext cx="4434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产业链接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3666743"/>
            <a:ext cx="4434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导入高校智库 · 科技企业 · 国际创新资源。</a:t>
            </a:r>
          </a:p>
        </p:txBody>
      </p:sp>
      <p:sp>
        <p:nvSpPr>
          <p:cNvPr id="34" name="Oval 33"/>
          <p:cNvSpPr/>
          <p:nvPr/>
        </p:nvSpPr>
        <p:spPr>
          <a:xfrm>
            <a:off x="6766560" y="4123943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22592" y="4032503"/>
            <a:ext cx="4434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场景运营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4361687"/>
            <a:ext cx="4434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围绕“专精特新”企业、OPC（单一人公司）等新主体打造场景。</a:t>
            </a:r>
          </a:p>
        </p:txBody>
      </p:sp>
      <p:sp>
        <p:nvSpPr>
          <p:cNvPr id="37" name="Oval 36"/>
          <p:cNvSpPr/>
          <p:nvPr/>
        </p:nvSpPr>
        <p:spPr>
          <a:xfrm>
            <a:off x="6766560" y="4818887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22592" y="4727447"/>
            <a:ext cx="4434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城市价值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2592" y="5056631"/>
            <a:ext cx="4434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让不动产成为产业升级与城市更新的“连接器”。</a:t>
            </a:r>
          </a:p>
        </p:txBody>
      </p:sp>
      <p:sp>
        <p:nvSpPr>
          <p:cNvPr id="40" name="Oval 39"/>
          <p:cNvSpPr/>
          <p:nvPr/>
        </p:nvSpPr>
        <p:spPr>
          <a:xfrm>
            <a:off x="6766560" y="5513831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22592" y="5422391"/>
            <a:ext cx="4434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社会贡献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2592" y="5751575"/>
            <a:ext cx="4434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服务实体经济，孕育新质生产力的物理底座。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172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▌ 一手做减法（轻），一手做加法（产）——这是新模式的两条腿。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上海市房产经济学会 · 中青年学术研讨会  |  2026.05.27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CFD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7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99248" y="0"/>
            <a:ext cx="7315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657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0" b="1">
                <a:solidFill>
                  <a:srgbClr val="193A6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PART 03  ·  核心动能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3703320"/>
            <a:ext cx="150876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38862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科技创新如何驱动不动产高质量发展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54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C8D3E4"/>
                </a:solidFill>
                <a:latin typeface="Microsoft YaHei"/>
                <a:ea typeface="Microsoft YaHei"/>
                <a:cs typeface="Microsoft YaHei"/>
              </a:rPr>
              <a:t>管理提效 · 空间增值 · 跨界协同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3657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11 / 18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6217920"/>
            <a:ext cx="10698480" cy="0"/>
          </a:xfrm>
          <a:prstGeom prst="line">
            <a:avLst/>
          </a:prstGeom>
          <a:ln w="9525">
            <a:solidFill>
              <a:srgbClr val="19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A9C2"/>
                </a:solidFill>
                <a:latin typeface="Microsoft YaHei"/>
                <a:ea typeface="Microsoft YaHei"/>
                <a:cs typeface="Microsoft YaHei"/>
              </a:rPr>
              <a:t>上海市房产经济学会  ·  中青年学术研讨会  ·  2026.05.27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84124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PART 03  ·  核心动能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科技创新驱动不动产高质量发展 —— 三条主线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12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三条主线：管理提效 · 空间增值 · 跨界协同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从“砖头”到“算法”，科技把不动产从“资产”升级为“平台”。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36118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2788920"/>
            <a:ext cx="640080" cy="640080"/>
          </a:xfrm>
          <a:prstGeom prst="ellipse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83464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管理提效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29184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AI · 大模型 · 数字化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5840" y="3931920"/>
            <a:ext cx="3063240" cy="0"/>
          </a:xfrm>
          <a:prstGeom prst="line">
            <a:avLst/>
          </a:prstGeom>
          <a:ln w="12700">
            <a:solidFill>
              <a:srgbClr val="CFD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4069080"/>
            <a:ext cx="3063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投资测算 · 资产管理 · 招商引资全链路自动化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2514600"/>
            <a:ext cx="36118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00600" y="2788920"/>
            <a:ext cx="640080" cy="640080"/>
          </a:xfrm>
          <a:prstGeom prst="ellipse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2788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83464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空间增值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29184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B31B1B"/>
                </a:solidFill>
                <a:latin typeface="Microsoft YaHei"/>
                <a:ea typeface="Microsoft YaHei"/>
                <a:cs typeface="Microsoft YaHei"/>
              </a:rPr>
              <a:t>科创生态  ·  场景运营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00600" y="3931920"/>
            <a:ext cx="3063240" cy="0"/>
          </a:xfrm>
          <a:prstGeom prst="line">
            <a:avLst/>
          </a:prstGeom>
          <a:ln w="12700">
            <a:solidFill>
              <a:srgbClr val="CFD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800600" y="4069080"/>
            <a:ext cx="3063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前沿沙龙 · 国际路演 · 专精特新 · OPC 服务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2514600"/>
            <a:ext cx="36118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0" y="2788920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2788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83464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跨界协同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29184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学术 · 产业 · 投资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595360" y="3931920"/>
            <a:ext cx="3063240" cy="0"/>
          </a:xfrm>
          <a:prstGeom prst="line">
            <a:avLst/>
          </a:prstGeom>
          <a:ln w="12700">
            <a:solidFill>
              <a:srgbClr val="CFD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95360" y="4069080"/>
            <a:ext cx="3063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打通三圈壁垒  ·  不动产价值二次跃升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B31B1B"/>
                </a:solidFill>
                <a:latin typeface="Microsoft YaHei"/>
                <a:ea typeface="Microsoft YaHei"/>
                <a:cs typeface="Microsoft YaHei"/>
              </a:rPr>
              <a:t>▌ 接下来逐条展开 —— 这三条主线，决定行业未来五年的“代差”。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上海市房产经济学会 · 中青年学术研讨会  |  2026.05.27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CFD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84124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PART 03 · 核心动能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管理提效：AI 与数字化重塑不动产经营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13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大语言模型 + AI，让不动产管理“看得清、算得快、跑得稳”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544068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74519"/>
            <a:ext cx="137160" cy="19659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03119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投资测算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14599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LLM 辅助尽调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59"/>
            <a:ext cx="4892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项目可研、租赁条款抽取、敏感性分析自动化；
投资委员会的决策周期由“周”缩到“天”。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874519"/>
            <a:ext cx="544068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874519"/>
            <a:ext cx="137160" cy="196596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103119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资产管理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514599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6F6B"/>
                </a:solidFill>
                <a:latin typeface="Microsoft YaHei"/>
                <a:ea typeface="Microsoft YaHei"/>
                <a:cs typeface="Microsoft YaHei"/>
              </a:rPr>
              <a:t>AI 驱动 NOI 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880359"/>
            <a:ext cx="4892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租户画像 · 续约预测 · 能耗优化 · 维保排程；
实现资产 ROE / NOI 的可视化追踪。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23359"/>
            <a:ext cx="544068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023359"/>
            <a:ext cx="137160" cy="196596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251959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招商引资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663439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B31B1B"/>
                </a:solidFill>
                <a:latin typeface="Microsoft YaHei"/>
                <a:ea typeface="Microsoft YaHei"/>
                <a:cs typeface="Microsoft YaHei"/>
              </a:rPr>
              <a:t>自动化获客与匹配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029199"/>
            <a:ext cx="4892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依托大模型构建“产业图谱 + 招商雷达”，
精准触达专精特新、总部企业与外资客户。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4023359"/>
            <a:ext cx="544068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4023359"/>
            <a:ext cx="137160" cy="1965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251959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风险合规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663439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智能审单与监控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5029199"/>
            <a:ext cx="4892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合同审查、合规巡检、舆情监测全流程 AI 化；
降低人工成本，提高风控韧性。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▌ 关键词：自动化  ·  数据资产化  ·  人机协同  ·  端到端流程再造。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上海市房产经济学会 · 中青年学术研讨会  |  2026.05.27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CFD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84124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PART 03 · 核心动能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空间增值：科创生态对物理空间的二次赋能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14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把物业打造成 “产业、人才、资本” 共振的活力场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54864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920240"/>
            <a:ext cx="5486400" cy="50292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生态四层结构  ·  Ecosystem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651760"/>
            <a:ext cx="4937760" cy="713232"/>
          </a:xfrm>
          <a:prstGeom prst="rect">
            <a:avLst/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" y="2651760"/>
            <a:ext cx="164592" cy="713232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651760"/>
            <a:ext cx="1554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L4 · 资本层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651760"/>
            <a:ext cx="31089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国资基金 · 产业基金 · 不动产 REITs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438144"/>
            <a:ext cx="4937760" cy="713232"/>
          </a:xfrm>
          <a:prstGeom prst="rect">
            <a:avLst/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3438144"/>
            <a:ext cx="164592" cy="7132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438144"/>
            <a:ext cx="1554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L3 · 产业层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438144"/>
            <a:ext cx="31089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专精特新企业 · 总部基地 · OPC 单一人公司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224528"/>
            <a:ext cx="4937760" cy="713232"/>
          </a:xfrm>
          <a:prstGeom prst="rect">
            <a:avLst/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" y="4224528"/>
            <a:ext cx="164592" cy="713232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224528"/>
            <a:ext cx="1554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L2 · 创新层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224528"/>
            <a:ext cx="31089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前沿科技沙龙 · 国际创新路演 · 高校智库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010912"/>
            <a:ext cx="4937760" cy="713232"/>
          </a:xfrm>
          <a:prstGeom prst="rect">
            <a:avLst/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" y="5010912"/>
            <a:ext cx="164592" cy="713232"/>
          </a:xfrm>
          <a:prstGeom prst="rect">
            <a:avLst/>
          </a:prstGeom>
          <a:solidFill>
            <a:srgbClr val="19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5010912"/>
            <a:ext cx="1554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L1 · 空间层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010912"/>
            <a:ext cx="31089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高品质物业 · 共享场景 · 数字基础设施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920240"/>
            <a:ext cx="530352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920240"/>
            <a:ext cx="5303520" cy="50292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92024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典型场景  ·  Signature Scenarios</a:t>
            </a:r>
          </a:p>
        </p:txBody>
      </p:sp>
      <p:sp>
        <p:nvSpPr>
          <p:cNvPr id="31" name="Oval 30"/>
          <p:cNvSpPr/>
          <p:nvPr/>
        </p:nvSpPr>
        <p:spPr>
          <a:xfrm>
            <a:off x="6766560" y="2697480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22592" y="2606040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前沿科技沙龙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2935224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AI · 生物医药 · 新能源等议题主题夜，
面向园区企业与高校研究者。</a:t>
            </a:r>
          </a:p>
        </p:txBody>
      </p:sp>
      <p:sp>
        <p:nvSpPr>
          <p:cNvPr id="34" name="Oval 33"/>
          <p:cNvSpPr/>
          <p:nvPr/>
        </p:nvSpPr>
        <p:spPr>
          <a:xfrm>
            <a:off x="6766560" y="3520440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22592" y="3429000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国际创新路演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3758184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对接海外创投与孵化器，
承接技术引进与跨境合作。</a:t>
            </a:r>
          </a:p>
        </p:txBody>
      </p:sp>
      <p:sp>
        <p:nvSpPr>
          <p:cNvPr id="37" name="Oval 36"/>
          <p:cNvSpPr/>
          <p:nvPr/>
        </p:nvSpPr>
        <p:spPr>
          <a:xfrm>
            <a:off x="6766560" y="4343400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22592" y="4251960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专精特新加速器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2592" y="4581144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围绕“小巨人”企业提供选址、补贴、融资、招才一站式服务。</a:t>
            </a:r>
          </a:p>
        </p:txBody>
      </p:sp>
      <p:sp>
        <p:nvSpPr>
          <p:cNvPr id="40" name="Oval 39"/>
          <p:cNvSpPr/>
          <p:nvPr/>
        </p:nvSpPr>
        <p:spPr>
          <a:xfrm>
            <a:off x="6766560" y="5166360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22592" y="5074920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OPC 共享总部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2592" y="5404104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为“单一人公司 OPC”定制
弹性办公 · 行政托管 · 合规服务。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B31B1B"/>
                </a:solidFill>
                <a:latin typeface="Microsoft YaHei"/>
                <a:ea typeface="Microsoft YaHei"/>
                <a:cs typeface="Microsoft YaHei"/>
              </a:rPr>
              <a:t>▌ 空间增值的本质：从 “出租平方米” 升级为 “出租生态位”。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上海市房产经济学会 · 中青年学术研讨会  |  2026.05.27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CFD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84124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PART 03 · 核心动能 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跨界协同：打通“学术—产业—投资”三圈壁垒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15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三圈协同：让不动产成为创新要素的“路由器”</a:t>
            </a:r>
          </a:p>
        </p:txBody>
      </p:sp>
      <p:sp>
        <p:nvSpPr>
          <p:cNvPr id="9" name="Oval 8"/>
          <p:cNvSpPr/>
          <p:nvPr/>
        </p:nvSpPr>
        <p:spPr>
          <a:xfrm>
            <a:off x="2240280" y="3063240"/>
            <a:ext cx="1920240" cy="1920240"/>
          </a:xfrm>
          <a:prstGeom prst="ellipse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34747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学术圈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40233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高校 · 智库 · 研究院</a:t>
            </a:r>
          </a:p>
        </p:txBody>
      </p:sp>
      <p:sp>
        <p:nvSpPr>
          <p:cNvPr id="12" name="Oval 11"/>
          <p:cNvSpPr/>
          <p:nvPr/>
        </p:nvSpPr>
        <p:spPr>
          <a:xfrm>
            <a:off x="5166360" y="3063240"/>
            <a:ext cx="1920240" cy="1920240"/>
          </a:xfrm>
          <a:prstGeom prst="ellipse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34747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产业圈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40233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实体企业 · 园区 · 协会</a:t>
            </a:r>
          </a:p>
        </p:txBody>
      </p:sp>
      <p:sp>
        <p:nvSpPr>
          <p:cNvPr id="15" name="Oval 14"/>
          <p:cNvSpPr/>
          <p:nvPr/>
        </p:nvSpPr>
        <p:spPr>
          <a:xfrm>
            <a:off x="8092440" y="3063240"/>
            <a:ext cx="1920240" cy="192024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34747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投资圈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0233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基金 · 银行 · REITs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0680" y="5029200"/>
            <a:ext cx="132588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5029200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不动产平台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1874519"/>
            <a:ext cx="35661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1874519"/>
            <a:ext cx="109728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196595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理论 → 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28599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高校研究成果在园区中试与产业化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1874519"/>
            <a:ext cx="35661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1874519"/>
            <a:ext cx="109728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196595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产业 → 资本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228599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项目通过 REITs / 私募实现价值变现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1874519"/>
            <a:ext cx="35661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1874519"/>
            <a:ext cx="109728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196595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资本 → 学术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228599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投资反哺研究与人才培养，形成闭环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B31B1B"/>
                </a:solidFill>
                <a:latin typeface="Microsoft YaHei"/>
                <a:ea typeface="Microsoft YaHei"/>
                <a:cs typeface="Microsoft YaHei"/>
              </a:rPr>
              <a:t>▌ 协同的红利：不动产价值的“二次跃升”——从空间溢价到生态溢价。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上海市房产经济学会 · 中青年学术研讨会  |  2026.05.27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CFD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7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99248" y="0"/>
            <a:ext cx="7315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657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0" b="1">
                <a:solidFill>
                  <a:srgbClr val="193A6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PART 04  ·  总结展望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3703320"/>
            <a:ext cx="150876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38862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“十五五”时期从业者的知与行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54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C8D3E4"/>
                </a:solidFill>
                <a:latin typeface="Microsoft YaHei"/>
                <a:ea typeface="Microsoft YaHei"/>
                <a:cs typeface="Microsoft YaHei"/>
              </a:rPr>
              <a:t>学术与实业的双轮驱动 · 结语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3657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16 / 18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6217920"/>
            <a:ext cx="10698480" cy="0"/>
          </a:xfrm>
          <a:prstGeom prst="line">
            <a:avLst/>
          </a:prstGeom>
          <a:ln w="9525">
            <a:solidFill>
              <a:srgbClr val="19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A9C2"/>
                </a:solidFill>
                <a:latin typeface="Microsoft YaHei"/>
                <a:ea typeface="Microsoft YaHei"/>
                <a:cs typeface="Microsoft YaHei"/>
              </a:rPr>
              <a:t>上海市房产经济学会  ·  中青年学术研讨会  ·  2026.05.27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84124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PART 04  ·  总结展望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发展共识：学术与实业的“双轮驱动”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17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高质量发展，是“理论 × 实战”的合奏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54406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74519"/>
            <a:ext cx="5440680" cy="59436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5440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学术界  ·  提供方向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2834639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2743199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理论指引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3127247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为新模式提供分析框架、政策解读与价值判断。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3767327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3312" y="3675887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方法供给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059935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把产业经济、城市经济与金融工程的方法落到不动产。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4700015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53312" y="4608575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人才培育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4992623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为行业培养兼具学术素养与产业视角的中青年骨干。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1874519"/>
            <a:ext cx="54406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1874519"/>
            <a:ext cx="5440680" cy="5943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874519"/>
            <a:ext cx="5440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实业界  ·  蹚出新路</a:t>
            </a:r>
          </a:p>
        </p:txBody>
      </p:sp>
      <p:sp>
        <p:nvSpPr>
          <p:cNvPr id="24" name="Oval 23"/>
          <p:cNvSpPr/>
          <p:nvPr/>
        </p:nvSpPr>
        <p:spPr>
          <a:xfrm>
            <a:off x="6720840" y="2834639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76872" y="2743199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工具创新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3127247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用 AI、数字化等科技工具，重塑投资 · 运营 · 招商流程。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3767327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76872" y="3675887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场景试验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6872" y="4059935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把科创沙龙、国际路演、OPC 服务在园区中规模化。</a:t>
            </a:r>
          </a:p>
        </p:txBody>
      </p:sp>
      <p:sp>
        <p:nvSpPr>
          <p:cNvPr id="30" name="Oval 29"/>
          <p:cNvSpPr/>
          <p:nvPr/>
        </p:nvSpPr>
        <p:spPr>
          <a:xfrm>
            <a:off x="6720840" y="4700015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76872" y="4608575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生态构建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4992623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C3340"/>
                </a:solidFill>
                <a:latin typeface="Microsoft YaHei"/>
                <a:ea typeface="Microsoft YaHei"/>
                <a:cs typeface="Microsoft YaHei"/>
              </a:rPr>
              <a:t>把单体物业升级为连接学术、产业、资本的综合平台。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B2447"/>
                </a:solidFill>
                <a:latin typeface="Microsoft YaHei"/>
                <a:ea typeface="Microsoft YaHei"/>
                <a:cs typeface="Microsoft YaHei"/>
              </a:rPr>
              <a:t>▌ 共识：没有学术的“望远镜”和实业的“显微镜”，就没有真正的高质量发展。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55E6C"/>
                </a:solidFill>
                <a:latin typeface="Microsoft YaHei"/>
                <a:ea typeface="Microsoft YaHei"/>
                <a:cs typeface="Microsoft YaHei"/>
              </a:rPr>
              <a:t>上海市房产经济学会 · 中青年学术研讨会  |  2026.05.27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CFD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结语  ·  Closing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371600"/>
            <a:ext cx="128016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459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行业虽在阵痛期，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但 “和光同尘” —— 顺应科技大势与国家宏观规划。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不动产，依然是孕育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365760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新质生产力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65760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的最佳土壤。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0" y="5120640"/>
            <a:ext cx="1280160" cy="128016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0" y="51206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高质量
发展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敬请批评指正  ·  THANK YOU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5806440"/>
            <a:ext cx="3383280" cy="0"/>
          </a:xfrm>
          <a:prstGeom prst="line">
            <a:avLst/>
          </a:prstGeom>
          <a:ln w="190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6C24A"/>
                </a:solidFill>
                <a:latin typeface="Microsoft YaHei"/>
                <a:ea typeface="Microsoft YaHei"/>
                <a:cs typeface="Microsoft YaHei"/>
              </a:rPr>
              <a:t>上海市房产经济学会  ·  中青年学术研讨会  ·  2026.05.27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