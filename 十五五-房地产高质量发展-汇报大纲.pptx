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【开场 · 约 30 秒】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各位老师、各位同仁，下午好。非常荣幸今天能在房产经济学会的中青年研讨会上发言。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我汇报的题目是——《"十五五"时期房地产高质量发展的新模式——以科技创新与产城融合为驱动》。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我想用 30 分钟的时间，把我自己在一线对这个题目的观察和实践，做一个汇报，请各位老师批评指正。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【过场页 · 不展开】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这一页是摘要，前面已经书面提交过，今天就不再宣读。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直接进入大纲。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【宣读大纲 · 约 1 分钟】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今天的汇报，一共分四个板块：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第一，时代定调，我用 5 分钟，谈"十五五"开局与房地产周期的新旧转换；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第二，破局寻路，用 8 分钟，谈房地产新模式的核心内涵；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第三，核心动能，用 12 分钟，也是今天的重点，谈科技创新如何驱动不动产高质量发展；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最后第四部分，用 5 分钟，做一个总结展望。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我尽量在 30 分钟内汇报完，把更多时间留给各位老师的指导和点评。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【PART 01 章节切换 · 10 秒】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首先，进入第一板块——时代定调。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90 秒 · 宏观背景】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要谈房地产，首先要把它放回国家大盘里看。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"十五五"是一个非常特殊的五年：它不是简单的"十四五"的延续，而是国家由中高速增长正式转向高质量发展的关键期，也是构建新发展格局、培育新质生产力的攻坚期。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政策主线非常清晰——扩大内需、科技自立自强、构建现代化产业体系，这"三条腿"决定了所有支柱产业的未来定位。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落到房地产，行业坐标已经变了："房住不炒"长期不变，重心从增量开发转向存量经营和服务实体经济。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所以，房地产的角色，已经从过去的"增长引擎"，转向"质量底盘"。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2 分钟 · 旧 vs 新模式对照】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这张表，是我自己复盘出来的"旧模式"和"新模式"对照。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左边是大家熟悉的旧模式：高杠杆、高周转、拼土地、拼销售、拼规模排名，背后是土地财政加金融加杠杆。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右边是"十五五"的新模式：稳健经营、提质增效，竞争核心从土地储备转到存量运营和服务能力；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收益来源从一次性开发利润，变成长期的运营收益、资管费和增值服务；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评价指标从规模和市占率，转向 ROE、ROA、NOI、客户复购这些资管化的指标；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和宏观的关系，也从加杠杆变成服务实体、赋能产业。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我想强调一句：这个转变不是周期性回调，而是结构性、范式性的"换轨"。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1 分钟 · 核心论点 · 一定要让老师们记住这句话】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基于以上判断，我提出今天汇报的核心论点：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"十五五"期间的房地产高质量发展，不再是单纯的去化和土储竞争，而是"存量资产精细化运营"与"科技产业化融合"的竞争。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具体可以拆成三个根本转移：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第一，从开发转向运营——以前拼建造速度，现在拼服务体验和长期收益；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第二，从资产转向平台——重资产持有让位于轻资产管理输出；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第三，从空间转向生态——单纯提供物理空间已经不够了，要构建产业+科创+资本的生态。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这三个转移，是我后面所有内容的逻辑起点。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【PART 02 章节切换 · 10 秒】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接下来第二部分，破局寻路——具体看新模式的内涵是什么。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3 分钟 · 空间载体跃迁】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我用"代际跃迁"这个视角来理解空间载体的演变：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1.0 阶段，是解决"有没有"的居住空间——刚需和改善；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2.0 阶段，是解决"好不好"的办公空间——商办、商业、物流；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3.0 阶段，是产城融合，解决"活不活"——科创园、总部基地开始出现；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而"十五五"我们要建设的，是 4.0 阶段——科创生态，解决的是"能不能孕育新质生产力"这个根本问题。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这一阶段的不动产，已经不只是容器，而是让"科技、资本、人才"三方共振的产业舞台，我们行内有句话叫"超级会客厅"。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我想这是判断一个项目高不高质的最重要标尺。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4 分钟 · 新模式两大特征】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具体来说，"新模式"有两大底层特征：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一个是"轻重分离"——重资产持有逐步转向轻资产管理输出和品牌输出。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资本结构上，降低对单一开发利润和高杠杆融资的依赖；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能力上，把管理、运营、招商、科技四种能力打包对外赋能；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收益上，做管理费 + 业绩分成 + 长期租金 + 资管增值的复合结构；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退出上，对接公募 REITs、类 REITs、不动产私募基金。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另一个是"产城融合"——把不动产真正嵌入实体经济，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打造科创"超级会客厅"，对接高校智库、科技企业和国际创新资源；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围绕"专精特新"企业，包括新冒出来的 OPC 单一人公司这类新主体，做定制化的场景运营；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让不动产成为产业升级和城市更新的"连接器"，承担孕育新质生产力的物理底座。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一手做减法（轻），一手做加法（产）——这就是新模式的两条腿。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【PART 03 章节切换 · 10 秒】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下面进入今天的重点——第三部分，核心动能：科技创新如何驱动不动产高质量发展。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这一段我用 12 分钟，主要结合我自己实战中看到的场景来谈。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1.5 分钟 · 三条主线总览】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我把科技驱动不动产的路径，归纳为三条主线：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第一条，管理提效——用 AI 和数字化重塑投资、资管、招商的全链路；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第二条，空间增值——用科创生态对物理空间做二次赋能；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第三条，跨界协同——打通"学术—产业—投资"的三圈壁垒。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这三条主线，决定了行业未来五年的"代差"——谁先跑通，谁就跑出新模式的样板。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我下面逐条展开。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3.5 分钟 · 管理提效 · 第三部分主阵地之一】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先说第一条——管理提效，重点是大语言模型加 AI 在不动产经营的落地。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四个最直接的场景：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投资测算：LLM 辅助尽调，自动抽取租赁条款、跑可研、做敏感性分析；投资委员会的决策周期，可以从"周"压缩到"天"。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资产管理：AI 驱动 NOI 优化，做租户画像、续约预测、能耗优化、维保排程；让资产 ROE / NOI 真正可视化、可追踪。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招商引资：基于大模型构建"产业图谱 + 招商雷达"，精准触达专精特新、总部企业和外资客户，这是过去靠跑断腿才能做的事。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风险合规：合同审查、合规巡检、舆情监测，全流程 AI 化，降低人工成本、提高风控韧性。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关键词其实就四个——自动化、数据资产化、人机协同、端到端流程再造。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3.5 分钟 · 空间增值 · 第三部分主阵地之二】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第二条主线是空间增值——靠科创生态让物业的价值二次跃升。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左边是我们做项目的"生态四层结构"：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最底层是空间层——高品质物业、共享场景、数字基础设施；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往上是创新层——前沿科技沙龙、国际创新路演、高校智库；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再往上是产业层——专精特新企业、总部基地、OPC 单一人公司；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最上面是资本层——国资基金、产业基金、不动产 REITs。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四层叠在一起，物业就从砖头变成了"生态位"。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右边是几个我自己在做的典型场景：前沿科技沙龙、国际创新路演、专精特新加速器、OPC 共享总部——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这些场景的本质，是把"出租平方米"升级为"出租生态位"。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这是高质量发展在物业层面最直接的体现。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3 分钟 · 跨界协同 · 第三部分主阵地之三】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第三条主线，跨界协同，也是我自己最看重的一条。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不动产平台，要成为创新要素的"路由器"，把三个圈子串起来：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学术圈——高校、智库、研究院，提供方向和方法；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产业圈——实体企业、园区、协会，提供需求和场景；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投资圈——基金、银行、REITs，提供资本和退出。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三圈协同的红利，体现在三个闭环：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理论到落地——高校研究在园区做中试和产业化；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产业到资本——好项目通过 REITs 和私募实现价值变现；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资本到学术——投资反哺研究和人才培养，再形成新一轮闭环。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这种协同，会带来不动产价值的"二次跃升"——从空间溢价升级为生态溢价。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【PART 04 章节切换 · 10 秒】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接下来是最后一部分——总结展望。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2 分钟 · 发展共识】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"十五五"的高质量发展，绝不是哪一方单打独斗能做到的，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它是学术界和实业界的双轮驱动：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学术界负责提供方向——理论指引、方法供给、人才培育；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实业界负责蹚出新路——工具创新、场景试验、生态构建。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没有学术界的"望远镜"，行业容易短视；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没有实业界的"显微镜"，理论也容易悬空。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今天能在房产经济学会与各位老师同坐一席，本身就是双轮驱动最好的注脚。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【约 1 分钟 · 结语】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最后我想说：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房地产行业确实在阵痛期，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但所谓"和光同尘"——只要我们顺应科技大势，顺应国家"十五五"的宏观规划，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不动产，依然是孕育新质生产力的最佳土壤。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中青年是这个行业未来五年最重要的力量，希望我们一起把新模式蹚出来。</a:t>
            </a:r>
          </a:p>
          <a:p>
            <a:pPr algn="l"/>
            <a:r>
              <a:rPr sz="1300">
                <a:latin typeface="Microsoft YaHei"/>
                <a:ea typeface="Microsoft YaHei"/>
                <a:cs typeface="Microsoft YaHei"/>
              </a:rPr>
              <a:t>我的汇报到这里，敬请各位老师批评指正，谢谢大家。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07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03920" y="0"/>
            <a:ext cx="73152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548640"/>
            <a:ext cx="2560320" cy="2560320"/>
          </a:xfrm>
          <a:prstGeom prst="rect">
            <a:avLst/>
          </a:prstGeom>
          <a:solidFill>
            <a:srgbClr val="19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0" y="822960"/>
            <a:ext cx="25603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72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十五五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3774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E6C24A"/>
                </a:solidFill>
                <a:latin typeface="Calibri"/>
                <a:ea typeface="Calibri"/>
                <a:cs typeface="Calibri"/>
              </a:rPr>
              <a:t>2026 — 2030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0" y="5303520"/>
            <a:ext cx="822960" cy="82296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0" y="5349240"/>
            <a:ext cx="822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
质
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8503920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上海市房产经济学会  ·  中青年学术研讨会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960120"/>
            <a:ext cx="25603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128016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“十五五”时期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2024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房地产高质量发展的新模式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——以科技创新与产城融合为驱动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49039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B8C4D6"/>
                </a:solidFill>
                <a:latin typeface="Calibri"/>
                <a:ea typeface="Calibri"/>
                <a:cs typeface="Calibri"/>
              </a:rPr>
              <a:t>A New Model of High-Quality Real-Estate Development for the 15th Five-Year 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97680"/>
            <a:ext cx="4297680" cy="0"/>
          </a:xfrm>
          <a:prstGeom prst="line">
            <a:avLst/>
          </a:prstGeom>
          <a:ln w="127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汇报场合：中青年学术研讨会  ·  规模 50–60 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83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汇报时间：2026 年 5 月 27 日  下午  ·  时长 30 分钟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949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议题方向：十五五规划 · 房地产新模式 · 高质量发展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9C2"/>
                </a:solidFill>
                <a:latin typeface="Microsoft YaHei"/>
                <a:ea typeface="Microsoft YaHei"/>
                <a:cs typeface="Microsoft YaHei"/>
              </a:rPr>
              <a:t>汇报人：（拟定稿  ·  供老同志审阅）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ABSTRACT  ·  内容摘要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150 字摘要  ·  供主办方先行审定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02 /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09728" cy="4572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内容摘要  ·  Executive Abstract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Approx. 150 字，紧扣“十五五 / 高质量 / 新模式 / 转型 / 实体经济”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694944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0000"/>
              </a:lnSpc>
            </a:pPr>
            <a:r>
              <a:rPr sz="15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立足“十五五”规划开局，房地产行业正从“高杠杆、高周转”的旧模式，全面转向“稳健经营、提质增效”的新阶段。本汇报围绕“房地产新模式”与“高质量发展”两大主题，提出：未来五年，行业竞争的核心已由土储与去化，转向存量资产精细化运营与科技产业化融合。报告将聚焦人工智能与大语言模型在不动产管理中的落地、科创生态对空间价值的二次赋能，以及“学术—产业—投资”跨界协同的实践路径，探讨服务实体经济、孕育新质生产力的不动产新范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0" y="1417320"/>
            <a:ext cx="3108960" cy="4572000"/>
          </a:xfrm>
          <a:prstGeom prst="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95360" y="1417320"/>
            <a:ext cx="3108960" cy="4572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4173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关 键 词 / KEYWORDS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05740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十五五规划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441448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高质量发展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82549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房地产新模式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20954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1F6F6B"/>
                </a:solidFill>
                <a:latin typeface="Microsoft YaHei"/>
                <a:ea typeface="Microsoft YaHei"/>
                <a:cs typeface="Microsoft YaHei"/>
              </a:rPr>
              <a:t>产城融合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59359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193A6B"/>
                </a:solidFill>
                <a:latin typeface="Microsoft YaHei"/>
                <a:ea typeface="Microsoft YaHei"/>
                <a:cs typeface="Microsoft YaHei"/>
              </a:rPr>
              <a:t>科技赋能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97764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存量运营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4361688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新质生产力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74573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实体经济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51297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1F6F6B"/>
                </a:solidFill>
                <a:latin typeface="Microsoft YaHei"/>
                <a:ea typeface="Microsoft YaHei"/>
                <a:cs typeface="Microsoft YaHei"/>
              </a:rPr>
              <a:t>AI · 大模型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551383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产业转型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AGENDA  ·  汇报大纲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四个板块  ·  共 30 分钟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03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汇报大纲   Outline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以宏观政策切入，落地到实战领域，兼顾学术严谨与产业落地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23160"/>
            <a:ext cx="26517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423160"/>
            <a:ext cx="2651760" cy="164592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889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0B2447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63040" y="3840480"/>
            <a:ext cx="1188720" cy="0"/>
          </a:xfrm>
          <a:prstGeom prst="line">
            <a:avLst/>
          </a:prstGeom>
          <a:ln w="1524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" y="39776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时代定调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61772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“十五五”开局与房地产周期的新旧转换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623560"/>
            <a:ext cx="1371600" cy="320040"/>
          </a:xfrm>
          <a:prstGeom prst="round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56235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约 5 分钟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47872" y="2423160"/>
            <a:ext cx="26517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47872" y="2423160"/>
            <a:ext cx="2651760" cy="164592"/>
          </a:xfrm>
          <a:prstGeom prst="rect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47872" y="27889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1F6F6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279392" y="3840480"/>
            <a:ext cx="1188720" cy="0"/>
          </a:xfrm>
          <a:prstGeom prst="line">
            <a:avLst/>
          </a:prstGeom>
          <a:ln w="1524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30752" y="39776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破局寻路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461772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房地产“新模式”的核心内涵与高质量标准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87952" y="5623560"/>
            <a:ext cx="1371600" cy="320040"/>
          </a:xfrm>
          <a:prstGeom prst="round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87952" y="56235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约 8 分钟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64224" y="2423160"/>
            <a:ext cx="26517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64224" y="2423160"/>
            <a:ext cx="2651760" cy="164592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64224" y="27889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B31B1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95744" y="3840480"/>
            <a:ext cx="1188720" cy="0"/>
          </a:xfrm>
          <a:prstGeom prst="line">
            <a:avLst/>
          </a:prstGeom>
          <a:ln w="1524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47104" y="39776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核心动能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92824" y="461772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科技创新如何驱动不动产高质量发展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04304" y="5623560"/>
            <a:ext cx="1371600" cy="320040"/>
          </a:xfrm>
          <a:prstGeom prst="round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04304" y="56235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约 12 分钟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80576" y="2423160"/>
            <a:ext cx="26517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80576" y="2423160"/>
            <a:ext cx="2651760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0576" y="27889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C9A227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912096" y="3840480"/>
            <a:ext cx="1188720" cy="0"/>
          </a:xfrm>
          <a:prstGeom prst="line">
            <a:avLst/>
          </a:prstGeom>
          <a:ln w="1524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363456" y="397764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总结展望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9176" y="461772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“十五五”时期从业者的知与行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0656" y="5623560"/>
            <a:ext cx="1371600" cy="320040"/>
          </a:xfrm>
          <a:prstGeom prst="round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0656" y="56235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约 5 分钟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7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99248" y="0"/>
            <a:ext cx="73152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3657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0" b="1">
                <a:solidFill>
                  <a:srgbClr val="193A6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9A227"/>
                </a:solidFill>
                <a:latin typeface="Calibri"/>
                <a:ea typeface="Calibri"/>
                <a:cs typeface="Calibri"/>
              </a:rPr>
              <a:t>PART 01  ·  时代定调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3703320"/>
            <a:ext cx="150876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886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“十五五”开局与房地产周期的新旧转换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54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8D3E4"/>
                </a:solidFill>
                <a:latin typeface="Microsoft YaHei"/>
                <a:ea typeface="Microsoft YaHei"/>
                <a:cs typeface="Microsoft YaHei"/>
              </a:rPr>
              <a:t>宏观背景 · 旧模式告别 · 核心论点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04 / 18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6217920"/>
            <a:ext cx="10698480" cy="0"/>
          </a:xfrm>
          <a:prstGeom prst="line">
            <a:avLst/>
          </a:prstGeom>
          <a:ln w="9525">
            <a:solidFill>
              <a:srgbClr val="19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AA9C2"/>
                </a:solidFill>
                <a:latin typeface="Microsoft YaHei"/>
                <a:ea typeface="Microsoft YaHei"/>
                <a:cs typeface="Microsoft YaHei"/>
              </a:rPr>
              <a:t>上海市房产经济学会  ·  中青年学术研讨会  ·  2026.05.27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01  ·  时代定调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宏观背景解读：“十五五”的战略地位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05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“十五五”：国家经济结构转型的关键五年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从“数量扩张” 走向 “质量跃迁”，从“要素驱动” 走向 “创新驱动”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3611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468880"/>
            <a:ext cx="109728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7889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战略定位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7280" y="3337560"/>
            <a:ext cx="914400" cy="0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97280" y="3520440"/>
            <a:ext cx="3063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国家由 中高速增长 转向 高质量发展 的关键期；
也是构建 新发展格局、培育 新质生产力 的攻坚期。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80" y="2468880"/>
            <a:ext cx="3611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80" y="2468880"/>
            <a:ext cx="109728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27889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政策主线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92040" y="3337560"/>
            <a:ext cx="914400" cy="0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892040" y="3520440"/>
            <a:ext cx="3063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扩大内需 + 科技自立自强 + 现代化产业体系；
房地产作为支柱产业，承担稳投资、稳预期的功能。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2468880"/>
            <a:ext cx="361188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2468880"/>
            <a:ext cx="109728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27889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行业坐标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6800" y="3337560"/>
            <a:ext cx="914400" cy="0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86800" y="3520440"/>
            <a:ext cx="30632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“房住不炒”长期不变，行业重心从 增量开发 
转向 存量经营 与 服务实体经济。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▌ 论点：宏观叙事下，房地产的角色从“增长引擎”转向“质量底盘”。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01  ·  时代定调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告别旧模式：从“三高”到“稳健经营、提质增效”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06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旧模式 vs 新模式 · 对照表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744200" cy="56692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74519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74519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旧模式（增量时代）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74519"/>
            <a:ext cx="4251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新模式（“十五五”）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41447"/>
            <a:ext cx="107442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441447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发展逻辑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41447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高杠杆 · 高周转 · 高增长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441447"/>
            <a:ext cx="4251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稳健经营 · 提质增效 · 长周期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008375"/>
            <a:ext cx="10744200" cy="566928"/>
          </a:xfrm>
          <a:prstGeom prst="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008375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竞争核心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008375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土地储备 · 销售去化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008375"/>
            <a:ext cx="4251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存量运营 · 服务能力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575303"/>
            <a:ext cx="107442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575303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收益来源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575303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开发利润 · 资产升值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575303"/>
            <a:ext cx="4251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运营收益 · 资管费 · 增值服务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142231"/>
            <a:ext cx="10744200" cy="566928"/>
          </a:xfrm>
          <a:prstGeom prst="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142231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产品形态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142231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标准化住宅 · 商办堆量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142231"/>
            <a:ext cx="4251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产品+服务+生态 · 场景化复合空间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709159"/>
            <a:ext cx="107442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709159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评价指标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59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规模 · 排名 · 市占率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709159"/>
            <a:ext cx="4251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ROE · ROA · NOI · 客户复购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5276087"/>
            <a:ext cx="10744200" cy="566928"/>
          </a:xfrm>
          <a:prstGeom prst="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276087"/>
            <a:ext cx="16459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行业关系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276087"/>
            <a:ext cx="4297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土地财政 · 金融加杠杆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276087"/>
            <a:ext cx="4251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服务实体 · 赋能产业 · 协同创新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▌ 转变不是周期性的回调，而是结构性、范式性的“换轨”。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01  ·  时代定调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核心论点：竞争维度的根本转移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07 /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6583680" cy="4572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64592" cy="4572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9164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0" b="1">
                <a:solidFill>
                  <a:srgbClr val="C9A227"/>
                </a:solidFill>
                <a:latin typeface="Calibri"/>
                <a:ea typeface="Calibri"/>
                <a:cs typeface="Calibri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31720"/>
            <a:ext cx="62179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“十五五”期间的房地产高质量发展，
不再是单纯的去化和土储竞争，
而是 存量资产精细化运营 
与 科技产业化融合 的竞争。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5257800"/>
            <a:ext cx="173736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534924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— 本汇报的核心论点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46304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三个根本转移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80960" y="1920240"/>
            <a:ext cx="91440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7680960" y="2194560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6992" y="21031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从 开发 → 运营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6992" y="248716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拼建造、拼速度，转为拼服务、拼体验、拼长期收益。</a:t>
            </a:r>
          </a:p>
        </p:txBody>
      </p:sp>
      <p:sp>
        <p:nvSpPr>
          <p:cNvPr id="19" name="Oval 18"/>
          <p:cNvSpPr/>
          <p:nvPr/>
        </p:nvSpPr>
        <p:spPr>
          <a:xfrm>
            <a:off x="7680960" y="3172968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30815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从 资产 → 平台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346557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重资产持有，转为轻资产管理输出与品牌赋能。</a:t>
            </a:r>
          </a:p>
        </p:txBody>
      </p:sp>
      <p:sp>
        <p:nvSpPr>
          <p:cNvPr id="22" name="Oval 21"/>
          <p:cNvSpPr/>
          <p:nvPr/>
        </p:nvSpPr>
        <p:spPr>
          <a:xfrm>
            <a:off x="7680960" y="4151376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36992" y="405993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从 空间 → 生态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6992" y="4443984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提供物理空间，转为构建产业 + 科创 + 资本生态。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7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99248" y="0"/>
            <a:ext cx="73152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3657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0" b="1">
                <a:solidFill>
                  <a:srgbClr val="193A6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9A227"/>
                </a:solidFill>
                <a:latin typeface="Calibri"/>
                <a:ea typeface="Calibri"/>
                <a:cs typeface="Calibri"/>
              </a:rPr>
              <a:t>PART 02  ·  破局寻路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3703320"/>
            <a:ext cx="150876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886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房地产“新模式”的核心内涵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54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8D3E4"/>
                </a:solidFill>
                <a:latin typeface="Microsoft YaHei"/>
                <a:ea typeface="Microsoft YaHei"/>
                <a:cs typeface="Microsoft YaHei"/>
              </a:rPr>
              <a:t>空间载体跃迁 · 轻重分离 · 产城融合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08 / 18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6217920"/>
            <a:ext cx="10698480" cy="0"/>
          </a:xfrm>
          <a:prstGeom prst="line">
            <a:avLst/>
          </a:prstGeom>
          <a:ln w="9525">
            <a:solidFill>
              <a:srgbClr val="19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AA9C2"/>
                </a:solidFill>
                <a:latin typeface="Microsoft YaHei"/>
                <a:ea typeface="Microsoft YaHei"/>
                <a:cs typeface="Microsoft YaHei"/>
              </a:rPr>
              <a:t>上海市房产经济学会  ·  中青年学术研讨会  ·  2026.05.27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02  ·  破局寻路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高质量发展的空间载体：从“居住与办公”到“科创与产业”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09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空间载体的代际跃迁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不动产不再只是“盛放生活与办公的容器”，而是“激发创新与产业的舞台”。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269748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468880"/>
            <a:ext cx="2697480" cy="548640"/>
          </a:xfrm>
          <a:prstGeom prst="rect">
            <a:avLst/>
          </a:prstGeom>
          <a:solidFill>
            <a:srgbClr val="19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阶段 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46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居住空间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63040" y="3886200"/>
            <a:ext cx="1234440" cy="0"/>
          </a:xfrm>
          <a:prstGeom prst="line">
            <a:avLst/>
          </a:prstGeom>
          <a:ln w="1524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0120" y="406908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解决“有没有”
刚需 · 改善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468880"/>
            <a:ext cx="269748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468880"/>
            <a:ext cx="2697480" cy="548640"/>
          </a:xfrm>
          <a:prstGeom prst="rect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46888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阶段 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246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办公空间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97680" y="3886200"/>
            <a:ext cx="1234440" cy="0"/>
          </a:xfrm>
          <a:prstGeom prst="line">
            <a:avLst/>
          </a:prstGeom>
          <a:ln w="1524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94760" y="406908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解决“好不好”
商办 · 商业 · 物流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468880"/>
            <a:ext cx="269748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2468880"/>
            <a:ext cx="2697480" cy="54864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46888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阶段 3.0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246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产城融合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32320" y="3886200"/>
            <a:ext cx="1234440" cy="0"/>
          </a:xfrm>
          <a:prstGeom prst="line">
            <a:avLst/>
          </a:prstGeom>
          <a:ln w="1524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629400" y="406908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解决“活不活”
科创园 · 总部基地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2468880"/>
            <a:ext cx="269748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35440" y="2468880"/>
            <a:ext cx="269748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246888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阶段 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246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科创生态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966960" y="3886200"/>
            <a:ext cx="1234440" cy="0"/>
          </a:xfrm>
          <a:prstGeom prst="line">
            <a:avLst/>
          </a:prstGeom>
          <a:ln w="1524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464040" y="4069080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解决“能不能孕育新质生产力”
超级会客厅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▌ 高质量发展的空间载体，是 “能让科技 · 资本 · 人才共振” 的产业舞台。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02  ·  破局寻路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新模式的两大特征：轻重分离 + 产城融合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10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“新模式”的两大底层特征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544068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74519"/>
            <a:ext cx="5440680" cy="54864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74519"/>
            <a:ext cx="5440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特征一  ·  轻重分离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697479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重资产持有 → 轻资产管理输出 · 品牌输出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720" y="3200399"/>
            <a:ext cx="1371600" cy="0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97280" y="3428999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53312" y="3337559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资本结构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666743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降低对单一开发利润和高杠杆融资的依赖。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4123943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32503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能力输出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4361687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把管理、运营、招商、科技四大能力对外赋能。</a:t>
            </a:r>
          </a:p>
        </p:txBody>
      </p:sp>
      <p:sp>
        <p:nvSpPr>
          <p:cNvPr id="20" name="Oval 19"/>
          <p:cNvSpPr/>
          <p:nvPr/>
        </p:nvSpPr>
        <p:spPr>
          <a:xfrm>
            <a:off x="1097280" y="4818887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53312" y="4727447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收益模式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3312" y="5056631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管理费 + 业绩分成 + 长期租金 + 资管增值。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5513831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53312" y="5422391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退出路径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3312" y="5751575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对接 公募 REITs · 类 REITs · 不动产私募基金。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874519"/>
            <a:ext cx="544068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874519"/>
            <a:ext cx="5440680" cy="54864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874519"/>
            <a:ext cx="5440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特征二  ·  产城融合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97479"/>
            <a:ext cx="4526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聚焦实体经济  ·  打造科创“超级会客厅”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0" y="3200399"/>
            <a:ext cx="1371600" cy="0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766560" y="3428999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22592" y="3337559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产业链接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592" y="3666743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导入高校智库 · 科技企业 · 国际创新资源。</a:t>
            </a:r>
          </a:p>
        </p:txBody>
      </p:sp>
      <p:sp>
        <p:nvSpPr>
          <p:cNvPr id="34" name="Oval 33"/>
          <p:cNvSpPr/>
          <p:nvPr/>
        </p:nvSpPr>
        <p:spPr>
          <a:xfrm>
            <a:off x="6766560" y="4123943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22592" y="4032503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场景运营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22592" y="4361687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围绕“专精特新”企业、OPC（单一人公司）等新主体打造场景。</a:t>
            </a:r>
          </a:p>
        </p:txBody>
      </p:sp>
      <p:sp>
        <p:nvSpPr>
          <p:cNvPr id="37" name="Oval 36"/>
          <p:cNvSpPr/>
          <p:nvPr/>
        </p:nvSpPr>
        <p:spPr>
          <a:xfrm>
            <a:off x="6766560" y="4818887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22592" y="4727447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城市价值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2592" y="5056631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让不动产成为产业升级与城市更新的“连接器”。</a:t>
            </a:r>
          </a:p>
        </p:txBody>
      </p:sp>
      <p:sp>
        <p:nvSpPr>
          <p:cNvPr id="40" name="Oval 39"/>
          <p:cNvSpPr/>
          <p:nvPr/>
        </p:nvSpPr>
        <p:spPr>
          <a:xfrm>
            <a:off x="6766560" y="5513831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2592" y="5422391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社会贡献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2592" y="5751575"/>
            <a:ext cx="4434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服务实体经济，孕育新质生产力的物理底座。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▌ 一手做减法（轻），一手做加法（产）——这是新模式的两条腿。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7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99248" y="0"/>
            <a:ext cx="73152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3657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0" b="1">
                <a:solidFill>
                  <a:srgbClr val="193A6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9A227"/>
                </a:solidFill>
                <a:latin typeface="Calibri"/>
                <a:ea typeface="Calibri"/>
                <a:cs typeface="Calibri"/>
              </a:rPr>
              <a:t>PART 03  ·  核心动能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3703320"/>
            <a:ext cx="150876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886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科技创新如何驱动不动产高质量发展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54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8D3E4"/>
                </a:solidFill>
                <a:latin typeface="Microsoft YaHei"/>
                <a:ea typeface="Microsoft YaHei"/>
                <a:cs typeface="Microsoft YaHei"/>
              </a:rPr>
              <a:t>管理提效 · 空间增值 · 跨界协同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11 / 18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6217920"/>
            <a:ext cx="10698480" cy="0"/>
          </a:xfrm>
          <a:prstGeom prst="line">
            <a:avLst/>
          </a:prstGeom>
          <a:ln w="9525">
            <a:solidFill>
              <a:srgbClr val="19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AA9C2"/>
                </a:solidFill>
                <a:latin typeface="Microsoft YaHei"/>
                <a:ea typeface="Microsoft YaHei"/>
                <a:cs typeface="Microsoft YaHei"/>
              </a:rPr>
              <a:t>上海市房产经济学会  ·  中青年学术研讨会  ·  2026.05.27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03  ·  核心动能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科技创新驱动不动产高质量发展 —— 三条主线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12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三条主线：管理提效 · 空间增值 · 跨界协同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从“砖头”到“算法”，科技把不动产从“资产”升级为“平台”。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361188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2788920"/>
            <a:ext cx="640080" cy="640080"/>
          </a:xfrm>
          <a:prstGeom prst="ellipse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83464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管理提效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29184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AI · 大模型 · 数字化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3931920"/>
            <a:ext cx="3063240" cy="0"/>
          </a:xfrm>
          <a:prstGeom prst="line">
            <a:avLst/>
          </a:prstGeom>
          <a:ln w="12700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406908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投资测算 · 资产管理 · 招商引资全链路自动化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514600"/>
            <a:ext cx="361188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00600" y="2788920"/>
            <a:ext cx="640080" cy="640080"/>
          </a:xfrm>
          <a:prstGeom prst="ellipse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2788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83464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空间增值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329184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科创生态  ·  场景运营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00600" y="3931920"/>
            <a:ext cx="3063240" cy="0"/>
          </a:xfrm>
          <a:prstGeom prst="line">
            <a:avLst/>
          </a:prstGeom>
          <a:ln w="12700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800600" y="406908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前沿沙龙 · 国际路演 · 专精特新 · OPC 服务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2514600"/>
            <a:ext cx="361188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595360" y="2788920"/>
            <a:ext cx="640080" cy="64008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0" y="2788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83464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跨界协同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29184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学术 · 产业 · 投资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595360" y="3931920"/>
            <a:ext cx="3063240" cy="0"/>
          </a:xfrm>
          <a:prstGeom prst="line">
            <a:avLst/>
          </a:prstGeom>
          <a:ln w="12700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595360" y="406908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打通三圈壁垒  ·  不动产价值二次跃升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▌ 接下来逐条展开 —— 这三条主线，决定行业未来五年的“代差”。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03 · 核心动能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管理提效：AI 与数字化重塑不动产经营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13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大语言模型 + AI，让不动产管理“看得清、算得快、跑得稳”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5440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74519"/>
            <a:ext cx="137160" cy="196596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103119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投资测算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14599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LLM 辅助尽调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59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项目可研、租赁条款抽取、敏感性分析自动化；
投资委员会的决策周期由“周”缩到“天”。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874519"/>
            <a:ext cx="5440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874519"/>
            <a:ext cx="137160" cy="1965960"/>
          </a:xfrm>
          <a:prstGeom prst="rect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103119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资产管理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514599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F6F6B"/>
                </a:solidFill>
                <a:latin typeface="Microsoft YaHei"/>
                <a:ea typeface="Microsoft YaHei"/>
                <a:cs typeface="Microsoft YaHei"/>
              </a:rPr>
              <a:t>AI 驱动 NOI 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880359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租户画像 · 续约预测 · 能耗优化 · 维保排程；
实现资产 ROE / NOI 的可视化追踪。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023359"/>
            <a:ext cx="5440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023359"/>
            <a:ext cx="137160" cy="196596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51959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招商引资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663439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自动化获客与匹配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029199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依托大模型构建“产业图谱 + 招商雷达”，
精准触达专精特新、总部企业与外资客户。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4023359"/>
            <a:ext cx="544068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4023359"/>
            <a:ext cx="137160" cy="1965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251959"/>
            <a:ext cx="4892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风险合规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663439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智能审单与监控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029199"/>
            <a:ext cx="48920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合同审查、合规巡检、舆情监测全流程 AI 化；
降低人工成本，提高风控韧性。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▌ 关键词：自动化  ·  数据资产化  ·  人机协同  ·  端到端流程再造。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03 · 核心动能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空间增值：科创生态对物理空间的二次赋能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14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把物业打造成 “产业、人才、资本” 共振的活力场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20240"/>
            <a:ext cx="54864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20240"/>
            <a:ext cx="5486400" cy="50292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生态四层结构  ·  Ecosystem Stack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651760"/>
            <a:ext cx="4937760" cy="713232"/>
          </a:xfrm>
          <a:prstGeom prst="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" y="2651760"/>
            <a:ext cx="164592" cy="713232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2651760"/>
            <a:ext cx="15544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L4 · 资本层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651760"/>
            <a:ext cx="31089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国资基金 · 产业基金 · 不动产 REITs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438144"/>
            <a:ext cx="4937760" cy="713232"/>
          </a:xfrm>
          <a:prstGeom prst="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3438144"/>
            <a:ext cx="164592" cy="7132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438144"/>
            <a:ext cx="15544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L3 · 产业层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438144"/>
            <a:ext cx="31089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专精特新企业 · 总部基地 · OPC 单一人公司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224528"/>
            <a:ext cx="4937760" cy="713232"/>
          </a:xfrm>
          <a:prstGeom prst="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224528"/>
            <a:ext cx="164592" cy="713232"/>
          </a:xfrm>
          <a:prstGeom prst="rect">
            <a:avLst/>
          </a:prstGeom>
          <a:solidFill>
            <a:srgbClr val="1F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224528"/>
            <a:ext cx="15544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L2 · 创新层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4224528"/>
            <a:ext cx="31089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前沿科技沙龙 · 国际创新路演 · 高校智库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5010912"/>
            <a:ext cx="4937760" cy="713232"/>
          </a:xfrm>
          <a:prstGeom prst="rect">
            <a:avLst/>
          </a:prstGeom>
          <a:solidFill>
            <a:srgbClr val="EC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5010912"/>
            <a:ext cx="164592" cy="713232"/>
          </a:xfrm>
          <a:prstGeom prst="rect">
            <a:avLst/>
          </a:prstGeom>
          <a:solidFill>
            <a:srgbClr val="19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5010912"/>
            <a:ext cx="15544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L1 · 空间层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5010912"/>
            <a:ext cx="31089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高品质物业 · 共享场景 · 数字基础设施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920240"/>
            <a:ext cx="530352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1920240"/>
            <a:ext cx="5303520" cy="50292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2024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典型场景  ·  Signature Scenarios</a:t>
            </a:r>
          </a:p>
        </p:txBody>
      </p:sp>
      <p:sp>
        <p:nvSpPr>
          <p:cNvPr id="31" name="Oval 30"/>
          <p:cNvSpPr/>
          <p:nvPr/>
        </p:nvSpPr>
        <p:spPr>
          <a:xfrm>
            <a:off x="6766560" y="2697480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22592" y="2606040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前沿科技沙龙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592" y="29352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AI · 生物医药 · 新能源等议题主题夜，
面向园区企业与高校研究者。</a:t>
            </a:r>
          </a:p>
        </p:txBody>
      </p:sp>
      <p:sp>
        <p:nvSpPr>
          <p:cNvPr id="34" name="Oval 33"/>
          <p:cNvSpPr/>
          <p:nvPr/>
        </p:nvSpPr>
        <p:spPr>
          <a:xfrm>
            <a:off x="6766560" y="3520440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22592" y="3429000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国际创新路演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22592" y="375818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对接海外创投与孵化器，
承接技术引进与跨境合作。</a:t>
            </a:r>
          </a:p>
        </p:txBody>
      </p:sp>
      <p:sp>
        <p:nvSpPr>
          <p:cNvPr id="37" name="Oval 36"/>
          <p:cNvSpPr/>
          <p:nvPr/>
        </p:nvSpPr>
        <p:spPr>
          <a:xfrm>
            <a:off x="6766560" y="4343400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22592" y="4251960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专精特新加速器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2592" y="458114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围绕“小巨人”企业提供选址、补贴、融资、招才一站式服务。</a:t>
            </a:r>
          </a:p>
        </p:txBody>
      </p:sp>
      <p:sp>
        <p:nvSpPr>
          <p:cNvPr id="40" name="Oval 39"/>
          <p:cNvSpPr/>
          <p:nvPr/>
        </p:nvSpPr>
        <p:spPr>
          <a:xfrm>
            <a:off x="6766560" y="5166360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2592" y="5074920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OPC 共享总部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2592" y="540410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为“单一人公司 OPC”定制
弹性办公 · 行政托管 · 合规服务。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▌ 空间增值的本质：从 “出租平方米” 升级为 “出租生态位”。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03 · 核心动能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跨界协同：打通“学术—产业—投资”三圈壁垒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15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三圈协同：让不动产成为创新要素的“路由器”</a:t>
            </a:r>
          </a:p>
        </p:txBody>
      </p:sp>
      <p:sp>
        <p:nvSpPr>
          <p:cNvPr id="9" name="Oval 8"/>
          <p:cNvSpPr/>
          <p:nvPr/>
        </p:nvSpPr>
        <p:spPr>
          <a:xfrm>
            <a:off x="2240280" y="3063240"/>
            <a:ext cx="1920240" cy="1920240"/>
          </a:xfrm>
          <a:prstGeom prst="ellipse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34747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学术圈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40233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高校 · 智库 · 研究院</a:t>
            </a:r>
          </a:p>
        </p:txBody>
      </p:sp>
      <p:sp>
        <p:nvSpPr>
          <p:cNvPr id="12" name="Oval 11"/>
          <p:cNvSpPr/>
          <p:nvPr/>
        </p:nvSpPr>
        <p:spPr>
          <a:xfrm>
            <a:off x="5166360" y="3063240"/>
            <a:ext cx="1920240" cy="1920240"/>
          </a:xfrm>
          <a:prstGeom prst="ellipse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34747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产业圈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40233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实体企业 · 园区 · 协会</a:t>
            </a:r>
          </a:p>
        </p:txBody>
      </p:sp>
      <p:sp>
        <p:nvSpPr>
          <p:cNvPr id="15" name="Oval 14"/>
          <p:cNvSpPr/>
          <p:nvPr/>
        </p:nvSpPr>
        <p:spPr>
          <a:xfrm>
            <a:off x="8092440" y="3063240"/>
            <a:ext cx="1920240" cy="192024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34747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投资圈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40233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基金 · 银行 · REITs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40680" y="5029200"/>
            <a:ext cx="1325880" cy="5029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5029200"/>
            <a:ext cx="1325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不动产平台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1874519"/>
            <a:ext cx="35661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1874519"/>
            <a:ext cx="10972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196595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理论 → 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28599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高校研究成果在园区中试与产业化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1874519"/>
            <a:ext cx="35661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26280" y="1874519"/>
            <a:ext cx="10972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196595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产业 → 资本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228599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项目通过 REITs / 私募实现价值变现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1874519"/>
            <a:ext cx="35661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21040" y="1874519"/>
            <a:ext cx="109728" cy="7772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196595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资本 → 学术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228599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投资反哺研究与人才培养，形成闭环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1B1B"/>
                </a:solidFill>
                <a:latin typeface="Microsoft YaHei"/>
                <a:ea typeface="Microsoft YaHei"/>
                <a:cs typeface="Microsoft YaHei"/>
              </a:rPr>
              <a:t>▌ 协同的红利：不动产价值的“二次跃升”——从空间溢价到生态溢价。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7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99248" y="0"/>
            <a:ext cx="73152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3657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0" b="1">
                <a:solidFill>
                  <a:srgbClr val="193A6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9A227"/>
                </a:solidFill>
                <a:latin typeface="Calibri"/>
                <a:ea typeface="Calibri"/>
                <a:cs typeface="Calibri"/>
              </a:rPr>
              <a:t>PART 04  ·  总结展望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3703320"/>
            <a:ext cx="150876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886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“十五五”时期从业者的知与行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54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8D3E4"/>
                </a:solidFill>
                <a:latin typeface="Microsoft YaHei"/>
                <a:ea typeface="Microsoft YaHei"/>
                <a:cs typeface="Microsoft YaHei"/>
              </a:rPr>
              <a:t>学术与实业的双轮驱动 · 结语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16 / 18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6217920"/>
            <a:ext cx="10698480" cy="0"/>
          </a:xfrm>
          <a:prstGeom prst="line">
            <a:avLst/>
          </a:prstGeom>
          <a:ln w="9525">
            <a:solidFill>
              <a:srgbClr val="19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AA9C2"/>
                </a:solidFill>
                <a:latin typeface="Microsoft YaHei"/>
                <a:ea typeface="Microsoft YaHei"/>
                <a:cs typeface="Microsoft YaHei"/>
              </a:rPr>
              <a:t>上海市房产经济学会  ·  中青年学术研讨会  ·  2026.05.27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841248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PART 04  ·  总结展望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发展共识：学术与实业的“双轮驱动”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36576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17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高质量发展，是“理论 × 实战”的合奏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544068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74519"/>
            <a:ext cx="5440680" cy="59436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74519"/>
            <a:ext cx="54406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学术界  ·  提供方向</a:t>
            </a:r>
          </a:p>
        </p:txBody>
      </p:sp>
      <p:sp>
        <p:nvSpPr>
          <p:cNvPr id="12" name="Oval 11"/>
          <p:cNvSpPr/>
          <p:nvPr/>
        </p:nvSpPr>
        <p:spPr>
          <a:xfrm>
            <a:off x="1097280" y="2834639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53312" y="2743199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理论指引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127247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为新模式提供分析框架、政策解读与价值判断。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767327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7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方法供给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4059935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把产业经济、城市经济与金融工程的方法落到不动产。</a:t>
            </a:r>
          </a:p>
        </p:txBody>
      </p:sp>
      <p:sp>
        <p:nvSpPr>
          <p:cNvPr id="18" name="Oval 17"/>
          <p:cNvSpPr/>
          <p:nvPr/>
        </p:nvSpPr>
        <p:spPr>
          <a:xfrm>
            <a:off x="1097280" y="4700015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53312" y="4608575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人才培育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992623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为行业培养兼具学术素养与产业视角的中青年骨干。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874519"/>
            <a:ext cx="544068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874519"/>
            <a:ext cx="5440680" cy="59436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1874519"/>
            <a:ext cx="54406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实业界  ·  蹚出新路</a:t>
            </a:r>
          </a:p>
        </p:txBody>
      </p:sp>
      <p:sp>
        <p:nvSpPr>
          <p:cNvPr id="24" name="Oval 23"/>
          <p:cNvSpPr/>
          <p:nvPr/>
        </p:nvSpPr>
        <p:spPr>
          <a:xfrm>
            <a:off x="6720840" y="2834639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2743199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工具创新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3127247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用 AI、数字化等科技工具，重塑投资 · 运营 · 招商流程。</a:t>
            </a:r>
          </a:p>
        </p:txBody>
      </p:sp>
      <p:sp>
        <p:nvSpPr>
          <p:cNvPr id="27" name="Oval 26"/>
          <p:cNvSpPr/>
          <p:nvPr/>
        </p:nvSpPr>
        <p:spPr>
          <a:xfrm>
            <a:off x="6720840" y="3767327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6872" y="3675887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场景试验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4059935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把科创沙龙、国际路演、OPC 服务在园区中规模化。</a:t>
            </a:r>
          </a:p>
        </p:txBody>
      </p:sp>
      <p:sp>
        <p:nvSpPr>
          <p:cNvPr id="30" name="Oval 29"/>
          <p:cNvSpPr/>
          <p:nvPr/>
        </p:nvSpPr>
        <p:spPr>
          <a:xfrm>
            <a:off x="6720840" y="4700015"/>
            <a:ext cx="109728" cy="10972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76872" y="4608575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生态构建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6872" y="4992623"/>
            <a:ext cx="4434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2C3340"/>
                </a:solidFill>
                <a:latin typeface="Microsoft YaHei"/>
                <a:ea typeface="Microsoft YaHei"/>
                <a:cs typeface="Microsoft YaHei"/>
              </a:rPr>
              <a:t>把单体物业升级为连接学术、产业、资本的综合平台。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2447"/>
                </a:solidFill>
                <a:latin typeface="Microsoft YaHei"/>
                <a:ea typeface="Microsoft YaHei"/>
                <a:cs typeface="Microsoft YaHei"/>
              </a:rPr>
              <a:t>▌ 共识：没有学术的“望远镜”和实业的“显微镜”，就没有真正的高质量发展。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465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55E6C"/>
                </a:solidFill>
                <a:latin typeface="Microsoft YaHei"/>
                <a:ea typeface="Microsoft YaHei"/>
                <a:cs typeface="Microsoft YaHei"/>
              </a:rPr>
              <a:t>上海市房产经济学会 · 中青年学术研讨会  |  2026.05.27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19088"/>
            <a:ext cx="11091672" cy="0"/>
          </a:xfrm>
          <a:prstGeom prst="line">
            <a:avLst/>
          </a:prstGeom>
          <a:ln w="9525">
            <a:solidFill>
              <a:srgbClr val="CFD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9A227"/>
                </a:solidFill>
                <a:latin typeface="Calibri"/>
                <a:ea typeface="Calibri"/>
                <a:cs typeface="Calibri"/>
              </a:rPr>
              <a:t>结语  ·  Closing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371600"/>
            <a:ext cx="128016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459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行业虽在阵痛期，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但 “和光同尘” —— 顺应科技大势与国家宏观规划。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不动产，依然是孕育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65760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C9A227"/>
                </a:solidFill>
                <a:latin typeface="Microsoft YaHei"/>
                <a:ea typeface="Microsoft YaHei"/>
                <a:cs typeface="Microsoft YaHei"/>
              </a:rPr>
              <a:t>新质生产力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65760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的最佳土壤。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1280" y="5120640"/>
            <a:ext cx="1280160" cy="1280160"/>
          </a:xfrm>
          <a:prstGeom prst="rect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5120640"/>
            <a:ext cx="1280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高质量
发展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035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敬请批评指正  ·  THANK YOU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806440"/>
            <a:ext cx="3383280" cy="0"/>
          </a:xfrm>
          <a:prstGeom prst="line">
            <a:avLst/>
          </a:prstGeom>
          <a:ln w="1905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6C24A"/>
                </a:solidFill>
                <a:latin typeface="Microsoft YaHei"/>
                <a:ea typeface="Microsoft YaHei"/>
                <a:cs typeface="Microsoft YaHei"/>
              </a:rPr>
              <a:t>上海市房产经济学会  ·  中青年学术研讨会  ·  2026.05.27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