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0E8E4"/>
                </a:solidFill>
                <a:latin typeface="微软雅黑"/>
                <a:ea typeface="微软雅黑"/>
              </a:rPr>
              <a:t>西安电子科技大学  ·  课题发布配套材料  · 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AIDEN × 西电产学研课题介绍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0E8E4"/>
                </a:solidFill>
                <a:latin typeface="微软雅黑"/>
                <a:ea typeface="微软雅黑"/>
              </a:rPr>
              <a:t>十条已开工真实课题 · 供初筛同学挑选并组建项目组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发给经过初筛的同学：按兴趣选题，按组跟进。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计划 2026年8月24日（周一） 正式发出课题需求。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微软雅黑"/>
                <a:ea typeface="微软雅黑"/>
              </a:rPr>
              <a:t>AIDEN 工作组  ·  复旦大学住房政策研究中心  ·  上海市杨浦区科技企业联合会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对接导师：胡继刚  ·  复旦大学住房政策研究中心秘书长、上海市杨浦区科技企业联合会执行会长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讨论稿  |  2026年8月20日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这份材料给谁用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老师发群、同学选题、组长认领，同一套口径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3"/>
                </a:solidFill>
                <a:latin typeface="微软雅黑"/>
                <a:ea typeface="微软雅黑"/>
              </a:rPr>
              <a:t>▸  这两天与西电老师把落地口径谈清楚了：先把经过初筛的同学组织起来，按兴趣选题、按组跟进。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3"/>
                </a:solidFill>
                <a:latin typeface="微软雅黑"/>
                <a:ea typeface="微软雅黑"/>
              </a:rPr>
              <a:t>▸  下周一（8 月 24 日）起，课题需求会正式发出。下面十条都是 AIDEN 这边已经在做的事，不是为发榜临时编的题目。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3"/>
                </a:solidFill>
                <a:latin typeface="微软雅黑"/>
                <a:ea typeface="微软雅黑"/>
              </a:rPr>
              <a:t>▸  形式不拘：这份材料同时给出 PPT、Word、Excel 选题表和可直接发群的短稿，老师按渠道选用即可。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73152" cy="33832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老师侧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282696"/>
            <a:ext cx="340156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下周一把需求发出去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用选题表收志愿、编项目组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PPT 可用于宣讲，Word 可细读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88036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880360"/>
            <a:ext cx="73152" cy="338328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97180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同学侧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282696"/>
            <a:ext cx="340156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十条都是已开工题目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看赛道、人数、技能再报名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进组后接现有产物，不从零空想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338328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97180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6A2F"/>
                </a:solidFill>
                <a:latin typeface="微软雅黑"/>
                <a:ea typeface="微软雅黑"/>
              </a:rPr>
              <a:t>我们侧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282696"/>
            <a:ext cx="340156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只提供真实在研课题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周会验收，不代写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结业材料随成果走，不开空证明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课题从哪来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上海产业场景 × 已经在转的 AIDEN 工作区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3"/>
                </a:solidFill>
                <a:latin typeface="微软雅黑"/>
                <a:ea typeface="微软雅黑"/>
              </a:rPr>
              <a:t>▸  AIDEN 是一套正在运行的产学研工作区：产业侧提出真实任务，工程侧按分支交付网页、小程序、数据工具、协议规格与研究报告。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3"/>
                </a:solidFill>
                <a:latin typeface="微软雅黑"/>
                <a:ea typeface="微软雅黑"/>
              </a:rPr>
              <a:t>▸  对接人：胡继刚，复旦大学住房政策研究中心秘书长、上海市杨浦区科技企业联合会执行会长。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2A33"/>
                </a:solidFill>
                <a:latin typeface="微软雅黑"/>
                <a:ea typeface="微软雅黑"/>
              </a:rPr>
              <a:t>▸  上海侧场景来自住房政策研究、科技企业联合会活动、人工智能产业空间与企业服务落地，不是实验室里的玩具题。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9260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例子（均已有产物）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学生能接什么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可运行产品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MP Typer 排版器、杨浦楼宇看板、复旦链接演示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功能迭代、试用、文档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协议与工程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活动报名 MCP 规格、TicNote API、文档生成校验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最小原型、评测、规范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研究报告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具身智能白皮书、产业空间、住房/能源/出海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证据补强、图表、更新摘要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工作方法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AIDEN 分支交付、90+ 真实任务在跑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手册、复盘、周报与验收口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六条原则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先把规矩讲清，再让同学挑题目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91440" cy="14173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361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3852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只发布已经开工的题目，不拿「假课题」凑清单。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91440" cy="141732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5361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93852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学生进组是做事，不是买证明；结业材料随项目成果走。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71800"/>
            <a:ext cx="91440" cy="14173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36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53872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远程为主，上海场景可短期驻场，不强制长期离校。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9718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91440" cy="141732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136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3872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每组 3–5 人（T02/T10 可到 6 人），必须有组长和周报。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91440" cy="14173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7365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13892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导师给方向与验收，不代写代码、不代写论文。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5720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572000"/>
            <a:ext cx="91440" cy="141732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7365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7A6D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13892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公开资料与脱敏演示优先；密钥、内部名单、个人隐私不进仓库。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十条课题总览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每题都已开工；人数按组，不按「来者不拒」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80160"/>
          <a:ext cx="115214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课题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赛道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人数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MP Typer：公众号 Markdown 内联排版引擎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软件工程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已开工，可运行 SPA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3–5 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T02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复旦链接：高校开放协作小程序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软件工程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已开工，有演示与蓝图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4–6 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城市楼宇经济数据可视化平台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数据与前端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已开工，可运行看板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3–5 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T04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活动报名 MCP：多平台统一报名协议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后端与协议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规格已完成，待最小原型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3–4 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TicNote 知识工作室：转写、知识库与云同步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 应用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官方 API Skill 已接入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3–5 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T06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企业 AI 助手文档工程（WorkBuddy 场景）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 应用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多份真实材料已产出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3–4 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具身智能与人工智能产业空间研究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产业研究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白皮书与展馆方案已出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3–5 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T08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城市住房与学区数据分析工具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数据与研究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看板与研究报告已出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3–4 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AIDEN 多智能体工程化工作流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AI 工程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主线已在跑，90+ 真实任务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3–5 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T10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产业白皮书工作坊（住房 / 能源 / 出海 / 康养）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产业研究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多份白皮书已出，需持续迭代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4–6 人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先选赛道，再选题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兴趣对不上编号时，按赛道找相邻题目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3703320" cy="489204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703320" cy="10972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A. 软件与数据产品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有代码、有界面、有协议。适合想把课设做成能给真人用的同学。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3383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MP Typer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复旦链接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城市楼宇经济数据可视化平台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活动报名 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703320" cy="489204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703320" cy="109728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微软雅黑"/>
                <a:ea typeface="微软雅黑"/>
              </a:rPr>
              <a:t>B. AI 应用与智能体工程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把大模型接到转写、文档、任务流上。适合想做工程而不仅是调参的同学。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383280"/>
            <a:ext cx="3383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TicNote 知识工作室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企业 AI 助手文档工程（WorkBuddy 场景）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AIDEN 多智能体工程化工作流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71600"/>
            <a:ext cx="3703320" cy="489204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71600"/>
            <a:ext cx="3703320" cy="109728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64592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06A2F"/>
                </a:solidFill>
                <a:latin typeface="微软雅黑"/>
                <a:ea typeface="微软雅黑"/>
              </a:rPr>
              <a:t>C. 产业研究与城市问题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28600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白皮书、空间、住房与学区。适合想把调研写成可引用材料的同学。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83280"/>
            <a:ext cx="3383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具身智能与人工智能产业空间研究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城市住房与学区数据分析工具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产业白皮书工作坊（住房 / 能源 / 出海 / 康养）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课题卡片（一）T01–T05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一句话 + 已开工状态，细节见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6187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1051560" cy="9509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61872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16736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MP Typer：公众号 Markdown 内联排版引擎    ·    3–5 人    ·    已开工，可运行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82495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把 Markdown 转成微信公众号可直接粘贴的内联样式 HTML，现有编辑器已能跑通主路径。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1051560" cy="9509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40864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复旦链接：高校开放协作小程序    ·    4–6 人    ·    已开工，有演示与蓝图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06624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把校园服务宫格、学习产品与活动能力收成一套「链接」小程序，演示页与功能蓝图已经齐。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31012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310128"/>
            <a:ext cx="1051560" cy="9509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10128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64992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城市楼宇经济数据可视化平台    ·    3–5 人    ·    已开工，可运行看板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30752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从楼宇和入驻企业两个维度看出租率、租金与产业分布，杨浦样板已经能看图、看表、看地图。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3342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34256"/>
            <a:ext cx="1051560" cy="9509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34256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89120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活动报名 MCP：多平台统一报名协议    ·    3–4 人    ·    规格已完成，待最小原型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75488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运营一句话创建报名页并拿到链接；工具面统一，底下可接金数据、飞书，互动吧先做半自动。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3583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358384"/>
            <a:ext cx="1051560" cy="950976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358384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13248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TicNote 知识工作室：转写、知识库与云同步    ·    3–5 人    ·    官方 API Skill 已接入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77900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把会议录音变成可检索的知识时间线，并和云端项目同步，而不是散落的纪要文件。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课题卡片（二）T06–T10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T09 即当前主线工作流，欢迎直接认领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8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6187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1051560" cy="950976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61872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16736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企业 AI 助手文档工程（WorkBuddy 场景）    ·    3–4 人    ·    多份真实材料已产出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82495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让企业场景里的 AI 助手稳定产出能打开、能投影、版式不错的 PPT/Word/Excel，而不是「能生成但不能用」。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28600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1051560" cy="950976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86000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40864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具身智能与人工智能产业空间研究    ·    3–5 人    ·    白皮书与展馆方案已出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06624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跟踪具身智能从「展台炫技」走到「真实作业」，并落到产业空间、社区与适老化场景。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31012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310128"/>
            <a:ext cx="1051560" cy="950976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10128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64992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城市住房与学区数据分析工具    ·    3–4 人    ·    看板与研究报告已出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30752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把上海板块与学区配置做成可筛选的分析工具，让「差异化」有数据，而不是口播感受。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3342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34256"/>
            <a:ext cx="1051560" cy="950976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34256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89120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AIDEN 多智能体工程化工作流    ·    3–5 人    ·    主线已在跑，90+ 真实任务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75488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这就是目前已经在转的主项目：把产业课题拆成可执行任务，用云端智能体持续交付，而不是一次性聊天。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3583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358384"/>
            <a:ext cx="1051560" cy="950976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358384"/>
            <a:ext cx="960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13248"/>
            <a:ext cx="9966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产业白皮书工作坊（住房 / 能源 / 出海 / 康养）    ·    4–6 人    ·    多份白皮书已出，需持续迭代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77900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在已经写出的白皮书上做「可更新的研究生产线」：目录、证据、图表、版本，而不是每人重写一篇。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怎么选题、怎么组队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第一志愿 + 备选；老师编组，避免热门题堆人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9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623560" cy="49377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73152" cy="4937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报名动作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367528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每人填 1 个第一志愿 + 1 个备选，并写 80 字以内「我能贡献什么」。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西电侧老师按专业、时间与志愿编组，避免一个热门题把人堆满。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组内自荐或指定组长，一周内交分工表。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开题后两周内必须交出第一份可见产物（页面、表、提纲皆可）。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440680" cy="49377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73152" cy="493776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微软雅黑"/>
                <a:ea typeface="微软雅黑"/>
              </a:rPr>
              <a:t>组内角色（参考）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728216"/>
            <a:ext cx="5184648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组长：节奏、周报、对外接口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主开发 / 主笔：扛模块或章节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数据或资料：口径、引用、台账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体验或演示：让外人 5 分钟能看懂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每组至少交出「能打开的东西」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时间表与周节奏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发布日：2026年8月24日（周一）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节点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周一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发布课题与选题表（本校老师渠道）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当周—次周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学生填志愿，老师编组，组长亮相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第 1–2 周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开题：读现有产物、认领任务、交第一份可见结果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每周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30–45 分钟远程例会 + 一页周报（目标/产物/阻塞）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学期中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中期演示：能打开、能讲清、能指出下一步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学期末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结题包：代码或文稿 + 演示 + 复盘（各一页）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技能与专业匹配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对不上也没关系，备选可以跨赛道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280160"/>
          <a:ext cx="115214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46135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适合专业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关键技能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计算机、软件工程、前端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React / TypeScript / Vite、CSS 内联、富文本剪贴板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T02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计算机、软件工程、移动开发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微信小程序、活动报名、信息架构、隐私合规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计算机、数据科学、GIS 相关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React、ECharts、地图 API、表格导出、数据治理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T04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计算机、软件工程、网络工程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MCP / API 设计、Python 或 Node、OAuth、表单系统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人工智能、计算机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语音转写 API、知识库、时间线产品、Python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T06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计算机、人工智能、信息管理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提示词与评测、python-pptx/docx、版式质量、回归测试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人工智能、自动化、交叉（经管/规划）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产业调研、展会观察、写作、空间与场景分析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T08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数据科学、计算机、公共管理交叉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数据处理、HTML/Excel 看板、口径设计、研究报告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461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软件工程、人工智能、计算机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Git 工作流、Agent 评测、文档即代码、任务拆解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1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T10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交叉：经管、公管、新闻、理工皆可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资料检索、结构写作、图表、引用规范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你能得到什么，我们要求什么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对等：真实题目换稳定投入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623560" cy="49377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73152" cy="493776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349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7A6D"/>
                </a:solidFill>
                <a:latin typeface="微软雅黑"/>
                <a:ea typeface="微软雅黑"/>
              </a:rPr>
              <a:t>同学侧收获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367528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真实在研题目，简历上写得出仓库、产物和自己的模块。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产业侧导师节奏（周会、验收口），不是放养。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上海产业场景的观察窗口（活动、楼宇、具身智能、住房政策交叉）。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可计入课程设计 / 实习实践 / 毕业设计前置（以学校认定为准）。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440680" cy="49377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73152" cy="493776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06A2F"/>
                </a:solidFill>
                <a:latin typeface="微软雅黑"/>
                <a:ea typeface="微软雅黑"/>
              </a:rPr>
              <a:t>项目组约定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728216"/>
            <a:ext cx="5184648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每周能稳定投入（建议不少于 8 小时；组长略多）。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用 Git 或等价方式留痕迹，不交「只有聊天记录」。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引用写来源，数据写口径，做不到的事写限制。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尊重合作单位品牌与隐私约束。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结题时交什么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能打开、能讲清、能指出自己做了哪一块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103120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产品组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371600"/>
            <a:ext cx="85953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2A33"/>
                </a:solidFill>
                <a:latin typeface="微软雅黑"/>
                <a:ea typeface="微软雅黑"/>
              </a:rPr>
              <a:t>可运行地址或录屏 + 模块说明 + 未完成清单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6032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60320"/>
            <a:ext cx="2103120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60320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协议/工程组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60320"/>
            <a:ext cx="85953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2A33"/>
                </a:solidFill>
                <a:latin typeface="微软雅黑"/>
                <a:ea typeface="微软雅黑"/>
              </a:rPr>
              <a:t>原型或脚本 + 验收记录 + 失败用例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49039"/>
            <a:ext cx="2103120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49039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研究组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749039"/>
            <a:ext cx="85953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2A33"/>
                </a:solidFill>
                <a:latin typeface="微软雅黑"/>
                <a:ea typeface="微软雅黑"/>
              </a:rPr>
              <a:t>修订对照 + 证据袋 + 一页摘要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3776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937760"/>
            <a:ext cx="2103120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937760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共同必交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937760"/>
            <a:ext cx="85953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A2A33"/>
                </a:solidFill>
                <a:latin typeface="微软雅黑"/>
                <a:ea typeface="微软雅黑"/>
              </a:rPr>
              <a:t>周报合订 + 复盘一页 + 成员分工表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下周一建议这样发出去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群里用短稿，宣讲用 PPT，细读用 Word，收表用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219456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B3D5C"/>
                </a:solidFill>
                <a:latin typeface="微软雅黑"/>
                <a:ea typeface="微软雅黑"/>
              </a:rPr>
              <a:t>PPT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697480"/>
            <a:ext cx="19751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课堂或线上宣讲 15 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6304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463040"/>
            <a:ext cx="219456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8288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B3D5C"/>
                </a:solidFill>
                <a:latin typeface="微软雅黑"/>
                <a:ea typeface="微软雅黑"/>
              </a:rPr>
              <a:t>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697480"/>
            <a:ext cx="19751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老师留底、同学细读每题任务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46304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463040"/>
            <a:ext cx="219456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59" y="18288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B3D5C"/>
                </a:solidFill>
                <a:latin typeface="微软雅黑"/>
                <a:ea typeface="微软雅黑"/>
              </a:rPr>
              <a:t>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697480"/>
            <a:ext cx="19751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志愿、编组、技能、时间表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46304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463040"/>
            <a:ext cx="219456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18288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B3D5C"/>
                </a:solidFill>
                <a:latin typeface="微软雅黑"/>
                <a:ea typeface="微软雅黑"/>
              </a:rPr>
              <a:t>群发短稿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2697480"/>
            <a:ext cx="19751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直接粘贴到学生群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59" y="1463040"/>
            <a:ext cx="2194560" cy="30175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38359" y="1463040"/>
            <a:ext cx="219456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799" y="18288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B3D5C"/>
                </a:solidFill>
                <a:latin typeface="微软雅黑"/>
                <a:ea typeface="微软雅黑"/>
              </a:rPr>
              <a:t>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7" y="2697480"/>
            <a:ext cx="197510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浏览器打开的一页总览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报名入口与对接群由西电侧老师统一发布；本材料只提供课题本身。</a:t>
            </a:r>
          </a:p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AIDEN 侧不在学生群里单独招生；编组结果由西电老师确认后，再拉项目组工作群。</a:t>
            </a:r>
          </a:p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热门题超额时：先看备选，再看技能匹配，最后抽签。空题由老师决定是否合并或缓开。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同学填报时请写清这些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Excel「选题意向」表可直接发；以下是字段说明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字段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怎么填</a:t>
                      </a:r>
                    </a:p>
                  </a:txBody>
                  <a:tcPr marL="45720" marR="45720" marT="27432" marB="27432">
                    <a:solidFill>
                      <a:srgbClr val="0B3D5C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姓名 / 学院专业 / 年级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与学籍一致，方便老师编组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第一志愿编号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T01–T10 选一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备选编号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必须与第一志愿不同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我能贡献什么（≤80 字）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写技能或已有作品，不写空话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每周可投入小时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建议不少于 8；写真实数字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能否短期赴沪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能 / 不能 / 寒暑假可以</a:t>
                      </a:r>
                    </a:p>
                  </a:txBody>
                  <a:tcPr marL="45720" marR="45720" marT="18288" marB="18288">
                    <a:solidFill>
                      <a:srgbClr val="E8F3F1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角色意向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组长 / 开发 / 主笔 / 数据 / 演示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A35A"/>
                </a:solidFill>
                <a:latin typeface="微软雅黑"/>
                <a:ea typeface="微软雅黑"/>
              </a:rPr>
              <a:t>先选题，再组队，再开工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十条课题都在路上。挑你愿意跟完一学期的那一条。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0E8E4"/>
                </a:solidFill>
                <a:latin typeface="微软雅黑"/>
                <a:ea typeface="微软雅黑"/>
              </a:rPr>
              <a:t>正式发布：2026年8月24日（周一）</a:t>
            </a:r>
          </a:p>
          <a:p>
            <a:pPr algn="l"/>
            <a:r>
              <a:rPr sz="1600" b="0">
                <a:solidFill>
                  <a:srgbClr val="D0E8E4"/>
                </a:solidFill>
                <a:latin typeface="微软雅黑"/>
                <a:ea typeface="微软雅黑"/>
              </a:rPr>
              <a:t>配套：PPT · Word · Excel 选题表 · 群发短稿 · HTML 一页总览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AIDEN 工作组  ·  复旦大学住房政策研究中心  ·  上海市杨浦区科技企业联合会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胡继刚  |  2026年8月20日  | 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