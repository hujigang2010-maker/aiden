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D0E8E4"/>
                </a:solidFill>
                <a:latin typeface="微软雅黑"/>
                <a:ea typeface="微软雅黑"/>
              </a:rPr>
              <a:t>专项说明稿  ·  配套可行性论证方案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企业名录 · 收费项目 · 推送流程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0E8E4"/>
                </a:solidFill>
                <a:latin typeface="微软雅黑"/>
                <a:ea typeface="微软雅黑"/>
              </a:rPr>
              <a:t>以上海人工智能企业 + 具身智能企业为主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4A35A"/>
                </a:solidFill>
                <a:latin typeface="微软雅黑"/>
                <a:ea typeface="微软雅黑"/>
              </a:rPr>
              <a:t>回答三个问题：有哪些企业可推？学生收多少？推过去成本多少、怎么走？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学生实习赋能计划  |  讨论稿 V1.0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本册要讲清楚的三件事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对应现场反馈：企业名单、收费、流程与推送成本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73152" cy="4572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3D5C"/>
                </a:solidFill>
                <a:latin typeface="微软雅黑"/>
                <a:ea typeface="微软雅黑"/>
              </a:rPr>
              <a:t>① 企业名录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29184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上海 AI 企业优先池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具身智能 / 机器人企业池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对接状态可更新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收生后按匹配表推送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73152" cy="457200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7276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② 收费项目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29184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学生端收什么、收多少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分公益 / 商业 / 就业三档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含与不含边界写清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支付节点与退费原则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6304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73152" cy="457200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7276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06A2F"/>
                </a:solidFill>
                <a:latin typeface="微软雅黑"/>
                <a:ea typeface="微软雅黑"/>
              </a:rPr>
              <a:t>③ 推送成本与流程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29184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每个学生推到企业花多少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成本构成一目了然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从报名到出证明七步走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岗位对接人与 SLA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一、企业名录总览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已有供给侧基础：以上海本地 AI / 具身智能为主优先对接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示例企业（上海及本地生态）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可推岗位/课题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建议优先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大模型 / AI 平台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商汤、MiniMax、阶跃星辰、稀宇科技（月之暗面上海侧）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算法助理、数据、产品实习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 芯片 / 算力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壁仞科技、沐曦、天数智芯、芯原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文档/测试/工具链支持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计算机视觉 / 数据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依图、云从（上海业务）、星环科技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标注质检、应用交付助理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具身智能整机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智元机器人、傅利叶、它石智航、钛虎、开普勒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数据采、测试、应用 demo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服务 / 工业机器人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擎朗智能、节卡、非夕、仙工智能、新时达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应用工程、现场支持助理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自动驾驶 / 出行 AI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魔视智能、木蚁机器人、相关上海研发中心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数据闭环、仿真支持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一、上海人工智能企业名录（推送池 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论证用短名单：落地以实际签约状态为准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2588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赛道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适合推送方向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合作难度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预估通道成本(元/人)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商汤科技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视觉大模型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算法应用 / 产品助理 / 数据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3,200–4,000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MiniMax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大模型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提示工程 / 评测 / 内容应用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3,000–3,800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阶跃星辰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大模型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应用开发助理 / 评测标注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2,800–3,500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壁仞科技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 芯片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工具文档 / 测试支持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3,000–3,800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沐曦集成电路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GPU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软件栈文档 / 适配测试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3,000–3,800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天数智芯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 芯片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资料研究 / 工具支持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2,800–3,500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芯原股份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芯片设计服务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IP 文档 / 流程助理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2,500–3,200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星环科技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大数据 / AI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数据平台实施助理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2,200–2,800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依图科技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视觉 AI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方案支持 / 标注质检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2,200–2,800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泛微网络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 办公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实施 / 客户成功助理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1,500–2,200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一、具身智能 / 机器人企业名录（推送池 B）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上海本地为主，履历辨识度高，建议作为首批签约重点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80160"/>
          <a:ext cx="115214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7279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赛道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适合推送方向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合作难度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预估通道成本(元/人)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智元机器人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人形 / 具身智能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数据采集、测试、应用 demo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3,200–4,200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傅利叶智能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康复具身智能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产品助理、临床支持助理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2,500–3,200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它石智航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工业具身智能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现场应用、数据标注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3,000–3,800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擎朗智能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商用服务机器人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运营支持、场景落地助理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2,000–2,800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节卡机器人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协作机器人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应用工程师助理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2,200–2,800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非夕机器人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柔性装配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工艺/测试支持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2,200–2,800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仙工智能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工业 SLAM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导航测试、文档支持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2,000–2,600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开普勒机器人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人形 / 物流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整机测试、场景验证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2,800–3,500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钛虎机器人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人形机器人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结构/电控测试助理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2,800–3,500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灵初智能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具身数据 / 模型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数据采集、评测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3,000–3,800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首形科技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仿人头部等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硬件测试、展示支持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2,200–2,800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28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新时达（机器人）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工业机器人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焊接/集成应用助理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2,000–2,600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二、明确收费项目（学生端价目）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收什么、收多少、含什么 —— 对外报价以此表为准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32588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收费项目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标准价(元/人)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包含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不包含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适用人群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线上实习·证明版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任务+编号证明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企业驻场、推荐信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高中生/体验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证明+申报支持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699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证明+申报邮箱+材料清单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推荐信深度润色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高中申请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证明+推荐信协助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1,680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模板+润色+导师签字流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包录取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海外申请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科技/具身智能项目实习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5,480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4–6周项目+周报+证明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大厂品牌背书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大学生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上海 AI / 头部通道营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11,800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品牌项目+导师+答辩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包转正/包录取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大学生优生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毕业生就业转化包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9,800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过渡实习+内推辅导+复盘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包 Offer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毕业生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支付节奏：定金 30% → 开营/推送确认 40% → 结业出具证明 30%。学校/机构团购：标准价 6–8 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二、推送至企业的成本（我们花多少）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「收了学生再推过去」—— 单人通道成本与毛利对照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2588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产品档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学生收费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企业通道成本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运营/导师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获客分摊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单人总成本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单人毛利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证明版（公益）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0–50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150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申报/推荐信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699–1,680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0–100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200–700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80–150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220–950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50%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具身/科技项目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5,480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2,000–2,800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600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900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3,900–4,500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1,000–1,600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上海 AI 通道营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11,800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3,000–4,200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900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1,200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5,500–6,800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5,000–6,300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就业转化包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9,800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2,200–3,200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1,200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4,800–5,800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约 4,000–5,000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企业通道成本 = 与企业/课题方按人头或批次结算的费用（或内部导师课题等价成本）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首批上海具身智能企业：建议按 2,000–3,200 元/人谈价；AI 头部通道按 3,000–4,200 元/人预留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未签约前不得对外承诺具体企业名称；签约后按「企业匹配表」一对一推送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二、单人成本结构示意（以「具身/科技项目 5,480」为例）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让财务与教务对齐：钱花在哪、利润留在哪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66160" cy="109728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企业通道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06A2F"/>
                </a:solidFill>
                <a:latin typeface="微软雅黑"/>
                <a:ea typeface="微软雅黑"/>
              </a:rPr>
              <a:t>2,400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A6A72"/>
                </a:solidFill>
                <a:latin typeface="微软雅黑"/>
                <a:ea typeface="微软雅黑"/>
              </a:rPr>
              <a:t>约 44%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566160" cy="109728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导师批改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A7A6D"/>
                </a:solidFill>
                <a:latin typeface="微软雅黑"/>
                <a:ea typeface="微软雅黑"/>
              </a:rPr>
              <a:t>600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80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A6A72"/>
                </a:solidFill>
                <a:latin typeface="微软雅黑"/>
                <a:ea typeface="微软雅黑"/>
              </a:rPr>
              <a:t>约 11%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3566160" cy="10972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获客 CAC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B3D5C"/>
                </a:solidFill>
                <a:latin typeface="微软雅黑"/>
                <a:ea typeface="微软雅黑"/>
              </a:rPr>
              <a:t>900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A6A72"/>
                </a:solidFill>
                <a:latin typeface="微软雅黑"/>
                <a:ea typeface="微软雅黑"/>
              </a:rPr>
              <a:t>约 16%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3566160" cy="109728"/>
          </a:xfrm>
          <a:prstGeom prst="rect">
            <a:avLst/>
          </a:prstGeom>
          <a:solidFill>
            <a:srgbClr val="5A6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运营客服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5A6A72"/>
                </a:solidFill>
                <a:latin typeface="微软雅黑"/>
                <a:ea typeface="微软雅黑"/>
              </a:rPr>
              <a:t>450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663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A6A72"/>
                </a:solidFill>
                <a:latin typeface="微软雅黑"/>
                <a:ea typeface="微软雅黑"/>
              </a:rPr>
              <a:t>约 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49039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749039"/>
            <a:ext cx="3566160" cy="109728"/>
          </a:xfrm>
          <a:prstGeom prst="rect">
            <a:avLst/>
          </a:prstGeom>
          <a:solidFill>
            <a:srgbClr val="5A6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平台合规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5A6A72"/>
                </a:solidFill>
                <a:latin typeface="微软雅黑"/>
                <a:ea typeface="微软雅黑"/>
              </a:rPr>
              <a:t>250 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663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A6A72"/>
                </a:solidFill>
                <a:latin typeface="微软雅黑"/>
                <a:ea typeface="微软雅黑"/>
              </a:rPr>
              <a:t>约 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49039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749039"/>
            <a:ext cx="356616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毛利空间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4A35A"/>
                </a:solidFill>
                <a:latin typeface="微软雅黑"/>
                <a:ea typeface="微软雅黑"/>
              </a:rPr>
              <a:t>约 1,880 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1663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A6A72"/>
                </a:solidFill>
                <a:latin typeface="微软雅黑"/>
                <a:ea typeface="微软雅黑"/>
              </a:rPr>
              <a:t>约 34%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三、端到端流程（收生 → 推企业 → 出证明）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七步闭环，每步有责任人与时间要求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4173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904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01  咨询报名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13716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定档套餐</a:t>
            </a:r>
          </a:p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签协议收定金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23774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14173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4904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02  背景评估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783080"/>
            <a:ext cx="13716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专业/意向匹配</a:t>
            </a:r>
          </a:p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出个人推送方案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3774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14173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4904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03  企业匹配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783080"/>
            <a:ext cx="13716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从名录选 1–2 家</a:t>
            </a:r>
          </a:p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确认名额与课题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3774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14173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14904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04  推送上岗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783080"/>
            <a:ext cx="13716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提交简历材料</a:t>
            </a:r>
          </a:p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企业确认接收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3774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14173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4904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05  实习执行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783080"/>
            <a:ext cx="13716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周报打卡</a:t>
            </a:r>
          </a:p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导师轻量辅导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23774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14173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14904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06  考核结业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1783080"/>
            <a:ext cx="13716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成果验收</a:t>
            </a:r>
          </a:p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企业评语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4432" y="23774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14173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14904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07  出具交付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1783080"/>
            <a:ext cx="13716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编号证明</a:t>
            </a:r>
          </a:p>
          <a:p>
            <a:pPr algn="ctr"/>
            <a:r>
              <a:rPr sz="1000" b="0">
                <a:solidFill>
                  <a:srgbClr val="D0E8E4"/>
                </a:solidFill>
                <a:latin typeface="微软雅黑"/>
                <a:ea typeface="微软雅黑"/>
              </a:rPr>
              <a:t>推荐信/申报可选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65760" y="40233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步骤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责任角色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SLA（工作时限）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完成标志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01–02 报名评估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招生顾问 + 教务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报名后 2 个工作日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匹配方案确认书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03–04 匹配推送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企业对接人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方案确认后 5 个工作日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企业接收确认函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05 实习执行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学员 + 企业导师 + 教务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按 4–6 周计划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周报齐全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06–07 结业交付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教务 + 合规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结业后 3 个工作日出具证明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证明编号可查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三、推送作业细则（教务 / 企业对接人手册摘要）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避免「收了学生不知道往哪推」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匹配规则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2120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高中生 → 优先公益证明 / 轻量远程课题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大学生理工 → 具身智能 / 机器人 / AI 芯片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大学生综合 → AI 应用 / SaaS / 数据标注质检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毕业生 → 就业包：可转正意向企业优先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每人主推 1 家，备选 1 家（防履约失败）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未签约企业不得写入协议承诺条款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475488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推送材料包（一次备齐）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学员简历（统一模板）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意向岗位与可实习时段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家长/本人知情同意（未成年）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服务协议与保密承诺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企业侧：接收确认 + 课题说明 + 导师联系人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教务侧：开营通知与周报链接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三、资金流与角色分工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学生付钱 → 我们结算企业 → 交付证明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关键产出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关联费用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招生顾问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咨询、定档、收款、签约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报名表、定金到账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获客/提成（计入 CAC）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教务运营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评估、排期、周报督学、出证明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匹配方案、证明编号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运营分摊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企业对接人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维护名录、谈价、推送、履约跟进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企业确认函、结算单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通道成本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企业导师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布置任务、评语、可选推荐信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周评/结业评语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含在通道或导师费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合规/财务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协议审核、开票、分阶段结算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回款与成本台账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平台合规成本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结算建议：企业通道费在「企业确认接收」后预付 50%，学员结业验收后结清 50%。</a:t>
            </a:r>
          </a:p>
          <a:p>
            <a:pPr algn="l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若企业临时无法接收：启用备选企业；仍无法交付则按协议退还未履行部分费用。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一页纸结论（可直接对齐胡老师问题）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名单有了 · 收费清了 · 成本清了 · 流程清了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32588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73152" cy="47548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356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企业名单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推送池 A：上海 AI 约 10 家起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推送池 B：具身智能约 12 家起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P0 先签：智元/傅利叶/擎朗/节卡/商汤等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状态字段：未开始→对接中→已签约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详见本册第 4–5 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73152" cy="475488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356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收费与推送成本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学生收费：199 → 11,800 分档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主推商业档标准价 5,480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推企业成本约 2,000–4,200/人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商业档单人毛利约 1,000–6,000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详见本册第 6–8 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73152" cy="475488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4356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6A2F"/>
                </a:solidFill>
                <a:latin typeface="微软雅黑"/>
                <a:ea typeface="微软雅黑"/>
              </a:rPr>
              <a:t>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78308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报名→评估→匹配→推送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→实习→结业→出证明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匹配 2 日 / 推送 5 日 / 证明 3 日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一人主推+一人备选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详见本册第 9–11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