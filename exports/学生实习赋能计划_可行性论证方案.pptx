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D0E8E4"/>
                </a:solidFill>
                <a:latin typeface="微软雅黑"/>
                <a:ea typeface="微软雅黑"/>
              </a:rPr>
              <a:t>可行性论证方案  · 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学生实习赋能计划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0E8E4"/>
                </a:solidFill>
                <a:latin typeface="微软雅黑"/>
                <a:ea typeface="微软雅黑"/>
              </a:rPr>
              <a:t>面向高中生 · 大学生 · 毕业生的可落地实习服务体系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微软雅黑"/>
                <a:ea typeface="微软雅黑"/>
              </a:rPr>
              <a:t>目标：辅助就业转化  ·  提升考学与申报竞争力  ·  构建可持续盈利模式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商业企业课题实习 × 就业转化  |  定价机制与盈利测算  |  PPT + Excel 双交付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讨论稿  |  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方案结构一览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一、项目背景与论证目标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二、三类人群需求分析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三、产品与项目规划总览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四、商业实习项目清单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五、战略取舍：取消开证明业务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6304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600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六、收费标准与定价机制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24028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七、盈利模型与财务测算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01752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八、落地实施路径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79476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931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九、风险与合规要点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57200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0B3D5C"/>
                </a:solidFill>
                <a:latin typeface="微软雅黑"/>
                <a:ea typeface="微软雅黑"/>
              </a:rPr>
              <a:t>十、论证结论与下一步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一、项目背景与论证目标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为什么现在做、要证明什么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市场痛点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优质实习名额稀缺，信息不对称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海外/名校申请普遍要求实践证明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校招履历同质化，缺乏项目背书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毕业生「有学历无经历」转化难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低价「开证明」业务风险高、利润薄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本方案要回答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三类人群各自核心诉求是什么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高价值商业档如何定价与供给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收费能否覆盖成本并形成利润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合作企业清单是否具备可触达性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6–12 个月如何试点验证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成功标准（试点期）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签约合作企业 ≥ 15 家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付费学员 ≥ 200 人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综合毛利率 ≥ 35%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证明出具合规率 100%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就业/升学正向反馈 ≥ 60%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二、三类人群需求分析 · 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同一产品线，差异化价值主张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1732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人群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核心目标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关键交付物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付费意愿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转化出口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高中生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海外/名校申请加分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真实企业课题经历与结业证明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中高（家长决策）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大学录取 / 竞赛履历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大学生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丰富履历、校招竞争力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大厂/科技公司项目实习经历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中（个人+家庭）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暑期实习转正 / 校招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转入正式就业岗位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过渡实习 + 岗位对接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中高（急切就业）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全职 offer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共性需求：可验证的真实课题经历 + 结业证明（作为交付物，不单独售卖）+ 可写入简历/文书的项目成果</a:t>
            </a:r>
          </a:p>
          <a:p>
            <a:pPr algn="l"/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差异策略：高中生走商业项目档提升申请竞争力；大学生偏品牌与技能；毕业生偏就业转化通道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二、需求分析 · 高中生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申请海外大学 / 升学竞争力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需求画像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2120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部分学生申请美英澳加等海外本科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文书与活动列表需要「真实可核验」实践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家长关注：安全、时长、证明正规、推荐信质量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时间窗口：寒暑假 2–8 周为主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偏好：科技、研究辅助、真实企业远程/混合项目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痛点：不知如何找到合规渠道，害怕「水经历」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813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我们提供的解法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51206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进入商业项目档：上海 AI / 具身智能真实课题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结业证明作为项目交付物（不单独开证明售卖）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可选加购推荐信（仅限项目学员）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寒暑假 4–6 周项目节奏匹配申请季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强调可核验过程材料，拒绝「水经历」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家长沟通重点：真实企业 + 成果物 + 合规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二、需求分析 · 大学生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履历丰富与校招准备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核心诉求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世界 500 强 / 大厂品牌背书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可写进简历的项目成果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导师反馈与技能证书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与专业相关的岗位匹配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暑期实习转正机会线索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产品匹配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商业实习：腾讯/阿里/谷歌等合作通道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科技/机器人公司实岗或课题实习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分层套餐：基础证明 / 标准项目 / 精品导师班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简历辅导与面试模拟（增值）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校企联合课题（可选）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73152" cy="475488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成功指标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完成率 ≥ 90%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简历采纳率 ≥ 70%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满意度 NPS ≥ 40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复购/转介绍 ≥ 20%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2A33"/>
                </a:solidFill>
                <a:latin typeface="微软雅黑"/>
                <a:ea typeface="微软雅黑"/>
              </a:rPr>
              <a:t>•  优质渠道复用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二、需求分析 · 毕业生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从实习过渡到正式就业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▸  痛点：毕业即失业窗口期、缺乏可证明的工作经验、校招结束后社招门槛更高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▸  目标：通过 1–3 个月过渡实习，积累岗位经验并进入全职转化通道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6517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服务内容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时长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关键产出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入营评估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职业方向测评 + 岗位匹配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3–5 天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个人发展计划（IDP）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过渡实习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真实项目参与 + 周报复盘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4–12 周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实习证明 + 作品集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就业冲刺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内推线索 + 面试辅导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2–4 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面试机会 / Offer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售后跟踪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入职 30/90 天回访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持续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转化数据与案例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三、产品与项目规划总览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只做高价值：真实企业课题 + 就业转化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3D5C"/>
                </a:solidFill>
                <a:latin typeface="微软雅黑"/>
                <a:ea typeface="微软雅黑"/>
              </a:rPr>
              <a:t>A. 商业实习项目（主业）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2120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上海 AI / 具身智能 / 科技公司课题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世界 500 强 / 知名大厂合作通道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线下或混合制，含导师与考核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定价：按品牌层级 × 时长 × 辅导强度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结业证明为交付物，不单独售卖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适用：大学生为主，优秀高中生可选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813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7A6D"/>
                </a:solidFill>
                <a:latin typeface="微软雅黑"/>
                <a:ea typeface="微软雅黑"/>
              </a:rPr>
              <a:t>B. 就业转化包（高价值出口）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51206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毕业生 1–3 个月过渡实习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内推线索 + 面试辅导 + 复盘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作品集与结业证明一体交付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推荐信仅作项目学员加购项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盈利点：高客单 + 转化口碑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不做低价开证明获客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四、商业实习 · 世界500强与知名大厂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示例合作池（论证用，落地需逐一签约）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企业示例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建议产品形态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S 级 · 全球科技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Google、Microsoft、Amazon、Meta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产品/数据/工程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远程课题 + 导师营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S 级 · 互联网大厂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腾讯、阿里巴巴、字节跳动、美团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产品运营/研发/市场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暑期营 / 项目制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 级 · 云与 AI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火山引擎、阿里云、腾讯云、华为云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云原生/大模型应用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课题实训营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 级 · 消费电子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苹果（渠道侧）、小米、OPPO、vivo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市场/供应链/用户研究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短期项目实习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B 级 · 综合 500 强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IBM、SAP、西门子、联合利华、宝洁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咨询/数字化/品牌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校企联合课题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B 级 · 金融科技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蚂蚁集团、京东科技、平安科技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风控/运营/数据分析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项目制远程实习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四、商业实习 · 机器人及其他科技公司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硬科技赛道，差异化履历亮点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类别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企业示例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适合人群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岗位/课题方向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人形/工业机器人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优必选、宇树科技、节卡、埃斯顿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理工大学生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算法、机械、嵌入式、测试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自动驾驶/出行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小马智行、文远知行、Momenta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计算机/车辆相关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感知标注、仿真、运营支持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具身智能/AI 硬件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智元机器人、银河通用、云深处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硕本交叉背景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数据采集、应用 demo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企业服务 SaaS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用友、金蝶、销售易、北森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商科/信息管理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实施助理、客户成功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半导体/芯片生态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寒武纪、地平线、兆芯（课题侧）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电子信息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资料研究、工具链文档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生物科技/医疗 AI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联影智能、推想科技、数坤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生医/AI 交叉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标注、文献、产品助理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五、战略取舍：取消「开证明」业务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费用低、成本与风险高 → 不如聚焦更高价值业务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4754880"/>
          </a:xfrm>
          <a:prstGeom prst="rect">
            <a:avLst/>
          </a:prstGeom>
          <a:solidFill>
            <a:srgbClr val="B5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54A4A"/>
                </a:solidFill>
                <a:latin typeface="微软雅黑"/>
                <a:ea typeface="微软雅黑"/>
              </a:rPr>
              <a:t>停售档位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199 元：线上实习·证明版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699 元：证明 + 申报支持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1,680 元：证明 + 推荐信协助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以上三档一律取消、不再报价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不再以「盖章证明」作为获客入口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73152" cy="475488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813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为什么取消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28800"/>
            <a:ext cx="33832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客单价过低，难以覆盖真实交付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核验、客服、舆情与合规成本偏高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易被归类为「水经历」，伤品牌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占用企业对接与教务带宽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机会成本：同样精力可售 5,480+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73152" cy="475488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改为做什么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主推具身/科技项目 5,480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上海 AI / 头部通道 11,800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毕业生就业包 9,800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证明仅随项目结业交付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推荐信仅项目学员加购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六、收费标准与定价机制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只保留高价值档，保护单价与品牌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325880"/>
          <a:ext cx="11521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产品线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套餐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建议定价（元/人）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包含内容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目标人群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商业标准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科技/具身智能项目实习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3,980–6,980（标准 5,480）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4–6周真实课题+周报+结业证明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高中优生/大学生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商业进阶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上海 AI / 大厂通道营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8,800–15,800（标准 11,800）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品牌项目+导师+答辩+证明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大学生/优生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就业转化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毕业生过渡实习包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6,800–12,800（标准 9,800）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实习+内推辅导+复盘+证明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增值加购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推荐信（不可单卖）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+1,500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仅限在营/结业项目学员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有申请需要者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机构合作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学校/教培团购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按人 6–8 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批量名额+统一课题交付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B 端渠道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明确不做：任何形式的低价「开证明 / 盖章证明 / 申报邮箱单独售卖」产品。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六、定价机制设计原则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如何实现可持续盈利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2194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价格锚点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21208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以「企业品牌 × 课题真实度 × 辅导强度」三维定价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全部收入来自商业/就业高价值档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团购与早鸟折扣控制在 20% 以内，保护单价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219456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813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成本结构（示意）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5120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企业通道/导师费：25–40%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运营与客服：10–15%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获客（渠道/内容）：15–25%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平台与合规：5–8%，其余为毛利空间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73152" cy="2194560"/>
          </a:xfrm>
          <a:prstGeom prst="rect">
            <a:avLst/>
          </a:prstGeom>
          <a:solidFill>
            <a:srgbClr val="C06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5020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06A2F"/>
                </a:solidFill>
                <a:latin typeface="微软雅黑"/>
                <a:ea typeface="微软雅黑"/>
              </a:rPr>
              <a:t>增收杠杆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21208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标准档 → 进阶通道升级率目标 20–30%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增值：推荐信/面试模拟仅项目内加购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B 端：学校/机构年度框架协议（仍走高价值档）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84048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73152" cy="2194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502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3D5C"/>
                </a:solidFill>
                <a:latin typeface="微软雅黑"/>
                <a:ea typeface="微软雅黑"/>
              </a:rPr>
              <a:t>支付与交付节奏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80"/>
            <a:ext cx="5120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定金 30% → 企业确认接收 40% → 结业交付 30%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未达标可补学/延期一次，控制退费率 &lt; 8%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2A33"/>
                </a:solidFill>
                <a:latin typeface="微软雅黑"/>
                <a:ea typeface="微软雅黑"/>
              </a:rPr>
              <a:t>•  企业侧按人头或批次结算，锁定毛利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七、盈利模型与财务测算（试点年）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取消开证明后：人数可少、客单更高 —— 详见 Excel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情景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年付费人数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客单价（均）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营收（万元）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综合毛利率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毛利（万元）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保守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7,500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75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基准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200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8,240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164.8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38%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62.6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乐观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300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9,000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270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42%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113.4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结构假设（基准）：商业标准 50% / 进阶通道 30% / 就业包 20%；均客单约 8,240 元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盈亏平衡粗算：固定成本约 28–35 万/年；取消低价档后基准情景毛利更厚，更易覆盖固定成本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A33"/>
                </a:solidFill>
                <a:latin typeface="微软雅黑"/>
                <a:ea typeface="微软雅黑"/>
              </a:rPr>
              <a:t>•  关键敏感因子：企业通道成本、获客 CAC、标准→进阶升级率；Excel 提供可调参数表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八、落地实施路径（6 个月试点）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可执行里程碑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月份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关键动作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阶段目标</a:t>
                      </a:r>
                    </a:p>
                  </a:txBody>
                  <a:tcPr marL="54864" marR="54864" marT="36576" marB="36576">
                    <a:solidFill>
                      <a:srgbClr val="0B3D5C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基建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高价值三档产品封装、合规话术、官网/表单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MVP 上线（无开证明档）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M2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供给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签约上海 AI/具身智能 5–8 家，确认导师池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可售库存就绪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获客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高校社团/机构渠道试点，标准档开营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首批 30 人开营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M4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放量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AI/头部通道营首期，收集案例与口碑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付费累计 80 人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转化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毕业生就业包上线，跟踪 offer 转化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转化案例 ≥ 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M6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复盘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财务与 NPS 复盘，决定是否扩区域/扩赛道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2A33"/>
                          </a:solidFill>
                          <a:latin typeface="微软雅黑"/>
                          <a:ea typeface="微软雅黑"/>
                        </a:rPr>
                        <a:t>可行性结论定稿</a:t>
                      </a:r>
                    </a:p>
                  </a:txBody>
                  <a:tcPr marL="54864" marR="54864" marT="27432" marB="27432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457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九–十、风险合规与论证结论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A6A72"/>
                </a:solidFill>
                <a:latin typeface="微软雅黑"/>
                <a:ea typeface="微软雅黑"/>
              </a:rPr>
              <a:t>先守住真实课题与品牌，再谈规模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A6A72"/>
                </a:solidFill>
                <a:latin typeface="微软雅黑"/>
                <a:ea typeface="微软雅黑"/>
              </a:rPr>
              <a:t>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73152" cy="3017520"/>
          </a:xfrm>
          <a:prstGeom prst="rect">
            <a:avLst/>
          </a:prstGeom>
          <a:solidFill>
            <a:srgbClr val="B5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3560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54A4A"/>
                </a:solidFill>
                <a:latin typeface="微软雅黑"/>
                <a:ea typeface="微软雅黑"/>
              </a:rPr>
              <a:t>主要风险与应对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521208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企业合作不稳定 → 多供应商池+备选课题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价格战/水项目竞争 → 强调真实课题与成果物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退费与纠纷 → 分期交付与服务协议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数据与未成年人合规 → 隐私告知与监护人同意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品牌方名称使用不当 → 法务审核对外话术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258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73152" cy="3017520"/>
          </a:xfrm>
          <a:prstGeom prst="rect">
            <a:avLst/>
          </a:prstGeom>
          <a:solidFill>
            <a:srgbClr val="1A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356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7A6D"/>
                </a:solidFill>
                <a:latin typeface="微软雅黑"/>
                <a:ea typeface="微软雅黑"/>
              </a:rPr>
              <a:t>可行性结论（建议）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83080"/>
            <a:ext cx="512064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取消开证明：避免低价高风险业务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需求真实：三类人群仍可通过高价值档满足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盈利路径更清晰：客单提升、毛利更厚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建议：按基准情景启动 6 个月试点验证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2A33"/>
                </a:solidFill>
                <a:latin typeface="微软雅黑"/>
                <a:ea typeface="微软雅黑"/>
              </a:rPr>
              <a:t>•  配套：Excel 报价/清单/测算已同步调整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下一步行动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663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① 确认首批合作企业短名单  ② 锁定三档定价与退费政策  ③ 打通证明编号系统  ④ 选择 1–2 个渠道做冷启动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