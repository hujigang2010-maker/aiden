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601200" y="-1828800"/>
            <a:ext cx="7315200" cy="7315200"/>
          </a:xfrm>
          <a:prstGeom prst="ellipse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SENMA · MODE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森马时尚生态总部园区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招商方案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2200" b="0" i="1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让中国时尚走向世界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5 个 Phase · 8 个任务 · 35 页商务汇报版（与冠松同结构）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669280"/>
            <a:ext cx="2194560" cy="41148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v1.0 · 招商策划阶段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56692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汇报对象：集团董事会 / 区政府 / 链主品牌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汇报议程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约 35 分钟形成完整认知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640080" cy="50292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1887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执行摘要 · 项目概要 · SWOT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1887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Executive Summary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755648"/>
            <a:ext cx="10698480" cy="15000"/>
          </a:xfrm>
          <a:prstGeom prst="rect">
            <a:avLst/>
          </a:prstGeom>
          <a:solidFill>
            <a:srgbClr val="E0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31520" y="1874520"/>
            <a:ext cx="640080" cy="50292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8745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1 · 策略与定位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8745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时尚产业链 + 楼栋方案 + 待实测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41448"/>
            <a:ext cx="10698480" cy="15000"/>
          </a:xfrm>
          <a:prstGeom prst="rect">
            <a:avLst/>
          </a:prstGeom>
          <a:solidFill>
            <a:srgbClr val="E0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731520" y="2560320"/>
            <a:ext cx="640080" cy="50292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5603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2 · 招商执行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5603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链主 5 张一页纸 + 漏斗 + 政府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127248"/>
            <a:ext cx="10698480" cy="15000"/>
          </a:xfrm>
          <a:prstGeom prst="rect">
            <a:avLst/>
          </a:prstGeom>
          <a:solidFill>
            <a:srgbClr val="E0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731520" y="3246120"/>
            <a:ext cx="640080" cy="50292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2461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3 · 品牌与活动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2461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9 月时装秀 + 12 场活动 + 媒体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813048"/>
            <a:ext cx="10698480" cy="15000"/>
          </a:xfrm>
          <a:prstGeom prst="rect">
            <a:avLst/>
          </a:prstGeom>
          <a:solidFill>
            <a:srgbClr val="E0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31520" y="3931920"/>
            <a:ext cx="640080" cy="50292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9319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4 · 商业条款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9319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四档 + 服务包 + 报价 + 财务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498848"/>
            <a:ext cx="10698480" cy="15000"/>
          </a:xfrm>
          <a:prstGeom prst="rect">
            <a:avLst/>
          </a:prstGeom>
          <a:solidFill>
            <a:srgbClr val="E0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731520" y="4617720"/>
            <a:ext cx="640080" cy="50292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6177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5 · 落地推进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6177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12 个月甘特 + 团队 + 风险矩阵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184648"/>
            <a:ext cx="10698480" cy="15000"/>
          </a:xfrm>
          <a:prstGeom prst="rect">
            <a:avLst/>
          </a:prstGeom>
          <a:solidFill>
            <a:srgbClr val="E0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731520" y="5303520"/>
            <a:ext cx="640080" cy="50292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3035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投决建议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035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三个里程碑承诺 + 5 项授权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870448"/>
            <a:ext cx="10698480" cy="15000"/>
          </a:xfrm>
          <a:prstGeom prst="rect">
            <a:avLst/>
          </a:prstGeom>
          <a:solidFill>
            <a:srgbClr val="E0D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01 · 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一页看懂：项目战略与三年目标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SENMA · MODE Hub · 中国时尚生态总部首选地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05840"/>
            <a:ext cx="2697480" cy="14173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078992"/>
            <a:ext cx="26974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5 万㎡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1#–5# 综合体（待实测）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出租净面积约 3.5 万㎡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05840"/>
            <a:ext cx="2697480" cy="14173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291840" y="1078992"/>
            <a:ext cx="26974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 台 ×3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830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主秀场 800 人 + SHOWROOM 250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+ 拍摄棚 ×10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2697480" cy="141732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126480" y="1078992"/>
            <a:ext cx="26974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80 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7830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直播间 / 跨境运营房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300 家生态 + 5 链主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005840"/>
            <a:ext cx="2697480" cy="14173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0" y="1078992"/>
            <a:ext cx="26974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7830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Y3 入驻率 · 链主 ≥ 3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设计师 55 + Y3 EBITDA ≈ 1.35 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5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战略定位 · 三圈层客群 · 五大差异化壁垒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08960"/>
            <a:ext cx="1124712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3246120"/>
            <a:ext cx="3657600" cy="2377440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战略定位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4904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童装 + 设计师 + 时尚电商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首选总部基地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总部 + 设计 + 电商 + 秀场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四位一体园区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品牌主张：让中国时尚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走向世界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3246120"/>
            <a:ext cx="3657600" cy="2377440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389120" y="33375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三圈层客群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74904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内圈 · 1# 主楼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链主品牌总部 · 3–5 家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中圈 · 2#+3#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50+ 设计师 + 80+ 直播间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+ 30+ 跨境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外圈 · 4#+5#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 台 / 拍摄 / 童装亲子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3246120"/>
            <a:ext cx="3657600" cy="23774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83879" y="333756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五大差异化壁垒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74904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① 森马童装生态龙头势能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② 设计师+直播+跨境一站式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③ T 台+SHOWROOM+拍摄棚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④ 童装家庭场景独家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/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⑤ 政府时尚产业政策包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关键举措：5 链主 · 300 生态 · 5 中介 · 1 场 9 月时装秀 · 4 档商业模式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01 · 项目概要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项目概要 · 5 万方综合体（待实测）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项目载体由项目方提供建筑设计文件后，将进入 v1.1 实测对齐版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1#–5# 综合体功能拆分（示意 · 待复核）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2286000" cy="7772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1# 主楼 · 时尚总部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417320"/>
            <a:ext cx="4526280" cy="77724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26080" y="1417320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22,000 ㎡ · 9F · 链主总部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40280"/>
            <a:ext cx="2286000" cy="77724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24028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2# 设计师楼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240280"/>
            <a:ext cx="4526280" cy="77724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926080" y="2240280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10,000 ㎡ · 6F · 50+ 设计师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2286000" cy="77724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306324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3# 电商基地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3063240"/>
            <a:ext cx="4526280" cy="77724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926080" y="3063240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8,000 ㎡ · 5F · 80+ 直播间 + 跨境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86200"/>
            <a:ext cx="2286000" cy="77724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38862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4# T 台秀场 + 拍摄棚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3886200"/>
            <a:ext cx="4526280" cy="77724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26080" y="3886200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6,000 ㎡ · 主秀 800 人 + 棚 ×10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09160"/>
            <a:ext cx="2286000" cy="77724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5# 配套商业 · 童装亲子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4709160"/>
            <a:ext cx="4526280" cy="77724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926080" y="4709160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4,000 ㎡ · 集合店 + 母婴 + 咖啡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10515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关键数据（招商口径，待实测）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1417320"/>
            <a:ext cx="164592" cy="5029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863840" y="1417320"/>
            <a:ext cx="41148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01000" y="14630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总建面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1463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约 50,000 ㎡（综合体）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2011680"/>
            <a:ext cx="164592" cy="5029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863840" y="2011680"/>
            <a:ext cx="41148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001000" y="20574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出租净面积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20574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约 35,000 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80960" y="2606040"/>
            <a:ext cx="164592" cy="5029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863840" y="2606040"/>
            <a:ext cx="41148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001000" y="26517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 台主秀场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26517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800 人 / SHOWROOM 250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3200400"/>
            <a:ext cx="164592" cy="5029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863840" y="3200400"/>
            <a:ext cx="41148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001000" y="32461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拍摄棚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324612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10 个 · 200–800 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80960" y="3794760"/>
            <a:ext cx="164592" cy="50292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863840" y="3794760"/>
            <a:ext cx="41148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001000" y="384048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直播间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38404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标准 30 ㎡ ×80 + 大型 100 ㎡ ×16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0" y="4389120"/>
            <a:ext cx="164592" cy="5029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7863840" y="4389120"/>
            <a:ext cx="41148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001000" y="443484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童装亲子区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44348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1,500 ㎡（1F+2F）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80960" y="4983480"/>
            <a:ext cx="164592" cy="5029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7863840" y="4983480"/>
            <a:ext cx="41148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001000" y="502920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车位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50292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700 个（网红/接送 80）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80960" y="5577840"/>
            <a:ext cx="164592" cy="50292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7863840" y="5577840"/>
            <a:ext cx="41148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001000" y="562356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位置假设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56235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上海长宁/虹桥 OR 杭州下沙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01 · 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SWOT 总览 · 把森马势能变成差异化报价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把外部机会与森马生态优势耦合，形成不可复制的护城河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260604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5623560" cy="45720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11430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优势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1430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Strengths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76479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9164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森马童装生态龙头（巴拉巴拉）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40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07568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杭州/温州/上海三地协同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32888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459736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直播电商 + 跨境出海双轮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16936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43784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 台 + 拍摄棚 + 设计师集群独家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00984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27832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童装家庭场景配套（亲子动线）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097280"/>
            <a:ext cx="5623560" cy="260604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63640" y="1097280"/>
            <a:ext cx="562356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00800" y="11430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劣势 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11430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Weaknesses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1764792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69164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单一项目体量需对标头部园区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2148840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07568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设计师品牌生命周期短（&lt;3 年）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2532888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2459736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时尚电商红利收窄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2916936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843784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童装出生率影响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300984"/>
            <a:ext cx="164592" cy="164592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3227832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跨境政策不确定性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40480"/>
            <a:ext cx="5623560" cy="260604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57200" y="3840480"/>
            <a:ext cx="5623560" cy="4572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94360" y="38862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机会 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3886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Opportunities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507992"/>
            <a:ext cx="164592" cy="164592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43484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童装家庭场景升级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892040"/>
            <a:ext cx="164592" cy="164592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481888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国潮 IP + 联名爆发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276088"/>
            <a:ext cx="164592" cy="164592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202936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跨境出海（SHEIN/TEMU）红利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660136"/>
            <a:ext cx="164592" cy="164592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586984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数字化柔性快反技术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6044184"/>
            <a:ext cx="164592" cy="164592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971032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海外品牌中国化需要本地总部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840480"/>
            <a:ext cx="5623560" cy="260604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263640" y="3840480"/>
            <a:ext cx="5623560" cy="457200"/>
          </a:xfrm>
          <a:prstGeom prst="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0" y="3886200"/>
            <a:ext cx="53492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威胁 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38862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Threats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46520" y="4507992"/>
            <a:ext cx="164592" cy="164592"/>
          </a:xfrm>
          <a:prstGeom prst="round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4434840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杭州艺尚 / 大浪时尚虹吸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46520" y="4892040"/>
            <a:ext cx="164592" cy="164592"/>
          </a:xfrm>
          <a:prstGeom prst="round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4818888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直播 GMV 同比下滑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46520" y="5276088"/>
            <a:ext cx="164592" cy="164592"/>
          </a:xfrm>
          <a:prstGeom prst="round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5202936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设计师品牌存活率 &lt; 30%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46520" y="5660136"/>
            <a:ext cx="164592" cy="164592"/>
          </a:xfrm>
          <a:prstGeom prst="round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5586984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公共预算趋严，补贴收紧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46520" y="6044184"/>
            <a:ext cx="164592" cy="164592"/>
          </a:xfrm>
          <a:prstGeom prst="round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5971032"/>
            <a:ext cx="5074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童模 / 直播合规监管收紧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策略与定位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Strategy &amp; Positioning · 奠基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1 · 时尚产业链 + 全国园区对标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43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2 · 楼栋功能 + T 台 + 拍摄棚 + 童装亲子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1 · 任务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时尚产业链六层图谱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客群匹配的『地图』：从数字基础设施到渠道运营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1430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L6 渠道与运营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143000"/>
            <a:ext cx="6309360" cy="5943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194560" y="11430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直播电商 / 私域 / 集合店 / 跨境 / 二手时尚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288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L5 品牌与 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828800"/>
            <a:ext cx="6309360" cy="59436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194560" y="18288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童装品牌 / 设计师品牌 / 国潮 IP / 联名 / 明星同款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146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25146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L4 设计与创意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2514600"/>
            <a:ext cx="6309360" cy="5943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194560" y="25146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设计师工作室 / 趋势 / 色彩 / 面料 / 工艺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2004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32004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L3 供应链与制造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3200400"/>
            <a:ext cx="6309360" cy="59436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194560" y="32004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智能工厂 / 柔性快反 / 跨境物流 / 海外仓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8862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L2 材料与面辅料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886200"/>
            <a:ext cx="6309360" cy="5943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194560" y="38862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功能面料 / 环保再生 / 印染 / 拉链/钮扣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572000"/>
            <a:ext cx="1463040" cy="5943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L1 数字基础设施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4572000"/>
            <a:ext cx="6309360" cy="59436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194560" y="4572000"/>
            <a:ext cx="6217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ERP / DAM / 3D 设计 / AI 生成 / SaaS / 数据中台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1463040"/>
            <a:ext cx="3108960" cy="11430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823960" y="15544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资本 / 孵化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192024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时尚基金 / 启明 / 高瓴消费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2788920"/>
            <a:ext cx="3108960" cy="11430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23960" y="288036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时尚教育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24612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东华大学 · 北服 · 中国美院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4114800"/>
            <a:ext cx="3108960" cy="11430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823960" y="420624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IP / 版权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4572000"/>
            <a:ext cx="283464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国潮联名 / 博物馆 IP / 明星 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2185B"/>
                </a:solidFill>
                <a:latin typeface="Calibri"/>
                <a:ea typeface="WenQuanYi Micro Hei"/>
                <a:cs typeface="WenQuanYi Micro Hei"/>
              </a:rPr>
              <a:t>→ 1# 链主品牌 · 2# 设计师/趋势 · 3# 直播+跨境 · 4# T 台/拍摄 · 5# 童装亲子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1 · 任务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全国时尚园区对标矩阵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结论：时尚总部 + 设计师 + 直播 + T 台四位一体的稀缺组合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1371600"/>
                <a:gridCol w="1280160"/>
                <a:gridCol w="822960"/>
                <a:gridCol w="2468880"/>
                <a:gridCol w="2377440"/>
              </a:tblGrid>
              <a:tr h="52578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园区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区位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主导产业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租金 (元/㎡·天)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入驻率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政策亮点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对我方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杭州 · 艺尚小镇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临平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时尚总部 / 设计师 / T 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4.0–6.5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区+镇双补贴 / 设计师扶持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离市区远，童装弱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上海 · M50 创意园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普陀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设计师 / 艺术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7.0–9.5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~95%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文创园区税收减免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体量小 / 童装弱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杭州 · 下沙国际时尚园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下沙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时尚电商 / 跨境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4.5–7.0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跨境补贴 / 电商扶持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缺顶级品牌总部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广州 · 沙河顶时尚谷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天河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服装 / 设计师 / 直播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5.5–8.0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~85%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一般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偏工厂气质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深圳 · 大浪时尚小镇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龙华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服装总部 / 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5.0–7.5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区级补贴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设计师密度低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上海 · 静安国际时尚中心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静安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时装秀 / 高端品牌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9.0–12.0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~95%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国际化资源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单价高 / 童装弱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52578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北京 · 798 / 751 时尚区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朝阳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设计师 / 艺术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8.0–11.0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~95%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文创园区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童装/电商弱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我方差异化定价策略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基础租金 5.5–9.0 + 流量分发 + 童装亲子协同 + T 台 + 跨境合规一站式 — 等效净价低于核心商圈 30%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1 · 任务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1#–5# 楼栋功能拆分 + 时尚资产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链主总部 / 设计师 / 电商 / T 台 + 拍摄棚 / 童装亲子（待实测）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6400800" cy="493776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园区平面示意（北 ↑）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554480"/>
            <a:ext cx="1371600" cy="128016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155448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1# 主楼</a:t>
            </a:r>
          </a:p>
          <a:p>
            <a:pPr algn="ctr"/>
            <a:r>
              <a:rPr sz="11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时尚总部</a:t>
            </a:r>
          </a:p>
          <a:p>
            <a:pPr algn="ctr"/>
            <a:r>
              <a:rPr sz="11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22,000 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554480"/>
            <a:ext cx="1371600" cy="128016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120640" y="155448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2# 设计师楼</a:t>
            </a:r>
          </a:p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10,000 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554480"/>
            <a:ext cx="2377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68880" y="1554480"/>
            <a:ext cx="237744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中央广场 + 红毯入口</a:t>
            </a:r>
          </a:p>
          <a:p>
            <a:pPr algn="ctr"/>
            <a:r>
              <a:rPr sz="10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林荫水景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017520"/>
            <a:ext cx="1371600" cy="128016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3# 电商基地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8,000 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017520"/>
            <a:ext cx="1371600" cy="128016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120640" y="3017520"/>
            <a:ext cx="1371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5# 配套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童装亲子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4,000 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3474720"/>
            <a:ext cx="2377440" cy="36576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68880" y="34747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连廊 / 食堂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526280"/>
            <a:ext cx="4023360" cy="146304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4526280"/>
            <a:ext cx="402336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4# T 台秀场 + 拍摄棚  6,000 ㎡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主秀 800 人 + SHOWROOM 250 + 拍摄棚 ×10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4526280"/>
            <a:ext cx="1371600" cy="1463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20640" y="4526280"/>
            <a:ext cx="137160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停车 + 库</a:t>
            </a:r>
          </a:p>
          <a:p>
            <a:pPr algn="ctr"/>
            <a:r>
              <a:rPr sz="11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网红车位 80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132320" y="1097280"/>
          <a:ext cx="4572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1463040"/>
              </a:tblGrid>
              <a:tr h="448887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区域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面积 (㎡)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性质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1# 时尚总部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出租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2# 设计师楼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10,000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出租 + 工位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3# 电商基地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出租 + 直播位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4# T 台 + 拍摄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6,000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公共/会员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5# 配套商业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部分自留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中央广场/连廊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3,000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公共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食堂/健身/母婴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地下停车/库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12,000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商业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48887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合计建筑面积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约 67,000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可出租净面积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约 35,000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1 · 任务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1# 主楼 · 链主品牌总部（『时尚灯塔』）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9F · 22,000 ㎡ · 起始 5.5–7.0 元/㎡·天 · 5–8 年长租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纵剖示意（9F · 22,000 ㎡）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77724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9F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417320"/>
            <a:ext cx="4206240" cy="457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71600" y="141732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屋顶花园 + CEO 接待 / 露台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11096"/>
            <a:ext cx="777240" cy="4572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191109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8F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1911096"/>
            <a:ext cx="4206240" cy="457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71600" y="191109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战略 / 投资 / 高管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404872"/>
            <a:ext cx="777240" cy="45720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40487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7F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2404872"/>
            <a:ext cx="4206240" cy="457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71600" y="2404872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品牌总部办公（链主 A）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98648"/>
            <a:ext cx="777240" cy="45720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2898648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6F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2898648"/>
            <a:ext cx="4206240" cy="457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371600" y="289864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品牌总部办公（链主 A）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92424"/>
            <a:ext cx="777240" cy="45720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3392424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5F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3392424"/>
            <a:ext cx="4206240" cy="457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371600" y="339242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品牌总部办公（链主 B）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886200"/>
            <a:ext cx="777240" cy="45720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3886200"/>
            <a:ext cx="4206240" cy="457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371600" y="38862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品牌总部办公（链主 B）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79976"/>
            <a:ext cx="777240" cy="45720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437997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4379976"/>
            <a:ext cx="4206240" cy="457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71600" y="437997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童装研发 / 设计中心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873752"/>
            <a:ext cx="777240" cy="457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487375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4873752"/>
            <a:ext cx="4206240" cy="457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371600" y="4873752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客户接待 / 路演 / 集合店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367528"/>
            <a:ext cx="777240" cy="4572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7200" y="5367528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0" y="5367528"/>
            <a:ext cx="4206240" cy="457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371600" y="536752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礼宾大堂 + 集合店主入口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861304"/>
            <a:ext cx="777240" cy="457200"/>
          </a:xfrm>
          <a:prstGeom prst="rect">
            <a:avLst/>
          </a:prstGeom>
          <a:solidFill>
            <a:srgbClr val="6B7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200" y="5861304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B1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5861304"/>
            <a:ext cx="4206240" cy="457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371600" y="586130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停车 / 设备 / 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核心卖点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1417320"/>
            <a:ext cx="164592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6583680" y="1417320"/>
            <a:ext cx="521208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720840" y="143560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楼层冠名权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143560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「[品牌] · MODE Hub」 5 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1920240"/>
            <a:ext cx="164592" cy="41148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6583680" y="1920240"/>
            <a:ext cx="521208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720840" y="193852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时尚集合店主入口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23960" y="193852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1F 红毯 + 5.5 m 挑空大堂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2423160"/>
            <a:ext cx="164592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583680" y="2423160"/>
            <a:ext cx="521208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720840" y="244144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9F 屋顶花园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244144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 台彩排 / ESG 媒体大片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2926080"/>
            <a:ext cx="164592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6583680" y="2926080"/>
            <a:ext cx="521208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720840" y="294436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童装家庭场景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23960" y="294436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1F 童装亲子区直接对接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3429000"/>
            <a:ext cx="164592" cy="41148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6583680" y="3429000"/>
            <a:ext cx="521208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720840" y="344728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配套联动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23960" y="344728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 台 / 拍摄棚 / 设计师工作室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0" y="3931920"/>
            <a:ext cx="164592" cy="41148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6583680" y="3931920"/>
            <a:ext cx="521208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720840" y="3950208"/>
            <a:ext cx="210312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机电预留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23960" y="3950208"/>
            <a:ext cx="2926080" cy="37490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≥ 200 W/㎡ · 4.5 m 净高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4526280"/>
            <a:ext cx="5394960" cy="17830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537960" y="457200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签约组合（草案）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37960" y="4892040"/>
            <a:ext cx="5120640" cy="1417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起始租金 5.5–7.0 元/㎡·天 · 5–8 年长租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免租 12–18 个月 · 装补 800–1,200 元/㎡（封顶 400 万）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区级税收留成 80% 三年返 / 50% 后两年返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 台主秀场 + 拍摄棚终身免费会员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人才公寓 100 套 + 落户绿通 30 个/年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 月时装秀主秀场冠名 + 媒体首发权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1 · 任务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2# 设计师楼 + 3# 电商基地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设计师堆栈层 · 直播 + 跨境双发动机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749039" cy="5029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749039" cy="9601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2# 设计师楼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10,000 ㎡ · 6F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7.0–8.5 元/㎡·天 + 工位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50592"/>
            <a:ext cx="274320" cy="27432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8600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50+ 独立设计师工作室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27832"/>
            <a:ext cx="274320" cy="27432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06324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面料图书馆 5,000+ 样品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05072"/>
            <a:ext cx="274320" cy="27432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4048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3D 打样 + 数码印花 + 小批量打版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82312"/>
            <a:ext cx="274320" cy="27432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1772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设计师集合店 + 联名快闪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274320" cy="27432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9496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签约 3+3+1 年 · 免租 3–6 月 · 装补 300–500/㎡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1097280"/>
            <a:ext cx="3749039" cy="5029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297679" y="1097280"/>
            <a:ext cx="3749039" cy="96012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297679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3# 电商基地</a:t>
            </a:r>
          </a:p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8,000 ㎡ · 5F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79" y="160020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8.0–9.0 元/㎡·天 + 直播位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2450592"/>
            <a:ext cx="274320" cy="274320"/>
          </a:xfrm>
          <a:prstGeom prst="round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599" y="228600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80 个标准直播间（30 ㎡）+ 16 个大型（100 ㎡）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3227832"/>
            <a:ext cx="274320" cy="274320"/>
          </a:xfrm>
          <a:prstGeom prst="round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599" y="306324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跨境运营房 200–500 ㎡ × 多家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59" y="4005072"/>
            <a:ext cx="274320" cy="274320"/>
          </a:xfrm>
          <a:prstGeom prst="round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599" y="384048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网红工位 500 元/月 + 共享拍摄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4782312"/>
            <a:ext cx="274320" cy="274320"/>
          </a:xfrm>
          <a:prstGeom prst="round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599" y="461772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直播一键开播 + 跨境合规中心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59" y="5559552"/>
            <a:ext cx="274320" cy="274320"/>
          </a:xfrm>
          <a:prstGeom prst="round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599" y="539496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签约月付制 · 服务佣金 GMV 5%–10%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58" y="1097280"/>
            <a:ext cx="3749039" cy="50292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138158" y="1097280"/>
            <a:ext cx="3749039" cy="9601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138158" y="118872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4# T 台 + 拍摄棚</a:t>
            </a:r>
          </a:p>
          <a:p>
            <a:pPr algn="ctr"/>
            <a:r>
              <a:rPr sz="18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6,000 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58" y="160020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会员 / 按场次 / 月卡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21038" y="245059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1078" y="228600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主秀场 500–800 人 T 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38" y="322783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78" y="306324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SHOWROOM 200–250 人 ×2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38" y="400507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78" y="384048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拍摄棚 ×10（800/400/200 ㎡）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38" y="478231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41078" y="461772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化妆 / 后台 / 道具 / 直播间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38" y="5559552"/>
            <a:ext cx="274320" cy="2743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78" y="5394960"/>
            <a:ext cx="3108959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链主免费 / 设计师 5k–30k/场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1 · 任务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5# 配套商业 · 童装亲子区 + 时尚资产成绩单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独家壁垒：森马童装生态 + 设计师 + T 台 + 跨境一站式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5# 配套商业 · 童装亲子区 / 集合店 / 咖啡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914400" cy="1188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914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1417320"/>
            <a:ext cx="4526280" cy="11887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554480" y="146304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时尚集合店 + 设计师品牌精品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914400" cy="11887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914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2697480"/>
            <a:ext cx="4526280" cy="11887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54480" y="274320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童装亲子区 + 巴拉巴拉旗舰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+ 早教 + 摄影 + 体验店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77640"/>
            <a:ext cx="914400" cy="11887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3977640"/>
            <a:ext cx="914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外延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3977640"/>
            <a:ext cx="4526280" cy="11887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554480" y="4023360"/>
            <a:ext cx="4297680" cy="10972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 间精品咖啡 + Lounge</a:t>
            </a:r>
          </a:p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+ 海外品牌方驻华办事处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05156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时尚资产 · 一站式成绩单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417320"/>
            <a:ext cx="164592" cy="5029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46520" y="1417320"/>
            <a:ext cx="54864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83680" y="14630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 台主秀场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14630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800 人 + 设计师奖典礼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011680"/>
            <a:ext cx="164592" cy="5029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446520" y="2011680"/>
            <a:ext cx="54864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83680" y="20574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SHOWROOM ×2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20574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250 人 / 多功能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606040"/>
            <a:ext cx="164592" cy="50292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446520" y="2606040"/>
            <a:ext cx="54864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拍摄棚 ×10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265176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800/400/200 ㎡ + 化妆 + 道具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200400"/>
            <a:ext cx="164592" cy="5029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446520" y="3200400"/>
            <a:ext cx="54864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0" y="324612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直播间 ×80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24612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标准 + 大型 + 跨境运营房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794760"/>
            <a:ext cx="164592" cy="5029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446520" y="3794760"/>
            <a:ext cx="54864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583680" y="38404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面料图书馆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384048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5,000+ 样品 / 季度更新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389120"/>
            <a:ext cx="164592" cy="5029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446520" y="4389120"/>
            <a:ext cx="54864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583680" y="443484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3D 打样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43484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数码印花 + 小批量打版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4983480"/>
            <a:ext cx="164592" cy="5029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446520" y="4983480"/>
            <a:ext cx="548640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583680" y="502920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童装家庭场景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5029200"/>
            <a:ext cx="283464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1,500 ㎡ · 早教 + 体验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5669280"/>
            <a:ext cx="5669280" cy="5029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400800" y="57150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→ 把『总部+设计+电商+秀场』四位一体的稀缺资产做成林立护城河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招商执行（核心）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Leasing Execution · Anchor + Ecosystem + Government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3 · 链主 TOP5 攻坚 + 5 张一页纸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3434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4 · 300 家生态招商漏斗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4632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463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5 · 政府关系与政策包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2 · 任务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链主 TOP5 攻坚作战图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项目总监 + BD 总监 双人出动 · 周一例会 / 季度董事会复盘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554480"/>
                <a:gridCol w="1920240"/>
                <a:gridCol w="1645920"/>
                <a:gridCol w="1463040"/>
                <a:gridCol w="2377440"/>
                <a:gridCol w="914400"/>
                <a:gridCol w="1005840"/>
              </a:tblGrid>
              <a:tr h="39624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落位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决策人 / 关键人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当前阶段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下一动作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截止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状态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</a:tr>
              <a:tr h="3962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江南布衣 JNBY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1# 8F 整层 ~2,500 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李琳 / 吴健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T0 名片建联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中国服装协会引荐 + 走访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T+30d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推进中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之禾 ICICLE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1# 9F 整层 ~2,400 ㎡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叶寿增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已发邀约函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时装秀主秀场邀请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T+45d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顺利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962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安踏儿童 FILA Kids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1# 8F 整层 ~1,800 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丁世忠 / 林翔华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公司层初接触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园区参访 + 巴拉巴拉协同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T+60d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推进中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Carter's / GAP Kids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1# 7F 部分 ~1,500 ㎡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中国 GM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高层已建联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外资协会引荐 / 跨境合规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T+30d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顺利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962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SHEIN 设计中心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2# + 3# 共 ~4,500 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中国设计 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已建联，等会面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30 分钟会面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T+45d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推进中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每家「一页纸」定制提案 · 四要点结构（详见接下来 5 页）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41648"/>
            <a:ext cx="1124712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2697480" cy="21031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43434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决策人 / 关键人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30 秒电梯演讲 → CEO/创始人；BD 把行业协会接口排进议程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4206240"/>
            <a:ext cx="2697480" cy="21031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29000" y="43434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正缺什么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84632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 / 长三角双总部 · 时装秀资源 · 跨境合规 · 童装协同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2697480" cy="21031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63640" y="43434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独家供给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84632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楼层冠名 · T 台 + 拍摄棚 · 童装亲子 · 设计师集合店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206240"/>
            <a:ext cx="2697480" cy="21031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98280" y="434340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报价权益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484632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起始租 5.5–7.0 · 免租 12–18m · 装补 800–1,200/㎡ · 政策返还 80%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2 · 任务 3 · 提案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江南布衣 JNBY · 一页纸定制提案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上海长三角双总部 + 设计师生态共建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14173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为什么是 JNBY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中国设计师品牌龙头，杭州总部已稳。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需上海/长三角第二总部辐射华东 + 海外。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与森马生态高度互补（成人时尚 + 童装）。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23560" cy="14173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他正缺什么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上海设计师人才 + 海外资源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童装板块协同（蓬马童装）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时装秀 / SHOWROOM 资源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跨境出海生态接口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MODE Hub + 森马 · 独家供给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8F 整层 + 楼层冠名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「JNBY · MODE Hub」 5 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200400"/>
            <a:ext cx="283464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设计师集群联动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50+ 设计师 + WGSN/POP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8346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 台主秀场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800 人 + 拍摄棚 ×10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2834640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巴拉巴拉数据闭环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童装协同 + 跨境出海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报价与权益（草案）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920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00" cy="13716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94360" y="5166360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1# 8F 整层 ~2,500 ㎡ · 签约 6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21808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6.0 元/㎡·天 · 3 年一调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68696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22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14 个月 · 装补 1,000 元/㎡ (封顶 250 万)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69864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 台主秀首场冠名 + 拍摄棚 ≥ 50 场次/年免费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7103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区级税收 80% 三年返 + 人才公寓 100 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029200"/>
            <a:ext cx="3977639" cy="13716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6720" y="509320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下一步行动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31536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T+15d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394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中国服装协会引荐 + 李琳走访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724144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T+30d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687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李琳 + 集团董事长互访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016752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T+90d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980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意向条款书签署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2 · 任务 3 · 提案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之禾 ICICLE · 一页纸定制提案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海外大本营延伸 + 设计师 + 高端生活方式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14173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为什么是 之禾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中国高端时装代表，海外（巴黎/米兰）已稳。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需要在国内核心圈层做「高端生活方式总部」叙事。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23560" cy="14173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他正缺什么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高端品牌总部展示空间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设计师生态协同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海外业务接待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跨境出海一站式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MODE Hub + 森马 · 独家供给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9F 整层 + 屋顶花园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高端品牌门面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200400"/>
            <a:ext cx="283464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1F 集合店主入口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高端时装陈列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8346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 台主秀场冠名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年度时装秀主旨发布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2834640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跨境合规一站式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SHEIN/TEMU/TikTok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报价与权益（草案）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920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00" cy="13716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94360" y="5166360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1# 9F 整层 ~2,400 ㎡ · 签约 5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21808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6.5 元/㎡·天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68696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22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12 个月 · 装补 1,000 元/㎡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69864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屋顶花园专属 + T 台 ≥ 30 场次/年免费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7103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海外业务接待 + 酒店式服务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029200"/>
            <a:ext cx="3977639" cy="13716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6720" y="509320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下一步行动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31536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T+10d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394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邀请叶寿增参加时装秀主秀场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724144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T+30d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687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选址踏勘 + Term Sheet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016752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T+90d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980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签约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2 · 任务 3 · 提案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安踏儿童 FILA Kids · 一页纸定制提案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中国童装上海设计中心 + 巴拉巴拉协同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14173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为什么是 安踏儿童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中国童装第二阵营龙头，急需在上海建立设计 + 营销双中心。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与森马巴拉巴拉形成「中国童装双雄」叙事。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23560" cy="14173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他正缺什么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上海童装设计中心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童装家庭场景体验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设计师 + 模特资源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直播电商基地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MODE Hub + 森马 · 独家供给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1# 8F 整层 + 楼层冠名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「FILA Kids · MODE Hub」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200400"/>
            <a:ext cx="283464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童装亲子区协同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1F 早教 + 摄影 + 体验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8346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拍摄棚 ×3 长期使用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设计师 + 童模库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2834640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80 个直播间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跨境出海一站式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报价与权益（草案）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920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00" cy="13716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94360" y="5166360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1# 8F 部分 ~1,800 ㎡ · 签约 5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21808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6.0 元/㎡·天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68696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22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12 个月 · 装补 800 元/㎡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69864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童装亲子区 1F 协同合作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7103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区级税收 80% 三年返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029200"/>
            <a:ext cx="3977639" cy="13716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6720" y="509320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下一步行动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31536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T+15d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394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林翔华参访园区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724144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T+45d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687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与巴拉巴拉协同会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016752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T+90d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980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意向书签署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2 · 任务 3 · 提案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Carter's / GAP Kids · 一页纸定制提案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外资童装中国总部 + 跨境合规接口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14173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为什么是 外资童装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美国童装第一品牌（Carter's）+ 大众童装代表（GAP Kids）。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需要在中国设立『区域总部 + 设计 + 跨境』复合中心。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23560" cy="14173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他正缺什么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中国区跨境合规接口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童装生态协同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设计本土化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外资政策对接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MODE Hub + 森马 · 独家供给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跨境合规中心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关务+税务+知识产权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200400"/>
            <a:ext cx="283464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童装亲子区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巴拉巴拉数据 + 早教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8346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50+ 设计师集群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趋势/面料图书馆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2834640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外资协会驻点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时尚律所 + 政府绿通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报价与权益（草案）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920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00" cy="13716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94360" y="5166360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1# 7F 部分 ~1,500 ㎡ · 签约 5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21808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6.5 元/㎡·天（外资品牌价）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68696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22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12 个月 · 装补 600 元/㎡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69864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跨境合规中心 + 律所对接 + 政府绿通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7103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海外品牌方驻华办事处协同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029200"/>
            <a:ext cx="3977639" cy="13716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6720" y="509320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下一步行动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31536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T+15d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394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联合外资协会拜访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724144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T+45d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687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参访园区与跨境合规中心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016752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T+90d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980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意向书签署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2 · 任务 3 · 提案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SHEIN 设计中心 · 一页纸定制提案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上海设计师生态枢纽 + 拍摄供应链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5623560" cy="14173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为什么是 SHEIN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中国跨境时尚电商第一名，全球 GMV 超 4,000 亿。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急需在上海建立设计师 + 拍摄 + 跨境运营复合中心。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5623560" cy="14173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1887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他正缺什么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544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上海设计师集群（快反）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拍摄棚 + 模特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跨境出海与合规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网红与直播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MODE Hub + 森马 · 独家供给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2834640" cy="41148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2# 5F 设计 + 3F 跨境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共 4,500 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200400"/>
            <a:ext cx="283464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3756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拍摄棚 ×10 + 模特库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≥ 100 场次/年免费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834640" cy="4114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792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跨境合规中心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0936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TikTok/Shopify 一站式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3200400"/>
            <a:ext cx="2834640" cy="4114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98280" y="32461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80+ 直播间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3611880"/>
            <a:ext cx="2834640" cy="9144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MCN 矩阵协同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报价与权益（草案）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892040"/>
            <a:ext cx="11430000" cy="2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57200" y="5029200"/>
            <a:ext cx="7315200" cy="13716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94360" y="5166360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120640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2# 5F 设计 + 3# 跨境 共 4,500 ㎡ · 签约 5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367528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21808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5.8 元/㎡·天（链主特惠）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568696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22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14 个月 · 装补 1,000 元/㎡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69864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724144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拍摄棚 ≥ 100 场次/年免费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97103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设计师协同合作 + 模特库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09560" y="5029200"/>
            <a:ext cx="3977639" cy="13716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046720" y="509320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下一步行动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5431536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T+10d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5394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SHEIN 设计 VP 30 分钟会面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724144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T+45d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56875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Term Sheet 草案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6016752"/>
            <a:ext cx="640080" cy="201168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T+120d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59801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签约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2 · 任务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生态企业招商漏斗 · 300 家库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5 家中介 · 9 类来源 · 端到端转化 17% · 80 家年签约目标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292608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" y="114300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L1 线索 (Lead)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1143000"/>
            <a:ext cx="6035040" cy="5029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74720" y="1143000"/>
            <a:ext cx="71323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480 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37360"/>
            <a:ext cx="292608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2920" y="173736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L2 触达 (Reached)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737360"/>
            <a:ext cx="4878324" cy="5029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74720" y="1737360"/>
            <a:ext cx="5975604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384 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31720"/>
            <a:ext cx="292608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233172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L3 意向 (Intent)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2331720"/>
            <a:ext cx="2414016" cy="5029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474720" y="2331720"/>
            <a:ext cx="3511296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192 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292608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2920" y="292608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L4 谈判 (Negotiation)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926080"/>
            <a:ext cx="1458468" cy="5029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74720" y="2926080"/>
            <a:ext cx="2555748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115 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20440"/>
            <a:ext cx="292608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2920" y="352044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L5 签约 (Signed)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520440"/>
            <a:ext cx="1005840" cy="5029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74720" y="352044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80 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114800"/>
            <a:ext cx="2926080" cy="5029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02920" y="411480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L6 入驻 (Move-in)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114800"/>
            <a:ext cx="955547" cy="5029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74720" y="4114800"/>
            <a:ext cx="2052827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  76 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29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理论端到端转化（线索 → 签约）： 80% × 50% × 60% × 70% ≈ 17%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41324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C2185B"/>
                </a:solidFill>
                <a:latin typeface="Calibri"/>
                <a:ea typeface="WenQuanYi Micro Hei"/>
                <a:cs typeface="WenQuanYi Micro Hei"/>
              </a:rPr>
              <a:t>80 家签约 ⇐ 480 有效线索 ⇐ 300 库 + 自拓溢出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9144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5 家中介渠道 · 非独家 + 30 天首报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498079" y="1280160"/>
          <a:ext cx="4389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914400"/>
                <a:gridCol w="731520"/>
              </a:tblGrid>
              <a:tr h="47244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中介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侧重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佣金档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年度任务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</a:tr>
              <a:tr h="4724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戴德梁行 C&amp;W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跨国/外资童装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首月 100% / 长租 120%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60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仲量联行 JLL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时尚品牌总部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同上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60 家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724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高力 Colliers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设计师 / 中型时尚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同上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50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世邦 CBRE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 / 整层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链主最高 150%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40 家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7244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本地精品行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设计师 / MCN / 直播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首月 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90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7498079" y="4297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300 家库 · 产业链层级配比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61772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L4 设计师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4654296"/>
            <a:ext cx="2011680" cy="109728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972800" y="461772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80060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L6 直播 MCN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4837176"/>
            <a:ext cx="1005840" cy="109728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972800" y="480060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98348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L5 设计师品牌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69680" y="5020056"/>
            <a:ext cx="754380" cy="109728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972800" y="498348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516636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L6 跨境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9680" y="5202936"/>
            <a:ext cx="754380" cy="109728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972800" y="516636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534924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L5 童装品牌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69680" y="5385816"/>
            <a:ext cx="502920" cy="109728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972800" y="534924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553212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L3 供应链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9680" y="5568696"/>
            <a:ext cx="502920" cy="109728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972800" y="553212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71500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L4 趋势/面料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69680" y="5751576"/>
            <a:ext cx="502920" cy="109728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972800" y="571500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79" y="589788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L1 数字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869680" y="5934456"/>
            <a:ext cx="377190" cy="109728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0972800" y="589788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79" y="608076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时尚服务/教育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69680" y="6117336"/>
            <a:ext cx="754380" cy="109728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972800" y="608076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30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8079" y="6263640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法律/金融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69680" y="6300216"/>
            <a:ext cx="377190" cy="109728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0972800" y="6263640"/>
            <a:ext cx="731520" cy="16459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2 · 任务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政府关系对接 · 路径地图与政策包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区/市双层 · 7 步首轮汇报 · 形成「一企一策」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对接路径地图（市/区双层）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669280" cy="48463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286000" y="1554480"/>
            <a:ext cx="1828800" cy="41148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市委市政府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1463040" cy="41148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市经信委 (时尚)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286000"/>
            <a:ext cx="1828800" cy="41148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市商务委 (跨境)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286000"/>
            <a:ext cx="1645920" cy="41148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市文旅 / 网信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3200400"/>
            <a:ext cx="2194560" cy="45720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区委区政府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1463040" cy="41148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区投促办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023360"/>
            <a:ext cx="1828800" cy="41148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区商务/文旅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023360"/>
            <a:ext cx="1645920" cy="41148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区财政/税务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63440"/>
            <a:ext cx="1463040" cy="41148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区市监 (品牌/直播)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663440"/>
            <a:ext cx="1828800" cy="41148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区人社/房管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663440"/>
            <a:ext cx="1645920" cy="41148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区国资/街道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7 步首轮汇报 · 30 天完成全覆盖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1500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区投促办 → 副区长 → 区委书记/区长 → 市经信委 → 市商务委 → 市文旅/网信 → 区四套班子专题会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政策包 · 六维适配清单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417320"/>
            <a:ext cx="182880" cy="68580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583680" y="1417320"/>
            <a:ext cx="521208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20840" y="146304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时尚产业专项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7465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园区认定 · 设计师孵化 · 童装升级 · 时装周分会场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194560"/>
            <a:ext cx="182880" cy="685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583680" y="2194560"/>
            <a:ext cx="521208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20840" y="224028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跨境与出海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52374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跨境综试 · 海外仓 · 退税 · 巴黎/米兰参展补贴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971800"/>
            <a:ext cx="182880" cy="68580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583680" y="2971800"/>
            <a:ext cx="521208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720840" y="301752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直播与合规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30098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直播基地认定 · 内容审核绿通 · MCN 培训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749040"/>
            <a:ext cx="182880" cy="68580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583680" y="3749040"/>
            <a:ext cx="521208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720840" y="379476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财税返还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07822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区级留成 80% 三年返 / 50% 后两年返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526280"/>
            <a:ext cx="182880" cy="68580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583680" y="4526280"/>
            <a:ext cx="521208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720840" y="457200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人才 / 公寓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85546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 100 套 + 设计师 50 套 + 主播 50 套 + 落户 80/年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303520"/>
            <a:ext cx="182880" cy="6858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6583680" y="5303520"/>
            <a:ext cx="521208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720840" y="5349240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文化与传播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5632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时装周 · 时尚电影 · 国潮联名 · 童装家庭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品牌与活动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Brand &amp; Events · Make Noise, Build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6 · 9 月年度时装秀 + 12 场活动 + 媒体清单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3 · 任务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 月旗舰：MODE Hub 年度时装秀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3 天 · 主秀 800 人 ×3 场 + SHOWROOM 250 人 ×6 场 + 在线 100 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三天议程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164592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Day 1 13:00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508760"/>
            <a:ext cx="393192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240280" y="15087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媒体日 · 园区参访 + 设计师工作室开放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164592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01168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Day 1 18:00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011680"/>
            <a:ext cx="393192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240280" y="201168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媒体晚宴 + 内容预热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14600"/>
            <a:ext cx="164592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51460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Day 2 10:00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514600"/>
            <a:ext cx="393192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240280" y="25146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开幕式 + 区政府致辞 + 主旨发布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17520"/>
            <a:ext cx="164592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Day 2 14:00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3017520"/>
            <a:ext cx="393192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240280" y="301752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链主品牌主秀 ×3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20440"/>
            <a:ext cx="164592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Day 2 19:30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8840" y="3520440"/>
            <a:ext cx="393192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240280" y="352044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重大签约仪式 + 招待晚宴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23360"/>
            <a:ext cx="164592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Day 3 11:00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4023360"/>
            <a:ext cx="393192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240280" y="402336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独立设计师集合秀 ×6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526280"/>
            <a:ext cx="1645920" cy="4114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4526280"/>
            <a:ext cx="164592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Day 3 19:00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48840" y="4526280"/>
            <a:ext cx="3931920" cy="41148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2240280" y="452628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设计师奖典礼 + 颁奖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受邀人结构（累计 ~3,000 人次）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5087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政府领导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1554480"/>
            <a:ext cx="9144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789920" y="150876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80136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 CEO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1847088"/>
            <a:ext cx="146304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789920" y="180136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80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09397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设计师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79" y="2139696"/>
            <a:ext cx="54864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0789920" y="2093976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300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386584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买手/经销商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2432304"/>
            <a:ext cx="73152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789920" y="2386584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400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267919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媒体/KOL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79" y="2724912"/>
            <a:ext cx="54864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0789920" y="2679192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300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29718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投资机构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55279" y="3017520"/>
            <a:ext cx="18288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0789920" y="2971800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0" y="326440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客户/会员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55279" y="3310128"/>
            <a:ext cx="2743200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0789920" y="32644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1500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35570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内部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3602736"/>
            <a:ext cx="493776" cy="164592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0789920" y="3557016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270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倒推时间表（T = 时装秀 Day 1）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0" y="4297680"/>
            <a:ext cx="274320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0" y="428853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T-120d 立项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0" y="4498848"/>
            <a:ext cx="274320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448970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T-90d 视觉/秀册 + 邀请函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0" y="4700016"/>
            <a:ext cx="274320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60" y="469087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T-60d 签约项目锁定 + 设计师终选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00800" y="4901184"/>
            <a:ext cx="274320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66560" y="489204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T-45d 彩排 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0" y="5102352"/>
            <a:ext cx="274320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0" y="509320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T-30d 内容定稿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0" y="5303520"/>
            <a:ext cx="274320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6560" y="5294376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T-21d 彩排 2 + 童模合规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0" y="5504688"/>
            <a:ext cx="274320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66560" y="5495544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T-14d 彩排 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400800" y="5705856"/>
            <a:ext cx="274320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66560" y="569671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T-7d 彩排 4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800" y="5907024"/>
            <a:ext cx="274320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6560" y="589788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T-1d 全员彩排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400800" y="6108192"/>
            <a:ext cx="274320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0" y="60990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 日 执行 + T+7d 复盘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3 · 任务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年度 12 场活动日历 + 媒体四层矩阵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1 时装秀 + 4 季度沙龙 + 4 月度生态 + 1 跨境峰会 + 2 童装嘉年华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7315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914400"/>
                <a:gridCol w="2377440"/>
                <a:gridCol w="1554480"/>
                <a:gridCol w="2103120"/>
              </a:tblGrid>
              <a:tr h="386861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月份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活动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形式 / 规模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主题方向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园区品牌发布会（启动）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现场 200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项目首秀 / 链主官宣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2026-06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童装家庭嘉年华（六一）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公众 5,000 人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童装 + 早教 + 亲子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直播电商沙龙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闭门 60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GMV / 跨境 / 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2026-08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设计师集合开放日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半日 80 人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50 个工作室开放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MODE Hub 年度时装秀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3,000 人次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链主签约 / 设计师奖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6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2026-10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跨境出海峰会（国际）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现场 250 人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SHEIN/TEMU/TikTok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时尚投融资 Demo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半日 80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设计师 / MCN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2026-12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年终招商盘点 + 入驻晚宴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晚宴 200 人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全年成果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2027-01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春节童装快闪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公众 3,000 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童装 + 国潮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2027-02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国际设计师论坛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现场 200 人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海外设计师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2027-03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春季产业开放周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系列 5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公众/媒体/高校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12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2027-03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童装家庭嘉年华（春）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公众 5,000 人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童装家庭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0" y="10972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媒体四层矩阵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508760"/>
            <a:ext cx="4114800" cy="9601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8046720" y="1508760"/>
            <a:ext cx="164592" cy="9601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20" y="158191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权威 · 政策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央视 / 人民日报 / 新华社 / 解放日报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606040"/>
            <a:ext cx="4114800" cy="9601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46720" y="2606040"/>
            <a:ext cx="164592" cy="96012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20" y="267919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时尚 · 国际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01752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VOGUE / ELLE / WWD / BoF / Vogue Business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703320"/>
            <a:ext cx="4114800" cy="9601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46720" y="3703320"/>
            <a:ext cx="164592" cy="9601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75320" y="377647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行业 · 垂类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11480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服装行业资讯 / 童装童趣 / 母婴行业观察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4800600"/>
            <a:ext cx="4114800" cy="96012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6720" y="4800600"/>
            <a:ext cx="164592" cy="96012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75320" y="48737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公众 · 社交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212080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抖音 / 小红书 / B站 / KOL 100 个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商业条款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Commercial · 4 Tiers · Service Pack · 3-Year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7 · 四档收费 + 服务包 + 报价单 + 三年财务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4 · 任务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四档收费方案矩阵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链主月费+政策返还 / 设计师月费 / 电商月费+佣金 / 冠名+对赌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697480" cy="493776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2697480" cy="8686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甲档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链主总部 (1#)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月费 + 政策返还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267712"/>
            <a:ext cx="164592" cy="164592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031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5.5–7.0 元/㎡·天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62072"/>
            <a:ext cx="164592" cy="164592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整层 1,500–2,500 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456432"/>
            <a:ext cx="164592" cy="164592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9184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12–18 个月 · 装补 800–1,200/㎡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50792"/>
            <a:ext cx="164592" cy="164592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区级税收 80% 三年返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645152"/>
            <a:ext cx="164592" cy="164592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480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楼层冠名 + T 台 + 童装亲子协同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1097280"/>
            <a:ext cx="2697480" cy="493776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291840" y="1097280"/>
            <a:ext cx="2697480" cy="86868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291840" y="11430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乙档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1463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设计师工作室 (2#)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16916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月费 + 基础服务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2267712"/>
            <a:ext cx="164592" cy="164592"/>
          </a:xfrm>
          <a:prstGeom prst="round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21031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起始租金 7.0–8.5 元/㎡·天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2862072"/>
            <a:ext cx="164592" cy="164592"/>
          </a:xfrm>
          <a:prstGeom prst="round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80–500 ㎡ 多层组合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456432"/>
            <a:ext cx="164592" cy="164592"/>
          </a:xfrm>
          <a:prstGeom prst="round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29184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免租 3–6 个月 · 装补 300–500/㎡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4050792"/>
            <a:ext cx="164592" cy="164592"/>
          </a:xfrm>
          <a:prstGeom prst="round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886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面料图书馆 / 3D 打样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4645152"/>
            <a:ext cx="164592" cy="164592"/>
          </a:xfrm>
          <a:prstGeom prst="round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480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设计师集合店 + T 台 5 场/年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097280"/>
            <a:ext cx="2697480" cy="493776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126480" y="1097280"/>
            <a:ext cx="2697480" cy="86868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26480" y="11430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丙档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1463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电商基地 (3#)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16916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月费 + 服务佣金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226771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21031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直播间 30,000 元/月（30 ㎡）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286207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大型 80,000 元/月（100 ㎡）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345643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29184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跨境运营房 8.0–9.0 元/㎡·天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63640" y="405079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886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服务 GMV 5%–10% 抽成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4645152"/>
            <a:ext cx="164592" cy="164592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4480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一键开播 + 跨境合规中心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1097280"/>
            <a:ext cx="2697480" cy="493776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961120" y="1097280"/>
            <a:ext cx="2697480" cy="8686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961120" y="114300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丁档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1463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冠名 + 对赌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1691640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低租 + 收益分成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98280" y="2267712"/>
            <a:ext cx="164592" cy="164592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210312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折扣租金 60%–70%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098280" y="2862072"/>
            <a:ext cx="164592" cy="164592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整楼 / T 台 / 集合店冠名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98280" y="3456432"/>
            <a:ext cx="164592" cy="164592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329184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营收/利润/估值/GMV 对赌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98280" y="4050792"/>
            <a:ext cx="164592" cy="164592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388620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超额营收 5%–10% 返现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98280" y="4645152"/>
            <a:ext cx="164592" cy="164592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44805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园区基金 1%–3% 跟投权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4 · 任务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服务包矩阵 · 把租金以外的价值显性化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6 大类 · 12 项服务 · 按四档差异化配置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2194560"/>
                <a:gridCol w="2194560"/>
                <a:gridCol w="2286000"/>
              </a:tblGrid>
              <a:tr h="386861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服务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甲 链主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乙 设计师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丙 电商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丁 冠名+对赌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楼层 / 整楼冠名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默认 5 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默认（叠加 T 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 台主秀场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终身免费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 场次/年优惠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抽签免费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冠名 + 终身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拍摄棚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50 场次/年免费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10 场次/年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 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≥ 100 场次/年免费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面料图书馆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配额 100 万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配额 50 万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配额 80 万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3D 打样 / 数码印花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30 单/年免费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 单/年免费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50 单/年免费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童装亲子区协同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数据接口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应用试点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数据接口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跨境合规中心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标准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默认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优先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数据中台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全栈 API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标准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全栈 API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全栈 API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招聘联运 / 落户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30 个/年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10 个/年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集体面试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30 个/年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公关与媒体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主秀冠名 + 首发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设计师奖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Demo 抽签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主秀冠名 + 首发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86861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集合店货架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集合店货架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主入口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律所 / 财税 / IP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顶尖年框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优惠折扣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标准目录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顶尖年框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把租金以外的服务量化为『积分券』——为客户算清账，为我们沉淀粘性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4 · 任务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链主总部报价单样张（甲档 · 保密）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致 [链主]：1# 9F 整层 ~2,400 ㎡ · 6 年 · 6.0 元/㎡·天 · 一企一策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1247120" cy="50292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SENMA · MODE Hub  |  链主总部报价单  |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097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有效期：30 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一、商业条款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249424"/>
            <a:ext cx="1188720" cy="219456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标的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194560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1# 9F 整层 ~2,400 ㎡（净高 4.5 m · 玻璃幕墙）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78608"/>
            <a:ext cx="1188720" cy="219456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租赁期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23744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6 年（含免租期）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07792"/>
            <a:ext cx="1188720" cy="219456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起始租金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85292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6.0 元/㎡·天 · 物业 28 元/㎡·月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36976"/>
            <a:ext cx="1188720" cy="219456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免租期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182112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14 个月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66160"/>
            <a:ext cx="1188720" cy="219456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调价机制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511296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3 年一调 · 调幅 = max(CPI, 5%)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895344"/>
            <a:ext cx="1188720" cy="219456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装补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3840480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1,000 元/㎡ · 封顶 240 万元 · 里程碑分期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224528"/>
            <a:ext cx="1188720" cy="219456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履约保证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169664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6 个月租金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53712"/>
            <a:ext cx="1188720" cy="219456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续约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498848"/>
            <a:ext cx="429768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到期前 12 个月可优先续约 5 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783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3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二、一企一策政策包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2249424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税收返还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19456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区级留成 80% 三年返 / 50% 后两年返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578608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一次性奖励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523744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[一事一议]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2907792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人才公寓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85292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100 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236976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落户绿通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3182112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30 个 / 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566160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 台主秀场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3511296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终身免费会员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3895344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拍摄棚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384048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≥ 50 场次/年免费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4224528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童装亲子协同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4169664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1F 数据接口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553712"/>
            <a:ext cx="1188720" cy="219456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品牌权益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4498848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9F 楼层冠名 + 1F 集合店主入口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三、签约里程碑：T+30d 意向条款书 → T+90d 正式合同 → T+150d 进场装修 → T+330d 入驻 + 区领导剪彩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森马集团 · SENMA · MODE Hub 项目组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联系人：项目总监 [姓名]  |  电话：[xxx]  |  邮箱：[xxx@xxx.com]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4 · 任务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三年财务测算 · 关键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基于 5 万方综合体 · 出租净 35,000 ㎡ · Y3 EBITDA 转正约 1.35 亿元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6400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371600"/>
                <a:gridCol w="1371600"/>
                <a:gridCol w="1463040"/>
              </a:tblGrid>
              <a:tr h="36576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科目（万元）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Y1 2026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Y2 2027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Y3 2028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租金收入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2,684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6,260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9,168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物业费收入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412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823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1,082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 台 + 拍摄 + 直播间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服务平台佣金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2,000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童装亲子 / 集合店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政策返还（净计入）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1,200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3,500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基金管理费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总收入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5,096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14,283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24,950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总成本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9,900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EBITDA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−2,904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+4,383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+13,450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36576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EBIT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−5,404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+1,883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+10,950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32320" y="10972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三年关键 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5448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入驻率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27048"/>
            <a:ext cx="777240" cy="50292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574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1527048"/>
            <a:ext cx="777240" cy="50292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0574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064240" y="1527048"/>
            <a:ext cx="777240" cy="50292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205740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42316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链主签约（累计）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395728"/>
            <a:ext cx="777240" cy="50292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2608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395728"/>
            <a:ext cx="777240" cy="50292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92608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64240" y="2395728"/>
            <a:ext cx="777240" cy="502920"/>
          </a:xfrm>
          <a:prstGeom prst="round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292608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2918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设计师工作室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35440" y="3264408"/>
            <a:ext cx="777240" cy="5029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79476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3264408"/>
            <a:ext cx="777240" cy="5029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379476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3264408"/>
            <a:ext cx="777240" cy="50292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379476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1605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EBITDA 利润率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4133088"/>
            <a:ext cx="777240" cy="50292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−57%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6634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40" y="4133088"/>
            <a:ext cx="777240" cy="50292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+31%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46634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064240" y="4133088"/>
            <a:ext cx="777240" cy="50292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+54%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466344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8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Y3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577840"/>
            <a:ext cx="11887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敏感性（Y3 EBITDA 万元变化）：入驻 ±10% → −2,800/+1,200 · 租金 ±10% → ±1,800 · 政策兑现 −30% → −1,050 · T台/拍摄/直播 −30% → −2,000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落地推进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800" b="0" i="1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Rollout · 12 Months · 5 → 22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65760" cy="36576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任务 8 · 12 个月里程碑 + 团队 + RACI + 风险矩阵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5 · 任务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12 个月里程碑甘特图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M1 团队就位 → M5 9 月时装秀 → M12 入驻率 70%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560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2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22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4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084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846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08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08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0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70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94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894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56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56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18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80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180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42320" y="1097280"/>
            <a:ext cx="762000" cy="32004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942320" y="1097280"/>
            <a:ext cx="76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M12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1463040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立项 + 法人主体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1463040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580320" y="1483040"/>
            <a:ext cx="722000" cy="197744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65760" y="172821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团队组建 (5→22)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1728216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2580320" y="1748216"/>
            <a:ext cx="9104000" cy="197744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65760" y="1993392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样板间 / 视觉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1993392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3342320" y="2013392"/>
            <a:ext cx="2246000" cy="19774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5760" y="2258568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 台秀场 + 拍摄棚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0" y="2258568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342320" y="2278568"/>
            <a:ext cx="3770000" cy="197744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65760" y="2523744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直播间一期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2523744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342320" y="2543744"/>
            <a:ext cx="3770000" cy="197744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65760" y="2788920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品牌官网 + CRM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2788920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342320" y="2808920"/>
            <a:ext cx="2246000" cy="197744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65760" y="305409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300 家库 + 中介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3054096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4104320" y="3074096"/>
            <a:ext cx="2246000" cy="197744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65760" y="3319272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首轮政府汇报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0" y="3319272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342320" y="3339272"/>
            <a:ext cx="2246000" cy="19774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65760" y="3584448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政策包 v0 → v1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3584448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4866320" y="3604448"/>
            <a:ext cx="3770000" cy="197744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65760" y="3849624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 TOP5 接触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0" y="3849624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3342320" y="3869624"/>
            <a:ext cx="6818000" cy="197744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65760" y="4114800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链主首份 Term Sheet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0" y="4114800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4104320" y="4134800"/>
            <a:ext cx="1484000" cy="19774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65760" y="437997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设计师 30 家签约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560320" y="4379976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5628320" y="4399976"/>
            <a:ext cx="3008000" cy="197744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65760" y="4645152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 月品牌发布会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0" y="4645152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5628320" y="4665152"/>
            <a:ext cx="722000" cy="197744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65760" y="4910328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6 月童装嘉年华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0" y="4910328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6390320" y="4930328"/>
            <a:ext cx="722000" cy="19774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365760" y="5175504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9 月时装秀（旗舰）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0" y="5175504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8676320" y="5195504"/>
            <a:ext cx="722000" cy="197744"/>
          </a:xfrm>
          <a:prstGeom prst="rect">
            <a:avLst/>
          </a:prstGeom>
          <a:solidFill>
            <a:srgbClr val="D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65760" y="5440680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MODE Hub 10 条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0" y="5440680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8676320" y="5460680"/>
            <a:ext cx="1484000" cy="19774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365760" y="570585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入驻率 50%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0" y="5705856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10200320" y="5725856"/>
            <a:ext cx="722000" cy="197744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65760" y="5971032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入驻率 70%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560320" y="5971032"/>
            <a:ext cx="9144000" cy="237744"/>
          </a:xfrm>
          <a:prstGeom prst="rect">
            <a:avLst/>
          </a:prstGeom>
          <a:solidFill>
            <a:srgbClr val="F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0962320" y="5991032"/>
            <a:ext cx="722000" cy="197744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5 · 任务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5 人核心团队 → 22 人稳态 + RACI 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启动 M1–3：5 人 / 扩张 M4–6：14 人 / 稳态 M7–12：22 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5 人核心团队（启动期）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548640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64592" cy="6858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145389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项目总监 GM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全面统筹 / 链主谈判 / 重大客户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94560"/>
            <a:ext cx="548640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164592" cy="68580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0080" y="223113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BD 总监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6032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政府关系 / 行业协会 / 品牌资源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548640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57200" y="2971800"/>
            <a:ext cx="164592" cy="685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300837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招商总监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375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渠道 / 漏斗 / 生态签约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548640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57200" y="3749040"/>
            <a:ext cx="164592" cy="68580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378561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运营总监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物业 / IT / T 台 / 拍摄棚 / 直播间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26280"/>
            <a:ext cx="5486400" cy="685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57200" y="4526280"/>
            <a:ext cx="164592" cy="685800"/>
          </a:xfrm>
          <a:prstGeom prst="rect">
            <a:avLst/>
          </a:prstGeom>
          <a:solidFill>
            <a:srgbClr val="6B4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45628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时尚活动总监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时装秀 / 媒体 / 设计师 / 童装嘉年华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32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扩编节奏：5 → 14 → 22 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8521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招商 1→5→8 · BD 1→2→2 · 运营 1→3→5 · 市场/活动 1→2→4 · 法务 0→1→1 · HR/财务 0→1→2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RACI 关键事项分工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400800" y="141732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"/>
                <a:gridCol w="548640"/>
                <a:gridCol w="640080"/>
                <a:gridCol w="640080"/>
                <a:gridCol w="640080"/>
                <a:gridCol w="640080"/>
              </a:tblGrid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关键事项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总监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BD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招商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运营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活动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董事长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链主谈判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政府汇报 / 政策包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中介 / 漏斗例会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9 月时装秀 / T 台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合同 / 对赌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童装亲子区 / 集合店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直播 / 跨境合规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400800" y="51663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R = Responsible · A = Accountable · C = Consulted · I = Informed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Phase 5 · 任务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风险矩阵 · 高频高影响项的对冲方案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按概率 × 影响排序，每项配对应『对冲手段』和『启动条件』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194560"/>
                <a:gridCol w="640080"/>
                <a:gridCol w="640080"/>
                <a:gridCol w="4114800"/>
                <a:gridCol w="3200400"/>
              </a:tblGrid>
              <a:tr h="457200"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#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风险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概率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影响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对冲手段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启动条件</a:t>
                      </a:r>
                    </a:p>
                  </a:txBody>
                  <a:tcPr>
                    <a:solidFill>
                      <a:srgbClr val="5C1A4E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链主推进慢于预期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启动备选名单（UR / MO&amp;Co. / Edition / SHIATZY 等）+ 链主分阶段意向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TOP5 中 ≤1 进入 Term Sheet @ M6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R2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T 台 / 拍摄棚 报批延迟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第三方代办 + 与文化执法 / 公安预先沟通 + 中汽研合作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M4 仍未取得审批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政策返还兑现延迟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改约定 + 财政确认函分期 + 集团担保过渡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区财政书面确认延误 &gt; 60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R4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直播 GMV 下滑 / 监管收紧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转向跨境 + 海外仓；引入 SHEIN/TEMU 流量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全行业 GMV 同比 -20%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团队建设速度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启动期外包（PR/HR/法务）+ 头部猎头授权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招聘缺口 &gt; 30% @ 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R6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资金压力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Y2 起 REITs 化探索 + 集团信用借款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现金安全垫 &lt; 6 个月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设计师品牌存活率低 (&lt;30%)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设计师孵化基金 + 集合店扶持 + 跨境出海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12 个月续约率 &lt;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R8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童模 / 直播内容违规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低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高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严守国家规定 + 法务声明库 + 内审 SOP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行业重大事件 / 监管整顿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施工 / 装修延期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工程总包 + 关键节点违约金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里程碑滞后 &gt; 30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R10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跨境政策不确定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中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多渠道（TikTok/Shopee/Shopify）+ 多区域海外仓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  <a:tc>
                  <a:txBody>
                    <a:bodyPr lIns="50800" rIns="50800" tIns="25400" bIns="25400"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B1F2A"/>
                          </a:solidFill>
                          <a:latin typeface="Calibri"/>
                          <a:ea typeface="WenQuanYi Micro Hei"/>
                          <a:cs typeface="WenQuanYi Micro Hei"/>
                        </a:rPr>
                        <a:t>跨境政策重大调整</a:t>
                      </a:r>
                    </a:p>
                  </a:txBody>
                  <a:tcPr>
                    <a:solidFill>
                      <a:srgbClr val="F4F0F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263640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风险委员会按月评审；任何风险升至『红』状态，72 小时内升级至集团董事长 + 项目总监 + 法务三方专项会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0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457200" y="164592"/>
            <a:ext cx="1828800" cy="329184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1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07 · 投决建议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0" y="914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投决建议 · 里程碑承诺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50292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资源到位的前提下，T+30 / 90 / 180 三个节点的硬承诺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8000"/>
            <a:ext cx="12191695" cy="8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SENMA · MODE Hub · 森马时尚生态总部园区 · 招商方案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6B7380"/>
                </a:solidFill>
                <a:latin typeface="Calibri"/>
                <a:ea typeface="WenQuanYi Micro Hei"/>
                <a:cs typeface="WenQuanYi Micro Hei"/>
              </a:rPr>
              <a:t>0 / 35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749039" cy="4114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749039" cy="868680"/>
          </a:xfrm>
          <a:prstGeom prst="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 + 30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团队就位 + 政府首轮汇报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86000"/>
            <a:ext cx="228600" cy="22860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1945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 人核心入职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228600" cy="22860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区投促办 + 副区长 + 市经信委首轮汇报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228600" cy="228600"/>
          </a:xfrm>
          <a:prstGeom prst="roundRect">
            <a:avLst/>
          </a:prstGeom>
          <a:solidFill>
            <a:srgbClr val="C21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832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5 家中介签约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097280"/>
            <a:ext cx="3749039" cy="4114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89120" y="1097280"/>
            <a:ext cx="3749039" cy="86868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389120" y="114300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T + 90 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55448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链主首份 Term Sheet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2286000"/>
            <a:ext cx="228600" cy="22860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21945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TOP5 全部进入会面阶段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2880360"/>
            <a:ext cx="228600" cy="22860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7889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≥ 1 家链主签 Term Sheet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474720"/>
            <a:ext cx="228600" cy="228600"/>
          </a:xfrm>
          <a:prstGeom prst="round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5C1A4E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3832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300 家库 + CRM 上线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097280"/>
            <a:ext cx="3749039" cy="4114800"/>
          </a:xfrm>
          <a:prstGeom prst="rect">
            <a:avLst/>
          </a:prstGeom>
          <a:solidFill>
            <a:srgbClr val="F4F0F4"/>
          </a:solidFill>
          <a:ln w="6350">
            <a:solidFill>
              <a:srgbClr val="E0D0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321040" y="1097280"/>
            <a:ext cx="3749039" cy="868680"/>
          </a:xfrm>
          <a:prstGeom prst="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321040" y="1143000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T + 180 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1554480"/>
            <a:ext cx="3749039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9 月时装秀 + 政策包定稿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2286000"/>
            <a:ext cx="228600" cy="22860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1945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时装秀 3,000 人次 + 5 家签约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2880360"/>
            <a:ext cx="228600" cy="22860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278892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MODE Hub 10 条发布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3474720"/>
            <a:ext cx="228600" cy="228600"/>
          </a:xfrm>
          <a:prstGeom prst="roundRect">
            <a:avLst/>
          </a:prstGeom>
          <a:solidFill>
            <a:srgbClr val="2FA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25400" bIns="2540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3832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1B1F2A"/>
                </a:solidFill>
                <a:latin typeface="Calibri"/>
                <a:ea typeface="WenQuanYi Micro Hei"/>
                <a:cs typeface="WenQuanYi Micro Hei"/>
              </a:rPr>
              <a:t>签约 ≥ 40 家 / 入驻率 ≥ 30%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440680"/>
            <a:ext cx="11247120" cy="9144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54864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请董事会审议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① 启动预算（Y0–Y1）  ② 5 人核心团队招聘授权  ③ 区一企一策政府专班 ④ 9 月时装秀预算  ⑤ 链主谈判授权区间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1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40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4400" b="1" i="0">
                <a:solidFill>
                  <a:srgbClr val="C9A24A"/>
                </a:solidFill>
                <a:latin typeface="Calibri"/>
                <a:ea typeface="WenQuanYi Micro Hei"/>
                <a:cs typeface="WenQuanYi Micro Hei"/>
              </a:rPr>
              <a:t>SENMA · MODE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让中国时尚走向世界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WenQuanYi Micro Hei"/>
                <a:cs typeface="WenQuanYi Micro Hei"/>
              </a:rPr>
              <a:t>Q &amp; A · 谢 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4F0F4"/>
                </a:solidFill>
                <a:latin typeface="Calibri"/>
                <a:ea typeface="WenQuanYi Micro Hei"/>
                <a:cs typeface="WenQuanYi Micro Hei"/>
              </a:rPr>
              <a:t>森马集团 · SENMA · MODE Hub 项目组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