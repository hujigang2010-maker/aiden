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fudan_hpr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65760"/>
            <a:ext cx="5852160" cy="129363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2148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B616B"/>
                </a:solidFill>
                <a:latin typeface="微软雅黑"/>
              </a:rPr>
              <a:t>中心研究文稿 · 第四号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06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E4E9B"/>
                </a:solidFill>
                <a:latin typeface="微软雅黑"/>
              </a:rPr>
              <a:t>医疗、养老与提效服务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E4E9B"/>
                </a:solidFill>
                <a:latin typeface="微软雅黑"/>
              </a:rPr>
              <a:t>照护空间、劳动释放与二〇三〇展望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931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B616B"/>
                </a:solidFill>
                <a:latin typeface="微软雅黑"/>
              </a:rPr>
              <a:t>把家庭隐形税改写成可及的社会化服务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064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616B"/>
                </a:solidFill>
                <a:latin typeface="微软雅黑"/>
              </a:rPr>
              <a:t>FDU-HPRC-WP-2026-04    二〇二六年八月 · 上海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E4E9B"/>
                </a:solidFill>
                <a:latin typeface="微软雅黑"/>
              </a:rPr>
              <a:t>一句话判断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11064240" cy="21031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E4E9B"/>
                </a:solidFill>
                <a:latin typeface="微软雅黑"/>
              </a:rPr>
              <a:t>让需要照护的人不必离开熟悉的住宅，
让提供劳动的人不必离开岗位。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74720"/>
            <a:ext cx="10972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微软雅黑"/>
              </a:rPr>
              <a:t>2025 年末：60 岁及以上 3.23 亿人，占 23.0%；人均预期寿命 79.25 岁。
十五五目标：2030 年预期寿命 80 岁，劳动生产率增速高于 GDP。
2026 年长护险启动全国制度建设，计划 2028 年底基本全面覆盖。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9326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16B"/>
                </a:solidFill>
                <a:latin typeface="微软雅黑"/>
              </a:rPr>
              <a:t>复旦大学住房政策研究中心 · 研究文稿第四号  FDU-HPRC-WP-2026-04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3796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16B"/>
                </a:solidFill>
                <a:latin typeface="微软雅黑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E4E9B"/>
                </a:solidFill>
                <a:latin typeface="微软雅黑"/>
              </a:rPr>
              <a:t>五个核心判断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82296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78992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微软雅黑"/>
              </a:rPr>
              <a:t>1.  冲击不是床位不够，而是照护进不了家、服务嵌不进社区。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47088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微软雅黑"/>
              </a:rPr>
              <a:t>2.  医疗下一步不是堆大医院，而是把连续照护留在家门口。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871216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12724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微软雅黑"/>
              </a:rPr>
              <a:t>3.  提效首先是把家庭照护时间还给劳动力市场。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895344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151376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微软雅黑"/>
              </a:rPr>
              <a:t>4.  长护险是 2026—2028 年最重要的制度变量。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919472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175504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微软雅黑"/>
              </a:rPr>
              <a:t>5.  住房政策是医疗、养老、提效三类服务的总接口。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537960"/>
            <a:ext cx="9326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16B"/>
                </a:solidFill>
                <a:latin typeface="微软雅黑"/>
              </a:rPr>
              <a:t>复旦大学住房政策研究中心 · 研究文稿第四号  FDU-HPRC-WP-2026-04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53796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16B"/>
                </a:solidFill>
                <a:latin typeface="微软雅黑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E4E9B"/>
                </a:solidFill>
                <a:latin typeface="微软雅黑"/>
              </a:rPr>
              <a:t>老龄底数：长寿社会已经到来</a:t>
            </a:r>
          </a:p>
        </p:txBody>
      </p:sp>
      <p:pic>
        <p:nvPicPr>
          <p:cNvPr id="4" name="Picture 3" descr="chart01_ag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40080"/>
            <a:ext cx="11430000" cy="600178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9326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16B"/>
                </a:solidFill>
                <a:latin typeface="微软雅黑"/>
              </a:rPr>
              <a:t>复旦大学住房政策研究中心 · 研究文稿第四号  FDU-HPRC-WP-2026-04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53796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16B"/>
                </a:solidFill>
                <a:latin typeface="微软雅黑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E4E9B"/>
                </a:solidFill>
                <a:latin typeface="微软雅黑"/>
              </a:rPr>
              <a:t>三类服务是同一道题</a:t>
            </a:r>
          </a:p>
        </p:txBody>
      </p:sp>
      <p:pic>
        <p:nvPicPr>
          <p:cNvPr id="4" name="Picture 3" descr="chart05_three_serv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11430000" cy="560930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9326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16B"/>
                </a:solidFill>
                <a:latin typeface="微软雅黑"/>
              </a:rPr>
              <a:t>复旦大学住房政策研究中心 · 研究文稿第四号  FDU-HPRC-WP-2026-04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53796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16B"/>
                </a:solidFill>
                <a:latin typeface="微软雅黑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E4E9B"/>
                </a:solidFill>
                <a:latin typeface="微软雅黑"/>
              </a:rPr>
              <a:t>医疗：机构增加、床位下降、基层诊疗过半</a:t>
            </a:r>
          </a:p>
        </p:txBody>
      </p:sp>
      <p:pic>
        <p:nvPicPr>
          <p:cNvPr id="4" name="Picture 3" descr="chart03_heal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0080"/>
            <a:ext cx="6858000" cy="35910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0" y="1097280"/>
            <a:ext cx="4389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微软雅黑"/>
              </a:rPr>
              <a:t>2025 年诊疗 105.8 亿人次
基层 55.6 亿、占 52.6%
县域医共体 2199 个
家庭医生转向“有感受”
医养结合约 8300 家
下一步考核转介，而非挂牌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9326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16B"/>
                </a:solidFill>
                <a:latin typeface="微软雅黑"/>
              </a:rPr>
              <a:t>复旦大学住房政策研究中心 · 研究文稿第四号  FDU-HPRC-WP-2026-04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3796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16B"/>
                </a:solidFill>
                <a:latin typeface="微软雅黑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E4E9B"/>
                </a:solidFill>
                <a:latin typeface="微软雅黑"/>
              </a:rPr>
              <a:t>养老：床位在优化，网络才是主体</a:t>
            </a:r>
          </a:p>
        </p:txBody>
      </p:sp>
      <p:pic>
        <p:nvPicPr>
          <p:cNvPr id="4" name="Picture 3" descr="chart02_be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0080"/>
            <a:ext cx="6949440" cy="443793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60920" y="1051560"/>
            <a:ext cx="4389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微软雅黑"/>
              </a:rPr>
              <a:t>约 99% 老年人居家社区养老
家庭养老床位累计 57 万张
助餐点 8 万个、日服务超 300 万
从业人员 139.5 万
持证护理员仅 47.4%
没有人，家庭床位只是一张床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9326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16B"/>
                </a:solidFill>
                <a:latin typeface="微软雅黑"/>
              </a:rPr>
              <a:t>复旦大学住房政策研究中心 · 研究文稿第四号  FDU-HPRC-WP-2026-04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3796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16B"/>
                </a:solidFill>
                <a:latin typeface="微软雅黑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E4E9B"/>
                </a:solidFill>
                <a:latin typeface="微软雅黑"/>
              </a:rPr>
              <a:t>住房是总接口</a:t>
            </a:r>
          </a:p>
        </p:txBody>
      </p:sp>
      <p:pic>
        <p:nvPicPr>
          <p:cNvPr id="4" name="Picture 3" descr="chart06_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11430000" cy="59380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9326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16B"/>
                </a:solidFill>
                <a:latin typeface="微软雅黑"/>
              </a:rPr>
              <a:t>复旦大学住房政策研究中心 · 研究文稿第四号  FDU-HPRC-WP-2026-04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53796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16B"/>
                </a:solidFill>
                <a:latin typeface="微软雅黑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E4E9B"/>
                </a:solidFill>
                <a:latin typeface="微软雅黑"/>
              </a:rPr>
              <a:t>时间轴：2028 年险成网，2030 年服务必须进家</a:t>
            </a:r>
          </a:p>
        </p:txBody>
      </p:sp>
      <p:pic>
        <p:nvPicPr>
          <p:cNvPr id="4" name="Picture 3" descr="chart07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14400"/>
            <a:ext cx="11521440" cy="52620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9326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16B"/>
                </a:solidFill>
                <a:latin typeface="微软雅黑"/>
              </a:rPr>
              <a:t>复旦大学住房政策研究中心 · 研究文稿第四号  FDU-HPRC-WP-2026-04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53796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16B"/>
                </a:solidFill>
                <a:latin typeface="微软雅黑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E4E9B"/>
                </a:solidFill>
                <a:latin typeface="微软雅黑"/>
              </a:rPr>
              <a:t>十五五锚点与 2030 情景</a:t>
            </a:r>
          </a:p>
        </p:txBody>
      </p:sp>
      <p:pic>
        <p:nvPicPr>
          <p:cNvPr id="4" name="Picture 3" descr="chart04_15th_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40080"/>
            <a:ext cx="5943600" cy="4110292"/>
          </a:xfrm>
          <a:prstGeom prst="rect">
            <a:avLst/>
          </a:prstGeom>
        </p:spPr>
      </p:pic>
      <p:pic>
        <p:nvPicPr>
          <p:cNvPr id="5" name="Picture 4" descr="chart08_scenari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640080"/>
            <a:ext cx="5760720" cy="39203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537960"/>
            <a:ext cx="9326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16B"/>
                </a:solidFill>
                <a:latin typeface="微软雅黑"/>
              </a:rPr>
              <a:t>复旦大学住房政策研究中心 · 研究文稿第四号  FDU-HPRC-WP-2026-04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3796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16B"/>
                </a:solidFill>
                <a:latin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E4E9B"/>
                </a:solidFill>
                <a:latin typeface="微软雅黑"/>
              </a:rPr>
              <a:t>七条高确定性趋势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822960"/>
            <a:ext cx="5532120" cy="109728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E4E9B"/>
                </a:solidFill>
                <a:latin typeface="微软雅黑"/>
              </a:rPr>
              <a:t>1.  支付从补贴走向保险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822960"/>
            <a:ext cx="5532120" cy="109728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1430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E4E9B"/>
                </a:solidFill>
                <a:latin typeface="微软雅黑"/>
              </a:rPr>
              <a:t>2.  床位从数量走向功能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057400"/>
            <a:ext cx="5532120" cy="109728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E4E9B"/>
                </a:solidFill>
                <a:latin typeface="微软雅黑"/>
              </a:rPr>
              <a:t>3.  医疗从住院走向连续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057400"/>
            <a:ext cx="5532120" cy="109728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3774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E4E9B"/>
                </a:solidFill>
                <a:latin typeface="微软雅黑"/>
              </a:rPr>
              <a:t>4.  服务从机构走向住宅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291840"/>
            <a:ext cx="5532120" cy="109728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6118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E4E9B"/>
                </a:solidFill>
                <a:latin typeface="微软雅黑"/>
              </a:rPr>
              <a:t>5.  一老一小从两个口走向一张网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291840"/>
            <a:ext cx="5532120" cy="109728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6118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E4E9B"/>
                </a:solidFill>
                <a:latin typeface="微软雅黑"/>
              </a:rPr>
              <a:t>6.  提效从口号走向劳动时间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526280"/>
            <a:ext cx="11155680" cy="105156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1888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E4E9B"/>
                </a:solidFill>
                <a:latin typeface="微软雅黑"/>
              </a:rPr>
              <a:t>7.  技术从展示走向看护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37960"/>
            <a:ext cx="9326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16B"/>
                </a:solidFill>
                <a:latin typeface="微软雅黑"/>
              </a:rPr>
              <a:t>复旦大学住房政策研究中心 · 研究文稿第四号  FDU-HPRC-WP-2026-04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53796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16B"/>
                </a:solidFill>
                <a:latin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E4E9B"/>
                </a:solidFill>
                <a:latin typeface="微软雅黑"/>
              </a:rPr>
              <a:t>政策建议：空间、体系、劳动、制度</a:t>
            </a:r>
          </a:p>
        </p:txBody>
      </p:sp>
      <p:pic>
        <p:nvPicPr>
          <p:cNvPr id="4" name="Picture 3" descr="chart09_poli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60120"/>
            <a:ext cx="11430000" cy="57226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9326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16B"/>
                </a:solidFill>
                <a:latin typeface="微软雅黑"/>
              </a:rPr>
              <a:t>复旦大学住房政策研究中心 · 研究文稿第四号  FDU-HPRC-WP-2026-04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53796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16B"/>
                </a:solidFill>
                <a:latin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fudan_hpr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11480"/>
            <a:ext cx="5669280" cy="12532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2286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E4E9B"/>
                </a:solidFill>
                <a:latin typeface="微软雅黑"/>
              </a:rPr>
              <a:t>空间配齐了，保险和技术才有用武之地。
住房从负担变成人力资本的基础设施。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062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B616B"/>
                </a:solidFill>
                <a:latin typeface="微软雅黑"/>
              </a:rPr>
              <a:t>全文见《医疗、养老与提效服务：照护空间、劳动释放与二〇三〇展望》
复旦大学住房政策研究中心  ·  FDU-HPRC-WP-2026-04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760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616B"/>
                </a:solidFill>
                <a:latin typeface="微软雅黑"/>
              </a:rPr>
              <a:t>二〇二六年八月 · 上海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