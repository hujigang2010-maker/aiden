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</a:rPr>
              <a:t>上海商办楼宇与产业园区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</a:rPr>
              <a:t>市场数据平台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FDDEE"/>
                </a:solidFill>
                <a:latin typeface="Noto Sans CJK SC"/>
              </a:rPr>
              <a:t>全域覆盖 · 供需双向追踪 · 企业迁徙监测 · 精准招商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FC4DD"/>
                </a:solidFill>
                <a:latin typeface="Noto Sans CJK SC"/>
              </a:rPr>
              <a:t>路演稿 ｜ 易居房地产研究院 联合研发  ｜  202X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市场痛点：传统商办研究的四大短板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21945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Noto Sans CJK SC"/>
              </a:rPr>
              <a:t>重核心区 · 轻全域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只盯核心商务区甲级写字楼，乙级/产业园/街镇载体覆盖不足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109728" cy="21945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Noto Sans CJK SC"/>
              </a:rPr>
              <a:t>重资产 · 轻需求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只看租金、空置、供应量，缺企业行业/规模/迁徙/扩缩租研究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48640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09728" cy="21945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Noto Sans CJK SC"/>
              </a:rPr>
              <a:t>重静态 · 轻动态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缺月度企业迁徙追踪与空间行为变化监测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109728" cy="21945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0690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4E79"/>
                </a:solidFill>
                <a:latin typeface="Noto Sans CJK SC"/>
              </a:rPr>
              <a:t>重描述 · 轻落地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006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难直接转化为招商清单、企业线索、调价与运营动作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我们的差异化：从「看资产」到「看企业」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Noto Sans CJK SC"/>
              </a:rPr>
              <a:t>两大核心竞争力，构建相对五大行的研究壁垒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920240"/>
            <a:ext cx="530352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Noto Sans CJK SC"/>
              </a:rPr>
              <a:t>全域 · 供需 · 产城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7B39"/>
                </a:solidFill>
                <a:latin typeface="Noto Sans CJK SC"/>
              </a:rPr>
              <a:t>动态 · 真实 · 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全域覆盖：16 区 → 街道/镇 → 楼宇 → 企业 四级颗粒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全类型载体：超甲/甲/乙级 + 产业园/科创园/孵化器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供需并重：既研究楼宇供给，也追踪企业需求行为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产城融合：嵌入产业集聚、迁徙、补链视角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企业级迁徙追踪：工商变更 + 招聘地址 + 新闻多源交叉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代理空置率 + 议价系数：还原真实成交价格体系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AI 赋能：LLM 结构化、NLP 产业标签、链路预测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•  落地导向：招商线索/调价/改造建议可直接执行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产品矩阵：报告 + 数据库 + 招商工具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3291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免费层 · 树品牌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年度白皮书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季度市场概览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3566160" cy="3291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付费层 · 稳收入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月度报告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区域专题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竞品分析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566160" cy="32918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78308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</a:rPr>
              <a:t>高端层 · 高毛利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7432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定制招商名单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企业线索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项目诊断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</a:rPr>
              <a:t>•  资产估值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Noto Sans CJK SC"/>
              </a:rPr>
              <a:t>本质：不是「一份报告」，而是「上海产业空间数据平台」——数据产品 + 招商工具 + 决策系统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数据壁垒：五层数据架构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20624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① 空间供给（底盘）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44752"/>
            <a:ext cx="6583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高德 POI/AOI · 房源平台 · 五大行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13432"/>
            <a:ext cx="420624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32304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② 企业画像（需求核心）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32304"/>
            <a:ext cx="6583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企查查/天眼查 · 国家企信系统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00984"/>
            <a:ext cx="420624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9856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③ 交易租赁（最难）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19856"/>
            <a:ext cx="6583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房源平台 · 裁判文书 · 招投标 · 中介访谈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88536"/>
            <a:ext cx="4206240" cy="868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07408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④ 企业行为（差异化）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07408"/>
            <a:ext cx="6583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工商变更 · 招聘地址 · 融资/新闻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76088"/>
            <a:ext cx="420624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3931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⑤ 政策产业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394960"/>
            <a:ext cx="6583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Noto Sans CJK SC"/>
              </a:rPr>
              <a:t>政府公开 · 重点产业规划 · 园区定位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技术路径：采集 → 清洗 → 匹配 → 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0604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402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多源采集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DEE"/>
                </a:solidFill>
                <a:latin typeface="Noto Sans CJK SC"/>
              </a:rPr>
              <a:t>高德/企查查/房源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1168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E07B39"/>
                </a:solidFill>
                <a:latin typeface="Noto Sans CJK S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606040" cy="1645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011680"/>
            <a:ext cx="22402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AI 清洗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DEE"/>
                </a:solidFill>
                <a:latin typeface="Noto Sans CJK SC"/>
              </a:rPr>
              <a:t>LLM 结构化·NLP 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E07B39"/>
                </a:solidFill>
                <a:latin typeface="Noto Sans CJK S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011680"/>
            <a:ext cx="2606040" cy="1645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22402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楼宇-企业匹配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DEE"/>
                </a:solidFill>
                <a:latin typeface="Noto Sans CJK SC"/>
              </a:rPr>
              <a:t>地理编码·空间Join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411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E07B39"/>
                </a:solidFill>
                <a:latin typeface="Noto Sans CJK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2011680"/>
            <a:ext cx="2606040" cy="1645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011680"/>
            <a:ext cx="22402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指标与模型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CFDDEE"/>
                </a:solidFill>
                <a:latin typeface="Noto Sans CJK SC"/>
              </a:rPr>
              <a:t>空置/匹配/招商优先级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Noto Sans CJK SC"/>
              </a:rPr>
              <a:t>•  三大核心模型：供需匹配模型、租金预测模型、招商优先级模型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Noto Sans CJK SC"/>
              </a:rPr>
              <a:t>•  成交租金「三重旁证」：裁判文书纠纷标的 + 招投标中标价 + 中介访谈 + 议价系数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Noto Sans CJK SC"/>
              </a:rPr>
              <a:t>•  更新机制：租金/空置/迁徙 月度，供给/企业 季度，全量画像 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试点样板：杨浦区街道级跑通成果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载体样本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155.9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可租面积(万㎡)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3.95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成交租金(元/㎡/天)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16.5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空置率(%)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320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企业样本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280160"/>
            <a:ext cx="178308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389888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4E79"/>
                </a:solidFill>
                <a:latin typeface="Noto Sans CJK SC"/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9385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</a:rPr>
              <a:t>招商线索</a:t>
            </a:r>
          </a:p>
        </p:txBody>
      </p:sp>
      <p:pic>
        <p:nvPicPr>
          <p:cNvPr id="24" name="Picture 23" descr="03_rent_vacancy_by_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5998264" cy="3291840"/>
          </a:xfrm>
          <a:prstGeom prst="rect">
            <a:avLst/>
          </a:prstGeom>
        </p:spPr>
      </p:pic>
      <p:pic>
        <p:nvPicPr>
          <p:cNvPr id="25" name="Picture 24" descr="05_inout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0320"/>
            <a:ext cx="5950441" cy="3291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E07B39"/>
                </a:solidFill>
                <a:latin typeface="Noto Sans CJK SC"/>
              </a:rPr>
              <a:t>注：当前为演示数据模式产出；填入真实 API Key 后由同一管线一键刷新为实采数据。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商业化路径与定价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客户类型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44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产品形态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44475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</a:rPr>
              <a:t>定价参考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Noto Sans CJK SC"/>
              </a:rPr>
              <a:t>政府招商部门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4825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定制区域报告 + 招商线索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4825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50–100 万/年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33472"/>
            <a:ext cx="11064240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6148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Noto Sans CJK SC"/>
              </a:rPr>
              <a:t>产业园运营方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6148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月度市场简报 + 竞品分析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6148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20–50 万/年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4670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Noto Sans CJK SC"/>
              </a:rPr>
              <a:t>企业选址部门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7472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选址评估 + 对标分析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单次 5–15 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59936"/>
            <a:ext cx="11064240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8795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Noto Sans CJK SC"/>
              </a:rPr>
              <a:t>资产持有方/基金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8795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资产估值 + 市场研判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8795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按项目 10–30 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73168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Noto Sans CJK SC"/>
              </a:rPr>
              <a:t>公开发布（品牌）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90118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季度概览版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90118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获客引流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</a:rPr>
              <a:t>落地节奏与协作分工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1">
                <a:solidFill>
                  <a:srgbClr val="E07B39"/>
                </a:solidFill>
                <a:latin typeface="Noto Sans CJK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Noto Sans CJK SC"/>
              </a:rPr>
              <a:t>阶梯式采集路线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00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阶段一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SC"/>
              </a:rPr>
              <a:t>七大中心城区+浦东核心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56616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00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阶段二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SC"/>
              </a:rPr>
              <a:t>浦东全域补全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566160" cy="11887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2004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阶段三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SC"/>
              </a:rPr>
              <a:t>16 区全域数据库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Noto Sans CJK SC"/>
              </a:rPr>
              <a:t>分工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548640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749039"/>
            <a:ext cx="5303520" cy="2194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Noto Sans CJK SC"/>
              </a:rPr>
              <a:t>易居研究院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口径/区域/模型制定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数据校验与市场研判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报告与可视化、品牌背书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成交租金等渠道壁垒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07B39"/>
                </a:solidFill>
                <a:latin typeface="Noto Sans CJK SC"/>
              </a:rPr>
              <a:t>AI 数据获取方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合规采集/清洗/标准化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楼宇-企业匹配、迁徙计算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衍生指标、数据库与 API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</a:rPr>
              <a:t>•  创新验证体系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Noto Sans CJK SC"/>
              </a:rPr>
              <a:t>打穿数据这条线，</a:t>
            </a:r>
          </a:p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Noto Sans CJK SC"/>
              </a:rPr>
              <a:t>即上海最强招商数据平台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FDDEE"/>
                </a:solidFill>
                <a:latin typeface="Noto Sans CJK SC"/>
              </a:rPr>
              <a:t>诚邀合作：数据共建 · 渠道共享 · 商业共赢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Noto Sans CJK SC"/>
              </a:rPr>
              <a:t>易居房地产研究院 × AI 数据获取方 ｜ 上海商办楼宇与产业园区市场数据平台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