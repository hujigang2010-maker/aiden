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72000"/>
            <a:ext cx="10368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广州知识城“全球自贸365街区”项目</a:t>
            </a:r>
          </a:p>
          <a:p>
            <a:pPr algn="ctr">
              <a:spcAft>
                <a:spcPts val="2800"/>
              </a:spcAft>
            </a:pPr>
            <a:r>
              <a:rPr sz="4800" b="1">
                <a:solidFill>
                  <a:srgbClr val="FFFFFF"/>
                </a:solidFill>
                <a:latin typeface="微软雅黑"/>
              </a:rPr>
              <a:t>项目概要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微软雅黑"/>
              </a:rPr>
              <a:t>提供方:复旦大学住房政策研究中心、上海市杨浦区科技企业联合会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D9E2F3"/>
                </a:solidFill>
                <a:latin typeface="微软雅黑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一、“全球自贸365街区”概念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908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定位为进博会、广交会的外延:把短期展会延展为365天常态化展示与交易场景。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核心内容围绕驻广州领事馆、海外展品、国家馆、城市会客厅、特色商品展示与售卖等展开。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关键资源在于海关、商务局/商务委、领事馆等,须优先打通免税、关税与进出口合规路径;若无法解决合规问题,则难以形成真正的自贸港/自贸街区效果。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起步策略:适合以快闪店、小型城市中心展示、线上线下联动等轻量模式切入,不宜一开始做得过大。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二、产业方向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080000"/>
            <a:ext cx="109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</a:rPr>
              <a:t>不局限于潮玩、文创和IP,叠加国家出口优势品类与高科技产业方向: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55999"/>
            <a:ext cx="1090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出海新三样: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新能源汽车、锂电池、太阳能光伏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高科技产业: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具身智能、人工智能产品、创新生物医药、机电产品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数字内容出海: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内容出海、数字内容、微短剧、AI应用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跨境贸易: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跨境电商、国际电商平台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原有基础: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潮玩、文创、IP(继续保留并升级)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三、下阶段重点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90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微软雅黑"/>
              </a:rPr>
              <a:t>以策划服务为主,围绕调研、政策研究、项目定位、资源整合、功能布局、出海路径、产业资源组织和后续运营思路,形成正式策划服务方案。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232000"/>
            <a:ext cx="109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策划服务八大模块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736000"/>
            <a:ext cx="540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1. 现状调研与对标研究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2. 政策研究与合规路径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3. 项目定位与主题策划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4. 功能布局与业态组合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00" y="2736000"/>
            <a:ext cx="540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5. 产业方向与招商建议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6. 出海路径与线上线下联动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7. 资源整合与合作机制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8. 运营思路与实施计划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四、成果交付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908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《广州知识城“全球自贸365街区”项目策划服务方案》(正式报告,Word/PDF)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项目定位与功能布局专题汇报(PPT)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政策研究与合规路径专题报告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产业资源清单与招商建议书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运营思路与分阶段实施计划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五、提资清单(摘要)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080000"/>
            <a:ext cx="109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微软雅黑"/>
              </a:rPr>
              <a:t>完整清单详见 Excel《提资清单与报价》。高优先级资料如下: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5400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[项目基础资料]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项目地块红线图及权属资料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[项目基础资料]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地块及周边现状资料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[规划文件]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知识城总体规划及片区控规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[政策文件]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中新广州知识城相关支持政策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[政策文件]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保税展示交易/免税相关政策及既有试点资料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8000" y="1584000"/>
            <a:ext cx="5400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[前期成果]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项目前期策划、可研或概念方案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[资源信息]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已对接的领事馆、商协会及企业资源清单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[资源信息]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海关、商务局/商务委等部门对接渠道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[工作机制]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项目对接人及决策机制说明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六、服务报价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8000" y="1152000"/>
          <a:ext cx="1090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5508000"/>
                <a:gridCol w="1980000"/>
              </a:tblGrid>
              <a:tr h="57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工作阶段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主要工作内容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报价(万元)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阶段一:调研与政策研究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现状调研、案例对标、海关/保税/免税政策研究、合规路径梳理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阶段二:定位与功能布局策划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项目定位、主题策划、功能布局、业态组合、轻量启动模式论证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阶段三:产业资源整合与出海路径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产业方向细化、招商建议、资源整合、出海路径与线上线下联动设计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阶段四:运营思路与实施计划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运营模式、组织架构、收益测算框架、分阶段实施计划、正式策划服务方案整合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微软雅黑"/>
                        </a:rPr>
                        <a:t>118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000" y="4752000"/>
            <a:ext cx="1090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以上报价为含税参考价(人民币),最终价格以双方商务洽谈及合同为准。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服务周期:合同签订并收到首笔款项及主要提资材料后约4个月(可按委托方需求调整)。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付款建议:合同签订后支付40%,中期成果(阶段二)通过评审后支付30%,最终成果验收后支付30%。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差旅费用:上海—广州往返差旅按实报销或包干另议。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520000"/>
            <a:ext cx="10368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期待与您的合作</a:t>
            </a:r>
          </a:p>
          <a:p>
            <a:pPr algn="ctr">
              <a:spcAft>
                <a:spcPts val="800"/>
              </a:spcAft>
            </a:pPr>
            <a:r>
              <a:rPr sz="1800" b="0">
                <a:solidFill>
                  <a:srgbClr val="D9E2F3"/>
                </a:solidFill>
                <a:latin typeface="微软雅黑"/>
              </a:rPr>
              <a:t>复旦大学住房政策研究中心、上海市杨浦区科技企业联合会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