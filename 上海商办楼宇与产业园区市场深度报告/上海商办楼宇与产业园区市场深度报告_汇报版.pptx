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57200"/>
            <a:ext cx="164592" cy="5943600"/>
          </a:xfrm>
          <a:prstGeom prst="rect">
            <a:avLst/>
          </a:prstGeom>
          <a:solidFill>
            <a:srgbClr val="C886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  联合课题组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972800" cy="10972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微软雅黑"/>
                <a:ea typeface="微软雅黑"/>
              </a:rPr>
              <a:t>上海商办楼宇与产业园区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972800" cy="10972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微软雅黑"/>
                <a:ea typeface="微软雅黑"/>
              </a:rPr>
              <a:t>市场深度报告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000" b="0">
                <a:solidFill>
                  <a:srgbClr val="CFDDF0"/>
                </a:solidFill>
                <a:latin typeface="微软雅黑"/>
                <a:ea typeface="微软雅黑"/>
              </a:rPr>
              <a:t>全域空间供给 · 企业需求迁徙 · 产业载体运营研究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ABC0D9"/>
                </a:solidFill>
                <a:latin typeface="微软雅黑"/>
                <a:ea typeface="微软雅黑"/>
              </a:rPr>
              <a:t>研发方案 · 报告大纲 · 数据调用建议 · 执行指引（讨论稿）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C8862D"/>
                </a:solidFill>
                <a:latin typeface="微软雅黑"/>
                <a:ea typeface="微软雅黑"/>
              </a:rPr>
              <a:t>联合发布 · 上海商办楼宇与产业园区市场研究课题组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目录 · Outline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9164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项目定位与背景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984248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联合发布主体、核心定位、读者矩阵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317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3317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市场发展背景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624328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城市更新、五个中心、需求重构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97180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97180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全域供给格局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264408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16区 + 街镇 + 楼宇 + 园区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11879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11879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租金空置与价格体系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904487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分层租金 + 空置结构 + 综合成本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25196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25196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入驻企业画像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544568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行业、规模、成长阶段、清单体系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48920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企业迁徙与产业流动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184648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跨区迁徙、产业流向、吸引力指数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532119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32119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供需匹配与招商机会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5824727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竞争力模型 + 三类招商机会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169164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市场趋势预测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1984248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租金/空置/产业/空间策略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23317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23317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政策建议与市场应用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2624328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政府、园区、资产、企业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297180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297180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成果体系与商业化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264408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月报/季报/白皮书/诊断/选址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3611879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3611879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数据体系与字段设计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904487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六大基础数据库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425196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5196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核心指标体系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544568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五大指数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89204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48920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数据调用与采集指引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5184648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五项原则、四阶段、合规要点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532119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C8862D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0" y="5532119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ea typeface="微软雅黑"/>
              </a:rPr>
              <a:t>分工协同与首期落地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5824727"/>
            <a:ext cx="5029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6E737C"/>
                </a:solidFill>
                <a:latin typeface="微软雅黑"/>
                <a:ea typeface="微软雅黑"/>
              </a:rPr>
              <a:t>易居 × 复旦 × 数据技术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01 · 项目定位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联合发布与核心定位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上海首份面向全域商办楼宇与产业园区的供需双侧 / 企业迁徙 / 资产运营决策报告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5303520" cy="228600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8308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微软雅黑"/>
                <a:ea typeface="微软雅黑"/>
              </a:rPr>
              <a:t>联合发布主体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1F3A68"/>
                </a:solidFill>
                <a:latin typeface="微软雅黑"/>
                <a:ea typeface="微软雅黑"/>
              </a:rPr>
              <a:t>易居房地产研究院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889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800" b="1">
                <a:solidFill>
                  <a:srgbClr val="C8862D"/>
                </a:solidFill>
                <a:latin typeface="微软雅黑"/>
                <a:ea typeface="微软雅黑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154680"/>
            <a:ext cx="50292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200" b="1">
                <a:solidFill>
                  <a:srgbClr val="1F3A68"/>
                </a:solidFill>
                <a:latin typeface="微软雅黑"/>
                <a:ea typeface="微软雅黑"/>
              </a:rPr>
              <a:t>复旦大学住房政策研究中心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691640"/>
            <a:ext cx="57607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微软雅黑"/>
                <a:ea typeface="微软雅黑"/>
              </a:rPr>
              <a:t>核心定位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2103120"/>
            <a:ext cx="5760720" cy="20116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全域覆盖：16区 → 街镇 → 楼宇/园区 → 企业 四级颗粒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全类型载体：写字楼、产业园、科创园、孵化器、商务园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供需双侧：供给底数 × 企业入驻/迁徙/扩缩租行为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产业视角：集聚、流动、补链强链与新质生产力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300" b="0">
                <a:solidFill>
                  <a:srgbClr val="222A35"/>
                </a:solidFill>
                <a:latin typeface="微软雅黑"/>
                <a:ea typeface="微软雅黑"/>
              </a:rPr>
              <a:t>招商资管导向：政府招商 + 园区运营 + 资产策略 + 企业选址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微软雅黑"/>
                <a:ea typeface="微软雅黑"/>
              </a:rPr>
              <a:t>五大研究突破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63440"/>
            <a:ext cx="21945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2194560" cy="1554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63440"/>
            <a:ext cx="219456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63440"/>
            <a:ext cx="219456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全域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120640"/>
            <a:ext cx="1920240" cy="10515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从核心区样本走向上海全域覆盖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61488" y="4663440"/>
            <a:ext cx="21945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61488" y="4663440"/>
            <a:ext cx="2194560" cy="1554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61488" y="4663440"/>
            <a:ext cx="219456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61488" y="4663440"/>
            <a:ext cx="219456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全载体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98648" y="5120640"/>
            <a:ext cx="1920240" cy="10515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从写字楼走向商办与产业园区全类型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65776" y="4663440"/>
            <a:ext cx="21945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65776" y="4663440"/>
            <a:ext cx="2194560" cy="1554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65776" y="4663440"/>
            <a:ext cx="219456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65776" y="4663440"/>
            <a:ext cx="219456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双侧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02936" y="5120640"/>
            <a:ext cx="1920240" cy="10515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从租金空置走向供需双侧研究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70064" y="4663440"/>
            <a:ext cx="21945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70064" y="4663440"/>
            <a:ext cx="2194560" cy="1554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70064" y="4663440"/>
            <a:ext cx="219456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70064" y="4663440"/>
            <a:ext cx="219456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动态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07224" y="5120640"/>
            <a:ext cx="1920240" cy="10515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从静态描述走向企业迁徙动态监测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74352" y="4663440"/>
            <a:ext cx="21945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74352" y="4663440"/>
            <a:ext cx="2194560" cy="1554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74352" y="4663440"/>
            <a:ext cx="219456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74352" y="4663440"/>
            <a:ext cx="219456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11512" y="5120640"/>
            <a:ext cx="1920240" cy="10515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从宏观研究走向招商/资管/选址应用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01 · 项目定位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五类目标读者矩阵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政府、资产、投资、企业、研究 — 一份报告对应五个使用场景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3657600" cy="219456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783080"/>
            <a:ext cx="3657600" cy="45720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783080"/>
            <a:ext cx="33832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政府与产业招商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331720"/>
            <a:ext cx="3291840" cy="11887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市/区招商主管部门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街镇招商中心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开发区/功能区管委会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2044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▎ 空间治理 · 精准招商 · 楼宇与园区经济政策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78308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783080"/>
            <a:ext cx="3657600" cy="2194560"/>
          </a:xfrm>
          <a:prstGeom prst="rect">
            <a:avLst/>
          </a:prstGeom>
          <a:noFill/>
          <a:ln>
            <a:solidFill>
              <a:srgbClr val="E06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783080"/>
            <a:ext cx="3657600" cy="457200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1783080"/>
            <a:ext cx="33832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楼宇/园区运营方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331720"/>
            <a:ext cx="3291840" cy="11887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商办楼宇业主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产业园区运营商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城市更新操盘方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国企平台公司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52044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▎ 资产定位 · 租金策略 · 招商策略 · 运营服务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78308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1783080"/>
            <a:ext cx="3657600" cy="2194560"/>
          </a:xfrm>
          <a:prstGeom prst="rect">
            <a:avLst/>
          </a:prstGeom>
          <a:noFill/>
          <a:ln>
            <a:solidFill>
              <a:srgbClr val="4A8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783080"/>
            <a:ext cx="3657600" cy="457200"/>
          </a:xfrm>
          <a:prstGeom prst="rect">
            <a:avLst/>
          </a:prstGeom>
          <a:solidFill>
            <a:srgbClr val="4A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1783080"/>
            <a:ext cx="33832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资产持有与投资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331720"/>
            <a:ext cx="3291840" cy="11887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4A8C5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REITs / 类REITs资产方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4A8C5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商办投资人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4A8C5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资管公司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4A8C5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地产基金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52044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▎ 竞品对标 · 估值 · 改造 · 资本化路径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16052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160520"/>
            <a:ext cx="3657600" cy="2194560"/>
          </a:xfrm>
          <a:prstGeom prst="rect">
            <a:avLst/>
          </a:prstGeom>
          <a:noFill/>
          <a:ln>
            <a:solidFill>
              <a:srgbClr val="C88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160520"/>
            <a:ext cx="3657600" cy="45720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160520"/>
            <a:ext cx="33832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企业选址决策方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709160"/>
            <a:ext cx="3291840" cy="11887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科创企业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专精特新企业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总部企业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生产性服务业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89788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▎ 区域比较 · 综合成本 · 政策匹配 · 扩缩租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16052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43400" y="4160520"/>
            <a:ext cx="3657600" cy="219456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43400" y="4160520"/>
            <a:ext cx="365760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0" y="4160520"/>
            <a:ext cx="33832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研究与咨询机构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4709160"/>
            <a:ext cx="3291840" cy="11887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房地产研究机构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产业咨询机构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金融研究部门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城市更新服务商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589788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▎ 标准化口径 · 行业研究 · 政策咨询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02 · 市场背景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上海商办与产业空间逻辑正在重构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从地段 / 形象 / 总部标签 → 成本可控 / 产业协同 / 政策支持 / 人才可达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91640"/>
            <a:ext cx="3657600" cy="2194560"/>
          </a:xfrm>
          <a:prstGeom prst="rect">
            <a:avLst/>
          </a:prstGeom>
          <a:noFill/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691640"/>
            <a:ext cx="3657600" cy="29260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91640"/>
            <a:ext cx="34747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城市发展阶段变化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57400"/>
            <a:ext cx="3429000" cy="1783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城市更新进入深水区，存量盘活成核心命题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新质生产力培育对空间载体提出新要求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“五个中心”推动办公/研发/总部/服务功能升级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增量开发 → 存量盘活 / 产业赋能 / 精细运营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69164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1691640"/>
            <a:ext cx="3657600" cy="2194560"/>
          </a:xfrm>
          <a:prstGeom prst="rect">
            <a:avLst/>
          </a:prstGeom>
          <a:noFill/>
          <a:ln w="9525"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691640"/>
            <a:ext cx="3657600" cy="29260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691640"/>
            <a:ext cx="34747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市场运行逻辑变化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057400"/>
            <a:ext cx="3429000" cy="1783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租金竞争 → 产业服务竞争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地段价值 → 综合生态价值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单一办公 → 办公+研发+展示+孵化+资本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楼宇招商 → 产业招商与企业生命周期服务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169164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691640"/>
            <a:ext cx="3657600" cy="2194560"/>
          </a:xfrm>
          <a:prstGeom prst="rect">
            <a:avLst/>
          </a:prstGeom>
          <a:noFill/>
          <a:ln w="9525">
            <a:solidFill>
              <a:srgbClr val="C88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1691640"/>
            <a:ext cx="3657600" cy="292608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691640"/>
            <a:ext cx="34747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企业选址逻辑变化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2057400"/>
            <a:ext cx="3429000" cy="1783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综合成本可控 + 政策可达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产业协同 + 上下游生态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空间灵活 + 服务完善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交通便利 + 人才可达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  当前研究体系的四大不足  →  本报告的突破方向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526280"/>
            <a:ext cx="2697480" cy="45720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260604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重核心区，轻全域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1691640" y="5029200"/>
            <a:ext cx="228600" cy="274320"/>
          </a:xfrm>
          <a:prstGeom prst="downArrow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349240"/>
            <a:ext cx="2697480" cy="9144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5349240"/>
            <a:ext cx="2423160" cy="9144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覆盖16区+街镇+楼宇/园区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91840" y="4526280"/>
            <a:ext cx="2697480" cy="45720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83280" y="4526280"/>
            <a:ext cx="260604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重资产指标，轻需求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4526280" y="5029200"/>
            <a:ext cx="228600" cy="274320"/>
          </a:xfrm>
          <a:prstGeom prst="downArrow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5349240"/>
            <a:ext cx="2697480" cy="9144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29000" y="5349240"/>
            <a:ext cx="2423160" cy="9144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供需双侧 + 企业画像 + 行为研究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4526280"/>
            <a:ext cx="2697480" cy="45720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4526280"/>
            <a:ext cx="260604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重静态，轻动态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7360920" y="5029200"/>
            <a:ext cx="228600" cy="274320"/>
          </a:xfrm>
          <a:prstGeom prst="downArrow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5349240"/>
            <a:ext cx="2697480" cy="9144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5349240"/>
            <a:ext cx="2423160" cy="9144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月度/季度企业迁徙追踪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61120" y="4526280"/>
            <a:ext cx="2697480" cy="45720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52560" y="4526280"/>
            <a:ext cx="260604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重描述，轻落地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10195560" y="5029200"/>
            <a:ext cx="228600" cy="274320"/>
          </a:xfrm>
          <a:prstGeom prst="downArrow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20" y="5349240"/>
            <a:ext cx="2697480" cy="9144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98280" y="5349240"/>
            <a:ext cx="2423160" cy="9144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招商清单 + 资管建议 + 选址方案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03 · 全域供给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上海全域商办与产业园区供给格局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四级数据库：行政区 → 街道/镇 → 楼宇/园区 → 企业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1828800" cy="100584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18288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商办楼宇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011680"/>
            <a:ext cx="18288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全市数量盘点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04872" y="1691640"/>
            <a:ext cx="1828800" cy="100584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04872" y="1691640"/>
            <a:ext cx="18288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产业园区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872" y="2011680"/>
            <a:ext cx="18288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全市数量盘点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52544" y="1691640"/>
            <a:ext cx="1828800" cy="1005840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2544" y="1691640"/>
            <a:ext cx="18288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总建筑面积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2544" y="2011680"/>
            <a:ext cx="18288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存量底数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1691640"/>
            <a:ext cx="1828800" cy="100584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691640"/>
            <a:ext cx="18288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可租赁面积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011680"/>
            <a:ext cx="18288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市场流通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47888" y="1691640"/>
            <a:ext cx="1828800" cy="1005840"/>
          </a:xfrm>
          <a:prstGeom prst="rect">
            <a:avLst/>
          </a:prstGeom>
          <a:solidFill>
            <a:srgbClr val="4A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8" y="1691640"/>
            <a:ext cx="18288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可招商面积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7888" y="2011680"/>
            <a:ext cx="18288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去化压力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95559" y="1691640"/>
            <a:ext cx="1828800" cy="1005840"/>
          </a:xfrm>
          <a:prstGeom prst="rect">
            <a:avLst/>
          </a:prstGeom>
          <a:solidFill>
            <a:srgbClr val="7C4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95559" y="1691640"/>
            <a:ext cx="18288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新增供应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59" y="2011680"/>
            <a:ext cx="18288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供应节奏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16区供给格局（按功能分组示意）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2697480" cy="45720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38328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核心商务区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840480"/>
            <a:ext cx="2697480" cy="73152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840480"/>
            <a:ext cx="2514600" cy="7315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黄浦 · 静安 · 徐汇 · 长宁 · 虹口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91840" y="3383280"/>
            <a:ext cx="2697480" cy="457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91840" y="338328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浦东主力区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91840" y="3840480"/>
            <a:ext cx="2697480" cy="73152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83280" y="3840480"/>
            <a:ext cx="2514600" cy="7315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陆家嘴 · 前滩 · 张江 · 金桥 · 外高桥 · 临港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3383280"/>
            <a:ext cx="2697480" cy="457200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338328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产业新兴区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3840480"/>
            <a:ext cx="2697480" cy="73152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3840480"/>
            <a:ext cx="2514600" cy="7315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杨浦 · 普陀 · 闵行 · 嘉定 · 松江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3383280"/>
            <a:ext cx="2697480" cy="457200"/>
          </a:xfrm>
          <a:prstGeom prst="rect">
            <a:avLst/>
          </a:prstGeom>
          <a:solidFill>
            <a:srgbClr val="4A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61120" y="338328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外溢承接区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61120" y="3840480"/>
            <a:ext cx="2697480" cy="73152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52560" y="3840480"/>
            <a:ext cx="2514600" cy="7315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宝山 · 青浦 · 奉贤 · 金山 · 崇明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按物业类型划分（10大类）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16636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5166360"/>
            <a:ext cx="2194560" cy="411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5166360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超甲级写字楼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0" y="516636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43200" y="5166360"/>
            <a:ext cx="2194560" cy="411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0" y="5166360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甲级写字楼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0" y="516636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0" y="5166360"/>
            <a:ext cx="2194560" cy="411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0" y="5166360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乙级写字楼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00" y="516636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315200" y="5166360"/>
            <a:ext cx="2194560" cy="411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166360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商务楼宇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601200" y="516636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601200" y="5166360"/>
            <a:ext cx="2194560" cy="411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01200" y="5166360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总部园区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66928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7200" y="5669280"/>
            <a:ext cx="2194560" cy="411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669280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科创园区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0" y="566928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743200" y="5669280"/>
            <a:ext cx="2194560" cy="411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43200" y="5669280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产业园区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0" y="566928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29200" y="5669280"/>
            <a:ext cx="2194560" cy="411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0" y="5669280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孵化器/众创空间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566928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315200" y="5669280"/>
            <a:ext cx="2194560" cy="411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0" y="5669280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城市更新载体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01200" y="5669280"/>
            <a:ext cx="219456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01200" y="5669280"/>
            <a:ext cx="2194560" cy="41148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601200" y="5669280"/>
            <a:ext cx="219456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国企平台载体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03 · 全域供给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重点商务与产业板块清单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20大重点板块作为深度分析样本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78308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78308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陆家嘴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19456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金融总部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178308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88920" y="178308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88920" y="178308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178308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前滩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19456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总部展示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178308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78308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20640" y="178308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178308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张江科学城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19456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硬科技/生医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59" y="178308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359" y="178308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2359" y="178308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59" y="178308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临港新片区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59" y="219456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硬科技/国际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84080" y="178308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84080" y="178308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84080" y="178308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178308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徐汇滨江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219456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AI/传媒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274320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274320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274320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274320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北外滩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315468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金融/航运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88920" y="274320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88920" y="274320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88920" y="274320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8920" y="274320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大虹桥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315468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国际商务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120640" y="274320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20640" y="274320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20640" y="274320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20640" y="274320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杨浦滨江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315468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在线新经济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52359" y="274320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59" y="274320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52359" y="274320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52359" y="274320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五角场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52359" y="315468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科创服务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84080" y="274320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784080" y="274320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784080" y="274320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274320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南京西路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315468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高端商务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70332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370332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7200" y="370332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70332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人民广场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411480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传统商务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788920" y="370332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788920" y="370332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788920" y="370332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88920" y="370332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漕河泾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88920" y="411480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信息技术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120640" y="370332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120640" y="370332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120640" y="370332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20640" y="370332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紫竹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20640" y="411480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生命健康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452359" y="370332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52359" y="370332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59" y="370332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52359" y="370332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金桥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52359" y="411480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智造/通信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784080" y="370332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784080" y="370332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784080" y="370332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784080" y="370332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外高桥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784080" y="411480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贸易/总部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57200" y="466344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200" y="466344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57200" y="466344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7200" y="466344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嘉定汽车城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200" y="50749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智能汽车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88920" y="466344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788920" y="466344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788920" y="466344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788920" y="466344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G60科创走廊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788920" y="50749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高端制造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120640" y="466344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120640" y="466344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120640" y="466344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120640" y="466344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青浦西虹桥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20640" y="50749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数贸/进博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452359" y="466344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452359" y="466344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452359" y="466344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452359" y="466344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宝山南大智慧城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452359" y="50749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新材料/数字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784080" y="4663440"/>
            <a:ext cx="21945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784080" y="4663440"/>
            <a:ext cx="2194560" cy="86868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784080" y="4663440"/>
            <a:ext cx="219456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784080" y="4663440"/>
            <a:ext cx="219456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奉贤东方美谷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84080" y="50749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美丽健康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04 · 租金空置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租金、空置与综合承租成本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分层租金 + 空置结构 + 综合承租成本模型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91640"/>
            <a:ext cx="3657600" cy="2103120"/>
          </a:xfrm>
          <a:prstGeom prst="rect">
            <a:avLst/>
          </a:prstGeom>
          <a:noFill/>
          <a:ln w="9525"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691640"/>
            <a:ext cx="3657600" cy="29260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91640"/>
            <a:ext cx="34747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分层租金体系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57400"/>
            <a:ext cx="3429000" cy="16916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全市平均报价/成交租金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核心 / 次核心 / 产业园区 / 乙级以下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16区租金 + 各物业等级租金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报价 / 中介报价 / 真实成交（三类标注）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69164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60" y="1691640"/>
            <a:ext cx="3657600" cy="2103120"/>
          </a:xfrm>
          <a:prstGeom prst="rect">
            <a:avLst/>
          </a:prstGeom>
          <a:noFill/>
          <a:ln w="9525">
            <a:solidFill>
              <a:srgbClr val="E06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691640"/>
            <a:ext cx="3657600" cy="292608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691640"/>
            <a:ext cx="34747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空置结构分析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057400"/>
            <a:ext cx="3429000" cy="16916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总体空置率 + 各区/各街镇 + 各物业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小/中/大面积 · 整层/多层/整栋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长期空置 vs 新增空置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招商可租面积 = 报告主口径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169164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691640"/>
            <a:ext cx="3657600" cy="2103120"/>
          </a:xfrm>
          <a:prstGeom prst="rect">
            <a:avLst/>
          </a:prstGeom>
          <a:noFill/>
          <a:ln w="9525">
            <a:solidFill>
              <a:srgbClr val="4A8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20" y="1691640"/>
            <a:ext cx="3657600" cy="292608"/>
          </a:xfrm>
          <a:prstGeom prst="rect">
            <a:avLst/>
          </a:prstGeom>
          <a:solidFill>
            <a:srgbClr val="4A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56448" y="1691640"/>
            <a:ext cx="34747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综合承租成本模型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2057400"/>
            <a:ext cx="3429000" cy="169164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4A8C5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= 租金 + 物业费 + 停车 + 装修摊销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4A8C5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  + 搬迁成本 + 通勤成本 − 政策补贴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4A8C5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写字楼 vs 产业园区成本对比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4A8C5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降本型迁移路径识别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2336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空置面积结构 × 招商资管含义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34840"/>
            <a:ext cx="2743200" cy="77724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80560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小面积空置 (≤300㎡)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818888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初创/小微团队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4434840"/>
            <a:ext cx="2743200" cy="77724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29000" y="4480560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中面积 (300-1000㎡)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818888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成长型/中型企业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434840"/>
            <a:ext cx="2743200" cy="77724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4480560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大面积 (1000-3000㎡)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818888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总部/研发中心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4434840"/>
            <a:ext cx="2743200" cy="77724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4480560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整层空置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4818888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整层招商溢价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03520"/>
            <a:ext cx="2743200" cy="77724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349240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多层连续 (≥2层)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687568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总部/产业基地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37560" y="5303520"/>
            <a:ext cx="2743200" cy="77724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29000" y="5349240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整栋待招商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5687568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产业主题改造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5303520"/>
            <a:ext cx="2743200" cy="77724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5349240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长期空置 (≥12月)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5687568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重新定位或改造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98280" y="5303520"/>
            <a:ext cx="2743200" cy="77724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89720" y="5349240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新增空置 (3月)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89720" y="5687568"/>
            <a:ext cx="25603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短期波动信号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05 · 企业画像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入驻企业画像与产业需求结构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重点关注 17 大行业 × 10 类企业规模 × 9 类企业清单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916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重点行业（17大产业方向）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031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人工智能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04872" y="21031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04872" y="21031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集成电路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21031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1031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生物医药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1031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21031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智能驾驶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47888" y="21031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1031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新能源汽车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95559" y="21031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95559" y="21031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机器人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5603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5603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低空经济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04872" y="25603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4872" y="25603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软件信息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52544" y="25603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25603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金融服务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0216" y="25603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25603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专业服务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47888" y="25603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7888" y="25603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文化传媒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95559" y="25603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95559" y="25603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数字贸易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0175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175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跨境电商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04872" y="30175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04872" y="30175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高端制造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52544" y="30175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52544" y="30175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生产性服务业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0216" y="30175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0216" y="30175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总部经济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47888" y="3017520"/>
            <a:ext cx="1828800" cy="38404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47888" y="3017520"/>
            <a:ext cx="18288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专精特新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356616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典型行业空间需求矩阵（示例）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3977639"/>
            <a:ext cx="164592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977639"/>
            <a:ext cx="164592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行业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103120" y="3977639"/>
            <a:ext cx="237744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103120" y="3977639"/>
            <a:ext cx="237744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空间形态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80560" y="3977639"/>
            <a:ext cx="384048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80560" y="3977639"/>
            <a:ext cx="384048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选址偏好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1040" y="3977639"/>
            <a:ext cx="3383280" cy="36576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21040" y="3977639"/>
            <a:ext cx="338328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关注因素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343399"/>
            <a:ext cx="164592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343399"/>
            <a:ext cx="150876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人工智能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03120" y="4343399"/>
            <a:ext cx="237744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194560" y="4343399"/>
            <a:ext cx="224028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中大型办公+研发展示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80560" y="4343399"/>
            <a:ext cx="384048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0" y="4343399"/>
            <a:ext cx="37033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徐汇滨江·杨浦·张江·临港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21040" y="4343399"/>
            <a:ext cx="338328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0" y="4343399"/>
            <a:ext cx="3246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人才/算力/资本/政策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727447"/>
            <a:ext cx="16459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4727447"/>
            <a:ext cx="150876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生物医药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103120" y="4727447"/>
            <a:ext cx="2377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94560" y="4727447"/>
            <a:ext cx="224028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研发办公+实验空间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60" y="4727447"/>
            <a:ext cx="38404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0" y="4727447"/>
            <a:ext cx="37033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张江·临港·闵行·奉贤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321040" y="4727447"/>
            <a:ext cx="33832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412480" y="4727447"/>
            <a:ext cx="3246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实验/审批/产业链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" y="5111495"/>
            <a:ext cx="164592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8640" y="5111495"/>
            <a:ext cx="150876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智能驾驶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103120" y="5111495"/>
            <a:ext cx="237744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194560" y="5111495"/>
            <a:ext cx="224028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办公+研发+测试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560" y="5111495"/>
            <a:ext cx="384048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72000" y="5111495"/>
            <a:ext cx="37033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嘉定·浦东·杨浦·临港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21040" y="5111495"/>
            <a:ext cx="338328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12480" y="5111495"/>
            <a:ext cx="3246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测试场景/整车/政策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5495543"/>
            <a:ext cx="16459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5495543"/>
            <a:ext cx="150876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专业服务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103120" y="5495543"/>
            <a:ext cx="2377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194560" y="5495543"/>
            <a:ext cx="224028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中小型高品质办公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80560" y="5495543"/>
            <a:ext cx="38404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0" y="5495543"/>
            <a:ext cx="37033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黄浦·静安·陆家嘴·北外滩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1040" y="5495543"/>
            <a:ext cx="33832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0" y="5495543"/>
            <a:ext cx="3246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客户可达/品牌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5879591"/>
            <a:ext cx="164592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48640" y="5879591"/>
            <a:ext cx="150876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高端制造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103120" y="5879591"/>
            <a:ext cx="237744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194560" y="5879591"/>
            <a:ext cx="224028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研发办公+厂办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80560" y="5879591"/>
            <a:ext cx="384048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2000" y="5879591"/>
            <a:ext cx="37033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嘉定·松江·临港·宝山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21040" y="5879591"/>
            <a:ext cx="3383280" cy="384048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412480" y="5879591"/>
            <a:ext cx="3246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成本/物流/产业配套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06 · 企业迁徙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企业迁徙与产业流动趋势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8 类迁徙行为 × 多源交叉验证 × 区域吸引力指数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916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企业迁徙类型（8类）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2743200" cy="438912"/>
          </a:xfrm>
          <a:prstGeom prst="rect">
            <a:avLst/>
          </a:prstGeom>
          <a:solidFill>
            <a:srgbClr val="4A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03120"/>
            <a:ext cx="27432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扩张型迁移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103120"/>
            <a:ext cx="2743200" cy="438912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2103120"/>
            <a:ext cx="27432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降本型迁移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103120"/>
            <a:ext cx="2743200" cy="438912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2103120"/>
            <a:ext cx="27432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总部升级型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2103120"/>
            <a:ext cx="2743200" cy="438912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103120"/>
            <a:ext cx="27432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产业集聚型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06039"/>
            <a:ext cx="2743200" cy="438912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606039"/>
            <a:ext cx="27432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政策导向型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2606039"/>
            <a:ext cx="2743200" cy="438912"/>
          </a:xfrm>
          <a:prstGeom prst="rect">
            <a:avLst/>
          </a:prstGeom>
          <a:solidFill>
            <a:srgbClr val="6E73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37560" y="2606039"/>
            <a:ext cx="27432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被动搬迁型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606039"/>
            <a:ext cx="2743200" cy="438912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606039"/>
            <a:ext cx="27432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缩租型迁移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98280" y="2606039"/>
            <a:ext cx="2743200" cy="438912"/>
          </a:xfrm>
          <a:prstGeom prst="rect">
            <a:avLst/>
          </a:prstGeom>
          <a:solidFill>
            <a:srgbClr val="6B4F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8280" y="2606039"/>
            <a:ext cx="27432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注册地迁移办公地不变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24612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重点产业迁徙流向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57600"/>
            <a:ext cx="566928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657600"/>
            <a:ext cx="18288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人工智能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3657600"/>
            <a:ext cx="3749039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→  徐汇滨江 · 杨浦 · 张江 · 临港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657600"/>
            <a:ext cx="566928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657600"/>
            <a:ext cx="18288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智能驾驶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3657600"/>
            <a:ext cx="3749039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→  嘉定 · 浦东 · 杨浦 · 临港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160520"/>
            <a:ext cx="566928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0520"/>
            <a:ext cx="18288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生物医药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4160520"/>
            <a:ext cx="3749039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→  张江 · 临港 · 闵行 · 奉贤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4160520"/>
            <a:ext cx="566928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160520"/>
            <a:ext cx="18288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集成电路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4160520"/>
            <a:ext cx="3749039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→  张江 · 临港 · 嘉定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663440"/>
            <a:ext cx="566928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663440"/>
            <a:ext cx="18288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金融/专业服务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4663440"/>
            <a:ext cx="3749039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→  陆家嘴 · 北外滩 · 南京西路（稳定）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4663440"/>
            <a:ext cx="566928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663440"/>
            <a:ext cx="182880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总部企业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663440"/>
            <a:ext cx="3749039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→  陆家嘴 · 前滩 · 北外滩 · 徐汇滨江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257800"/>
            <a:ext cx="11247120" cy="10972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30352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区域吸引力指数 · 9 项核心指标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669280"/>
            <a:ext cx="36576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●  企业净流入数量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5669280"/>
            <a:ext cx="36576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●  重点产业企业流入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5669280"/>
            <a:ext cx="36576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●  高成长企业流入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897880"/>
            <a:ext cx="36576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●  租金性价比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5897880"/>
            <a:ext cx="36576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●  政策支持力度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79" y="5897880"/>
            <a:ext cx="36576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●  交通可达性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126480"/>
            <a:ext cx="36576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●  产业配套成熟度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0" y="6126480"/>
            <a:ext cx="36576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●  空间供给适配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79" y="6126480"/>
            <a:ext cx="36576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●  资本与服务集聚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07 · 供需招商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供需匹配与三类招商机会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区域机会 + 产业机会 + 企业线索 — 报告商业化价值的核心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9164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楼宇竞争力七维模型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1463040" cy="347472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03120"/>
            <a:ext cx="146304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区位交通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2103120"/>
            <a:ext cx="402336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2103120"/>
            <a:ext cx="38404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地铁·主干路·机场高铁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487168"/>
            <a:ext cx="1463040" cy="347472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87168"/>
            <a:ext cx="146304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资产品质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2487168"/>
            <a:ext cx="402336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487168"/>
            <a:ext cx="38404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建筑/层高/装修/智能化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71215"/>
            <a:ext cx="1463040" cy="347472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871215"/>
            <a:ext cx="146304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租金表现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2871215"/>
            <a:ext cx="402336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2871215"/>
            <a:ext cx="38404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报价/成交/弹性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255263"/>
            <a:ext cx="1463040" cy="347472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255263"/>
            <a:ext cx="146304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企业结构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255263"/>
            <a:ext cx="402336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3255263"/>
            <a:ext cx="38404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质量/集中度/龙头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639311"/>
            <a:ext cx="1463040" cy="347472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39311"/>
            <a:ext cx="146304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3639311"/>
            <a:ext cx="402336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3639311"/>
            <a:ext cx="38404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物业/企业/活动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023360"/>
            <a:ext cx="1463040" cy="347472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023360"/>
            <a:ext cx="146304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政策资源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20240" y="4023360"/>
            <a:ext cx="402336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4023360"/>
            <a:ext cx="38404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补贴/资质/招商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407408"/>
            <a:ext cx="1463040" cy="347472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407408"/>
            <a:ext cx="146304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去化能力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4407408"/>
            <a:ext cx="402336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4407408"/>
            <a:ext cx="38404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空置/周期/稳定性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169164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三类招商机会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2103120"/>
            <a:ext cx="5486400" cy="347472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2103120"/>
            <a:ext cx="530352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区域机会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2514600"/>
            <a:ext cx="5303520" cy="9601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核心区外溢承接区域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新兴产业适配区域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总部企业导入区域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成本型办公承接区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3520439"/>
            <a:ext cx="5486400" cy="347472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3520439"/>
            <a:ext cx="530352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产业机会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5080" y="3931919"/>
            <a:ext cx="5303520" cy="9601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AI产业链补链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智能驾驶上下游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生物医药研发服务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专精特新集聚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4937760"/>
            <a:ext cx="5486400" cy="347472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4937760"/>
            <a:ext cx="530352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企业线索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5349240"/>
            <a:ext cx="5303520" cy="9601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近期融资企业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新增招聘明显企业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扩租/迁址可能企业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产业链上下游企业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08 · 趋势预测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市场趋势与未来机会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租金 · 空置 · 产业 · 空间策略 — 四线预测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91640"/>
            <a:ext cx="2743200" cy="2194560"/>
          </a:xfrm>
          <a:prstGeom prst="rect">
            <a:avLst/>
          </a:prstGeom>
          <a:noFill/>
          <a:ln w="9525"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691640"/>
            <a:ext cx="2743200" cy="29260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91640"/>
            <a:ext cx="25603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租金趋势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57400"/>
            <a:ext cx="2514600" cy="1783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核心商务区走势研判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乙级写字楼承压幅度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产业园区韧性度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新兴板块成长性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老旧楼宇调整压力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169164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1691640"/>
            <a:ext cx="2743200" cy="2194560"/>
          </a:xfrm>
          <a:prstGeom prst="rect">
            <a:avLst/>
          </a:prstGeom>
          <a:noFill/>
          <a:ln w="9525">
            <a:solidFill>
              <a:srgbClr val="E06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1691640"/>
            <a:ext cx="2743200" cy="292608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7288" y="1691640"/>
            <a:ext cx="25603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空置趋势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057400"/>
            <a:ext cx="2514600" cy="1783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高空置板块识别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新增供应压力板块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去化较快板块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需求支撑较强板块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存量改造压力板块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169164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691640"/>
            <a:ext cx="2743200" cy="2194560"/>
          </a:xfrm>
          <a:prstGeom prst="rect">
            <a:avLst/>
          </a:prstGeom>
          <a:noFill/>
          <a:ln w="9525">
            <a:solidFill>
              <a:srgbClr val="4A8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691640"/>
            <a:ext cx="2743200" cy="292608"/>
          </a:xfrm>
          <a:prstGeom prst="rect">
            <a:avLst/>
          </a:prstGeom>
          <a:solidFill>
            <a:srgbClr val="4A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1691640"/>
            <a:ext cx="25603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产业需求趋势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057400"/>
            <a:ext cx="2514600" cy="1783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4A8C5C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AI · 智能驾驶 · 机器人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4A8C5C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低空经济 · 生物医药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4A8C5C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集成电路 · 数字贸易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4A8C5C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跨境电商 · 绿色低碳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4A8C5C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科技服务 · 生产性服务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98280" y="1691640"/>
            <a:ext cx="265176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98280" y="1691640"/>
            <a:ext cx="2651760" cy="2194560"/>
          </a:xfrm>
          <a:prstGeom prst="rect">
            <a:avLst/>
          </a:prstGeom>
          <a:noFill/>
          <a:ln w="9525">
            <a:solidFill>
              <a:srgbClr val="C88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98280" y="1691640"/>
            <a:ext cx="2651760" cy="292608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08008" y="1691640"/>
            <a:ext cx="24688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空间策略变化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57400"/>
            <a:ext cx="2423160" cy="1783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更灵活面积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总部重品牌资源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成长企业关注政策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硬科技要复合空间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产业社区+服务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未来五大机会场域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526280"/>
            <a:ext cx="2011680" cy="347472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526280"/>
            <a:ext cx="20116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核心区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8880" y="4526280"/>
            <a:ext cx="923544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6040" y="4526280"/>
            <a:ext cx="905256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总部经济 · 金融 · 专业服务 · 外资机构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910328"/>
            <a:ext cx="2011680" cy="347472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910328"/>
            <a:ext cx="20116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滨江区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68880" y="4910328"/>
            <a:ext cx="923544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6040" y="4910328"/>
            <a:ext cx="905256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AI · 数字经济 · 总部展示 · 科技服务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294376"/>
            <a:ext cx="2011680" cy="347472"/>
          </a:xfrm>
          <a:prstGeom prst="rect">
            <a:avLst/>
          </a:prstGeom>
          <a:solidFill>
            <a:srgbClr val="4A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294376"/>
            <a:ext cx="20116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张江/临港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68880" y="5294376"/>
            <a:ext cx="923544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6040" y="5294376"/>
            <a:ext cx="905256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硬科技 · 生物医药 · 高端制造 · 智能驾驶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678424"/>
            <a:ext cx="2011680" cy="347472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678424"/>
            <a:ext cx="20116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郊区产业空间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8880" y="5678424"/>
            <a:ext cx="923544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606040" y="5678424"/>
            <a:ext cx="905256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成本型外溢 · 研发制造结合 · 产业链集聚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062472"/>
            <a:ext cx="2011680" cy="347472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062472"/>
            <a:ext cx="201168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老旧商办更新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68880" y="6062472"/>
            <a:ext cx="9235440" cy="34747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6040" y="6062472"/>
            <a:ext cx="9052560" cy="34747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主题楼宇 · 垂直产业楼宇 · 科创服务空间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09 · 政策应用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面向四类对象的策略建议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政府 · 园区/楼宇 · 资产方 · 企业 — 一体化应用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66928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669280" cy="2148840"/>
          </a:xfrm>
          <a:prstGeom prst="rect">
            <a:avLst/>
          </a:prstGeom>
          <a:noFill/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783080"/>
            <a:ext cx="5669280" cy="29260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783080"/>
            <a:ext cx="54864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对政府部门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148840"/>
            <a:ext cx="5440680" cy="173736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建立全域商办与产业空间动态数据库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以街镇为单位动态监测空置与迁徙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对高空置区域实施精准招商与功能更新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推动楼宇经济、园区经济与城市更新联动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用企业迁徙数据优化产业政策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66928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783080"/>
            <a:ext cx="5669280" cy="2148840"/>
          </a:xfrm>
          <a:prstGeom prst="rect">
            <a:avLst/>
          </a:prstGeom>
          <a:noFill/>
          <a:ln w="9525"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783080"/>
            <a:ext cx="5669280" cy="29260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1783080"/>
            <a:ext cx="54864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对园区/楼宇运营方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148840"/>
            <a:ext cx="5440680" cy="173736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从“租赁招商”转向“产业招商”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建立企业画像与招商漏斗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动态监测竞品租金和空置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引入企业服务、政策、资本和产业链资源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对老旧载体进行场景化改造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14800"/>
            <a:ext cx="566928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4800"/>
            <a:ext cx="5669280" cy="2148840"/>
          </a:xfrm>
          <a:prstGeom prst="rect">
            <a:avLst/>
          </a:prstGeom>
          <a:noFill/>
          <a:ln w="9525">
            <a:solidFill>
              <a:srgbClr val="E06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114800"/>
            <a:ext cx="5669280" cy="292608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114800"/>
            <a:ext cx="54864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对资产持有方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480560"/>
            <a:ext cx="5440680" cy="173736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重新评估资产定位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建立竞品对标体系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关注真实成交租金而非挂牌租金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通过产业主题提升资产溢价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E06A2C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为资产证券化 / REITs 储备数据基础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114800"/>
            <a:ext cx="566928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114800"/>
            <a:ext cx="5669280" cy="2148840"/>
          </a:xfrm>
          <a:prstGeom prst="rect">
            <a:avLst/>
          </a:prstGeom>
          <a:noFill/>
          <a:ln w="9525">
            <a:solidFill>
              <a:srgbClr val="C88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114800"/>
            <a:ext cx="5669280" cy="292608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114800"/>
            <a:ext cx="54864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对企业选址方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480560"/>
            <a:ext cx="5440680" cy="173736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建立综合承租成本模型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综合比较政策/产业生态/人才可达性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根据企业阶段选择空间类型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成长企业关注扩租弹性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总部企业关注品牌与资源链接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10 · 成果体系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成果体系与商业化产品矩阵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报告 + 数据库 + 可视化 + 商业化产品 — 一份长期研究品牌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3657600" cy="210312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783080"/>
            <a:ext cx="3657600" cy="50292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78308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月度市场监测简报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178308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周期：月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423160"/>
            <a:ext cx="3383280" cy="12801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租金/空置/迁徙/招商热点/预警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78308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783080"/>
            <a:ext cx="3657600" cy="210312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783080"/>
            <a:ext cx="3657600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178308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季度深度报告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78308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周期：季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423160"/>
            <a:ext cx="3383280" cy="12801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区域/产业/迁徙/资管/趋势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78308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1783080"/>
            <a:ext cx="3657600" cy="2103120"/>
          </a:xfrm>
          <a:prstGeom prst="rect">
            <a:avLst/>
          </a:prstGeom>
          <a:noFill/>
          <a:ln>
            <a:solidFill>
              <a:srgbClr val="C88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783080"/>
            <a:ext cx="3657600" cy="5029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178308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年度白皮书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178308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周期：年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423160"/>
            <a:ext cx="3383280" cy="12801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全域格局 + 年度趋势 + 政策建议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6908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069080"/>
            <a:ext cx="3657600" cy="2103120"/>
          </a:xfrm>
          <a:prstGeom prst="rect">
            <a:avLst/>
          </a:prstGeom>
          <a:noFill/>
          <a:ln>
            <a:solidFill>
              <a:srgbClr val="E06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069080"/>
            <a:ext cx="3657600" cy="502920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06908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区域专项报告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406908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周期：按需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709160"/>
            <a:ext cx="3383280" cy="12801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杨浦/浦东/徐汇滨江/嘉定/临港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06908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43400" y="4069080"/>
            <a:ext cx="3657600" cy="2103120"/>
          </a:xfrm>
          <a:prstGeom prst="rect">
            <a:avLst/>
          </a:prstGeom>
          <a:noFill/>
          <a:ln>
            <a:solidFill>
              <a:srgbClr val="4A8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43400" y="4069080"/>
            <a:ext cx="3657600" cy="502920"/>
          </a:xfrm>
          <a:prstGeom prst="rect">
            <a:avLst/>
          </a:prstGeom>
          <a:solidFill>
            <a:srgbClr val="4A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0" y="406908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楼宇/园区诊断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06908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周期：按项目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4709160"/>
            <a:ext cx="3383280" cy="12801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竞品/租金/空置/招商/改造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4069080"/>
            <a:ext cx="365760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29600" y="4069080"/>
            <a:ext cx="3657600" cy="2103120"/>
          </a:xfrm>
          <a:prstGeom prst="rect">
            <a:avLst/>
          </a:prstGeom>
          <a:noFill/>
          <a:ln>
            <a:solidFill>
              <a:srgbClr val="7C4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0" y="4069080"/>
            <a:ext cx="3657600" cy="502920"/>
          </a:xfrm>
          <a:prstGeom prst="rect">
            <a:avLst/>
          </a:prstGeom>
          <a:solidFill>
            <a:srgbClr val="7C4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406908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企业选址服务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406908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周期：按企业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4709160"/>
            <a:ext cx="3383280" cy="12801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区域/楼宇推荐 + 政策匹配 + 成本测算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11 · 数据体系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六大基础数据库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支撑全域、动态、可校验、可落地的研究底座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66928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669280" cy="123444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783080"/>
            <a:ext cx="5669280" cy="41148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783080"/>
            <a:ext cx="54864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楼宇与园区基础库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86000"/>
            <a:ext cx="53035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21字段：名称/类型/区/街镇/地址/经纬度/面积/层数/竣工/物业等级/产权/运营/招商联系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566928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783080"/>
            <a:ext cx="5669280" cy="1234440"/>
          </a:xfrm>
          <a:prstGeom prst="rect">
            <a:avLst/>
          </a:prstGeom>
          <a:noFill/>
          <a:ln>
            <a:solidFill>
              <a:srgbClr val="E06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1783080"/>
            <a:ext cx="5669280" cy="411480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783080"/>
            <a:ext cx="54864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租金与空置库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286000"/>
            <a:ext cx="53035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15字段：报价/成交区间/物业费/可租/空置/楼层/装修/免租/付款/租期/更新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00400"/>
            <a:ext cx="566928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00400"/>
            <a:ext cx="5669280" cy="1234440"/>
          </a:xfrm>
          <a:prstGeom prst="rect">
            <a:avLst/>
          </a:prstGeom>
          <a:noFill/>
          <a:ln>
            <a:solidFill>
              <a:srgbClr val="4A8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00400"/>
            <a:ext cx="5669280" cy="411480"/>
          </a:xfrm>
          <a:prstGeom prst="rect">
            <a:avLst/>
          </a:prstGeom>
          <a:solidFill>
            <a:srgbClr val="4A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200400"/>
            <a:ext cx="54864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企业入驻库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03320"/>
            <a:ext cx="53035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17字段：名称/信用代码/注册资本/成立时间/注册地址/办公地址/楼宇/行业/规模/融资/资质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200400"/>
            <a:ext cx="566928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200400"/>
            <a:ext cx="5669280" cy="1234440"/>
          </a:xfrm>
          <a:prstGeom prst="rect">
            <a:avLst/>
          </a:prstGeom>
          <a:noFill/>
          <a:ln>
            <a:solidFill>
              <a:srgbClr val="C88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3200400"/>
            <a:ext cx="5669280" cy="41148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00400"/>
            <a:ext cx="54864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企业迁徙库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703320"/>
            <a:ext cx="53035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14字段：原/新地址·楼宇·街镇/时间/迁徙类型/面积变化/租金变化/行业/规模/原因推测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17720"/>
            <a:ext cx="566928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617720"/>
            <a:ext cx="5669280" cy="123444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17720"/>
            <a:ext cx="5669280" cy="4114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617720"/>
            <a:ext cx="54864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产业标签库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120640"/>
            <a:ext cx="53035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15字段：一/二/三级行业/战新/重点产业/新质生产力/产业链/上下游/产品/客户/专利/资质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4617720"/>
            <a:ext cx="566928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4617720"/>
            <a:ext cx="5669280" cy="1234440"/>
          </a:xfrm>
          <a:prstGeom prst="rect">
            <a:avLst/>
          </a:prstGeom>
          <a:noFill/>
          <a:ln>
            <a:solidFill>
              <a:srgbClr val="7C4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4617720"/>
            <a:ext cx="5669280" cy="411480"/>
          </a:xfrm>
          <a:prstGeom prst="rect">
            <a:avLst/>
          </a:prstGeom>
          <a:solidFill>
            <a:srgbClr val="7C4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4617720"/>
            <a:ext cx="54864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政策与配套库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5120640"/>
            <a:ext cx="53035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15字段：区域/街镇政策/租金/装修/人才补贴/税收/科技/产业基金/落户/公共平台/交通商医教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12 · 指标体系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核心指标体系：五大指数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提升报告专业度与可持续发布能力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3657600" cy="2148840"/>
          </a:xfrm>
          <a:prstGeom prst="rect">
            <a:avLst/>
          </a:prstGeom>
          <a:noFill/>
          <a:ln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783080"/>
            <a:ext cx="3657600" cy="41148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783080"/>
            <a:ext cx="3383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区域市场景气指数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240280"/>
            <a:ext cx="338328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▎ 判断区域冷热 · 短期波动 · 预警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60320"/>
            <a:ext cx="3383280" cy="13258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租金变化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空置率变化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新增成交面积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新增企业数量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企业净流入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2E5CA3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去化速度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783080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783080"/>
            <a:ext cx="3657600" cy="2148840"/>
          </a:xfrm>
          <a:prstGeom prst="rect">
            <a:avLst/>
          </a:prstGeom>
          <a:noFill/>
          <a:ln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783080"/>
            <a:ext cx="3657600" cy="4114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1783080"/>
            <a:ext cx="3383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楼宇/园区竞争力指数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240280"/>
            <a:ext cx="338328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▎ 横向对标 · 资产诊断 · 招商资管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2560320"/>
            <a:ext cx="3383280" cy="13258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区位交通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租金性价比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空间品质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产业集聚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企业质量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服务能力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政策资源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1F3A68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去化表现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1783080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1783080"/>
            <a:ext cx="3657600" cy="2148840"/>
          </a:xfrm>
          <a:prstGeom prst="rect">
            <a:avLst/>
          </a:prstGeom>
          <a:noFill/>
          <a:ln>
            <a:solidFill>
              <a:srgbClr val="E06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783080"/>
            <a:ext cx="3657600" cy="411480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1783080"/>
            <a:ext cx="3383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企业需求热度指数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2240280"/>
            <a:ext cx="338328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▎ 需求强弱 · 增长方向 · 招商线索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560320"/>
            <a:ext cx="3383280" cy="13258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新注册企业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融资企业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招聘岗位增长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扩租企业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新租企业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E06A2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重点产业活跃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114800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114800"/>
            <a:ext cx="3657600" cy="2148840"/>
          </a:xfrm>
          <a:prstGeom prst="rect">
            <a:avLst/>
          </a:prstGeom>
          <a:noFill/>
          <a:ln>
            <a:solidFill>
              <a:srgbClr val="4A8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114800"/>
            <a:ext cx="3657600" cy="411480"/>
          </a:xfrm>
          <a:prstGeom prst="rect">
            <a:avLst/>
          </a:prstGeom>
          <a:solidFill>
            <a:srgbClr val="4A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114800"/>
            <a:ext cx="3383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产业集聚度指数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572000"/>
            <a:ext cx="338328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▎ 主导产业 · 集群成熟度 · 补链强链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892040"/>
            <a:ext cx="3383280" cy="13258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4A8C5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同行业数量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4A8C5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龙头数量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4A8C5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上下游完整度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4A8C5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专精特新数量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4A8C5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高新数量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4A8C5C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协同程度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4114800"/>
            <a:ext cx="365760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43400" y="4114800"/>
            <a:ext cx="3657600" cy="2148840"/>
          </a:xfrm>
          <a:prstGeom prst="rect">
            <a:avLst/>
          </a:prstGeom>
          <a:noFill/>
          <a:ln>
            <a:solidFill>
              <a:srgbClr val="C88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43400" y="4114800"/>
            <a:ext cx="3657600" cy="41148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0" y="4114800"/>
            <a:ext cx="3383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供需匹配度指数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4572000"/>
            <a:ext cx="338328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▎ 楼宇适配企业 · 园区适配产业 · 精准招商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4892040"/>
            <a:ext cx="3383280" cy="13258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面积匹配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租金匹配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产业匹配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政策匹配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00" b="1">
                <a:solidFill>
                  <a:srgbClr val="C8862D"/>
                </a:solidFill>
                <a:latin typeface="微软雅黑"/>
                <a:ea typeface="微软雅黑"/>
              </a:rPr>
              <a:t>●  </a:t>
            </a:r>
            <a:r>
              <a:rPr sz="1000" b="0">
                <a:solidFill>
                  <a:srgbClr val="222A35"/>
                </a:solidFill>
                <a:latin typeface="微软雅黑"/>
                <a:ea typeface="微软雅黑"/>
              </a:rPr>
              <a:t>使用场景匹配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13 · 数据调用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数据调用、采集与合规要点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五项原则 + 四阶段 + 合规审查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9164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五项数据调用原则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03120"/>
            <a:ext cx="1645920" cy="438912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03120"/>
            <a:ext cx="164592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①  公开合规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2103120"/>
            <a:ext cx="402336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0280" y="2103120"/>
            <a:ext cx="384048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公开/授权/合作/调研为主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06039"/>
            <a:ext cx="1645920" cy="438912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606039"/>
            <a:ext cx="164592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②  多源交叉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2606039"/>
            <a:ext cx="402336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40280" y="2606039"/>
            <a:ext cx="384048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关键字段 ≥ 2 来源验证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108960"/>
            <a:ext cx="1645920" cy="438912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08960"/>
            <a:ext cx="164592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③  动态更新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3108960"/>
            <a:ext cx="402336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40280" y="3108960"/>
            <a:ext cx="384048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建立月度更新机制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611880"/>
            <a:ext cx="1645920" cy="438912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611880"/>
            <a:ext cx="164592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④  分级可信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3611880"/>
            <a:ext cx="402336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40280" y="3611880"/>
            <a:ext cx="384048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A/B/C/D 四级可信度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114800"/>
            <a:ext cx="1645920" cy="438912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14800"/>
            <a:ext cx="164592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⑤  人工校验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03120" y="4114800"/>
            <a:ext cx="4023360" cy="438912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80" y="4114800"/>
            <a:ext cx="3840480" cy="438912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AI 提效 + 关键样本人工校验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169164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四阶段数据采集分期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2103120"/>
            <a:ext cx="2194560" cy="64008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2103120"/>
            <a:ext cx="21945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一  中心城区试点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0" y="2103120"/>
            <a:ext cx="3200400" cy="64008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2103120"/>
            <a:ext cx="30175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黄静徐长普虹杨 7 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2880360"/>
            <a:ext cx="219456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2880360"/>
            <a:ext cx="21945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二  浦东新区补全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03920" y="2880360"/>
            <a:ext cx="3200400" cy="64008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41080" y="2880360"/>
            <a:ext cx="30175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陆家嘴/张江/临港/金桥...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3657600"/>
            <a:ext cx="2194560" cy="640080"/>
          </a:xfrm>
          <a:prstGeom prst="rect">
            <a:avLst/>
          </a:prstGeom>
          <a:solidFill>
            <a:srgbClr val="E0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3657600"/>
            <a:ext cx="21945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三  重点产业区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03920" y="3657600"/>
            <a:ext cx="3200400" cy="64008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41080" y="3657600"/>
            <a:ext cx="30175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闵嘉松青宝奉 + 重点板块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4434840"/>
            <a:ext cx="2194560" cy="64008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4434840"/>
            <a:ext cx="21945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四  16区全域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4434840"/>
            <a:ext cx="3200400" cy="64008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41080" y="4434840"/>
            <a:ext cx="30175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  <a:latin typeface="微软雅黑"/>
                <a:ea typeface="微软雅黑"/>
              </a:rPr>
              <a:t>全域动态数据库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120640"/>
            <a:ext cx="11247120" cy="11887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1663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五大难点 → 解决方案速览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532120"/>
            <a:ext cx="10972800" cy="164592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●  实际办公地址 → 工商+POI+招聘+官网+水牌+物业 多源交叉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696712"/>
            <a:ext cx="10972800" cy="164592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●  成交租金难获取 → 挂牌/中介/成交 三类标注，访谈积累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861304"/>
            <a:ext cx="10972800" cy="164592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●  空置口径不统一 → 招商可租口径为主，物理/隐性辅助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6025896"/>
            <a:ext cx="10972800" cy="164592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●  迁徙易误判 → 至少两个信号交叉，线下确认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6190488"/>
            <a:ext cx="10972800" cy="164592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●  数据合规 → 公开优先，统计汇总，发布前合规审查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PART 14 · 分工与首期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45720"/>
            <a:ext cx="4572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易居研究院 × 复旦大学住房政策研究中心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ea typeface="微软雅黑"/>
              </a:rPr>
              <a:t>联合分工 × 工作机制 × 首期落地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07008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6E737C"/>
                </a:solidFill>
                <a:latin typeface="微软雅黑"/>
                <a:ea typeface="微软雅黑"/>
              </a:rPr>
              <a:t>易居 · 复旦 · 数据技术 — 三方协同、试点先行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379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上海商办楼宇与产业园区市场深度报告  ·  讨论稿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37960"/>
            <a:ext cx="10972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37960"/>
            <a:ext cx="54864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/>
            <a:r>
              <a:rPr sz="1000" b="0">
                <a:solidFill>
                  <a:srgbClr val="6E737C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9164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91640"/>
            <a:ext cx="3657600" cy="2194560"/>
          </a:xfrm>
          <a:prstGeom prst="rect">
            <a:avLst/>
          </a:prstGeom>
          <a:noFill/>
          <a:ln w="9525">
            <a:solidFill>
              <a:srgbClr val="2E5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691640"/>
            <a:ext cx="3657600" cy="292608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91640"/>
            <a:ext cx="34747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易居研究院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57400"/>
            <a:ext cx="3429000" cy="1783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研究框架 / 统计口径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市场指标 / 区域板块研究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资管 / 招商策略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线下访谈调研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E5CA3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报告撰写 / 可视化 / 对外发布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69164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691640"/>
            <a:ext cx="3657600" cy="2194560"/>
          </a:xfrm>
          <a:prstGeom prst="rect">
            <a:avLst/>
          </a:prstGeom>
          <a:noFill/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691640"/>
            <a:ext cx="3657600" cy="29260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1691640"/>
            <a:ext cx="34747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复旦大学住房政策研究中心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057400"/>
            <a:ext cx="3429000" cy="1783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城市更新与空间治理理论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政策评价体系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公共政策视角与合规把关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课题学术背书 / 专家研讨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F3A68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白皮书及政策建议联合撰写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691640"/>
            <a:ext cx="365760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1691640"/>
            <a:ext cx="3657600" cy="2194560"/>
          </a:xfrm>
          <a:prstGeom prst="rect">
            <a:avLst/>
          </a:prstGeom>
          <a:noFill/>
          <a:ln w="9525">
            <a:solidFill>
              <a:srgbClr val="C88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1691640"/>
            <a:ext cx="3657600" cy="292608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9328" y="1691640"/>
            <a:ext cx="347472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数据技术与 AI 采集方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2057400"/>
            <a:ext cx="3429000" cy="1783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POI/AOI 楼宇园区采集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工商/招聘/公告抓取与清洗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企业地址识别匹配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迁徙线索识别 / 标准化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C8862D"/>
                </a:solidFill>
                <a:latin typeface="微软雅黑"/>
                <a:ea typeface="微软雅黑"/>
              </a:rPr>
              <a:t>•  </a:t>
            </a:r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数据库搭建 / 接口维护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ea typeface="微软雅黑"/>
              </a:rPr>
              <a:t>四类联合工作机制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480560"/>
            <a:ext cx="2697480" cy="45720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48056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周度 · 数据进度会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37760"/>
            <a:ext cx="2697480" cy="45720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3776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字段/样本/异常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4480560"/>
            <a:ext cx="2697480" cy="45720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1840" y="448056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双周 · 研究模型评审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91840" y="4937760"/>
            <a:ext cx="2697480" cy="45720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493776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口径/指标/算法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4480560"/>
            <a:ext cx="2697480" cy="45720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448056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月度 · 报告选题会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4937760"/>
            <a:ext cx="2697480" cy="45720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493776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区域/产业/案例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4480560"/>
            <a:ext cx="2697480" cy="457200"/>
          </a:xfrm>
          <a:prstGeom prst="rect">
            <a:avLst/>
          </a:prstGeom>
          <a:solidFill>
            <a:srgbClr val="2E5C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448056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季度 · 成果复盘会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20" y="4937760"/>
            <a:ext cx="2697480" cy="457200"/>
          </a:xfrm>
          <a:prstGeom prst="rect">
            <a:avLst/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0" y="4937760"/>
            <a:ext cx="26974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100" b="0">
                <a:solidFill>
                  <a:srgbClr val="222A35"/>
                </a:solidFill>
                <a:latin typeface="微软雅黑"/>
                <a:ea typeface="微软雅黑"/>
              </a:rPr>
              <a:t>准确性/反馈/规划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532120"/>
            <a:ext cx="11247120" cy="77724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559552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首期落地 · 《上海中心城区商办楼宇与产业园区市场试点报告》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覆盖：黄浦 · 静安 · 徐汇 · 长宁 · 普陀 · 虹口 · 杨浦  ——  完成字段、口径、迁徙模型试点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C88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972800" cy="9144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微软雅黑"/>
                <a:ea typeface="微软雅黑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972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2200" b="0">
                <a:solidFill>
                  <a:srgbClr val="CFDDF0"/>
                </a:solidFill>
                <a:latin typeface="微软雅黑"/>
                <a:ea typeface="微软雅黑"/>
              </a:rPr>
              <a:t>感谢聆听，欢迎共建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微软雅黑"/>
                <a:ea typeface="微软雅黑"/>
              </a:rPr>
              <a:t>上海商办楼宇与产业园区市场研究课题组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600" b="0">
                <a:solidFill>
                  <a:srgbClr val="C8862D"/>
                </a:solidFill>
                <a:latin typeface="微软雅黑"/>
                <a:ea typeface="微软雅黑"/>
              </a:rPr>
              <a:t>易居房地产研究院  ×  复旦大学住房政策研究中心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200" b="0">
                <a:solidFill>
                  <a:srgbClr val="ABC0D9"/>
                </a:solidFill>
                <a:latin typeface="微软雅黑"/>
                <a:ea typeface="微软雅黑"/>
              </a:rPr>
              <a:t>—  讨论稿 · 仅供内部研讨使用  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