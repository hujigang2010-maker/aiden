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14400"/>
            <a:ext cx="54864" cy="502920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E6B66E"/>
                </a:solidFill>
                <a:latin typeface="微软雅黑"/>
                <a:ea typeface="微软雅黑"/>
              </a:rPr>
              <a:t>JOINT  REPORT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005840"/>
            <a:ext cx="91440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C9CED8"/>
                </a:solidFill>
                <a:latin typeface="微软雅黑"/>
                <a:ea typeface="微软雅黑"/>
              </a:rPr>
              <a:t>易居研究院  ×  复旦大学住房政策研究中心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10058400" cy="1005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5600" b="1" i="0">
                <a:solidFill>
                  <a:srgbClr val="FFFFFF"/>
                </a:solidFill>
                <a:latin typeface="微软雅黑"/>
                <a:ea typeface="微软雅黑"/>
              </a:rPr>
              <a:t>上海商办楼宇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5600" b="1" i="0">
                <a:solidFill>
                  <a:srgbClr val="FFFFFF"/>
                </a:solidFill>
                <a:latin typeface="微软雅黑"/>
                <a:ea typeface="微软雅黑"/>
              </a:rPr>
              <a:t>与产业园区市场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069080"/>
            <a:ext cx="457200" cy="54864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160520"/>
            <a:ext cx="1005840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4000" b="1" i="0">
                <a:solidFill>
                  <a:srgbClr val="E6B66E"/>
                </a:solidFill>
                <a:latin typeface="微软雅黑"/>
                <a:ea typeface="微软雅黑"/>
              </a:rPr>
              <a:t>深度报告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46320"/>
            <a:ext cx="10058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700" b="0" i="0">
                <a:solidFill>
                  <a:srgbClr val="C9CED8"/>
                </a:solidFill>
                <a:latin typeface="微软雅黑"/>
                <a:ea typeface="微软雅黑"/>
              </a:rPr>
              <a:t>全域空间供给  ·  企业需求迁徙  ·  产业载体运营研究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257800"/>
            <a:ext cx="100584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1">
                <a:solidFill>
                  <a:srgbClr val="6E737C"/>
                </a:solidFill>
                <a:latin typeface="微软雅黑"/>
                <a:ea typeface="微软雅黑"/>
              </a:rPr>
              <a:t>Shanghai Commercial Office &amp; Industrial Park Market — In-depth Report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62495" y="5029200"/>
            <a:ext cx="4572000" cy="64008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62495" y="5029200"/>
            <a:ext cx="457200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071A3F"/>
                </a:solidFill>
                <a:latin typeface="微软雅黑"/>
                <a:ea typeface="微软雅黑"/>
              </a:rPr>
              <a:t>研发方案 · 大纲 · 数据调用 · 执行指引（讨论稿）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 i="0">
                <a:solidFill>
                  <a:srgbClr val="C9CED8"/>
                </a:solidFill>
                <a:latin typeface="微软雅黑"/>
                <a:ea typeface="微软雅黑"/>
              </a:rPr>
              <a:t>联合课题组：上海商办楼宇与产业园区市场研究课题组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292608" cy="68580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C8913A"/>
                </a:solidFill>
                <a:latin typeface="微软雅黑"/>
                <a:ea typeface="微软雅黑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 i="0">
                <a:solidFill>
                  <a:srgbClr val="102A5B"/>
                </a:solidFill>
                <a:latin typeface="微软雅黑"/>
                <a:ea typeface="微软雅黑"/>
              </a:rPr>
              <a:t>执行摘要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07008"/>
            <a:ext cx="502920" cy="4572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170432"/>
            <a:ext cx="10515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1">
                <a:solidFill>
                  <a:srgbClr val="6E737C"/>
                </a:solidFill>
                <a:latin typeface="微软雅黑"/>
                <a:ea typeface="微软雅黑"/>
              </a:rPr>
              <a:t>Five highlights — 一份报告·五个突破·四类对象·六大库·五大指数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8DE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上海商办楼宇与产业园区市场深度报告  ·  讨论稿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6895" y="6473952"/>
            <a:ext cx="35661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易居研究院 × 复旦大学住房政策研究中心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88775" y="6473952"/>
            <a:ext cx="3657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102A5B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554480"/>
            <a:ext cx="21488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554480"/>
            <a:ext cx="73152" cy="114300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627632"/>
            <a:ext cx="187452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 i="0">
                <a:solidFill>
                  <a:srgbClr val="102A5B"/>
                </a:solidFill>
                <a:latin typeface="微软雅黑"/>
                <a:ea typeface="微软雅黑"/>
              </a:rPr>
              <a:t>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148840"/>
            <a:ext cx="187452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行政区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395728"/>
            <a:ext cx="1874520" cy="25603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1">
                <a:solidFill>
                  <a:srgbClr val="6E737C"/>
                </a:solidFill>
                <a:latin typeface="微软雅黑"/>
                <a:ea typeface="微软雅黑"/>
              </a:rPr>
              <a:t>全域覆盖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1554480"/>
            <a:ext cx="21488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34640" y="1554480"/>
            <a:ext cx="73152" cy="114300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1627632"/>
            <a:ext cx="187452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 i="0">
                <a:solidFill>
                  <a:srgbClr val="102A5B"/>
                </a:solidFill>
                <a:latin typeface="微软雅黑"/>
                <a:ea typeface="微软雅黑"/>
              </a:rPr>
              <a:t>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2148840"/>
            <a:ext cx="187452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重点板块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2395728"/>
            <a:ext cx="1874520" cy="25603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1">
                <a:solidFill>
                  <a:srgbClr val="6E737C"/>
                </a:solidFill>
                <a:latin typeface="微软雅黑"/>
                <a:ea typeface="微软雅黑"/>
              </a:rPr>
              <a:t>深度专项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0" y="1554480"/>
            <a:ext cx="21488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0640" y="1554480"/>
            <a:ext cx="73152" cy="114300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0" y="1627632"/>
            <a:ext cx="187452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 i="0">
                <a:solidFill>
                  <a:srgbClr val="102A5B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2148840"/>
            <a:ext cx="187452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数据库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2395728"/>
            <a:ext cx="1874520" cy="25603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1">
                <a:solidFill>
                  <a:srgbClr val="6E737C"/>
                </a:solidFill>
                <a:latin typeface="微软雅黑"/>
                <a:ea typeface="微软雅黑"/>
              </a:rPr>
              <a:t>底层支撑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1554480"/>
            <a:ext cx="21488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06640" y="1554480"/>
            <a:ext cx="73152" cy="114300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0" y="1627632"/>
            <a:ext cx="187452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 i="0">
                <a:solidFill>
                  <a:srgbClr val="102A5B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2148840"/>
            <a:ext cx="187452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核心指数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2395728"/>
            <a:ext cx="1874520" cy="25603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1">
                <a:solidFill>
                  <a:srgbClr val="6E737C"/>
                </a:solidFill>
                <a:latin typeface="微软雅黑"/>
                <a:ea typeface="微软雅黑"/>
              </a:rPr>
              <a:t>指标模型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92640" y="1554480"/>
            <a:ext cx="21488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92640" y="1554480"/>
            <a:ext cx="73152" cy="114300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20" y="1627632"/>
            <a:ext cx="187452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 i="0">
                <a:solidFill>
                  <a:srgbClr val="102A5B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2148840"/>
            <a:ext cx="187452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采集阶段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2395728"/>
            <a:ext cx="1874520" cy="25603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1">
                <a:solidFill>
                  <a:srgbClr val="6E737C"/>
                </a:solidFill>
                <a:latin typeface="微软雅黑"/>
                <a:ea typeface="微软雅黑"/>
              </a:rPr>
              <a:t>分期推进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2834640"/>
            <a:ext cx="10972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102A5B"/>
                </a:solidFill>
                <a:latin typeface="微软雅黑"/>
                <a:ea typeface="微软雅黑"/>
              </a:rPr>
              <a:t>本报告回答四个核心问题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154680"/>
            <a:ext cx="365760" cy="36576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3383280"/>
            <a:ext cx="2743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3383280"/>
            <a:ext cx="640080" cy="1371600"/>
          </a:xfrm>
          <a:prstGeom prst="rect">
            <a:avLst/>
          </a:prstGeom>
          <a:solidFill>
            <a:srgbClr val="2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3383280"/>
            <a:ext cx="640080" cy="13716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</a:rPr>
              <a:t>Q1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25880" y="3493008"/>
            <a:ext cx="19202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供给端在哪里？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25880" y="3886200"/>
            <a:ext cx="1920240" cy="7772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16区 → 街镇 → 楼宇/园区四级底数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83280" y="3383280"/>
            <a:ext cx="2743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383280" y="3383280"/>
            <a:ext cx="640080" cy="1371600"/>
          </a:xfrm>
          <a:prstGeom prst="rect">
            <a:avLst/>
          </a:prstGeom>
          <a:solidFill>
            <a:srgbClr val="1E7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83280" y="3383280"/>
            <a:ext cx="640080" cy="13716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</a:rPr>
              <a:t>Q2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60520" y="3493008"/>
            <a:ext cx="19202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需求端是谁？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60520" y="3886200"/>
            <a:ext cx="1920240" cy="7772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17 大行业 × 10 类规模 × 9 类清单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3383280"/>
            <a:ext cx="2743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17920" y="3383280"/>
            <a:ext cx="640080" cy="1371600"/>
          </a:xfrm>
          <a:prstGeom prst="rect">
            <a:avLst/>
          </a:prstGeom>
          <a:solidFill>
            <a:srgbClr val="E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17920" y="3383280"/>
            <a:ext cx="640080" cy="13716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</a:rPr>
              <a:t>Q3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95160" y="3493008"/>
            <a:ext cx="19202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流动到哪里？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95160" y="3886200"/>
            <a:ext cx="1920240" cy="7772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8 类迁徙 × 多源信号 × 区域吸引力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52560" y="3383280"/>
            <a:ext cx="2743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052560" y="3383280"/>
            <a:ext cx="640080" cy="137160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52560" y="3383280"/>
            <a:ext cx="640080" cy="13716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</a:rPr>
              <a:t>Q4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29800" y="3493008"/>
            <a:ext cx="19202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机会在哪里？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29800" y="3886200"/>
            <a:ext cx="1920240" cy="7772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区域机会 + 产业机会 + 企业线索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4937760"/>
            <a:ext cx="10972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102A5B"/>
                </a:solidFill>
                <a:latin typeface="微软雅黑"/>
                <a:ea typeface="微软雅黑"/>
              </a:rPr>
              <a:t>面向四类核心应用对象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5257800"/>
            <a:ext cx="365760" cy="36576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8640" y="5440680"/>
            <a:ext cx="2743200" cy="45720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" y="5440680"/>
            <a:ext cx="274320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政府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" y="5897880"/>
            <a:ext cx="2743200" cy="411480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5897880"/>
            <a:ext cx="274320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招商决策 / 空间治理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383280" y="5440680"/>
            <a:ext cx="2743200" cy="457200"/>
          </a:xfrm>
          <a:prstGeom prst="rect">
            <a:avLst/>
          </a:prstGeom>
          <a:solidFill>
            <a:srgbClr val="2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383280" y="5440680"/>
            <a:ext cx="274320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园区/楼宇运营方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383280" y="5897880"/>
            <a:ext cx="2743200" cy="411480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383280" y="5897880"/>
            <a:ext cx="274320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招商策略 / 资管运营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17920" y="5440680"/>
            <a:ext cx="2743200" cy="457200"/>
          </a:xfrm>
          <a:prstGeom prst="rect">
            <a:avLst/>
          </a:prstGeom>
          <a:solidFill>
            <a:srgbClr val="1E7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17920" y="5440680"/>
            <a:ext cx="274320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资产持有方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17920" y="5897880"/>
            <a:ext cx="2743200" cy="411480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17920" y="5897880"/>
            <a:ext cx="274320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资产定位 / 资本化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52560" y="5440680"/>
            <a:ext cx="2743200" cy="45720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052560" y="5440680"/>
            <a:ext cx="274320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企业选址方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052560" y="5897880"/>
            <a:ext cx="2743200" cy="411480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052560" y="5897880"/>
            <a:ext cx="274320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选址扩缩租决策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292608" cy="68580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C8913A"/>
                </a:solidFill>
                <a:latin typeface="微软雅黑"/>
                <a:ea typeface="微软雅黑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 i="0">
                <a:solidFill>
                  <a:srgbClr val="102A5B"/>
                </a:solidFill>
                <a:latin typeface="微软雅黑"/>
                <a:ea typeface="微软雅黑"/>
              </a:rPr>
              <a:t>目录 · Outline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07008"/>
            <a:ext cx="502920" cy="4572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170432"/>
            <a:ext cx="10515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1">
                <a:solidFill>
                  <a:srgbClr val="6E737C"/>
                </a:solidFill>
                <a:latin typeface="微软雅黑"/>
                <a:ea typeface="微软雅黑"/>
              </a:rPr>
              <a:t>Five sections × Fourteen modules — 五个篇章·14个模块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8DE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上海商办楼宇与产业园区市场深度报告  ·  讨论稿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6895" y="6473952"/>
            <a:ext cx="35661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易居研究院 × 复旦大学住房政策研究中心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88775" y="6473952"/>
            <a:ext cx="3657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102A5B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28216"/>
            <a:ext cx="6858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2A5BA8"/>
                </a:solidFill>
                <a:latin typeface="微软雅黑"/>
                <a:ea typeface="微软雅黑"/>
              </a:rPr>
              <a:t>Part 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1691640"/>
            <a:ext cx="51206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项目定位与背景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011680"/>
            <a:ext cx="512064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联合发布·核心定位·五类读者·研究突破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2331720"/>
            <a:ext cx="5669280" cy="0"/>
          </a:xfrm>
          <a:prstGeom prst="line">
            <a:avLst/>
          </a:prstGeom>
          <a:ln w="6350">
            <a:solidFill>
              <a:srgbClr val="D8DE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2386584"/>
            <a:ext cx="6858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2A5BA8"/>
                </a:solidFill>
                <a:latin typeface="微软雅黑"/>
                <a:ea typeface="微软雅黑"/>
              </a:rPr>
              <a:t>Part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350008"/>
            <a:ext cx="51206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市场背景与逻辑重构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2670048"/>
            <a:ext cx="512064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城市更新·五个中心·企业选址逻辑变化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2990088"/>
            <a:ext cx="5669280" cy="0"/>
          </a:xfrm>
          <a:prstGeom prst="line">
            <a:avLst/>
          </a:prstGeom>
          <a:ln w="6350">
            <a:solidFill>
              <a:srgbClr val="D8DE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3044952"/>
            <a:ext cx="6858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1E778E"/>
                </a:solidFill>
                <a:latin typeface="微软雅黑"/>
                <a:ea typeface="微软雅黑"/>
              </a:rPr>
              <a:t>Part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008376"/>
            <a:ext cx="51206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全域供给格局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328416"/>
            <a:ext cx="512064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16区·街镇·楼宇/园区·物业类型·重点板块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3648456"/>
            <a:ext cx="5669280" cy="0"/>
          </a:xfrm>
          <a:prstGeom prst="line">
            <a:avLst/>
          </a:prstGeom>
          <a:ln w="6350">
            <a:solidFill>
              <a:srgbClr val="D8DE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3703320"/>
            <a:ext cx="6858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1E778E"/>
                </a:solidFill>
                <a:latin typeface="微软雅黑"/>
                <a:ea typeface="微软雅黑"/>
              </a:rPr>
              <a:t>Part 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3666744"/>
            <a:ext cx="51206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租金、空置与价格体系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3986784"/>
            <a:ext cx="512064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分层租金·空置结构·综合承租成本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4306824"/>
            <a:ext cx="5669280" cy="0"/>
          </a:xfrm>
          <a:prstGeom prst="line">
            <a:avLst/>
          </a:prstGeom>
          <a:ln w="6350">
            <a:solidFill>
              <a:srgbClr val="D8DE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48640" y="4361688"/>
            <a:ext cx="6858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E06A2C"/>
                </a:solidFill>
                <a:latin typeface="微软雅黑"/>
                <a:ea typeface="微软雅黑"/>
              </a:rPr>
              <a:t>Part 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4325112"/>
            <a:ext cx="51206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入驻企业画像与产业需求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4645152"/>
            <a:ext cx="512064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行业结构·企业规模·重点清单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8640" y="4965192"/>
            <a:ext cx="5669280" cy="0"/>
          </a:xfrm>
          <a:prstGeom prst="line">
            <a:avLst/>
          </a:prstGeom>
          <a:ln w="6350">
            <a:solidFill>
              <a:srgbClr val="D8DE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48640" y="5020055"/>
            <a:ext cx="6858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E06A2C"/>
                </a:solidFill>
                <a:latin typeface="微软雅黑"/>
                <a:ea typeface="微软雅黑"/>
              </a:rPr>
              <a:t>Part 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4983479"/>
            <a:ext cx="51206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企业迁徙与产业流动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4440" y="5303519"/>
            <a:ext cx="512064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8类迁徙·产业流向·区域吸引力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48640" y="5623559"/>
            <a:ext cx="5669280" cy="0"/>
          </a:xfrm>
          <a:prstGeom prst="line">
            <a:avLst/>
          </a:prstGeom>
          <a:ln w="6350">
            <a:solidFill>
              <a:srgbClr val="D8DE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48640" y="5678424"/>
            <a:ext cx="6858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C8913A"/>
                </a:solidFill>
                <a:latin typeface="微软雅黑"/>
                <a:ea typeface="微软雅黑"/>
              </a:rPr>
              <a:t>Part 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5641848"/>
            <a:ext cx="51206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供需匹配与招商机会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34440" y="5961888"/>
            <a:ext cx="512064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竞争力模型·三类招商机会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48640" y="6281928"/>
            <a:ext cx="5669280" cy="0"/>
          </a:xfrm>
          <a:prstGeom prst="line">
            <a:avLst/>
          </a:prstGeom>
          <a:ln w="6350">
            <a:solidFill>
              <a:srgbClr val="D8DE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400800" y="1728216"/>
            <a:ext cx="6858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C8913A"/>
                </a:solidFill>
                <a:latin typeface="微软雅黑"/>
                <a:ea typeface="微软雅黑"/>
              </a:rPr>
              <a:t>Part 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1691640"/>
            <a:ext cx="51206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市场趋势预测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86600" y="2011680"/>
            <a:ext cx="512064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租金/空置/产业/空间策略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400800" y="2331720"/>
            <a:ext cx="5669280" cy="0"/>
          </a:xfrm>
          <a:prstGeom prst="line">
            <a:avLst/>
          </a:prstGeom>
          <a:ln w="6350">
            <a:solidFill>
              <a:srgbClr val="D8DE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400800" y="2386584"/>
            <a:ext cx="6858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6B4EA1"/>
                </a:solidFill>
                <a:latin typeface="微软雅黑"/>
                <a:ea typeface="微软雅黑"/>
              </a:rPr>
              <a:t>Part 09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86600" y="2350008"/>
            <a:ext cx="51206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政策建议与市场应用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86600" y="2670048"/>
            <a:ext cx="512064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政府/园区/资产/企业 四类建议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400800" y="2990088"/>
            <a:ext cx="5669280" cy="0"/>
          </a:xfrm>
          <a:prstGeom prst="line">
            <a:avLst/>
          </a:prstGeom>
          <a:ln w="6350">
            <a:solidFill>
              <a:srgbClr val="D8DE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400800" y="3044952"/>
            <a:ext cx="6858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6B4EA1"/>
                </a:solidFill>
                <a:latin typeface="微软雅黑"/>
                <a:ea typeface="微软雅黑"/>
              </a:rPr>
              <a:t>Part 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86600" y="3008376"/>
            <a:ext cx="51206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成果体系与商业化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86600" y="3328416"/>
            <a:ext cx="512064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月报/季报/白皮书/诊断/选址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400800" y="3648456"/>
            <a:ext cx="5669280" cy="0"/>
          </a:xfrm>
          <a:prstGeom prst="line">
            <a:avLst/>
          </a:prstGeom>
          <a:ln w="6350">
            <a:solidFill>
              <a:srgbClr val="D8DE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400800" y="3703320"/>
            <a:ext cx="6858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2A5BA8"/>
                </a:solidFill>
                <a:latin typeface="微软雅黑"/>
                <a:ea typeface="微软雅黑"/>
              </a:rPr>
              <a:t>Part 11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86600" y="3666744"/>
            <a:ext cx="51206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数据体系（六大库）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86600" y="3986784"/>
            <a:ext cx="512064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楼宇/租金/企业/迁徙/产业/政策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400800" y="4306824"/>
            <a:ext cx="5669280" cy="0"/>
          </a:xfrm>
          <a:prstGeom prst="line">
            <a:avLst/>
          </a:prstGeom>
          <a:ln w="6350">
            <a:solidFill>
              <a:srgbClr val="D8DE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400800" y="4361688"/>
            <a:ext cx="6858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2A5BA8"/>
                </a:solidFill>
                <a:latin typeface="微软雅黑"/>
                <a:ea typeface="微软雅黑"/>
              </a:rPr>
              <a:t>Part 12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86600" y="4325112"/>
            <a:ext cx="51206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核心指标（五大指数）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86600" y="4645152"/>
            <a:ext cx="512064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景气/竞争力/需求/集聚/匹配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400800" y="4965192"/>
            <a:ext cx="5669280" cy="0"/>
          </a:xfrm>
          <a:prstGeom prst="line">
            <a:avLst/>
          </a:prstGeom>
          <a:ln w="6350">
            <a:solidFill>
              <a:srgbClr val="D8DE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400800" y="5020055"/>
            <a:ext cx="6858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1E778E"/>
                </a:solidFill>
                <a:latin typeface="微软雅黑"/>
                <a:ea typeface="微软雅黑"/>
              </a:rPr>
              <a:t>Part 13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86600" y="4983479"/>
            <a:ext cx="51206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数据调用与采集指引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86600" y="5303519"/>
            <a:ext cx="512064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五项原则·四阶段·合规要点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400800" y="5623559"/>
            <a:ext cx="5669280" cy="0"/>
          </a:xfrm>
          <a:prstGeom prst="line">
            <a:avLst/>
          </a:prstGeom>
          <a:ln w="6350">
            <a:solidFill>
              <a:srgbClr val="D8DE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6400800" y="5678424"/>
            <a:ext cx="6858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1E778E"/>
                </a:solidFill>
                <a:latin typeface="微软雅黑"/>
                <a:ea typeface="微软雅黑"/>
              </a:rPr>
              <a:t>Part 14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86600" y="5641848"/>
            <a:ext cx="51206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分工协同与首期落地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086600" y="5961888"/>
            <a:ext cx="512064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三方分工·四类例会·试点先行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400800" y="6281928"/>
            <a:ext cx="5669280" cy="0"/>
          </a:xfrm>
          <a:prstGeom prst="line">
            <a:avLst/>
          </a:prstGeom>
          <a:ln w="6350">
            <a:solidFill>
              <a:srgbClr val="D8DE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48640" cy="54864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486400" cy="7315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 i="0">
                <a:solidFill>
                  <a:srgbClr val="E6B66E"/>
                </a:solidFill>
                <a:latin typeface="微软雅黑"/>
                <a:ea typeface="微软雅黑"/>
              </a:rPr>
              <a:t>PART 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68580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C9CED8"/>
                </a:solidFill>
                <a:latin typeface="微软雅黑"/>
                <a:ea typeface="微软雅黑"/>
              </a:rPr>
              <a:t>POSITIONING  &amp;  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9601200" cy="1463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微软雅黑"/>
                <a:ea typeface="微软雅黑"/>
              </a:rPr>
              <a:t>项目定位与背景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5029200"/>
            <a:ext cx="109728" cy="109728"/>
          </a:xfrm>
          <a:prstGeom prst="ellipse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937760"/>
            <a:ext cx="105156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</a:rPr>
              <a:t>联合发布主体：易居研究院 × 复旦大学住房政策研究中心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5394960"/>
            <a:ext cx="109728" cy="109728"/>
          </a:xfrm>
          <a:prstGeom prst="ellipse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303520"/>
            <a:ext cx="105156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</a:rPr>
              <a:t>全域 / 全载体 / 双侧 / 动态 / 应用  五大研究突破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5760720"/>
            <a:ext cx="109728" cy="109728"/>
          </a:xfrm>
          <a:prstGeom prst="ellipse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669280"/>
            <a:ext cx="105156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</a:rPr>
              <a:t>面向政府 · 园区 · 资产 · 企业 · 研究  五类读者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095" y="2743200"/>
            <a:ext cx="3474720" cy="4114800"/>
          </a:xfrm>
          <a:prstGeom prst="rect">
            <a:avLst/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4000" b="1" i="0">
                <a:solidFill>
                  <a:srgbClr val="1C3670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C9CED8"/>
                </a:solidFill>
                <a:latin typeface="微软雅黑"/>
                <a:ea typeface="微软雅黑"/>
              </a:rPr>
              <a:t>上海商办楼宇与产业园区市场深度报告  ·  讨论稿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292608" cy="68580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2A5BA8"/>
                </a:solidFill>
                <a:latin typeface="微软雅黑"/>
                <a:ea typeface="微软雅黑"/>
              </a:rPr>
              <a:t>PART 01 · 项目定位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 i="0">
                <a:solidFill>
                  <a:srgbClr val="102A5B"/>
                </a:solidFill>
                <a:latin typeface="微软雅黑"/>
                <a:ea typeface="微软雅黑"/>
              </a:rPr>
              <a:t>联合发布与核心定位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07008"/>
            <a:ext cx="502920" cy="4572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170432"/>
            <a:ext cx="10515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1">
                <a:solidFill>
                  <a:srgbClr val="6E737C"/>
                </a:solidFill>
                <a:latin typeface="微软雅黑"/>
                <a:ea typeface="微软雅黑"/>
              </a:rPr>
              <a:t>上海首份面向全域商办与产业园区的供需双侧·企业迁徙·产业流动决策报告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8DE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上海商办楼宇与产业园区市场深度报告  ·  讨论稿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6895" y="6473952"/>
            <a:ext cx="35661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易居研究院 × 复旦大学住房政策研究中心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88775" y="6473952"/>
            <a:ext cx="3657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102A5B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691640"/>
            <a:ext cx="5120640" cy="2377440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691640"/>
            <a:ext cx="73152" cy="237744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783080"/>
            <a:ext cx="48463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102A5B"/>
                </a:solidFill>
                <a:latin typeface="微软雅黑"/>
                <a:ea typeface="微软雅黑"/>
              </a:rPr>
              <a:t>JOINT  PUBLICATION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103120"/>
            <a:ext cx="48463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102A5B"/>
                </a:solidFill>
                <a:latin typeface="微软雅黑"/>
                <a:ea typeface="微软雅黑"/>
              </a:rPr>
              <a:t>联合发布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697480"/>
            <a:ext cx="484632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i="0">
                <a:solidFill>
                  <a:srgbClr val="102A5B"/>
                </a:solidFill>
                <a:latin typeface="微软雅黑"/>
                <a:ea typeface="微软雅黑"/>
              </a:rPr>
              <a:t>易居房地产研究院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154680"/>
            <a:ext cx="484632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000" b="1" i="0">
                <a:solidFill>
                  <a:srgbClr val="C8913A"/>
                </a:solidFill>
                <a:latin typeface="微软雅黑"/>
                <a:ea typeface="微软雅黑"/>
              </a:rPr>
              <a:t>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429000"/>
            <a:ext cx="484632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i="0">
                <a:solidFill>
                  <a:srgbClr val="102A5B"/>
                </a:solidFill>
                <a:latin typeface="微软雅黑"/>
                <a:ea typeface="微软雅黑"/>
              </a:rPr>
              <a:t>复旦大学住房政策研究中心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1783080"/>
            <a:ext cx="57607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102A5B"/>
                </a:solidFill>
                <a:latin typeface="微软雅黑"/>
                <a:ea typeface="微软雅黑"/>
              </a:rPr>
              <a:t>CORE  POSITIONING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103120"/>
            <a:ext cx="57607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102A5B"/>
                </a:solidFill>
                <a:latin typeface="微软雅黑"/>
                <a:ea typeface="微软雅黑"/>
              </a:rPr>
              <a:t>核心定位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560320"/>
            <a:ext cx="5760720" cy="1554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 i="0">
                <a:solidFill>
                  <a:srgbClr val="2A5BA8"/>
                </a:solidFill>
                <a:latin typeface="微软雅黑"/>
                <a:ea typeface="微软雅黑"/>
              </a:rPr>
              <a:t>●  </a:t>
            </a:r>
            <a:r>
              <a:rPr sz="1200" b="0" i="0">
                <a:solidFill>
                  <a:srgbClr val="1A222E"/>
                </a:solidFill>
                <a:latin typeface="微软雅黑"/>
                <a:ea typeface="微软雅黑"/>
              </a:rPr>
              <a:t>全域覆盖：16区 → 街镇 → 楼宇/园区 → 企业 四级颗粒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 i="0">
                <a:solidFill>
                  <a:srgbClr val="2A5BA8"/>
                </a:solidFill>
                <a:latin typeface="微软雅黑"/>
                <a:ea typeface="微软雅黑"/>
              </a:rPr>
              <a:t>●  </a:t>
            </a:r>
            <a:r>
              <a:rPr sz="1200" b="0" i="0">
                <a:solidFill>
                  <a:srgbClr val="1A222E"/>
                </a:solidFill>
                <a:latin typeface="微软雅黑"/>
                <a:ea typeface="微软雅黑"/>
              </a:rPr>
              <a:t>全类型载体：写字楼、产业园、科创园、孵化器、商务园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 i="0">
                <a:solidFill>
                  <a:srgbClr val="2A5BA8"/>
                </a:solidFill>
                <a:latin typeface="微软雅黑"/>
                <a:ea typeface="微软雅黑"/>
              </a:rPr>
              <a:t>●  </a:t>
            </a:r>
            <a:r>
              <a:rPr sz="1200" b="0" i="0">
                <a:solidFill>
                  <a:srgbClr val="1A222E"/>
                </a:solidFill>
                <a:latin typeface="微软雅黑"/>
                <a:ea typeface="微软雅黑"/>
              </a:rPr>
              <a:t>供需双侧：供给底数 × 企业入驻 / 迁徙 / 扩缩租行为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 i="0">
                <a:solidFill>
                  <a:srgbClr val="2A5BA8"/>
                </a:solidFill>
                <a:latin typeface="微软雅黑"/>
                <a:ea typeface="微软雅黑"/>
              </a:rPr>
              <a:t>●  </a:t>
            </a:r>
            <a:r>
              <a:rPr sz="1200" b="0" i="0">
                <a:solidFill>
                  <a:srgbClr val="1A222E"/>
                </a:solidFill>
                <a:latin typeface="微软雅黑"/>
                <a:ea typeface="微软雅黑"/>
              </a:rPr>
              <a:t>产业视角：集聚、流动、补链强链与新质生产力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 i="0">
                <a:solidFill>
                  <a:srgbClr val="2A5BA8"/>
                </a:solidFill>
                <a:latin typeface="微软雅黑"/>
                <a:ea typeface="微软雅黑"/>
              </a:rPr>
              <a:t>●  </a:t>
            </a:r>
            <a:r>
              <a:rPr sz="1200" b="0" i="0">
                <a:solidFill>
                  <a:srgbClr val="1A222E"/>
                </a:solidFill>
                <a:latin typeface="微软雅黑"/>
                <a:ea typeface="微软雅黑"/>
              </a:rPr>
              <a:t>招商资管导向：政府 + 园区 + 资产 + 选址 一体应用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102A5B"/>
                </a:solidFill>
                <a:latin typeface="微软雅黑"/>
                <a:ea typeface="微软雅黑"/>
              </a:rPr>
              <a:t>五大研究突破  ·  FIVE BREAKTHROUGHS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617720"/>
            <a:ext cx="365760" cy="36576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800600"/>
            <a:ext cx="21488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A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800600"/>
            <a:ext cx="2148840" cy="411480"/>
          </a:xfrm>
          <a:prstGeom prst="rect">
            <a:avLst/>
          </a:prstGeom>
          <a:solidFill>
            <a:srgbClr val="2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800600"/>
            <a:ext cx="214884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全域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303520"/>
            <a:ext cx="1874519" cy="8686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核心区样本 → 上海全域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34640" y="4800600"/>
            <a:ext cx="21488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1E77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34640" y="4800600"/>
            <a:ext cx="2148840" cy="411480"/>
          </a:xfrm>
          <a:prstGeom prst="rect">
            <a:avLst/>
          </a:prstGeom>
          <a:solidFill>
            <a:srgbClr val="1E7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34640" y="4800600"/>
            <a:ext cx="214884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全载体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71800" y="5303520"/>
            <a:ext cx="1874519" cy="8686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写字楼 → 全类型载体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0" y="4800600"/>
            <a:ext cx="21488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F7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120640" y="4800600"/>
            <a:ext cx="2148840" cy="411480"/>
          </a:xfrm>
          <a:prstGeom prst="rect">
            <a:avLst/>
          </a:prstGeom>
          <a:solidFill>
            <a:srgbClr val="2F7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0640" y="4800600"/>
            <a:ext cx="214884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双侧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57800" y="5303520"/>
            <a:ext cx="1874519" cy="8686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租金空置 → 供需双侧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06640" y="4800600"/>
            <a:ext cx="21488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6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06640" y="4800600"/>
            <a:ext cx="2148840" cy="411480"/>
          </a:xfrm>
          <a:prstGeom prst="rect">
            <a:avLst/>
          </a:prstGeom>
          <a:solidFill>
            <a:srgbClr val="E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06640" y="4800600"/>
            <a:ext cx="214884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动态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43800" y="5303520"/>
            <a:ext cx="1874519" cy="8686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静态描述 → 动态迁徙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92640" y="4800600"/>
            <a:ext cx="21488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89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692640" y="4800600"/>
            <a:ext cx="2148840" cy="41148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92640" y="4800600"/>
            <a:ext cx="214884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应用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29800" y="5303520"/>
            <a:ext cx="1874519" cy="8686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宏观研究 → 招商资管选址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292608" cy="68580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2A5BA8"/>
                </a:solidFill>
                <a:latin typeface="微软雅黑"/>
                <a:ea typeface="微软雅黑"/>
              </a:rPr>
              <a:t>PART 01 · 项目定位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 i="0">
                <a:solidFill>
                  <a:srgbClr val="102A5B"/>
                </a:solidFill>
                <a:latin typeface="微软雅黑"/>
                <a:ea typeface="微软雅黑"/>
              </a:rPr>
              <a:t>五类目标读者矩阵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07008"/>
            <a:ext cx="502920" cy="4572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170432"/>
            <a:ext cx="10515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1">
                <a:solidFill>
                  <a:srgbClr val="6E737C"/>
                </a:solidFill>
                <a:latin typeface="微软雅黑"/>
                <a:ea typeface="微软雅黑"/>
              </a:rPr>
              <a:t>Government · Operator · Capital · Enterprise · Research — 一份报告对应五个使用场景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8DE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上海商办楼宇与产业园区市场深度报告  ·  讨论稿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6895" y="6473952"/>
            <a:ext cx="35661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易居研究院 × 复旦大学住房政策研究中心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88775" y="6473952"/>
            <a:ext cx="3657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102A5B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36576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783080"/>
            <a:ext cx="3657600" cy="457200"/>
          </a:xfrm>
          <a:prstGeom prst="rect">
            <a:avLst/>
          </a:prstGeom>
          <a:solidFill>
            <a:srgbClr val="2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66160" y="1874520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1874520"/>
            <a:ext cx="274320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2A5BA8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1783080"/>
            <a:ext cx="320040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政府与产业招商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377440"/>
            <a:ext cx="3383280" cy="11430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 i="0">
                <a:solidFill>
                  <a:srgbClr val="2A5BA8"/>
                </a:solidFill>
                <a:latin typeface="微软雅黑"/>
                <a:ea typeface="微软雅黑"/>
              </a:rPr>
              <a:t>·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市/区招商主管部门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 i="0">
                <a:solidFill>
                  <a:srgbClr val="2A5BA8"/>
                </a:solidFill>
                <a:latin typeface="微软雅黑"/>
                <a:ea typeface="微软雅黑"/>
              </a:rPr>
              <a:t>·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街镇招商中心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 i="0">
                <a:solidFill>
                  <a:srgbClr val="2A5BA8"/>
                </a:solidFill>
                <a:latin typeface="微软雅黑"/>
                <a:ea typeface="微软雅黑"/>
              </a:rPr>
              <a:t>·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开发区/功能区管委会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66160"/>
            <a:ext cx="3657600" cy="411480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66160"/>
            <a:ext cx="338328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02A5B"/>
                </a:solidFill>
                <a:latin typeface="微软雅黑"/>
                <a:ea typeface="微软雅黑"/>
              </a:rPr>
              <a:t>▎ 空间治理 · 精准招商 · 楼宇与园区经济政策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98264" y="1783080"/>
            <a:ext cx="36576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98264" y="1783080"/>
            <a:ext cx="3657600" cy="457200"/>
          </a:xfrm>
          <a:prstGeom prst="rect">
            <a:avLst/>
          </a:prstGeom>
          <a:solidFill>
            <a:srgbClr val="E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15784" y="1874520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15784" y="1874520"/>
            <a:ext cx="274320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E06A2C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1783080"/>
            <a:ext cx="320040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楼宇/园区运营方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81144" y="2377440"/>
            <a:ext cx="3383280" cy="11430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 i="0">
                <a:solidFill>
                  <a:srgbClr val="E06A2C"/>
                </a:solidFill>
                <a:latin typeface="微软雅黑"/>
                <a:ea typeface="微软雅黑"/>
              </a:rPr>
              <a:t>·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商办楼宇业主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 i="0">
                <a:solidFill>
                  <a:srgbClr val="E06A2C"/>
                </a:solidFill>
                <a:latin typeface="微软雅黑"/>
                <a:ea typeface="微软雅黑"/>
              </a:rPr>
              <a:t>·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产业园区运营商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 i="0">
                <a:solidFill>
                  <a:srgbClr val="E06A2C"/>
                </a:solidFill>
                <a:latin typeface="微软雅黑"/>
                <a:ea typeface="微软雅黑"/>
              </a:rPr>
              <a:t>·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城市更新操盘方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 i="0">
                <a:solidFill>
                  <a:srgbClr val="E06A2C"/>
                </a:solidFill>
                <a:latin typeface="微软雅黑"/>
                <a:ea typeface="微软雅黑"/>
              </a:rPr>
              <a:t>·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国企平台公司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98264" y="3566160"/>
            <a:ext cx="3657600" cy="411480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35424" y="3566160"/>
            <a:ext cx="338328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02A5B"/>
                </a:solidFill>
                <a:latin typeface="微软雅黑"/>
                <a:ea typeface="微软雅黑"/>
              </a:rPr>
              <a:t>▎ 资产定位 · 租金策略 · 招商策略 · 运营服务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47888" y="1783080"/>
            <a:ext cx="36576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47888" y="1783080"/>
            <a:ext cx="3657600" cy="457200"/>
          </a:xfrm>
          <a:prstGeom prst="rect">
            <a:avLst/>
          </a:prstGeom>
          <a:solidFill>
            <a:srgbClr val="2F7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265408" y="1874520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265408" y="1874520"/>
            <a:ext cx="274320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2F7D5C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1783080"/>
            <a:ext cx="320040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资产持有与投资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0768" y="2377440"/>
            <a:ext cx="3383280" cy="11430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 i="0">
                <a:solidFill>
                  <a:srgbClr val="2F7D5C"/>
                </a:solidFill>
                <a:latin typeface="微软雅黑"/>
                <a:ea typeface="微软雅黑"/>
              </a:rPr>
              <a:t>·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REITs / 类REITs资产方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 i="0">
                <a:solidFill>
                  <a:srgbClr val="2F7D5C"/>
                </a:solidFill>
                <a:latin typeface="微软雅黑"/>
                <a:ea typeface="微软雅黑"/>
              </a:rPr>
              <a:t>·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商办投资人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 i="0">
                <a:solidFill>
                  <a:srgbClr val="2F7D5C"/>
                </a:solidFill>
                <a:latin typeface="微软雅黑"/>
                <a:ea typeface="微软雅黑"/>
              </a:rPr>
              <a:t>·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资管公司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 i="0">
                <a:solidFill>
                  <a:srgbClr val="2F7D5C"/>
                </a:solidFill>
                <a:latin typeface="微软雅黑"/>
                <a:ea typeface="微软雅黑"/>
              </a:rPr>
              <a:t>·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地产基金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47888" y="3566160"/>
            <a:ext cx="3657600" cy="411480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85048" y="3566160"/>
            <a:ext cx="338328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02A5B"/>
                </a:solidFill>
                <a:latin typeface="微软雅黑"/>
                <a:ea typeface="微软雅黑"/>
              </a:rPr>
              <a:t>▎ 竞品对标 · 估值 · 改造 · 资本化路径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114800"/>
            <a:ext cx="36576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4114800"/>
            <a:ext cx="3657600" cy="45720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566160" y="4206240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66160" y="4206240"/>
            <a:ext cx="274320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C8913A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" y="4114800"/>
            <a:ext cx="320040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企业选址决策方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4709160"/>
            <a:ext cx="3383280" cy="11430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 i="0">
                <a:solidFill>
                  <a:srgbClr val="C8913A"/>
                </a:solidFill>
                <a:latin typeface="微软雅黑"/>
                <a:ea typeface="微软雅黑"/>
              </a:rPr>
              <a:t>·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科创企业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 i="0">
                <a:solidFill>
                  <a:srgbClr val="C8913A"/>
                </a:solidFill>
                <a:latin typeface="微软雅黑"/>
                <a:ea typeface="微软雅黑"/>
              </a:rPr>
              <a:t>·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专精特新企业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 i="0">
                <a:solidFill>
                  <a:srgbClr val="C8913A"/>
                </a:solidFill>
                <a:latin typeface="微软雅黑"/>
                <a:ea typeface="微软雅黑"/>
              </a:rPr>
              <a:t>·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总部企业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 i="0">
                <a:solidFill>
                  <a:srgbClr val="C8913A"/>
                </a:solidFill>
                <a:latin typeface="微软雅黑"/>
                <a:ea typeface="微软雅黑"/>
              </a:rPr>
              <a:t>·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生产性服务业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897880"/>
            <a:ext cx="3657600" cy="411480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5897880"/>
            <a:ext cx="338328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02A5B"/>
                </a:solidFill>
                <a:latin typeface="微软雅黑"/>
                <a:ea typeface="微软雅黑"/>
              </a:rPr>
              <a:t>▎ 区域比较 · 综合成本 · 政策匹配 · 扩缩租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98264" y="4114800"/>
            <a:ext cx="36576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98264" y="4114800"/>
            <a:ext cx="3657600" cy="457200"/>
          </a:xfrm>
          <a:prstGeom prst="rect">
            <a:avLst/>
          </a:prstGeom>
          <a:solidFill>
            <a:srgbClr val="6B4E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415784" y="4206240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15784" y="4206240"/>
            <a:ext cx="274320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6B4EA1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62856" y="4114800"/>
            <a:ext cx="320040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研究与咨询机构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81144" y="4709160"/>
            <a:ext cx="3383280" cy="11430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 i="0">
                <a:solidFill>
                  <a:srgbClr val="6B4EA1"/>
                </a:solidFill>
                <a:latin typeface="微软雅黑"/>
                <a:ea typeface="微软雅黑"/>
              </a:rPr>
              <a:t>·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房地产研究机构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 i="0">
                <a:solidFill>
                  <a:srgbClr val="6B4EA1"/>
                </a:solidFill>
                <a:latin typeface="微软雅黑"/>
                <a:ea typeface="微软雅黑"/>
              </a:rPr>
              <a:t>·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产业咨询机构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 i="0">
                <a:solidFill>
                  <a:srgbClr val="6B4EA1"/>
                </a:solidFill>
                <a:latin typeface="微软雅黑"/>
                <a:ea typeface="微软雅黑"/>
              </a:rPr>
              <a:t>·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金融研究部门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 i="0">
                <a:solidFill>
                  <a:srgbClr val="6B4EA1"/>
                </a:solidFill>
                <a:latin typeface="微软雅黑"/>
                <a:ea typeface="微软雅黑"/>
              </a:rPr>
              <a:t>·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城市更新服务商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98264" y="5897880"/>
            <a:ext cx="3657600" cy="411480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35424" y="5897880"/>
            <a:ext cx="338328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02A5B"/>
                </a:solidFill>
                <a:latin typeface="微软雅黑"/>
                <a:ea typeface="微软雅黑"/>
              </a:rPr>
              <a:t>▎ 标准化口径 · 行业研究 · 政策咨询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48640" cy="54864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486400" cy="7315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 i="0">
                <a:solidFill>
                  <a:srgbClr val="E6B66E"/>
                </a:solidFill>
                <a:latin typeface="微软雅黑"/>
                <a:ea typeface="微软雅黑"/>
              </a:rPr>
              <a:t>PART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68580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C9CED8"/>
                </a:solidFill>
                <a:latin typeface="微软雅黑"/>
                <a:ea typeface="微软雅黑"/>
              </a:rPr>
              <a:t>MARKET 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9601200" cy="1463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微软雅黑"/>
                <a:ea typeface="微软雅黑"/>
              </a:rPr>
              <a:t>市场背景与逻辑重构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5029200"/>
            <a:ext cx="109728" cy="109728"/>
          </a:xfrm>
          <a:prstGeom prst="ellipse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937760"/>
            <a:ext cx="105156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</a:rPr>
              <a:t>城市更新进入深水区  ·  存量盘活成为核心命题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5394960"/>
            <a:ext cx="109728" cy="109728"/>
          </a:xfrm>
          <a:prstGeom prst="ellipse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303520"/>
            <a:ext cx="105156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</a:rPr>
              <a:t>新质生产力培育  ·  五个中心建设  ·  能级跃升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5760720"/>
            <a:ext cx="109728" cy="109728"/>
          </a:xfrm>
          <a:prstGeom prst="ellipse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669280"/>
            <a:ext cx="105156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</a:rPr>
              <a:t>企业选址逻辑系统重构  ·  从地段优先转向生态优先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095" y="2743200"/>
            <a:ext cx="3474720" cy="4114800"/>
          </a:xfrm>
          <a:prstGeom prst="rect">
            <a:avLst/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4000" b="1" i="0">
                <a:solidFill>
                  <a:srgbClr val="1C3670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C9CED8"/>
                </a:solidFill>
                <a:latin typeface="微软雅黑"/>
                <a:ea typeface="微软雅黑"/>
              </a:rPr>
              <a:t>上海商办楼宇与产业园区市场深度报告  ·  讨论稿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292608" cy="68580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2A5BA8"/>
                </a:solidFill>
                <a:latin typeface="微软雅黑"/>
                <a:ea typeface="微软雅黑"/>
              </a:rPr>
              <a:t>PART 02 · 市场背景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 i="0">
                <a:solidFill>
                  <a:srgbClr val="102A5B"/>
                </a:solidFill>
                <a:latin typeface="微软雅黑"/>
                <a:ea typeface="微软雅黑"/>
              </a:rPr>
              <a:t>上海商办与产业空间逻辑正在重构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07008"/>
            <a:ext cx="502920" cy="4572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170432"/>
            <a:ext cx="10515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1">
                <a:solidFill>
                  <a:srgbClr val="6E737C"/>
                </a:solidFill>
                <a:latin typeface="微软雅黑"/>
                <a:ea typeface="微软雅黑"/>
              </a:rPr>
              <a:t>From location-first to ecosystem-first — 七要素重构企业选址逻辑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8DE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上海商办楼宇与产业园区市场深度报告  ·  讨论稿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6895" y="6473952"/>
            <a:ext cx="35661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易居研究院 × 复旦大学住房政策研究中心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88775" y="6473952"/>
            <a:ext cx="3657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102A5B"/>
                </a:solidFill>
                <a:latin typeface="微软雅黑"/>
                <a:ea typeface="微软雅黑"/>
              </a:rPr>
              <a:t>07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691640"/>
            <a:ext cx="5303520" cy="2194560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691640"/>
            <a:ext cx="530352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  过去：地段 · 形象 · 总部标签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103120"/>
            <a:ext cx="4937760" cy="17830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1" i="0">
                <a:solidFill>
                  <a:srgbClr val="6E737C"/>
                </a:solidFill>
                <a:latin typeface="微软雅黑"/>
                <a:ea typeface="微软雅黑"/>
              </a:rPr>
              <a:t>○  </a:t>
            </a:r>
            <a:r>
              <a:rPr sz="1200" b="0" i="0">
                <a:solidFill>
                  <a:srgbClr val="1A222E"/>
                </a:solidFill>
                <a:latin typeface="微软雅黑"/>
                <a:ea typeface="微软雅黑"/>
              </a:rPr>
              <a:t>地段优先 / 形象优先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1" i="0">
                <a:solidFill>
                  <a:srgbClr val="6E737C"/>
                </a:solidFill>
                <a:latin typeface="微软雅黑"/>
                <a:ea typeface="微软雅黑"/>
              </a:rPr>
              <a:t>○  </a:t>
            </a:r>
            <a:r>
              <a:rPr sz="1200" b="0" i="0">
                <a:solidFill>
                  <a:srgbClr val="1A222E"/>
                </a:solidFill>
                <a:latin typeface="微软雅黑"/>
                <a:ea typeface="微软雅黑"/>
              </a:rPr>
              <a:t>核心区品牌办公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1" i="0">
                <a:solidFill>
                  <a:srgbClr val="6E737C"/>
                </a:solidFill>
                <a:latin typeface="微软雅黑"/>
                <a:ea typeface="微软雅黑"/>
              </a:rPr>
              <a:t>○  </a:t>
            </a:r>
            <a:r>
              <a:rPr sz="1200" b="0" i="0">
                <a:solidFill>
                  <a:srgbClr val="1A222E"/>
                </a:solidFill>
                <a:latin typeface="微软雅黑"/>
                <a:ea typeface="微软雅黑"/>
              </a:rPr>
              <a:t>高租金 = 高价值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1" i="0">
                <a:solidFill>
                  <a:srgbClr val="6E737C"/>
                </a:solidFill>
                <a:latin typeface="微软雅黑"/>
                <a:ea typeface="微软雅黑"/>
              </a:rPr>
              <a:t>○  </a:t>
            </a:r>
            <a:r>
              <a:rPr sz="1200" b="0" i="0">
                <a:solidFill>
                  <a:srgbClr val="1A222E"/>
                </a:solidFill>
                <a:latin typeface="微软雅黑"/>
                <a:ea typeface="微软雅黑"/>
              </a:rPr>
              <a:t>甲级写字楼为主流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1" i="0">
                <a:solidFill>
                  <a:srgbClr val="6E737C"/>
                </a:solidFill>
                <a:latin typeface="微软雅黑"/>
                <a:ea typeface="微软雅黑"/>
              </a:rPr>
              <a:t>○  </a:t>
            </a:r>
            <a:r>
              <a:rPr sz="1200" b="0" i="0">
                <a:solidFill>
                  <a:srgbClr val="1A222E"/>
                </a:solidFill>
                <a:latin typeface="微软雅黑"/>
                <a:ea typeface="微软雅黑"/>
              </a:rPr>
              <a:t>重资产 / 增量开发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43600" y="2468880"/>
            <a:ext cx="548640" cy="640080"/>
          </a:xfrm>
          <a:prstGeom prst="rightArrow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1691640"/>
            <a:ext cx="5120640" cy="219456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691640"/>
            <a:ext cx="512064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  现在：成本 · 产业 · 政策 · 人才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2103120"/>
            <a:ext cx="4754880" cy="17830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1" i="0">
                <a:solidFill>
                  <a:srgbClr val="C8913A"/>
                </a:solidFill>
                <a:latin typeface="微软雅黑"/>
                <a:ea typeface="微软雅黑"/>
              </a:rPr>
              <a:t>●  </a:t>
            </a: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综合成本可控 · 政策可达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1" i="0">
                <a:solidFill>
                  <a:srgbClr val="C8913A"/>
                </a:solidFill>
                <a:latin typeface="微软雅黑"/>
                <a:ea typeface="微软雅黑"/>
              </a:rPr>
              <a:t>●  </a:t>
            </a: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产业协同 · 上下游生态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1" i="0">
                <a:solidFill>
                  <a:srgbClr val="C8913A"/>
                </a:solidFill>
                <a:latin typeface="微软雅黑"/>
                <a:ea typeface="微软雅黑"/>
              </a:rPr>
              <a:t>●  </a:t>
            </a: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空间灵活 · 服务完善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1" i="0">
                <a:solidFill>
                  <a:srgbClr val="C8913A"/>
                </a:solidFill>
                <a:latin typeface="微软雅黑"/>
                <a:ea typeface="微软雅黑"/>
              </a:rPr>
              <a:t>●  </a:t>
            </a: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交通便利 · 人才可达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1" i="0">
                <a:solidFill>
                  <a:srgbClr val="C8913A"/>
                </a:solidFill>
                <a:latin typeface="微软雅黑"/>
                <a:ea typeface="微软雅黑"/>
              </a:rPr>
              <a:t>●  </a:t>
            </a: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存量运营 · 产业服务 · 生态溢价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102A5B"/>
                </a:solidFill>
                <a:latin typeface="微软雅黑"/>
                <a:ea typeface="微软雅黑"/>
              </a:rPr>
              <a:t>传统研究体系的四大不足  ·  本报告的对应突破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434840"/>
            <a:ext cx="365760" cy="36576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663440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2A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663440"/>
            <a:ext cx="274320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2A5BA8"/>
                </a:solidFill>
                <a:latin typeface="微软雅黑"/>
                <a:ea typeface="微软雅黑"/>
              </a:rPr>
              <a:t>重核心区，轻全域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1828800" y="5166360"/>
            <a:ext cx="201168" cy="228600"/>
          </a:xfrm>
          <a:prstGeom prst="downArrow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440680"/>
            <a:ext cx="2743200" cy="868680"/>
          </a:xfrm>
          <a:prstGeom prst="rect">
            <a:avLst/>
          </a:prstGeom>
          <a:solidFill>
            <a:srgbClr val="2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440680"/>
            <a:ext cx="2560320" cy="8686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覆盖16区+街镇+楼宇/园区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10712" y="4663440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1E77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10712" y="4663440"/>
            <a:ext cx="274320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1E778E"/>
                </a:solidFill>
                <a:latin typeface="微软雅黑"/>
                <a:ea typeface="微软雅黑"/>
              </a:rPr>
              <a:t>重资产指标，轻需求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4690872" y="5166360"/>
            <a:ext cx="201168" cy="228600"/>
          </a:xfrm>
          <a:prstGeom prst="downArrow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10712" y="5440680"/>
            <a:ext cx="2743200" cy="868680"/>
          </a:xfrm>
          <a:prstGeom prst="rect">
            <a:avLst/>
          </a:prstGeom>
          <a:solidFill>
            <a:srgbClr val="1E7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02152" y="5440680"/>
            <a:ext cx="2560320" cy="8686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供需双侧+企业画像+行为研究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72783" y="4663440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6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2783" y="4663440"/>
            <a:ext cx="274320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E06A2C"/>
                </a:solidFill>
                <a:latin typeface="微软雅黑"/>
                <a:ea typeface="微软雅黑"/>
              </a:rPr>
              <a:t>重静态，轻动态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7552943" y="5166360"/>
            <a:ext cx="201168" cy="228600"/>
          </a:xfrm>
          <a:prstGeom prst="downArrow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72783" y="5440680"/>
            <a:ext cx="2743200" cy="868680"/>
          </a:xfrm>
          <a:prstGeom prst="rect">
            <a:avLst/>
          </a:prstGeom>
          <a:solidFill>
            <a:srgbClr val="E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64223" y="5440680"/>
            <a:ext cx="2560320" cy="8686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月度/季度企业迁徙追踪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34856" y="4663440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9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34856" y="4663440"/>
            <a:ext cx="274320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C8913A"/>
                </a:solidFill>
                <a:latin typeface="微软雅黑"/>
                <a:ea typeface="微软雅黑"/>
              </a:rPr>
              <a:t>重描述，轻落地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10415016" y="5166360"/>
            <a:ext cx="201168" cy="228600"/>
          </a:xfrm>
          <a:prstGeom prst="downArrow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34856" y="5440680"/>
            <a:ext cx="2743200" cy="86868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26296" y="5440680"/>
            <a:ext cx="2560320" cy="8686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招商清单+资管+选址方案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48640" cy="54864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486400" cy="7315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 i="0">
                <a:solidFill>
                  <a:srgbClr val="E6B66E"/>
                </a:solidFill>
                <a:latin typeface="微软雅黑"/>
                <a:ea typeface="微软雅黑"/>
              </a:rPr>
              <a:t>PART 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68580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C9CED8"/>
                </a:solidFill>
                <a:latin typeface="微软雅黑"/>
                <a:ea typeface="微软雅黑"/>
              </a:rPr>
              <a:t>SUPPLY  LANDSCAPE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9601200" cy="1463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微软雅黑"/>
                <a:ea typeface="微软雅黑"/>
              </a:rPr>
              <a:t>全域供给格局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5029200"/>
            <a:ext cx="109728" cy="109728"/>
          </a:xfrm>
          <a:prstGeom prst="ellipse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937760"/>
            <a:ext cx="105156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</a:rPr>
              <a:t>上海 16 区  ·  20 大重点板块  ·  10 大物业类型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5394960"/>
            <a:ext cx="109728" cy="109728"/>
          </a:xfrm>
          <a:prstGeom prst="ellipse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303520"/>
            <a:ext cx="105156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</a:rPr>
              <a:t>四级数据库  ·  从城市层级下沉到楼宇与企业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5760720"/>
            <a:ext cx="109728" cy="109728"/>
          </a:xfrm>
          <a:prstGeom prst="ellipse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669280"/>
            <a:ext cx="105156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</a:rPr>
              <a:t>首次系统拆解全域商办与产业园区供给底数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095" y="2743200"/>
            <a:ext cx="3474720" cy="4114800"/>
          </a:xfrm>
          <a:prstGeom prst="rect">
            <a:avLst/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4000" b="1" i="0">
                <a:solidFill>
                  <a:srgbClr val="1C3670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C9CED8"/>
                </a:solidFill>
                <a:latin typeface="微软雅黑"/>
                <a:ea typeface="微软雅黑"/>
              </a:rPr>
              <a:t>上海商办楼宇与产业园区市场深度报告  ·  讨论稿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292608" cy="68580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2A5BA8"/>
                </a:solidFill>
                <a:latin typeface="微软雅黑"/>
                <a:ea typeface="微软雅黑"/>
              </a:rPr>
              <a:t>PART 03 · 全域供给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 i="0">
                <a:solidFill>
                  <a:srgbClr val="102A5B"/>
                </a:solidFill>
                <a:latin typeface="微软雅黑"/>
                <a:ea typeface="微软雅黑"/>
              </a:rPr>
              <a:t>上海 16 区供给格局总览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07008"/>
            <a:ext cx="502920" cy="4572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170432"/>
            <a:ext cx="10515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1">
                <a:solidFill>
                  <a:srgbClr val="6E737C"/>
                </a:solidFill>
                <a:latin typeface="微软雅黑"/>
                <a:ea typeface="微软雅黑"/>
              </a:rPr>
              <a:t>Four functional clusters — 核心商务 / 浦东主力 / 产业新兴 / 外溢承接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8DE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上海商办楼宇与产业园区市场深度报告  ·  讨论稿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6895" y="6473952"/>
            <a:ext cx="35661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易居研究院 × 复旦大学住房政策研究中心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88775" y="6473952"/>
            <a:ext cx="3657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102A5B"/>
                </a:solidFill>
                <a:latin typeface="微软雅黑"/>
                <a:ea typeface="微软雅黑"/>
              </a:rPr>
              <a:t>09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691640"/>
            <a:ext cx="1828800" cy="960120"/>
          </a:xfrm>
          <a:prstGeom prst="rect">
            <a:avLst/>
          </a:prstGeom>
          <a:solidFill>
            <a:srgbClr val="2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691640"/>
            <a:ext cx="182880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商办楼宇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103120"/>
            <a:ext cx="182880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</a:rPr>
              <a:t>全市数量盘点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96312" y="1691640"/>
            <a:ext cx="1828800" cy="96012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96312" y="1691640"/>
            <a:ext cx="182880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产业园区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96312" y="2103120"/>
            <a:ext cx="182880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</a:rPr>
              <a:t>全市数量盘点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43983" y="1691640"/>
            <a:ext cx="1828800" cy="960120"/>
          </a:xfrm>
          <a:prstGeom prst="rect">
            <a:avLst/>
          </a:prstGeom>
          <a:solidFill>
            <a:srgbClr val="1E7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43983" y="1691640"/>
            <a:ext cx="182880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总建筑面积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3983" y="2103120"/>
            <a:ext cx="182880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</a:rPr>
              <a:t>存量底数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91655" y="1691640"/>
            <a:ext cx="1828800" cy="96012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5" y="1691640"/>
            <a:ext cx="182880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可租赁面积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5" y="2103120"/>
            <a:ext cx="182880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</a:rPr>
              <a:t>市场流通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39327" y="1691640"/>
            <a:ext cx="1828800" cy="960120"/>
          </a:xfrm>
          <a:prstGeom prst="rect">
            <a:avLst/>
          </a:prstGeom>
          <a:solidFill>
            <a:srgbClr val="E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7" y="1691640"/>
            <a:ext cx="182880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可招商面积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7" y="2103120"/>
            <a:ext cx="182880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</a:rPr>
              <a:t>去化压力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286999" y="1691640"/>
            <a:ext cx="1828800" cy="960120"/>
          </a:xfrm>
          <a:prstGeom prst="rect">
            <a:avLst/>
          </a:prstGeom>
          <a:solidFill>
            <a:srgbClr val="6B4E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86999" y="1691640"/>
            <a:ext cx="182880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新增供应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6999" y="2103120"/>
            <a:ext cx="182880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</a:rPr>
              <a:t>供应节奏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2880360"/>
            <a:ext cx="10972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16 区分组与代表板块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200400"/>
            <a:ext cx="365760" cy="36576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3383280"/>
            <a:ext cx="2743200" cy="365760"/>
          </a:xfrm>
          <a:prstGeom prst="rect">
            <a:avLst/>
          </a:prstGeom>
          <a:solidFill>
            <a:srgbClr val="2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383280"/>
            <a:ext cx="274320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核心商务区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749040"/>
            <a:ext cx="2743200" cy="2468880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3840480"/>
            <a:ext cx="822960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102A5B"/>
                </a:solidFill>
                <a:latin typeface="微软雅黑"/>
                <a:ea typeface="微软雅黑"/>
              </a:rPr>
              <a:t>黄浦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3840480"/>
            <a:ext cx="1783080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外滩/南京东路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4251960"/>
            <a:ext cx="822960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102A5B"/>
                </a:solidFill>
                <a:latin typeface="微软雅黑"/>
                <a:ea typeface="微软雅黑"/>
              </a:rPr>
              <a:t>静安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4251960"/>
            <a:ext cx="1783080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南京西路/苏河湾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4663440"/>
            <a:ext cx="822960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102A5B"/>
                </a:solidFill>
                <a:latin typeface="微软雅黑"/>
                <a:ea typeface="微软雅黑"/>
              </a:rPr>
              <a:t>徐汇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63040" y="4663440"/>
            <a:ext cx="1783080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徐家汇/滨江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074920"/>
            <a:ext cx="822960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102A5B"/>
                </a:solidFill>
                <a:latin typeface="微软雅黑"/>
                <a:ea typeface="微软雅黑"/>
              </a:rPr>
              <a:t>长宁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63040" y="5074920"/>
            <a:ext cx="1783080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虹桥/中山公园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5486400"/>
            <a:ext cx="822960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102A5B"/>
                </a:solidFill>
                <a:latin typeface="微软雅黑"/>
                <a:ea typeface="微软雅黑"/>
              </a:rPr>
              <a:t>虹口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63040" y="5486400"/>
            <a:ext cx="1783080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北外滩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10712" y="3383280"/>
            <a:ext cx="2743200" cy="36576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10712" y="3383280"/>
            <a:ext cx="274320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浦东主力区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10712" y="3749040"/>
            <a:ext cx="2743200" cy="2926080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47872" y="3840480"/>
            <a:ext cx="822960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102A5B"/>
                </a:solidFill>
                <a:latin typeface="微软雅黑"/>
                <a:ea typeface="微软雅黑"/>
              </a:rPr>
              <a:t>陆家嘴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25112" y="3840480"/>
            <a:ext cx="1783080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金融总部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47872" y="4251960"/>
            <a:ext cx="822960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102A5B"/>
                </a:solidFill>
                <a:latin typeface="微软雅黑"/>
                <a:ea typeface="微软雅黑"/>
              </a:rPr>
              <a:t>前滩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25112" y="4251960"/>
            <a:ext cx="1783080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总部展示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47872" y="4663440"/>
            <a:ext cx="822960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102A5B"/>
                </a:solidFill>
                <a:latin typeface="微软雅黑"/>
                <a:ea typeface="微软雅黑"/>
              </a:rPr>
              <a:t>张江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25112" y="4663440"/>
            <a:ext cx="1783080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硬科技/生医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47872" y="5074920"/>
            <a:ext cx="822960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102A5B"/>
                </a:solidFill>
                <a:latin typeface="微软雅黑"/>
                <a:ea typeface="微软雅黑"/>
              </a:rPr>
              <a:t>金桥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25112" y="5074920"/>
            <a:ext cx="1783080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智造/电子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47872" y="5486400"/>
            <a:ext cx="822960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102A5B"/>
                </a:solidFill>
                <a:latin typeface="微软雅黑"/>
                <a:ea typeface="微软雅黑"/>
              </a:rPr>
              <a:t>外高桥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25112" y="5486400"/>
            <a:ext cx="1783080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贸易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47872" y="5897880"/>
            <a:ext cx="822960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102A5B"/>
                </a:solidFill>
                <a:latin typeface="微软雅黑"/>
                <a:ea typeface="微软雅黑"/>
              </a:rPr>
              <a:t>临港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25112" y="5897880"/>
            <a:ext cx="1783080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硬科技/国际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72783" y="3383280"/>
            <a:ext cx="2743200" cy="365760"/>
          </a:xfrm>
          <a:prstGeom prst="rect">
            <a:avLst/>
          </a:prstGeom>
          <a:solidFill>
            <a:srgbClr val="1E7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72783" y="3383280"/>
            <a:ext cx="274320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产业新兴区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72783" y="3749040"/>
            <a:ext cx="2743200" cy="2468880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9943" y="3840480"/>
            <a:ext cx="822960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102A5B"/>
                </a:solidFill>
                <a:latin typeface="微软雅黑"/>
                <a:ea typeface="微软雅黑"/>
              </a:rPr>
              <a:t>杨浦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87183" y="3840480"/>
            <a:ext cx="1783080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在线新经济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9943" y="4251960"/>
            <a:ext cx="822960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102A5B"/>
                </a:solidFill>
                <a:latin typeface="微软雅黑"/>
                <a:ea typeface="微软雅黑"/>
              </a:rPr>
              <a:t>普陀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87183" y="4251960"/>
            <a:ext cx="1783080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数字经济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9943" y="4663440"/>
            <a:ext cx="822960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102A5B"/>
                </a:solidFill>
                <a:latin typeface="微软雅黑"/>
                <a:ea typeface="微软雅黑"/>
              </a:rPr>
              <a:t>闵行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87183" y="4663440"/>
            <a:ext cx="1783080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紫竹/虹桥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9943" y="5074920"/>
            <a:ext cx="822960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102A5B"/>
                </a:solidFill>
                <a:latin typeface="微软雅黑"/>
                <a:ea typeface="微软雅黑"/>
              </a:rPr>
              <a:t>嘉定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87183" y="5074920"/>
            <a:ext cx="1783080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智能汽车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09943" y="5486400"/>
            <a:ext cx="822960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102A5B"/>
                </a:solidFill>
                <a:latin typeface="微软雅黑"/>
                <a:ea typeface="微软雅黑"/>
              </a:rPr>
              <a:t>松江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87183" y="5486400"/>
            <a:ext cx="1783080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G60科创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34856" y="3383280"/>
            <a:ext cx="2743200" cy="365760"/>
          </a:xfrm>
          <a:prstGeom prst="rect">
            <a:avLst/>
          </a:prstGeom>
          <a:solidFill>
            <a:srgbClr val="E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134856" y="3383280"/>
            <a:ext cx="274320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外溢承接区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134856" y="3749040"/>
            <a:ext cx="2743200" cy="2468880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272016" y="3840480"/>
            <a:ext cx="822960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102A5B"/>
                </a:solidFill>
                <a:latin typeface="微软雅黑"/>
                <a:ea typeface="微软雅黑"/>
              </a:rPr>
              <a:t>宝山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049256" y="3840480"/>
            <a:ext cx="1783080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南大智慧城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272016" y="4251960"/>
            <a:ext cx="822960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102A5B"/>
                </a:solidFill>
                <a:latin typeface="微软雅黑"/>
                <a:ea typeface="微软雅黑"/>
              </a:rPr>
              <a:t>青浦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049256" y="4251960"/>
            <a:ext cx="1783080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西虹桥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272016" y="4663440"/>
            <a:ext cx="822960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102A5B"/>
                </a:solidFill>
                <a:latin typeface="微软雅黑"/>
                <a:ea typeface="微软雅黑"/>
              </a:rPr>
              <a:t>奉贤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049256" y="4663440"/>
            <a:ext cx="1783080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东方美谷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272016" y="5074920"/>
            <a:ext cx="822960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102A5B"/>
                </a:solidFill>
                <a:latin typeface="微软雅黑"/>
                <a:ea typeface="微软雅黑"/>
              </a:rPr>
              <a:t>金山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049256" y="5074920"/>
            <a:ext cx="1783080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新材料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272016" y="5486400"/>
            <a:ext cx="822960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102A5B"/>
                </a:solidFill>
                <a:latin typeface="微软雅黑"/>
                <a:ea typeface="微软雅黑"/>
              </a:rPr>
              <a:t>崇明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049256" y="5486400"/>
            <a:ext cx="1783080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生态/海洋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292608" cy="68580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2A5BA8"/>
                </a:solidFill>
                <a:latin typeface="微软雅黑"/>
                <a:ea typeface="微软雅黑"/>
              </a:rPr>
              <a:t>PART 03 · 全域供给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 i="0">
                <a:solidFill>
                  <a:srgbClr val="102A5B"/>
                </a:solidFill>
                <a:latin typeface="微软雅黑"/>
                <a:ea typeface="微软雅黑"/>
              </a:rPr>
              <a:t>四级精细化数据库结构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07008"/>
            <a:ext cx="502920" cy="4572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170432"/>
            <a:ext cx="10515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1">
                <a:solidFill>
                  <a:srgbClr val="6E737C"/>
                </a:solidFill>
                <a:latin typeface="微软雅黑"/>
                <a:ea typeface="微软雅黑"/>
              </a:rPr>
              <a:t>Four-level granularity — 行政区 / 街镇 / 楼宇园区 / 企业 ─ 报告核心差异化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8DE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上海商办楼宇与产业园区市场深度报告  ·  讨论稿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6895" y="6473952"/>
            <a:ext cx="35661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易居研究院 × 复旦大学住房政策研究中心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88775" y="6473952"/>
            <a:ext cx="3657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102A5B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828800"/>
            <a:ext cx="26060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2A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828800"/>
            <a:ext cx="2606040" cy="365760"/>
          </a:xfrm>
          <a:prstGeom prst="rect">
            <a:avLst/>
          </a:prstGeom>
          <a:solidFill>
            <a:srgbClr val="2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1828800"/>
            <a:ext cx="73152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L1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1828800"/>
            <a:ext cx="182880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行政区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377440"/>
            <a:ext cx="2606040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000" b="1" i="0">
                <a:solidFill>
                  <a:srgbClr val="2A5BA8"/>
                </a:solidFill>
                <a:latin typeface="微软雅黑"/>
                <a:ea typeface="微软雅黑"/>
              </a:rPr>
              <a:t>16 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926080"/>
            <a:ext cx="260604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1">
                <a:solidFill>
                  <a:srgbClr val="6E737C"/>
                </a:solidFill>
                <a:latin typeface="微软雅黑"/>
                <a:ea typeface="微软雅黑"/>
              </a:rPr>
              <a:t>一级统计单元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182112" y="2606040"/>
            <a:ext cx="201168" cy="274320"/>
          </a:xfrm>
          <a:prstGeom prst="rightArrow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10712" y="1828800"/>
            <a:ext cx="26060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1E77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1828800"/>
            <a:ext cx="2606040" cy="365760"/>
          </a:xfrm>
          <a:prstGeom prst="rect">
            <a:avLst/>
          </a:prstGeom>
          <a:solidFill>
            <a:srgbClr val="1E7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0440" y="1828800"/>
            <a:ext cx="73152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L2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87952" y="1828800"/>
            <a:ext cx="182880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街道 / 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0712" y="2377440"/>
            <a:ext cx="2606040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000" b="1" i="0">
                <a:solidFill>
                  <a:srgbClr val="1E778E"/>
                </a:solidFill>
                <a:latin typeface="微软雅黑"/>
                <a:ea typeface="微软雅黑"/>
              </a:rPr>
              <a:t>200+ 街镇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10712" y="2926080"/>
            <a:ext cx="260604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1">
                <a:solidFill>
                  <a:srgbClr val="6E737C"/>
                </a:solidFill>
                <a:latin typeface="微软雅黑"/>
                <a:ea typeface="微软雅黑"/>
              </a:rPr>
              <a:t>二级精细化拆解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044184" y="2606040"/>
            <a:ext cx="201168" cy="274320"/>
          </a:xfrm>
          <a:prstGeom prst="rightArrow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72783" y="1828800"/>
            <a:ext cx="26060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89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72783" y="1828800"/>
            <a:ext cx="2606040" cy="36576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2511" y="1828800"/>
            <a:ext cx="73152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L3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50023" y="1828800"/>
            <a:ext cx="182880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楼宇 / 园区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2783" y="2377440"/>
            <a:ext cx="2606040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000" b="1" i="0">
                <a:solidFill>
                  <a:srgbClr val="C8913A"/>
                </a:solidFill>
                <a:latin typeface="微软雅黑"/>
                <a:ea typeface="微软雅黑"/>
              </a:rPr>
              <a:t>数千个载体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2783" y="2926080"/>
            <a:ext cx="260604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1">
                <a:solidFill>
                  <a:srgbClr val="6E737C"/>
                </a:solidFill>
                <a:latin typeface="微软雅黑"/>
                <a:ea typeface="微软雅黑"/>
              </a:rPr>
              <a:t>市场最小颗粒度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906255" y="2606040"/>
            <a:ext cx="201168" cy="274320"/>
          </a:xfrm>
          <a:prstGeom prst="rightArrow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34856" y="1828800"/>
            <a:ext cx="26060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6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34856" y="1828800"/>
            <a:ext cx="2606040" cy="365760"/>
          </a:xfrm>
          <a:prstGeom prst="rect">
            <a:avLst/>
          </a:prstGeom>
          <a:solidFill>
            <a:srgbClr val="E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44584" y="1828800"/>
            <a:ext cx="73152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L4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12096" y="1828800"/>
            <a:ext cx="182880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入驻企业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34856" y="2377440"/>
            <a:ext cx="2606040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000" b="1" i="0">
                <a:solidFill>
                  <a:srgbClr val="E06A2C"/>
                </a:solidFill>
                <a:latin typeface="微软雅黑"/>
                <a:ea typeface="微软雅黑"/>
              </a:rPr>
              <a:t>海量主体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34856" y="2926080"/>
            <a:ext cx="260604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1">
                <a:solidFill>
                  <a:srgbClr val="6E737C"/>
                </a:solidFill>
                <a:latin typeface="微软雅黑"/>
                <a:ea typeface="微软雅黑"/>
              </a:rPr>
              <a:t>需求侧观察对象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3931920"/>
            <a:ext cx="10972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每一层级可输出的研究维度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251960"/>
            <a:ext cx="365760" cy="36576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4480560"/>
            <a:ext cx="2286000" cy="384048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4480560"/>
            <a:ext cx="228600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行政区维度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4640" y="4480560"/>
            <a:ext cx="8869680" cy="384048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71800" y="4480560"/>
            <a:ext cx="859536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载体数量·总面积·租金水平·空置压力·主导产业·招商活跃度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4919472"/>
            <a:ext cx="2286000" cy="384048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4919472"/>
            <a:ext cx="228600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街镇维度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34640" y="4919472"/>
            <a:ext cx="8869680" cy="384048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71800" y="4919472"/>
            <a:ext cx="859536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载体清单·空置面积·平均租金·入驻企业数·产业集聚·供需匹配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358384"/>
            <a:ext cx="2286000" cy="384048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358384"/>
            <a:ext cx="228600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楼宇/园区维度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34640" y="5358384"/>
            <a:ext cx="8869680" cy="384048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971800" y="5358384"/>
            <a:ext cx="859536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竞争力评分·租金对标·客户画像·空置结构·招商建议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797296"/>
            <a:ext cx="2286000" cy="384048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5797296"/>
            <a:ext cx="228600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企业维度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34640" y="5797296"/>
            <a:ext cx="8869680" cy="384048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71800" y="5797296"/>
            <a:ext cx="859536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行业·规模·阶段·迁徙·扩缩租·政策适配·选址需求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292608" cy="68580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2A5BA8"/>
                </a:solidFill>
                <a:latin typeface="微软雅黑"/>
                <a:ea typeface="微软雅黑"/>
              </a:rPr>
              <a:t>PART 03 · 全域供给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 i="0">
                <a:solidFill>
                  <a:srgbClr val="102A5B"/>
                </a:solidFill>
                <a:latin typeface="微软雅黑"/>
                <a:ea typeface="微软雅黑"/>
              </a:rPr>
              <a:t>20 大重点商务与产业板块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07008"/>
            <a:ext cx="502920" cy="4572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170432"/>
            <a:ext cx="10515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1">
                <a:solidFill>
                  <a:srgbClr val="6E737C"/>
                </a:solidFill>
                <a:latin typeface="微软雅黑"/>
                <a:ea typeface="微软雅黑"/>
              </a:rPr>
              <a:t>Twenty priority districts — 板块作为专项深度分析样本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8DE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上海商办楼宇与产业园区市场深度报告  ·  讨论稿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6895" y="6473952"/>
            <a:ext cx="35661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易居研究院 × 复旦大学住房政策研究中心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88775" y="6473952"/>
            <a:ext cx="3657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102A5B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21945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102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783080"/>
            <a:ext cx="73152" cy="86868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23159" y="1892808"/>
            <a:ext cx="201168" cy="201168"/>
          </a:xfrm>
          <a:prstGeom prst="ellipse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3159" y="1892808"/>
            <a:ext cx="201168" cy="2011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1874520"/>
            <a:ext cx="16459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陆家嘴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240280"/>
            <a:ext cx="1828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金融总部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360" y="1783080"/>
            <a:ext cx="21945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102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80360" y="1783080"/>
            <a:ext cx="73152" cy="86868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54879" y="1892808"/>
            <a:ext cx="201168" cy="201168"/>
          </a:xfrm>
          <a:prstGeom prst="ellipse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79" y="1892808"/>
            <a:ext cx="201168" cy="2011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1874520"/>
            <a:ext cx="16459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前滩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2240280"/>
            <a:ext cx="1828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总部展示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12079" y="1783080"/>
            <a:ext cx="21945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2A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212079" y="1783080"/>
            <a:ext cx="73152" cy="868680"/>
          </a:xfrm>
          <a:prstGeom prst="rect">
            <a:avLst/>
          </a:prstGeom>
          <a:solidFill>
            <a:srgbClr val="2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086598" y="1892808"/>
            <a:ext cx="201168" cy="201168"/>
          </a:xfrm>
          <a:prstGeom prst="ellipse">
            <a:avLst/>
          </a:prstGeom>
          <a:solidFill>
            <a:srgbClr val="2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86598" y="1892808"/>
            <a:ext cx="201168" cy="2011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59" y="1874520"/>
            <a:ext cx="16459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张江科学城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59" y="2240280"/>
            <a:ext cx="1828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硬科技/生医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43800" y="1783080"/>
            <a:ext cx="21945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2A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43800" y="1783080"/>
            <a:ext cx="73152" cy="868680"/>
          </a:xfrm>
          <a:prstGeom prst="rect">
            <a:avLst/>
          </a:prstGeom>
          <a:solidFill>
            <a:srgbClr val="2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18319" y="1892808"/>
            <a:ext cx="201168" cy="201168"/>
          </a:xfrm>
          <a:prstGeom prst="ellipse">
            <a:avLst/>
          </a:prstGeom>
          <a:solidFill>
            <a:srgbClr val="2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19" y="1892808"/>
            <a:ext cx="201168" cy="2011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6680" y="1874520"/>
            <a:ext cx="16459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临港新片区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80" y="2240280"/>
            <a:ext cx="1828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硬科技/国际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75519" y="1783080"/>
            <a:ext cx="21945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1E77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75519" y="1783080"/>
            <a:ext cx="73152" cy="868680"/>
          </a:xfrm>
          <a:prstGeom prst="rect">
            <a:avLst/>
          </a:prstGeom>
          <a:solidFill>
            <a:srgbClr val="1E7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750038" y="1892808"/>
            <a:ext cx="201168" cy="201168"/>
          </a:xfrm>
          <a:prstGeom prst="ellipse">
            <a:avLst/>
          </a:prstGeom>
          <a:solidFill>
            <a:srgbClr val="1E7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750038" y="1892808"/>
            <a:ext cx="201168" cy="2011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399" y="1874520"/>
            <a:ext cx="16459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徐汇滨江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399" y="2240280"/>
            <a:ext cx="1828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AI / 传媒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2743200"/>
            <a:ext cx="21945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1E77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2743200"/>
            <a:ext cx="73152" cy="868680"/>
          </a:xfrm>
          <a:prstGeom prst="rect">
            <a:avLst/>
          </a:prstGeom>
          <a:solidFill>
            <a:srgbClr val="1E7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423159" y="2852928"/>
            <a:ext cx="201168" cy="201168"/>
          </a:xfrm>
          <a:prstGeom prst="ellipse">
            <a:avLst/>
          </a:prstGeom>
          <a:solidFill>
            <a:srgbClr val="1E7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23159" y="2852928"/>
            <a:ext cx="201168" cy="2011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2834640"/>
            <a:ext cx="16459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北外滩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3200400"/>
            <a:ext cx="1828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金融 / 航运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80360" y="2743200"/>
            <a:ext cx="21945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1E77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880360" y="2743200"/>
            <a:ext cx="73152" cy="868680"/>
          </a:xfrm>
          <a:prstGeom prst="rect">
            <a:avLst/>
          </a:prstGeom>
          <a:solidFill>
            <a:srgbClr val="1E7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754879" y="2852928"/>
            <a:ext cx="201168" cy="201168"/>
          </a:xfrm>
          <a:prstGeom prst="ellipse">
            <a:avLst/>
          </a:prstGeom>
          <a:solidFill>
            <a:srgbClr val="1E7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54879" y="2852928"/>
            <a:ext cx="201168" cy="2011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微软雅黑"/>
                <a:ea typeface="微软雅黑"/>
              </a:rPr>
              <a:t>07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63240" y="2834640"/>
            <a:ext cx="16459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大虹桥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63240" y="3200400"/>
            <a:ext cx="1828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国际商务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12079" y="2743200"/>
            <a:ext cx="21945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1E77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212079" y="2743200"/>
            <a:ext cx="73152" cy="868680"/>
          </a:xfrm>
          <a:prstGeom prst="rect">
            <a:avLst/>
          </a:prstGeom>
          <a:solidFill>
            <a:srgbClr val="1E7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086598" y="2852928"/>
            <a:ext cx="201168" cy="201168"/>
          </a:xfrm>
          <a:prstGeom prst="ellipse">
            <a:avLst/>
          </a:prstGeom>
          <a:solidFill>
            <a:srgbClr val="1E7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86598" y="2852928"/>
            <a:ext cx="201168" cy="2011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微软雅黑"/>
                <a:ea typeface="微软雅黑"/>
              </a:rPr>
              <a:t>08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94959" y="2834640"/>
            <a:ext cx="16459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杨浦滨江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94959" y="3200400"/>
            <a:ext cx="1828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在线新经济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543800" y="2743200"/>
            <a:ext cx="21945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89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43800" y="2743200"/>
            <a:ext cx="73152" cy="86868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418319" y="2852928"/>
            <a:ext cx="201168" cy="201168"/>
          </a:xfrm>
          <a:prstGeom prst="ellipse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418319" y="2852928"/>
            <a:ext cx="201168" cy="2011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微软雅黑"/>
                <a:ea typeface="微软雅黑"/>
              </a:rPr>
              <a:t>09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26680" y="2834640"/>
            <a:ext cx="16459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五角场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26680" y="3200400"/>
            <a:ext cx="1828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AI / 科创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875519" y="2743200"/>
            <a:ext cx="21945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89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875519" y="2743200"/>
            <a:ext cx="73152" cy="86868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1750038" y="2852928"/>
            <a:ext cx="201168" cy="201168"/>
          </a:xfrm>
          <a:prstGeom prst="ellipse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750038" y="2852928"/>
            <a:ext cx="201168" cy="2011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58399" y="2834640"/>
            <a:ext cx="16459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南京西路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058399" y="3200400"/>
            <a:ext cx="1828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高端商务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8640" y="3703320"/>
            <a:ext cx="21945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89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48640" y="3703320"/>
            <a:ext cx="73152" cy="86868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423159" y="3813048"/>
            <a:ext cx="201168" cy="201168"/>
          </a:xfrm>
          <a:prstGeom prst="ellipse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423159" y="3813048"/>
            <a:ext cx="201168" cy="2011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1520" y="3794760"/>
            <a:ext cx="16459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人民广场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1520" y="4160520"/>
            <a:ext cx="1828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传统商务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880360" y="3703320"/>
            <a:ext cx="21945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6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880360" y="3703320"/>
            <a:ext cx="73152" cy="868680"/>
          </a:xfrm>
          <a:prstGeom prst="rect">
            <a:avLst/>
          </a:prstGeom>
          <a:solidFill>
            <a:srgbClr val="E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4754879" y="3813048"/>
            <a:ext cx="201168" cy="201168"/>
          </a:xfrm>
          <a:prstGeom prst="ellipse">
            <a:avLst/>
          </a:prstGeom>
          <a:solidFill>
            <a:srgbClr val="E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754879" y="3813048"/>
            <a:ext cx="201168" cy="2011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063240" y="3794760"/>
            <a:ext cx="16459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漕河泾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63240" y="4160520"/>
            <a:ext cx="1828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信息技术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212079" y="3703320"/>
            <a:ext cx="21945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6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212079" y="3703320"/>
            <a:ext cx="73152" cy="868680"/>
          </a:xfrm>
          <a:prstGeom prst="rect">
            <a:avLst/>
          </a:prstGeom>
          <a:solidFill>
            <a:srgbClr val="E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7086598" y="3813048"/>
            <a:ext cx="201168" cy="201168"/>
          </a:xfrm>
          <a:prstGeom prst="ellipse">
            <a:avLst/>
          </a:prstGeom>
          <a:solidFill>
            <a:srgbClr val="E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086598" y="3813048"/>
            <a:ext cx="201168" cy="2011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微软雅黑"/>
                <a:ea typeface="微软雅黑"/>
              </a:rPr>
              <a:t>13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394959" y="3794760"/>
            <a:ext cx="16459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紫竹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394959" y="4160520"/>
            <a:ext cx="1828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生命健康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543800" y="3703320"/>
            <a:ext cx="21945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6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543800" y="3703320"/>
            <a:ext cx="73152" cy="868680"/>
          </a:xfrm>
          <a:prstGeom prst="rect">
            <a:avLst/>
          </a:prstGeom>
          <a:solidFill>
            <a:srgbClr val="E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418319" y="3813048"/>
            <a:ext cx="201168" cy="201168"/>
          </a:xfrm>
          <a:prstGeom prst="ellipse">
            <a:avLst/>
          </a:prstGeom>
          <a:solidFill>
            <a:srgbClr val="E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418319" y="3813048"/>
            <a:ext cx="201168" cy="2011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微软雅黑"/>
                <a:ea typeface="微软雅黑"/>
              </a:rPr>
              <a:t>14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726680" y="3794760"/>
            <a:ext cx="16459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金桥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726680" y="4160520"/>
            <a:ext cx="1828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智造 / 通信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875519" y="3703320"/>
            <a:ext cx="21945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6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875519" y="3703320"/>
            <a:ext cx="73152" cy="868680"/>
          </a:xfrm>
          <a:prstGeom prst="rect">
            <a:avLst/>
          </a:prstGeom>
          <a:solidFill>
            <a:srgbClr val="E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1750038" y="3813048"/>
            <a:ext cx="201168" cy="201168"/>
          </a:xfrm>
          <a:prstGeom prst="ellipse">
            <a:avLst/>
          </a:prstGeom>
          <a:solidFill>
            <a:srgbClr val="E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1750038" y="3813048"/>
            <a:ext cx="201168" cy="2011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微软雅黑"/>
                <a:ea typeface="微软雅黑"/>
              </a:rPr>
              <a:t>15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058399" y="3794760"/>
            <a:ext cx="16459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外高桥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058399" y="4160520"/>
            <a:ext cx="1828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贸易 / 总部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48640" y="4663440"/>
            <a:ext cx="21945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6B4E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48640" y="4663440"/>
            <a:ext cx="73152" cy="868680"/>
          </a:xfrm>
          <a:prstGeom prst="rect">
            <a:avLst/>
          </a:prstGeom>
          <a:solidFill>
            <a:srgbClr val="6B4E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2423159" y="4773168"/>
            <a:ext cx="201168" cy="201168"/>
          </a:xfrm>
          <a:prstGeom prst="ellipse">
            <a:avLst/>
          </a:prstGeom>
          <a:solidFill>
            <a:srgbClr val="6B4E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423159" y="4773168"/>
            <a:ext cx="201168" cy="2011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微软雅黑"/>
                <a:ea typeface="微软雅黑"/>
              </a:rPr>
              <a:t>16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31520" y="4754880"/>
            <a:ext cx="16459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嘉定汽车城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31520" y="5120640"/>
            <a:ext cx="1828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智能汽车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880360" y="4663440"/>
            <a:ext cx="21945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6B4E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2880360" y="4663440"/>
            <a:ext cx="73152" cy="868680"/>
          </a:xfrm>
          <a:prstGeom prst="rect">
            <a:avLst/>
          </a:prstGeom>
          <a:solidFill>
            <a:srgbClr val="6B4E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754879" y="4773168"/>
            <a:ext cx="201168" cy="201168"/>
          </a:xfrm>
          <a:prstGeom prst="ellipse">
            <a:avLst/>
          </a:prstGeom>
          <a:solidFill>
            <a:srgbClr val="6B4E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754879" y="4773168"/>
            <a:ext cx="201168" cy="2011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微软雅黑"/>
                <a:ea typeface="微软雅黑"/>
              </a:rPr>
              <a:t>17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063240" y="4754880"/>
            <a:ext cx="16459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G60科创走廊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063240" y="5120640"/>
            <a:ext cx="1828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高端制造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212079" y="4663440"/>
            <a:ext cx="21945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6B4E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212079" y="4663440"/>
            <a:ext cx="73152" cy="868680"/>
          </a:xfrm>
          <a:prstGeom prst="rect">
            <a:avLst/>
          </a:prstGeom>
          <a:solidFill>
            <a:srgbClr val="6B4E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7086598" y="4773168"/>
            <a:ext cx="201168" cy="201168"/>
          </a:xfrm>
          <a:prstGeom prst="ellipse">
            <a:avLst/>
          </a:prstGeom>
          <a:solidFill>
            <a:srgbClr val="6B4E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086598" y="4773168"/>
            <a:ext cx="201168" cy="2011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微软雅黑"/>
                <a:ea typeface="微软雅黑"/>
              </a:rPr>
              <a:t>18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394959" y="4754880"/>
            <a:ext cx="16459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青浦西虹桥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394959" y="5120640"/>
            <a:ext cx="1828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数贸 / 进博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543800" y="4663440"/>
            <a:ext cx="21945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6B4E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7543800" y="4663440"/>
            <a:ext cx="73152" cy="868680"/>
          </a:xfrm>
          <a:prstGeom prst="rect">
            <a:avLst/>
          </a:prstGeom>
          <a:solidFill>
            <a:srgbClr val="6B4E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9418319" y="4773168"/>
            <a:ext cx="201168" cy="201168"/>
          </a:xfrm>
          <a:prstGeom prst="ellipse">
            <a:avLst/>
          </a:prstGeom>
          <a:solidFill>
            <a:srgbClr val="6B4E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418319" y="4773168"/>
            <a:ext cx="201168" cy="2011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微软雅黑"/>
                <a:ea typeface="微软雅黑"/>
              </a:rPr>
              <a:t>19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726680" y="4754880"/>
            <a:ext cx="16459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宝山南大智慧城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726680" y="5120640"/>
            <a:ext cx="1828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新材料 / 数字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875519" y="4663440"/>
            <a:ext cx="21945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6B4E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9875519" y="4663440"/>
            <a:ext cx="73152" cy="868680"/>
          </a:xfrm>
          <a:prstGeom prst="rect">
            <a:avLst/>
          </a:prstGeom>
          <a:solidFill>
            <a:srgbClr val="6B4E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1750038" y="4773168"/>
            <a:ext cx="201168" cy="201168"/>
          </a:xfrm>
          <a:prstGeom prst="ellipse">
            <a:avLst/>
          </a:prstGeom>
          <a:solidFill>
            <a:srgbClr val="6B4E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1750038" y="4773168"/>
            <a:ext cx="201168" cy="2011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微软雅黑"/>
                <a:ea typeface="微软雅黑"/>
              </a:rPr>
              <a:t>20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058399" y="4754880"/>
            <a:ext cx="16459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奉贤东方美谷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058399" y="5120640"/>
            <a:ext cx="1828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美丽健康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48640" cy="54864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486400" cy="7315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 i="0">
                <a:solidFill>
                  <a:srgbClr val="E6B66E"/>
                </a:solidFill>
                <a:latin typeface="微软雅黑"/>
                <a:ea typeface="微软雅黑"/>
              </a:rPr>
              <a:t>PART 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68580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C9CED8"/>
                </a:solidFill>
                <a:latin typeface="微软雅黑"/>
                <a:ea typeface="微软雅黑"/>
              </a:rPr>
              <a:t>RENT  ·  VACANCY  · 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9601200" cy="1463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微软雅黑"/>
                <a:ea typeface="微软雅黑"/>
              </a:rPr>
              <a:t>租金、空置与价格体系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5029200"/>
            <a:ext cx="109728" cy="109728"/>
          </a:xfrm>
          <a:prstGeom prst="ellipse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937760"/>
            <a:ext cx="105156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</a:rPr>
              <a:t>分层租金体系  ·  报价 / 中介 / 成交 三类标注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5394960"/>
            <a:ext cx="109728" cy="109728"/>
          </a:xfrm>
          <a:prstGeom prst="ellipse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303520"/>
            <a:ext cx="105156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</a:rPr>
              <a:t>空置结构 8 维度  ·  招商可租面积为主口径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5760720"/>
            <a:ext cx="109728" cy="109728"/>
          </a:xfrm>
          <a:prstGeom prst="ellipse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669280"/>
            <a:ext cx="105156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</a:rPr>
              <a:t>企业综合承租成本模型  ·  租金 + 五项 − 补贴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095" y="2743200"/>
            <a:ext cx="3474720" cy="4114800"/>
          </a:xfrm>
          <a:prstGeom prst="rect">
            <a:avLst/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4000" b="1" i="0">
                <a:solidFill>
                  <a:srgbClr val="1C3670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C9CED8"/>
                </a:solidFill>
                <a:latin typeface="微软雅黑"/>
                <a:ea typeface="微软雅黑"/>
              </a:rPr>
              <a:t>上海商办楼宇与产业园区市场深度报告  ·  讨论稿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292608" cy="68580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2A5BA8"/>
                </a:solidFill>
                <a:latin typeface="微软雅黑"/>
                <a:ea typeface="微软雅黑"/>
              </a:rPr>
              <a:t>PART 04 · 租金空置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 i="0">
                <a:solidFill>
                  <a:srgbClr val="102A5B"/>
                </a:solidFill>
                <a:latin typeface="微软雅黑"/>
                <a:ea typeface="微软雅黑"/>
              </a:rPr>
              <a:t>租金 · 空置 · 综合承租成本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07008"/>
            <a:ext cx="502920" cy="4572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170432"/>
            <a:ext cx="10515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1">
                <a:solidFill>
                  <a:srgbClr val="6E737C"/>
                </a:solidFill>
                <a:latin typeface="微软雅黑"/>
                <a:ea typeface="微软雅黑"/>
              </a:rPr>
              <a:t>Three-layer rent quotes × Eight-dimension vacancy × Comprehensive cost model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8DE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上海商办楼宇与产业园区市场深度报告  ·  讨论稿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6895" y="6473952"/>
            <a:ext cx="35661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易居研究院 × 复旦大学住房政策研究中心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88775" y="6473952"/>
            <a:ext cx="3657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102A5B"/>
                </a:solidFill>
                <a:latin typeface="微软雅黑"/>
                <a:ea typeface="微软雅黑"/>
              </a:rPr>
              <a:t>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691640"/>
            <a:ext cx="36576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691640"/>
            <a:ext cx="3657600" cy="329184"/>
          </a:xfrm>
          <a:prstGeom prst="rect">
            <a:avLst/>
          </a:prstGeom>
          <a:solidFill>
            <a:srgbClr val="2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691640"/>
            <a:ext cx="365760" cy="32918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E6B66E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1691640"/>
            <a:ext cx="3154680" cy="32918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分层租金体系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103120"/>
            <a:ext cx="3383280" cy="17373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 i="0">
                <a:solidFill>
                  <a:srgbClr val="2A5BA8"/>
                </a:solidFill>
                <a:latin typeface="微软雅黑"/>
                <a:ea typeface="微软雅黑"/>
              </a:rPr>
              <a:t>•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全市平均报价 / 成交租金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 i="0">
                <a:solidFill>
                  <a:srgbClr val="2A5BA8"/>
                </a:solidFill>
                <a:latin typeface="微软雅黑"/>
                <a:ea typeface="微软雅黑"/>
              </a:rPr>
              <a:t>•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核心 / 次核心 / 产业园 / 乙级以下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 i="0">
                <a:solidFill>
                  <a:srgbClr val="2A5BA8"/>
                </a:solidFill>
                <a:latin typeface="微软雅黑"/>
                <a:ea typeface="微软雅黑"/>
              </a:rPr>
              <a:t>•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16 区租金 + 物业等级租金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 i="0">
                <a:solidFill>
                  <a:srgbClr val="2A5BA8"/>
                </a:solidFill>
                <a:latin typeface="微软雅黑"/>
                <a:ea typeface="微软雅黑"/>
              </a:rPr>
              <a:t>•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报价 / 中介 / 真实成交（三类标注）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1691640"/>
            <a:ext cx="36576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691640"/>
            <a:ext cx="3657600" cy="329184"/>
          </a:xfrm>
          <a:prstGeom prst="rect">
            <a:avLst/>
          </a:prstGeom>
          <a:solidFill>
            <a:srgbClr val="E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1691640"/>
            <a:ext cx="365760" cy="32918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E6B66E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1691640"/>
            <a:ext cx="3154680" cy="32918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空置结构分析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7992" y="2103120"/>
            <a:ext cx="3383280" cy="17373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 i="0">
                <a:solidFill>
                  <a:srgbClr val="E06A2C"/>
                </a:solidFill>
                <a:latin typeface="微软雅黑"/>
                <a:ea typeface="微软雅黑"/>
              </a:rPr>
              <a:t>•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总体空置率 + 各区/街镇 + 各物业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 i="0">
                <a:solidFill>
                  <a:srgbClr val="E06A2C"/>
                </a:solidFill>
                <a:latin typeface="微软雅黑"/>
                <a:ea typeface="微软雅黑"/>
              </a:rPr>
              <a:t>•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小 / 中 / 大 · 整层 / 多层 / 整栋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 i="0">
                <a:solidFill>
                  <a:srgbClr val="E06A2C"/>
                </a:solidFill>
                <a:latin typeface="微软雅黑"/>
                <a:ea typeface="微软雅黑"/>
              </a:rPr>
              <a:t>•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长期空置 vs 新增空置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 i="0">
                <a:solidFill>
                  <a:srgbClr val="E06A2C"/>
                </a:solidFill>
                <a:latin typeface="微软雅黑"/>
                <a:ea typeface="微软雅黑"/>
              </a:rPr>
              <a:t>•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招商可租面积 = 报告主口径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1691640"/>
            <a:ext cx="35661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1691640"/>
            <a:ext cx="3566160" cy="329184"/>
          </a:xfrm>
          <a:prstGeom prst="rect">
            <a:avLst/>
          </a:prstGeom>
          <a:solidFill>
            <a:srgbClr val="2F7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691640"/>
            <a:ext cx="365760" cy="32918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E6B66E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1691640"/>
            <a:ext cx="3063240" cy="32918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综合承租成本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2103120"/>
            <a:ext cx="3291840" cy="17373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 i="0">
                <a:solidFill>
                  <a:srgbClr val="2F7D5C"/>
                </a:solidFill>
                <a:latin typeface="微软雅黑"/>
                <a:ea typeface="微软雅黑"/>
              </a:rPr>
              <a:t>•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= 租金 + 物业 + 停车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 i="0">
                <a:solidFill>
                  <a:srgbClr val="2F7D5C"/>
                </a:solidFill>
                <a:latin typeface="微软雅黑"/>
                <a:ea typeface="微软雅黑"/>
              </a:rPr>
              <a:t>•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  + 装修摊销 + 搬迁 + 通勤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 i="0">
                <a:solidFill>
                  <a:srgbClr val="2F7D5C"/>
                </a:solidFill>
                <a:latin typeface="微软雅黑"/>
                <a:ea typeface="微软雅黑"/>
              </a:rPr>
              <a:t>•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  − 政策补贴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 i="0">
                <a:solidFill>
                  <a:srgbClr val="2F7D5C"/>
                </a:solidFill>
                <a:latin typeface="微软雅黑"/>
                <a:ea typeface="微软雅黑"/>
              </a:rPr>
              <a:t>•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写字楼 vs 产业园对比 + 降本路径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023360"/>
            <a:ext cx="10972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空置面积结构  ×  招商资管含义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343400"/>
            <a:ext cx="365760" cy="36576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572000"/>
            <a:ext cx="27432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572000"/>
            <a:ext cx="54864" cy="731520"/>
          </a:xfrm>
          <a:prstGeom prst="rect">
            <a:avLst/>
          </a:prstGeom>
          <a:solidFill>
            <a:srgbClr val="2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636008"/>
            <a:ext cx="25603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102A5B"/>
                </a:solidFill>
                <a:latin typeface="微软雅黑"/>
                <a:ea typeface="微软雅黑"/>
              </a:rPr>
              <a:t>小面积 ≤300㎡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956048"/>
            <a:ext cx="25603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初创 / 小微团队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10712" y="4572000"/>
            <a:ext cx="27432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10712" y="4572000"/>
            <a:ext cx="54864" cy="731520"/>
          </a:xfrm>
          <a:prstGeom prst="rect">
            <a:avLst/>
          </a:prstGeom>
          <a:solidFill>
            <a:srgbClr val="2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47872" y="4636008"/>
            <a:ext cx="25603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102A5B"/>
                </a:solidFill>
                <a:latin typeface="微软雅黑"/>
                <a:ea typeface="微软雅黑"/>
              </a:rPr>
              <a:t>中面积 300-1000㎡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47872" y="4956048"/>
            <a:ext cx="25603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成长 / 中型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72783" y="4572000"/>
            <a:ext cx="27432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72783" y="4572000"/>
            <a:ext cx="54864" cy="731520"/>
          </a:xfrm>
          <a:prstGeom prst="rect">
            <a:avLst/>
          </a:prstGeom>
          <a:solidFill>
            <a:srgbClr val="1E7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9943" y="4636008"/>
            <a:ext cx="25603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102A5B"/>
                </a:solidFill>
                <a:latin typeface="微软雅黑"/>
                <a:ea typeface="微软雅黑"/>
              </a:rPr>
              <a:t>大面积 1000-3000㎡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9943" y="4956048"/>
            <a:ext cx="25603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总部 / 研发中心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34856" y="4572000"/>
            <a:ext cx="27432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34856" y="4572000"/>
            <a:ext cx="54864" cy="731520"/>
          </a:xfrm>
          <a:prstGeom prst="rect">
            <a:avLst/>
          </a:prstGeom>
          <a:solidFill>
            <a:srgbClr val="1E7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72016" y="4636008"/>
            <a:ext cx="25603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102A5B"/>
                </a:solidFill>
                <a:latin typeface="微软雅黑"/>
                <a:ea typeface="微软雅黑"/>
              </a:rPr>
              <a:t>整层空置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72016" y="4956048"/>
            <a:ext cx="25603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整层招商溢价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413248"/>
            <a:ext cx="27432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" y="5413248"/>
            <a:ext cx="54864" cy="731520"/>
          </a:xfrm>
          <a:prstGeom prst="rect">
            <a:avLst/>
          </a:prstGeom>
          <a:solidFill>
            <a:srgbClr val="E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5477256"/>
            <a:ext cx="25603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102A5B"/>
                </a:solidFill>
                <a:latin typeface="微软雅黑"/>
                <a:ea typeface="微软雅黑"/>
              </a:rPr>
              <a:t>多层连续 ≥2层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5797296"/>
            <a:ext cx="25603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总部 / 产业基地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10712" y="5413248"/>
            <a:ext cx="27432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410712" y="5413248"/>
            <a:ext cx="54864" cy="731520"/>
          </a:xfrm>
          <a:prstGeom prst="rect">
            <a:avLst/>
          </a:prstGeom>
          <a:solidFill>
            <a:srgbClr val="E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47872" y="5477256"/>
            <a:ext cx="25603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102A5B"/>
                </a:solidFill>
                <a:latin typeface="微软雅黑"/>
                <a:ea typeface="微软雅黑"/>
              </a:rPr>
              <a:t>整栋待招商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47872" y="5797296"/>
            <a:ext cx="25603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产业主题改造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72783" y="5413248"/>
            <a:ext cx="27432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72783" y="5413248"/>
            <a:ext cx="54864" cy="731520"/>
          </a:xfrm>
          <a:prstGeom prst="rect">
            <a:avLst/>
          </a:prstGeom>
          <a:solidFill>
            <a:srgbClr val="B8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9943" y="5477256"/>
            <a:ext cx="25603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102A5B"/>
                </a:solidFill>
                <a:latin typeface="微软雅黑"/>
                <a:ea typeface="微软雅黑"/>
              </a:rPr>
              <a:t>长期空置 ≥12月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9943" y="5797296"/>
            <a:ext cx="25603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需重新定位 / 改造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34856" y="5413248"/>
            <a:ext cx="27432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134856" y="5413248"/>
            <a:ext cx="54864" cy="73152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272016" y="5477256"/>
            <a:ext cx="25603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102A5B"/>
                </a:solidFill>
                <a:latin typeface="微软雅黑"/>
                <a:ea typeface="微软雅黑"/>
              </a:rPr>
              <a:t>新增空置 3月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72016" y="5797296"/>
            <a:ext cx="25603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短期波动信号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292608" cy="68580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2A5BA8"/>
                </a:solidFill>
                <a:latin typeface="微软雅黑"/>
                <a:ea typeface="微软雅黑"/>
              </a:rPr>
              <a:t>PART 04 · 租金空置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 i="0">
                <a:solidFill>
                  <a:srgbClr val="102A5B"/>
                </a:solidFill>
                <a:latin typeface="微软雅黑"/>
                <a:ea typeface="微软雅黑"/>
              </a:rPr>
              <a:t>企业综合承租成本模型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07008"/>
            <a:ext cx="502920" cy="4572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170432"/>
            <a:ext cx="10515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1">
                <a:solidFill>
                  <a:srgbClr val="6E737C"/>
                </a:solidFill>
                <a:latin typeface="微软雅黑"/>
                <a:ea typeface="微软雅黑"/>
              </a:rPr>
              <a:t>Comprehensive Tenancy Cost Model — 不是租金最低，而是综合成本最优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8DE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上海商办楼宇与产业园区市场深度报告  ·  讨论稿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6895" y="6473952"/>
            <a:ext cx="35661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易居研究院 × 复旦大学住房政策研究中心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88775" y="6473952"/>
            <a:ext cx="3657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102A5B"/>
                </a:solidFill>
                <a:latin typeface="微软雅黑"/>
                <a:ea typeface="微软雅黑"/>
              </a:rPr>
              <a:t>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828800"/>
            <a:ext cx="13258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2A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828800"/>
            <a:ext cx="1325880" cy="274320"/>
          </a:xfrm>
          <a:prstGeom prst="rect">
            <a:avLst/>
          </a:prstGeom>
          <a:solidFill>
            <a:srgbClr val="2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828800"/>
            <a:ext cx="1325880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租金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103120"/>
            <a:ext cx="132588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20" y="1828800"/>
            <a:ext cx="164592" cy="7315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000" b="1" i="0">
                <a:solidFill>
                  <a:srgbClr val="C8913A"/>
                </a:solidFill>
                <a:latin typeface="微软雅黑"/>
                <a:ea typeface="微软雅黑"/>
              </a:rPr>
              <a:t>+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39112" y="1828800"/>
            <a:ext cx="13258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2A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39112" y="1828800"/>
            <a:ext cx="1325880" cy="274320"/>
          </a:xfrm>
          <a:prstGeom prst="rect">
            <a:avLst/>
          </a:prstGeom>
          <a:solidFill>
            <a:srgbClr val="2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39112" y="1828800"/>
            <a:ext cx="1325880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物业费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39112" y="2103120"/>
            <a:ext cx="132588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64992" y="1828800"/>
            <a:ext cx="164592" cy="7315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000" b="1" i="0">
                <a:solidFill>
                  <a:srgbClr val="C8913A"/>
                </a:solidFill>
                <a:latin typeface="微软雅黑"/>
                <a:ea typeface="微软雅黑"/>
              </a:rPr>
              <a:t>+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29584" y="1828800"/>
            <a:ext cx="13258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1E77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29584" y="1828800"/>
            <a:ext cx="1325880" cy="274320"/>
          </a:xfrm>
          <a:prstGeom prst="rect">
            <a:avLst/>
          </a:prstGeom>
          <a:solidFill>
            <a:srgbClr val="1E7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9584" y="1828800"/>
            <a:ext cx="1325880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停车费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9584" y="2103120"/>
            <a:ext cx="132588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55464" y="1828800"/>
            <a:ext cx="164592" cy="7315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000" b="1" i="0">
                <a:solidFill>
                  <a:srgbClr val="C8913A"/>
                </a:solidFill>
                <a:latin typeface="微软雅黑"/>
                <a:ea typeface="微软雅黑"/>
              </a:rPr>
              <a:t>+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0056" y="1828800"/>
            <a:ext cx="13258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1E77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0056" y="1828800"/>
            <a:ext cx="1325880" cy="274320"/>
          </a:xfrm>
          <a:prstGeom prst="rect">
            <a:avLst/>
          </a:prstGeom>
          <a:solidFill>
            <a:srgbClr val="1E7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0056" y="1828800"/>
            <a:ext cx="1325880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装修摊销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0056" y="2103120"/>
            <a:ext cx="132588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45936" y="1828800"/>
            <a:ext cx="164592" cy="7315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000" b="1" i="0">
                <a:solidFill>
                  <a:srgbClr val="C8913A"/>
                </a:solidFill>
                <a:latin typeface="微软雅黑"/>
                <a:ea typeface="微软雅黑"/>
              </a:rPr>
              <a:t>+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10528" y="1828800"/>
            <a:ext cx="13258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6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10528" y="1828800"/>
            <a:ext cx="1325880" cy="274320"/>
          </a:xfrm>
          <a:prstGeom prst="rect">
            <a:avLst/>
          </a:prstGeom>
          <a:solidFill>
            <a:srgbClr val="E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0528" y="1828800"/>
            <a:ext cx="1325880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搬迁成本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0528" y="2103120"/>
            <a:ext cx="132588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36408" y="1828800"/>
            <a:ext cx="164592" cy="7315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000" b="1" i="0">
                <a:solidFill>
                  <a:srgbClr val="C8913A"/>
                </a:solidFill>
                <a:latin typeface="微软雅黑"/>
                <a:ea typeface="微软雅黑"/>
              </a:rPr>
              <a:t>+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01000" y="1828800"/>
            <a:ext cx="13258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6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01000" y="1828800"/>
            <a:ext cx="1325880" cy="274320"/>
          </a:xfrm>
          <a:prstGeom prst="rect">
            <a:avLst/>
          </a:prstGeom>
          <a:solidFill>
            <a:srgbClr val="E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01000" y="1828800"/>
            <a:ext cx="1325880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通勤成本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2103120"/>
            <a:ext cx="132588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1828800"/>
            <a:ext cx="164592" cy="7315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000" b="1" i="0">
                <a:solidFill>
                  <a:srgbClr val="C8913A"/>
                </a:solidFill>
                <a:latin typeface="微软雅黑"/>
                <a:ea typeface="微软雅黑"/>
              </a:rPr>
              <a:t>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91472" y="1828800"/>
            <a:ext cx="13258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89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491472" y="1828800"/>
            <a:ext cx="1325880" cy="27432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91472" y="1828800"/>
            <a:ext cx="1325880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政策补贴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91472" y="2103120"/>
            <a:ext cx="132588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17352" y="1828800"/>
            <a:ext cx="164592" cy="7315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000" b="1" i="0">
                <a:solidFill>
                  <a:srgbClr val="C8913A"/>
                </a:solidFill>
                <a:latin typeface="微软雅黑"/>
                <a:ea typeface="微软雅黑"/>
              </a:rPr>
              <a:t>=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981944" y="1828800"/>
            <a:ext cx="13258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102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981944" y="1828800"/>
            <a:ext cx="1325880" cy="27432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981944" y="1828800"/>
            <a:ext cx="1325880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综合承租成本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81944" y="2103120"/>
            <a:ext cx="132588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可输出的对比与诊断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3246120"/>
            <a:ext cx="365760" cy="36576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8640" y="3520440"/>
            <a:ext cx="2743200" cy="384048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3520440"/>
            <a:ext cx="274320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名义 vs 实际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91840" y="3520440"/>
            <a:ext cx="8412480" cy="384048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29000" y="3520440"/>
            <a:ext cx="813816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挂牌租金 vs 实际承租成本差异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3977639"/>
            <a:ext cx="2743200" cy="384048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3977639"/>
            <a:ext cx="274320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区域对比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91840" y="3977639"/>
            <a:ext cx="8412480" cy="384048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429000" y="3977639"/>
            <a:ext cx="813816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不同区域企业综合成本横向比较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4434840"/>
            <a:ext cx="2743200" cy="384048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" y="4434840"/>
            <a:ext cx="274320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写字楼 vs 产业园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91840" y="4434840"/>
            <a:ext cx="8412480" cy="384048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429000" y="4434840"/>
            <a:ext cx="813816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两类载体的成本优势分析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4892040"/>
            <a:ext cx="2743200" cy="384048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8640" y="4892040"/>
            <a:ext cx="274320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政策补贴影响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91840" y="4892040"/>
            <a:ext cx="8412480" cy="384048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429000" y="4892040"/>
            <a:ext cx="813816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补贴对选址决策的真实贡献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8640" y="5349240"/>
            <a:ext cx="2743200" cy="384048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8640" y="5349240"/>
            <a:ext cx="274320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降本迁移路径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91840" y="5349240"/>
            <a:ext cx="8412480" cy="384048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429000" y="5349240"/>
            <a:ext cx="813816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企业降本的最优迁移组合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48640" cy="54864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486400" cy="7315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 i="0">
                <a:solidFill>
                  <a:srgbClr val="E6B66E"/>
                </a:solidFill>
                <a:latin typeface="微软雅黑"/>
                <a:ea typeface="微软雅黑"/>
              </a:rPr>
              <a:t>PART 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68580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C9CED8"/>
                </a:solidFill>
                <a:latin typeface="微软雅黑"/>
                <a:ea typeface="微软雅黑"/>
              </a:rPr>
              <a:t>DEMAND  &amp;  ENTERPRISE  PROFILES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9601200" cy="1463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微软雅黑"/>
                <a:ea typeface="微软雅黑"/>
              </a:rPr>
              <a:t>入驻企业画像与产业需求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5029200"/>
            <a:ext cx="109728" cy="109728"/>
          </a:xfrm>
          <a:prstGeom prst="ellipse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937760"/>
            <a:ext cx="105156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</a:rPr>
              <a:t>17 大重点行业  ·  10 类企业规模  ·  9 类重点清单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5394960"/>
            <a:ext cx="109728" cy="109728"/>
          </a:xfrm>
          <a:prstGeom prst="ellipse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303520"/>
            <a:ext cx="105156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</a:rPr>
              <a:t>面积 / 租金 / 选址 / 政策 / 配套 五维需求矩阵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5760720"/>
            <a:ext cx="109728" cy="109728"/>
          </a:xfrm>
          <a:prstGeom prst="ellipse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669280"/>
            <a:ext cx="105156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</a:rPr>
              <a:t>需求端不再是黑箱，可标签、可清单、可对接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095" y="2743200"/>
            <a:ext cx="3474720" cy="4114800"/>
          </a:xfrm>
          <a:prstGeom prst="rect">
            <a:avLst/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4000" b="1" i="0">
                <a:solidFill>
                  <a:srgbClr val="1C3670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C9CED8"/>
                </a:solidFill>
                <a:latin typeface="微软雅黑"/>
                <a:ea typeface="微软雅黑"/>
              </a:rPr>
              <a:t>上海商办楼宇与产业园区市场深度报告  ·  讨论稿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292608" cy="68580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2A5BA8"/>
                </a:solidFill>
                <a:latin typeface="微软雅黑"/>
                <a:ea typeface="微软雅黑"/>
              </a:rPr>
              <a:t>PART 05 · 企业画像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 i="0">
                <a:solidFill>
                  <a:srgbClr val="102A5B"/>
                </a:solidFill>
                <a:latin typeface="微软雅黑"/>
                <a:ea typeface="微软雅黑"/>
              </a:rPr>
              <a:t>17 大重点行业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07008"/>
            <a:ext cx="502920" cy="4572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170432"/>
            <a:ext cx="10515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1">
                <a:solidFill>
                  <a:srgbClr val="6E737C"/>
                </a:solidFill>
                <a:latin typeface="微软雅黑"/>
                <a:ea typeface="微软雅黑"/>
              </a:rPr>
              <a:t>Seventeen priority industries — 嵌入上海三大先导与新质生产力方向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8DE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上海商办楼宇与产业园区市场深度报告  ·  讨论稿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6895" y="6473952"/>
            <a:ext cx="35661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易居研究院 × 复旦大学住房政策研究中心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88775" y="6473952"/>
            <a:ext cx="3657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102A5B"/>
                </a:solidFill>
                <a:latin typeface="微软雅黑"/>
                <a:ea typeface="微软雅黑"/>
              </a:rPr>
              <a:t>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2A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783080"/>
            <a:ext cx="73152" cy="640080"/>
          </a:xfrm>
          <a:prstGeom prst="rect">
            <a:avLst/>
          </a:prstGeom>
          <a:solidFill>
            <a:srgbClr val="2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783080"/>
            <a:ext cx="164592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102A5B"/>
                </a:solidFill>
                <a:latin typeface="微软雅黑"/>
                <a:ea typeface="微软雅黑"/>
              </a:rPr>
              <a:t>人工智能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148840"/>
            <a:ext cx="164592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1">
                <a:solidFill>
                  <a:srgbClr val="6E737C"/>
                </a:solidFill>
                <a:latin typeface="微软雅黑"/>
                <a:ea typeface="微软雅黑"/>
              </a:rPr>
              <a:t>#01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96312" y="178308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2A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96312" y="1783080"/>
            <a:ext cx="73152" cy="640080"/>
          </a:xfrm>
          <a:prstGeom prst="rect">
            <a:avLst/>
          </a:prstGeom>
          <a:solidFill>
            <a:srgbClr val="2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33472" y="1783080"/>
            <a:ext cx="164592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102A5B"/>
                </a:solidFill>
                <a:latin typeface="微软雅黑"/>
                <a:ea typeface="微软雅黑"/>
              </a:rPr>
              <a:t>集成电路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3472" y="2148840"/>
            <a:ext cx="164592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1">
                <a:solidFill>
                  <a:srgbClr val="6E737C"/>
                </a:solidFill>
                <a:latin typeface="微软雅黑"/>
                <a:ea typeface="微软雅黑"/>
              </a:rPr>
              <a:t>#02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43983" y="178308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2A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43983" y="1783080"/>
            <a:ext cx="73152" cy="640080"/>
          </a:xfrm>
          <a:prstGeom prst="rect">
            <a:avLst/>
          </a:prstGeom>
          <a:solidFill>
            <a:srgbClr val="2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81143" y="1783080"/>
            <a:ext cx="164592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102A5B"/>
                </a:solidFill>
                <a:latin typeface="微软雅黑"/>
                <a:ea typeface="微软雅黑"/>
              </a:rPr>
              <a:t>生物医药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3" y="2148840"/>
            <a:ext cx="164592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1">
                <a:solidFill>
                  <a:srgbClr val="6E737C"/>
                </a:solidFill>
                <a:latin typeface="微软雅黑"/>
                <a:ea typeface="微软雅黑"/>
              </a:rPr>
              <a:t>#03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91655" y="178308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1E77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91655" y="1783080"/>
            <a:ext cx="73152" cy="640080"/>
          </a:xfrm>
          <a:prstGeom prst="rect">
            <a:avLst/>
          </a:prstGeom>
          <a:solidFill>
            <a:srgbClr val="1E7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28815" y="1783080"/>
            <a:ext cx="164592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102A5B"/>
                </a:solidFill>
                <a:latin typeface="微软雅黑"/>
                <a:ea typeface="微软雅黑"/>
              </a:rPr>
              <a:t>智能驾驶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5" y="2148840"/>
            <a:ext cx="164592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1">
                <a:solidFill>
                  <a:srgbClr val="6E737C"/>
                </a:solidFill>
                <a:latin typeface="微软雅黑"/>
                <a:ea typeface="微软雅黑"/>
              </a:rPr>
              <a:t>#04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39327" y="178308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1E77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39327" y="1783080"/>
            <a:ext cx="73152" cy="640080"/>
          </a:xfrm>
          <a:prstGeom prst="rect">
            <a:avLst/>
          </a:prstGeom>
          <a:solidFill>
            <a:srgbClr val="1E7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76487" y="1783080"/>
            <a:ext cx="164592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102A5B"/>
                </a:solidFill>
                <a:latin typeface="微软雅黑"/>
                <a:ea typeface="微软雅黑"/>
              </a:rPr>
              <a:t>新能源汽车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76487" y="2148840"/>
            <a:ext cx="164592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1">
                <a:solidFill>
                  <a:srgbClr val="6E737C"/>
                </a:solidFill>
                <a:latin typeface="微软雅黑"/>
                <a:ea typeface="微软雅黑"/>
              </a:rPr>
              <a:t>#05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286999" y="178308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1E77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286999" y="1783080"/>
            <a:ext cx="73152" cy="640080"/>
          </a:xfrm>
          <a:prstGeom prst="rect">
            <a:avLst/>
          </a:prstGeom>
          <a:solidFill>
            <a:srgbClr val="1E7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24159" y="1783080"/>
            <a:ext cx="164592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102A5B"/>
                </a:solidFill>
                <a:latin typeface="微软雅黑"/>
                <a:ea typeface="微软雅黑"/>
              </a:rPr>
              <a:t>机器人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59" y="2148840"/>
            <a:ext cx="164592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1">
                <a:solidFill>
                  <a:srgbClr val="6E737C"/>
                </a:solidFill>
                <a:latin typeface="微软雅黑"/>
                <a:ea typeface="微软雅黑"/>
              </a:rPr>
              <a:t>#06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256032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2F7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2560320"/>
            <a:ext cx="73152" cy="640080"/>
          </a:xfrm>
          <a:prstGeom prst="rect">
            <a:avLst/>
          </a:prstGeom>
          <a:solidFill>
            <a:srgbClr val="2F7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2560320"/>
            <a:ext cx="164592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102A5B"/>
                </a:solidFill>
                <a:latin typeface="微软雅黑"/>
                <a:ea typeface="微软雅黑"/>
              </a:rPr>
              <a:t>低空经济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2926080"/>
            <a:ext cx="164592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1">
                <a:solidFill>
                  <a:srgbClr val="6E737C"/>
                </a:solidFill>
                <a:latin typeface="微软雅黑"/>
                <a:ea typeface="微软雅黑"/>
              </a:rPr>
              <a:t>#07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96312" y="256032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2F7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96312" y="2560320"/>
            <a:ext cx="73152" cy="640080"/>
          </a:xfrm>
          <a:prstGeom prst="rect">
            <a:avLst/>
          </a:prstGeom>
          <a:solidFill>
            <a:srgbClr val="2F7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33472" y="2560320"/>
            <a:ext cx="164592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102A5B"/>
                </a:solidFill>
                <a:latin typeface="微软雅黑"/>
                <a:ea typeface="微软雅黑"/>
              </a:rPr>
              <a:t>软件信息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33472" y="2926080"/>
            <a:ext cx="164592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1">
                <a:solidFill>
                  <a:srgbClr val="6E737C"/>
                </a:solidFill>
                <a:latin typeface="微软雅黑"/>
                <a:ea typeface="微软雅黑"/>
              </a:rPr>
              <a:t>#08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43983" y="256032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102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43983" y="2560320"/>
            <a:ext cx="73152" cy="64008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81143" y="2560320"/>
            <a:ext cx="164592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102A5B"/>
                </a:solidFill>
                <a:latin typeface="微软雅黑"/>
                <a:ea typeface="微软雅黑"/>
              </a:rPr>
              <a:t>金融服务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81143" y="2926080"/>
            <a:ext cx="164592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1">
                <a:solidFill>
                  <a:srgbClr val="6E737C"/>
                </a:solidFill>
                <a:latin typeface="微软雅黑"/>
                <a:ea typeface="微软雅黑"/>
              </a:rPr>
              <a:t>#09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91655" y="256032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102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91655" y="2560320"/>
            <a:ext cx="73152" cy="64008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28815" y="2560320"/>
            <a:ext cx="164592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102A5B"/>
                </a:solidFill>
                <a:latin typeface="微软雅黑"/>
                <a:ea typeface="微软雅黑"/>
              </a:rPr>
              <a:t>专业服务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28815" y="2926080"/>
            <a:ext cx="164592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1">
                <a:solidFill>
                  <a:srgbClr val="6E737C"/>
                </a:solidFill>
                <a:latin typeface="微软雅黑"/>
                <a:ea typeface="微软雅黑"/>
              </a:rPr>
              <a:t>#10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39327" y="256032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6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339327" y="2560320"/>
            <a:ext cx="73152" cy="640080"/>
          </a:xfrm>
          <a:prstGeom prst="rect">
            <a:avLst/>
          </a:prstGeom>
          <a:solidFill>
            <a:srgbClr val="E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76487" y="2560320"/>
            <a:ext cx="164592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102A5B"/>
                </a:solidFill>
                <a:latin typeface="微软雅黑"/>
                <a:ea typeface="微软雅黑"/>
              </a:rPr>
              <a:t>文化传媒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76487" y="2926080"/>
            <a:ext cx="164592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1">
                <a:solidFill>
                  <a:srgbClr val="6E737C"/>
                </a:solidFill>
                <a:latin typeface="微软雅黑"/>
                <a:ea typeface="微软雅黑"/>
              </a:rPr>
              <a:t>#11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286999" y="256032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6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286999" y="2560320"/>
            <a:ext cx="73152" cy="640080"/>
          </a:xfrm>
          <a:prstGeom prst="rect">
            <a:avLst/>
          </a:prstGeom>
          <a:solidFill>
            <a:srgbClr val="E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424159" y="2560320"/>
            <a:ext cx="164592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102A5B"/>
                </a:solidFill>
                <a:latin typeface="微软雅黑"/>
                <a:ea typeface="微软雅黑"/>
              </a:rPr>
              <a:t>数字贸易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24159" y="2926080"/>
            <a:ext cx="164592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1">
                <a:solidFill>
                  <a:srgbClr val="6E737C"/>
                </a:solidFill>
                <a:latin typeface="微软雅黑"/>
                <a:ea typeface="微软雅黑"/>
              </a:rPr>
              <a:t>#12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333756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6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8640" y="3337560"/>
            <a:ext cx="73152" cy="640080"/>
          </a:xfrm>
          <a:prstGeom prst="rect">
            <a:avLst/>
          </a:prstGeom>
          <a:solidFill>
            <a:srgbClr val="E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5800" y="3337560"/>
            <a:ext cx="164592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102A5B"/>
                </a:solidFill>
                <a:latin typeface="微软雅黑"/>
                <a:ea typeface="微软雅黑"/>
              </a:rPr>
              <a:t>跨境电商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" y="3703320"/>
            <a:ext cx="164592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1">
                <a:solidFill>
                  <a:srgbClr val="6E737C"/>
                </a:solidFill>
                <a:latin typeface="微软雅黑"/>
                <a:ea typeface="微软雅黑"/>
              </a:rPr>
              <a:t>#13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496312" y="333756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6B4E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496312" y="3337560"/>
            <a:ext cx="73152" cy="640080"/>
          </a:xfrm>
          <a:prstGeom prst="rect">
            <a:avLst/>
          </a:prstGeom>
          <a:solidFill>
            <a:srgbClr val="6B4E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633472" y="3337560"/>
            <a:ext cx="164592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102A5B"/>
                </a:solidFill>
                <a:latin typeface="微软雅黑"/>
                <a:ea typeface="微软雅黑"/>
              </a:rPr>
              <a:t>高端制造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633472" y="3703320"/>
            <a:ext cx="164592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1">
                <a:solidFill>
                  <a:srgbClr val="6E737C"/>
                </a:solidFill>
                <a:latin typeface="微软雅黑"/>
                <a:ea typeface="微软雅黑"/>
              </a:rPr>
              <a:t>#14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443983" y="333756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6B4E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443983" y="3337560"/>
            <a:ext cx="73152" cy="640080"/>
          </a:xfrm>
          <a:prstGeom prst="rect">
            <a:avLst/>
          </a:prstGeom>
          <a:solidFill>
            <a:srgbClr val="6B4E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81143" y="3337560"/>
            <a:ext cx="164592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102A5B"/>
                </a:solidFill>
                <a:latin typeface="微软雅黑"/>
                <a:ea typeface="微软雅黑"/>
              </a:rPr>
              <a:t>生产性服务业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81143" y="3703320"/>
            <a:ext cx="164592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1">
                <a:solidFill>
                  <a:srgbClr val="6E737C"/>
                </a:solidFill>
                <a:latin typeface="微软雅黑"/>
                <a:ea typeface="微软雅黑"/>
              </a:rPr>
              <a:t>#15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91655" y="333756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89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91655" y="3337560"/>
            <a:ext cx="73152" cy="64008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28815" y="3337560"/>
            <a:ext cx="164592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102A5B"/>
                </a:solidFill>
                <a:latin typeface="微软雅黑"/>
                <a:ea typeface="微软雅黑"/>
              </a:rPr>
              <a:t>总部经济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28815" y="3703320"/>
            <a:ext cx="164592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1">
                <a:solidFill>
                  <a:srgbClr val="6E737C"/>
                </a:solidFill>
                <a:latin typeface="微软雅黑"/>
                <a:ea typeface="微软雅黑"/>
              </a:rPr>
              <a:t>#16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339327" y="333756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89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339327" y="3337560"/>
            <a:ext cx="73152" cy="64008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476487" y="3337560"/>
            <a:ext cx="164592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102A5B"/>
                </a:solidFill>
                <a:latin typeface="微软雅黑"/>
                <a:ea typeface="微软雅黑"/>
              </a:rPr>
              <a:t>专精特新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76487" y="3703320"/>
            <a:ext cx="164592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1">
                <a:solidFill>
                  <a:srgbClr val="6E737C"/>
                </a:solidFill>
                <a:latin typeface="微软雅黑"/>
                <a:ea typeface="微软雅黑"/>
              </a:rPr>
              <a:t>#17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8640" y="45262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典型行业空间需求矩阵（示例）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48640" y="4846320"/>
            <a:ext cx="365760" cy="36576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48640" y="5029200"/>
            <a:ext cx="1645920" cy="36576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48640" y="5029200"/>
            <a:ext cx="164592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行业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194560" y="5029200"/>
            <a:ext cx="2377440" cy="36576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194560" y="5029200"/>
            <a:ext cx="237744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空间形态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0" y="5029200"/>
            <a:ext cx="3840480" cy="36576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572000" y="5029200"/>
            <a:ext cx="384048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选址偏好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412480" y="5029200"/>
            <a:ext cx="3291840" cy="36576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412480" y="5029200"/>
            <a:ext cx="329184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关注因素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48640" y="5394960"/>
            <a:ext cx="1645920" cy="365760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40080" y="5394960"/>
            <a:ext cx="146304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人工智能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194560" y="5394960"/>
            <a:ext cx="2377440" cy="365760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286000" y="5394960"/>
            <a:ext cx="219456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中大型办公+研发展示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0" y="5394960"/>
            <a:ext cx="3840480" cy="365760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663440" y="5394960"/>
            <a:ext cx="365760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徐汇滨江·杨浦·张江·临港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412480" y="5394960"/>
            <a:ext cx="3291840" cy="365760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503920" y="5394960"/>
            <a:ext cx="310896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人才/算力/资本/政策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48640" y="5760720"/>
            <a:ext cx="16459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40080" y="5760720"/>
            <a:ext cx="146304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生物医药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194560" y="5760720"/>
            <a:ext cx="237744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286000" y="5760720"/>
            <a:ext cx="219456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研发办公+实验空间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572000" y="5760720"/>
            <a:ext cx="38404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663440" y="5760720"/>
            <a:ext cx="365760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张江·临港·闵行·奉贤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412480" y="5760720"/>
            <a:ext cx="329184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503920" y="5760720"/>
            <a:ext cx="310896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实验/审批/产业链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48640" y="6126480"/>
            <a:ext cx="1645920" cy="365760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40080" y="6126480"/>
            <a:ext cx="146304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智能驾驶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194560" y="6126480"/>
            <a:ext cx="2377440" cy="365760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286000" y="6126480"/>
            <a:ext cx="219456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办公+研发+测试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572000" y="6126480"/>
            <a:ext cx="3840480" cy="365760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663440" y="6126480"/>
            <a:ext cx="365760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嘉定·浦东·杨浦·临港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412480" y="6126480"/>
            <a:ext cx="3291840" cy="365760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503920" y="6126480"/>
            <a:ext cx="310896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测试场景/整车/政策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292608" cy="68580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2A5BA8"/>
                </a:solidFill>
                <a:latin typeface="微软雅黑"/>
                <a:ea typeface="微软雅黑"/>
              </a:rPr>
              <a:t>PART 05 · 企业画像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 i="0">
                <a:solidFill>
                  <a:srgbClr val="102A5B"/>
                </a:solidFill>
                <a:latin typeface="微软雅黑"/>
                <a:ea typeface="微软雅黑"/>
              </a:rPr>
              <a:t>9 类重点企业清单体系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07008"/>
            <a:ext cx="502920" cy="4572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170432"/>
            <a:ext cx="10515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1">
                <a:solidFill>
                  <a:srgbClr val="6E737C"/>
                </a:solidFill>
                <a:latin typeface="微软雅黑"/>
                <a:ea typeface="微软雅黑"/>
              </a:rPr>
              <a:t>Nine priority lists — 报告商业化价值的核心产品形态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8DE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上海商办楼宇与产业园区市场深度报告  ·  讨论稿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6895" y="6473952"/>
            <a:ext cx="35661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易居研究院 × 复旦大学住房政策研究中心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88775" y="6473952"/>
            <a:ext cx="3657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102A5B"/>
                </a:solidFill>
                <a:latin typeface="微软雅黑"/>
                <a:ea typeface="微软雅黑"/>
              </a:rPr>
              <a:t>17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36576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783080"/>
            <a:ext cx="3657600" cy="411480"/>
          </a:xfrm>
          <a:prstGeom prst="rect">
            <a:avLst/>
          </a:prstGeom>
          <a:solidFill>
            <a:srgbClr val="2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03320" y="185623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1856232"/>
            <a:ext cx="274320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2A5BA8"/>
                </a:solidFill>
                <a:latin typeface="微软雅黑"/>
                <a:ea typeface="微软雅黑"/>
              </a:rPr>
              <a:t>L1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1783080"/>
            <a:ext cx="292608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高成长企业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286000"/>
            <a:ext cx="3383280" cy="7315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员工高速增长 + 融资 + 招聘暴增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8264" y="1783080"/>
            <a:ext cx="36576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98264" y="1783080"/>
            <a:ext cx="3657600" cy="411480"/>
          </a:xfrm>
          <a:prstGeom prst="rect">
            <a:avLst/>
          </a:prstGeom>
          <a:solidFill>
            <a:srgbClr val="2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52944" y="185623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52944" y="1856232"/>
            <a:ext cx="274320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2A5BA8"/>
                </a:solidFill>
                <a:latin typeface="微软雅黑"/>
                <a:ea typeface="微软雅黑"/>
              </a:rPr>
              <a:t>L2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5424" y="1783080"/>
            <a:ext cx="292608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近期融资企业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2286000"/>
            <a:ext cx="3383280" cy="7315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12 个月内完成新一轮融资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47888" y="1783080"/>
            <a:ext cx="36576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47888" y="1783080"/>
            <a:ext cx="3657600" cy="411480"/>
          </a:xfrm>
          <a:prstGeom prst="rect">
            <a:avLst/>
          </a:prstGeom>
          <a:solidFill>
            <a:srgbClr val="1E7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02568" y="185623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02568" y="1856232"/>
            <a:ext cx="274320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1E778E"/>
                </a:solidFill>
                <a:latin typeface="微软雅黑"/>
                <a:ea typeface="微软雅黑"/>
              </a:rPr>
              <a:t>L3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5048" y="1783080"/>
            <a:ext cx="292608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专精特新企业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2286000"/>
            <a:ext cx="3383280" cy="7315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经信委 / 工信部认定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200400"/>
            <a:ext cx="36576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3200400"/>
            <a:ext cx="3657600" cy="411480"/>
          </a:xfrm>
          <a:prstGeom prst="rect">
            <a:avLst/>
          </a:prstGeom>
          <a:solidFill>
            <a:srgbClr val="1E7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703320" y="327355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03320" y="3273552"/>
            <a:ext cx="274320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1E778E"/>
                </a:solidFill>
                <a:latin typeface="微软雅黑"/>
                <a:ea typeface="微软雅黑"/>
              </a:rPr>
              <a:t>L4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3200400"/>
            <a:ext cx="292608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高新技术企业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3703320"/>
            <a:ext cx="3383280" cy="7315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高新认定 + 三大研发条件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98264" y="3200400"/>
            <a:ext cx="36576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98264" y="3200400"/>
            <a:ext cx="3657600" cy="411480"/>
          </a:xfrm>
          <a:prstGeom prst="rect">
            <a:avLst/>
          </a:prstGeom>
          <a:solidFill>
            <a:srgbClr val="2F7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552944" y="327355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52944" y="3273552"/>
            <a:ext cx="274320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2F7D5C"/>
                </a:solidFill>
                <a:latin typeface="微软雅黑"/>
                <a:ea typeface="微软雅黑"/>
              </a:rPr>
              <a:t>L5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35424" y="3200400"/>
            <a:ext cx="292608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上市 / 拟上市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81144" y="3703320"/>
            <a:ext cx="3383280" cy="7315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公告 + 招股书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47888" y="3200400"/>
            <a:ext cx="36576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47888" y="3200400"/>
            <a:ext cx="3657600" cy="411480"/>
          </a:xfrm>
          <a:prstGeom prst="rect">
            <a:avLst/>
          </a:prstGeom>
          <a:solidFill>
            <a:srgbClr val="E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402568" y="327355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02568" y="3273552"/>
            <a:ext cx="274320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E06A2C"/>
                </a:solidFill>
                <a:latin typeface="微软雅黑"/>
                <a:ea typeface="微软雅黑"/>
              </a:rPr>
              <a:t>L6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85048" y="3200400"/>
            <a:ext cx="292608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迁址可能企业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30768" y="3703320"/>
            <a:ext cx="3383280" cy="7315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多源信号 + 招聘异动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4617720"/>
            <a:ext cx="36576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48640" y="4617720"/>
            <a:ext cx="3657600" cy="411480"/>
          </a:xfrm>
          <a:prstGeom prst="rect">
            <a:avLst/>
          </a:prstGeom>
          <a:solidFill>
            <a:srgbClr val="E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703320" y="469087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03320" y="4690872"/>
            <a:ext cx="274320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E06A2C"/>
                </a:solidFill>
                <a:latin typeface="微软雅黑"/>
                <a:ea typeface="微软雅黑"/>
              </a:rPr>
              <a:t>L7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4617720"/>
            <a:ext cx="292608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扩租潜力企业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5120640"/>
            <a:ext cx="3383280" cy="7315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原址续约 + 业务公告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98264" y="4617720"/>
            <a:ext cx="36576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398264" y="4617720"/>
            <a:ext cx="3657600" cy="411480"/>
          </a:xfrm>
          <a:prstGeom prst="rect">
            <a:avLst/>
          </a:prstGeom>
          <a:solidFill>
            <a:srgbClr val="B8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552944" y="469087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52944" y="4690872"/>
            <a:ext cx="274320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B83A3F"/>
                </a:solidFill>
                <a:latin typeface="微软雅黑"/>
                <a:ea typeface="微软雅黑"/>
              </a:rPr>
              <a:t>L8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35424" y="4617720"/>
            <a:ext cx="292608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缩租风险企业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81144" y="5120640"/>
            <a:ext cx="3383280" cy="7315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营收下滑 / 招聘冻结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47888" y="4617720"/>
            <a:ext cx="36576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247888" y="4617720"/>
            <a:ext cx="3657600" cy="41148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402568" y="469087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402568" y="4690872"/>
            <a:ext cx="274320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C8913A"/>
                </a:solidFill>
                <a:latin typeface="微软雅黑"/>
                <a:ea typeface="微软雅黑"/>
              </a:rPr>
              <a:t>L9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85048" y="4617720"/>
            <a:ext cx="292608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跨区 / 补链企业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30768" y="5120640"/>
            <a:ext cx="3383280" cy="7315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外地企业上海布局 / 上下游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48640" cy="54864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486400" cy="7315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 i="0">
                <a:solidFill>
                  <a:srgbClr val="E6B66E"/>
                </a:solidFill>
                <a:latin typeface="微软雅黑"/>
                <a:ea typeface="微软雅黑"/>
              </a:rPr>
              <a:t>PART 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68580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C9CED8"/>
                </a:solidFill>
                <a:latin typeface="微软雅黑"/>
                <a:ea typeface="微软雅黑"/>
              </a:rPr>
              <a:t>MIGRATION  &amp;  INDUSTRY 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9601200" cy="1463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微软雅黑"/>
                <a:ea typeface="微软雅黑"/>
              </a:rPr>
              <a:t>企业迁徙与产业流动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5029200"/>
            <a:ext cx="109728" cy="109728"/>
          </a:xfrm>
          <a:prstGeom prst="ellipse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937760"/>
            <a:ext cx="105156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</a:rPr>
              <a:t>8 类迁徙行为  ·  多源信号交叉  ·  避免单一误判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5394960"/>
            <a:ext cx="109728" cy="109728"/>
          </a:xfrm>
          <a:prstGeom prst="ellipse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303520"/>
            <a:ext cx="105156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</a:rPr>
              <a:t>重点产业流向地图  ·  AI / 智驾 / 生医 / 总部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5760720"/>
            <a:ext cx="109728" cy="109728"/>
          </a:xfrm>
          <a:prstGeom prst="ellipse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669280"/>
            <a:ext cx="105156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</a:rPr>
              <a:t>9 项指标构建区域吸引力指数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095" y="2743200"/>
            <a:ext cx="3474720" cy="4114800"/>
          </a:xfrm>
          <a:prstGeom prst="rect">
            <a:avLst/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4000" b="1" i="0">
                <a:solidFill>
                  <a:srgbClr val="1C3670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C9CED8"/>
                </a:solidFill>
                <a:latin typeface="微软雅黑"/>
                <a:ea typeface="微软雅黑"/>
              </a:rPr>
              <a:t>上海商办楼宇与产业园区市场深度报告  ·  讨论稿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292608" cy="68580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2A5BA8"/>
                </a:solidFill>
                <a:latin typeface="微软雅黑"/>
                <a:ea typeface="微软雅黑"/>
              </a:rPr>
              <a:t>PART 06 · 企业迁徙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 i="0">
                <a:solidFill>
                  <a:srgbClr val="102A5B"/>
                </a:solidFill>
                <a:latin typeface="微软雅黑"/>
                <a:ea typeface="微软雅黑"/>
              </a:rPr>
              <a:t>8 类企业迁徙行为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07008"/>
            <a:ext cx="502920" cy="4572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170432"/>
            <a:ext cx="10515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1">
                <a:solidFill>
                  <a:srgbClr val="6E737C"/>
                </a:solidFill>
                <a:latin typeface="微软雅黑"/>
                <a:ea typeface="微软雅黑"/>
              </a:rPr>
              <a:t>Eight migration types — 每类迁徙背后的真实动因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8DE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上海商办楼宇与产业园区市场深度报告  ·  讨论稿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6895" y="6473952"/>
            <a:ext cx="35661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易居研究院 × 复旦大学住房政策研究中心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88775" y="6473952"/>
            <a:ext cx="3657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102A5B"/>
                </a:solidFill>
                <a:latin typeface="微软雅黑"/>
                <a:ea typeface="微软雅黑"/>
              </a:rPr>
              <a:t>19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2743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2F7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5800" y="1920240"/>
            <a:ext cx="502920" cy="502920"/>
          </a:xfrm>
          <a:prstGeom prst="ellipse">
            <a:avLst/>
          </a:prstGeom>
          <a:solidFill>
            <a:srgbClr val="2F7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920240"/>
            <a:ext cx="50292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M1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1947672"/>
            <a:ext cx="19202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102A5B"/>
                </a:solidFill>
                <a:latin typeface="微软雅黑"/>
                <a:ea typeface="微软雅黑"/>
              </a:rPr>
              <a:t>扩张型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468880"/>
            <a:ext cx="25603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面积扩大 / 楼层升级 / 团队增加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10712" y="1783080"/>
            <a:ext cx="2743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6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47872" y="1920240"/>
            <a:ext cx="502920" cy="502920"/>
          </a:xfrm>
          <a:prstGeom prst="ellipse">
            <a:avLst/>
          </a:prstGeom>
          <a:solidFill>
            <a:srgbClr val="E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47872" y="1920240"/>
            <a:ext cx="50292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M2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1947672"/>
            <a:ext cx="19202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102A5B"/>
                </a:solidFill>
                <a:latin typeface="微软雅黑"/>
                <a:ea typeface="微软雅黑"/>
              </a:rPr>
              <a:t>降本型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47872" y="2468880"/>
            <a:ext cx="25603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迁出核心区 / 综合成本下降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72783" y="1783080"/>
            <a:ext cx="2743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102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9943" y="1920240"/>
            <a:ext cx="502920" cy="502920"/>
          </a:xfrm>
          <a:prstGeom prst="ellipse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9943" y="1920240"/>
            <a:ext cx="50292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M3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0023" y="1947672"/>
            <a:ext cx="19202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102A5B"/>
                </a:solidFill>
                <a:latin typeface="微软雅黑"/>
                <a:ea typeface="微软雅黑"/>
              </a:rPr>
              <a:t>总部升级型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9943" y="2468880"/>
            <a:ext cx="25603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迁入高品质 / 滨江总部带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34856" y="1783080"/>
            <a:ext cx="2743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2A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272016" y="1920240"/>
            <a:ext cx="502920" cy="502920"/>
          </a:xfrm>
          <a:prstGeom prst="ellipse">
            <a:avLst/>
          </a:prstGeom>
          <a:solidFill>
            <a:srgbClr val="2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72016" y="1920240"/>
            <a:ext cx="50292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M4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12096" y="1947672"/>
            <a:ext cx="19202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102A5B"/>
                </a:solidFill>
                <a:latin typeface="微软雅黑"/>
                <a:ea typeface="微软雅黑"/>
              </a:rPr>
              <a:t>产业集聚型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72016" y="2468880"/>
            <a:ext cx="25603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向产业带集聚 / 上下游协同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017520"/>
            <a:ext cx="2743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89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85800" y="3154680"/>
            <a:ext cx="502920" cy="502920"/>
          </a:xfrm>
          <a:prstGeom prst="ellipse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3154680"/>
            <a:ext cx="50292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M5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3182112"/>
            <a:ext cx="19202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102A5B"/>
                </a:solidFill>
                <a:latin typeface="微软雅黑"/>
                <a:ea typeface="微软雅黑"/>
              </a:rPr>
              <a:t>政策导向型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3703320"/>
            <a:ext cx="25603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政策窗口期内的迁移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10712" y="3017520"/>
            <a:ext cx="2743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6E73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547872" y="3154680"/>
            <a:ext cx="502920" cy="502920"/>
          </a:xfrm>
          <a:prstGeom prst="ellipse">
            <a:avLst/>
          </a:prstGeom>
          <a:solidFill>
            <a:srgbClr val="6E73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47872" y="3154680"/>
            <a:ext cx="50292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M6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87952" y="3182112"/>
            <a:ext cx="19202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102A5B"/>
                </a:solidFill>
                <a:latin typeface="微软雅黑"/>
                <a:ea typeface="微软雅黑"/>
              </a:rPr>
              <a:t>被动搬迁型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47872" y="3703320"/>
            <a:ext cx="25603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楼宇改造 / 业主收回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72783" y="3017520"/>
            <a:ext cx="2743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B83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9943" y="3154680"/>
            <a:ext cx="502920" cy="502920"/>
          </a:xfrm>
          <a:prstGeom prst="ellipse">
            <a:avLst/>
          </a:prstGeom>
          <a:solidFill>
            <a:srgbClr val="B8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9943" y="3154680"/>
            <a:ext cx="50292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M7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50023" y="3182112"/>
            <a:ext cx="19202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102A5B"/>
                </a:solidFill>
                <a:latin typeface="微软雅黑"/>
                <a:ea typeface="微软雅黑"/>
              </a:rPr>
              <a:t>缩租型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9943" y="3703320"/>
            <a:ext cx="25603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面积收缩 / 降本求生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34856" y="3017520"/>
            <a:ext cx="2743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6B4E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272016" y="3154680"/>
            <a:ext cx="502920" cy="502920"/>
          </a:xfrm>
          <a:prstGeom prst="ellipse">
            <a:avLst/>
          </a:prstGeom>
          <a:solidFill>
            <a:srgbClr val="6B4E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72016" y="3154680"/>
            <a:ext cx="50292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M8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12096" y="3182112"/>
            <a:ext cx="19202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102A5B"/>
                </a:solidFill>
                <a:latin typeface="微软雅黑"/>
                <a:ea typeface="微软雅黑"/>
              </a:rPr>
              <a:t>注册地变更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72016" y="3703320"/>
            <a:ext cx="25603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注册地变 / 办公地不变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4434840"/>
            <a:ext cx="11155680" cy="91440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" y="45262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迁徙判断校验规则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4892040"/>
            <a:ext cx="1097280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 i="0">
                <a:solidFill>
                  <a:srgbClr val="E6B66E"/>
                </a:solidFill>
                <a:latin typeface="微软雅黑"/>
                <a:ea typeface="微软雅黑"/>
              </a:rPr>
              <a:t>工商地址变化  +  地图POI变化  +  招聘地址变化  +  官网/公众号公告  +  线下确认  —  至少两个以上信号交叉验证，避免误判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292608" cy="68580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2A5BA8"/>
                </a:solidFill>
                <a:latin typeface="微软雅黑"/>
                <a:ea typeface="微软雅黑"/>
              </a:rPr>
              <a:t>PART 06 · 企业迁徙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 i="0">
                <a:solidFill>
                  <a:srgbClr val="102A5B"/>
                </a:solidFill>
                <a:latin typeface="微软雅黑"/>
                <a:ea typeface="微软雅黑"/>
              </a:rPr>
              <a:t>重点产业流向与区域吸引力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07008"/>
            <a:ext cx="502920" cy="4572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170432"/>
            <a:ext cx="10515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1">
                <a:solidFill>
                  <a:srgbClr val="6E737C"/>
                </a:solidFill>
                <a:latin typeface="微软雅黑"/>
                <a:ea typeface="微软雅黑"/>
              </a:rPr>
              <a:t>Industry flow map × Regional attractiveness index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8DE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上海商办楼宇与产业园区市场深度报告  ·  讨论稿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6895" y="6473952"/>
            <a:ext cx="35661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易居研究院 × 复旦大学住房政策研究中心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88775" y="6473952"/>
            <a:ext cx="3657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102A5B"/>
                </a:solidFill>
                <a:latin typeface="微软雅黑"/>
                <a:ea typeface="微软雅黑"/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重点产业流向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011680"/>
            <a:ext cx="365760" cy="36576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194560"/>
            <a:ext cx="1645920" cy="384048"/>
          </a:xfrm>
          <a:prstGeom prst="rect">
            <a:avLst/>
          </a:prstGeom>
          <a:solidFill>
            <a:srgbClr val="2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194560"/>
            <a:ext cx="164592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人工智能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0" y="2194560"/>
            <a:ext cx="4114800" cy="384048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31720" y="2194560"/>
            <a:ext cx="393192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→  徐汇滨江·杨浦·张江·临港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651760"/>
            <a:ext cx="1645920" cy="384048"/>
          </a:xfrm>
          <a:prstGeom prst="rect">
            <a:avLst/>
          </a:prstGeom>
          <a:solidFill>
            <a:srgbClr val="1E7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651760"/>
            <a:ext cx="164592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智能驾驶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94560" y="2651760"/>
            <a:ext cx="4114800" cy="384048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31720" y="2651760"/>
            <a:ext cx="393192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→  嘉定·浦东·杨浦·临港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108960"/>
            <a:ext cx="1645920" cy="384048"/>
          </a:xfrm>
          <a:prstGeom prst="rect">
            <a:avLst/>
          </a:prstGeom>
          <a:solidFill>
            <a:srgbClr val="2F7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108960"/>
            <a:ext cx="164592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生物医药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94560" y="3108960"/>
            <a:ext cx="4114800" cy="384048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31720" y="3108960"/>
            <a:ext cx="393192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→  张江·临港·闵行·奉贤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566160"/>
            <a:ext cx="1645920" cy="384048"/>
          </a:xfrm>
          <a:prstGeom prst="rect">
            <a:avLst/>
          </a:prstGeom>
          <a:solidFill>
            <a:srgbClr val="2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566160"/>
            <a:ext cx="164592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集成电路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94560" y="3566160"/>
            <a:ext cx="4114800" cy="384048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31720" y="3566160"/>
            <a:ext cx="393192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→  张江·临港·嘉定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023360"/>
            <a:ext cx="1645920" cy="384048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023360"/>
            <a:ext cx="164592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金融/专业服务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94560" y="4023360"/>
            <a:ext cx="4114800" cy="384048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31720" y="4023360"/>
            <a:ext cx="393192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→  陆家嘴·北外滩·南京西路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480560"/>
            <a:ext cx="1645920" cy="384048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480560"/>
            <a:ext cx="164592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总部企业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4480560"/>
            <a:ext cx="4114800" cy="384048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31720" y="4480560"/>
            <a:ext cx="393192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→  陆家嘴·前滩·徐汇滨江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937760"/>
            <a:ext cx="1645920" cy="384048"/>
          </a:xfrm>
          <a:prstGeom prst="rect">
            <a:avLst/>
          </a:prstGeom>
          <a:solidFill>
            <a:srgbClr val="E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4937760"/>
            <a:ext cx="164592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文化传媒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94560" y="4937760"/>
            <a:ext cx="4114800" cy="384048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31720" y="4937760"/>
            <a:ext cx="393192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→  徐汇滨江·杨浦滨江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394960"/>
            <a:ext cx="1645920" cy="384048"/>
          </a:xfrm>
          <a:prstGeom prst="rect">
            <a:avLst/>
          </a:prstGeom>
          <a:solidFill>
            <a:srgbClr val="6B4E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394960"/>
            <a:ext cx="164592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硬科技/制造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94560" y="5394960"/>
            <a:ext cx="4114800" cy="384048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31720" y="5394960"/>
            <a:ext cx="393192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→  嘉定·松江·宝山·临港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1691640"/>
            <a:ext cx="5486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区域吸引力指数 · 9 项核心指标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2011680"/>
            <a:ext cx="365760" cy="36576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583680" y="2194560"/>
            <a:ext cx="1691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2A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720840" y="2331720"/>
            <a:ext cx="502920" cy="502920"/>
          </a:xfrm>
          <a:prstGeom prst="ellipse">
            <a:avLst/>
          </a:prstGeom>
          <a:solidFill>
            <a:srgbClr val="2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20840" y="2331720"/>
            <a:ext cx="50292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69480" y="2194560"/>
            <a:ext cx="960120" cy="7772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102A5B"/>
                </a:solidFill>
                <a:latin typeface="微软雅黑"/>
                <a:ea typeface="微软雅黑"/>
              </a:rPr>
              <a:t>企业净流入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12480" y="2194560"/>
            <a:ext cx="1691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2A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549640" y="2331720"/>
            <a:ext cx="502920" cy="502920"/>
          </a:xfrm>
          <a:prstGeom prst="ellipse">
            <a:avLst/>
          </a:prstGeom>
          <a:solidFill>
            <a:srgbClr val="2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49640" y="2331720"/>
            <a:ext cx="50292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98280" y="2194560"/>
            <a:ext cx="960120" cy="7772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102A5B"/>
                </a:solidFill>
                <a:latin typeface="微软雅黑"/>
                <a:ea typeface="微软雅黑"/>
              </a:rPr>
              <a:t>重点产业流入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241280" y="2194560"/>
            <a:ext cx="1691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1E77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378440" y="2331720"/>
            <a:ext cx="502920" cy="502920"/>
          </a:xfrm>
          <a:prstGeom prst="ellipse">
            <a:avLst/>
          </a:prstGeom>
          <a:solidFill>
            <a:srgbClr val="1E7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378440" y="2331720"/>
            <a:ext cx="50292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27080" y="2194560"/>
            <a:ext cx="960120" cy="7772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102A5B"/>
                </a:solidFill>
                <a:latin typeface="微软雅黑"/>
                <a:ea typeface="微软雅黑"/>
              </a:rPr>
              <a:t>高成长企业流入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83680" y="3108960"/>
            <a:ext cx="1691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1E77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720840" y="3246120"/>
            <a:ext cx="502920" cy="502920"/>
          </a:xfrm>
          <a:prstGeom prst="ellipse">
            <a:avLst/>
          </a:prstGeom>
          <a:solidFill>
            <a:srgbClr val="1E7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20840" y="3246120"/>
            <a:ext cx="50292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69480" y="3108960"/>
            <a:ext cx="960120" cy="7772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102A5B"/>
                </a:solidFill>
                <a:latin typeface="微软雅黑"/>
                <a:ea typeface="微软雅黑"/>
              </a:rPr>
              <a:t>租金性价比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412480" y="3108960"/>
            <a:ext cx="1691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6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549640" y="3246120"/>
            <a:ext cx="502920" cy="502920"/>
          </a:xfrm>
          <a:prstGeom prst="ellipse">
            <a:avLst/>
          </a:prstGeom>
          <a:solidFill>
            <a:srgbClr val="E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49640" y="3246120"/>
            <a:ext cx="50292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98280" y="3108960"/>
            <a:ext cx="960120" cy="7772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102A5B"/>
                </a:solidFill>
                <a:latin typeface="微软雅黑"/>
                <a:ea typeface="微软雅黑"/>
              </a:rPr>
              <a:t>政策支持力度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241280" y="3108960"/>
            <a:ext cx="1691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6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378440" y="3246120"/>
            <a:ext cx="502920" cy="502920"/>
          </a:xfrm>
          <a:prstGeom prst="ellipse">
            <a:avLst/>
          </a:prstGeom>
          <a:solidFill>
            <a:srgbClr val="E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378440" y="3246120"/>
            <a:ext cx="50292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927080" y="3108960"/>
            <a:ext cx="960120" cy="7772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102A5B"/>
                </a:solidFill>
                <a:latin typeface="微软雅黑"/>
                <a:ea typeface="微软雅黑"/>
              </a:rPr>
              <a:t>交通可达性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583680" y="4023360"/>
            <a:ext cx="1691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89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6720840" y="4160520"/>
            <a:ext cx="502920" cy="502920"/>
          </a:xfrm>
          <a:prstGeom prst="ellipse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720840" y="4160520"/>
            <a:ext cx="50292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07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269480" y="4023360"/>
            <a:ext cx="960120" cy="7772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102A5B"/>
                </a:solidFill>
                <a:latin typeface="微软雅黑"/>
                <a:ea typeface="微软雅黑"/>
              </a:rPr>
              <a:t>产业配套成熟度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412480" y="4023360"/>
            <a:ext cx="1691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89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549640" y="4160520"/>
            <a:ext cx="502920" cy="502920"/>
          </a:xfrm>
          <a:prstGeom prst="ellipse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549640" y="4160520"/>
            <a:ext cx="50292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08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98280" y="4023360"/>
            <a:ext cx="960120" cy="7772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102A5B"/>
                </a:solidFill>
                <a:latin typeface="微软雅黑"/>
                <a:ea typeface="微软雅黑"/>
              </a:rPr>
              <a:t>空间供给适配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241280" y="4023360"/>
            <a:ext cx="1691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6B4E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378440" y="4160520"/>
            <a:ext cx="502920" cy="502920"/>
          </a:xfrm>
          <a:prstGeom prst="ellipse">
            <a:avLst/>
          </a:prstGeom>
          <a:solidFill>
            <a:srgbClr val="6B4E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378440" y="4160520"/>
            <a:ext cx="50292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09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927080" y="4023360"/>
            <a:ext cx="960120" cy="7772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102A5B"/>
                </a:solidFill>
                <a:latin typeface="微软雅黑"/>
                <a:ea typeface="微软雅黑"/>
              </a:rPr>
              <a:t>资本服务集聚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48640" cy="54864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486400" cy="7315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 i="0">
                <a:solidFill>
                  <a:srgbClr val="E6B66E"/>
                </a:solidFill>
                <a:latin typeface="微软雅黑"/>
                <a:ea typeface="微软雅黑"/>
              </a:rPr>
              <a:t>PART 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68580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C9CED8"/>
                </a:solidFill>
                <a:latin typeface="微软雅黑"/>
                <a:ea typeface="微软雅黑"/>
              </a:rPr>
              <a:t>MATCHING  &amp;  OPPORTUNITIES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9601200" cy="1463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微软雅黑"/>
                <a:ea typeface="微软雅黑"/>
              </a:rPr>
              <a:t>供需匹配与招商机会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5029200"/>
            <a:ext cx="109728" cy="109728"/>
          </a:xfrm>
          <a:prstGeom prst="ellipse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937760"/>
            <a:ext cx="105156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</a:rPr>
              <a:t>楼宇竞争力 7 维模型  ·  产业园区竞争力扩展模型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5394960"/>
            <a:ext cx="109728" cy="109728"/>
          </a:xfrm>
          <a:prstGeom prst="ellipse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303520"/>
            <a:ext cx="105156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</a:rPr>
              <a:t>三类招商机会：区域机会 · 产业机会 · 企业线索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5760720"/>
            <a:ext cx="109728" cy="109728"/>
          </a:xfrm>
          <a:prstGeom prst="ellipse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669280"/>
            <a:ext cx="105156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</a:rPr>
              <a:t>形成可落地的招商清单与资产运营建议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095" y="2743200"/>
            <a:ext cx="3474720" cy="4114800"/>
          </a:xfrm>
          <a:prstGeom prst="rect">
            <a:avLst/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4000" b="1" i="0">
                <a:solidFill>
                  <a:srgbClr val="1C3670"/>
                </a:solidFill>
                <a:latin typeface="微软雅黑"/>
                <a:ea typeface="微软雅黑"/>
              </a:rPr>
              <a:t>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C9CED8"/>
                </a:solidFill>
                <a:latin typeface="微软雅黑"/>
                <a:ea typeface="微软雅黑"/>
              </a:rPr>
              <a:t>上海商办楼宇与产业园区市场深度报告  ·  讨论稿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292608" cy="68580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2A5BA8"/>
                </a:solidFill>
                <a:latin typeface="微软雅黑"/>
                <a:ea typeface="微软雅黑"/>
              </a:rPr>
              <a:t>PART 07 · 供需招商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 i="0">
                <a:solidFill>
                  <a:srgbClr val="102A5B"/>
                </a:solidFill>
                <a:latin typeface="微软雅黑"/>
                <a:ea typeface="微软雅黑"/>
              </a:rPr>
              <a:t>楼宇竞争力 7 维评分模型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07008"/>
            <a:ext cx="502920" cy="4572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170432"/>
            <a:ext cx="10515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1">
                <a:solidFill>
                  <a:srgbClr val="6E737C"/>
                </a:solidFill>
                <a:latin typeface="微软雅黑"/>
                <a:ea typeface="微软雅黑"/>
              </a:rPr>
              <a:t>Seven-dimension scoring — 可直接落地的资产诊断卡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8DE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上海商办楼宇与产业园区市场深度报告  ·  讨论稿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6895" y="6473952"/>
            <a:ext cx="35661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易居研究院 × 复旦大学住房政策研究中心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88775" y="6473952"/>
            <a:ext cx="3657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102A5B"/>
                </a:solidFill>
                <a:latin typeface="微软雅黑"/>
                <a:ea typeface="微软雅黑"/>
              </a:rPr>
              <a:t>22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828800"/>
            <a:ext cx="1828800" cy="411480"/>
          </a:xfrm>
          <a:prstGeom prst="rect">
            <a:avLst/>
          </a:prstGeom>
          <a:solidFill>
            <a:srgbClr val="2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182880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区位交通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1828800"/>
            <a:ext cx="914400" cy="411480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1828800"/>
            <a:ext cx="91440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102A5B"/>
                </a:solidFill>
                <a:latin typeface="微软雅黑"/>
                <a:ea typeface="微软雅黑"/>
              </a:rPr>
              <a:t>15 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938528"/>
            <a:ext cx="4572000" cy="201168"/>
          </a:xfrm>
          <a:prstGeom prst="rect">
            <a:avLst/>
          </a:prstGeom>
          <a:solidFill>
            <a:srgbClr val="C9C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83280" y="1938528"/>
            <a:ext cx="4572000" cy="201168"/>
          </a:xfrm>
          <a:prstGeom prst="rect">
            <a:avLst/>
          </a:prstGeom>
          <a:solidFill>
            <a:srgbClr val="2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1828800"/>
            <a:ext cx="393192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地铁·主干路·高铁机场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331720"/>
            <a:ext cx="1828800" cy="411480"/>
          </a:xfrm>
          <a:prstGeom prst="rect">
            <a:avLst/>
          </a:prstGeom>
          <a:solidFill>
            <a:srgbClr val="2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331720"/>
            <a:ext cx="182880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资产品质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2331720"/>
            <a:ext cx="914400" cy="411480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77440" y="2331720"/>
            <a:ext cx="91440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102A5B"/>
                </a:solidFill>
                <a:latin typeface="微软雅黑"/>
                <a:ea typeface="微软雅黑"/>
              </a:rPr>
              <a:t>15 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0" y="2441448"/>
            <a:ext cx="4572000" cy="201168"/>
          </a:xfrm>
          <a:prstGeom prst="rect">
            <a:avLst/>
          </a:prstGeom>
          <a:solidFill>
            <a:srgbClr val="C9C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83280" y="2441448"/>
            <a:ext cx="4572000" cy="201168"/>
          </a:xfrm>
          <a:prstGeom prst="rect">
            <a:avLst/>
          </a:prstGeom>
          <a:solidFill>
            <a:srgbClr val="2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2331720"/>
            <a:ext cx="393192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建筑·层高·装修·智能化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2834640"/>
            <a:ext cx="1828800" cy="411480"/>
          </a:xfrm>
          <a:prstGeom prst="rect">
            <a:avLst/>
          </a:prstGeom>
          <a:solidFill>
            <a:srgbClr val="1E7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834640"/>
            <a:ext cx="182880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租金表现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77440" y="2834640"/>
            <a:ext cx="914400" cy="411480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77440" y="2834640"/>
            <a:ext cx="91440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102A5B"/>
                </a:solidFill>
                <a:latin typeface="微软雅黑"/>
                <a:ea typeface="微软雅黑"/>
              </a:rPr>
              <a:t>15 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0" y="2944368"/>
            <a:ext cx="4572000" cy="201168"/>
          </a:xfrm>
          <a:prstGeom prst="rect">
            <a:avLst/>
          </a:prstGeom>
          <a:solidFill>
            <a:srgbClr val="C9C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83280" y="2944368"/>
            <a:ext cx="4572000" cy="201168"/>
          </a:xfrm>
          <a:prstGeom prst="rect">
            <a:avLst/>
          </a:prstGeom>
          <a:solidFill>
            <a:srgbClr val="1E7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92440" y="2834640"/>
            <a:ext cx="393192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报价·成交·弹性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337560"/>
            <a:ext cx="1828800" cy="411480"/>
          </a:xfrm>
          <a:prstGeom prst="rect">
            <a:avLst/>
          </a:prstGeom>
          <a:solidFill>
            <a:srgbClr val="1E7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3337560"/>
            <a:ext cx="182880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企业结构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77440" y="3337560"/>
            <a:ext cx="914400" cy="411480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77440" y="3337560"/>
            <a:ext cx="91440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102A5B"/>
                </a:solidFill>
                <a:latin typeface="微软雅黑"/>
                <a:ea typeface="微软雅黑"/>
              </a:rPr>
              <a:t>15 分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83280" y="3447288"/>
            <a:ext cx="4572000" cy="201168"/>
          </a:xfrm>
          <a:prstGeom prst="rect">
            <a:avLst/>
          </a:prstGeom>
          <a:solidFill>
            <a:srgbClr val="C9C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383280" y="3447288"/>
            <a:ext cx="4572000" cy="201168"/>
          </a:xfrm>
          <a:prstGeom prst="rect">
            <a:avLst/>
          </a:prstGeom>
          <a:solidFill>
            <a:srgbClr val="1E7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92440" y="3337560"/>
            <a:ext cx="393192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质量·集中度·龙头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3840480"/>
            <a:ext cx="1828800" cy="411480"/>
          </a:xfrm>
          <a:prstGeom prst="rect">
            <a:avLst/>
          </a:prstGeom>
          <a:solidFill>
            <a:srgbClr val="E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3840480"/>
            <a:ext cx="182880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运营服务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377440" y="3840480"/>
            <a:ext cx="914400" cy="411480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77440" y="3840480"/>
            <a:ext cx="91440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102A5B"/>
                </a:solidFill>
                <a:latin typeface="微软雅黑"/>
                <a:ea typeface="微软雅黑"/>
              </a:rPr>
              <a:t>15 分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83280" y="3950208"/>
            <a:ext cx="4572000" cy="201168"/>
          </a:xfrm>
          <a:prstGeom prst="rect">
            <a:avLst/>
          </a:prstGeom>
          <a:solidFill>
            <a:srgbClr val="C9C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383280" y="3950208"/>
            <a:ext cx="4572000" cy="201168"/>
          </a:xfrm>
          <a:prstGeom prst="rect">
            <a:avLst/>
          </a:prstGeom>
          <a:solidFill>
            <a:srgbClr val="E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92440" y="3840480"/>
            <a:ext cx="393192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物业·企业服务·活动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343400"/>
            <a:ext cx="1828800" cy="41148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4343400"/>
            <a:ext cx="182880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政策资源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377440" y="4343400"/>
            <a:ext cx="914400" cy="411480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377440" y="4343400"/>
            <a:ext cx="91440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102A5B"/>
                </a:solidFill>
                <a:latin typeface="微软雅黑"/>
                <a:ea typeface="微软雅黑"/>
              </a:rPr>
              <a:t>10 分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83280" y="4453128"/>
            <a:ext cx="4572000" cy="201168"/>
          </a:xfrm>
          <a:prstGeom prst="rect">
            <a:avLst/>
          </a:prstGeom>
          <a:solidFill>
            <a:srgbClr val="C9C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383280" y="4453128"/>
            <a:ext cx="3048000" cy="201168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92440" y="4343400"/>
            <a:ext cx="393192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补贴·资质·招商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4846320"/>
            <a:ext cx="1828800" cy="411480"/>
          </a:xfrm>
          <a:prstGeom prst="rect">
            <a:avLst/>
          </a:prstGeom>
          <a:solidFill>
            <a:srgbClr val="6B4E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4846320"/>
            <a:ext cx="182880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去化能力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77440" y="4846320"/>
            <a:ext cx="914400" cy="411480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377440" y="4846320"/>
            <a:ext cx="91440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102A5B"/>
                </a:solidFill>
                <a:latin typeface="微软雅黑"/>
                <a:ea typeface="微软雅黑"/>
              </a:rPr>
              <a:t>15 分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383280" y="4956048"/>
            <a:ext cx="4572000" cy="201168"/>
          </a:xfrm>
          <a:prstGeom prst="rect">
            <a:avLst/>
          </a:prstGeom>
          <a:solidFill>
            <a:srgbClr val="C9C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383280" y="4956048"/>
            <a:ext cx="4572000" cy="201168"/>
          </a:xfrm>
          <a:prstGeom prst="rect">
            <a:avLst/>
          </a:prstGeom>
          <a:solidFill>
            <a:srgbClr val="6B4E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92440" y="4846320"/>
            <a:ext cx="393192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空置·周期·稳定性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5486400"/>
            <a:ext cx="11155680" cy="64008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1520" y="5486400"/>
            <a:ext cx="1097280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E6B66E"/>
                </a:solidFill>
                <a:latin typeface="微软雅黑"/>
                <a:ea typeface="微软雅黑"/>
              </a:rPr>
              <a:t>合计 100 分  ·  支持横向竞品对比、纵向同区诊断、动态更新 ·  适配楼宇与园区双场景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292608" cy="68580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2A5BA8"/>
                </a:solidFill>
                <a:latin typeface="微软雅黑"/>
                <a:ea typeface="微软雅黑"/>
              </a:rPr>
              <a:t>PART 07 · 供需招商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 i="0">
                <a:solidFill>
                  <a:srgbClr val="102A5B"/>
                </a:solidFill>
                <a:latin typeface="微软雅黑"/>
                <a:ea typeface="微软雅黑"/>
              </a:rPr>
              <a:t>三类招商机会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07008"/>
            <a:ext cx="502920" cy="4572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170432"/>
            <a:ext cx="10515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1">
                <a:solidFill>
                  <a:srgbClr val="6E737C"/>
                </a:solidFill>
                <a:latin typeface="微软雅黑"/>
                <a:ea typeface="微软雅黑"/>
              </a:rPr>
              <a:t>Three types of investment leads — 报告商业化价值的核心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8DE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上海商办楼宇与产业园区市场深度报告  ·  讨论稿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6895" y="6473952"/>
            <a:ext cx="35661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易居研究院 × 复旦大学住房政策研究中心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88775" y="6473952"/>
            <a:ext cx="3657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102A5B"/>
                </a:solidFill>
                <a:latin typeface="微软雅黑"/>
                <a:ea typeface="微软雅黑"/>
              </a:rPr>
              <a:t>23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36576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783080"/>
            <a:ext cx="3657600" cy="914400"/>
          </a:xfrm>
          <a:prstGeom prst="rect">
            <a:avLst/>
          </a:prstGeom>
          <a:solidFill>
            <a:srgbClr val="2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874520"/>
            <a:ext cx="365760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E6B66E"/>
                </a:solidFill>
                <a:latin typeface="微软雅黑"/>
                <a:ea typeface="微软雅黑"/>
              </a:rPr>
              <a:t>WHERE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194560"/>
            <a:ext cx="365760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区域机会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880360"/>
            <a:ext cx="3291840" cy="29260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1" i="0">
                <a:solidFill>
                  <a:srgbClr val="2A5BA8"/>
                </a:solidFill>
                <a:latin typeface="微软雅黑"/>
                <a:ea typeface="微软雅黑"/>
              </a:rPr>
              <a:t>●  </a:t>
            </a:r>
            <a:r>
              <a:rPr sz="1200" b="0" i="0">
                <a:solidFill>
                  <a:srgbClr val="1A222E"/>
                </a:solidFill>
                <a:latin typeface="微软雅黑"/>
                <a:ea typeface="微软雅黑"/>
              </a:rPr>
              <a:t>哪些区域适合承接核心区外溢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1" i="0">
                <a:solidFill>
                  <a:srgbClr val="2A5BA8"/>
                </a:solidFill>
                <a:latin typeface="微软雅黑"/>
                <a:ea typeface="微软雅黑"/>
              </a:rPr>
              <a:t>●  </a:t>
            </a:r>
            <a:r>
              <a:rPr sz="1200" b="0" i="0">
                <a:solidFill>
                  <a:srgbClr val="1A222E"/>
                </a:solidFill>
                <a:latin typeface="微软雅黑"/>
                <a:ea typeface="微软雅黑"/>
              </a:rPr>
              <a:t>哪些区域适合发展 AI / 智驾 / 生医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1" i="0">
                <a:solidFill>
                  <a:srgbClr val="2A5BA8"/>
                </a:solidFill>
                <a:latin typeface="微软雅黑"/>
                <a:ea typeface="微软雅黑"/>
              </a:rPr>
              <a:t>●  </a:t>
            </a:r>
            <a:r>
              <a:rPr sz="1200" b="0" i="0">
                <a:solidFill>
                  <a:srgbClr val="1A222E"/>
                </a:solidFill>
                <a:latin typeface="微软雅黑"/>
                <a:ea typeface="微软雅黑"/>
              </a:rPr>
              <a:t>哪些区域适合导入总部企业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1" i="0">
                <a:solidFill>
                  <a:srgbClr val="2A5BA8"/>
                </a:solidFill>
                <a:latin typeface="微软雅黑"/>
                <a:ea typeface="微软雅黑"/>
              </a:rPr>
              <a:t>●  </a:t>
            </a:r>
            <a:r>
              <a:rPr sz="1200" b="0" i="0">
                <a:solidFill>
                  <a:srgbClr val="1A222E"/>
                </a:solidFill>
                <a:latin typeface="微软雅黑"/>
                <a:ea typeface="微软雅黑"/>
              </a:rPr>
              <a:t>哪些区域适合做成本型办公承接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98264" y="1783080"/>
            <a:ext cx="36576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98264" y="1783080"/>
            <a:ext cx="3657600" cy="914400"/>
          </a:xfrm>
          <a:prstGeom prst="rect">
            <a:avLst/>
          </a:prstGeom>
          <a:solidFill>
            <a:srgbClr val="E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98264" y="1874520"/>
            <a:ext cx="365760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E6B66E"/>
                </a:solidFill>
                <a:latin typeface="微软雅黑"/>
                <a:ea typeface="微软雅黑"/>
              </a:rPr>
              <a:t>WHAT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8264" y="2194560"/>
            <a:ext cx="365760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产业机会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2880360"/>
            <a:ext cx="3291840" cy="29260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1" i="0">
                <a:solidFill>
                  <a:srgbClr val="E06A2C"/>
                </a:solidFill>
                <a:latin typeface="微软雅黑"/>
                <a:ea typeface="微软雅黑"/>
              </a:rPr>
              <a:t>●  </a:t>
            </a:r>
            <a:r>
              <a:rPr sz="1200" b="0" i="0">
                <a:solidFill>
                  <a:srgbClr val="1A222E"/>
                </a:solidFill>
                <a:latin typeface="微软雅黑"/>
                <a:ea typeface="微软雅黑"/>
              </a:rPr>
              <a:t>AI 产业链补链机会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1" i="0">
                <a:solidFill>
                  <a:srgbClr val="E06A2C"/>
                </a:solidFill>
                <a:latin typeface="微软雅黑"/>
                <a:ea typeface="微软雅黑"/>
              </a:rPr>
              <a:t>●  </a:t>
            </a:r>
            <a:r>
              <a:rPr sz="1200" b="0" i="0">
                <a:solidFill>
                  <a:srgbClr val="1A222E"/>
                </a:solidFill>
                <a:latin typeface="微软雅黑"/>
                <a:ea typeface="微软雅黑"/>
              </a:rPr>
              <a:t>智能驾驶上下游企业导入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1" i="0">
                <a:solidFill>
                  <a:srgbClr val="E06A2C"/>
                </a:solidFill>
                <a:latin typeface="微软雅黑"/>
                <a:ea typeface="微软雅黑"/>
              </a:rPr>
              <a:t>●  </a:t>
            </a:r>
            <a:r>
              <a:rPr sz="1200" b="0" i="0">
                <a:solidFill>
                  <a:srgbClr val="1A222E"/>
                </a:solidFill>
                <a:latin typeface="微软雅黑"/>
                <a:ea typeface="微软雅黑"/>
              </a:rPr>
              <a:t>生物医药研发服务企业导入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1" i="0">
                <a:solidFill>
                  <a:srgbClr val="E06A2C"/>
                </a:solidFill>
                <a:latin typeface="微软雅黑"/>
                <a:ea typeface="微软雅黑"/>
              </a:rPr>
              <a:t>●  </a:t>
            </a:r>
            <a:r>
              <a:rPr sz="1200" b="0" i="0">
                <a:solidFill>
                  <a:srgbClr val="1A222E"/>
                </a:solidFill>
                <a:latin typeface="微软雅黑"/>
                <a:ea typeface="微软雅黑"/>
              </a:rPr>
              <a:t>专精特新企业集聚机会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47888" y="1783080"/>
            <a:ext cx="36576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47888" y="1783080"/>
            <a:ext cx="3657600" cy="91440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7888" y="1874520"/>
            <a:ext cx="365760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E6B66E"/>
                </a:solidFill>
                <a:latin typeface="微软雅黑"/>
                <a:ea typeface="微软雅黑"/>
              </a:rPr>
              <a:t>WHO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2194560"/>
            <a:ext cx="365760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企业线索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2208" y="2880360"/>
            <a:ext cx="3291840" cy="29260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1" i="0">
                <a:solidFill>
                  <a:srgbClr val="C8913A"/>
                </a:solidFill>
                <a:latin typeface="微软雅黑"/>
                <a:ea typeface="微软雅黑"/>
              </a:rPr>
              <a:t>●  </a:t>
            </a:r>
            <a:r>
              <a:rPr sz="1200" b="0" i="0">
                <a:solidFill>
                  <a:srgbClr val="1A222E"/>
                </a:solidFill>
                <a:latin typeface="微软雅黑"/>
                <a:ea typeface="微软雅黑"/>
              </a:rPr>
              <a:t>近期融资企业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1" i="0">
                <a:solidFill>
                  <a:srgbClr val="C8913A"/>
                </a:solidFill>
                <a:latin typeface="微软雅黑"/>
                <a:ea typeface="微软雅黑"/>
              </a:rPr>
              <a:t>●  </a:t>
            </a:r>
            <a:r>
              <a:rPr sz="1200" b="0" i="0">
                <a:solidFill>
                  <a:srgbClr val="1A222E"/>
                </a:solidFill>
                <a:latin typeface="微软雅黑"/>
                <a:ea typeface="微软雅黑"/>
              </a:rPr>
              <a:t>新增招聘明显企业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1" i="0">
                <a:solidFill>
                  <a:srgbClr val="C8913A"/>
                </a:solidFill>
                <a:latin typeface="微软雅黑"/>
                <a:ea typeface="微软雅黑"/>
              </a:rPr>
              <a:t>●  </a:t>
            </a:r>
            <a:r>
              <a:rPr sz="1200" b="0" i="0">
                <a:solidFill>
                  <a:srgbClr val="1A222E"/>
                </a:solidFill>
                <a:latin typeface="微软雅黑"/>
                <a:ea typeface="微软雅黑"/>
              </a:rPr>
              <a:t>扩租 / 迁址可能企业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1" i="0">
                <a:solidFill>
                  <a:srgbClr val="C8913A"/>
                </a:solidFill>
                <a:latin typeface="微软雅黑"/>
                <a:ea typeface="微软雅黑"/>
              </a:rPr>
              <a:t>●  </a:t>
            </a:r>
            <a:r>
              <a:rPr sz="1200" b="0" i="0">
                <a:solidFill>
                  <a:srgbClr val="1A222E"/>
                </a:solidFill>
                <a:latin typeface="微软雅黑"/>
                <a:ea typeface="微软雅黑"/>
              </a:rPr>
              <a:t>产业链上下游企业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48640" cy="54864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486400" cy="7315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 i="0">
                <a:solidFill>
                  <a:srgbClr val="E6B66E"/>
                </a:solidFill>
                <a:latin typeface="微软雅黑"/>
                <a:ea typeface="微软雅黑"/>
              </a:rPr>
              <a:t>PART 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68580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C9CED8"/>
                </a:solidFill>
                <a:latin typeface="微软雅黑"/>
                <a:ea typeface="微软雅黑"/>
              </a:rPr>
              <a:t>TREND  FORECAST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9601200" cy="1463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微软雅黑"/>
                <a:ea typeface="微软雅黑"/>
              </a:rPr>
              <a:t>市场趋势预测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5029200"/>
            <a:ext cx="109728" cy="109728"/>
          </a:xfrm>
          <a:prstGeom prst="ellipse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937760"/>
            <a:ext cx="105156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</a:rPr>
              <a:t>租金 / 空置 / 产业 / 空间策略  四线预测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5394960"/>
            <a:ext cx="109728" cy="109728"/>
          </a:xfrm>
          <a:prstGeom prst="ellipse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303520"/>
            <a:ext cx="105156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</a:rPr>
              <a:t>核心 / 滨江 / 张江临港 / 郊区 / 老旧更新  五大机会场域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5760720"/>
            <a:ext cx="109728" cy="109728"/>
          </a:xfrm>
          <a:prstGeom prst="ellipse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669280"/>
            <a:ext cx="105156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</a:rPr>
              <a:t>面向未来 12-24 个月的市场判断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095" y="2743200"/>
            <a:ext cx="3474720" cy="4114800"/>
          </a:xfrm>
          <a:prstGeom prst="rect">
            <a:avLst/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4000" b="1" i="0">
                <a:solidFill>
                  <a:srgbClr val="1C3670"/>
                </a:solidFill>
                <a:latin typeface="微软雅黑"/>
                <a:ea typeface="微软雅黑"/>
              </a:rPr>
              <a:t>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C9CED8"/>
                </a:solidFill>
                <a:latin typeface="微软雅黑"/>
                <a:ea typeface="微软雅黑"/>
              </a:rPr>
              <a:t>上海商办楼宇与产业园区市场深度报告  ·  讨论稿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292608" cy="68580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2A5BA8"/>
                </a:solidFill>
                <a:latin typeface="微软雅黑"/>
                <a:ea typeface="微软雅黑"/>
              </a:rPr>
              <a:t>PART 08 · 趋势预测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 i="0">
                <a:solidFill>
                  <a:srgbClr val="102A5B"/>
                </a:solidFill>
                <a:latin typeface="微软雅黑"/>
                <a:ea typeface="微软雅黑"/>
              </a:rPr>
              <a:t>市场趋势与未来机会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07008"/>
            <a:ext cx="502920" cy="4572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170432"/>
            <a:ext cx="10515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1">
                <a:solidFill>
                  <a:srgbClr val="6E737C"/>
                </a:solidFill>
                <a:latin typeface="微软雅黑"/>
                <a:ea typeface="微软雅黑"/>
              </a:rPr>
              <a:t>Four forecast lines × Five opportunity zones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8DE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上海商办楼宇与产业园区市场深度报告  ·  讨论稿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6895" y="6473952"/>
            <a:ext cx="35661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易居研究院 × 复旦大学住房政策研究中心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88775" y="6473952"/>
            <a:ext cx="3657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102A5B"/>
                </a:solidFill>
                <a:latin typeface="微软雅黑"/>
                <a:ea typeface="微软雅黑"/>
              </a:rPr>
              <a:t>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691640"/>
            <a:ext cx="27432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691640"/>
            <a:ext cx="2743200" cy="329184"/>
          </a:xfrm>
          <a:prstGeom prst="rect">
            <a:avLst/>
          </a:prstGeom>
          <a:solidFill>
            <a:srgbClr val="2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691640"/>
            <a:ext cx="365760" cy="32918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E6B66E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1691640"/>
            <a:ext cx="2240280" cy="32918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租金趋势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103120"/>
            <a:ext cx="2468880" cy="1645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000" b="1" i="0">
                <a:solidFill>
                  <a:srgbClr val="2A5BA8"/>
                </a:solidFill>
                <a:latin typeface="微软雅黑"/>
                <a:ea typeface="微软雅黑"/>
              </a:rPr>
              <a:t>•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核心商务区走势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000" b="1" i="0">
                <a:solidFill>
                  <a:srgbClr val="2A5BA8"/>
                </a:solidFill>
                <a:latin typeface="微软雅黑"/>
                <a:ea typeface="微软雅黑"/>
              </a:rPr>
              <a:t>•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乙级写字楼承压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000" b="1" i="0">
                <a:solidFill>
                  <a:srgbClr val="2A5BA8"/>
                </a:solidFill>
                <a:latin typeface="微软雅黑"/>
                <a:ea typeface="微软雅黑"/>
              </a:rPr>
              <a:t>•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产业园区韧性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000" b="1" i="0">
                <a:solidFill>
                  <a:srgbClr val="2A5BA8"/>
                </a:solidFill>
                <a:latin typeface="微软雅黑"/>
                <a:ea typeface="微软雅黑"/>
              </a:rPr>
              <a:t>•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新兴板块成长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000" b="1" i="0">
                <a:solidFill>
                  <a:srgbClr val="2A5BA8"/>
                </a:solidFill>
                <a:latin typeface="微软雅黑"/>
                <a:ea typeface="微软雅黑"/>
              </a:rPr>
              <a:t>•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老旧楼宇调整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29000" y="1691640"/>
            <a:ext cx="27432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29000" y="1691640"/>
            <a:ext cx="2743200" cy="329184"/>
          </a:xfrm>
          <a:prstGeom prst="rect">
            <a:avLst/>
          </a:prstGeom>
          <a:solidFill>
            <a:srgbClr val="E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1691640"/>
            <a:ext cx="365760" cy="32918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E6B66E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1691640"/>
            <a:ext cx="2240280" cy="32918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空置趋势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93592" y="2103120"/>
            <a:ext cx="2468880" cy="1645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000" b="1" i="0">
                <a:solidFill>
                  <a:srgbClr val="E06A2C"/>
                </a:solidFill>
                <a:latin typeface="微软雅黑"/>
                <a:ea typeface="微软雅黑"/>
              </a:rPr>
              <a:t>•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高空置板块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000" b="1" i="0">
                <a:solidFill>
                  <a:srgbClr val="E06A2C"/>
                </a:solidFill>
                <a:latin typeface="微软雅黑"/>
                <a:ea typeface="微软雅黑"/>
              </a:rPr>
              <a:t>•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新增供应压力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000" b="1" i="0">
                <a:solidFill>
                  <a:srgbClr val="E06A2C"/>
                </a:solidFill>
                <a:latin typeface="微软雅黑"/>
                <a:ea typeface="微软雅黑"/>
              </a:rPr>
              <a:t>•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去化较快板块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000" b="1" i="0">
                <a:solidFill>
                  <a:srgbClr val="E06A2C"/>
                </a:solidFill>
                <a:latin typeface="微软雅黑"/>
                <a:ea typeface="微软雅黑"/>
              </a:rPr>
              <a:t>•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需求支撑较强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000" b="1" i="0">
                <a:solidFill>
                  <a:srgbClr val="E06A2C"/>
                </a:solidFill>
                <a:latin typeface="微软雅黑"/>
                <a:ea typeface="微软雅黑"/>
              </a:rPr>
              <a:t>•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存量改造压力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691640"/>
            <a:ext cx="27432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1691640"/>
            <a:ext cx="2743200" cy="329184"/>
          </a:xfrm>
          <a:prstGeom prst="rect">
            <a:avLst/>
          </a:prstGeom>
          <a:solidFill>
            <a:srgbClr val="2F7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691640"/>
            <a:ext cx="365760" cy="32918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E6B66E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1691640"/>
            <a:ext cx="2240280" cy="32918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产业需求趋势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2103120"/>
            <a:ext cx="2468880" cy="1645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000" b="1" i="0">
                <a:solidFill>
                  <a:srgbClr val="2F7D5C"/>
                </a:solidFill>
                <a:latin typeface="微软雅黑"/>
                <a:ea typeface="微软雅黑"/>
              </a:rPr>
              <a:t>•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AI · 智驾 · 机器人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000" b="1" i="0">
                <a:solidFill>
                  <a:srgbClr val="2F7D5C"/>
                </a:solidFill>
                <a:latin typeface="微软雅黑"/>
                <a:ea typeface="微软雅黑"/>
              </a:rPr>
              <a:t>•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低空 · 生医 · 集电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000" b="1" i="0">
                <a:solidFill>
                  <a:srgbClr val="2F7D5C"/>
                </a:solidFill>
                <a:latin typeface="微软雅黑"/>
                <a:ea typeface="微软雅黑"/>
              </a:rPr>
              <a:t>•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数贸 · 跨境电商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000" b="1" i="0">
                <a:solidFill>
                  <a:srgbClr val="2F7D5C"/>
                </a:solidFill>
                <a:latin typeface="微软雅黑"/>
                <a:ea typeface="微软雅黑"/>
              </a:rPr>
              <a:t>•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绿色低碳 · 科技服务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000" b="1" i="0">
                <a:solidFill>
                  <a:srgbClr val="2F7D5C"/>
                </a:solidFill>
                <a:latin typeface="微软雅黑"/>
                <a:ea typeface="微软雅黑"/>
              </a:rPr>
              <a:t>•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生产性服务业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89720" y="1691640"/>
            <a:ext cx="25146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89720" y="1691640"/>
            <a:ext cx="2514600" cy="329184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81160" y="1691640"/>
            <a:ext cx="365760" cy="32918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E6B66E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1691640"/>
            <a:ext cx="2011680" cy="32918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空间策略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54312" y="2103120"/>
            <a:ext cx="2240280" cy="1645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000" b="1" i="0">
                <a:solidFill>
                  <a:srgbClr val="C8913A"/>
                </a:solidFill>
                <a:latin typeface="微软雅黑"/>
                <a:ea typeface="微软雅黑"/>
              </a:rPr>
              <a:t>•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更灵活面积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000" b="1" i="0">
                <a:solidFill>
                  <a:srgbClr val="C8913A"/>
                </a:solidFill>
                <a:latin typeface="微软雅黑"/>
                <a:ea typeface="微软雅黑"/>
              </a:rPr>
              <a:t>•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总部重品牌资源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000" b="1" i="0">
                <a:solidFill>
                  <a:srgbClr val="C8913A"/>
                </a:solidFill>
                <a:latin typeface="微软雅黑"/>
                <a:ea typeface="微软雅黑"/>
              </a:rPr>
              <a:t>•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成长重政策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000" b="1" i="0">
                <a:solidFill>
                  <a:srgbClr val="C8913A"/>
                </a:solidFill>
                <a:latin typeface="微软雅黑"/>
                <a:ea typeface="微软雅黑"/>
              </a:rPr>
              <a:t>•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硬科技重复合空间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000" b="1" i="0">
                <a:solidFill>
                  <a:srgbClr val="C8913A"/>
                </a:solidFill>
                <a:latin typeface="微软雅黑"/>
                <a:ea typeface="微软雅黑"/>
              </a:rPr>
              <a:t>•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产业社区+服务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023360"/>
            <a:ext cx="10972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未来五大机会场域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343400"/>
            <a:ext cx="365760" cy="36576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4572000"/>
            <a:ext cx="2011680" cy="347472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572000"/>
            <a:ext cx="2011680" cy="34747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核心区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0320" y="4572000"/>
            <a:ext cx="9144000" cy="347472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97480" y="4572000"/>
            <a:ext cx="8961120" cy="34747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总部经济·金融·专业服务·外资机构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956048"/>
            <a:ext cx="2011680" cy="347472"/>
          </a:xfrm>
          <a:prstGeom prst="rect">
            <a:avLst/>
          </a:prstGeom>
          <a:solidFill>
            <a:srgbClr val="2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4956048"/>
            <a:ext cx="2011680" cy="34747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滨江区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60320" y="4956048"/>
            <a:ext cx="9144000" cy="347472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97480" y="4956048"/>
            <a:ext cx="8961120" cy="34747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AI·数字经济·总部展示·科技服务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340096"/>
            <a:ext cx="2011680" cy="347472"/>
          </a:xfrm>
          <a:prstGeom prst="rect">
            <a:avLst/>
          </a:prstGeom>
          <a:solidFill>
            <a:srgbClr val="2F7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340096"/>
            <a:ext cx="2011680" cy="34747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张江/临港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60320" y="5340096"/>
            <a:ext cx="9144000" cy="347472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97480" y="5340096"/>
            <a:ext cx="8961120" cy="34747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硬科技·生物医药·高端制造·智能驾驶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724144"/>
            <a:ext cx="2011680" cy="347472"/>
          </a:xfrm>
          <a:prstGeom prst="rect">
            <a:avLst/>
          </a:prstGeom>
          <a:solidFill>
            <a:srgbClr val="E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5724144"/>
            <a:ext cx="2011680" cy="34747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郊区产业空间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60320" y="5724144"/>
            <a:ext cx="9144000" cy="347472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97480" y="5724144"/>
            <a:ext cx="8961120" cy="34747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成本型外溢·研发制造结合·产业链集聚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6108192"/>
            <a:ext cx="2011680" cy="347472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6108192"/>
            <a:ext cx="2011680" cy="34747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老旧商办更新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560320" y="6108192"/>
            <a:ext cx="9144000" cy="347472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697480" y="6108192"/>
            <a:ext cx="8961120" cy="34747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主题楼宇·垂直产业楼宇·科创服务空间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48640" cy="54864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486400" cy="7315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 i="0">
                <a:solidFill>
                  <a:srgbClr val="E6B66E"/>
                </a:solidFill>
                <a:latin typeface="微软雅黑"/>
                <a:ea typeface="微软雅黑"/>
              </a:rPr>
              <a:t>PART 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68580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C9CED8"/>
                </a:solidFill>
                <a:latin typeface="微软雅黑"/>
                <a:ea typeface="微软雅黑"/>
              </a:rPr>
              <a:t>POLICY  &amp; 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9601200" cy="1463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微软雅黑"/>
                <a:ea typeface="微软雅黑"/>
              </a:rPr>
              <a:t>政策建议与市场应用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5029200"/>
            <a:ext cx="109728" cy="109728"/>
          </a:xfrm>
          <a:prstGeom prst="ellipse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937760"/>
            <a:ext cx="105156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</a:rPr>
              <a:t>面向政府 / 园区 / 资产 / 企业  四类对象建议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5394960"/>
            <a:ext cx="109728" cy="109728"/>
          </a:xfrm>
          <a:prstGeom prst="ellipse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303520"/>
            <a:ext cx="105156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</a:rPr>
              <a:t>可直接转化为政策语言、招商话术与资管动作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2743200"/>
            <a:ext cx="3474720" cy="4114800"/>
          </a:xfrm>
          <a:prstGeom prst="rect">
            <a:avLst/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4000" b="1" i="0">
                <a:solidFill>
                  <a:srgbClr val="1C3670"/>
                </a:solidFill>
                <a:latin typeface="微软雅黑"/>
                <a:ea typeface="微软雅黑"/>
              </a:rPr>
              <a:t>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C9CED8"/>
                </a:solidFill>
                <a:latin typeface="微软雅黑"/>
                <a:ea typeface="微软雅黑"/>
              </a:rPr>
              <a:t>上海商办楼宇与产业园区市场深度报告  ·  讨论稿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292608" cy="68580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2A5BA8"/>
                </a:solidFill>
                <a:latin typeface="微软雅黑"/>
                <a:ea typeface="微软雅黑"/>
              </a:rPr>
              <a:t>PART 09 · 政策应用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 i="0">
                <a:solidFill>
                  <a:srgbClr val="102A5B"/>
                </a:solidFill>
                <a:latin typeface="微软雅黑"/>
                <a:ea typeface="微软雅黑"/>
              </a:rPr>
              <a:t>面向四类对象的策略建议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07008"/>
            <a:ext cx="502920" cy="4572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170432"/>
            <a:ext cx="10515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1">
                <a:solidFill>
                  <a:srgbClr val="6E737C"/>
                </a:solidFill>
                <a:latin typeface="微软雅黑"/>
                <a:ea typeface="微软雅黑"/>
              </a:rPr>
              <a:t>Policy · Operator · Capital · Enterprise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8DE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上海商办楼宇与产业园区市场深度报告  ·  讨论稿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6895" y="6473952"/>
            <a:ext cx="35661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易居研究院 × 复旦大学住房政策研究中心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88775" y="6473952"/>
            <a:ext cx="3657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102A5B"/>
                </a:solidFill>
                <a:latin typeface="微软雅黑"/>
                <a:ea typeface="微软雅黑"/>
              </a:rPr>
              <a:t>27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566928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783080"/>
            <a:ext cx="5669280" cy="329184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783080"/>
            <a:ext cx="365760" cy="32918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E6B66E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1783080"/>
            <a:ext cx="5166360" cy="32918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对政府部门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194560"/>
            <a:ext cx="5394960" cy="1645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 i="0">
                <a:solidFill>
                  <a:srgbClr val="102A5B"/>
                </a:solidFill>
                <a:latin typeface="微软雅黑"/>
                <a:ea typeface="微软雅黑"/>
              </a:rPr>
              <a:t>•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建立全域空间动态数据库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 i="0">
                <a:solidFill>
                  <a:srgbClr val="102A5B"/>
                </a:solidFill>
                <a:latin typeface="微软雅黑"/>
                <a:ea typeface="微软雅黑"/>
              </a:rPr>
              <a:t>•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以街镇为单位监测空置与迁徙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 i="0">
                <a:solidFill>
                  <a:srgbClr val="102A5B"/>
                </a:solidFill>
                <a:latin typeface="微软雅黑"/>
                <a:ea typeface="微软雅黑"/>
              </a:rPr>
              <a:t>•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对高空置区域实施精准招商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 i="0">
                <a:solidFill>
                  <a:srgbClr val="102A5B"/>
                </a:solidFill>
                <a:latin typeface="微软雅黑"/>
                <a:ea typeface="微软雅黑"/>
              </a:rPr>
              <a:t>•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推动楼宇 / 园区 / 城市更新联动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 i="0">
                <a:solidFill>
                  <a:srgbClr val="102A5B"/>
                </a:solidFill>
                <a:latin typeface="微软雅黑"/>
                <a:ea typeface="微软雅黑"/>
              </a:rPr>
              <a:t>•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用企业迁徙数据优化产业政策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783080"/>
            <a:ext cx="566928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783080"/>
            <a:ext cx="5669280" cy="329184"/>
          </a:xfrm>
          <a:prstGeom prst="rect">
            <a:avLst/>
          </a:prstGeom>
          <a:solidFill>
            <a:srgbClr val="2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783080"/>
            <a:ext cx="365760" cy="32918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E6B66E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1783080"/>
            <a:ext cx="5166360" cy="32918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对园区/楼宇运营方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2194560"/>
            <a:ext cx="5394960" cy="1645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 i="0">
                <a:solidFill>
                  <a:srgbClr val="2A5BA8"/>
                </a:solidFill>
                <a:latin typeface="微软雅黑"/>
                <a:ea typeface="微软雅黑"/>
              </a:rPr>
              <a:t>•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从“租赁招商”转向“产业招商”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 i="0">
                <a:solidFill>
                  <a:srgbClr val="2A5BA8"/>
                </a:solidFill>
                <a:latin typeface="微软雅黑"/>
                <a:ea typeface="微软雅黑"/>
              </a:rPr>
              <a:t>•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建立企业画像与招商漏斗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 i="0">
                <a:solidFill>
                  <a:srgbClr val="2A5BA8"/>
                </a:solidFill>
                <a:latin typeface="微软雅黑"/>
                <a:ea typeface="微软雅黑"/>
              </a:rPr>
              <a:t>•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动态监测竞品租金和空置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 i="0">
                <a:solidFill>
                  <a:srgbClr val="2A5BA8"/>
                </a:solidFill>
                <a:latin typeface="微软雅黑"/>
                <a:ea typeface="微软雅黑"/>
              </a:rPr>
              <a:t>•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引入企业服务·政策·资本·产业链资源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 i="0">
                <a:solidFill>
                  <a:srgbClr val="2A5BA8"/>
                </a:solidFill>
                <a:latin typeface="微软雅黑"/>
                <a:ea typeface="微软雅黑"/>
              </a:rPr>
              <a:t>•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对老旧载体进行场景化改造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069080"/>
            <a:ext cx="566928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069080"/>
            <a:ext cx="5669280" cy="329184"/>
          </a:xfrm>
          <a:prstGeom prst="rect">
            <a:avLst/>
          </a:prstGeom>
          <a:solidFill>
            <a:srgbClr val="E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069080"/>
            <a:ext cx="365760" cy="32918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E6B66E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069080"/>
            <a:ext cx="5166360" cy="32918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对资产持有方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480560"/>
            <a:ext cx="5394960" cy="1645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 i="0">
                <a:solidFill>
                  <a:srgbClr val="E06A2C"/>
                </a:solidFill>
                <a:latin typeface="微软雅黑"/>
                <a:ea typeface="微软雅黑"/>
              </a:rPr>
              <a:t>•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重新评估资产定位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 i="0">
                <a:solidFill>
                  <a:srgbClr val="E06A2C"/>
                </a:solidFill>
                <a:latin typeface="微软雅黑"/>
                <a:ea typeface="微软雅黑"/>
              </a:rPr>
              <a:t>•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建立竞品对标体系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 i="0">
                <a:solidFill>
                  <a:srgbClr val="E06A2C"/>
                </a:solidFill>
                <a:latin typeface="微软雅黑"/>
                <a:ea typeface="微软雅黑"/>
              </a:rPr>
              <a:t>•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关注真实成交而非挂牌租金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 i="0">
                <a:solidFill>
                  <a:srgbClr val="E06A2C"/>
                </a:solidFill>
                <a:latin typeface="微软雅黑"/>
                <a:ea typeface="微软雅黑"/>
              </a:rPr>
              <a:t>•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通过产业主题提升资产溢价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 i="0">
                <a:solidFill>
                  <a:srgbClr val="E06A2C"/>
                </a:solidFill>
                <a:latin typeface="微软雅黑"/>
                <a:ea typeface="微软雅黑"/>
              </a:rPr>
              <a:t>•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为 REITs / 资本化储备数据基础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069080"/>
            <a:ext cx="566928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4069080"/>
            <a:ext cx="5669280" cy="329184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069080"/>
            <a:ext cx="365760" cy="32918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E6B66E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069080"/>
            <a:ext cx="5166360" cy="32918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对企业选址方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5392" y="4480560"/>
            <a:ext cx="5394960" cy="1645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 i="0">
                <a:solidFill>
                  <a:srgbClr val="C8913A"/>
                </a:solidFill>
                <a:latin typeface="微软雅黑"/>
                <a:ea typeface="微软雅黑"/>
              </a:rPr>
              <a:t>•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建立综合承租成本模型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 i="0">
                <a:solidFill>
                  <a:srgbClr val="C8913A"/>
                </a:solidFill>
                <a:latin typeface="微软雅黑"/>
                <a:ea typeface="微软雅黑"/>
              </a:rPr>
              <a:t>•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综合比较政策/产业/人才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 i="0">
                <a:solidFill>
                  <a:srgbClr val="C8913A"/>
                </a:solidFill>
                <a:latin typeface="微软雅黑"/>
                <a:ea typeface="微软雅黑"/>
              </a:rPr>
              <a:t>•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根据企业阶段选择空间类型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 i="0">
                <a:solidFill>
                  <a:srgbClr val="C8913A"/>
                </a:solidFill>
                <a:latin typeface="微软雅黑"/>
                <a:ea typeface="微软雅黑"/>
              </a:rPr>
              <a:t>•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成长企业关注扩租弹性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 i="0">
                <a:solidFill>
                  <a:srgbClr val="C8913A"/>
                </a:solidFill>
                <a:latin typeface="微软雅黑"/>
                <a:ea typeface="微软雅黑"/>
              </a:rPr>
              <a:t>•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总部企业关注品牌与资源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48640" cy="54864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486400" cy="7315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 i="0">
                <a:solidFill>
                  <a:srgbClr val="E6B66E"/>
                </a:solidFill>
                <a:latin typeface="微软雅黑"/>
                <a:ea typeface="微软雅黑"/>
              </a:rPr>
              <a:t>PART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68580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C9CED8"/>
                </a:solidFill>
                <a:latin typeface="微软雅黑"/>
                <a:ea typeface="微软雅黑"/>
              </a:rPr>
              <a:t>DELIVERABLES 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9601200" cy="1463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微软雅黑"/>
                <a:ea typeface="微软雅黑"/>
              </a:rPr>
              <a:t>成果体系与商业化产品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5029200"/>
            <a:ext cx="109728" cy="109728"/>
          </a:xfrm>
          <a:prstGeom prst="ellipse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937760"/>
            <a:ext cx="105156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</a:rPr>
              <a:t>月报 / 季报 / 白皮书 / 区域专项 / 楼宇诊断 / 选址服务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5394960"/>
            <a:ext cx="109728" cy="109728"/>
          </a:xfrm>
          <a:prstGeom prst="ellipse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303520"/>
            <a:ext cx="105156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</a:rPr>
              <a:t>从一份报告升级为长期产品矩阵与研究品牌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2743200"/>
            <a:ext cx="3474720" cy="4114800"/>
          </a:xfrm>
          <a:prstGeom prst="rect">
            <a:avLst/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4000" b="1" i="0">
                <a:solidFill>
                  <a:srgbClr val="1C3670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C9CED8"/>
                </a:solidFill>
                <a:latin typeface="微软雅黑"/>
                <a:ea typeface="微软雅黑"/>
              </a:rPr>
              <a:t>上海商办楼宇与产业园区市场深度报告  ·  讨论稿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292608" cy="68580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2A5BA8"/>
                </a:solidFill>
                <a:latin typeface="微软雅黑"/>
                <a:ea typeface="微软雅黑"/>
              </a:rPr>
              <a:t>PART 10 · 成果矩阵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 i="0">
                <a:solidFill>
                  <a:srgbClr val="102A5B"/>
                </a:solidFill>
                <a:latin typeface="微软雅黑"/>
                <a:ea typeface="微软雅黑"/>
              </a:rPr>
              <a:t>成果体系与商业化产品矩阵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07008"/>
            <a:ext cx="502920" cy="4572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170432"/>
            <a:ext cx="10515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1">
                <a:solidFill>
                  <a:srgbClr val="6E737C"/>
                </a:solidFill>
                <a:latin typeface="微软雅黑"/>
                <a:ea typeface="微软雅黑"/>
              </a:rPr>
              <a:t>Report + Database + Visualization + Productized services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8DE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上海商办楼宇与产业园区市场深度报告  ·  讨论稿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6895" y="6473952"/>
            <a:ext cx="35661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易居研究院 × 复旦大学住房政策研究中心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88775" y="6473952"/>
            <a:ext cx="3657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102A5B"/>
                </a:solidFill>
                <a:latin typeface="微软雅黑"/>
                <a:ea typeface="微软雅黑"/>
              </a:rPr>
              <a:t>29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36576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783080"/>
            <a:ext cx="3657600" cy="502920"/>
          </a:xfrm>
          <a:prstGeom prst="rect">
            <a:avLst/>
          </a:prstGeom>
          <a:solidFill>
            <a:srgbClr val="2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783080"/>
            <a:ext cx="237744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月度市场监测简报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54680" y="1874520"/>
            <a:ext cx="914400" cy="32004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4680" y="1874520"/>
            <a:ext cx="914400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071A3F"/>
                </a:solidFill>
                <a:latin typeface="微软雅黑"/>
                <a:ea typeface="微软雅黑"/>
              </a:rPr>
              <a:t>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423160"/>
            <a:ext cx="3383280" cy="13716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 i="0">
                <a:solidFill>
                  <a:srgbClr val="1A222E"/>
                </a:solidFill>
                <a:latin typeface="微软雅黑"/>
                <a:ea typeface="微软雅黑"/>
              </a:rPr>
              <a:t>租金 / 空置 / 迁徙 / 招商热点 / 预警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8264" y="1783080"/>
            <a:ext cx="36576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98264" y="1783080"/>
            <a:ext cx="3657600" cy="50292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35424" y="1783080"/>
            <a:ext cx="237744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季度深度报告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04304" y="1874520"/>
            <a:ext cx="914400" cy="32004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04304" y="1874520"/>
            <a:ext cx="914400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071A3F"/>
                </a:solidFill>
                <a:latin typeface="微软雅黑"/>
                <a:ea typeface="微软雅黑"/>
              </a:rPr>
              <a:t>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2423160"/>
            <a:ext cx="3383280" cy="13716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 i="0">
                <a:solidFill>
                  <a:srgbClr val="1A222E"/>
                </a:solidFill>
                <a:latin typeface="微软雅黑"/>
                <a:ea typeface="微软雅黑"/>
              </a:rPr>
              <a:t>区域 / 产业 / 迁徙 / 资管 / 趋势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47888" y="1783080"/>
            <a:ext cx="36576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47888" y="1783080"/>
            <a:ext cx="3657600" cy="50292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5048" y="1783080"/>
            <a:ext cx="237744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年度白皮书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853928" y="1874520"/>
            <a:ext cx="914400" cy="32004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53928" y="1874520"/>
            <a:ext cx="914400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071A3F"/>
                </a:solidFill>
                <a:latin typeface="微软雅黑"/>
                <a:ea typeface="微软雅黑"/>
              </a:rPr>
              <a:t>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2423160"/>
            <a:ext cx="3383280" cy="13716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 i="0">
                <a:solidFill>
                  <a:srgbClr val="1A222E"/>
                </a:solidFill>
                <a:latin typeface="微软雅黑"/>
                <a:ea typeface="微软雅黑"/>
              </a:rPr>
              <a:t>全域格局 + 年度趋势 + 政策建议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069080"/>
            <a:ext cx="36576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4069080"/>
            <a:ext cx="3657600" cy="502920"/>
          </a:xfrm>
          <a:prstGeom prst="rect">
            <a:avLst/>
          </a:prstGeom>
          <a:solidFill>
            <a:srgbClr val="E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069080"/>
            <a:ext cx="237744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区域专项报告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54680" y="4160520"/>
            <a:ext cx="914400" cy="32004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54680" y="4160520"/>
            <a:ext cx="914400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071A3F"/>
                </a:solidFill>
                <a:latin typeface="微软雅黑"/>
                <a:ea typeface="微软雅黑"/>
              </a:rPr>
              <a:t>按需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709160"/>
            <a:ext cx="3383280" cy="13716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 i="0">
                <a:solidFill>
                  <a:srgbClr val="1A222E"/>
                </a:solidFill>
                <a:latin typeface="微软雅黑"/>
                <a:ea typeface="微软雅黑"/>
              </a:rPr>
              <a:t>杨浦 / 浦东 / 徐汇滨江 / 嘉定 / 临港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98264" y="4069080"/>
            <a:ext cx="36576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98264" y="4069080"/>
            <a:ext cx="3657600" cy="502920"/>
          </a:xfrm>
          <a:prstGeom prst="rect">
            <a:avLst/>
          </a:prstGeom>
          <a:solidFill>
            <a:srgbClr val="2F7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35424" y="4069080"/>
            <a:ext cx="237744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楼宇 / 园区诊断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04304" y="4160520"/>
            <a:ext cx="914400" cy="32004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04304" y="4160520"/>
            <a:ext cx="914400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071A3F"/>
                </a:solidFill>
                <a:latin typeface="微软雅黑"/>
                <a:ea typeface="微软雅黑"/>
              </a:rPr>
              <a:t>按项目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81144" y="4709160"/>
            <a:ext cx="3383280" cy="13716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 i="0">
                <a:solidFill>
                  <a:srgbClr val="1A222E"/>
                </a:solidFill>
                <a:latin typeface="微软雅黑"/>
                <a:ea typeface="微软雅黑"/>
              </a:rPr>
              <a:t>竞品 / 租金 / 空置 / 招商 / 改造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47888" y="4069080"/>
            <a:ext cx="36576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47888" y="4069080"/>
            <a:ext cx="3657600" cy="502920"/>
          </a:xfrm>
          <a:prstGeom prst="rect">
            <a:avLst/>
          </a:prstGeom>
          <a:solidFill>
            <a:srgbClr val="6B4E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85048" y="4069080"/>
            <a:ext cx="237744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企业选址服务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853928" y="4160520"/>
            <a:ext cx="914400" cy="32004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853928" y="4160520"/>
            <a:ext cx="914400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071A3F"/>
                </a:solidFill>
                <a:latin typeface="微软雅黑"/>
                <a:ea typeface="微软雅黑"/>
              </a:rPr>
              <a:t>按企业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30768" y="4709160"/>
            <a:ext cx="3383280" cy="13716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 i="0">
                <a:solidFill>
                  <a:srgbClr val="1A222E"/>
                </a:solidFill>
                <a:latin typeface="微软雅黑"/>
                <a:ea typeface="微软雅黑"/>
              </a:rPr>
              <a:t>区域 + 楼宇 + 政策 + 成本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48640" cy="54864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486400" cy="7315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 i="0">
                <a:solidFill>
                  <a:srgbClr val="E6B66E"/>
                </a:solidFill>
                <a:latin typeface="微软雅黑"/>
                <a:ea typeface="微软雅黑"/>
              </a:rPr>
              <a:t>PART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68580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C9CED8"/>
                </a:solidFill>
                <a:latin typeface="微软雅黑"/>
                <a:ea typeface="微软雅黑"/>
              </a:rPr>
              <a:t>DATA 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9601200" cy="1463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微软雅黑"/>
                <a:ea typeface="微软雅黑"/>
              </a:rPr>
              <a:t>数据体系（六大基础数据库）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5029200"/>
            <a:ext cx="109728" cy="109728"/>
          </a:xfrm>
          <a:prstGeom prst="ellipse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937760"/>
            <a:ext cx="105156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</a:rPr>
              <a:t>楼宇/园区  ·  租金/空置  ·  企业入驻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5394960"/>
            <a:ext cx="109728" cy="109728"/>
          </a:xfrm>
          <a:prstGeom prst="ellipse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303520"/>
            <a:ext cx="105156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</a:rPr>
              <a:t>企业迁徙  ·  产业标签  ·  政策配套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2743200"/>
            <a:ext cx="3474720" cy="4114800"/>
          </a:xfrm>
          <a:prstGeom prst="rect">
            <a:avLst/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4000" b="1" i="0">
                <a:solidFill>
                  <a:srgbClr val="1C3670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C9CED8"/>
                </a:solidFill>
                <a:latin typeface="微软雅黑"/>
                <a:ea typeface="微软雅黑"/>
              </a:rPr>
              <a:t>上海商办楼宇与产业园区市场深度报告  ·  讨论稿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292608" cy="68580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2A5BA8"/>
                </a:solidFill>
                <a:latin typeface="微软雅黑"/>
                <a:ea typeface="微软雅黑"/>
              </a:rPr>
              <a:t>PART 11 · 数据体系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 i="0">
                <a:solidFill>
                  <a:srgbClr val="102A5B"/>
                </a:solidFill>
                <a:latin typeface="微软雅黑"/>
                <a:ea typeface="微软雅黑"/>
              </a:rPr>
              <a:t>六大基础数据库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07008"/>
            <a:ext cx="502920" cy="4572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170432"/>
            <a:ext cx="10515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1">
                <a:solidFill>
                  <a:srgbClr val="6E737C"/>
                </a:solidFill>
                <a:latin typeface="微软雅黑"/>
                <a:ea typeface="微软雅黑"/>
              </a:rPr>
              <a:t>Six core databases — 全域 / 动态 / 可校验 / 可落地的研究底座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8DE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上海商办楼宇与产业园区市场深度报告  ·  讨论稿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6895" y="6473952"/>
            <a:ext cx="35661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易居研究院 × 复旦大学住房政策研究中心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88775" y="6473952"/>
            <a:ext cx="3657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102A5B"/>
                </a:solidFill>
                <a:latin typeface="微软雅黑"/>
                <a:ea typeface="微软雅黑"/>
              </a:rPr>
              <a:t>31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56692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783080"/>
            <a:ext cx="5669280" cy="411480"/>
          </a:xfrm>
          <a:prstGeom prst="rect">
            <a:avLst/>
          </a:prstGeom>
          <a:solidFill>
            <a:srgbClr val="2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94960" y="1847088"/>
            <a:ext cx="777240" cy="292608"/>
          </a:xfrm>
          <a:prstGeom prst="ellipse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0" y="1847088"/>
            <a:ext cx="777240" cy="29260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071A3F"/>
                </a:solidFill>
                <a:latin typeface="微软雅黑"/>
                <a:ea typeface="微软雅黑"/>
              </a:rPr>
              <a:t>21 字段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1783080"/>
            <a:ext cx="457200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楼宇与园区基础库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286000"/>
            <a:ext cx="5394960" cy="7772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名称 / 类型 / 区街镇 / 地址 / 面积 / 层数 / 物业等级 / 产权 / 运营 / 招商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783080"/>
            <a:ext cx="56692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1783080"/>
            <a:ext cx="5669280" cy="411480"/>
          </a:xfrm>
          <a:prstGeom prst="rect">
            <a:avLst/>
          </a:prstGeom>
          <a:solidFill>
            <a:srgbClr val="E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47120" y="1847088"/>
            <a:ext cx="777240" cy="292608"/>
          </a:xfrm>
          <a:prstGeom prst="ellipse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247120" y="1847088"/>
            <a:ext cx="777240" cy="29260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071A3F"/>
                </a:solidFill>
                <a:latin typeface="微软雅黑"/>
                <a:ea typeface="微软雅黑"/>
              </a:rPr>
              <a:t>15 字段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783080"/>
            <a:ext cx="457200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租金与空置库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286000"/>
            <a:ext cx="5394960" cy="7772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报价 / 成交 / 物业费 / 可租 / 空置 / 楼层 / 装修 / 免租 / 付款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246120"/>
            <a:ext cx="56692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246120"/>
            <a:ext cx="5669280" cy="411480"/>
          </a:xfrm>
          <a:prstGeom prst="rect">
            <a:avLst/>
          </a:prstGeom>
          <a:solidFill>
            <a:srgbClr val="2F7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394960" y="3310128"/>
            <a:ext cx="777240" cy="292608"/>
          </a:xfrm>
          <a:prstGeom prst="ellipse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4960" y="3310128"/>
            <a:ext cx="777240" cy="29260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071A3F"/>
                </a:solidFill>
                <a:latin typeface="微软雅黑"/>
                <a:ea typeface="微软雅黑"/>
              </a:rPr>
              <a:t>17 字段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246120"/>
            <a:ext cx="457200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企业入驻库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3749040"/>
            <a:ext cx="5394960" cy="7772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名称 / 信用代码 / 注册 / 办公 / 楼宇 / 行业 / 规模 / 融资 / 资质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246120"/>
            <a:ext cx="56692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3246120"/>
            <a:ext cx="5669280" cy="41148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247120" y="3310128"/>
            <a:ext cx="777240" cy="292608"/>
          </a:xfrm>
          <a:prstGeom prst="ellipse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247120" y="3310128"/>
            <a:ext cx="777240" cy="29260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071A3F"/>
                </a:solidFill>
                <a:latin typeface="微软雅黑"/>
                <a:ea typeface="微软雅黑"/>
              </a:rPr>
              <a:t>14 字段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3246120"/>
            <a:ext cx="457200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企业迁徙库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3749040"/>
            <a:ext cx="5394960" cy="7772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原/新 地址·楼宇·街镇 / 时间 / 类型 / 面积 / 租金 / 行业 / 规模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709160"/>
            <a:ext cx="56692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4709160"/>
            <a:ext cx="5669280" cy="41148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94960" y="4773168"/>
            <a:ext cx="777240" cy="292608"/>
          </a:xfrm>
          <a:prstGeom prst="ellipse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94960" y="4773168"/>
            <a:ext cx="777240" cy="29260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071A3F"/>
                </a:solidFill>
                <a:latin typeface="微软雅黑"/>
                <a:ea typeface="微软雅黑"/>
              </a:rPr>
              <a:t>15 字段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709160"/>
            <a:ext cx="457200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产业标签库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212080"/>
            <a:ext cx="5394960" cy="7772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三级行业 / 战新 / 重点 / 新质 / 产业链 / 产品 / 客户 / 专利 / 资质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709160"/>
            <a:ext cx="56692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00800" y="4709160"/>
            <a:ext cx="5669280" cy="411480"/>
          </a:xfrm>
          <a:prstGeom prst="rect">
            <a:avLst/>
          </a:prstGeom>
          <a:solidFill>
            <a:srgbClr val="6B4E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247120" y="4773168"/>
            <a:ext cx="777240" cy="292608"/>
          </a:xfrm>
          <a:prstGeom prst="ellipse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247120" y="4773168"/>
            <a:ext cx="777240" cy="29260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071A3F"/>
                </a:solidFill>
                <a:latin typeface="微软雅黑"/>
                <a:ea typeface="微软雅黑"/>
              </a:rPr>
              <a:t>15 字段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4709160"/>
            <a:ext cx="457200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政策与配套库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29400" y="5212080"/>
            <a:ext cx="5394960" cy="7772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区/街镇政策 / 租金/装修/人才补贴 / 税收 / 基金 / 落户 / 交通商医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292608" cy="68580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2A5BA8"/>
                </a:solidFill>
                <a:latin typeface="微软雅黑"/>
                <a:ea typeface="微软雅黑"/>
              </a:rPr>
              <a:t>PART 12 · 指标体系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 i="0">
                <a:solidFill>
                  <a:srgbClr val="102A5B"/>
                </a:solidFill>
                <a:latin typeface="微软雅黑"/>
                <a:ea typeface="微软雅黑"/>
              </a:rPr>
              <a:t>核心指标体系：五大指数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07008"/>
            <a:ext cx="502920" cy="4572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170432"/>
            <a:ext cx="10515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1">
                <a:solidFill>
                  <a:srgbClr val="6E737C"/>
                </a:solidFill>
                <a:latin typeface="微软雅黑"/>
                <a:ea typeface="微软雅黑"/>
              </a:rPr>
              <a:t>Five core indices — 让研究可量化、可对比、可发布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8DE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上海商办楼宇与产业园区市场深度报告  ·  讨论稿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6895" y="6473952"/>
            <a:ext cx="35661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易居研究院 × 复旦大学住房政策研究中心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88775" y="6473952"/>
            <a:ext cx="3657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102A5B"/>
                </a:solidFill>
                <a:latin typeface="微软雅黑"/>
                <a:ea typeface="微软雅黑"/>
              </a:rPr>
              <a:t>32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36576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783080"/>
            <a:ext cx="3657600" cy="457200"/>
          </a:xfrm>
          <a:prstGeom prst="rect">
            <a:avLst/>
          </a:prstGeom>
          <a:solidFill>
            <a:srgbClr val="2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783080"/>
            <a:ext cx="329184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区域市场景气指数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286000"/>
            <a:ext cx="3383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1">
                <a:solidFill>
                  <a:srgbClr val="C8913A"/>
                </a:solidFill>
                <a:latin typeface="微软雅黑"/>
                <a:ea typeface="微软雅黑"/>
              </a:rPr>
              <a:t>▎ 判断区域冷热·短期波动·预警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606040"/>
            <a:ext cx="3291840" cy="1325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 i="0">
                <a:solidFill>
                  <a:srgbClr val="2A5BA8"/>
                </a:solidFill>
                <a:latin typeface="微软雅黑"/>
                <a:ea typeface="微软雅黑"/>
              </a:rPr>
              <a:t>·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租金变化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 i="0">
                <a:solidFill>
                  <a:srgbClr val="2A5BA8"/>
                </a:solidFill>
                <a:latin typeface="微软雅黑"/>
                <a:ea typeface="微软雅黑"/>
              </a:rPr>
              <a:t>·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空置率变化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 i="0">
                <a:solidFill>
                  <a:srgbClr val="2A5BA8"/>
                </a:solidFill>
                <a:latin typeface="微软雅黑"/>
                <a:ea typeface="微软雅黑"/>
              </a:rPr>
              <a:t>·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新增成交面积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 i="0">
                <a:solidFill>
                  <a:srgbClr val="2A5BA8"/>
                </a:solidFill>
                <a:latin typeface="微软雅黑"/>
                <a:ea typeface="微软雅黑"/>
              </a:rPr>
              <a:t>·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新增企业数量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 i="0">
                <a:solidFill>
                  <a:srgbClr val="2A5BA8"/>
                </a:solidFill>
                <a:latin typeface="微软雅黑"/>
                <a:ea typeface="微软雅黑"/>
              </a:rPr>
              <a:t>·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企业净流入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 i="0">
                <a:solidFill>
                  <a:srgbClr val="2A5BA8"/>
                </a:solidFill>
                <a:latin typeface="微软雅黑"/>
                <a:ea typeface="微软雅黑"/>
              </a:rPr>
              <a:t>·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去化速度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98264" y="1783080"/>
            <a:ext cx="36576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98264" y="1783080"/>
            <a:ext cx="3657600" cy="45720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81144" y="1783080"/>
            <a:ext cx="329184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楼宇/园区竞争力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2286000"/>
            <a:ext cx="3383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1">
                <a:solidFill>
                  <a:srgbClr val="C8913A"/>
                </a:solidFill>
                <a:latin typeface="微软雅黑"/>
                <a:ea typeface="微软雅黑"/>
              </a:rPr>
              <a:t>▎ 横向对标·资产诊断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6864" y="2606040"/>
            <a:ext cx="3291840" cy="1325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 i="0">
                <a:solidFill>
                  <a:srgbClr val="102A5B"/>
                </a:solidFill>
                <a:latin typeface="微软雅黑"/>
                <a:ea typeface="微软雅黑"/>
              </a:rPr>
              <a:t>·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区位交通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 i="0">
                <a:solidFill>
                  <a:srgbClr val="102A5B"/>
                </a:solidFill>
                <a:latin typeface="微软雅黑"/>
                <a:ea typeface="微软雅黑"/>
              </a:rPr>
              <a:t>·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租金性价比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 i="0">
                <a:solidFill>
                  <a:srgbClr val="102A5B"/>
                </a:solidFill>
                <a:latin typeface="微软雅黑"/>
                <a:ea typeface="微软雅黑"/>
              </a:rPr>
              <a:t>·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空间品质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 i="0">
                <a:solidFill>
                  <a:srgbClr val="102A5B"/>
                </a:solidFill>
                <a:latin typeface="微软雅黑"/>
                <a:ea typeface="微软雅黑"/>
              </a:rPr>
              <a:t>·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产业集聚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 i="0">
                <a:solidFill>
                  <a:srgbClr val="102A5B"/>
                </a:solidFill>
                <a:latin typeface="微软雅黑"/>
                <a:ea typeface="微软雅黑"/>
              </a:rPr>
              <a:t>·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企业质量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 i="0">
                <a:solidFill>
                  <a:srgbClr val="102A5B"/>
                </a:solidFill>
                <a:latin typeface="微软雅黑"/>
                <a:ea typeface="微软雅黑"/>
              </a:rPr>
              <a:t>·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服务能力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 i="0">
                <a:solidFill>
                  <a:srgbClr val="102A5B"/>
                </a:solidFill>
                <a:latin typeface="微软雅黑"/>
                <a:ea typeface="微软雅黑"/>
              </a:rPr>
              <a:t>·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政策资源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 i="0">
                <a:solidFill>
                  <a:srgbClr val="102A5B"/>
                </a:solidFill>
                <a:latin typeface="微软雅黑"/>
                <a:ea typeface="微软雅黑"/>
              </a:rPr>
              <a:t>·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去化表现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47888" y="1783080"/>
            <a:ext cx="36576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47888" y="1783080"/>
            <a:ext cx="3657600" cy="457200"/>
          </a:xfrm>
          <a:prstGeom prst="rect">
            <a:avLst/>
          </a:prstGeom>
          <a:solidFill>
            <a:srgbClr val="E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0768" y="1783080"/>
            <a:ext cx="329184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企业需求热度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2286000"/>
            <a:ext cx="3383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1">
                <a:solidFill>
                  <a:srgbClr val="C8913A"/>
                </a:solidFill>
                <a:latin typeface="微软雅黑"/>
                <a:ea typeface="微软雅黑"/>
              </a:rPr>
              <a:t>▎ 需求强弱·增长方向·线索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6488" y="2606040"/>
            <a:ext cx="3291840" cy="1325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 i="0">
                <a:solidFill>
                  <a:srgbClr val="E06A2C"/>
                </a:solidFill>
                <a:latin typeface="微软雅黑"/>
                <a:ea typeface="微软雅黑"/>
              </a:rPr>
              <a:t>·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新注册企业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 i="0">
                <a:solidFill>
                  <a:srgbClr val="E06A2C"/>
                </a:solidFill>
                <a:latin typeface="微软雅黑"/>
                <a:ea typeface="微软雅黑"/>
              </a:rPr>
              <a:t>·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融资企业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 i="0">
                <a:solidFill>
                  <a:srgbClr val="E06A2C"/>
                </a:solidFill>
                <a:latin typeface="微软雅黑"/>
                <a:ea typeface="微软雅黑"/>
              </a:rPr>
              <a:t>·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招聘岗位增长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 i="0">
                <a:solidFill>
                  <a:srgbClr val="E06A2C"/>
                </a:solidFill>
                <a:latin typeface="微软雅黑"/>
                <a:ea typeface="微软雅黑"/>
              </a:rPr>
              <a:t>·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扩租企业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 i="0">
                <a:solidFill>
                  <a:srgbClr val="E06A2C"/>
                </a:solidFill>
                <a:latin typeface="微软雅黑"/>
                <a:ea typeface="微软雅黑"/>
              </a:rPr>
              <a:t>·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新租企业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 i="0">
                <a:solidFill>
                  <a:srgbClr val="E06A2C"/>
                </a:solidFill>
                <a:latin typeface="微软雅黑"/>
                <a:ea typeface="微软雅黑"/>
              </a:rPr>
              <a:t>·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重点产业活跃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114800"/>
            <a:ext cx="36576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114800"/>
            <a:ext cx="3657600" cy="457200"/>
          </a:xfrm>
          <a:prstGeom prst="rect">
            <a:avLst/>
          </a:prstGeom>
          <a:solidFill>
            <a:srgbClr val="2F7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114800"/>
            <a:ext cx="329184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产业集聚度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617720"/>
            <a:ext cx="3383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1">
                <a:solidFill>
                  <a:srgbClr val="C8913A"/>
                </a:solidFill>
                <a:latin typeface="微软雅黑"/>
                <a:ea typeface="微软雅黑"/>
              </a:rPr>
              <a:t>▎ 主导产业·集群成熟度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937760"/>
            <a:ext cx="3291840" cy="1325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 i="0">
                <a:solidFill>
                  <a:srgbClr val="2F7D5C"/>
                </a:solidFill>
                <a:latin typeface="微软雅黑"/>
                <a:ea typeface="微软雅黑"/>
              </a:rPr>
              <a:t>·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同行业数量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 i="0">
                <a:solidFill>
                  <a:srgbClr val="2F7D5C"/>
                </a:solidFill>
                <a:latin typeface="微软雅黑"/>
                <a:ea typeface="微软雅黑"/>
              </a:rPr>
              <a:t>·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龙头数量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 i="0">
                <a:solidFill>
                  <a:srgbClr val="2F7D5C"/>
                </a:solidFill>
                <a:latin typeface="微软雅黑"/>
                <a:ea typeface="微软雅黑"/>
              </a:rPr>
              <a:t>·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上下游完整度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 i="0">
                <a:solidFill>
                  <a:srgbClr val="2F7D5C"/>
                </a:solidFill>
                <a:latin typeface="微软雅黑"/>
                <a:ea typeface="微软雅黑"/>
              </a:rPr>
              <a:t>·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专精特新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 i="0">
                <a:solidFill>
                  <a:srgbClr val="2F7D5C"/>
                </a:solidFill>
                <a:latin typeface="微软雅黑"/>
                <a:ea typeface="微软雅黑"/>
              </a:rPr>
              <a:t>·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高新数量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 i="0">
                <a:solidFill>
                  <a:srgbClr val="2F7D5C"/>
                </a:solidFill>
                <a:latin typeface="微软雅黑"/>
                <a:ea typeface="微软雅黑"/>
              </a:rPr>
              <a:t>·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协同程度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98264" y="4114800"/>
            <a:ext cx="36576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98264" y="4114800"/>
            <a:ext cx="3657600" cy="45720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81144" y="4114800"/>
            <a:ext cx="329184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供需匹配度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1144" y="4617720"/>
            <a:ext cx="3383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1">
                <a:solidFill>
                  <a:srgbClr val="C8913A"/>
                </a:solidFill>
                <a:latin typeface="微软雅黑"/>
                <a:ea typeface="微软雅黑"/>
              </a:rPr>
              <a:t>▎ 楼宇适配企业·园区适配产业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26864" y="4937760"/>
            <a:ext cx="3291840" cy="1325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 i="0">
                <a:solidFill>
                  <a:srgbClr val="C8913A"/>
                </a:solidFill>
                <a:latin typeface="微软雅黑"/>
                <a:ea typeface="微软雅黑"/>
              </a:rPr>
              <a:t>·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面积匹配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 i="0">
                <a:solidFill>
                  <a:srgbClr val="C8913A"/>
                </a:solidFill>
                <a:latin typeface="微软雅黑"/>
                <a:ea typeface="微软雅黑"/>
              </a:rPr>
              <a:t>·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租金匹配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 i="0">
                <a:solidFill>
                  <a:srgbClr val="C8913A"/>
                </a:solidFill>
                <a:latin typeface="微软雅黑"/>
                <a:ea typeface="微软雅黑"/>
              </a:rPr>
              <a:t>·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产业匹配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 i="0">
                <a:solidFill>
                  <a:srgbClr val="C8913A"/>
                </a:solidFill>
                <a:latin typeface="微软雅黑"/>
                <a:ea typeface="微软雅黑"/>
              </a:rPr>
              <a:t>·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政策匹配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 i="0">
                <a:solidFill>
                  <a:srgbClr val="C8913A"/>
                </a:solidFill>
                <a:latin typeface="微软雅黑"/>
                <a:ea typeface="微软雅黑"/>
              </a:rPr>
              <a:t>·  </a:t>
            </a: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使用场景匹配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292608" cy="68580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2A5BA8"/>
                </a:solidFill>
                <a:latin typeface="微软雅黑"/>
                <a:ea typeface="微软雅黑"/>
              </a:rPr>
              <a:t>PART 13 · 数据调用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 i="0">
                <a:solidFill>
                  <a:srgbClr val="102A5B"/>
                </a:solidFill>
                <a:latin typeface="微软雅黑"/>
                <a:ea typeface="微软雅黑"/>
              </a:rPr>
              <a:t>数据调用原则与四阶段采集路线图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07008"/>
            <a:ext cx="502920" cy="4572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170432"/>
            <a:ext cx="10515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1">
                <a:solidFill>
                  <a:srgbClr val="6E737C"/>
                </a:solidFill>
                <a:latin typeface="微软雅黑"/>
                <a:ea typeface="微软雅黑"/>
              </a:rPr>
              <a:t>Five principles × Four-phase data collection roadmap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8DE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上海商办楼宇与产业园区市场深度报告  ·  讨论稿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6895" y="6473952"/>
            <a:ext cx="35661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易居研究院 × 复旦大学住房政策研究中心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88775" y="6473952"/>
            <a:ext cx="3657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102A5B"/>
                </a:solidFill>
                <a:latin typeface="微软雅黑"/>
                <a:ea typeface="微软雅黑"/>
              </a:rPr>
              <a:t>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五项数据调用原则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011680"/>
            <a:ext cx="365760" cy="36576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194560"/>
            <a:ext cx="1554480" cy="438912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194560"/>
            <a:ext cx="1554480" cy="43891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① 公开合规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2194560"/>
            <a:ext cx="4023360" cy="438912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40280" y="2194560"/>
            <a:ext cx="3840480" cy="43891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公开/授权/合作/调研为主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697480"/>
            <a:ext cx="1554480" cy="438912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697480"/>
            <a:ext cx="1554480" cy="43891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② 多源交叉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2697480"/>
            <a:ext cx="4023360" cy="438912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40280" y="2697480"/>
            <a:ext cx="3840480" cy="43891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关键字段 ≥ 2 来源验证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200400"/>
            <a:ext cx="1554480" cy="438912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200400"/>
            <a:ext cx="1554480" cy="43891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③ 动态更新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03120" y="3200400"/>
            <a:ext cx="4023360" cy="438912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40280" y="3200400"/>
            <a:ext cx="3840480" cy="43891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建立月度更新机制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703320"/>
            <a:ext cx="1554480" cy="438912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703320"/>
            <a:ext cx="1554480" cy="43891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④ 分级可信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03120" y="3703320"/>
            <a:ext cx="4023360" cy="438912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40280" y="3703320"/>
            <a:ext cx="3840480" cy="43891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A/B/C/D 四级可信度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206240"/>
            <a:ext cx="1554480" cy="438912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206240"/>
            <a:ext cx="1554480" cy="43891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⑤ 人工校验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03120" y="4206240"/>
            <a:ext cx="4023360" cy="438912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80" y="4206240"/>
            <a:ext cx="3840480" cy="43891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AI 提效 + 关键样本人工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1691640"/>
            <a:ext cx="5486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四阶段采集路线图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2011680"/>
            <a:ext cx="365760" cy="36576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3063240"/>
            <a:ext cx="5303520" cy="54864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858000" y="2971800"/>
            <a:ext cx="228600" cy="228600"/>
          </a:xfrm>
          <a:prstGeom prst="ellipse">
            <a:avLst/>
          </a:prstGeom>
          <a:solidFill>
            <a:srgbClr val="2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2194560"/>
            <a:ext cx="12801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2A5BA8"/>
                </a:solidFill>
                <a:latin typeface="微软雅黑"/>
                <a:ea typeface="微软雅黑"/>
              </a:rPr>
              <a:t>Phase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2468880"/>
            <a:ext cx="128016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102A5B"/>
                </a:solidFill>
                <a:latin typeface="微软雅黑"/>
                <a:ea typeface="微软雅黑"/>
              </a:rPr>
              <a:t>中心城区试点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2743200"/>
            <a:ext cx="12801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2A5BA8"/>
                </a:solidFill>
                <a:latin typeface="微软雅黑"/>
                <a:ea typeface="微软雅黑"/>
              </a:rPr>
              <a:t>▽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383280"/>
            <a:ext cx="1188720" cy="640080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3383280"/>
            <a:ext cx="109728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1A222E"/>
                </a:solidFill>
                <a:latin typeface="微软雅黑"/>
                <a:ea typeface="微软雅黑"/>
              </a:rPr>
              <a:t>黄静徐长普虹杨 7 区</a:t>
            </a:r>
          </a:p>
        </p:txBody>
      </p:sp>
      <p:sp>
        <p:nvSpPr>
          <p:cNvPr id="44" name="Oval 43"/>
          <p:cNvSpPr/>
          <p:nvPr/>
        </p:nvSpPr>
        <p:spPr>
          <a:xfrm>
            <a:off x="8183880" y="2971800"/>
            <a:ext cx="228600" cy="228600"/>
          </a:xfrm>
          <a:prstGeom prst="ellipse">
            <a:avLst/>
          </a:prstGeom>
          <a:solidFill>
            <a:srgbClr val="1E7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0960" y="2194560"/>
            <a:ext cx="12801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1E778E"/>
                </a:solidFill>
                <a:latin typeface="微软雅黑"/>
                <a:ea typeface="微软雅黑"/>
              </a:rPr>
              <a:t>Phase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80960" y="2468880"/>
            <a:ext cx="128016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102A5B"/>
                </a:solidFill>
                <a:latin typeface="微软雅黑"/>
                <a:ea typeface="微软雅黑"/>
              </a:rPr>
              <a:t>浦东新区补全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2743200"/>
            <a:ext cx="12801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E778E"/>
                </a:solidFill>
                <a:latin typeface="微软雅黑"/>
                <a:ea typeface="微软雅黑"/>
              </a:rPr>
              <a:t>▽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26680" y="3383280"/>
            <a:ext cx="1188720" cy="640080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0" y="3383280"/>
            <a:ext cx="109728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1A222E"/>
                </a:solidFill>
                <a:latin typeface="微软雅黑"/>
                <a:ea typeface="微软雅黑"/>
              </a:rPr>
              <a:t>陆家嘴/张江/临港...</a:t>
            </a:r>
          </a:p>
        </p:txBody>
      </p:sp>
      <p:sp>
        <p:nvSpPr>
          <p:cNvPr id="50" name="Oval 49"/>
          <p:cNvSpPr/>
          <p:nvPr/>
        </p:nvSpPr>
        <p:spPr>
          <a:xfrm>
            <a:off x="9509760" y="2971800"/>
            <a:ext cx="228600" cy="228600"/>
          </a:xfrm>
          <a:prstGeom prst="ellipse">
            <a:avLst/>
          </a:prstGeom>
          <a:solidFill>
            <a:srgbClr val="E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06840" y="2194560"/>
            <a:ext cx="12801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E06A2C"/>
                </a:solidFill>
                <a:latin typeface="微软雅黑"/>
                <a:ea typeface="微软雅黑"/>
              </a:rPr>
              <a:t>Phase 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06840" y="2468880"/>
            <a:ext cx="128016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102A5B"/>
                </a:solidFill>
                <a:latin typeface="微软雅黑"/>
                <a:ea typeface="微软雅黑"/>
              </a:rPr>
              <a:t>重点产业区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06840" y="2743200"/>
            <a:ext cx="12801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E06A2C"/>
                </a:solidFill>
                <a:latin typeface="微软雅黑"/>
                <a:ea typeface="微软雅黑"/>
              </a:rPr>
              <a:t>▽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52560" y="3383280"/>
            <a:ext cx="1188720" cy="640080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98280" y="3383280"/>
            <a:ext cx="109728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1A222E"/>
                </a:solidFill>
                <a:latin typeface="微软雅黑"/>
                <a:ea typeface="微软雅黑"/>
              </a:rPr>
              <a:t>闵嘉松青宝奉 + 重点板块</a:t>
            </a:r>
          </a:p>
        </p:txBody>
      </p:sp>
      <p:sp>
        <p:nvSpPr>
          <p:cNvPr id="56" name="Oval 55"/>
          <p:cNvSpPr/>
          <p:nvPr/>
        </p:nvSpPr>
        <p:spPr>
          <a:xfrm>
            <a:off x="10835640" y="2971800"/>
            <a:ext cx="228600" cy="228600"/>
          </a:xfrm>
          <a:prstGeom prst="ellipse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332720" y="2194560"/>
            <a:ext cx="12801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C8913A"/>
                </a:solidFill>
                <a:latin typeface="微软雅黑"/>
                <a:ea typeface="微软雅黑"/>
              </a:rPr>
              <a:t>Phase 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2720" y="2468880"/>
            <a:ext cx="128016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102A5B"/>
                </a:solidFill>
                <a:latin typeface="微软雅黑"/>
                <a:ea typeface="微软雅黑"/>
              </a:rPr>
              <a:t>16区全域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32720" y="2743200"/>
            <a:ext cx="12801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C8913A"/>
                </a:solidFill>
                <a:latin typeface="微软雅黑"/>
                <a:ea typeface="微软雅黑"/>
              </a:rPr>
              <a:t>▽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378440" y="3383280"/>
            <a:ext cx="1188720" cy="640080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424160" y="3383280"/>
            <a:ext cx="109728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1A222E"/>
                </a:solidFill>
                <a:latin typeface="微软雅黑"/>
                <a:ea typeface="微软雅黑"/>
              </a:rPr>
              <a:t>上海全域动态数据库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5166360"/>
            <a:ext cx="11155680" cy="114300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1520" y="52120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E6B66E"/>
                </a:solidFill>
                <a:latin typeface="微软雅黑"/>
                <a:ea typeface="微软雅黑"/>
              </a:rPr>
              <a:t>五大难点 → 解决方案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7240" y="5577840"/>
            <a:ext cx="10972800" cy="146304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</a:rPr>
              <a:t>●  实际办公地址 → 工商+POI+招聘+官网+水牌+物业  多源交叉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7240" y="5724144"/>
            <a:ext cx="10972800" cy="146304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</a:rPr>
              <a:t>●  成交租金难获取 → 挂牌/中介/成交 三类标注，访谈积累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240" y="5870448"/>
            <a:ext cx="10972800" cy="146304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</a:rPr>
              <a:t>●  空置口径不统一 → 招商可租口径为主，物理/隐性辅助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7240" y="6016752"/>
            <a:ext cx="10972800" cy="146304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</a:rPr>
              <a:t>●  迁徙易误判 → 至少两个信号交叉，线下确认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7240" y="6163055"/>
            <a:ext cx="10972800" cy="146304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</a:rPr>
              <a:t>●  数据合规 → 公开优先，统计汇总，发布前合规审查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292608" cy="68580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2A5BA8"/>
                </a:solidFill>
                <a:latin typeface="微软雅黑"/>
                <a:ea typeface="微软雅黑"/>
              </a:rPr>
              <a:t>PART 14 · 分工落地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 i="0">
                <a:solidFill>
                  <a:srgbClr val="102A5B"/>
                </a:solidFill>
                <a:latin typeface="微软雅黑"/>
                <a:ea typeface="微软雅黑"/>
              </a:rPr>
              <a:t>三方协同 × 四类例会 × 首期试点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07008"/>
            <a:ext cx="502920" cy="4572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170432"/>
            <a:ext cx="10515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1">
                <a:solidFill>
                  <a:srgbClr val="6E737C"/>
                </a:solidFill>
                <a:latin typeface="微软雅黑"/>
                <a:ea typeface="微软雅黑"/>
              </a:rPr>
              <a:t>Joint workflow &amp; pilot rollout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8DE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上海商办楼宇与产业园区市场深度报告  ·  讨论稿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6895" y="6473952"/>
            <a:ext cx="35661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易居研究院 × 复旦大学住房政策研究中心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88775" y="6473952"/>
            <a:ext cx="3657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102A5B"/>
                </a:solidFill>
                <a:latin typeface="微软雅黑"/>
                <a:ea typeface="微软雅黑"/>
              </a:rPr>
              <a:t>34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36576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783080"/>
            <a:ext cx="3657600" cy="329184"/>
          </a:xfrm>
          <a:prstGeom prst="rect">
            <a:avLst/>
          </a:prstGeom>
          <a:solidFill>
            <a:srgbClr val="2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783080"/>
            <a:ext cx="365760" cy="32918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E6B66E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1783080"/>
            <a:ext cx="3154680" cy="32918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易居研究院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194560"/>
            <a:ext cx="3383280" cy="17373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 i="0">
                <a:solidFill>
                  <a:srgbClr val="2A5BA8"/>
                </a:solidFill>
                <a:latin typeface="微软雅黑"/>
                <a:ea typeface="微软雅黑"/>
              </a:rPr>
              <a:t>•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研究框架 / 统计口径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 i="0">
                <a:solidFill>
                  <a:srgbClr val="2A5BA8"/>
                </a:solidFill>
                <a:latin typeface="微软雅黑"/>
                <a:ea typeface="微软雅黑"/>
              </a:rPr>
              <a:t>•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市场指标 / 区域板块研究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 i="0">
                <a:solidFill>
                  <a:srgbClr val="2A5BA8"/>
                </a:solidFill>
                <a:latin typeface="微软雅黑"/>
                <a:ea typeface="微软雅黑"/>
              </a:rPr>
              <a:t>•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资管 / 招商策略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 i="0">
                <a:solidFill>
                  <a:srgbClr val="2A5BA8"/>
                </a:solidFill>
                <a:latin typeface="微软雅黑"/>
                <a:ea typeface="微软雅黑"/>
              </a:rPr>
              <a:t>•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线下访谈调研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 i="0">
                <a:solidFill>
                  <a:srgbClr val="2A5BA8"/>
                </a:solidFill>
                <a:latin typeface="微软雅黑"/>
                <a:ea typeface="微软雅黑"/>
              </a:rPr>
              <a:t>•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报告撰写 / 可视化 / 发布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98264" y="1783080"/>
            <a:ext cx="36576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98264" y="1783080"/>
            <a:ext cx="3657600" cy="329184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9704" y="1783080"/>
            <a:ext cx="365760" cy="32918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E6B66E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5464" y="1783080"/>
            <a:ext cx="3154680" cy="32918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复旦大学住房政策研究中心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2856" y="2194560"/>
            <a:ext cx="3383280" cy="17373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 i="0">
                <a:solidFill>
                  <a:srgbClr val="102A5B"/>
                </a:solidFill>
                <a:latin typeface="微软雅黑"/>
                <a:ea typeface="微软雅黑"/>
              </a:rPr>
              <a:t>•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城市更新与空间治理理论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 i="0">
                <a:solidFill>
                  <a:srgbClr val="102A5B"/>
                </a:solidFill>
                <a:latin typeface="微软雅黑"/>
                <a:ea typeface="微软雅黑"/>
              </a:rPr>
              <a:t>•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政策评价体系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 i="0">
                <a:solidFill>
                  <a:srgbClr val="102A5B"/>
                </a:solidFill>
                <a:latin typeface="微软雅黑"/>
                <a:ea typeface="微软雅黑"/>
              </a:rPr>
              <a:t>•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公共政策视角与合规把关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 i="0">
                <a:solidFill>
                  <a:srgbClr val="102A5B"/>
                </a:solidFill>
                <a:latin typeface="微软雅黑"/>
                <a:ea typeface="微软雅黑"/>
              </a:rPr>
              <a:t>•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学术背书 / 专家研讨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 i="0">
                <a:solidFill>
                  <a:srgbClr val="102A5B"/>
                </a:solidFill>
                <a:latin typeface="微软雅黑"/>
                <a:ea typeface="微软雅黑"/>
              </a:rPr>
              <a:t>•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白皮书及政策建议联合撰写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47888" y="1783080"/>
            <a:ext cx="36576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47888" y="1783080"/>
            <a:ext cx="3657600" cy="329184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9328" y="1783080"/>
            <a:ext cx="365760" cy="32918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E6B66E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05088" y="1783080"/>
            <a:ext cx="3154680" cy="32918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数据技术与 AI 采集方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194560"/>
            <a:ext cx="3383280" cy="17373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 i="0">
                <a:solidFill>
                  <a:srgbClr val="C8913A"/>
                </a:solidFill>
                <a:latin typeface="微软雅黑"/>
                <a:ea typeface="微软雅黑"/>
              </a:rPr>
              <a:t>•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POI/AOI 采集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 i="0">
                <a:solidFill>
                  <a:srgbClr val="C8913A"/>
                </a:solidFill>
                <a:latin typeface="微软雅黑"/>
                <a:ea typeface="微软雅黑"/>
              </a:rPr>
              <a:t>•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工商 / 招聘 / 公告抓取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 i="0">
                <a:solidFill>
                  <a:srgbClr val="C8913A"/>
                </a:solidFill>
                <a:latin typeface="微软雅黑"/>
                <a:ea typeface="微软雅黑"/>
              </a:rPr>
              <a:t>•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企业地址识别匹配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 i="0">
                <a:solidFill>
                  <a:srgbClr val="C8913A"/>
                </a:solidFill>
                <a:latin typeface="微软雅黑"/>
                <a:ea typeface="微软雅黑"/>
              </a:rPr>
              <a:t>•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迁徙线索识别 / 标准化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 i="0">
                <a:solidFill>
                  <a:srgbClr val="C8913A"/>
                </a:solidFill>
                <a:latin typeface="微软雅黑"/>
                <a:ea typeface="微软雅黑"/>
              </a:rPr>
              <a:t>•  </a:t>
            </a: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数据库搭建 / 接口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160520"/>
            <a:ext cx="10972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02A5B"/>
                </a:solidFill>
                <a:latin typeface="微软雅黑"/>
                <a:ea typeface="微软雅黑"/>
              </a:rPr>
              <a:t>四类联合工作机制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480560"/>
            <a:ext cx="365760" cy="36576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663440"/>
            <a:ext cx="2743200" cy="438912"/>
          </a:xfrm>
          <a:prstGeom prst="rect">
            <a:avLst/>
          </a:prstGeom>
          <a:solidFill>
            <a:srgbClr val="2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663440"/>
            <a:ext cx="2743200" cy="43891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周度 · 数据进度会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102352"/>
            <a:ext cx="2743200" cy="438912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102352"/>
            <a:ext cx="2743200" cy="43891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字段/样本/异常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10712" y="4663440"/>
            <a:ext cx="2743200" cy="438912"/>
          </a:xfrm>
          <a:prstGeom prst="rect">
            <a:avLst/>
          </a:prstGeom>
          <a:solidFill>
            <a:srgbClr val="2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10712" y="4663440"/>
            <a:ext cx="2743200" cy="43891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双周 · 研究模型评审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10712" y="5102352"/>
            <a:ext cx="2743200" cy="438912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10712" y="5102352"/>
            <a:ext cx="2743200" cy="43891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口径/指标/算法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72783" y="4663440"/>
            <a:ext cx="2743200" cy="438912"/>
          </a:xfrm>
          <a:prstGeom prst="rect">
            <a:avLst/>
          </a:prstGeom>
          <a:solidFill>
            <a:srgbClr val="2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72783" y="4663440"/>
            <a:ext cx="2743200" cy="43891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月度 · 报告选题会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72783" y="5102352"/>
            <a:ext cx="2743200" cy="438912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72783" y="5102352"/>
            <a:ext cx="2743200" cy="43891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区域/产业/案例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34856" y="4663440"/>
            <a:ext cx="2743200" cy="438912"/>
          </a:xfrm>
          <a:prstGeom prst="rect">
            <a:avLst/>
          </a:prstGeom>
          <a:solidFill>
            <a:srgbClr val="2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34856" y="4663440"/>
            <a:ext cx="2743200" cy="43891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季度 · 成果复盘会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34856" y="5102352"/>
            <a:ext cx="2743200" cy="438912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34856" y="5102352"/>
            <a:ext cx="2743200" cy="43891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1A222E"/>
                </a:solidFill>
                <a:latin typeface="微软雅黑"/>
                <a:ea typeface="微软雅黑"/>
              </a:rPr>
              <a:t>准确性/反馈/规划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669280"/>
            <a:ext cx="11155680" cy="77724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31520" y="5806440"/>
            <a:ext cx="502920" cy="502920"/>
          </a:xfrm>
          <a:prstGeom prst="ellipse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5806440"/>
            <a:ext cx="50292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071A3F"/>
                </a:solidFill>
                <a:latin typeface="微软雅黑"/>
                <a:ea typeface="微软雅黑"/>
              </a:rPr>
              <a:t>首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17320" y="5715000"/>
            <a:ext cx="1024128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首期落地 · 《上海中心城区商办楼宇与产业园区市场试点报告》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17320" y="6035040"/>
            <a:ext cx="1024128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E6B66E"/>
                </a:solidFill>
                <a:latin typeface="微软雅黑"/>
                <a:ea typeface="微软雅黑"/>
              </a:rPr>
              <a:t>覆盖：黄浦 · 静安 · 徐汇 · 长宁 · 普陀 · 虹口 · 杨浦  —  完成字段、口径、迁徙模型试点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292608" cy="68580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2A5BA8"/>
                </a:solidFill>
                <a:latin typeface="微软雅黑"/>
                <a:ea typeface="微软雅黑"/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 i="0">
                <a:solidFill>
                  <a:srgbClr val="102A5B"/>
                </a:solidFill>
                <a:latin typeface="微软雅黑"/>
                <a:ea typeface="微软雅黑"/>
              </a:rPr>
              <a:t>项目研发路线图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07008"/>
            <a:ext cx="502920" cy="4572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170432"/>
            <a:ext cx="10515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1">
                <a:solidFill>
                  <a:srgbClr val="6E737C"/>
                </a:solidFill>
                <a:latin typeface="微软雅黑"/>
                <a:ea typeface="微软雅黑"/>
              </a:rPr>
              <a:t>Stage-gate development roadmap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8DE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上海商办楼宇与产业园区市场深度报告  ·  讨论稿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6895" y="6473952"/>
            <a:ext cx="35661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6E737C"/>
                </a:solidFill>
                <a:latin typeface="微软雅黑"/>
                <a:ea typeface="微软雅黑"/>
              </a:rPr>
              <a:t>易居研究院 × 复旦大学住房政策研究中心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88775" y="6473952"/>
            <a:ext cx="3657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102A5B"/>
                </a:solidFill>
                <a:latin typeface="微软雅黑"/>
                <a:ea typeface="微软雅黑"/>
              </a:rPr>
              <a:t>35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383280"/>
            <a:ext cx="10424160" cy="73152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54480" y="3337560"/>
            <a:ext cx="274320" cy="274320"/>
          </a:xfrm>
          <a:prstGeom prst="ellipse">
            <a:avLst/>
          </a:prstGeom>
          <a:solidFill>
            <a:srgbClr val="2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274320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1A222E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828800"/>
            <a:ext cx="21488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2A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1828800"/>
            <a:ext cx="2148840" cy="365760"/>
          </a:xfrm>
          <a:prstGeom prst="rect">
            <a:avLst/>
          </a:prstGeom>
          <a:solidFill>
            <a:srgbClr val="2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828800"/>
            <a:ext cx="214884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S1 · 启动期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240280"/>
            <a:ext cx="1920240" cy="9144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课题立项 · 字段冻结 · 工具链准备 · 试点区选定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691640" y="3200400"/>
            <a:ext cx="0" cy="137160"/>
          </a:xfrm>
          <a:prstGeom prst="line">
            <a:avLst/>
          </a:prstGeom>
          <a:ln w="19050">
            <a:solidFill>
              <a:srgbClr val="2A5B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3886200" y="3337560"/>
            <a:ext cx="274320" cy="274320"/>
          </a:xfrm>
          <a:prstGeom prst="ellipse">
            <a:avLst/>
          </a:prstGeom>
          <a:solidFill>
            <a:srgbClr val="1E7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86200" y="3337560"/>
            <a:ext cx="274320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1A222E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2880360" y="3657600"/>
            <a:ext cx="21488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1E77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80360" y="3657600"/>
            <a:ext cx="2148840" cy="365760"/>
          </a:xfrm>
          <a:prstGeom prst="rect">
            <a:avLst/>
          </a:prstGeom>
          <a:solidFill>
            <a:srgbClr val="1E7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80360" y="3657600"/>
            <a:ext cx="214884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S2 · 试点期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4069080"/>
            <a:ext cx="1920240" cy="9144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中心城区试点 · 数据采集 · 模型测试 · 首份试点报告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023360" y="3611880"/>
            <a:ext cx="0" cy="45720"/>
          </a:xfrm>
          <a:prstGeom prst="line">
            <a:avLst/>
          </a:prstGeom>
          <a:ln w="19050">
            <a:solidFill>
              <a:srgbClr val="1E77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6217919" y="3337560"/>
            <a:ext cx="274320" cy="274320"/>
          </a:xfrm>
          <a:prstGeom prst="ellipse">
            <a:avLst/>
          </a:prstGeom>
          <a:solidFill>
            <a:srgbClr val="E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19" y="3337560"/>
            <a:ext cx="274320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1A222E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5212079" y="1828800"/>
            <a:ext cx="21488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6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2079" y="1828800"/>
            <a:ext cx="2148840" cy="365760"/>
          </a:xfrm>
          <a:prstGeom prst="rect">
            <a:avLst/>
          </a:prstGeom>
          <a:solidFill>
            <a:srgbClr val="E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2079" y="1828800"/>
            <a:ext cx="214884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S3 · 扩展期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39" y="2240280"/>
            <a:ext cx="1920240" cy="9144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浦东补全 + 重点产业区补全 · 月报上线 · 季报体系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355079" y="3200400"/>
            <a:ext cx="0" cy="137160"/>
          </a:xfrm>
          <a:prstGeom prst="line">
            <a:avLst/>
          </a:prstGeom>
          <a:ln w="19050">
            <a:solidFill>
              <a:srgbClr val="E06A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8549640" y="3337560"/>
            <a:ext cx="274320" cy="274320"/>
          </a:xfrm>
          <a:prstGeom prst="ellipse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49640" y="3337560"/>
            <a:ext cx="274320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1A222E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7543800" y="3657600"/>
            <a:ext cx="21488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89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543800" y="3657600"/>
            <a:ext cx="2148840" cy="36576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43800" y="3657600"/>
            <a:ext cx="214884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S4 · 全域期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4069080"/>
            <a:ext cx="1920240" cy="9144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16 区全域数据库 · 年度白皮书 · 区域专项 · 商业化产品矩阵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686800" y="3611880"/>
            <a:ext cx="0" cy="45720"/>
          </a:xfrm>
          <a:prstGeom prst="line">
            <a:avLst/>
          </a:prstGeom>
          <a:ln w="19050">
            <a:solidFill>
              <a:srgbClr val="C891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10881359" y="3337560"/>
            <a:ext cx="274320" cy="274320"/>
          </a:xfrm>
          <a:prstGeom prst="ellipse">
            <a:avLst/>
          </a:prstGeom>
          <a:solidFill>
            <a:srgbClr val="6B4E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81359" y="3337560"/>
            <a:ext cx="274320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1A222E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44" name="Rectangle 43"/>
          <p:cNvSpPr/>
          <p:nvPr/>
        </p:nvSpPr>
        <p:spPr>
          <a:xfrm>
            <a:off x="9875519" y="1828800"/>
            <a:ext cx="21488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4E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875519" y="1828800"/>
            <a:ext cx="2148840" cy="365760"/>
          </a:xfrm>
          <a:prstGeom prst="rect">
            <a:avLst/>
          </a:prstGeom>
          <a:solidFill>
            <a:srgbClr val="6B4E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75519" y="1828800"/>
            <a:ext cx="214884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S5 · 长期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12679" y="2240280"/>
            <a:ext cx="1920240" cy="9144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A222E"/>
                </a:solidFill>
                <a:latin typeface="微软雅黑"/>
                <a:ea typeface="微软雅黑"/>
              </a:rPr>
              <a:t>动态监测 · 看板 · 政策咨询 · 资管诊断 · 选址服务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1018519" y="3200400"/>
            <a:ext cx="0" cy="137160"/>
          </a:xfrm>
          <a:prstGeom prst="line">
            <a:avLst/>
          </a:prstGeom>
          <a:ln w="19050">
            <a:solidFill>
              <a:srgbClr val="6B4EA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548640" y="5394960"/>
            <a:ext cx="11155680" cy="914400"/>
          </a:xfrm>
          <a:prstGeom prst="rect">
            <a:avLst/>
          </a:prstGeom>
          <a:solidFill>
            <a:srgbClr val="10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5440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E6B66E"/>
                </a:solidFill>
                <a:latin typeface="微软雅黑"/>
                <a:ea typeface="微软雅黑"/>
              </a:rPr>
              <a:t>长期愿景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576072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将该项目打造为 — 上海商办楼宇与产业园区市场年度旗舰研究产品 + 行业标准化研究样本 + 城市空间治理决策参考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54864" cy="4754880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109728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E6B66E"/>
                </a:solidFill>
                <a:latin typeface="微软雅黑"/>
                <a:ea typeface="微软雅黑"/>
              </a:rPr>
              <a:t>THANKS  FOR  YOUR  ATTENTION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972800" cy="12801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6400" b="1" i="0">
                <a:solidFill>
                  <a:srgbClr val="FFFFFF"/>
                </a:solidFill>
                <a:latin typeface="微软雅黑"/>
                <a:ea typeface="微软雅黑"/>
              </a:rPr>
              <a:t>感谢聆听 · 欢迎共建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383280"/>
            <a:ext cx="548640" cy="54864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109728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</a:rPr>
              <a:t>上海商办楼宇与产业园区市场研究课题组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60520"/>
            <a:ext cx="1097280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0" i="0">
                <a:solidFill>
                  <a:srgbClr val="E6B66E"/>
                </a:solidFill>
                <a:latin typeface="微软雅黑"/>
                <a:ea typeface="微软雅黑"/>
              </a:rPr>
              <a:t>易居房地产研究院  ×  复旦大学住房政策研究中心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120640"/>
            <a:ext cx="10515600" cy="54864"/>
          </a:xfrm>
          <a:prstGeom prst="rect">
            <a:avLst/>
          </a:prstGeom>
          <a:solidFill>
            <a:srgbClr val="C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349240"/>
            <a:ext cx="329184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E6B66E"/>
                </a:solidFill>
                <a:latin typeface="微软雅黑"/>
                <a:ea typeface="微软雅黑"/>
              </a:rPr>
              <a:t>项目主体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69280"/>
            <a:ext cx="32918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易居研究院 × 复旦大学住房政策研究中心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5349240"/>
            <a:ext cx="329184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E6B66E"/>
                </a:solidFill>
                <a:latin typeface="微软雅黑"/>
                <a:ea typeface="微软雅黑"/>
              </a:rPr>
              <a:t>发布形式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5669280"/>
            <a:ext cx="32918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月度简报 + 季度报告 + 年度白皮书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5349240"/>
            <a:ext cx="329184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E6B66E"/>
                </a:solidFill>
                <a:latin typeface="微软雅黑"/>
                <a:ea typeface="微软雅黑"/>
              </a:rPr>
              <a:t>适用对象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5669280"/>
            <a:ext cx="32918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政府 · 园区 · 资产 · 企业 · 研究机构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309360"/>
            <a:ext cx="10972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1">
                <a:solidFill>
                  <a:srgbClr val="C9CED8"/>
                </a:solidFill>
                <a:latin typeface="微软雅黑"/>
                <a:ea typeface="微软雅黑"/>
              </a:rPr>
              <a:t>— 讨论稿 · 仅供联合课题组内部研讨使用 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