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-91440"/>
            <a:ext cx="3931920" cy="70408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1554480" cy="155448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4023360"/>
            <a:ext cx="914400" cy="91440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4846320"/>
            <a:ext cx="640080" cy="640080"/>
          </a:xfrm>
          <a:prstGeom prst="ellipse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146304" cy="19202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C"/>
                </a:solidFill>
                <a:latin typeface="微软雅黑"/>
                <a:ea typeface="微软雅黑"/>
              </a:rPr>
              <a:t>SEMIR 森马 (上海) 国际运营中心 · 元谷项目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元谷 2 万方招商策略汇报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8C87A"/>
                </a:solidFill>
                <a:latin typeface="微软雅黑"/>
                <a:ea typeface="微软雅黑"/>
              </a:rPr>
              <a:t>产业研发办公 · 招商运营服务方案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434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CFD8E8"/>
                </a:solidFill>
                <a:latin typeface="微软雅黑"/>
                <a:ea typeface="微软雅黑"/>
              </a:rPr>
              <a:t>IP + AI 双轨  ·  动态租金平衡  ·  仲量联行爬楼大数据赋能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120640"/>
            <a:ext cx="4937760" cy="50292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胡教授团队(代表复旦住房政策研究中心 · 上海市科企联)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8521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呈:危建平总     ·     2026 年     ·     本汇报仅用于商务沟通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汇报议程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099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项目与机会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6712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双重身份 / 2 万方产业研发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7099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我方服务能力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16712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第三方专业机构 / 仲量联行大数据优势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16936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916936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16936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0954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招商战略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66674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IP+AI 双轨 / 四级漏斗 / 六大出彩点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16936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916936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16936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20954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租金与节点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6674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动态租金平衡 / 9·30 与 5·1 硬节点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16552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416552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416552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709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品牌与活动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1663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5 项挂牌 / 6 场沙龙 / 5·22 峰会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416552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416552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416552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709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服务费用与价值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1663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佣金 / 沙龙 / 挂牌 / 对项目方贡献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项目与机会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PROJECT &amp; OPPORTUNITY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元谷:大零号湾文创融合核心区 + 上海唯一科技时尚特色小镇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本期聚焦 4#+5# 楼 5F+ 共约 2 万方产业研发办公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15 号线元江路站 TOD, 单日客流 5-7 万人次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危建平总已锁定保底租金 2.0 元/㎡/天(含物业)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项目与机会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元谷的双重战略身份与产业底盘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3716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总建筑面积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22 万㎡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1#-6# 共 6 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1371600"/>
            <a:ext cx="91440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本期招商范围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 万㎡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4#+5# 楼 5F+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1371600"/>
            <a:ext cx="91440" cy="13716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TOD 单日客流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5-7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15 号线元江路站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26296" y="1371600"/>
            <a:ext cx="23317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371600"/>
            <a:ext cx="91440" cy="13716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6" y="151790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15min 覆盖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1792224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24万+12万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359152"/>
            <a:ext cx="1965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居住 + 产业人口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063240"/>
            <a:ext cx="5394960" cy="566928"/>
          </a:xfrm>
          <a:prstGeom prst="round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大零号湾文创融合核心区(闵行五大中心之一)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063240"/>
            <a:ext cx="5394960" cy="566928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上海市唯一科技时尚特色小镇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1097280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能级比肩漕河泾、张江;享区级最高 1,000 万 + 市级最高 5,000 万产业专项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4# 楼 5F+ 定位 AI 主轴(国际创意层);5# 楼 5F+ 定位 IP 主轴(产业总部层)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产业愿景:打造 AI + IP 双赛道协同的产业研发园区,与森马时尚科技定位契合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危建平总已锁定保底租金 2.0 元/㎡/天(含物业费)作为长期稳定锚点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我方服务能力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OUR CAPABILITY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第三方专业招商运营服务机构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代表复旦大学住房政策研究中心 + 上海市科技企业联合会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★ 仲量联行爬楼大数据 — 我方核心招商优势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腾讯算力 / 产业基金 / 福布斯 / 北欧会客厅 资源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我方服务能力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胡教授团队:第三方专业招商运营服务机构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10927080" cy="1143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0424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胡教授团队 · 代表复旦大学住房政策研究中心、上海市科技企业联合会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D8E8"/>
                </a:solidFill>
                <a:latin typeface="微软雅黑"/>
                <a:ea typeface="微软雅黑"/>
              </a:rPr>
              <a:t>以第三方专业服务身份, 为元谷项目提供产业招商策略 + 政府政策对接 + 品牌活动 + 资源导入的全链条服务。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3520440" cy="914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02666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★ 仲量联行爬楼大数据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5021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200+ 家精准客户清单, 转化率 +30% (我方独家优势)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7889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2788920"/>
            <a:ext cx="3520440" cy="9144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02666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腾讯算力补贴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021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新注册 AI 公司 3 月合同免费 / 算力 85 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27889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788920"/>
            <a:ext cx="3520440" cy="914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02666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产业基金 (追觅 + CVC)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35021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返投落地, 资本驱动签约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3520440" cy="91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6268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北欧创新国际会客厅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1023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海外 IP / 技术进入中国首站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43891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4389120"/>
            <a:ext cx="3520440" cy="914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6268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福布斯产业影响力奖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1023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国际品牌势能 + 年度评选 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0144" y="43891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4389120"/>
            <a:ext cx="3520440" cy="9144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6268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复旦 + 上海市科企联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51023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学术背书 + 政府对接 + 政策代办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我方服务能力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核心优势:仲量联行爬楼大数据赋能精准招商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3716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目标客户清单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200+ 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精准画像, 直接触达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91440" cy="13716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转化率提升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+30%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591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VS 普通广撒网招商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91440" cy="13716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覆盖区域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闵行+临港+漕河泾+张江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3591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存量企业全画像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063240"/>
            <a:ext cx="1097280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爬楼大数据 = 对上海存量产业楼宇的企业逐层扫描, 形成『谁在哪栋楼、面积多大、何时到期、付租能力』的精准画像;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我方据此锁定真正有迁址/扩租需求、且付租能力强的中大型 AI / IP 企业, 把行业 110:1 的转化率压缩到更高效区间;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针对元谷 2 万方, 优先匹配 2,000-20,000㎡ 大客户(1 家大户 ≫ 10 家小户), 提升招商速度与稳定性;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该数据能力为我方独家优势, 直接赋能元谷招商, 是普通招商团队不具备的弹药库。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招商战略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LEASING STRATEGY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战略主轴:IP + AI 双轨 (AI 拿政策/资本, IP 兼顾文化)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客户策略:优先 2,000-20,000㎡ 大客户(转化率 110:1)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四级招商漏斗 + 招商六大『出彩点』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五档客户配比, 与森马原产业规划一致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招商战略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战略主轴:IP + AI 双轨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434840"/>
                <a:gridCol w="484632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纯二次元(不推荐)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IP + AI 双轨(推荐)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招商面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200-500㎡ 小户, 招满需 400-800 家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AI/IP 中大型, 招满仅需 30-60 家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支付能力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单家年租 &lt; 30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单家年租 100-500 万(真金白银)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政府政策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拿政策难, 创新基金不投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享高新 + 专精特新 + 创新券 + 闵行专项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与森马协同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二次元与商业难协同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IP+AI 与森马时尚科技定位契合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无 2 万方成功案例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杨浦 1 万方『AI+IP』已通过先例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572000"/>
            <a:ext cx="10927080" cy="64008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结论:主轴改 AI 拿政府资源 + 资本, 保留 IP 概念(视频/漫画/直播/动漫全链条)兼顾文化导向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4# 楼 5F+ = AI 主轴(国际创意层);5# 楼 5F+ = IP 主轴(产业总部层)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行业转化率 110:1 → 招 1 家大户 ≫ 招 10 家小户, 效率差 5 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招商战略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四级招商漏斗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2286000" cy="10241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L1 牌照锚定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56362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头部央企 / 行业协会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4767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AI 潮玩产业基地 + 潮玩次元专委 双牌照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719072"/>
            <a:ext cx="1828800" cy="420624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6,000㎡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51176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51176"/>
            <a:ext cx="2286000" cy="10241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51176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L2 资本招商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974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中型 AI / IP 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081528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产业基金 + 腾讯算力 + 返投落地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852928"/>
            <a:ext cx="1828800" cy="420624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5,000㎡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85032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85032"/>
            <a:ext cx="2286000" cy="1024128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85032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L3 大数据爬楼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83133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小型潮玩 / 服务机构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215384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★ 仲量联行爬楼大数据(我方优势)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3986784"/>
            <a:ext cx="1828800" cy="420624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6,000-8,000㎡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18888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818888"/>
            <a:ext cx="2286000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18888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L4 活动带流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96519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中小型服务机构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34924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6 场沙龙 + 5·22 峰会 + 福布斯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5120640"/>
            <a:ext cx="1828800" cy="420624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3,000-4,000㎡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漏斗合计可产生 20,000-23,000㎡ 招商管道 → 实际签约 18,000-20,000㎡(满租)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招商战略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招商六大『出彩点』(VS 普通招商)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① 牌照即招商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9397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双牌照前置, 客户『送进来』不是『拉进来』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② 基金即招商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09397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产业基金返投 + 腾讯算力, 资本驱动签约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98648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98648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81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③ 数据即招商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7530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★ 仲量联行爬楼大数据, 转化率 +30%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98648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98648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081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④ 峰会即招商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57530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5·22 峰会 200+ VIP, 1 天锁 30-50 客户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9976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79976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562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⑤ 沙龙即招商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566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6 场 × ≥30 客户 = 5-12 家直接成果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379976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379976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562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⑥ 学术即招商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0566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复旦 + 上海交大 + 上海市科企联 背书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普通园区只做 ③④;我方六维齐发 → 招商速度领先 6-12 个月, 单方租金溢价更快兑现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租金与节点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RENT &amp; MILESTONES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动态租金平衡:招商期 1.5-1.8 → 长期稳定 2.0-2.5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保底 2.0 元/㎡/天(含物业, 危建平总已签)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硬节点一:2026/9/30 完成 2,000㎡ 签约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硬节点二:2027/5/1 项目开业, 50%+ 签约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租金与节点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动态租金平衡模型:先低价招满, 后抬升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4630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招商期(满租前)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1.5-1.8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5059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先低价快速招满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91440" cy="14630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长期稳定(满租后)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2.0-2.5 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5059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逐步抬升至稳定区间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91440" cy="14630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保底锚点(已签)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2.0 元含物业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5059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危建平总锁定的长期数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策略逻辑(单位:元/㎡/天)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424289"/>
            <a:ext cx="2103120" cy="110783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31681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1.5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招商初期
0-9 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276578"/>
            <a:ext cx="2103120" cy="1255541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98397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1.7 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623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加速期
9-18 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3981156"/>
            <a:ext cx="2103120" cy="1550963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6885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2.1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623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满租稳定
18-24 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759590"/>
            <a:ext cx="2103120" cy="1772529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46698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2.4 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623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长期
24 月+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27E2D"/>
                </a:solidFill>
                <a:latin typeface="微软雅黑"/>
                <a:ea typeface="微软雅黑"/>
              </a:rPr>
              <a:t>先以 1.5-1.8 元低价快速招满形成产业氛围, 再借满租势能与产业生态逐步抬升至 2.0-2.5 元, 长期锚定保底 2 元(含物业)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租金与节点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两个硬节点 · 倒推全部排期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3949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280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硬节点一 · 2026/9/30 (T+100 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2,000㎡ 签约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67712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可含直播基地 / 共享设计中心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53949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128016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179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硬节点二 · 2027/5/1 (T+314 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开业 + 50% 签约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2 万方达成 50% + 消费氛围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2880360"/>
          <a:ext cx="1092708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377440"/>
                <a:gridCol w="3063240"/>
                <a:gridCol w="36576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时间窗口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累计签约目标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0 准备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启动 - 第 3 周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团队就位 + 资源接入 + 物料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1 抢节点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3 周 - 9/30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2,300㎡(含擦边球)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9/30 硬节点达成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2 加速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10/1 - 12/31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5,500㎡(27%)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爬楼 + 沙龙 + 挂牌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3 开业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1/1 - 5/1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10,400㎡(52%)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5/1 开业典礼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4 满租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5/2 - 次年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18,000㎡+(90%)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沙龙 IP 化 + 抬租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租金与节点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月度签约率推进(招商期按 1.7 元估算)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828800"/>
                <a:gridCol w="2103120"/>
                <a:gridCol w="1691640"/>
                <a:gridCol w="310896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月份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本月新增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累计签约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签约率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1 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1.5%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战队就位 + 物料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2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800㎡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1,100㎡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L1 牌照 + 大客户接触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3 月 (9/30)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1,200㎡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2,300㎡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11.5%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硬节点一达成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6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5,500㎡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27.5%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Q4 攻坚收官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10 月 (5/1)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1,500㎡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10,400㎡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52%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硬节点二达成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11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1,500㎡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11,900㎡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59.5%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开业典礼 + 启动抬租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846320"/>
            <a:ext cx="10927080" cy="603504"/>
          </a:xfrm>
          <a:prstGeom prst="round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9/30 节点 2,000㎡ 来源:大客户 1,000-2,000㎡ + 直播基地 800-1,000㎡ + AI 设计中心 500-800㎡ + 服务中心 300-500㎡ → 中性期望 3,200-5,800㎡, 概率 &gt;95%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8E5A"/>
                </a:solidFill>
                <a:latin typeface="微软雅黑"/>
                <a:ea typeface="微软雅黑"/>
              </a:rPr>
              <a:t>满租后启动抬租, 把招商期 1.5-1.8 元逐步推向长期稳定 2.0-2.5 元, 为项目方持续增收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品牌与活动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BRAND &amp; EVENTS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5 项产业牌照(可选, 10 万/项)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6 场产业沙龙, 每场 ≥30 个目标产业客户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5·22 AI 商业化峰会借势, 200+ VIP 转化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活动 IP 化 → 年度品牌势能 + 媒体声量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品牌与活动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5 项产业牌照(可选 · 10 万/项)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63624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AI 潮玩产业基地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874519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出牌方:中国动漫集团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636776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13432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313432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13432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459736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潮玩次元商业专委会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706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出牌方:中国百货商业协会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532888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09544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209544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09544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355848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复旦大学住房政策研究中心 · 元谷分中心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6674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出牌方:复旦大学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3429000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05656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105656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05656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25196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上海市科技企业联合会 · 元谷产业基地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56285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出牌方:上海市科企联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4325112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01768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001768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0176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148072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福布斯产业影响力奖 · 元谷专场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45896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出牌方:福布斯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5221224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244E"/>
                </a:solidFill>
                <a:latin typeface="微软雅黑"/>
                <a:ea typeface="微软雅黑"/>
              </a:rPr>
              <a:t>挂牌费 10 万元/项, 由项目方按需选择, 选定后挂牌前一次性付清(最多 5 项)。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品牌与活动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6 场产业沙龙(每场 ≥30 客户) + 5·22 峰会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690372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280160"/>
                <a:gridCol w="2423160"/>
                <a:gridCol w="27432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联办方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1 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AI+潮玩(借势 5·22)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中动漫+腾讯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3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潮玩出海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北欧+福布斯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5 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投融资路演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产业基金+银行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7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设计与创意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上海交大+科企联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9 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内容IP·Z世代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中百协+中动漫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11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政策补贴·小镇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闵行科协+复旦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371600"/>
            <a:ext cx="3749039" cy="41148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371600"/>
            <a:ext cx="3749039" cy="5486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37160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5·22 AI 商业化峰会借势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103120"/>
            <a:ext cx="338328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200+ VIP(北大/复旦/银行/投资机构)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元谷设专属展位 + 闭门招商台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增设产业影响力榜 + 福布斯背书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峰会嘉宾 → 沙龙 #1 主题嘉宾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沙龙费由我方单独收取(不分润)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每场沙龙触达 ≥30 家产业客户 + ≥100 万次媒体曝光;6 场打包沙龙执行费一次性付清。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品牌与活动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媒体宣传:为招商蓄势、为品牌立势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『主流媒体权威引领 + 社交媒体精准触达』双轮驱动, 放大声量、赋能招商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3492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5349240" cy="50292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① 中央级 / 全国性 / 上海主流媒体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493776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中央级:央视新闻、央广网、人民网、新华网、中新网、中国日报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全国财经政经:第一财经、21 世纪经济报道、澎湃、界面、上证报、中证报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上海区域:解放日报、文汇报、上观新闻、闵行区政府官网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作用:权威背书、定调舆情、提升招商公信力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5394960" cy="5029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② 社交媒体流量投放(双轮驱动)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抖音:高频互动 + 信息流广告, 精准算法推荐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今日头条:深度阅读场景, 广度覆盖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投放区域:上海;精准锁定目标受众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为招商转化奠定流量基础与认知铺垫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27E2D"/>
                </a:solidFill>
                <a:latin typeface="微软雅黑"/>
                <a:ea typeface="微软雅黑"/>
              </a:rPr>
              <a:t>重大节点(9/30 签约、5/1 开业)前集中投放, 把品牌声量直接转化为招商线索;合作结束提供完整投放报告(链接+曝光+分析)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品牌与活动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媒体宣传服务内容与报价(可选模块)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27079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1828800"/>
                <a:gridCol w="3977639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服务项目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费用 / 说明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原创内容生产(品牌+营销稿原创采写)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 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折后 5 万元(媒体总曝光量预计 ≥ 150 万)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中央级/全国/上海主流媒体宣发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 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打包报价(按媒体档位据实核算)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社交媒体流量投放(抖音/今日头条信息流, 上海)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按投放量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按投放量计(短视频拍摄制作费不含)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营销策划与舆情管理咨询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不超 2 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含于媒体服务包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服务周期:自签订起至 2026/12/31, 乙方享优先续约权;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该媒体宣传为可选模块, 与招商佣金、沙龙、挂牌相互独立、不影响其他计费;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联动 6 场沙龙 + 5·22 峰会 + 5 项挂牌 + 福布斯, 形成『活动造势 + 媒体放大』闭环。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服务费用与价值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FEES &amp; VALUE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已取消月费(不签对赌), 让项目方更轻装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招商佣金:实际成交年租金的 1.5-2 个月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沙龙费一次性付清, 挂牌 10 万/项可选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对项目方:满租年租金 + 资产增值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服务费用与价值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服务费用构成(已取消月费 · 不签对赌)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6126480"/>
                <a:gridCol w="242316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费用类别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标准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支付方式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招商佣金(核心)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实际成交年租金的 1.5 / 1.75 / 2.0 个月(按面积阶梯)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起租后结算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沙龙执行费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6 场打包 30 万(我方单独收取, 不与他方分润)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一次性付清(或分两次)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挂牌费(可选)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 万元/项 × 项目方选定项数(最多 5 项)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挂牌前一次性付清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媒体宣传(可选模块)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原创 3 篇 5 万(曝光≥150万)+ 主流媒体宣发 + 社交投放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按服务包结算(详见媒体方案)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超额奖励(适度)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满租率 ≥ 90% 后给予, 金额适度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正常分期支付(不要求一次性)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16052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取消固定月费 → 我方不要求对赌、不绑保底, 项目方零固定支出压力, 完全按招商成果付费;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沙龙执行费由我方单独收取、不与他方分润, 建议一次性付清以减少后续财务往来;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挂牌费 10 万/项由项目方按需选择, 灵活可控;超额奖励仅在满租达标后适度计提、正常给付。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服务费用与价值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对项目方的价值:动态租金下的持续增收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91440" cy="14630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满租期年租金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约 1,460-1,825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9631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2 万㎡ × 2.0-2.5 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91440" cy="14630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保底锚点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≈ 1,460 万/年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9631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2.0 元含物业 × 2 万㎡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91440" cy="14630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资产增值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数千万级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9631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产业认证 + TOD 板块溢价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3200400"/>
          <a:ext cx="10927080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560320"/>
                <a:gridCol w="2880360"/>
                <a:gridCol w="256032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租金水平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年化租金(2 万㎡)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招商期(先低招满)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1.5-1.8 元/㎡/天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约 1,095-1,314 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快速形成产业氛围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满租稳定(后抬升)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2.0-2.5 元/㎡/天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约 1,460-1,825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动态平衡, 持续增收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长期保底锚点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2.0 元含物业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约 1,460 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危建平总已签的稳定数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8E5A"/>
                </a:solidFill>
                <a:latin typeface="微软雅黑"/>
                <a:ea typeface="微软雅黑"/>
              </a:rPr>
              <a:t>我方完全按招商成果收费, 与项目方利益高度绑定:招得越快越满, 项目方租金兑现越早越稳。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07 · 合作要点与下一步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合作协议要点 + 启动建议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合作协议核心要点(详见附件协议)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7280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服务方:胡教授团队(代表复旦大学住房政策研究中心、上海市科技企业联合会), 以第三方专业服务身份提供招商运营;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服务范围:元谷 4#+5# 楼 5F+ 共约 2 万㎡产业研发办公的招商策划、执行、政府对接、品牌活动;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★ 排他性:在协议期内, 项目方授予我方该范围独家招商运营权, 不另行委托第三方机构;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服务费用:招商佣金(核心)+ 沙龙费(一次性)+ 挂牌费(10 万/项可选)+ 超额奖励(适度), 无月费;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租金策略:执行动态租金平衡(先低招满、后抬升), 长期锚定保底 2.0 元(含物业)。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启动建议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建议尽快确定合作意向并签署协议, 启动后第 3 周完成团队就位 + 资源接入;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赶 2026/9/30 硬节点(2,000㎡ 签约), 错过 7 月窗口节点风险陡增;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我方可先提供招商物料与策略, 与项目方并行推进合同流程。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146304" cy="20116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2860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先低价招满 · 后动态抬租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E8C87A"/>
                </a:solidFill>
                <a:latin typeface="微软雅黑"/>
                <a:ea typeface="微软雅黑"/>
              </a:rPr>
              <a:t>IP + AI 双轨 · 仲量联行大数据赋能 · 专业第三方服务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FD8E8"/>
                </a:solidFill>
                <a:latin typeface="微软雅黑"/>
                <a:ea typeface="微软雅黑"/>
              </a:rPr>
              <a:t>以招商成果说话, 与项目方利益高度绑定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5166360"/>
            <a:ext cx="5669280" cy="50292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胡教授团队(代表复旦住房政策研究中心 · 上海市科企联)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呈:危建平总  ·  期待与项目方达成合作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