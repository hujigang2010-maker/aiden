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274320" cy="2194560"/>
          </a:xfrm>
          <a:prstGeom prst="rect">
            <a:avLst/>
          </a:prstGeom>
          <a:solidFill>
            <a:srgbClr val="F2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元谷项目 4#+5# 楼 2 万方</a:t>
            </a:r>
          </a:p>
          <a:p>
            <a:pPr>
              <a:defRPr sz="3400" b="1">
                <a:solidFill>
                  <a:srgbClr val="F27E2D"/>
                </a:solidFill>
              </a:defRPr>
            </a:pPr>
            <a:r>
              <a:t>IP + AI 双轨招商策略与排期</a:t>
            </a:r>
          </a:p>
          <a:p/>
          <a:p>
            <a:pPr>
              <a:defRPr sz="1800">
                <a:solidFill>
                  <a:srgbClr val="FFFFFF"/>
                </a:solidFill>
              </a:defRPr>
            </a:pPr>
            <a:r>
              <a:t>硬节点 ① 2026/9/30 — 2,000㎡ 签约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硬节点 ② 2027/5/1 — 项目开业 (50%+ 签约)</a:t>
            </a:r>
          </a:p>
          <a:p/>
          <a:p>
            <a:pPr>
              <a:defRPr sz="1400">
                <a:solidFill>
                  <a:srgbClr val="CFD8E3"/>
                </a:solidFill>
              </a:defRPr>
            </a:pPr>
            <a:r>
              <a:t>胡教授团队  ×  森马集团  ·  2026/6 提案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 · 执行摘要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30 秒读懂本方案 — 战略转向 IP+AI 双轨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战略调整: 主轴由'纯二次元'升级为 'IP + AI 双轨' (AI 拿政策/基金/税收, IP 兼顾威总文化导向)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两个硬节点 (按 2026/6/22 起算):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· 2026/9/30 → 2,000㎡ 签约 (T+100 天, 可含直播基地/共享设计中心擦边球)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· 2027/5/1 → 项目开业 (T+314 天, 2 万方需 50%+ 签约 + 消费氛围成型)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客户策略: 优先招 2,000-20,000㎡ 大客户; 行业转化率 110:1 (招 1 单要见 110 家)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政府绑定: 闵行区科委 + 商务委 + 街道 三轨并行, 加 IP+AI 主线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资源拉通: 腾讯算力补贴 + CVC 创投基金 + 欧洲驻沪机构(德 / 以 / 北欧) + 福布斯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团队建议: 2 人驻场 + CSO 顾问 (轻骑兵, 月度成本可控)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商业条款: 基础月费 12 万/月 + 招商佣金 1.5-2 个月年租金 + 5 项挂牌 30 万/项 + 6 场活动 5 万/场</a:t>
            </a: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24 月 ROI: 甲方付出 ≈ 714 万元 / 甲方收入 ≈ 2,769 万元 / 投入产出 1:3.9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P3 · 战略转向 (核心) — 从'纯二次元' → 'IP + AI 双轨'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8011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原方向 (纯二次元)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新方向 (IP + AI 双轨)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二次元企业 200-500㎡ 小户, 招满需 400-800 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AI/IP 中大型 1,000-5,000㎡, 招满仅需 30-60 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支付能力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二次元企业规模小, 单家年租金 &lt; 30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AI/IP 企业真金白银, 单家年租金 100-500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政府政策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二次元拿政策困难, 创新基金不投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享高新认定 + 专精特新 + 创新券 + 闵行专项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与森马协同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二次元与森马商业难协同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IP+AI 与森马时尚科技定位高度契合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先例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上海无 2 万方纯二次元成功项目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杨浦区 1 万方 'AI+IP' 项目已通过先例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脱离政府主线, 速度慢 50%+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深度绑定闵行区科委/商务委, 速度翻倍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结论: 主轴改 AI 同时保留 IP 概念 (涵盖视频/漫画/直播/动漫全链条), 既能拿政府资源, 又兼顾威总战略文化导向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P4 · IP + AI 双轨产业地图 — 4# 楼 + 5# 楼 5F+ 各自定位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181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楼栋 (5F+)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面积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主轴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目标客户类型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代表企业画像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4# 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≈ 1 万㎡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AI 主轴 (国际化层)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设计 / AIGC / AI 内容 / 国际 IP / AI Agent / 大模型应用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字节 / MiniMax / 月之暗面 / 360AI / 智谱 / 海外 AI 公司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5# 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≈ 1 万㎡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IP 主轴 (产业总部层)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潮玩 / 动漫 / 数字 IP / 内容 / 直播 / 衍生品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中动漫旗下 / 上海美影厂周边 / 头部 IP 运营商 / B 站生态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4# 楼 同栋协同: 4F 直播中心 + 5F AI 共享设计中心 + 5F AI 共享打样&amp;DIY 中心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5# 楼 同栋协同: 5F 潮玩产业展厅 + 1-4F 动漫书店&amp;休闲娱乐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4# 楼 价高: 建议 2.2-2.5 元/㎡/天 (主轴 AI 享区域品牌溢价)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5# 楼 价稳: 建议 2.0-2.2 元/㎡/天 (主轴 IP 产业, 与同栋娱乐配套形成生态)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双轨融合: '杨浦区 AI+IP 1 万方先例' 在元谷 4#/5# 楼形成 2 万方升级版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P5 · 两个硬节点 — 倒推全部排期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倒计时, 不可妥协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4864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节点一</a:t>
            </a: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2026/9/30 · T+100 天</a:t>
            </a:r>
          </a:p>
          <a:p>
            <a:pPr>
              <a:defRPr sz="900">
                <a:solidFill>
                  <a:srgbClr val="55607A"/>
                </a:solidFill>
              </a:defRPr>
            </a:pPr>
            <a:r>
              <a:t>完成 2,000㎡ 签约 (硬指标)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4864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F2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节点二</a:t>
            </a:r>
          </a:p>
          <a:p>
            <a:pPr>
              <a:defRPr sz="1800" b="1">
                <a:solidFill>
                  <a:srgbClr val="F27E2D"/>
                </a:solidFill>
              </a:defRPr>
            </a:pPr>
            <a:r>
              <a:t>2027/5/1 · T+314 天</a:t>
            </a:r>
          </a:p>
          <a:p>
            <a:pPr>
              <a:defRPr sz="900">
                <a:solidFill>
                  <a:srgbClr val="55607A"/>
                </a:solidFill>
              </a:defRPr>
            </a:pPr>
            <a:r>
              <a:t>项目开业, 2 万方 50%+ 签约 + 消费氛围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260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1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起止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招商目标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累计 / 阶段贡献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阶段 0 准备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2026/6/22 - 2026/7/15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团队就位 + 资源接入 + 物料 (T+23 天)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阶段 1 抢节点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2026/7/15 - 2026/9/30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2,000㎡ (含擦边球)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硬节点一, 100% 必达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阶段 2 加速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2026/10/1 - 2026/12/31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+ 3,000㎡ → 累计 5,000㎡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Q4 攻坚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阶段 3 开业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2027/1/1 - 2027/5/1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+ 5,000㎡ → 累计 10,000㎡ (50%)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硬节点二, 项目开业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阶段 4 满租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2027/5/2 - 2028/5/1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+ 8,000-10,000㎡ → 累计 90%+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全周期满租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P6 · 行业转化率 110:1 — 反推工作量与策略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2291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转化率历史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时期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原因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45 :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2015-2018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经济上行, 办公需求旺盛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68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2019-2022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首轮经济调整, 需求回落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110 :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2023-2026 (当前)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替代办公需求 + 经济下行 + 企业压成本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10896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【两种打法的工作量对比】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打小户 (200㎡ 二次元): 招满 2 万方 = 100 单 × 110 = 触达 11,000 家潜客 (3 人团队需 24+ 月)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打大户 (1,000㎡ AI/IP): 招满 2 万方 = 20 单 × 110 = 触达 2,200 家潜客 (3 人团队需 8-10 月)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→ 效率差 5 倍, 节点风险差 10 倍</a:t>
            </a:r>
          </a:p>
          <a:p>
            <a:pPr>
              <a:spcAft>
                <a:spcPts val="400"/>
              </a:spcAft>
              <a:defRPr sz="1300" b="0">
                <a:solidFill>
                  <a:srgbClr val="1F2A44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【对应的运营策略】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重点行业聚焦: AI / IP 头部 + 上下游, 不广撒网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大客户'特批通道': 入驻 ≥2,000㎡ 客户享受 装修补贴 + 政府对接 + 服务中心免费 1 年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招商节奏: 月度 KPI 触达 500 家 + 深谈 30 家 + 成交 4-5 家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单笔现金流参考: 一家 265㎡ 客户 = 押 2 月 + 预付 3 月 = ≈ 60-70 万元入账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P7 · 总体排期甘特概览 (2026/6 - 2027/5 关键 11 个月)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4"/>
              </a:tblGrid>
              <a:tr h="37719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关键工作流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6月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7月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8月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9月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10月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11月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12月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1月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3月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4月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5月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合同&amp;战队就位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资源&amp;牌照接入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招商物料制作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产业沙龙 6 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 5 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开业筹备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█★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F2A44"/>
                </a:solidFill>
              </a:defRPr>
            </a:pPr>
            <a:r>
              <a:t>★ 9/30 (硬节点一) 与 5/1 (硬节点二) 标红;  '█' = 工作进行中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P8 · 阶段 0 (准备期) · 6/22 - 7/15 · T+0 ~ T+23 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953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工作项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森马侧 (责任人 + 工作)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胡教授团队 (责任人 + 工作)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预计费用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合同与战队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发哥 / 周志超 与威总对齐合同流程 + 资金比例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胡教授 + 招商经理候选人面试 + 法务审稿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资源接入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森马提供品宣物料 + 楼盘 CAD/效果图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仲量联行爬楼数据接口接入 + 腾讯 + CVC 联动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数据接口 ¥2.6 万 (已购)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政府对接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危总安排闵行区科委/商务委首次拜访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胡教授对接复旦住房政策中心 + 上海市科企联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拜访礼物物料 ¥1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招商物料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提供产品技术参数 + 楼层平面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招商手册 + 装修手册 + 百问话术 (本方案已交)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设计公司外包 ¥3-5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新闻发布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森马总部 PR 对接 + 主流媒体邀请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胡教授对接福布斯采访 + 闵行区官网/新华网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PR 发布 ¥0 (媒体资源)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P9 · 阶段 1 (抢节点) · 7/15 - 9/30 · T+23 ~ T+100 天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★ 硬节点一: 2,000㎡ 签约 (含擦边球)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963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工作项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森马侧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胡教授团队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预计费用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对节点贡献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大客户突击 (≥ 1,000㎡)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发哥协调签约价格 + 商务条款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L1+L2 漏斗执行: 央企 + 中型 AI/IP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招商交通 ¥3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 1-2 家 ≈ 1,000-2,000㎡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直播基地落地 (擦边球)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提供 4# 楼 4F 场地 + 装修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联动绮丽少女 + 元谷直播 IP 招标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硬件设备 ¥30-50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计入 ≈ 800-1,000㎡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共享设计中心 (擦边球)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提供 4# 楼 5F 场地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与腾讯/AI 腾讯生态联合挂牌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工位 + AI 设备 ¥40-60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计入 ≈ 500-800㎡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首批沙龙 (#1 AI+潮玩)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森马品牌联合宣传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联动腾讯 + 中动漫, 借势 5/22 峰会余热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执行包 ¥5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曝光 + 锁定 5-10 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首批挂牌 (① + ②)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森马挂牌仪式 + 楼面物料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AI 潮玩产业基地 + 潮玩次元商业专委会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挂牌仪式 ¥10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牌照即招商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签约率追踪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森马商务部 + 财务对账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周报机制, 数据透明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P10 · 阶段 2 (加速期) · 10/1 - 12/31 · 累计 5,000㎡ 目标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953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工作项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森马侧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胡教授团队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预计费用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对累计贡献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L3 爬楼大数据全开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 IT 对接数据接口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200 家精准客户清单 + 上门拜访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差旅 ¥5 万/月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 ≈ 1,500㎡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L2 资本招商 (CVC 落地)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投资协议法务支持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追觅基金 + 腾讯 + CVC 落地 ≥ 3 家 AI 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投资基金推介 ¥3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 ≈ 1,500㎡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 #2 出海 + #3 投融资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森马联合宣传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联动北欧/福布斯 + 招行/长江/金浦/铂帝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执行包 ¥10 万 (2 场)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锁定 ≈ 600㎡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 ③ + 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森马挂牌仪式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上海市科企联 + 复旦住房政策中心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挂牌仪式 ¥5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学术与政府背书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开业筹备启动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森马商业部主导开业策划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胡教授团队配合产业入驻动线设计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P11 · 阶段 3 (开业期) · 2027/1/1 - 5/1 · 累计 10,000㎡ + 开业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953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工作项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森马侧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胡教授团队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预计费用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对累计贡献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大客户决战 (≥ 2,000㎡)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威总亲自背书 + 大客户接待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锁定头部央企 / 行业旗舰 1-2 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高端接待 ¥10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 ≈ 2,000-4,000㎡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 #4 + #5 + 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森马联合宣传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上海交大 + 中百协 + 闵行科协联办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执行包 ¥15 万 (3 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锁定 ≈ 800㎡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 ⑤ 福布斯专场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森马高端晚宴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福布斯榜单元谷专场发布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挂牌+晚宴 ¥30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国际品牌势能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开业典礼 5/1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森马集团董事长出席 + 政府高层邀请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胡教授+复旦+科企联+欧洲机构出席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开业典礼 ¥80-100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项目品牌定型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二期 5.2 万方招商启动 (预热)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森马商业部承接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胡教授团队提供产业地图 + 客户管道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为下个阶段铺垫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P12 · 阶段 4 (满租期) · 2027/5/2 - 2028/5/1 · 累计 90%+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阶段目标: 4#/5# 楼共 2 万方达到 90%+ 满租 (= ≥ 18,000㎡)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核心动作: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沙龙 IP 化年度化 (年度 12-15 场, 单场 ≥ 30 客户)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5 项挂牌续约 (每项 50% 续挂费 = 15 万/项)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福布斯榜单年度评选发布 (元谷主场)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整合 5/22 'AI 商业化峰会' 作为元谷品牌固定 IP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招商对象延伸至 5.2 万方商业部分 (二期承接)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财务模型 (第二年):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月费 13 万/月 × 12 = 156 万元 (可适度涨价)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招商佣金 (+ 8,000㎡ 增量): 1.75 个月 × 803 元/㎡ × 8,000 ÷ 12 ≈ 94 万元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沙龙 #7-#12 (6 场): 净分润 70% × 31 万 = 21.7 万元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挂牌续挂奖励: 5 × 15 万 = 75 万元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超额奖励 (满租率 ≥ 95% 一次性): 100 万元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55607A"/>
                </a:solidFill>
              </a:defRPr>
            </a:pPr>
            <a:r>
              <a:t>· 第二年合计: ≈ 446 万元 (满租场景)</a:t>
            </a:r>
          </a:p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24 月双向账本: 甲方付出 ≈ 714 万 / 甲方收入 ≈ 2,769 万 / ROI 1:3.88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P13 · 资源拉通 (胡教授团队提供, 直接转化为招商工具)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434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资源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落地路径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对节点贡献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腾讯算力补贴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公司专享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新注册 AI 公司 3 个月合同免费 / 算力 85 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锁定 ≥ 5 家 AI 公司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CVC 创业投资基金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资本招商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天使-A 轮投资, 入驻元谷 AI/IP 企业优先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锁定 ≥ 3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闵行区科委 / 商务委 / 街道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政策资源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高新认定 / 专精特新 / 创新券 / 闵行专项补贴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提升招商转化率 30%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欧洲驻沪机构 (德/以/北欧)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国际化资源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'科技 + 出海' 展示场景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国际品牌势能 + 主流媒体声量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复旦大学住房政策研究中心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学术背书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元谷分中心挂牌, 政策研究 + 高净值人脉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高端客户对话渠道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上海市科技企业联合会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上海科企生态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元谷产业基地挂牌, 上海科企导流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上海生态对接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福布斯产业影响力榜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国际品牌势能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元谷专场榜单 + 国际媒体曝光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国际品牌势能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34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仲量联行爬楼大数据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招商弹药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200+ 家目标客户清单 + 转化率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核心销售工具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P14 · 团队配置与商业条款 (向森马提议)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217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推荐方案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区间 / 备注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团队配置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2 人驻场 + CSO 顾问 (胡教授每周 ≥ 2 天)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1-3 人阶梯可选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基础月费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12 万元/月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6-18 万 (1/2/3 人), 推荐 2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招商佣金阶梯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1.5 / 1.75 / 2.0 个月年租金 (按面积)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≤2000㎡/2-5000㎡/&gt;5000㎡; 返投 +0.25 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挂牌奖励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 项 × 30 万 = 150 万 (一次性)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续挂 50% (15 万/项)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沙龙执行费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 万/场 × 6 场 = 30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净利 30/70 分润 (甲/乙)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服务期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24 个月 (首期)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续期由乙方优先选择权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超额奖励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24 月满租率 ≥ 95% → 100 万一次性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对赌激励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2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客户归属保护期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24 个月 (名单提交后)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甲方不得绕开签约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P15 · 9/30 节点深拆 — 2,000㎡ 怎么来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T+100 天必达军令状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9449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来源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面积估算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落地概率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兜底方案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1-2 家中大型 AI/IP 客户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1,000-2,000㎡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若未签, 直播基地 + 共享设计中心兜底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共享直播基地落地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800-1,000㎡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森马已具备意愿, 7 月启动硬件采购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共享设计中心落地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500-800㎡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80%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联动腾讯/上海交大, 8 月挂牌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产业服务中心入驻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300-500㎡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乙方自营业态, 100% 计入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首批小型 AI/IP 客户 3-5 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600-1,500㎡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L4 沙龙带流的快速转化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合计 (中性估算)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3,200-5,800㎡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实际计入 ≥ 2,000㎡ 概率 &gt; 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关键: 共享直播基地 + AI 共享设计中心 是 '擦边球' 主力, 9/30 之前必须落地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P16 · 双方分工 (森马侧 / 胡教授团队侧 / 联合)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75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分工类别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森马侧主责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胡教授团队主责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联合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战略与合同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威总 + 发哥 + 周志超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胡教授 (产业战略)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签约 + 商务条款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产业招商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全权负责 (2 万方)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商业招商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发哥 + 周志超 (5.2 万方)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政府对接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森马总部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胡教授 (闵行区主导)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联合拜访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资源接入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森马品牌资源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腾讯/CVC/欧洲/福布斯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联合背书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森马高层出席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牵线 + 仪式执行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联合发布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开业典礼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森马集团董事长 + 政府高层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胡教授 + 复旦 + 科企联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联合主办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传播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森马商业部 + 主流媒体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福布斯 + 政府官网 + 新华网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联合发声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P17 · 月度签约率推进表 (按年租金 803 元/㎡ 估算)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67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06323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月份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本月新增 (㎡)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累计签约 (㎡)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累计签约率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累计年租金 (万元)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里程碑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战队就位 + 物料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首批 L1 牌照 + 大客户接触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2,300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9/30 硬节点达成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L3 爬楼启动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4,300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21.5%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沙龙 #3 投融资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2026/12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Q4 攻坚收官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6,700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33.5%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538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新年首单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8,900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44.5%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6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5/1 节点提前一周达成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3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2027/5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11,900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59.5%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开业典礼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P18 · 12 个月费用与现金流 (向森马提案口径)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75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费用类别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金额 (元)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支付节奏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甲方现金压力 (元/月)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团队月费 12 万 × 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1,440,000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按月预付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120,000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招商佣金 (累计 11,900㎡ 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起租后 30 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渐进, 高峰约 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 项挂牌 (一次性首挂)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1,500,000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挂牌 30 日内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分 5 次, 平均 25,000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 场沙龙执行 (5 万/场)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按场结算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约 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首场开业典礼 (5/1)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800,000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开业前 30 日内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资源对接 / 政府关系 / 接待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实报实销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12 月合计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5,640,000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月均现金压力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≈ 47 万/月 (含佣金高峰)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2A44"/>
                </a:solidFill>
              </a:defRPr>
            </a:pPr>
            <a:r>
              <a:t>★ 同期甲方租金累计收入 ≈ 956 万元, 物业 ≈ 90 万元 → 单 12 个月已现金回正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P19 · 风险与对冲 (写进协议)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449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风险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影响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对冲机制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9/30 节点 2,000㎡ 未达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森马失信 + 项目延期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擦边球 (直播 + 设计中心) 兜底 + KPI 对赌月费保留 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5/1 开业 50% 未达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开业氛围不足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阶段 4 满租期延长 + 沙龙 IP 化加速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转化率 110:1 → 130:1 (恶化)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招商节奏放缓 30%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团队扩 1 人 (改 3 人重配) + 月费上调至 18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闵行区政策变化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补贴/牌照不落地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备份: 杨浦区 / 漕河泾 / 张江政策可援引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行业资本退潮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AI 客户付款能力下降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切换 IP 主轴比例 + 加快出海企业引入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4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森马商业部协同延误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1#/6# 商业氛围不足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★ 5.2 万方与 2 万方独立排期 + 不相互拖累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P20 · 投决建议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建议本周内启动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三问决策 (建议森马本周内确定):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① 是否接受 IP+AI 双轨战略调整? — 建议: 是 (杨浦区已有先例)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② 是否接受 2 人驻场 + 12 万元月费 + 1.5-2 月佣金 + 5 项挂牌 + 6 场沙龙条款? — 建议: 是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③ 是否同意 7 月初启动 (赶 9/30 硬节点)? — 建议: 是, 错过 7 月即风险陡增</a:t>
            </a:r>
          </a:p>
          <a:p>
            <a:pPr>
              <a:spcAft>
                <a:spcPts val="400"/>
              </a:spcAft>
              <a:defRPr sz="1400" b="0">
                <a:solidFill>
                  <a:srgbClr val="1F2A44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一句话总结: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以 IP+AI 双轨战略, 借势 5/22 峰会余热与闵行区科委政策红利,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100 天达成 9/30 节点 2,000㎡, 314 天达成 5/1 开业 50% 签约,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730 天达成 2 万方满租, 为森马贡献年化租金 1,606 万元 + 资产估值 2.47 亿元</a:t>
            </a:r>
          </a:p>
          <a:p>
            <a:pPr>
              <a:spcAft>
                <a:spcPts val="400"/>
              </a:spcAft>
              <a:defRPr sz="1400" b="0">
                <a:solidFill>
                  <a:srgbClr val="1F2A44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F2A44"/>
                </a:solidFill>
              </a:defRPr>
            </a:pPr>
            <a:r>
              <a:t>★ 决策成本: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─ 投入: 12 个月 ≈ 564 万元 (月费 + 佣金 + 挂牌 + 沙龙 + 开业)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─ 收入: 同期租金 ≈ 956 万 + 物业 ≈ 90 万 = ≈ 1,046 万元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55607A"/>
                </a:solidFill>
              </a:defRPr>
            </a:pPr>
            <a:r>
              <a:t>─ 净收益: ≈ +482 万元 (12 个月单算已正), 24 个月 ROI 1:3.88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元谷 2 万方招商策略与排期 v1.0 · 胡教授团队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100 天 · 2,000 方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IP + AI 双轨, 借势政府, 闭环招商。</a:t>
            </a:r>
          </a:p>
          <a:p/>
          <a:p>
            <a:pPr>
              <a:defRPr sz="1600">
                <a:solidFill>
                  <a:srgbClr val="CFD8E3"/>
                </a:solidFill>
              </a:defRPr>
            </a:pPr>
            <a:r>
              <a:t>胡教授团队 × 森马集团  ·  元谷 2 万方专项招商策略与排期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