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274320" cy="2194560"/>
          </a:xfrm>
          <a:prstGeom prst="rect">
            <a:avLst/>
          </a:prstGeom>
          <a:solidFill>
            <a:srgbClr val="F2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元谷项目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4#+5# 楼约 2 万㎡ 产业研发办公</a:t>
            </a:r>
          </a:p>
          <a:p>
            <a:pPr>
              <a:defRPr sz="2800">
                <a:solidFill>
                  <a:srgbClr val="F27E2D"/>
                </a:solidFill>
              </a:defRPr>
            </a:pPr>
            <a:r>
              <a:t>招 商 运 营 专 项 方 案</a:t>
            </a:r>
          </a:p>
          <a:p/>
          <a:p>
            <a:pPr>
              <a:defRPr sz="1600">
                <a:solidFill>
                  <a:srgbClr val="CFD8E3"/>
                </a:solidFill>
              </a:defRPr>
            </a:pPr>
            <a:r>
              <a:t>胡教授团队  ×  森马集团     ·     202X 年提案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 · 执行摘要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Executive Summary — 30 秒读懂本方案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业务包：元谷 4# / 5# 楼 5F+ 共约 2 万㎡产业研发办公整体招商运营 (24 个月期)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核心抓手：『AI 潮玩产业基地』 + 6 场产业沙龙 + 5 项挂牌 + 5/22 AI 商业化峰会借势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团队配置：2 人驻场 + CSO 顾问 (轻骑兵) → 月度成本可控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商业条款 (向森马提议)：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① 基础月费 (Retainer) 12 万元/月 (2 人推荐配)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② 招商佣金 1.5 / 1.75 / 2.0 个月年租金 (按面积阶梯)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③ 挂牌奖励 30 万元/项 × 5 项 = 150 万元一次性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④ 沙龙执行 5 万元/场 × 6 场 + 净利 30/70 分润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24 个月给森马的回报：满租后年租金 ≈ 1,606 万元 + 物业 ≈ 240 万 + 资产增值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投入产出 (甲方视角)：付出 818-965 万 → 获得 3,200 万+ 直接年化收入 (ROI ≈ 1:3.9)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P3 · 项目实测 (一)：4# / 5# 楼业态结构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本方案聚焦 5F+ 产业集群约 2 万㎡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1225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843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楼栋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1–3F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4F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5F+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本方案招商范围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4# 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潮玩艺术中心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直播中心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潮玩产业集群 ≈ 1 万㎡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国际 IP 创意层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84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5# 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动漫书店 / 休闲娱乐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动漫书店延伸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潮玩产业集群 ≈ 1 万㎡ (含 5F 潮玩产业展厅)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潮玩产业总部层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4# 楼 5F+ 已具备的同栋配套:4F 直播中心 / 5F AI 共享设计中心 / 5F AI 共享打样 &amp; DIY 中心</a:t>
            </a:r>
          </a:p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5# 楼 5F+ 已具备的同栋配套:5F 潮玩产业展厅 / 1–4F 动漫书店及休闲娱乐 (天然客流和场景)</a:t>
            </a:r>
          </a:p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→ 4#/5# 楼 5F+ 是元谷整盘的产业心脏, 与 1F-4F 商业业态形成『前店后办公』复合形态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P4 · 项目实测 (二)：区位、客流与租金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与大零号湾主流园区对标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TOD 加持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15 号线元江路站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单日客流 5–7 万人次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15 分钟车行覆盖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24 万 居住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+ 12 万 产业办公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市场对标日租金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1.8–2.5 元/㎡/天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(大零号湾 / 紫竹高新区)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1887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建议成交日租金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2.0–2.5 元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中位 2.2 (含 5A 加持)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60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对标园区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日租金 (元/㎡/天)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类别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零号湾全球创新创业集聚区 / 大零号湾科创转化中心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2.0–2.5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标杆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华谊万创新所 / 上海人工智能产业园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主流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紫竹信息数码港 (5A 甲级) / 紫竹数字创意港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2.1–3.0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主流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龙湖蓝海引擎 / 金领谷科技产业园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1.5–2.8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可对标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云境 443 未来产业社区 / 夏日汇国际中心 (高端)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2.3–4.5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满租推算 (甲方视角): 2 万㎡ × 365 天 × 2.2 元 ≈ 1,606 万元/年租金 (永续年金)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P5 · 项目实测 (三)：与 22 万㎡ 全盘的关系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【本方案聚焦】4#+5# 楼 5F+ 共 2 万㎡产业研发办公 → 元谷整盘的『产业心脏』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【整盘 22 万㎡背景，仅作概览】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1# 楼: 森马集团总部办公 + 1-4F 零售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2# 楼: 二次元主题 Livehouse / 秀场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3# 楼: 1-4F 休闲运动 + 萌宠 / 5F+ 酒店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4# 楼: 1-3F 潮玩艺术中心 / 4F 直播中心 / ★ 5F+ 潮玩产业集群 (本方案)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5# 楼: 1-4F 动漫书店 + 休闲娱乐 / ★ 5F+ 潮玩产业集群 (本方案)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6# 楼: 1-5F 餐饮 / 服务配套 / 商务宴请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【商业 5.2 万㎡部分】属于二期拓展空间，本阶段不在专项报告范围内 (待 4#/5# 成势后承接)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【为什么选 4#/5# 5F+】产业属性最纯粹、配套最齐全、单价容易守住、可以快速锁定 AI 潮玩产业基地双牌照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P6 · SWOT 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225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08431">
                <a:tc>
                  <a:txBody>
                    <a:bodyPr/>
                    <a:lstStyle/>
                    <a:p/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内部 (Internal)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外部 (External)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有利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S 优势 · 森马底盘 + 双牌照已确认 + 4#/5# 楼产业配套齐全 (选品/直播/AI 设计/展厅/艺术中心)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O 机会 · AI+潮玩双赛道政策红利 / 5/22 峰会高净值人脉 / 复旦+北大学术资源可平移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84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不利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W 劣势 · 新建项目品牌势能尚弱 / TOD 工程未完工 / 潮玩生态需培育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 威胁 · 周边新园区 (云境 443 / 夏日汇) 竞争 / 政策调整 / 招商节奏不及预期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【应对策略】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用『基础月费保底 + 阶梯佣金』对冲 W (招商节奏风险)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用『5/22 峰会 + 6 场沙龙 + 5 项挂牌』转化 O (政策红利) 为实际客户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用 AI 潮玩产业基地『差异化定位』对冲 T (周边竞争)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P7 · Phase 1 · 策略与定位 (一)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AI 潮玩产业基地 — 长三角首个 AI+潮玩 双牌照策源高地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★ 总定位:『AI 潮玩产业基地 (China AI + IP-Toy Industrial Base)』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— 长三角首个 AI + 潮玩 双牌照产业策源高地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— 以中国动漫集团『AI 潮玩产业基地』+ 中国百货商业协会『潮玩次元商业专委会』为核心牌照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— 与上海交大设计学院 / 闵行科协 / 森马集团 联合建设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【三大战略目标】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① 国际化产业枢纽 (4# 楼 5F+, 北欧 / 日韩 / 东南亚 IP 首站)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② 品牌运营高地 (5# 楼 5F+, 头部企业 + 中型潮玩运营企业)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③ IP 创制中心 (4# 楼 5F AI 共享设计 + 5# 楼 5F 潮玩产业展厅)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【与森马原产业规划完全对齐】PDF 中『科技潮玩产业策源高地』+『五档配比 10/10/20/20/40』 → 本方案直接承接执行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P8 · Phase 1 · 策略与定位 (二)：4# / 5# 楼分工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9449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定位维度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4# 楼 5F+ (≈ 1 万㎡)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5# 楼 5F+ (≈ 1 万㎡)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昵称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 IP 创意层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潮玩产业总部层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核心客户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 IP / AI 设计 / 国际艺术家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头部央企 / 行业协会 / 中型潮玩运营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同层配套联动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4F 直播中心 / 5F AI 共享设计中心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5F 潮玩产业展厅 / 1-4F 动漫书店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重点 IP 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北欧创新国际会客厅 元谷站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潮玩产业基地 主基地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典型户型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200–800㎡ 小型 + 1000–2000㎡ 中型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300–1,200㎡ 中型 + 2,000㎡ 头部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首年优先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T+1 年优先满租 (1 万㎡)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T+2 年承接外溢 + 满租 (1 万㎡)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P9 · Phase 1 · 策略与定位 (三)：五档客户画像 (与 PDF 一致)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占比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数量 / 户型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落位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招商打法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头部央企 / 行业协会 (导向)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家 / 2,000㎡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5# 楼 5F+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L1 牌照锚定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共享配套服务体系 (吸附点)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家 / 2,000㎡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4# 楼 5F+ + 5# 楼 5F+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合资公司直营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中型潮玩运营企业 (基础)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4-6 家 / 5,000㎡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5# 楼 5F+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L2 资本招商 (返投基金)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中小型潮业服务机构 (血肉)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15 家 / 200-500㎡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4# 楼 5F+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L4 活动带流 (6 场沙龙)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小型潮玩运营企业 (骨架)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 家 / 200-500㎡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4# 楼 5F+ 主力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L3 爬楼大数据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总计入驻企业 55+ 家、总人口约 1,000-1,500 人 → 元谷产业人口主战场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P10 · Phase 2 · 招商执行 (一)：四级招商漏斗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9867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层级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招商动作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核心资源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目标产能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周期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L1 牌照锚定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签头部央企 / 行业协会作为旗舰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潮玩产业基地 + 潮玩次元商业专委会 双牌照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家 × 2,000㎡ = 6,000㎡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T+3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L2 资本招商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追觅基金返投 + AI 腾讯生态导流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追觅基金 + 5/22 峰会 LP 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4-6 家 × 1,000㎡ = 5,000㎡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T+6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L3 大数据爬楼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仲量联行爬楼大数据精准画像 + 上门拜访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仲量联行爬楼数据 (¥2.6 万已购入)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 家 × 200-500㎡ = 6,000-8,000㎡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T+9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867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L4 活动带流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 场产业沙龙 + 福布斯榜单 + 北欧外事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5/22 峰会 + 6 场沙龙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15 家 × 200-500㎡ = 3,000-4,000㎡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T+12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漏斗共能产生 20,000–23,000㎡ 招商管道 → 实际签约可达 18,000-20,000㎡ (即满租)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P11 · Phase 2 · 招商执行 (二)：5/22 AI 峰会借势路径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2026 人工智能商业化落地与硬核投资破局峰会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【峰会概览】2026 年 5 月 22 日 · 上海·北外滩·一滴水 · 13:00–20:30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主办: 北京大学经济学院上海校友会 + 复旦大学住房政策研究中心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联办: 上海杨浦区科技企业联合会 / 上海市临港区科技企业联合会 / 北大金融校友联合会 / 中东投资联盟 等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四大篇章 + VIP 高端闭门晚宴 → 嘉宾覆盖 AI / 量子 / 金融 / 资本 / 文创 / 出海 全领域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【借势路径 — 五件事】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① 元谷设峰会专属展位 + 闭门 1V1 招商台 (现场锁定 30-50 位 LP / 潜在客户)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② 颁奖嵌入 — 增设『AI 潮玩产业影响力榜』, 由元谷主办、福布斯背书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③ 主办方资源平移 — 复旦住房政策中心、北大经济学院上海校友会、中行 / 长江 / 招行 / 金浦 / 铂帝 战略合作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④ 峰会嘉宾转化沙龙 #1 主题嘉宾 — 直接转化为元谷 T+1 月首场 AI+潮玩沙龙嘉宾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⑤ 峰会闭门晚宴 → 形成『元谷创始合伙人圈』 → 12 个月后归入元谷年度大会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借势效益: 借助峰会高净值人群 (200+ VIP) , 把品牌势能 + 客户线索 提前到 T+0 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P12 · Phase 2 · 招商执行 (三)：意向客户管道 (示例 / 脱敏)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客户类型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代表企业 (脱敏)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意向面积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对接渠道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L1 头部央企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中字头数字央企 A / 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2,000㎡ × 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中国动漫集团 + 牌照锚定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L1 行业协会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中国百货商业协会 潮玩次元专委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1,500㎡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牌照共建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L2 中型潮玩 / AI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潮玩品牌 X / 国漫公司 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1,000㎡ × 4-6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追觅基金 + AI 腾讯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L3 小型潮玩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盲盒新锐 / 设计师工作室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200-500㎡ ×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仲量联行爬楼大数据 + 5/22 峰会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L4 服务机构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财税 / IP 律所 / 出海咨询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200-500㎡ × 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 场沙龙拉新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实际清单超过 60 家 (覆盖 4#+5# 楼 2 万㎡), 详见 Excel Sheet '招商客户管道'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P13 · Phase 2 · 招商执行 (四)：12+12 个月招商里程碑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449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时间节点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招商累计 (㎡)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里程碑事件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佣金累计 (按 1.75 个月平均, 万元)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T+3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首批牌照锚定 (L1) + 5/22 峰会借势完成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T+6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中型潮玩 4 家入驻 (L2 资本招商)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T+9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12,000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爬楼大数据 (L3) 转化 + 沙龙 4 场完成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T+12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4# 楼 1 万方满租 (L3+L4 双轮)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117 (4# 楼全部)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T+18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14,000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5# 楼 5F+ 启动 + 沙龙转固定 IP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T+24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4#+5# 楼共 2 万方满租 + 沙龙 IP 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234 (累计)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24 个月累计佣金 ≈ 234 万元 (基础场景, 平均 1.75 个月年租金)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P14 · Phase 2 · 招商执行 (五)：六大『出彩点』(VS 普通招商)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①『牌照即招商』— AI 潮玩产业基地 + 潮玩次元专委 双牌照前置, 客户『送进来』不是『拉进来』</a:t>
            </a: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②『基金即招商』— 追觅基金 1:1.5 返投绑定, 资本驱动签约 (不只是租约, 还有股权)</a:t>
            </a: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③『数据即招商』— 仲量联行爬楼大数据 (¥2.6 万已购) → 200 家精准客户清单 + 转化率提升 30%</a:t>
            </a: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④『峰会即招商』— 5/22 AI 峰会 200+ VIP, 1 天锁定 30-50 个客户, 普通园区一个季度才够</a:t>
            </a: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⑤『沙龙即招商』— 6 场产业沙龙, 每场 30+ 目标客户, 一场签 1-2 家 = 5-12 家直接成果</a:t>
            </a: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⑥『学术即招商』— 复旦住房政策研究中心 + 上海交大设计学院 + 北大经济学院 三所高校背书招商</a:t>
            </a: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1F2A44"/>
                </a:solidFill>
              </a:defRPr>
            </a:pPr>
            <a:r>
              <a:t>→ 普通园区只做 ③④, 元谷六维齐发 → 招商速度领先 6-12 个月、单方租金溢价 0.2-0.4 元/㎡/天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P15 · Phase 3 · 品牌与活动 (一)：6 场产业沙龙 (每场 ≥ 30 目标产业客户)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9449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主题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联办方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目标客户数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#1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T+1 月 (借势 5/22 峰会次月)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+ 潮玩 跨界融合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中国动漫集团 + AI 腾讯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T+3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潮玩出海 (北欧 / 日韩 / 东南亚)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北欧创新国际会客厅 + 福布斯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#3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T+5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投融资路演 (硬科技 + 潮玩)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追觅基金 + 招商银行 + 长江证券 + 金浦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T+7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设计与创意 (国潮 + 数字潮玩)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上海交大设计学院 + 上海市科企联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#5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T+9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内容 IP 与 Z 世代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中国百货协会潮玩次元专委 + 中动漫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T+11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政策补贴与小镇规划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闵行科协 + 复旦住房政策研究中心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每场目标:30+ 产业客户 / 5+ 投资人 / 3+ 政府部门 / 100+ 媒体声量 → 累计触达 ≥ 200 家目标企业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P16 · Phase 3 · 品牌与活动 (二)：5 项挂牌 (5 × 30 万 = 150 万一次性激励)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挂牌名称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出牌方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对元谷的价值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潮玩产业基地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中国动漫集团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牌照即招商, AI+潮玩双赛道核心抓手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潮玩次元商业专委会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中国百货商业协会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聚集潮玩零售生态 + 政府对话渠道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复旦大学住房政策研究中心 · 元谷分中心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复旦大学住房政策研究中心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学术背书 + 政策研究 + 高净值人脉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上海市科技企业联合会 · 元谷产业基地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上海市科技企业联合会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上海科技企业生态导流 + 政府补贴申报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福布斯产业影响力奖 · 元谷专场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福布斯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国际品牌势能 + 年度评选 IP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建议森马每项挂牌支付 ¥30 万一次性激励 → 5 项合计 ¥150 万</a:t>
            </a:r>
          </a:p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12 个月内 5 项全数挂牌 (T+3 月: ①+②; T+6 月: ④; T+9 月: ③; T+12 月: 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P17 · Phase 3 · 品牌与活动 (三)：『活动 IP 化』年度日历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【一年八节奏】(以 12 个月为周期)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月度: 1 场产业沙龙 (年 6-12 场)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季度: 1 场北欧创新国际会客厅外事接待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半年: 1 场福布斯 元谷专场榜单发布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年度: 1 届全国潮玩设计大赛 (与上海交大 + 中动漫联办)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年度: 1 届 AI 潮玩产业大会 (合资公司主办, 邀请 1,000+ 产业人)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【与 5/22 峰会的承接】每年 5 月固定承接『AI 商业化峰会』作为元谷品牌主场</a:t>
            </a:r>
          </a:p>
          <a:p>
            <a:pPr>
              <a:spcAft>
                <a:spcPts val="500"/>
              </a:spcAft>
              <a:defRPr sz="1500" b="1">
                <a:solidFill>
                  <a:srgbClr val="1F2A44"/>
                </a:solidFill>
              </a:defRPr>
            </a:pPr>
            <a:r>
              <a:t>【可量化产出】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媒体声量年度 ≥ 5 亿次曝光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政府补贴年度 ≥ 100 万元 (申报路径)</a:t>
            </a:r>
          </a:p>
          <a:p>
            <a:pPr lvl="1">
              <a:spcAft>
                <a:spcPts val="500"/>
              </a:spcAft>
              <a:defRPr sz="1300" b="0">
                <a:solidFill>
                  <a:srgbClr val="55607A"/>
                </a:solidFill>
              </a:defRPr>
            </a:pPr>
            <a:r>
              <a:t>· 赞助 / 票务年度 ≥ 200 万元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P18 · Phase 4 · 商业条款 (一)：基础月费 (1–3 人配置阶梯)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233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配置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人员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月度刚性成本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建议月费 (元/月)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毛利率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 人轻配 (招商单兵)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产业招商经理 × 1 + CSO 顾问 (折半)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2 人推荐配 (招商 + 活动)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招商经理 + 国际合作&amp;活动策划 + CSO 顾问 + 仲量联行接口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人重配 (+基金/政府)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 + 活动 + 基金投后&amp;政府关系 + CSO 顾问 + 数据 + 行政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140,000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180,000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推荐方案: 2 人配置 + 12 万元/月 → 24 个月合计基础费用 ≈ 288 万元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1 万 ≤ 月毛利垫 ≤ 2.5 万: 用于差旅 + 接待 + 物料 + 数据运维, 留出适度安全边际</a:t>
            </a:r>
          </a:p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  <a:r>
              <a:t>成本反算依据: 详见 Excel Sheet '03 基础费用构成'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P19 · Phase 4 · 商业条款 (二)：招商佣金阶梯 (1.5–2 个月年租金)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233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面积档位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日租金 (元/㎡/天)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年租金 (元/㎡)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佣金月数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佣金 (元/㎡)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≤ 2,000㎡ 小型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1.5 个月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2,001–5,000㎡ 中型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1.75 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&gt; 5,000㎡ 头部 / 央企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2.0 个月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满租 2 万㎡ × 按 1.75 个月加权平均 → 佣金累计 ≈ 234 万元 (24 个月)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追觅基金返投落地客户额外加成 +0.25 个月 (即上限 2.25 个月)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客户名单提交后归属保护期 24 个月; 甲方不得绕开合资公司签约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与 v1.1 全盘方案的差异: 全盘方案佣金 1.0/1.5/2.5 个月偏低端; 本专项采用 1.5/1.75/2.0 中段、更激励招商团队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P20 · Phase 4 · 商业条款 (三)：挂牌奖励 + 沙龙费 + KPI 对赌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【挂牌奖励 (一次性, 5 项)】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每项 ¥30 万 × 5 项 = 总额 ¥150 万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结算节奏: 挂牌正式公告之日起 30 日内支付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【沙龙执行费 (6 场)】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每场 ¥5 万执行包 (场地 + 物料 + 嘉宾接待 + 传播) × 6 场 = ¥30 万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赞助 / 票务 / 政府补贴 → 合资公司收取, 净利 30/70 (甲方/丙方) 分润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单场净利预估 ¥6-8 万 → 24 个月 6 场净利 ¥36-48 万, 丙方 70% 分润 ¥25-34 万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【KPI 对赌】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T+6 月签约 ≥ 4,000㎡ / T+12 月 ≥ 10,000㎡ (4# 楼满租) / T+24 月 ≥ 18,000㎡ (90% 满租视为达标)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沙龙: 每场 ≥ 30 目标产业客户 (现场签到 + 闭环管理)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挂牌: 12 个月内 ≥ 3 项 / 24 个月内 ≥ 5 项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未达标的, 当期月费保留 50%, 待达成后补足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P21 · Phase 5 · 落地推进 (一)：30 / 60 / 90 / 180 / 365 / 730 天行动表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9449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节点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关键动作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里程碑产出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 天 (5/22 当周内)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MOU 签订 + 2-3 人战队就位 + 仲量联行数据接入 + 5/22 峰会借势完成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首批 20 家意向客户清单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 #1 (AI+潮玩) 完成 + AI 潮玩产业基地挂牌筹备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签约首单 + 媒体头部曝光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90 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潮玩产业基地正式挂牌 + 潮玩次元专委挂牌 + 4,000㎡ 签约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L1 牌照客户 3 家入驻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180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沙龙过半 (3 场) + 上海市科企联挂牌 + 8,000㎡ 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L2 资本招商客户落地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365 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 场沙龙完成 + 5 项挂牌全部落地 + 4# 楼 1 万方满租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首年报告 + 续约谈判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730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5# 楼 1 万方满租 + 沙龙年度 IP 化 + 福布斯榜单元谷专场上线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2 万方目标完成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P22 · Phase 5 · 落地推进 (二)：团队配置 + 资源接入路径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【团队配置 — 2 人核心 + CSO + 兼职专家池】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产业招商经理 (全职): 22K 底薪 + 10K 绩效 + 招商提成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国际合作 &amp; 活动策划 (全职): 20K 底薪 + 8K 绩效 + 沙龙分润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CSO (胡教授本人): 每周 ≥ 2 个工作日 + 重大节点全勤, 月顾问费 25K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兼职专家池 (项目制): 财税 / 法律 / 知识产权 / 政府补贴顾问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【资源接入路径 — 90 天三轨并行】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数据轨: 90 日内接入仲量联行爬楼大数据 → 200 家目标客户清单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资本轨: 90 日内完成追觅基金 + AI 腾讯生态合作框架协议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牌照轨: 90 日内挂牌『AI 潮玩产业基地』+『潮玩次元商业专委会』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【与森马的协同接口】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· 月度双周会 (CSO 主持) / 季度董事会汇报 / 年度战略复盘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P23 · 投决建议 (一)：24 个月双向账本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收入类别 (向胡教授团队结算)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T+1 年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T+2 年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24 个月合计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基础月费 (12 万 × 12)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1,440,000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1,440,000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2,880,000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 人配置 × 24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招商佣金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2,340,000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按 1.75 个月平均、每年 1 万方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挂牌奖励 (5 × 30 万)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1,200,000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1,500,000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 项前置 + 1 项 T+2 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沙龙净分润 (70% × 30 万均值)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 场沙龙 /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合计 (胡教授团队收入)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4,020,000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3,120,000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7,140,000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≈ 714 万元 (24 个月)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114800"/>
          <a:ext cx="110642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233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对甲方 (森马) 的贡献</a:t>
                      </a:r>
                    </a:p>
                  </a:txBody>
                  <a:tcPr>
                    <a:solidFill>
                      <a:srgbClr val="F27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T+1 年 (元)</a:t>
                      </a:r>
                    </a:p>
                  </a:txBody>
                  <a:tcPr>
                    <a:solidFill>
                      <a:srgbClr val="F27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T+2 年 (元)</a:t>
                      </a:r>
                    </a:p>
                  </a:txBody>
                  <a:tcPr>
                    <a:solidFill>
                      <a:srgbClr val="F27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24 个月合计 (元)</a:t>
                      </a:r>
                    </a:p>
                  </a:txBody>
                  <a:tcPr>
                    <a:solidFill>
                      <a:srgbClr val="F27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F27E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年化租金 (满租后)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8,030,000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16,060,000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24,090,000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T+1 平均半租 / T+2 满租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物业费 (10 元/㎡/月)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2,400,000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3,600,000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随入驻渐进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合计 (甲方直接收入)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9,230,000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18,460,000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27,690,000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≈ 2,769 万元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P24 · 投决建议 (二)：ROI 与决策点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7432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甲方付出 (24 月)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714 万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月费+佣金+挂牌+沙龙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7432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甲方收入 (24 月)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2,769 万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租金 + 物业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27432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ROI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1 : 3.9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投入产出比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188720"/>
            <a:ext cx="27432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4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>
              <a:defRPr sz="1100" b="0">
                <a:solidFill>
                  <a:srgbClr val="55607A"/>
                </a:solidFill>
              </a:defRPr>
            </a:pPr>
            <a:r>
              <a:t>资产增值</a:t>
            </a:r>
          </a:p>
          <a:p>
            <a:pPr>
              <a:defRPr sz="2000" b="1">
                <a:solidFill>
                  <a:srgbClr val="142C5E"/>
                </a:solidFill>
              </a:defRPr>
            </a:pPr>
            <a:r>
              <a:t>不可量化</a:t>
            </a:r>
          </a:p>
          <a:p>
            <a:pPr>
              <a:defRPr sz="1000">
                <a:solidFill>
                  <a:srgbClr val="55607A"/>
                </a:solidFill>
              </a:defRPr>
            </a:pPr>
            <a:r>
              <a:t>TOD 板块整体溢价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决策三问 (建议森马本月内确定):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① 是否接受 2 万方专项独家招商委托 (24 个月)? — 建议: 是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② 是否接受『基础月费 12 万/月 + 1.5-2 个月佣金 + 5 项挂牌 + 6 场沙龙』条款? — 建议: 是</a:t>
            </a:r>
          </a:p>
          <a:p>
            <a:pPr lvl="1">
              <a:spcAft>
                <a:spcPts val="500"/>
              </a:spcAft>
              <a:defRPr sz="1200" b="0">
                <a:solidFill>
                  <a:srgbClr val="55607A"/>
                </a:solidFill>
              </a:defRPr>
            </a:pPr>
            <a:r>
              <a:t>③ 是否同意 30 天内启动 (5/22 峰会借势)? — 建议: 是 (错过 5/22 后该资源释放至下一年度)</a:t>
            </a:r>
          </a:p>
          <a:p>
            <a:pPr>
              <a:spcAft>
                <a:spcPts val="500"/>
              </a:spcAft>
              <a:defRPr sz="1400" b="0">
                <a:solidFill>
                  <a:srgbClr val="1F2A44"/>
                </a:solidFill>
              </a:defRPr>
            </a:pP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风险预案: 若 24 个月未达满租 90% (即 ≥ 1.8 万㎡), 月费保留 50% 待达成补足 → 甲方下行可控</a:t>
            </a:r>
          </a:p>
          <a:p>
            <a:pPr>
              <a:spcAft>
                <a:spcPts val="500"/>
              </a:spcAft>
              <a:defRPr sz="1400" b="1">
                <a:solidFill>
                  <a:srgbClr val="1F2A44"/>
                </a:solidFill>
              </a:defRPr>
            </a:pPr>
            <a:r>
              <a:t>★ 上行空间: 若 18 个月即满租, 节余成本可投入 5.2 万㎡商业部分的二期招商委托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 4#+5# 楼 2 万方专项招商运营方案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潮玩 · 双牌照 · 6 场沙龙 · 2 万方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把 5/22 峰会的高净值人群,</a:t>
            </a:r>
          </a:p>
          <a:p>
            <a:pPr>
              <a:defRPr sz="2800" b="1">
                <a:solidFill>
                  <a:srgbClr val="F27E2D"/>
                </a:solidFill>
              </a:defRPr>
            </a:pPr>
            <a:r>
              <a:t>30 天内,变成元谷的客户。</a:t>
            </a:r>
          </a:p>
          <a:p/>
          <a:p>
            <a:pPr>
              <a:defRPr sz="1600">
                <a:solidFill>
                  <a:srgbClr val="CFD8E3"/>
                </a:solidFill>
              </a:defRPr>
            </a:pPr>
            <a:r>
              <a:t>胡教授团队 × 森马集团  ·  4#+5# 楼 2 万方专项招商运营方案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