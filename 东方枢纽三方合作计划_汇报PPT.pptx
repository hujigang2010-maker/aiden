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91695" cy="508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4297680"/>
            <a:ext cx="960120" cy="1737360"/>
          </a:xfrm>
          <a:prstGeom prst="rect">
            <a:avLst/>
          </a:prstGeom>
          <a:solidFill>
            <a:srgbClr val="2A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4297680"/>
            <a:ext cx="960120" cy="1737360"/>
          </a:xfrm>
          <a:prstGeom prst="rect">
            <a:avLst/>
          </a:prstGeom>
          <a:solidFill>
            <a:srgbClr val="2A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47120" y="4297680"/>
            <a:ext cx="960120" cy="1737360"/>
          </a:xfrm>
          <a:prstGeom prst="rect">
            <a:avLst/>
          </a:prstGeom>
          <a:solidFill>
            <a:srgbClr val="2A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FAADC"/>
                </a:solidFill>
                <a:latin typeface="Microsoft YaHei"/>
                <a:ea typeface="Microsoft YaHei"/>
              </a:rPr>
              <a:t>三方战略合作 · 下半年活动计划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51560"/>
            <a:ext cx="1097280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</a:rPr>
              <a:t>东方枢纽 133 万方招商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</a:rPr>
              <a:t>12 场高质量闭门活动策划方案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8036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复旦大学住房政策研究中心  ·  上海市杨浦区科技企业联合会  ·  东方枢纽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FAADC"/>
                </a:solidFill>
                <a:latin typeface="Microsoft YaHei"/>
                <a:ea typeface="Microsoft YaHei"/>
              </a:rPr>
              <a:t>活动规划 · 时间建议 · 主题内容 · 详细策划 · 初步报价 · 招商引资价值分析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FAADC"/>
                </a:solidFill>
                <a:latin typeface="Microsoft YaHei"/>
                <a:ea typeface="Microsoft YaHei"/>
              </a:rPr>
              <a:t>2026 年下半年（7–12 月）  |  内部审阅 &amp; 客户汇报通用版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汇报目录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49240" cy="84124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868680" cy="8412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868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527048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</a:rPr>
              <a:t>合作背景与三方定位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892808"/>
            <a:ext cx="4251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Microsoft YaHei"/>
                <a:ea typeface="Microsoft YaHei"/>
              </a:rPr>
              <a:t>谁在合作 · 各自角色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417320"/>
            <a:ext cx="5349240" cy="84124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17320"/>
            <a:ext cx="868680" cy="8412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417320"/>
            <a:ext cx="868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527048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</a:rPr>
              <a:t>战略目标与合作原则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1892808"/>
            <a:ext cx="4251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Microsoft YaHei"/>
                <a:ea typeface="Microsoft YaHei"/>
              </a:rPr>
              <a:t>小而美 · 重质量 · 闭环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86584"/>
            <a:ext cx="5349240" cy="84124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386584"/>
            <a:ext cx="868680" cy="8412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386584"/>
            <a:ext cx="868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496312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</a:rPr>
              <a:t>六大核心产业与 12 场总览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2862072"/>
            <a:ext cx="4251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Microsoft YaHei"/>
                <a:ea typeface="Microsoft YaHei"/>
              </a:rPr>
              <a:t>时间 · 主题 · 规模 · 报价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386584"/>
            <a:ext cx="5349240" cy="84124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386584"/>
            <a:ext cx="868680" cy="8412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868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2496312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</a:rPr>
              <a:t>12 场活动详细策划案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862072"/>
            <a:ext cx="4251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Microsoft YaHei"/>
                <a:ea typeface="Microsoft YaHei"/>
              </a:rPr>
              <a:t>内容 · 嘉宾 · 招商衔接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55848"/>
            <a:ext cx="5349240" cy="84124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355848"/>
            <a:ext cx="868680" cy="8412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355848"/>
            <a:ext cx="868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3465576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</a:rPr>
              <a:t>报价体系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3831336"/>
            <a:ext cx="4251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Microsoft YaHei"/>
                <a:ea typeface="Microsoft YaHei"/>
              </a:rPr>
              <a:t>三档模型 · 全年预算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355848"/>
            <a:ext cx="5349240" cy="84124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3355848"/>
            <a:ext cx="868680" cy="8412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3355848"/>
            <a:ext cx="868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3465576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</a:rPr>
              <a:t>招商引资价值分析（核心）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831336"/>
            <a:ext cx="4251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Microsoft YaHei"/>
                <a:ea typeface="Microsoft YaHei"/>
              </a:rPr>
              <a:t>133 万方去化转化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325112"/>
            <a:ext cx="5349240" cy="84124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4325112"/>
            <a:ext cx="868680" cy="8412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325112"/>
            <a:ext cx="868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4480" y="443484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</a:rPr>
              <a:t>执行机制与下一步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4800600"/>
            <a:ext cx="4251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Microsoft YaHei"/>
                <a:ea typeface="Microsoft YaHei"/>
              </a:rPr>
              <a:t>OA · 供应商 · 落地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背景 ·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合作背景与三方定位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</a:rPr>
              <a:t>依托东方枢纽资源，三方联合策划一系列聚焦六大产业、面向企业出海与政府飞地招商的高质量闭门活动。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35661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35661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65959"/>
            <a:ext cx="32004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复旦大学住房政策研究中心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971799"/>
            <a:ext cx="3163824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62626"/>
                </a:solidFill>
                <a:latin typeface="Microsoft YaHei"/>
                <a:ea typeface="Microsoft YaHei"/>
              </a:rPr>
              <a:t>2009 年成立，以复旦大学教授、学者为核心的学术研究体系；提供政策研究、课题背书与学术公信力，提升项目能级与对外话语权。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874519"/>
            <a:ext cx="35661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874519"/>
            <a:ext cx="3566160" cy="914400"/>
          </a:xfrm>
          <a:prstGeom prst="rect">
            <a:avLst/>
          </a:prstGeom>
          <a:solidFill>
            <a:srgbClr val="37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965959"/>
            <a:ext cx="32004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上海市杨浦区科技企业联合会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2971799"/>
            <a:ext cx="3163824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62626"/>
                </a:solidFill>
                <a:latin typeface="Microsoft YaHei"/>
                <a:ea typeface="Microsoft YaHei"/>
              </a:rPr>
              <a:t>1992 年由杨浦区政府发起成立，杨浦科委下属、会员制运营（1500–50000 元/年）；运营科技企业社群近 1 万人（年底目标 2 万人），负责精准邀约、内容策划、活动执行、社群传播与会后跟进评估。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66760" y="1874519"/>
            <a:ext cx="35661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874519"/>
            <a:ext cx="3566160" cy="9144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965959"/>
            <a:ext cx="32004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东方枢纽（招商主体）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2971799"/>
            <a:ext cx="3163824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62626"/>
                </a:solidFill>
                <a:latin typeface="Microsoft YaHei"/>
                <a:ea typeface="Microsoft YaHei"/>
              </a:rPr>
              <a:t>133 万方招商引资项目，含浦东机场、毗邻高铁站，具备“进境关外”免税/停留政策优势；聚焦六大核心产业招商，提供国企/政府背书、场地资源与指定策划供应商通道。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战略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战略目标与六大合作原则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2471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总目标：以高质量活动为抓手，为东方枢纽 133 万方项目实现精准导流与高效去化转化。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86400" cy="1280160"/>
          </a:xfrm>
          <a:prstGeom prst="rect">
            <a:avLst/>
          </a:prstGeom>
          <a:solidFill>
            <a:srgbClr val="F2F2F2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63500" cy="12801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92808"/>
            <a:ext cx="5166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5496"/>
                </a:solidFill>
                <a:latin typeface="Microsoft YaHei"/>
                <a:ea typeface="Microsoft YaHei"/>
              </a:rPr>
              <a:t>小而美 · 重质量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58568"/>
            <a:ext cx="516636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icrosoft YaHei"/>
                <a:ea typeface="Microsoft YaHei"/>
              </a:rPr>
              <a:t>区内活动 ≤30 人、市区活动 ≤80 人、旗舰论坛 ≤200 人；嘉宾须为决策层，杜绝“一日游”式普通职员。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486400" cy="1280160"/>
          </a:xfrm>
          <a:prstGeom prst="rect">
            <a:avLst/>
          </a:prstGeom>
          <a:solidFill>
            <a:srgbClr val="F2F2F2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63500" cy="12801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892808"/>
            <a:ext cx="5166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5496"/>
                </a:solidFill>
                <a:latin typeface="Microsoft YaHei"/>
                <a:ea typeface="Microsoft YaHei"/>
              </a:rPr>
              <a:t>政府/国企背书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258568"/>
            <a:ext cx="516636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icrosoft YaHei"/>
                <a:ea typeface="Microsoft YaHei"/>
              </a:rPr>
              <a:t>优先在浦东新区投资办、市级商务/投资部门场地举办，对接区投资办主任、市商委外办、管委会领导。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200400"/>
            <a:ext cx="5486400" cy="1280160"/>
          </a:xfrm>
          <a:prstGeom prst="rect">
            <a:avLst/>
          </a:prstGeom>
          <a:solidFill>
            <a:srgbClr val="F2F2F2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63500" cy="12801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310128"/>
            <a:ext cx="5166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5496"/>
                </a:solidFill>
                <a:latin typeface="Microsoft YaHei"/>
                <a:ea typeface="Microsoft YaHei"/>
              </a:rPr>
              <a:t>聚焦六大产业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675888"/>
            <a:ext cx="516636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icrosoft YaHei"/>
                <a:ea typeface="Microsoft YaHei"/>
              </a:rPr>
              <a:t>围绕东方枢纽六大核心产业定向邀约，而非泛泛铺量。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200400"/>
            <a:ext cx="5486400" cy="1280160"/>
          </a:xfrm>
          <a:prstGeom prst="rect">
            <a:avLst/>
          </a:prstGeom>
          <a:solidFill>
            <a:srgbClr val="F2F2F2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200400"/>
            <a:ext cx="63500" cy="12801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310128"/>
            <a:ext cx="5166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5496"/>
                </a:solidFill>
                <a:latin typeface="Microsoft YaHei"/>
                <a:ea typeface="Microsoft YaHei"/>
              </a:rPr>
              <a:t>闭环可追溯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675888"/>
            <a:ext cx="516636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icrosoft YaHei"/>
                <a:ea typeface="Microsoft YaHei"/>
              </a:rPr>
              <a:t>形成“活动—跟进—评估—再合作”闭环，注册数据全量录入后台，导入 CRM，支撑 OA 后评估报告。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617720"/>
            <a:ext cx="5486400" cy="1280160"/>
          </a:xfrm>
          <a:prstGeom prst="rect">
            <a:avLst/>
          </a:prstGeom>
          <a:solidFill>
            <a:srgbClr val="F2F2F2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617720"/>
            <a:ext cx="63500" cy="12801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727448"/>
            <a:ext cx="5166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5496"/>
                </a:solidFill>
                <a:latin typeface="Microsoft YaHei"/>
                <a:ea typeface="Microsoft YaHei"/>
              </a:rPr>
              <a:t>差异化抓手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093208"/>
            <a:ext cx="516636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icrosoft YaHei"/>
                <a:ea typeface="Microsoft YaHei"/>
              </a:rPr>
              <a:t>以“政府飞地招商”对接长三角/全国地级市，区别于传统招商。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617720"/>
            <a:ext cx="5486400" cy="1280160"/>
          </a:xfrm>
          <a:prstGeom prst="rect">
            <a:avLst/>
          </a:prstGeom>
          <a:solidFill>
            <a:srgbClr val="F2F2F2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617720"/>
            <a:ext cx="63500" cy="12801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727448"/>
            <a:ext cx="5166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5496"/>
                </a:solidFill>
                <a:latin typeface="Microsoft YaHei"/>
                <a:ea typeface="Microsoft YaHei"/>
              </a:rPr>
              <a:t>合规执行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093208"/>
            <a:ext cx="516636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Microsoft YaHei"/>
                <a:ea typeface="Microsoft YaHei"/>
              </a:rPr>
              <a:t>经费经由东方枢纽指定策划供应商签约支付，由持国货区通行证的供应商完成场地搭建。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产业 · SECTORS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东方枢纽六大核心产业板块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0700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</a:rPr>
              <a:t>12 场活动全部围绕以下六大板块定向邀约，而非泛化铺量。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3611880" cy="10972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057400"/>
            <a:ext cx="822960" cy="822960"/>
          </a:xfrm>
          <a:prstGeom prst="ellipse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</a:rPr>
              <a:t>高服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148840"/>
            <a:ext cx="22860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</a:rPr>
              <a:t>高端服务业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035808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会展、专业服务、国际组织与商协会资源导入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73736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3611880" cy="10972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72000" y="2057400"/>
            <a:ext cx="822960" cy="822960"/>
          </a:xfrm>
          <a:prstGeom prst="ellipse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05740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</a:rPr>
              <a:t>国贸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148840"/>
            <a:ext cx="22860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</a:rPr>
              <a:t>国际贸易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3035808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新型离岸贸易、进出口、跨境撮合，依托进境关外政策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80" y="173736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80" y="1737360"/>
            <a:ext cx="3611880" cy="10972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12480" y="2057400"/>
            <a:ext cx="822960" cy="822960"/>
          </a:xfrm>
          <a:prstGeom prst="ellipse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205740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</a:rPr>
              <a:t>民航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148840"/>
            <a:ext cx="22860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</a:rPr>
              <a:t>民用航空（含供应链）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2" y="3035808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临空经济、航空维修与配套供应链（东航/双飞及配套）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97764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977640"/>
            <a:ext cx="3611880" cy="10972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31520" y="4297680"/>
            <a:ext cx="822960" cy="822960"/>
          </a:xfrm>
          <a:prstGeom prst="ellipse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29768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</a:rPr>
              <a:t>医药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4389120"/>
            <a:ext cx="22860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</a:rPr>
              <a:t>生物医药（药械贸易为主）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5276088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医疗器械与药品进出口贸易、后市场服务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397764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43400" y="3977640"/>
            <a:ext cx="3611880" cy="10972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0" y="4297680"/>
            <a:ext cx="822960" cy="822960"/>
          </a:xfrm>
          <a:prstGeom prst="ellipse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429768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</a:rPr>
              <a:t>工联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4389120"/>
            <a:ext cx="22860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</a:rPr>
              <a:t>工业互联网（含数据中心）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99432" y="5276088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数据中心、全网通、境外算力接入服务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83880" y="397764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83880" y="3977640"/>
            <a:ext cx="3611880" cy="10972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12480" y="4297680"/>
            <a:ext cx="822960" cy="822960"/>
          </a:xfrm>
          <a:prstGeom prst="ellipse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0" y="429768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</a:rPr>
              <a:t>绿能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4389120"/>
            <a:ext cx="22860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</a:rPr>
              <a:t>绿色能源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9912" y="5276088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新能源汽车、充电桩、锂电储能、新兴储能出海东南亚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总览 ·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下半年 12 场活动总览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457200" cy="40233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34440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1234440"/>
            <a:ext cx="1691640" cy="40233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234440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拟定时间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234440"/>
            <a:ext cx="3977639" cy="40233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1234440"/>
            <a:ext cx="397763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活动主题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79" y="1234440"/>
            <a:ext cx="1874519" cy="40233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1234440"/>
            <a:ext cx="187451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产业板块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58198" y="1234440"/>
            <a:ext cx="1234440" cy="40233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198" y="1234440"/>
            <a:ext cx="12344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规模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38" y="1234440"/>
            <a:ext cx="502920" cy="40233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38" y="1234440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95558" y="1234440"/>
            <a:ext cx="777240" cy="40233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58" y="1234440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报价
万元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1636776"/>
            <a:ext cx="457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1636776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1636776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1636776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7 月中旬（约 7/16）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06040" y="1636776"/>
            <a:ext cx="397763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9192" y="1636776"/>
            <a:ext cx="390448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企业出海首站 · “进境关外”政策闭门会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79" y="1636776"/>
            <a:ext cx="187451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1" y="1636776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国际贸易 / 高端服务业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198" y="1636776"/>
            <a:ext cx="12344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198" y="1636776"/>
            <a:ext cx="12344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92638" y="1636776"/>
            <a:ext cx="502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38" y="1636776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376A4E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95558" y="1636776"/>
            <a:ext cx="777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95558" y="1636776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9.8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039112"/>
            <a:ext cx="45720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039112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2039112"/>
            <a:ext cx="16916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2039112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7 月底（约 7/30）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06040" y="2039112"/>
            <a:ext cx="3977639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9192" y="2039112"/>
            <a:ext cx="390448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绿色能源与新兴储能出海专场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79" y="2039112"/>
            <a:ext cx="1874519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56831" y="2039112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绿色能源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58198" y="2039112"/>
            <a:ext cx="12344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58198" y="2039112"/>
            <a:ext cx="12344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92638" y="2039112"/>
            <a:ext cx="50292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92638" y="2039112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2E5496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195558" y="2039112"/>
            <a:ext cx="7772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95558" y="2039112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22.8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441448"/>
            <a:ext cx="457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2441448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2441448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2441448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8 月 18 日（已定）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06040" y="2441448"/>
            <a:ext cx="397763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79192" y="2441448"/>
            <a:ext cx="390448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东南亚出海高峰论坛（旗舰）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79" y="2441448"/>
            <a:ext cx="187451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56831" y="2441448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国际贸易 / 全产业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58198" y="2441448"/>
            <a:ext cx="12344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58198" y="2441448"/>
            <a:ext cx="12344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大型论坛·200 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692638" y="2441448"/>
            <a:ext cx="502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38" y="2441448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C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195558" y="2441448"/>
            <a:ext cx="777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195558" y="2441448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56.0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2843784"/>
            <a:ext cx="45720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2843784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2843784"/>
            <a:ext cx="16916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4400" y="2843784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8 月底（约 8/27）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606040" y="2843784"/>
            <a:ext cx="3977639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679192" y="2843784"/>
            <a:ext cx="390448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长三角属地（市级）商会对接会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83679" y="2843784"/>
            <a:ext cx="1874519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1" y="2843784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国际贸易 / 高端服务业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58198" y="2843784"/>
            <a:ext cx="12344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458198" y="2843784"/>
            <a:ext cx="12344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692638" y="2843784"/>
            <a:ext cx="50292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692638" y="2843784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2E5496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195558" y="2843784"/>
            <a:ext cx="7772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195558" y="2843784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22.8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3246120"/>
            <a:ext cx="457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3246120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" y="3246120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4400" y="3246120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9 月中旬（约 9/10）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606040" y="3246120"/>
            <a:ext cx="397763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679192" y="3246120"/>
            <a:ext cx="390448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新型国际贸易与跨境服务专场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583679" y="3246120"/>
            <a:ext cx="187451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56831" y="3246120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国际贸易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458198" y="3246120"/>
            <a:ext cx="12344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58198" y="3246120"/>
            <a:ext cx="12344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692638" y="3246120"/>
            <a:ext cx="502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692638" y="3246120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2E5496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195558" y="3246120"/>
            <a:ext cx="777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95558" y="3246120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22.8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57200" y="3648456"/>
            <a:ext cx="45720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7200" y="3648456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14400" y="3648456"/>
            <a:ext cx="16916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14400" y="3648456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9 月底（约 9/24）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606040" y="3648456"/>
            <a:ext cx="3977639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679192" y="3648456"/>
            <a:ext cx="390448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民用航空及临空供应链专场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83679" y="3648456"/>
            <a:ext cx="1874519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656831" y="3648456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民用航空（含供应链）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58198" y="3648456"/>
            <a:ext cx="12344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58198" y="3648456"/>
            <a:ext cx="12344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692638" y="3648456"/>
            <a:ext cx="50292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692638" y="3648456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376A4E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195558" y="3648456"/>
            <a:ext cx="7772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195558" y="3648456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9.8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7200" y="4050792"/>
            <a:ext cx="457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57200" y="4050792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14400" y="4050792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14400" y="4050792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10 月中旬（约 10/15）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606040" y="4050792"/>
            <a:ext cx="397763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679192" y="4050792"/>
            <a:ext cx="390448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政府飞地招商闭门会（长三角地级市）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583679" y="4050792"/>
            <a:ext cx="187451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656831" y="4050792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高端服务业 / 全产业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458198" y="4050792"/>
            <a:ext cx="12344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458198" y="4050792"/>
            <a:ext cx="12344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692638" y="4050792"/>
            <a:ext cx="502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692638" y="4050792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376A4E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195558" y="4050792"/>
            <a:ext cx="777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195558" y="4050792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9.8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57200" y="4453128"/>
            <a:ext cx="45720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57200" y="4453128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14400" y="4453128"/>
            <a:ext cx="16916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14400" y="4453128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10 月底（约 10/29）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606040" y="4453128"/>
            <a:ext cx="3977639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679192" y="4453128"/>
            <a:ext cx="390448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工业互联网与数据中心（算力出海）专场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583679" y="4453128"/>
            <a:ext cx="1874519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656831" y="4453128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工业互联网（含数据中心）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458198" y="4453128"/>
            <a:ext cx="12344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458198" y="4453128"/>
            <a:ext cx="12344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692638" y="4453128"/>
            <a:ext cx="50292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692638" y="4453128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2E5496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195558" y="4453128"/>
            <a:ext cx="7772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195558" y="4453128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22.8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57200" y="4855464"/>
            <a:ext cx="457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57200" y="4855464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14400" y="4855464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14400" y="4855464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11 月中旬（约 11/12）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606040" y="4855464"/>
            <a:ext cx="397763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679192" y="4855464"/>
            <a:ext cx="390448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生物医药 · 药械贸易出海专场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583679" y="4855464"/>
            <a:ext cx="187451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656831" y="4855464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生物医药（药械贸易为主）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458198" y="4855464"/>
            <a:ext cx="12344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458198" y="4855464"/>
            <a:ext cx="12344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692638" y="4855464"/>
            <a:ext cx="502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692638" y="4855464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2E5496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195558" y="4855464"/>
            <a:ext cx="777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195558" y="4855464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22.8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57200" y="5257800"/>
            <a:ext cx="45720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57200" y="5257800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14400" y="5257800"/>
            <a:ext cx="16916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14400" y="5257800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11 月底（约 11/26）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606040" y="5257800"/>
            <a:ext cx="3977639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679192" y="5257800"/>
            <a:ext cx="390448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内陆城市出海对接会（华中 · 中原）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583679" y="5257800"/>
            <a:ext cx="1874519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656831" y="5257800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国际贸易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458198" y="5257800"/>
            <a:ext cx="12344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458198" y="5257800"/>
            <a:ext cx="12344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692638" y="5257800"/>
            <a:ext cx="50292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9692638" y="5257800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376A4E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195558" y="5257800"/>
            <a:ext cx="7772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195558" y="5257800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9.8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57200" y="5660136"/>
            <a:ext cx="457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57200" y="5660136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914400" y="5660136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14400" y="5660136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12 月上旬（约 12/10）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606040" y="5660136"/>
            <a:ext cx="397763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2679192" y="5660136"/>
            <a:ext cx="390448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高端服务业 · 国际汇客厅资源对接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583679" y="5660136"/>
            <a:ext cx="187451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656831" y="5660136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高端服务业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8458198" y="5660136"/>
            <a:ext cx="12344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458198" y="5660136"/>
            <a:ext cx="12344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9692638" y="5660136"/>
            <a:ext cx="502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9692638" y="5660136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2E5496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0195558" y="5660136"/>
            <a:ext cx="777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0195558" y="5660136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22.8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457200" y="6062472"/>
            <a:ext cx="45720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57200" y="6062472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914400" y="6062472"/>
            <a:ext cx="16916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0" y="6062472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12 月中旬（约 12/17）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2606040" y="6062472"/>
            <a:ext cx="3977639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2679192" y="6062472"/>
            <a:ext cx="390448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东方枢纽全产业链招商年度峰会暨签约（旗舰收官）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6583679" y="6062472"/>
            <a:ext cx="1874519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656831" y="6062472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全产业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458198" y="6062472"/>
            <a:ext cx="12344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458198" y="6062472"/>
            <a:ext cx="12344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大型峰会·200 人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692638" y="6062472"/>
            <a:ext cx="50292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9692638" y="6062472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C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10195558" y="6062472"/>
            <a:ext cx="777240" cy="40233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195558" y="6062472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BF9000"/>
                </a:solidFill>
                <a:latin typeface="Microsoft YaHei"/>
                <a:ea typeface="Microsoft YaHei"/>
              </a:rPr>
              <a:t>56.0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457200" y="6464808"/>
            <a:ext cx="9738358" cy="402336"/>
          </a:xfrm>
          <a:prstGeom prst="rect">
            <a:avLst/>
          </a:prstGeom>
          <a:solidFill>
            <a:srgbClr val="D9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57200" y="6464808"/>
            <a:ext cx="973835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F3864"/>
                </a:solidFill>
                <a:latin typeface="Microsoft YaHei"/>
                <a:ea typeface="Microsoft YaHei"/>
              </a:rPr>
              <a:t>12 场合计（初步报价）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0195558" y="6464808"/>
            <a:ext cx="777240" cy="40233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0195558" y="6464808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288.0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57200" y="641908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95959"/>
                </a:solidFill>
                <a:latin typeface="Microsoft YaHei"/>
                <a:ea typeface="Microsoft YaHei"/>
              </a:rPr>
              <a:t>档位：A 小而美闭门(≤30人·区内) / B 市区专场(≤80人) / C 旗舰论坛(≤200人)。节奏建议两周一场，资源成熟可提档、档期可调。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详细策划 ·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12 场活动详细策划案（1–2 / 12）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5532120" cy="658368"/>
          </a:xfrm>
          <a:prstGeom prst="rect">
            <a:avLst/>
          </a:prstGeom>
          <a:solidFill>
            <a:srgbClr val="37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NO.1  企业出海首站 · “进境关外”政策闭门会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6A4E"/>
                </a:solidFill>
                <a:latin typeface="Microsoft YaHei"/>
                <a:ea typeface="Microsoft YaHei"/>
              </a:rPr>
              <a:t>9.8万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95959"/>
                </a:solidFill>
                <a:latin typeface="Microsoft YaHei"/>
                <a:ea typeface="Microsoft YaHei"/>
              </a:rPr>
              <a:t>7 月中旬（约 7/16）  |  小而美闭门 · 30 人  |  东方枢纽园区（浦开大厦 9 楼）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76A4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解读东方枢纽“进境关外”免税与 180 天停留政策，明确落地路径；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拟出海企业为核心客群，已出海企业提供后市场服务案例；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首场试点，跑通邀约—注册—跟进—评估全流程。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76A4E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浦东新区投资办主任、市商委外办、拟出海/已出海企业决策层、联合会社群精选企业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76A4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建立首批意向企业清单，作为后续 11 场的种子池；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现场收集租赁/入驻意向，导入招商 CRM。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1280160"/>
            <a:ext cx="5532120" cy="65836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NO.2  绿色能源与新兴储能出海专场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5496"/>
                </a:solidFill>
                <a:latin typeface="Microsoft YaHei"/>
                <a:ea typeface="Microsoft YaHei"/>
              </a:rPr>
              <a:t>22.8万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95959"/>
                </a:solidFill>
                <a:latin typeface="Microsoft YaHei"/>
                <a:ea typeface="Microsoft YaHei"/>
              </a:rPr>
              <a:t>7 月底（约 7/30）  |  市区专场 · 80 人  |  浦东新区投资办（浦开大厦 9 楼 200 人厅）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聚焦新能源汽车、充电桩、锂电与新兴储能出海东南亚；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对标已签约的江苏协鑫，邀请特斯拉、比亚迪、特来电、宁德时代等；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延伸低空经济（如沃兰特 eVTOL，锂电池关联）作为新兴话题。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江苏协鑫、特斯拉 / 比亚迪、特来电（充电桩）、宁德时代、电动两轮车与储能企业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2512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绿色能源为六大板块中高热度方向，直接匹配枢纽产业招商；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锁定东南亚交付型能源企业的关外仓储/办公需求。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详细策划 ·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12 场活动详细策划案（3–4 / 12）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5532120" cy="65836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NO.3  东南亚出海高峰论坛（旗舰）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F9000"/>
                </a:solidFill>
                <a:latin typeface="Microsoft YaHei"/>
                <a:ea typeface="Microsoft YaHei"/>
              </a:rPr>
              <a:t>56.0万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95959"/>
                </a:solidFill>
                <a:latin typeface="Microsoft YaHei"/>
                <a:ea typeface="Microsoft YaHei"/>
              </a:rPr>
              <a:t>8 月 18 日（已定）  |  大型论坛 · 200 人  |  经贸大厦 86 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BF9000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借上海 76 个领事馆领事集中参加年会之机集中邀约；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联动杨浦、闵行、浦东挂牌“国际汇客厅”，配套东南亚特色餐饮；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主论坛 + 分行业对接，作为全年引流总入口（10% 导流即达标）。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BF9000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东南亚各国领事、市商委外办主任、国际汇客厅合作方、六大产业出海企业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BF9000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年度最大流量锚点，为后续专场输送高质量线索；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以国际资源提升项目国际能级，吸引外资落“进境关外”。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1280160"/>
            <a:ext cx="5532120" cy="65836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NO.4  长三角属地（市级）商会对接会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5496"/>
                </a:solidFill>
                <a:latin typeface="Microsoft YaHei"/>
                <a:ea typeface="Microsoft YaHei"/>
              </a:rPr>
              <a:t>22.8万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95959"/>
                </a:solidFill>
                <a:latin typeface="Microsoft YaHei"/>
                <a:ea typeface="Microsoft YaHei"/>
              </a:rPr>
              <a:t>8 月底（约 8/27）  |  市区专场 · 80 人  |  浦东新区投资办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聚焦市级/属地商会（青岛、宁波等港口城市），不做“太虚”的省级商会；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以进出口贸易繁荣的属地商会为主，落地导向；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商会资源成熟即可前置提档，灵活调整档期。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青岛/宁波等市级商会、属地进出口龙头企业、东方枢纽招商团队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2512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批量导入属地贸易企业，形成集群式入驻线索；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商会渠道可复用于后续飞地招商。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详细策划 ·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12 场活动详细策划案（5–6 / 12）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5532120" cy="65836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NO.5  新型国际贸易与跨境服务专场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5496"/>
                </a:solidFill>
                <a:latin typeface="Microsoft YaHei"/>
                <a:ea typeface="Microsoft YaHei"/>
              </a:rPr>
              <a:t>22.8万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95959"/>
                </a:solidFill>
                <a:latin typeface="Microsoft YaHei"/>
                <a:ea typeface="Microsoft YaHei"/>
              </a:rPr>
              <a:t>9 月中旬（约 9/10）  |  市区专场 · 80 人  |  浦东新区投资办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新型离岸贸易、跨境结算与关外政策组合服务；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对接市商委外办、领事馆资源，衔接出海服务；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可与“出海服务”合并作为差异化一体化专场。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市商委外办主任、领事馆代表、新型贸易/离岸贸易企业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以政策+服务组合吸引贸易型租户；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打造枢纽“新型国际贸易”标签，强化产业辨识度。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1280160"/>
            <a:ext cx="5532120" cy="658368"/>
          </a:xfrm>
          <a:prstGeom prst="rect">
            <a:avLst/>
          </a:prstGeom>
          <a:solidFill>
            <a:srgbClr val="37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NO.6  民用航空及临空供应链专场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6A4E"/>
                </a:solidFill>
                <a:latin typeface="Microsoft YaHei"/>
                <a:ea typeface="Microsoft YaHei"/>
              </a:rPr>
              <a:t>9.8万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95959"/>
                </a:solidFill>
                <a:latin typeface="Microsoft YaHei"/>
                <a:ea typeface="Microsoft YaHei"/>
              </a:rPr>
              <a:t>9 月底（约 9/24）  |  小而美闭门 · 30 人  |  东方枢纽园区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76A4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依托浦东机场/枢纽区位，聚焦临空经济与航空供应链；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对接双飞及其供应链企业，探讨维修、配送、保税协同；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闭门深度对接，锁定高价值供应链租户。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76A4E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双飞及供应链企业、航空维修/物流企业、临空经济服务商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76A4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2512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民用航空为枢纽独有优势板块，转化确定性高；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供应链企业黏性强、租赁面积大。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详细策划 ·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12 场活动详细策划案（7–8 / 12）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5532120" cy="658368"/>
          </a:xfrm>
          <a:prstGeom prst="rect">
            <a:avLst/>
          </a:prstGeom>
          <a:solidFill>
            <a:srgbClr val="37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NO.7  政府飞地招商闭门会（长三角地级市）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6A4E"/>
                </a:solidFill>
                <a:latin typeface="Microsoft YaHei"/>
                <a:ea typeface="Microsoft YaHei"/>
              </a:rPr>
              <a:t>9.8万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95959"/>
                </a:solidFill>
                <a:latin typeface="Microsoft YaHei"/>
                <a:ea typeface="Microsoft YaHei"/>
              </a:rPr>
              <a:t>10 月中旬（约 10/15）  |  小而美闭门 · 30 人  |  东方枢纽园区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76A4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推动地级市政府在枢纽设“招商飞地/办事处”，走港口出海；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对接内陆无出海口城市的差异化需求（华东/华中/中原）；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由管委会领导、分管副市长出席背书。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76A4E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浙江温岭/湖州、山东德州/临沂、广州（白云贸易街区）、枢纽管委会领导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76A4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机构型稳定租户 + 持续带来企业流量，差异化核心抓手；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飞地承接流入上海企业，防止资源被其他区域截流。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1280160"/>
            <a:ext cx="5532120" cy="65836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NO.8  工业互联网与数据中心（算力出海）专场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5496"/>
                </a:solidFill>
                <a:latin typeface="Microsoft YaHei"/>
                <a:ea typeface="Microsoft YaHei"/>
              </a:rPr>
              <a:t>22.8万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95959"/>
                </a:solidFill>
                <a:latin typeface="Microsoft YaHei"/>
                <a:ea typeface="Microsoft YaHei"/>
              </a:rPr>
              <a:t>10 月底（约 10/29）  |  市区专场 · 80 人  |  浦东新区投资办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依托枢纽数据中心与全网通，主打境外算力低成本接入；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面向工业互联网、AI/算力、跨境 SaaS 企业；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以“境外可用、算力便宜”为差异化卖点。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数据中心/算力企业、工业互联网平台、跨境 SaaS / AI 企业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2512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数据中心为高投资强度、高税收贡献租户；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境外算力接入是稀缺卖点，议价能力强。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详细策划 ·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12 场活动详细策划案（9–10 / 12）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5532120" cy="65836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NO.9  生物医药 · 药械贸易出海专场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5496"/>
                </a:solidFill>
                <a:latin typeface="Microsoft YaHei"/>
                <a:ea typeface="Microsoft YaHei"/>
              </a:rPr>
              <a:t>22.8万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95959"/>
                </a:solidFill>
                <a:latin typeface="Microsoft YaHei"/>
                <a:ea typeface="Microsoft YaHei"/>
              </a:rPr>
              <a:t>11 月中旬（约 11/12）  |  市区专场 · 80 人  |  浦东新区投资办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当前以药械贸易为主，聚焦进出口与后市场服务；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结合关外保税政策，探讨医疗器械集散与跨境贸易；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为后续引入研发型企业预留升级空间。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药械贸易企业、医疗器械进出口商、行业协会代表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贸易类药械企业匹配关外保税优势，落地门槛低；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形成医药贸易集群，逐步向研发升级。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1280160"/>
            <a:ext cx="5532120" cy="658368"/>
          </a:xfrm>
          <a:prstGeom prst="rect">
            <a:avLst/>
          </a:prstGeom>
          <a:solidFill>
            <a:srgbClr val="37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NO.10  内陆城市出海对接会（华中 · 中原）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76A4E"/>
                </a:solidFill>
                <a:latin typeface="Microsoft YaHei"/>
                <a:ea typeface="Microsoft YaHei"/>
              </a:rPr>
              <a:t>9.8万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95959"/>
                </a:solidFill>
                <a:latin typeface="Microsoft YaHei"/>
                <a:ea typeface="Microsoft YaHei"/>
              </a:rPr>
              <a:t>11 月底（约 11/26）  |  小而美闭门 · 30 人  |  东方枢纽园区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76A4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面向陕西、河南、湖北等有出海需求但无直接出海口城市；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标杆案例：河南南阳雪阳控股（优衣库针织供应商）走出口；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以差异化路径承接内陆制造业出口业务。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76A4E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河南南阳雪阳控股、陕西/湖北市级政府与企业、华中出口型制造企业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76A4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2512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承接内陆出口企业的上海出海“桥头堡”需求；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与飞地招商联动，扩大腹地资源。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详细策划 ·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12 场活动详细策划案（11–12 / 12）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5532120" cy="65836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NO.11  高端服务业 · 国际汇客厅资源对接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5496"/>
                </a:solidFill>
                <a:latin typeface="Microsoft YaHei"/>
                <a:ea typeface="Microsoft YaHei"/>
              </a:rPr>
              <a:t>22.8万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95959"/>
                </a:solidFill>
                <a:latin typeface="Microsoft YaHei"/>
                <a:ea typeface="Microsoft YaHei"/>
              </a:rPr>
              <a:t>12 月上旬（约 12/10）  |  市区专场 · 80 人  |  国际汇客厅 / 浦东新区投资办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联动瑞典/北欧创新国际中心等国际汇客厅资源；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撮合外资机构与高端服务企业落地关外；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以国际化服务生态提升项目品牌能级。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瑞典/北欧创新中心、区商务委、外资机构与高端服务企业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5496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国际化租户提升项目调性与租金议价；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汇客厅撮合分佣模式反哺场地方，形成长期生态。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1280160"/>
            <a:ext cx="5532120" cy="65836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NO.12  东方枢纽全产业链招商年度峰会暨签约（旗舰收官）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F9000"/>
                </a:solidFill>
                <a:latin typeface="Microsoft YaHei"/>
                <a:ea typeface="Microsoft YaHei"/>
              </a:rPr>
              <a:t>56.0万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95959"/>
                </a:solidFill>
                <a:latin typeface="Microsoft YaHei"/>
                <a:ea typeface="Microsoft YaHei"/>
              </a:rPr>
              <a:t>12 月中旬（约 12/17）  |  大型峰会 · 200 人  |  经贸大厦 86 楼 / 枢纽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BF9000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面向全年沉淀的、对东方枢纽明确感兴趣的企业二次跟进；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管委会局长（张希）、分管副市长、集团副总裁出席，年度成果发布；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现场集中签约/意向落地，形成闭环收官。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BF9000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枢纽管委会领导、分管副市长、集团副总裁、全年意向企业 60-70 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BF9000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2512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全年线索集中转化，签约仪式放大招商声量；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沉淀年度招商白皮书，支撑来年持续合作。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报价 · QUOTE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报价体系 · 三档模型与全年预算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61188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3611880" cy="868680"/>
          </a:xfrm>
          <a:prstGeom prst="rect">
            <a:avLst/>
          </a:prstGeom>
          <a:solidFill>
            <a:srgbClr val="37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30759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3337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</a:rPr>
              <a:t>小而美闭门（≤30人·区内）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67128"/>
            <a:ext cx="33375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376A4E"/>
                </a:solidFill>
                <a:latin typeface="Microsoft YaHei"/>
                <a:ea typeface="Microsoft YaHei"/>
              </a:rPr>
              <a:t>9.8 </a:t>
            </a:r>
            <a:r>
              <a:rPr sz="1100" b="1">
                <a:solidFill>
                  <a:srgbClr val="595959"/>
                </a:solidFill>
                <a:latin typeface="Microsoft YaHei"/>
                <a:ea typeface="Microsoft YaHei"/>
              </a:rPr>
              <a:t>万元/场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97480"/>
            <a:ext cx="331927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内容策划与主持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1.8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精准邀约与接待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2.5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场地搭建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1.0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物料设计制作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1.0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餐饮茶歇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1.2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社群/媒体传播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1.0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会后评估与数据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1.3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234440"/>
            <a:ext cx="361188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234440"/>
            <a:ext cx="361188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30759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691640"/>
            <a:ext cx="3337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</a:rPr>
              <a:t>市区专场（≤80人）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167128"/>
            <a:ext cx="33375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2E5496"/>
                </a:solidFill>
                <a:latin typeface="Microsoft YaHei"/>
                <a:ea typeface="Microsoft YaHei"/>
              </a:rPr>
              <a:t>22.8 </a:t>
            </a:r>
            <a:r>
              <a:rPr sz="1100" b="1">
                <a:solidFill>
                  <a:srgbClr val="595959"/>
                </a:solidFill>
                <a:latin typeface="Microsoft YaHei"/>
                <a:ea typeface="Microsoft YaHei"/>
              </a:rPr>
              <a:t>万元/场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697480"/>
            <a:ext cx="331927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内容策划与主持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3.6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精准邀约与接待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5.0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场地搭建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3.0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物料设计制作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2.5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餐饮茶歇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3.2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社群/媒体传播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3.0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会后评估与数据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234440"/>
            <a:ext cx="361188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234440"/>
            <a:ext cx="3611880" cy="86868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130759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691640"/>
            <a:ext cx="3337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</a:rPr>
              <a:t>旗舰论坛（≤200人）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167128"/>
            <a:ext cx="33375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BF9000"/>
                </a:solidFill>
                <a:latin typeface="Microsoft YaHei"/>
                <a:ea typeface="Microsoft YaHei"/>
              </a:rPr>
              <a:t>56.0 </a:t>
            </a:r>
            <a:r>
              <a:rPr sz="1100" b="1">
                <a:solidFill>
                  <a:srgbClr val="595959"/>
                </a:solidFill>
                <a:latin typeface="Microsoft YaHei"/>
                <a:ea typeface="Microsoft YaHei"/>
              </a:rPr>
              <a:t>万元/场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2697480"/>
            <a:ext cx="331927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内容策划与主持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7.0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精准邀约与接待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12.0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场地搭建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8.0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物料设计制作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6.0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餐饮茶歇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9.0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社群/媒体传播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8.0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会后评估与数据</a:t>
            </a:r>
            <a:r>
              <a:rPr sz="900" b="1">
                <a:solidFill>
                  <a:srgbClr val="BF9000"/>
                </a:solidFill>
                <a:latin typeface="Microsoft YaHei"/>
                <a:ea typeface="Microsoft YaHei"/>
              </a:rPr>
              <a:t>  6.0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26280"/>
            <a:ext cx="11274552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61772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全年预算汇总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120640"/>
            <a:ext cx="2651760" cy="777240"/>
          </a:xfrm>
          <a:prstGeom prst="rect">
            <a:avLst/>
          </a:prstGeom>
          <a:solidFill>
            <a:srgbClr val="FFFFFF"/>
          </a:solidFill>
          <a:ln w="15240">
            <a:solidFill>
              <a:srgbClr val="376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193792"/>
            <a:ext cx="26517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76A4E"/>
                </a:solidFill>
                <a:latin typeface="Microsoft YaHei"/>
                <a:ea typeface="Microsoft YaHei"/>
              </a:rPr>
              <a:t>A 档 × 4 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504688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39.2 万元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20440" y="5120640"/>
            <a:ext cx="2651760" cy="7772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5193792"/>
            <a:ext cx="26517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5496"/>
                </a:solidFill>
                <a:latin typeface="Microsoft YaHei"/>
                <a:ea typeface="Microsoft YaHei"/>
              </a:rPr>
              <a:t>B 档 × 6 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5504688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136.8 万元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5120640"/>
            <a:ext cx="2651760" cy="777240"/>
          </a:xfrm>
          <a:prstGeom prst="rect">
            <a:avLst/>
          </a:prstGeom>
          <a:solidFill>
            <a:srgbClr val="FFFFFF"/>
          </a:solidFill>
          <a:ln w="1524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5193792"/>
            <a:ext cx="26517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F9000"/>
                </a:solidFill>
                <a:latin typeface="Microsoft YaHei"/>
                <a:ea typeface="Microsoft YaHei"/>
              </a:rPr>
              <a:t>C 档 × 2 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504688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112.0 万元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1160" y="5120640"/>
            <a:ext cx="2377440" cy="7772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81160" y="5193792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12 场合计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5504688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288.0 万元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价值 · 核心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招商引资价值分析（一）转化漏斗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3864"/>
                </a:solidFill>
                <a:latin typeface="Microsoft YaHei"/>
                <a:ea typeface="Microsoft YaHei"/>
              </a:rPr>
              <a:t>核心利好：12 场活动为东方枢纽 133 万方项目构建“引流—深挖—对接—签约”的可量化招商漏斗。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8229600" cy="658368"/>
          </a:xfrm>
          <a:prstGeom prst="round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83080"/>
            <a:ext cx="82296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① 触达（决策层人次）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783080"/>
            <a:ext cx="26517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F9000"/>
                </a:solidFill>
                <a:latin typeface="Microsoft YaHei"/>
                <a:ea typeface="Microsoft YaHei"/>
              </a:rPr>
              <a:t>1,000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95959"/>
                </a:solidFill>
                <a:latin typeface="Microsoft YaHei"/>
                <a:ea typeface="Microsoft YaHei"/>
              </a:rPr>
              <a:t>2 场×200 + 6 场×80 + 4 场×30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2606040"/>
            <a:ext cx="6766560" cy="658368"/>
          </a:xfrm>
          <a:prstGeom prst="roundRect">
            <a:avLst/>
          </a:prstGeom>
          <a:solidFill>
            <a:srgbClr val="355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2606040"/>
            <a:ext cx="6766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② 意向洽谈企业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606040"/>
            <a:ext cx="26517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F9000"/>
                </a:solidFill>
                <a:latin typeface="Microsoft YaHei"/>
                <a:ea typeface="Microsoft YaHei"/>
              </a:rPr>
              <a:t>约 200 家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95959"/>
                </a:solidFill>
                <a:latin typeface="Microsoft YaHei"/>
                <a:ea typeface="Microsoft YaHei"/>
              </a:rPr>
              <a:t>触达转化率约 20%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3429000"/>
            <a:ext cx="5303520" cy="658368"/>
          </a:xfrm>
          <a:prstGeom prst="roundRect">
            <a:avLst/>
          </a:prstGeom>
          <a:solidFill>
            <a:srgbClr val="3E6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3120" y="3429000"/>
            <a:ext cx="53035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③ 深度对接企业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429000"/>
            <a:ext cx="26517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F9000"/>
                </a:solidFill>
                <a:latin typeface="Microsoft YaHei"/>
                <a:ea typeface="Microsoft YaHei"/>
              </a:rPr>
              <a:t>约 70 家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95959"/>
                </a:solidFill>
                <a:latin typeface="Microsoft YaHei"/>
                <a:ea typeface="Microsoft YaHei"/>
              </a:rPr>
              <a:t>意向转化率约 35%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4251960"/>
            <a:ext cx="3840480" cy="658368"/>
          </a:xfrm>
          <a:prstGeom prst="roundRect">
            <a:avLst/>
          </a:prstGeom>
          <a:solidFill>
            <a:srgbClr val="37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4251960"/>
            <a:ext cx="3840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④ 落地/签约企业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251960"/>
            <a:ext cx="26517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F9000"/>
                </a:solidFill>
                <a:latin typeface="Microsoft YaHei"/>
                <a:ea typeface="Microsoft YaHei"/>
              </a:rPr>
              <a:t>约 21 家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95959"/>
                </a:solidFill>
                <a:latin typeface="Microsoft YaHei"/>
                <a:ea typeface="Microsoft YaHei"/>
              </a:rPr>
              <a:t>对接转化率约 30%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3280" y="5074920"/>
            <a:ext cx="2743200" cy="658368"/>
          </a:xfrm>
          <a:prstGeom prst="round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0" y="5074920"/>
            <a:ext cx="27432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⑤ 政府飞地办事处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5074920"/>
            <a:ext cx="26517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F9000"/>
                </a:solidFill>
                <a:latin typeface="Microsoft YaHei"/>
                <a:ea typeface="Microsoft YaHei"/>
              </a:rPr>
              <a:t>5 – 8 个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95959"/>
                </a:solidFill>
                <a:latin typeface="Microsoft YaHei"/>
                <a:ea typeface="Microsoft YaHei"/>
              </a:rPr>
              <a:t>长三角/全国地级市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17220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95959"/>
                </a:solidFill>
                <a:latin typeface="Microsoft YaHei"/>
                <a:ea typeface="Microsoft YaHei"/>
              </a:rPr>
              <a:t>注：转化率为测算假设，用于展示价值逻辑；实际以邀约质量与后续跟进为准。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价值 · 核心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招商引资价值分析（二）去化测算与价值支柱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07008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133 万方 × 情景去化率测算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1737360" cy="1600200"/>
          </a:xfrm>
          <a:prstGeom prst="rect">
            <a:avLst/>
          </a:prstGeom>
          <a:solidFill>
            <a:srgbClr val="FFFFFF"/>
          </a:solidFill>
          <a:ln w="16510">
            <a:solidFill>
              <a:srgbClr val="8FAADC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45920"/>
            <a:ext cx="1737360" cy="384048"/>
          </a:xfrm>
          <a:prstGeom prst="rect">
            <a:avLst/>
          </a:prstGeom>
          <a:solidFill>
            <a:srgbClr val="8FA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45920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保守情景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4884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8FAADC"/>
                </a:solidFill>
                <a:latin typeface="Microsoft YaHei"/>
                <a:ea typeface="Microsoft YaHei"/>
              </a:rPr>
              <a:t>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06040"/>
            <a:ext cx="17373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icrosoft YaHei"/>
                <a:ea typeface="Microsoft YaHei"/>
              </a:rPr>
              <a:t>去化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3864"/>
                </a:solidFill>
                <a:latin typeface="Microsoft YaHei"/>
                <a:ea typeface="Microsoft YaHei"/>
              </a:rPr>
              <a:t>约 3.99 万方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39" y="1645920"/>
            <a:ext cx="1737360" cy="1600200"/>
          </a:xfrm>
          <a:prstGeom prst="rect">
            <a:avLst/>
          </a:prstGeom>
          <a:solidFill>
            <a:srgbClr val="FFFFFF"/>
          </a:solidFill>
          <a:ln w="16510">
            <a:solidFill>
              <a:srgbClr val="2E5496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77439" y="1645920"/>
            <a:ext cx="1737360" cy="3840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39" y="1645920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中性情景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39" y="214884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496"/>
                </a:solidFill>
                <a:latin typeface="Microsoft YaHei"/>
                <a:ea typeface="Microsoft YaHei"/>
              </a:rPr>
              <a:t>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39" y="2606040"/>
            <a:ext cx="17373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icrosoft YaHei"/>
                <a:ea typeface="Microsoft YaHei"/>
              </a:rPr>
              <a:t>去化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3864"/>
                </a:solidFill>
                <a:latin typeface="Microsoft YaHei"/>
                <a:ea typeface="Microsoft YaHei"/>
              </a:rPr>
              <a:t>约 6.65 万方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58" y="1645920"/>
            <a:ext cx="1737360" cy="1600200"/>
          </a:xfrm>
          <a:prstGeom prst="rect">
            <a:avLst/>
          </a:prstGeom>
          <a:solidFill>
            <a:srgbClr val="FFFFFF"/>
          </a:solidFill>
          <a:ln w="16510">
            <a:solidFill>
              <a:srgbClr val="BF9000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58" y="1645920"/>
            <a:ext cx="1737360" cy="38404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1958" y="1645920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乐观情景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58" y="214884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BF9000"/>
                </a:solidFill>
                <a:latin typeface="Microsoft YaHei"/>
                <a:ea typeface="Microsoft YaHei"/>
              </a:rPr>
              <a:t>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58" y="2606040"/>
            <a:ext cx="17373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95959"/>
                </a:solidFill>
                <a:latin typeface="Microsoft YaHei"/>
                <a:ea typeface="Microsoft YaHei"/>
              </a:rPr>
              <a:t>去化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3864"/>
                </a:solidFill>
                <a:latin typeface="Microsoft YaHei"/>
                <a:ea typeface="Microsoft YaHei"/>
              </a:rPr>
              <a:t>约 10.64 万方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1207008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投入产出概览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1645920"/>
            <a:ext cx="5349240" cy="292608"/>
          </a:xfrm>
          <a:prstGeom prst="rect">
            <a:avLst/>
          </a:prstGeom>
          <a:solidFill>
            <a:srgbClr val="F2F2F2"/>
          </a:solidFill>
          <a:ln w="635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1645920"/>
            <a:ext cx="50800" cy="29260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1645920"/>
            <a:ext cx="3017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62626"/>
                </a:solidFill>
                <a:latin typeface="Microsoft YaHei"/>
                <a:ea typeface="Microsoft YaHei"/>
              </a:rPr>
              <a:t>全年活动投入（12 场）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645920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5496"/>
                </a:solidFill>
                <a:latin typeface="Microsoft YaHei"/>
                <a:ea typeface="Microsoft YaHei"/>
              </a:rPr>
              <a:t>约 288 万元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1993392"/>
            <a:ext cx="5349240" cy="292608"/>
          </a:xfrm>
          <a:prstGeom prst="rect">
            <a:avLst/>
          </a:prstGeom>
          <a:solidFill>
            <a:srgbClr val="F2F2F2"/>
          </a:solidFill>
          <a:ln w="635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80" y="1993392"/>
            <a:ext cx="50800" cy="29260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1993392"/>
            <a:ext cx="3017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62626"/>
                </a:solidFill>
                <a:latin typeface="Microsoft YaHei"/>
                <a:ea typeface="Microsoft YaHei"/>
              </a:rPr>
              <a:t>累计触达企业决策层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1993392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5496"/>
                </a:solidFill>
                <a:latin typeface="Microsoft YaHei"/>
                <a:ea typeface="Microsoft YaHei"/>
              </a:rPr>
              <a:t>约 1,000 家 / 人次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2340864"/>
            <a:ext cx="5349240" cy="292608"/>
          </a:xfrm>
          <a:prstGeom prst="rect">
            <a:avLst/>
          </a:prstGeom>
          <a:solidFill>
            <a:srgbClr val="F2F2F2"/>
          </a:solidFill>
          <a:ln w="635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5080" y="2340864"/>
            <a:ext cx="50800" cy="29260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340864"/>
            <a:ext cx="3017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62626"/>
                </a:solidFill>
                <a:latin typeface="Microsoft YaHei"/>
                <a:ea typeface="Microsoft YaHei"/>
              </a:rPr>
              <a:t>预计落地/签约企业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340864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5496"/>
                </a:solidFill>
                <a:latin typeface="Microsoft YaHei"/>
                <a:ea typeface="Microsoft YaHei"/>
              </a:rPr>
              <a:t>约 21 家 + 5–8 个政府飞地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2688336"/>
            <a:ext cx="5349240" cy="292608"/>
          </a:xfrm>
          <a:prstGeom prst="rect">
            <a:avLst/>
          </a:prstGeom>
          <a:solidFill>
            <a:srgbClr val="F2F2F2"/>
          </a:solidFill>
          <a:ln w="635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55080" y="2688336"/>
            <a:ext cx="50800" cy="29260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2688336"/>
            <a:ext cx="3017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62626"/>
                </a:solidFill>
                <a:latin typeface="Microsoft YaHei"/>
                <a:ea typeface="Microsoft YaHei"/>
              </a:rPr>
              <a:t>中性情景带动去化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2688336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5496"/>
                </a:solidFill>
                <a:latin typeface="Microsoft YaHei"/>
                <a:ea typeface="Microsoft YaHei"/>
              </a:rPr>
              <a:t>约 6.65 万方（≈ 133 万方的 5%）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3035808"/>
            <a:ext cx="5349240" cy="292608"/>
          </a:xfrm>
          <a:prstGeom prst="rect">
            <a:avLst/>
          </a:prstGeom>
          <a:solidFill>
            <a:srgbClr val="F2F2F2"/>
          </a:solidFill>
          <a:ln w="635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55080" y="3035808"/>
            <a:ext cx="50800" cy="29260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3035808"/>
            <a:ext cx="30175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62626"/>
                </a:solidFill>
                <a:latin typeface="Microsoft YaHei"/>
                <a:ea typeface="Microsoft YaHei"/>
              </a:rPr>
              <a:t>社群存量导流池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3035808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5496"/>
                </a:solidFill>
                <a:latin typeface="Microsoft YaHei"/>
                <a:ea typeface="Microsoft YaHei"/>
              </a:rPr>
              <a:t>近 2 万家科技企业（年底目标）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356616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六大价值支柱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977639"/>
            <a:ext cx="3566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050791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5496"/>
                </a:solidFill>
                <a:latin typeface="Microsoft YaHei"/>
                <a:ea typeface="Microsoft YaHei"/>
              </a:rPr>
              <a:t>1. 精准产业导流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4361687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12 场围绕六大产业定向邀约，累计触达约 1,000 家企业决策层，较泛化招商大幅提升线索质量与转化效率。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977639"/>
            <a:ext cx="3566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07408" y="4050791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5496"/>
                </a:solidFill>
                <a:latin typeface="Microsoft YaHei"/>
                <a:ea typeface="Microsoft YaHei"/>
              </a:rPr>
              <a:t>2. 闭环去化转化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4361687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“论坛引流→专场深挖→闭门对接→签约落地”漏斗清晰，中性情景可带动约 6.65 万方去化（占 133 万方约 5%）。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37576" y="3977639"/>
            <a:ext cx="3566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74736" y="4050791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5496"/>
                </a:solidFill>
                <a:latin typeface="Microsoft YaHei"/>
                <a:ea typeface="Microsoft YaHei"/>
              </a:rPr>
              <a:t>3. 政府飞地招商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4361687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引入 5–8 个地级市政府办事处形成机构型稳定租户，并持续导入其腹地企业流量，构成差异化护城河。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212079"/>
            <a:ext cx="3566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5285231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5496"/>
                </a:solidFill>
                <a:latin typeface="Microsoft YaHei"/>
                <a:ea typeface="Microsoft YaHei"/>
              </a:rPr>
              <a:t>4. 品牌能级跃升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5596127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复旦学术背书 + 联合会近 2 万企业社群 + 国企/政府背书，提升项目对外话语权与租金议价能力。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70248" y="5212079"/>
            <a:ext cx="3566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07408" y="5285231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5496"/>
                </a:solidFill>
                <a:latin typeface="Microsoft YaHei"/>
                <a:ea typeface="Microsoft YaHei"/>
              </a:rPr>
              <a:t>5. 国际资源注入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07408" y="5596127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76 领事馆、国际汇客厅、出海撮合网络，吸引外资与出海企业落“进境关外”，强化区位与政策稀缺性。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37576" y="5212079"/>
            <a:ext cx="3566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</a:ln>
          <a:effectLst/>
          <a:effectLst>
            <a:outerShdw blurRad="40000" dist="20000" dir="5400000" rotWithShape="0">
              <a:srgbClr val="A6A6A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74736" y="5285231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5496"/>
                </a:solidFill>
                <a:latin typeface="Microsoft YaHei"/>
                <a:ea typeface="Microsoft YaHei"/>
              </a:rPr>
              <a:t>6. 存量线索激活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4736" y="5596127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已签约（协鑫）与 60–70 家意向企业二次跟进转化，低成本盘活既有资源，缩短招商周期。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执行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执行机制与合规保障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146304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A5280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864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914400" cy="14173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914400" cy="1417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50876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邀约与名单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901952"/>
            <a:ext cx="4297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62626"/>
                </a:solidFill>
                <a:latin typeface="Microsoft YaHei"/>
                <a:ea typeface="Microsoft YaHei"/>
              </a:rPr>
              <a:t>活动前提供邀约名单、参会人数、人员背景，供东方枢纽走 OA 流程。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864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371600"/>
            <a:ext cx="914400" cy="14173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71600"/>
            <a:ext cx="914400" cy="1417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50876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预算与付款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1901952"/>
            <a:ext cx="4297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62626"/>
                </a:solidFill>
                <a:latin typeface="Microsoft YaHei"/>
                <a:ea typeface="Microsoft YaHei"/>
              </a:rPr>
              <a:t>预算随案提交；经费经东方枢纽指定策划供应商签约支付。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971800"/>
            <a:ext cx="54864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971800"/>
            <a:ext cx="914400" cy="14173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971800"/>
            <a:ext cx="914400" cy="1417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10896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场地与搭建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502152"/>
            <a:ext cx="4297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62626"/>
                </a:solidFill>
                <a:latin typeface="Microsoft YaHei"/>
                <a:ea typeface="Microsoft YaHei"/>
              </a:rPr>
              <a:t>由持国货区通行证的指定供应商完成搭建，外部团队协同会务邀约衍生服务。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971800"/>
            <a:ext cx="54864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971800"/>
            <a:ext cx="914400" cy="14173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971800"/>
            <a:ext cx="914400" cy="1417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10896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数据与跟进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502152"/>
            <a:ext cx="4297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62626"/>
                </a:solidFill>
                <a:latin typeface="Microsoft YaHei"/>
                <a:ea typeface="Microsoft YaHei"/>
              </a:rPr>
              <a:t>注册数据后台全量录入，导入 CRM/名录，支撑会后评估报告。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572000"/>
            <a:ext cx="54864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572000"/>
            <a:ext cx="914400" cy="14173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572000"/>
            <a:ext cx="914400" cy="1417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70916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节奏与灵活度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102352"/>
            <a:ext cx="4297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62626"/>
                </a:solidFill>
                <a:latin typeface="Microsoft YaHei"/>
                <a:ea typeface="Microsoft YaHei"/>
              </a:rPr>
              <a:t>两周一场（小而美）或一月一场（大型）；资源成熟可提档，档期可调。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572000"/>
            <a:ext cx="54864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4572000"/>
            <a:ext cx="914400" cy="141732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4572000"/>
            <a:ext cx="914400" cy="1417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70916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Microsoft YaHei"/>
                <a:ea typeface="Microsoft YaHei"/>
              </a:rPr>
              <a:t>质量把控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5102352"/>
            <a:ext cx="4297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62626"/>
                </a:solidFill>
                <a:latin typeface="Microsoft YaHei"/>
                <a:ea typeface="Microsoft YaHei"/>
              </a:rPr>
              <a:t>嘉宾须为决策层，重质量而非排面，保障长期可持续合作。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东方枢纽 × 复旦大学住房政策研究中心 × 杨浦区科技企业联合会  |  下半年合作计划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47395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508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FAADC"/>
                </a:solidFill>
                <a:latin typeface="Microsoft YaHei"/>
                <a:ea typeface="Microsoft YaHei"/>
              </a:rPr>
              <a:t>下一步 ·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确认试点场次，即刻启动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14600"/>
            <a:ext cx="10881360" cy="804672"/>
          </a:xfrm>
          <a:prstGeom prst="rect">
            <a:avLst/>
          </a:prstGeom>
          <a:solidFill>
            <a:srgbClr val="2A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27432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F9000"/>
                </a:solidFill>
                <a:latin typeface="Microsoft YaHei"/>
                <a:ea typeface="Microsoft YaHei"/>
              </a:rPr>
              <a:t>① 确认首场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514600"/>
            <a:ext cx="77724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敲定 7 月中旬“企业出海·进境关外”试点主题、时间与 30 人以内精准邀约名单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47288"/>
            <a:ext cx="10881360" cy="804672"/>
          </a:xfrm>
          <a:prstGeom prst="rect">
            <a:avLst/>
          </a:prstGeom>
          <a:solidFill>
            <a:srgbClr val="2A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447288"/>
            <a:ext cx="27432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F9000"/>
                </a:solidFill>
                <a:latin typeface="Microsoft YaHei"/>
                <a:ea typeface="Microsoft YaHei"/>
              </a:rPr>
              <a:t>② 提交 OA 要件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447288"/>
            <a:ext cx="77724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邀约名单 / 参会人数 / 人员背景 / 预算 / 时间，供东方枢纽走内部 OA 流程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79976"/>
            <a:ext cx="10881360" cy="804672"/>
          </a:xfrm>
          <a:prstGeom prst="rect">
            <a:avLst/>
          </a:prstGeom>
          <a:solidFill>
            <a:srgbClr val="2A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379976"/>
            <a:ext cx="27432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F9000"/>
                </a:solidFill>
                <a:latin typeface="Microsoft YaHei"/>
                <a:ea typeface="Microsoft YaHei"/>
              </a:rPr>
              <a:t>③ 供应商签约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379976"/>
            <a:ext cx="77724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经指定策划供应商签约支付，落实国货区场地搭建通行证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312664"/>
            <a:ext cx="10881360" cy="804672"/>
          </a:xfrm>
          <a:prstGeom prst="rect">
            <a:avLst/>
          </a:prstGeom>
          <a:solidFill>
            <a:srgbClr val="2A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312664"/>
            <a:ext cx="27432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F9000"/>
                </a:solidFill>
                <a:latin typeface="Microsoft YaHei"/>
                <a:ea typeface="Microsoft YaHei"/>
              </a:rPr>
              <a:t>④ 滚动推进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5312664"/>
            <a:ext cx="77724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两周一场滚动执行，形成“活动—跟进—评估—再合作”长期闭环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FAADC"/>
                </a:solidFill>
                <a:latin typeface="Microsoft YaHei"/>
                <a:ea typeface="Microsoft YaHei"/>
              </a:rPr>
              <a:t>复旦大学住房政策研究中心  ·  上海市杨浦区科技企业联合会  ·  东方枢纽    |    合作愉快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