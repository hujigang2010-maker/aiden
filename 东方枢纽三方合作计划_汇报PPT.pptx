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4160520"/>
            <a:ext cx="960120" cy="1828800"/>
          </a:xfrm>
          <a:prstGeom prst="rect">
            <a:avLst/>
          </a:prstGeom>
          <a:noFill/>
          <a:ln w="15240">
            <a:solidFill>
              <a:srgbClr val="534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66960" y="4160520"/>
            <a:ext cx="960120" cy="1828800"/>
          </a:xfrm>
          <a:prstGeom prst="rect">
            <a:avLst/>
          </a:prstGeom>
          <a:noFill/>
          <a:ln w="15240">
            <a:solidFill>
              <a:srgbClr val="534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01400" y="4160520"/>
            <a:ext cx="960120" cy="1828800"/>
          </a:xfrm>
          <a:prstGeom prst="rect">
            <a:avLst/>
          </a:prstGeom>
          <a:noFill/>
          <a:ln w="15240">
            <a:solidFill>
              <a:srgbClr val="534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1400" y="4160520"/>
            <a:ext cx="960120" cy="1828800"/>
          </a:xfrm>
          <a:prstGeom prst="rect">
            <a:avLst/>
          </a:prstGeom>
          <a:solidFill>
            <a:srgbClr val="3A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29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AEE0"/>
                </a:solidFill>
                <a:latin typeface="Microsoft YaHei"/>
                <a:ea typeface="Microsoft YaHei"/>
              </a:rPr>
              <a:t>三方战略合作 · 下半年活动计划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024128"/>
            <a:ext cx="109728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东方枢纽 133 万方招商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12 场高质量闭门活动策划方案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61488"/>
            <a:ext cx="182880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9260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56432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AEE0"/>
                </a:solidFill>
                <a:latin typeface="Microsoft YaHei"/>
                <a:ea typeface="Microsoft YaHei"/>
              </a:rPr>
              <a:t>市级 + 浦东新区资源联动  |  活动规划 · 主题内容 · 详细策划 · 合理报价 · 招商价值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53328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2026 年下半年（7–12 月）  |  内部审阅 &amp; 客户汇报通用版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汇报目录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57276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合作背景与三方定位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97510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谁在合作 · 各自角色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57276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政府资源背书矩阵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197510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市级 + 浦东新区联动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0604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0604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280720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战略目标与合作原则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20954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小而美 · 重质量 · 科创赋能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60604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60604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60604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280720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六大核心产业与 12 场总览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20954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时间 · 主题 · 规模 · 报价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4048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404164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12 场活动详细策划案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444398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内容 · 嘉宾 · 招商衔接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84048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84048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4048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404164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报价体系（优化下调）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444398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三档模型 · 全年预算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7492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7632" y="527608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招商引资价值分析（核心）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5678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133 万方去化转化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074920"/>
            <a:ext cx="5349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5074920"/>
            <a:ext cx="914400" cy="10241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5074920"/>
            <a:ext cx="914400" cy="10241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5276088"/>
            <a:ext cx="4160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1F47"/>
                </a:solidFill>
                <a:latin typeface="Microsoft YaHei"/>
                <a:ea typeface="Microsoft YaHei"/>
              </a:rPr>
              <a:t>执行机制与下一步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678424"/>
            <a:ext cx="41605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OA · 供应商 · 落地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背景 ·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合作背景与三方定位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5A6B"/>
                </a:solidFill>
                <a:latin typeface="Microsoft YaHei"/>
                <a:ea typeface="Microsoft YaHei"/>
              </a:rPr>
              <a:t>以“上海市级 + 浦东新区”政府资源联动为核心，复旦大学提供学术与科技智库背书，三方联合策划高质量招商活动。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387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538728" cy="9601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6"/>
            <a:ext cx="31363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复旦大学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95728"/>
            <a:ext cx="313639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AEE0"/>
                </a:solidFill>
                <a:latin typeface="Microsoft YaHei"/>
                <a:ea typeface="Microsoft YaHei"/>
              </a:rPr>
              <a:t>学术与科技智库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62656"/>
            <a:ext cx="3099816" cy="2240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536"/>
                </a:solidFill>
                <a:latin typeface="Microsoft YaHei"/>
                <a:ea typeface="Microsoft YaHei"/>
              </a:rPr>
              <a:t>依托复旦大学住房政策研究中心及科技成果转化、产业研究资源；提供政策研究、课题背书、复旦专家智库与学术公信力，为项目注入“科创 + 学术”双重能级。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1828800"/>
            <a:ext cx="35387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1828800"/>
            <a:ext cx="3538728" cy="960120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956816"/>
            <a:ext cx="31363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上海市科技企业联合会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395728"/>
            <a:ext cx="313639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AEE0"/>
                </a:solidFill>
                <a:latin typeface="Microsoft YaHei"/>
                <a:ea typeface="Microsoft YaHei"/>
              </a:rPr>
              <a:t>科技产业组织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962656"/>
            <a:ext cx="3099816" cy="2240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536"/>
                </a:solidFill>
                <a:latin typeface="Microsoft YaHei"/>
                <a:ea typeface="Microsoft YaHei"/>
              </a:rPr>
              <a:t>市级科技企业组织，覆盖上海及长三角科技企业社群资源；负责科技企业精准邀约、科创内容策划、活动执行、社群传播与会后跟进评估。（备选/补充科技组织：上海市科学技术协会、上海市软件和信息服务业行业协会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57616" y="1828800"/>
            <a:ext cx="35387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7616" y="1828800"/>
            <a:ext cx="3538728" cy="9601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956816"/>
            <a:ext cx="31363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东方枢纽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2395728"/>
            <a:ext cx="313639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AEE0"/>
                </a:solidFill>
                <a:latin typeface="Microsoft YaHei"/>
                <a:ea typeface="Microsoft YaHei"/>
              </a:rPr>
              <a:t>招商主体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962656"/>
            <a:ext cx="3099816" cy="2240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536"/>
                </a:solidFill>
                <a:latin typeface="Microsoft YaHei"/>
                <a:ea typeface="Microsoft YaHei"/>
              </a:rPr>
              <a:t>133 万方招商引资项目，含浦东机场、毗邻高铁站，具备“进境关外”免税/停留政策优势；聚焦六大核心产业招商，联动市级与浦东新区商务、投资促进资源，提供政府背书、场地资源与指定策划供应商通道。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32120"/>
            <a:ext cx="508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532120"/>
            <a:ext cx="10972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备选/补充科技组织：</a:t>
            </a: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上海市科学技术协会、上海市软件和信息服务业行业协会、上海市生物医药行业协会、长三角科技型企业创新联盟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资源 · GOVERNMENT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政府资源背书矩阵（市级 + 浦东新区）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1F47"/>
                </a:solidFill>
                <a:latin typeface="Microsoft YaHei"/>
                <a:ea typeface="Microsoft YaHei"/>
              </a:rPr>
              <a:t>本次活动的核心逻辑：市级资源与浦东新区资源相结合，商务委与投资促进部门共同参与背书。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548640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120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上海市级资源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43199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743199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43199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上海市商务委员会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01567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01567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01567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上海市投资促进服务中心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59935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59935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59935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上海市商务委外事办公室（领事馆/国际资源对接）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874519"/>
            <a:ext cx="5486400" cy="65836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874519"/>
            <a:ext cx="5120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浦东新区资源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743199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743199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743199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浦东新区商务委员会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401567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3401567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401567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浦东新区投资促进中心（浦开大厦九楼 200 人会议场地）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059935"/>
            <a:ext cx="5029200" cy="530352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059935"/>
            <a:ext cx="50800" cy="53035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059935"/>
            <a:ext cx="4846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536"/>
                </a:solidFill>
                <a:latin typeface="Microsoft YaHei"/>
                <a:ea typeface="Microsoft YaHei"/>
              </a:rPr>
              <a:t>浦东新区分管领导及片区管委会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17520"/>
            <a:ext cx="5943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19A3A"/>
                </a:solidFill>
                <a:latin typeface="Microsoft YaHei"/>
                <a:ea typeface="Microsoft YaHei"/>
              </a:rPr>
              <a:t>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11292840" cy="8686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63500" cy="86868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212080"/>
            <a:ext cx="107899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“1 + 1”市区联动：以市级平台提升能级与权威性，以浦东新区落地承接与就近服务。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战略 ·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战略目标与六大合作原则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11247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总目标：以高质量活动为抓手，为东方枢纽 133 万方项目实现精准导流与高效去化转化。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1109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小而美 · 重质量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7685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区内活动 ≤30 人、市区活动 ≤80 人、旗舰论坛 ≤200 人；嘉宾须为决策层，杜绝“一日游”式普通职员。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8308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1109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市区联动背书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7685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优先在市级平台与浦东新区场地举办，对接市/区商务委、投资促进中心与市外办，形成政府权威背书。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32841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科创内容赋能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9417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复旦科技智库 + 科技企业联合会专家资源，为每场活动注入科技成果转化与产业趋势内容。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004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20040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32841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聚焦六大产业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9417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围绕东方枢纽六大核心产业定向邀约，而非泛泛铺量。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74573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闭环可追溯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11149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形成“活动—跟进—评估—再合作”闭环，注册数据全量录入后台，导入 CRM，支撑 OA 后评估报告。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1772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617720"/>
            <a:ext cx="63500" cy="128016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745736"/>
            <a:ext cx="5166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3E8E"/>
                </a:solidFill>
                <a:latin typeface="Microsoft YaHei"/>
                <a:ea typeface="Microsoft YaHei"/>
              </a:rPr>
              <a:t>差异化抓手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111496"/>
            <a:ext cx="5138928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536"/>
                </a:solidFill>
                <a:latin typeface="Microsoft YaHei"/>
                <a:ea typeface="Microsoft YaHei"/>
              </a:rPr>
              <a:t>以“政府飞地招商”对接长三角/全国地级市，区别于传统招商。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产业 · SECTORS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东方枢纽六大核心产业板块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05A6B"/>
                </a:solidFill>
                <a:latin typeface="Microsoft YaHei"/>
                <a:ea typeface="Microsoft YaHei"/>
              </a:rPr>
              <a:t>12 场活动全部围绕以下六大板块定向邀约，而非泛化铺量。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05740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高服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14884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高端服务业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3580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会展、专业服务、国际组织与商协会资源导入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1" y="17373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1" y="173736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9431" y="205740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205740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国贸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1" y="214884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国际贸易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3" y="303580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新型离岸贸易、进出口、跨境撮合，依托进境关外政策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2" y="17373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2" y="173736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21622" y="205740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2" y="205740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民航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2" y="214884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民用航空（含供应链）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4" y="303580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临空经济、航空维修与配套供应链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77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7764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29768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976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医药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38912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生物医药（药械贸易为主）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2760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医疗器械与药品进出口贸易、后市场服务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1" y="3977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1" y="397764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9431" y="429768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42976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工联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9551" y="438912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工业互联网（含数据中心）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3" y="52760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数据中心、全网通、境外算力接入服务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93022" y="397764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93022" y="3977640"/>
            <a:ext cx="3611880" cy="10972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21622" y="4297680"/>
            <a:ext cx="822960" cy="822960"/>
          </a:xfrm>
          <a:prstGeom prst="ellipse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2" y="42976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3E8E"/>
                </a:solidFill>
                <a:latin typeface="Microsoft YaHei"/>
                <a:ea typeface="Microsoft YaHei"/>
              </a:rPr>
              <a:t>绿能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2" y="4389120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1F47"/>
                </a:solidFill>
                <a:latin typeface="Microsoft YaHei"/>
                <a:ea typeface="Microsoft YaHei"/>
              </a:rPr>
              <a:t>绿色能源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4" y="5276088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05A6B"/>
                </a:solidFill>
                <a:latin typeface="Microsoft YaHei"/>
                <a:ea typeface="Microsoft YaHei"/>
              </a:rPr>
              <a:t>新能源汽车、充电桩、锂电储能、新兴储能出海东南亚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总览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下半年 12 场活动总览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45720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234440"/>
            <a:ext cx="169164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234440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234440"/>
            <a:ext cx="393192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234440"/>
            <a:ext cx="3931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234440"/>
            <a:ext cx="1874519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234440"/>
            <a:ext cx="187451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79" y="1234440"/>
            <a:ext cx="128016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234440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规模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39" y="1234440"/>
            <a:ext cx="50292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39" y="1234440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59" y="1234440"/>
            <a:ext cx="777240" cy="402336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59" y="1234440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报价
万元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36776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636776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636776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636776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7 月中旬（约 7/16）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1636776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9192" y="1636776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企业出海首站 · “进境关外”政策闭门会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636776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636776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国际贸易 / 高端服务业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79" y="163677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1636776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小而美闭门·30 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39" y="1636776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39" y="1636776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866FB4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59" y="1636776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59" y="1636776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039112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039112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039112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2039112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7 月底（约 7/30）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2039112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9192" y="2039112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绿色能源与新兴储能出海专场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039112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2039112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绿色能源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79" y="2039112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9" y="2039112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39" y="2039112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39" y="2039112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59" y="2039112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59" y="2039112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441448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2441448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441448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2441448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8 月 18 日（已定）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2441448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9192" y="2441448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东南亚出海高峰论坛（旗舰）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2441448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2441448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国际贸易 / 全产业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79" y="244144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79" y="2441448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大型论坛·200 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39" y="2441448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39" y="2441448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2E1F47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95559" y="2441448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95559" y="2441448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22.0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843784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2843784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2843784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2843784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8 月底（约 8/27）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40" y="2843784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79192" y="2843784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长三角属地（市级）商会对接会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2843784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11112" y="2843784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国际贸易 / 高端服务业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79" y="2843784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79" y="2843784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92639" y="2843784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39" y="2843784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95559" y="2843784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95559" y="2843784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246120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3246120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3246120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3246120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9 月中旬（约 9/10）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06040" y="3246120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79192" y="3246120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新型国际贸易与跨境服务专场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37960" y="3246120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11112" y="3246120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国际贸易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12479" y="324612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79" y="3246120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92639" y="3246120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39" y="3246120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95559" y="3246120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95559" y="3246120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648456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3648456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648456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400" y="3648456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9 月底（约 9/24）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06040" y="3648456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79192" y="3648456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民用航空及临空供应链专场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37960" y="3648456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11112" y="3648456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民用航空（含供应链）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12479" y="3648456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79" y="3648456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小而美闭门·30 人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92639" y="3648456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92639" y="3648456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866FB4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95559" y="3648456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95559" y="3648456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050792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4050792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4050792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400" y="4050792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10 月中旬（约 10/15）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606040" y="4050792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79192" y="4050792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政府飞地招商闭门会（长三角地级市）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37960" y="4050792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11112" y="4050792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高端服务业 / 全产业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79" y="4050792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12479" y="4050792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小而美闭门·30 人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92639" y="4050792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39" y="4050792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866FB4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95559" y="4050792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95559" y="4050792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" y="4453128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4453128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4453128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0" y="4453128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10 月底（约 10/29）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06040" y="4453128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79192" y="4453128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工业互联网与数据中心（算力出海）专场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37960" y="4453128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11112" y="4453128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工业互联网（含数据中心）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12479" y="4453128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412479" y="4453128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92639" y="4453128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92639" y="4453128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195559" y="4453128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95559" y="4453128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" y="4855464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7200" y="4855464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4855464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14400" y="4855464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11 月中旬（约 11/12）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06040" y="48554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79192" y="4855464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生物医药 · 药械贸易出海专场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537960" y="4855464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11112" y="4855464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生物医药（药械贸易为主）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12479" y="4855464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412479" y="4855464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92639" y="4855464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92639" y="4855464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195559" y="4855464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195559" y="4855464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57200" y="5257800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7200" y="5257800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" y="5257800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4400" y="5257800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11 月底（约 11/26）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06040" y="5257800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79192" y="5257800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内陆城市出海对接会（华中 · 中原）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37960" y="5257800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11112" y="5257800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国际贸易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12479" y="5257800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412479" y="5257800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小而美闭门·30 人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92639" y="5257800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92639" y="5257800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866FB4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195559" y="5257800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195559" y="5257800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57200" y="5660136"/>
            <a:ext cx="457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57200" y="5660136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14400" y="5660136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14400" y="5660136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12 月上旬（约 12/10）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606040" y="5660136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679192" y="5660136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高端服务业 · 国际汇客厅资源对接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537960" y="5660136"/>
            <a:ext cx="187451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11112" y="5660136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高端服务业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12479" y="566013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412479" y="5660136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市区专场·80 人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92639" y="5660136"/>
            <a:ext cx="502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92639" y="5660136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5B3E8E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195559" y="5660136"/>
            <a:ext cx="777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195559" y="5660136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57200" y="6062472"/>
            <a:ext cx="45720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57200" y="6062472"/>
            <a:ext cx="457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14400" y="6062472"/>
            <a:ext cx="16916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4400" y="6062472"/>
            <a:ext cx="16916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12 月中旬（约 12/17）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606040" y="6062472"/>
            <a:ext cx="3931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679192" y="6062472"/>
            <a:ext cx="3858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东方枢纽全产业链招商年度峰会暨签约（旗舰收官）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537960" y="6062472"/>
            <a:ext cx="1874519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611112" y="6062472"/>
            <a:ext cx="180136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全产业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412479" y="6062472"/>
            <a:ext cx="128016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412479" y="6062472"/>
            <a:ext cx="12801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大型峰会·200 人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692639" y="6062472"/>
            <a:ext cx="50292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92639" y="6062472"/>
            <a:ext cx="50292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2E1F47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195559" y="6062472"/>
            <a:ext cx="777240" cy="402336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195559" y="6062472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>
                <a:solidFill>
                  <a:srgbClr val="C19A3A"/>
                </a:solidFill>
                <a:latin typeface="Microsoft YaHei"/>
                <a:ea typeface="Microsoft YaHei"/>
              </a:rPr>
              <a:t>22.0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7200" y="6464808"/>
            <a:ext cx="9738359" cy="402336"/>
          </a:xfrm>
          <a:prstGeom prst="rect">
            <a:avLst/>
          </a:prstGeom>
          <a:solidFill>
            <a:srgbClr val="C0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7200" y="6464808"/>
            <a:ext cx="973835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1F47"/>
                </a:solidFill>
                <a:latin typeface="Microsoft YaHei"/>
                <a:ea typeface="Microsoft YaHei"/>
              </a:rPr>
              <a:t>12 场合计（初步报价）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195559" y="6464808"/>
            <a:ext cx="777240" cy="402336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195559" y="6464808"/>
            <a:ext cx="7772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111.2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档位：A 小而美闭门(≤30人·区内) / B 市区专场(≤80人) / C 旗舰论坛(≤200人)。节奏两周一场，资源成熟可提档、档期可调。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场活动详细策划案（1–2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NO.1  企业出海首站 · “进境关外”政策闭门会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66FB4"/>
                </a:solidFill>
                <a:latin typeface="Microsoft YaHei"/>
                <a:ea typeface="Microsoft YaHei"/>
              </a:rPr>
              <a:t>3.6万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7 月中旬（约 7/16）  |  小而美闭门 · 30 人  |  东方枢纽园区（浦开大厦 9 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解读东方枢纽“进境关外”免税与 180 天停留政策，明确落地路径；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复旦专家解读出海政策趋势，拟出海企业为核心客群；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首场试点，跑通邀约—注册—跟进—评估全流程。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市/浦东新区投资促进中心、市商委外办、复旦相关专家、拟出海/已出海企业决策层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建立首批意向企业清单，作为后续 11 场的种子池；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现场收集租赁/入驻意向，导入招商 CRM。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NO.2  绿色能源与新兴储能出海专场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7 月底（约 7/30）  |  市区专场 · 80 人  |  浦东新区投资促进中心（浦开大厦 9 楼 200 人厅）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聚焦新能源汽车、充电桩、锂电与新兴储能出海东南亚；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对标已签约的江苏协鑫，邀请特斯拉、比亚迪、特来电、宁德时代等；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延伸低空经济（如沃兰特 eVTOL，锂电池关联）作为新兴科技话题。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江苏协鑫、特斯拉 / 比亚迪、特来电（充电桩）、宁德时代、电动两轮车与储能企业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绿色能源为六大板块中高热度方向，直接匹配枢纽产业招商；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锁定东南亚交付型能源企业的关外仓储/办公需求。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场活动详细策划案（3–4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NO.3  东南亚出海高峰论坛（旗舰）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1F47"/>
                </a:solidFill>
                <a:latin typeface="Microsoft YaHei"/>
                <a:ea typeface="Microsoft YaHei"/>
              </a:rPr>
              <a:t>22.0万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8 月 18 日（已定）  |  大型论坛 · 200 人  |  经贸大厦 86 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借上海 76 个领事馆领事集中参加年会之机集中邀约；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联动浦东/闵行挂牌“国际汇客厅”，配套东南亚特色餐饮；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主论坛 + 分行业对接，作为全年引流总入口（10% 导流即达标）。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东南亚各国领事、市商委外办主任、国际汇客厅合作方、六大产业出海企业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年度最大流量锚点，为后续专场输送高质量线索；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以国际资源提升项目国际能级，吸引外资落“进境关外”。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NO.4  长三角属地（市级）商会对接会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8 月底（约 8/27）  |  市区专场 · 80 人  |  浦东新区投资促进中心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聚焦市级/属地商会（青岛、宁波等港口城市），不做“太虚”的省级商会；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以进出口贸易繁荣的属地商会为主，落地导向；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商会资源成熟即可前置提档，灵活调整档期。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青岛/宁波等市级商会、属地进出口龙头企业、东方枢纽招商团队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批量导入属地贸易企业，形成集群式入驻线索；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商会渠道可复用于后续飞地招商。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场活动详细策划案（5–6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NO.5  新型国际贸易与跨境服务专场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9 月中旬（约 9/10）  |  市区专场 · 80 人  |  浦东新区投资促进中心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新型离岸贸易、跨境结算与关外政策组合服务；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对接市商委外办、领事馆资源，衔接出海服务；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可与“出海服务”合并作为差异化一体化专场。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市商委外办主任、领事馆代表、新型贸易/离岸贸易企业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以政策+服务组合吸引贸易型租户；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打造枢纽“新型国际贸易”标签，强化产业辨识度。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NO.6  民用航空及临空供应链专场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66FB4"/>
                </a:solidFill>
                <a:latin typeface="Microsoft YaHei"/>
                <a:ea typeface="Microsoft YaHei"/>
              </a:rPr>
              <a:t>3.6万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9 月底（约 9/24）  |  小而美闭门 · 30 人  |  东方枢纽园区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依托浦东机场/枢纽区位，聚焦临空经济与航空供应链；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对接航空及其供应链企业，探讨维修、配送、保税协同；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闭门深度对接，锁定高价值供应链租户。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航空及供应链企业、航空维修/物流企业、临空经济服务商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民用航空为枢纽独有优势板块，转化确定性高；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供应链企业黏性强、租赁面积大。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场活动详细策划案（7–8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NO.7  政府飞地招商闭门会（长三角地级市）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66FB4"/>
                </a:solidFill>
                <a:latin typeface="Microsoft YaHei"/>
                <a:ea typeface="Microsoft YaHei"/>
              </a:rPr>
              <a:t>3.6万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10 月中旬（约 10/15）  |  小而美闭门 · 30 人  |  东方枢纽园区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推动地级市政府在枢纽设“招商飞地/办事处”，走港口出海；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对接内陆无出海口城市的差异化需求（华东/华中/中原）；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由市/区投资促进部门与片区管委会领导出席背书。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浙江温岭/湖州、山东德州/临沂、广州（白云贸易街区）、片区管委会领导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机构型稳定租户 + 持续带来企业流量，差异化核心抓手；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飞地承接流入上海企业，防止资源被其他区域截流。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NO.8  工业互联网与数据中心（算力出海）专场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10 月底（约 10/29）  |  市区专场 · 80 人  |  浦东新区投资促进中心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依托枢纽数据中心与全网通，主打境外算力低成本接入；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面向工业互联网、AI/算力、跨境 SaaS 企业；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联合复旦科技智库解读产业趋势，以“境外可用、算力便宜”为卖点。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数据中心/算力企业、工业互联网平台、跨境 SaaS / AI 企业、复旦科技专家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数据中心为高投资强度、高税收贡献租户；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境外算力接入是稀缺卖点，议价能力强。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场活动详细策划案（9–10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NO.9  生物医药 · 药械贸易出海专场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11 月中旬（约 11/12）  |  市区专场 · 80 人  |  浦东新区投资促进中心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当前以药械贸易为主，聚焦进出口与后市场服务；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结合关外保税政策，探讨医疗器械集散与跨境贸易；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为后续引入研发型企业预留升级空间。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药械贸易企业、医疗器械进出口商、行业协会代表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贸易类药械企业匹配关外保税优势，落地门槛低；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形成医药贸易集群，逐步向研发升级。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NO.10  内陆城市出海对接会（华中 · 中原）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66FB4"/>
                </a:solidFill>
                <a:latin typeface="Microsoft YaHei"/>
                <a:ea typeface="Microsoft YaHei"/>
              </a:rPr>
              <a:t>3.6万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11 月底（约 11/26）  |  小而美闭门 · 30 人  |  东方枢纽园区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面向陕西、河南、湖北等有出海需求但无直接出海口城市；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标杆案例：河南南阳雪阳控股（优衣库针织供应商）走出口；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以差异化路径承接内陆制造业出口业务。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河南南阳雪阳控股、陕西/湖北市级政府与企业、华中出口型制造企业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66FB4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承接内陆出口企业的上海出海“桥头堡”需求；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与飞地招商联动，扩大腹地资源。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详细策划 ·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12 场活动详细策划案（11–12 / 12）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532120" cy="65836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NO.11  高端服务业 · 国际汇客厅资源对接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3E8E"/>
                </a:solidFill>
                <a:latin typeface="Microsoft YaHei"/>
                <a:ea typeface="Microsoft YaHei"/>
              </a:rPr>
              <a:t>8.8万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12 月上旬（约 12/10）  |  市区专场 · 80 人  |  国际汇客厅（浦东）/ 浦东新区投资促进中心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联动浦东挂牌的国际汇客厅（瑞典/北欧创新中心等）资源；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撮合外资机构与高端服务企业落地关外；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以国际化服务生态提升项目品牌能级。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瑞典/北欧创新中心、区商务委、外资机构与高端服务企业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5B3E8E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国际化租户提升项目调性与租金议价；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汇客厅撮合分佣模式反哺场地方，形成长期生态。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80160"/>
            <a:ext cx="5532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280160"/>
            <a:ext cx="5532120" cy="658368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335024"/>
            <a:ext cx="4251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NO.12  东方枢纽全产业链招商年度峰会暨签约（旗舰收官）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80192" y="1408176"/>
            <a:ext cx="8961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1F47"/>
                </a:solidFill>
                <a:latin typeface="Microsoft YaHei"/>
                <a:ea typeface="Microsoft YaHei"/>
              </a:rPr>
              <a:t>22.0万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1168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05A6B"/>
                </a:solidFill>
                <a:latin typeface="Microsoft YaHei"/>
                <a:ea typeface="Microsoft YaHei"/>
              </a:rPr>
              <a:t>12 月中旬（约 12/17）  |  大型峰会 · 200 人  |  经贸大厦 86 楼 / 枢纽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3317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内容建议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560320"/>
            <a:ext cx="52120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面向全年沉淀的、对东方枢纽明确感兴趣的企业二次跟进；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市/区商务委与投资促进部门、片区管委会领导出席，年度成果发布；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现场集中签约/意向落地，形成闭环收官。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70332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拟邀嘉宾/资源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913632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市/区商务委与投资促进部门、片区管委会领导、复旦及联合会代表、全年意向企业 60-70 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572000"/>
            <a:ext cx="5257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1F47"/>
                </a:solidFill>
                <a:latin typeface="Microsoft YaHei"/>
                <a:ea typeface="Microsoft YaHei"/>
              </a:rPr>
              <a:t>■ 招商衔接价值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82312"/>
            <a:ext cx="52120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全年线索集中转化，签约仪式放大招商声量；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869" b="0">
                <a:solidFill>
                  <a:srgbClr val="2B2536"/>
                </a:solidFill>
                <a:latin typeface="Microsoft YaHei"/>
                <a:ea typeface="Microsoft YaHei"/>
              </a:rPr>
              <a:t>沉淀年度招商白皮书，支撑来年持续合作。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报价 · QUOTE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报价体系 · 按东方枢纽标准优化下调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3611880" cy="8686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099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0AEE0"/>
                </a:solidFill>
                <a:latin typeface="Microsoft YaHei"/>
                <a:ea typeface="Microsoft YaHei"/>
              </a:rPr>
              <a:t>小而美闭门（≤30人·区内）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3337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3E8E"/>
                </a:solidFill>
                <a:latin typeface="Microsoft YaHei"/>
                <a:ea typeface="Microsoft YaHei"/>
              </a:rPr>
              <a:t>3.6 </a:t>
            </a: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万元/场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97480"/>
            <a:ext cx="331927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234440"/>
            <a:ext cx="3611880" cy="8686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25880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7099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0AEE0"/>
                </a:solidFill>
                <a:latin typeface="Microsoft YaHei"/>
                <a:ea typeface="Microsoft YaHei"/>
              </a:rPr>
              <a:t>市区专场（≤80人）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167128"/>
            <a:ext cx="3337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3E8E"/>
                </a:solidFill>
                <a:latin typeface="Microsoft YaHei"/>
                <a:ea typeface="Microsoft YaHei"/>
              </a:rPr>
              <a:t>8.8 </a:t>
            </a: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万元/场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697480"/>
            <a:ext cx="331927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1.4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2.0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1.2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1.0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1.3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1.0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611880" cy="8686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25880"/>
            <a:ext cx="33375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709928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0AEE0"/>
                </a:solidFill>
                <a:latin typeface="Microsoft YaHei"/>
                <a:ea typeface="Microsoft YaHei"/>
              </a:rPr>
              <a:t>旗舰论坛（≤200人）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167128"/>
            <a:ext cx="3337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3E8E"/>
                </a:solidFill>
                <a:latin typeface="Microsoft YaHei"/>
                <a:ea typeface="Microsoft YaHei"/>
              </a:rPr>
              <a:t>22.0 </a:t>
            </a: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万元/场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697480"/>
            <a:ext cx="3319272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3.5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5.0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3.5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2.5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3.0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2.5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  <a:r>
              <a:rPr sz="900" b="1">
                <a:solidFill>
                  <a:srgbClr val="C19A3A"/>
                </a:solidFill>
                <a:latin typeface="Microsoft YaHei"/>
                <a:ea typeface="Microsoft YaHei"/>
              </a:rPr>
              <a:t>  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11274552" cy="1554480"/>
          </a:xfrm>
          <a:prstGeom prst="rect">
            <a:avLst/>
          </a:prstGeom>
          <a:solidFill>
            <a:srgbClr val="ECE6F7"/>
          </a:solidFill>
          <a:ln w="9525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36008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全年预算汇总</a:t>
            </a:r>
            <a:r>
              <a:rPr sz="1000" b="0">
                <a:solidFill>
                  <a:srgbClr val="605A6B"/>
                </a:solidFill>
                <a:latin typeface="Microsoft YaHei"/>
                <a:ea typeface="Microsoft YaHei"/>
              </a:rPr>
              <a:t>    （较初版 288.0 万元下调约 61%，上不封顶原则下的合理基准价）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26517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86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66FB4"/>
                </a:solidFill>
                <a:latin typeface="Microsoft YaHei"/>
                <a:ea typeface="Microsoft YaHei"/>
              </a:rPr>
              <a:t>A 档 × 4 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7725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14.4 万元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5093208"/>
            <a:ext cx="26517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B3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516636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B 档 × 6 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47725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52.8 万元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93208"/>
            <a:ext cx="26517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1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6636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1F47"/>
                </a:solidFill>
                <a:latin typeface="Microsoft YaHei"/>
                <a:ea typeface="Microsoft YaHei"/>
              </a:rPr>
              <a:t>C 档 × 2 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77256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44.0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5093208"/>
            <a:ext cx="2377440" cy="77724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5166360"/>
            <a:ext cx="23774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12 场合计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47725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111.2 万元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价值 ·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招商引资价值分析（一）转化漏斗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8872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1F47"/>
                </a:solidFill>
                <a:latin typeface="Microsoft YaHei"/>
                <a:ea typeface="Microsoft YaHei"/>
              </a:rPr>
              <a:t>核心利好：12 场活动为东方枢纽 133 万方项目构建“引流—深挖—对接—签约”的可量化招商漏斗。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8229600" cy="658368"/>
          </a:xfrm>
          <a:prstGeom prst="round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① 触达（决策层人次）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6517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1,000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2 场×200 + 6 场×80 + 4 场×30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606040"/>
            <a:ext cx="6766560" cy="658368"/>
          </a:xfrm>
          <a:prstGeom prst="roundRect">
            <a:avLst/>
          </a:prstGeom>
          <a:solidFill>
            <a:srgbClr val="53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40"/>
            <a:ext cx="67665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② 意向洽谈企业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06040"/>
            <a:ext cx="26517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约 200 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触达转化率约 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429000"/>
            <a:ext cx="5303520" cy="658368"/>
          </a:xfrm>
          <a:prstGeom prst="roundRect">
            <a:avLst/>
          </a:prstGeom>
          <a:solidFill>
            <a:srgbClr val="473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429000"/>
            <a:ext cx="53035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③ 深度对接企业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29000"/>
            <a:ext cx="26517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约 70 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意向转化率约 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251960"/>
            <a:ext cx="3840480" cy="658368"/>
          </a:xfrm>
          <a:prstGeom prst="roundRect">
            <a:avLst/>
          </a:prstGeom>
          <a:solidFill>
            <a:srgbClr val="3A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251960"/>
            <a:ext cx="38404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④ 落地/签约企业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51960"/>
            <a:ext cx="26517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约 21 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对接转化率约 30%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5074920"/>
            <a:ext cx="2743200" cy="658368"/>
          </a:xfrm>
          <a:prstGeom prst="round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074920"/>
            <a:ext cx="2743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⑤ 政府飞地办事处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074920"/>
            <a:ext cx="26517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5 – 8 个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长三角/全国地级市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5A6B"/>
                </a:solidFill>
                <a:latin typeface="Microsoft YaHei"/>
                <a:ea typeface="Microsoft YaHei"/>
              </a:rPr>
              <a:t>注：转化率为测算假设，用于展示价值逻辑；实际以邀约质量与后续跟进为准。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价值 ·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招商引资价值分析（二）去化测算与价值支柱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133 万方 × 情景去化率测算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7373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7658A8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1737360" cy="384048"/>
          </a:xfrm>
          <a:prstGeom prst="rect">
            <a:avLst/>
          </a:prstGeom>
          <a:solidFill>
            <a:srgbClr val="765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保守情景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7658A8"/>
                </a:solidFill>
                <a:latin typeface="Microsoft YaHei"/>
                <a:ea typeface="Microsoft YaHei"/>
              </a:rPr>
              <a:t>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5A6B"/>
                </a:solidFill>
                <a:latin typeface="Microsoft YaHei"/>
                <a:ea typeface="Microsoft YaHei"/>
              </a:rPr>
              <a:t>去化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1F47"/>
                </a:solidFill>
                <a:latin typeface="Microsoft YaHei"/>
                <a:ea typeface="Microsoft YaHei"/>
              </a:rPr>
              <a:t>约 3.99 万方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59" y="1645920"/>
            <a:ext cx="17373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5B3E8E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59" y="1645920"/>
            <a:ext cx="1737360" cy="384048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59" y="1645920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中性情景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59" y="214884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3E8E"/>
                </a:solidFill>
                <a:latin typeface="Microsoft YaHei"/>
                <a:ea typeface="Microsoft YaHei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59" y="260604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5A6B"/>
                </a:solidFill>
                <a:latin typeface="Microsoft YaHei"/>
                <a:ea typeface="Microsoft YaHei"/>
              </a:rPr>
              <a:t>去化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1F47"/>
                </a:solidFill>
                <a:latin typeface="Microsoft YaHei"/>
                <a:ea typeface="Microsoft YaHei"/>
              </a:rPr>
              <a:t>约 6.65 万方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8" y="1645920"/>
            <a:ext cx="1737360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C19A3A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8" y="1645920"/>
            <a:ext cx="1737360" cy="38404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8" y="1645920"/>
            <a:ext cx="17373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乐观情景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8" y="2148840"/>
            <a:ext cx="1737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C19A3A"/>
                </a:solidFill>
                <a:latin typeface="Microsoft YaHei"/>
                <a:ea typeface="Microsoft YaHei"/>
              </a:rPr>
              <a:t>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8" y="2606040"/>
            <a:ext cx="1737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05A6B"/>
                </a:solidFill>
                <a:latin typeface="Microsoft YaHei"/>
                <a:ea typeface="Microsoft YaHei"/>
              </a:rPr>
              <a:t>去化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1F47"/>
                </a:solidFill>
                <a:latin typeface="Microsoft YaHei"/>
                <a:ea typeface="Microsoft YaHei"/>
              </a:rPr>
              <a:t>约 10.64 万方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20700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投入产出概览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645920"/>
            <a:ext cx="5349240" cy="292608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645920"/>
            <a:ext cx="50800" cy="29260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645920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B2536"/>
                </a:solidFill>
                <a:latin typeface="Microsoft YaHei"/>
                <a:ea typeface="Microsoft YaHei"/>
              </a:rPr>
              <a:t>全年活动投入（12 场）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645920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约 111.2 万元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993392"/>
            <a:ext cx="5349240" cy="292608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1993392"/>
            <a:ext cx="50800" cy="29260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993392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B2536"/>
                </a:solidFill>
                <a:latin typeface="Microsoft YaHei"/>
                <a:ea typeface="Microsoft YaHei"/>
              </a:rPr>
              <a:t>累计触达企业决策层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993392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约 1,000 家 / 人次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340864"/>
            <a:ext cx="5349240" cy="292608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340864"/>
            <a:ext cx="50800" cy="29260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340864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B2536"/>
                </a:solidFill>
                <a:latin typeface="Microsoft YaHei"/>
                <a:ea typeface="Microsoft YaHei"/>
              </a:rPr>
              <a:t>预计落地/签约企业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340864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约 21 家 + 5–8 个政府飞地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688336"/>
            <a:ext cx="5349240" cy="292608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2688336"/>
            <a:ext cx="50800" cy="29260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688336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B2536"/>
                </a:solidFill>
                <a:latin typeface="Microsoft YaHei"/>
                <a:ea typeface="Microsoft YaHei"/>
              </a:rPr>
              <a:t>中性情景带动去化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688336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约 6.65 万方（≈ 133 万方的 5%）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035808"/>
            <a:ext cx="5349240" cy="292608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035808"/>
            <a:ext cx="50800" cy="292608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035808"/>
            <a:ext cx="31089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B2536"/>
                </a:solidFill>
                <a:latin typeface="Microsoft YaHei"/>
                <a:ea typeface="Microsoft YaHei"/>
              </a:rPr>
              <a:t>单位去化获客成本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035808"/>
            <a:ext cx="21945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B3E8E"/>
                </a:solidFill>
                <a:latin typeface="Microsoft YaHei"/>
                <a:ea typeface="Microsoft YaHei"/>
              </a:rPr>
              <a:t>约 1.67 万元 / 万方（中性情景）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5661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六大价值支柱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97763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5079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1. 精准产业导流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36168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12 场围绕六大产业定向邀约，累计触达约 1,000 家企业决策层，较泛化招商大幅提升线索质量与转化效率。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397763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3128" y="405079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2. 闭环去化转化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8" y="436168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“论坛引流→专场深挖→闭门对接→签约落地”漏斗清晰，中性情景可带动约 6.65 万方去化（占 133 万方约 5%）。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83296" y="397763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0456" y="405079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3. 政府飞地招商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0456" y="436168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引入 5–8 个地级市政府办事处形成机构型稳定租户，并持续导入其腹地企业流量，构成差异化护城河。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21207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28523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4. 市区联动背书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59612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市级平台 + 浦东新区落地 + 复旦学术/科技智库背书，提升项目对外话语权与租金议价能力。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15968" y="521207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53128" y="528523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5. 国际资源注入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559612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76 领事馆、国际汇客厅、出海撮合网络，吸引外资与出海企业落“进境关外”，强化区位与政策稀缺性。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83296" y="5212079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0456" y="5285231"/>
            <a:ext cx="32918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6. 存量线索激活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0456" y="5596127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>
                <a:solidFill>
                  <a:srgbClr val="2B2536"/>
                </a:solidFill>
                <a:latin typeface="Microsoft YaHei"/>
                <a:ea typeface="Microsoft YaHei"/>
              </a:rPr>
              <a:t>已签约（协鑫）与 60–70 家意向企业二次跟进转化，低成本盘活既有资源，缩短招商周期。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50800" cy="4572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"/>
            <a:ext cx="104241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执行 ·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0624"/>
            <a:ext cx="104241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执行机制与合规保障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109728"/>
            <a:ext cx="10058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7658A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087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邀约与名单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019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活动前提供邀约名单、参会人数、人员背景，供东方枢纽走 OA 流程。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5087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预算与付款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9019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预算随案提交；经费经东方枢纽指定策划供应商签约支付。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718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1089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场地与搭建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5021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由持国货区通行证的指定供应商完成搭建，外部团队协同会务邀约衍生服务。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9718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9718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9718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1089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数据与跟进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5021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注册数据后台全量录入，导入 CRM/名录，支撑会后评估报告。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091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节奏与灵活度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1023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两周一场（小而美）或一月一场（大型）；资源成熟可提档，档期可调。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572000"/>
            <a:ext cx="914400" cy="14173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572000"/>
            <a:ext cx="914400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709160"/>
            <a:ext cx="4297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1F47"/>
                </a:solidFill>
                <a:latin typeface="Microsoft YaHei"/>
                <a:ea typeface="Microsoft YaHei"/>
              </a:rPr>
              <a:t>质量把控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102352"/>
            <a:ext cx="4297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536"/>
                </a:solidFill>
                <a:latin typeface="Microsoft YaHei"/>
                <a:ea typeface="Microsoft YaHei"/>
              </a:rPr>
              <a:t>嘉宾须为决策层，重质量而非排面，保障长期可持续合作。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东方枢纽 × 复旦大学 × 上海市科技企业联合会  |  下半年合作计划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AEE0"/>
                </a:solidFill>
                <a:latin typeface="Microsoft YaHei"/>
                <a:ea typeface="Microsoft YaHei"/>
              </a:rPr>
              <a:t>下一步 ·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确认试点场次，即刻启动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14600"/>
            <a:ext cx="10881360" cy="80467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514600"/>
            <a:ext cx="63500" cy="80467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7432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① 确认首场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77724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敲定 7 月中旬“企业出海·进境关外”试点主题、时间与 30 人以内精准邀约名单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47288"/>
            <a:ext cx="10881360" cy="80467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447288"/>
            <a:ext cx="63500" cy="80467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47288"/>
            <a:ext cx="27432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② 提交 OA 要件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47288"/>
            <a:ext cx="77724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邀约名单 / 参会人数 / 人员背景 / 预算 / 时间，供东方枢纽走内部 OA 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379976"/>
            <a:ext cx="10881360" cy="80467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379976"/>
            <a:ext cx="63500" cy="80467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79976"/>
            <a:ext cx="27432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79976"/>
            <a:ext cx="77724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经指定策划供应商签约支付，落实国货区场地搭建通行证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312664"/>
            <a:ext cx="10881360" cy="804672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312664"/>
            <a:ext cx="63500" cy="80467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12664"/>
            <a:ext cx="27432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19A3A"/>
                </a:solidFill>
                <a:latin typeface="Microsoft YaHei"/>
                <a:ea typeface="Microsoft YaHei"/>
              </a:rPr>
              <a:t>④ 滚动推进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312664"/>
            <a:ext cx="77724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两周一场滚动执行，形成“活动—跟进—评估—再合作”长期闭环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复旦大学  ·  上海市科技企业联合会  ·  东方枢纽    |    合作愉快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