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91695" cy="508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4160520"/>
            <a:ext cx="960120" cy="1828800"/>
          </a:xfrm>
          <a:prstGeom prst="rect">
            <a:avLst/>
          </a:prstGeom>
          <a:noFill/>
          <a:ln w="15240">
            <a:solidFill>
              <a:srgbClr val="534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66960" y="4160520"/>
            <a:ext cx="960120" cy="1828800"/>
          </a:xfrm>
          <a:prstGeom prst="rect">
            <a:avLst/>
          </a:prstGeom>
          <a:noFill/>
          <a:ln w="15240">
            <a:solidFill>
              <a:srgbClr val="534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01400" y="4160520"/>
            <a:ext cx="960120" cy="1828800"/>
          </a:xfrm>
          <a:prstGeom prst="rect">
            <a:avLst/>
          </a:prstGeom>
          <a:noFill/>
          <a:ln w="15240">
            <a:solidFill>
              <a:srgbClr val="5340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01400" y="4160520"/>
            <a:ext cx="960120" cy="1828800"/>
          </a:xfrm>
          <a:prstGeom prst="rect">
            <a:avLst/>
          </a:prstGeom>
          <a:solidFill>
            <a:srgbClr val="3A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0292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0AEE0"/>
                </a:solidFill>
                <a:latin typeface="Microsoft YaHei"/>
                <a:ea typeface="Microsoft YaHei"/>
              </a:rPr>
              <a:t>三方战略合作 · 下半年活动计划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024128"/>
            <a:ext cx="1097280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东方枢纽 A 片区整体办公招商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12 场高质量闭门活动策划方案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761488"/>
            <a:ext cx="1828800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92608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复旦大学  ·  上海市科技企业联合会  ·  东方枢纽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45643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AEE0"/>
                </a:solidFill>
                <a:latin typeface="Microsoft YaHei"/>
                <a:ea typeface="Microsoft YaHei"/>
              </a:rPr>
              <a:t>市级 + 浦东新区资源联动  |  活动规划 · 主题内容 · 详细策划 · 合理报价 · 招商价值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53328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C0AEE0"/>
                </a:solidFill>
                <a:latin typeface="Microsoft YaHei"/>
                <a:ea typeface="Microsoft YaHei"/>
              </a:rPr>
              <a:t>2026 年下半年（7–12 月）  |  内部审阅 &amp; 客户汇报通用版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汇报目录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349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914400" cy="10241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914400" cy="10241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57276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1F47"/>
                </a:solidFill>
                <a:latin typeface="Microsoft YaHei"/>
                <a:ea typeface="Microsoft YaHei"/>
              </a:rPr>
              <a:t>合作背景与三方定位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975104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谁在合作 · 各自角色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71600"/>
            <a:ext cx="5349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914400" cy="10241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914400" cy="10241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8352" y="157276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1F47"/>
                </a:solidFill>
                <a:latin typeface="Microsoft YaHei"/>
                <a:ea typeface="Microsoft YaHei"/>
              </a:rPr>
              <a:t>政府资源背书矩阵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88352" y="1975104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市级 + 浦东新区联动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06040"/>
            <a:ext cx="5349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606040"/>
            <a:ext cx="914400" cy="10241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06040"/>
            <a:ext cx="914400" cy="10241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2" y="280720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1F47"/>
                </a:solidFill>
                <a:latin typeface="Microsoft YaHei"/>
                <a:ea typeface="Microsoft YaHei"/>
              </a:rPr>
              <a:t>招商标的 · A 片区办公项目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209544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四大产品线 · 销售/租赁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606040"/>
            <a:ext cx="5349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606040"/>
            <a:ext cx="914400" cy="10241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606040"/>
            <a:ext cx="914400" cy="10241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280720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1F47"/>
                </a:solidFill>
                <a:latin typeface="Microsoft YaHei"/>
                <a:ea typeface="Microsoft YaHei"/>
              </a:rPr>
              <a:t>战略目标与合作原则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8352" y="3209544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小而美 · 重质量 · 科创赋能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40480"/>
            <a:ext cx="5349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840480"/>
            <a:ext cx="914400" cy="10241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840480"/>
            <a:ext cx="914400" cy="10241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27632" y="404164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1F47"/>
                </a:solidFill>
                <a:latin typeface="Microsoft YaHei"/>
                <a:ea typeface="Microsoft YaHei"/>
              </a:rPr>
              <a:t>六大核心产业与 12 场总览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4443984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时间 · 主题 · 规模 · 报价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840480"/>
            <a:ext cx="5349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3840480"/>
            <a:ext cx="914400" cy="10241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3840480"/>
            <a:ext cx="914400" cy="10241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88352" y="404164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1F47"/>
                </a:solidFill>
                <a:latin typeface="Microsoft YaHei"/>
                <a:ea typeface="Microsoft YaHei"/>
              </a:rPr>
              <a:t>12 场活动详细策划案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8352" y="4443984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内容 · 嘉宾 · 招商衔接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74920"/>
            <a:ext cx="5349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074920"/>
            <a:ext cx="914400" cy="10241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074920"/>
            <a:ext cx="914400" cy="10241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27632" y="527608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1F47"/>
                </a:solidFill>
                <a:latin typeface="Microsoft YaHei"/>
                <a:ea typeface="Microsoft YaHei"/>
              </a:rPr>
              <a:t>报价体系（优化下调）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7632" y="5678424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分档模型 · 全年预算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5074920"/>
            <a:ext cx="5349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5074920"/>
            <a:ext cx="914400" cy="10241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5074920"/>
            <a:ext cx="914400" cy="10241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8352" y="527608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1F47"/>
                </a:solidFill>
                <a:latin typeface="Microsoft YaHei"/>
                <a:ea typeface="Microsoft YaHei"/>
              </a:rPr>
              <a:t>招商价值分析 · 执行与下一步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88352" y="5678424"/>
            <a:ext cx="41605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A 片区去化转化 · 落地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背景 · 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合作背景与三方定位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05A6B"/>
                </a:solidFill>
                <a:latin typeface="Microsoft YaHei"/>
                <a:ea typeface="Microsoft YaHei"/>
              </a:rPr>
              <a:t>以“上海市级 + 浦东新区”政府资源联动为核心，复旦大学提供学术与科技智库背书，三方联合策划高质量招商活动。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5387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3538728" cy="9601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956816"/>
            <a:ext cx="31363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复旦大学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395728"/>
            <a:ext cx="313639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AEE0"/>
                </a:solidFill>
                <a:latin typeface="Microsoft YaHei"/>
                <a:ea typeface="Microsoft YaHei"/>
              </a:rPr>
              <a:t>学术与科技智库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962656"/>
            <a:ext cx="3099816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依托复旦大学住房政策研究中心及科技成果转化、产业研究资源；提供政策研究、课题背书、复旦专家智库与学术公信力，为项目注入“科创 + 学术”双重能级。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53128" y="1828800"/>
            <a:ext cx="35387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53128" y="1828800"/>
            <a:ext cx="3538728" cy="960120"/>
          </a:xfrm>
          <a:prstGeom prst="rect">
            <a:avLst/>
          </a:prstGeom>
          <a:solidFill>
            <a:srgbClr val="765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956816"/>
            <a:ext cx="31363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上海市科技企业联合会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2395728"/>
            <a:ext cx="313639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AEE0"/>
                </a:solidFill>
                <a:latin typeface="Microsoft YaHei"/>
                <a:ea typeface="Microsoft YaHei"/>
              </a:rPr>
              <a:t>科技产业组织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962656"/>
            <a:ext cx="3099816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市级科技企业组织，覆盖上海及长三角科技企业社群资源；负责科技企业精准邀约、科创内容策划、活动执行、社群传播与会后跟进评估。（备选/补充科技组织：上海市科学技术协会、上海市软件和信息服务业行业协会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57616" y="1828800"/>
            <a:ext cx="3538728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57616" y="1828800"/>
            <a:ext cx="3538728" cy="96012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1956816"/>
            <a:ext cx="31363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东方枢纽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2395728"/>
            <a:ext cx="313639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AEE0"/>
                </a:solidFill>
                <a:latin typeface="Microsoft YaHei"/>
                <a:ea typeface="Microsoft YaHei"/>
              </a:rPr>
              <a:t>招商主体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2962656"/>
            <a:ext cx="3099816" cy="2240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B2536"/>
                </a:solidFill>
                <a:latin typeface="Microsoft YaHei"/>
                <a:ea typeface="Microsoft YaHei"/>
              </a:rPr>
              <a:t>东方枢纽集团 A 片区整体办公招商项目（隶属浦东国际航空城规划），含浦东机场、毗邻高铁站，具备“进境关外”免税/停留政策优势；聚焦六大核心产业招商，联动市级与浦东新区商务、投资促进资源，提供政府背书、场地与指定供应商通道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532120"/>
            <a:ext cx="50800" cy="50292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532120"/>
            <a:ext cx="10972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3E8E"/>
                </a:solidFill>
                <a:latin typeface="Microsoft YaHei"/>
                <a:ea typeface="Microsoft YaHei"/>
              </a:rPr>
              <a:t>备选/补充科技组织：</a:t>
            </a:r>
            <a:r>
              <a:rPr sz="1050" b="0">
                <a:solidFill>
                  <a:srgbClr val="605A6B"/>
                </a:solidFill>
                <a:latin typeface="Microsoft YaHei"/>
                <a:ea typeface="Microsoft YaHei"/>
              </a:rPr>
              <a:t>上海市科学技术协会、上海市软件和信息服务业行业协会、上海市生物医药行业协会、长三角科技型企业创新联盟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资源 · GOVERNMENT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政府资源背书矩阵（市级 + 浦东新区）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80160"/>
            <a:ext cx="10972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本次活动的核心逻辑：市级资源与浦东新区资源相结合，商务委与投资促进部门共同参与背书。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548640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5486400" cy="65836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74519"/>
            <a:ext cx="512064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上海市级资源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743199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743199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743199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上海市商务委员会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01567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401567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01567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上海市投资促进服务中心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059935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059935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059935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上海市商务委外事办公室（领事馆/国际资源对接）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1874519"/>
            <a:ext cx="548640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1874519"/>
            <a:ext cx="5486400" cy="658368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874519"/>
            <a:ext cx="512064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浦东新区资源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743199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2743199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743199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浦东新区商务委员会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401567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0" y="3401567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3401567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浦东新区投资促进中心（浦开大厦九楼 200 人会议场地）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059935"/>
            <a:ext cx="5029200" cy="530352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0" y="4059935"/>
            <a:ext cx="50800" cy="53035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4059935"/>
            <a:ext cx="484632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B2536"/>
                </a:solidFill>
                <a:latin typeface="Microsoft YaHei"/>
                <a:ea typeface="Microsoft YaHei"/>
              </a:rPr>
              <a:t>浦东新区分管领导及片区管委会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3017520"/>
            <a:ext cx="5943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19A3A"/>
                </a:solidFill>
                <a:latin typeface="Microsoft YaHei"/>
                <a:ea typeface="Microsoft YaHei"/>
              </a:rPr>
              <a:t>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12080"/>
            <a:ext cx="11292840" cy="86868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212080"/>
            <a:ext cx="63500" cy="86868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212080"/>
            <a:ext cx="107899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“1 + 1”市区联动：以市级平台提升能级与权威性，以浦东新区落地承接与就近服务。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标的 ·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招商标的 · A 片区整体办公项目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3444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05A6B"/>
                </a:solidFill>
                <a:latin typeface="Microsoft YaHei"/>
                <a:ea typeface="Microsoft YaHei"/>
              </a:rPr>
              <a:t>隶属浦东国际航空城规划，主打“枢纽 + 办公”复合业态；紧邻浦东机场/高铁，具备“进境关外”免税/停留政策优势。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64208"/>
            <a:ext cx="11292840" cy="502920"/>
          </a:xfrm>
          <a:prstGeom prst="rect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64208"/>
            <a:ext cx="63500" cy="50292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10972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体量：</a:t>
            </a:r>
            <a:r>
              <a:rPr sz="1100" b="1">
                <a:solidFill>
                  <a:srgbClr val="C19A3A"/>
                </a:solidFill>
                <a:latin typeface="Microsoft YaHei"/>
                <a:ea typeface="Microsoft YaHei"/>
              </a:rPr>
              <a:t>办公产品建筑面积约 30 万㎡（汇总自 A 片区产品布局，最终以官方口径为准）  </a:t>
            </a:r>
            <a:r>
              <a:rPr sz="1000" b="0">
                <a:solidFill>
                  <a:srgbClr val="605A6B"/>
                </a:solidFill>
                <a:latin typeface="Microsoft YaHei"/>
                <a:ea typeface="Microsoft YaHei"/>
              </a:rPr>
              <a:t>（招商标的为 A 片区办公项目，非“133 万方”）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31720"/>
            <a:ext cx="5486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128016" cy="9601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42316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产品线 1 · 国际商务独栋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70632"/>
            <a:ext cx="50292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30" b="0">
                <a:solidFill>
                  <a:srgbClr val="2B2536"/>
                </a:solidFill>
                <a:latin typeface="Microsoft YaHei"/>
                <a:ea typeface="Microsoft YaHei"/>
              </a:rPr>
              <a:t>花园独栋 + 独立庭院、私享屋顶飞机观景露台、枢纽 0 距离、抗震隔音、企业 LOGO 多维展示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331720"/>
            <a:ext cx="5486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331720"/>
            <a:ext cx="128016" cy="960120"/>
          </a:xfrm>
          <a:prstGeom prst="rect">
            <a:avLst/>
          </a:prstGeom>
          <a:solidFill>
            <a:srgbClr val="765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产品线 2 · 枢纽办公 · 国际 A+ 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70632"/>
            <a:ext cx="50292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30" b="0">
                <a:solidFill>
                  <a:srgbClr val="2B2536"/>
                </a:solidFill>
                <a:latin typeface="Microsoft YaHei"/>
                <a:ea typeface="Microsoft YaHei"/>
              </a:rPr>
              <a:t>站前中枢、极致动线、双首层活力交互、灵活共享办公、黄金区位企业展厅（A1A-01/A3-01/A4B-01）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29000"/>
            <a:ext cx="5486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429000"/>
            <a:ext cx="128016" cy="96012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52044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产品线 3 · 国际总部 · 国际 A+ 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867912"/>
            <a:ext cx="50292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30" b="0">
                <a:solidFill>
                  <a:srgbClr val="2B2536"/>
                </a:solidFill>
                <a:latin typeface="Microsoft YaHei"/>
                <a:ea typeface="Microsoft YaHei"/>
              </a:rPr>
              <a:t>三叠拼特色办公、空中花园、智慧泊车、智慧门禁及梯控、中庭共栖广场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429000"/>
            <a:ext cx="5486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429000"/>
            <a:ext cx="128016" cy="96012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52044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产品线 4 · 品质标办 · A+ 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67912"/>
            <a:ext cx="50292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30" b="0">
                <a:solidFill>
                  <a:srgbClr val="2B2536"/>
                </a:solidFill>
                <a:latin typeface="Microsoft YaHei"/>
                <a:ea typeface="Microsoft YaHei"/>
              </a:rPr>
              <a:t>垂直绿化、私享露台与公共花园、空中绿廊、生态社交空间、绿色三星认证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17720"/>
            <a:ext cx="112928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617720"/>
            <a:ext cx="128016" cy="141732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709160"/>
            <a:ext cx="109728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销售 / 租赁模式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" y="5001768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销售 / 租赁并重：北/南上盖及多栋采用“分层销售 + 整层/单元/分时租赁”组合；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灵活门槛：多栋支持按 300 ㎡ 最小单元分割出租，单层约 1600–6000 ㎡；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地块标识：A1A-01/A3-01/A4B-01 核心枢纽办公，N 系（N3–N7）北上盖、S 系（S3/S4）南上盖。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696712"/>
            <a:ext cx="109728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活动↔产品匹配：</a:t>
            </a:r>
            <a:r>
              <a:rPr sz="950" b="0">
                <a:solidFill>
                  <a:srgbClr val="605A6B"/>
                </a:solidFill>
                <a:latin typeface="Microsoft YaHei"/>
                <a:ea typeface="Microsoft YaHei"/>
              </a:rPr>
              <a:t>活动导流企业按需匹配：出海/贸易企业→枢纽办公·品质标办（300 ㎡ 起分割出租）；总部型企业→国际总部/国际商务独栋；政府飞地→小面积单元办事处。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战略 ·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战略目标与六大合作原则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总目标：以高质量活动为抓手，为东方枢纽 133 万方项目实现精准导流与高效去化转化。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63500" cy="128016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911096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3E8E"/>
                </a:solidFill>
                <a:latin typeface="Microsoft YaHei"/>
                <a:ea typeface="Microsoft YaHei"/>
              </a:rPr>
              <a:t>小而美 · 重质量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76856"/>
            <a:ext cx="5138928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区内活动 ≤30 人、市区活动 ≤80 人、旗舰论坛 ≤200 人；嘉宾须为决策层，杜绝“一日游”式普通职员。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83080"/>
            <a:ext cx="63500" cy="128016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1911096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3E8E"/>
                </a:solidFill>
                <a:latin typeface="Microsoft YaHei"/>
                <a:ea typeface="Microsoft YaHei"/>
              </a:rPr>
              <a:t>市区联动背书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276856"/>
            <a:ext cx="5138928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优先在市级平台与浦东新区场地举办，对接市/区商务委、投资促进中心与市外办，形成政府权威背书。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0040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200400"/>
            <a:ext cx="63500" cy="128016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328416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3E8E"/>
                </a:solidFill>
                <a:latin typeface="Microsoft YaHei"/>
                <a:ea typeface="Microsoft YaHei"/>
              </a:rPr>
              <a:t>科创内容赋能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694176"/>
            <a:ext cx="5138928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复旦科技智库 + 科技企业联合会专家资源，为每场活动注入科技成果转化与产业趋势内容。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20040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3200400"/>
            <a:ext cx="63500" cy="128016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3328416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3E8E"/>
                </a:solidFill>
                <a:latin typeface="Microsoft YaHei"/>
                <a:ea typeface="Microsoft YaHei"/>
              </a:rPr>
              <a:t>聚焦六大产业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3694176"/>
            <a:ext cx="5138928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围绕东方枢纽六大核心产业定向邀约，而非泛泛铺量。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61772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617720"/>
            <a:ext cx="63500" cy="128016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745736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3E8E"/>
                </a:solidFill>
                <a:latin typeface="Microsoft YaHei"/>
                <a:ea typeface="Microsoft YaHei"/>
              </a:rPr>
              <a:t>闭环可追溯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111496"/>
            <a:ext cx="5138928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形成“活动—跟进—评估—再合作”闭环，注册数据全量录入后台，导入 CRM，支撑 OA 后评估报告。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61772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617720"/>
            <a:ext cx="63500" cy="128016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4745736"/>
            <a:ext cx="5166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3E8E"/>
                </a:solidFill>
                <a:latin typeface="Microsoft YaHei"/>
                <a:ea typeface="Microsoft YaHei"/>
              </a:rPr>
              <a:t>差异化抓手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5111496"/>
            <a:ext cx="5138928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B2536"/>
                </a:solidFill>
                <a:latin typeface="Microsoft YaHei"/>
                <a:ea typeface="Microsoft YaHei"/>
              </a:rPr>
              <a:t>以“政府飞地招商”对接长三角/全国地级市，区别于传统招商。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产业 · SECTORS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东方枢纽六大核心产业板块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344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05A6B"/>
                </a:solidFill>
                <a:latin typeface="Microsoft YaHei"/>
                <a:ea typeface="Microsoft YaHei"/>
              </a:rPr>
              <a:t>12 场活动全部围绕以下六大板块定向邀约，而非泛化铺量。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3611880" cy="1097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" y="2057400"/>
            <a:ext cx="822960" cy="822960"/>
          </a:xfrm>
          <a:prstGeom prst="ellipse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5740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5B3E8E"/>
                </a:solidFill>
                <a:latin typeface="Microsoft YaHei"/>
                <a:ea typeface="Microsoft YaHei"/>
              </a:rPr>
              <a:t>高服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14884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高端服务业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03580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05A6B"/>
                </a:solidFill>
                <a:latin typeface="Microsoft YaHei"/>
                <a:ea typeface="Microsoft YaHei"/>
              </a:rPr>
              <a:t>会展、专业服务、国际组织与商协会资源导入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0831" y="173736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0831" y="1737360"/>
            <a:ext cx="3611880" cy="1097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99431" y="2057400"/>
            <a:ext cx="822960" cy="822960"/>
          </a:xfrm>
          <a:prstGeom prst="ellipse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1" y="205740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5B3E8E"/>
                </a:solidFill>
                <a:latin typeface="Microsoft YaHei"/>
                <a:ea typeface="Microsoft YaHei"/>
              </a:rPr>
              <a:t>国贸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1" y="214884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6863" y="303580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05A6B"/>
                </a:solidFill>
                <a:latin typeface="Microsoft YaHei"/>
                <a:ea typeface="Microsoft YaHei"/>
              </a:rPr>
              <a:t>新型离岸贸易、进出口、跨境撮合，依托进境关外政策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3022" y="173736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2" y="1737360"/>
            <a:ext cx="3611880" cy="1097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21622" y="2057400"/>
            <a:ext cx="822960" cy="822960"/>
          </a:xfrm>
          <a:prstGeom prst="ellipse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21622" y="205740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5B3E8E"/>
                </a:solidFill>
                <a:latin typeface="Microsoft YaHei"/>
                <a:ea typeface="Microsoft YaHei"/>
              </a:rPr>
              <a:t>民航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2" y="214884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民用航空（含供应链）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4" y="303580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05A6B"/>
                </a:solidFill>
                <a:latin typeface="Microsoft YaHei"/>
                <a:ea typeface="Microsoft YaHei"/>
              </a:rPr>
              <a:t>临空经济、航空维修与配套供应链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77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977640"/>
            <a:ext cx="3611880" cy="1097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7240" y="4297680"/>
            <a:ext cx="822960" cy="822960"/>
          </a:xfrm>
          <a:prstGeom prst="ellipse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29768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5B3E8E"/>
                </a:solidFill>
                <a:latin typeface="Microsoft YaHei"/>
                <a:ea typeface="Microsoft YaHei"/>
              </a:rPr>
              <a:t>医药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438912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生物医药（药械贸易为主）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27608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05A6B"/>
                </a:solidFill>
                <a:latin typeface="Microsoft YaHei"/>
                <a:ea typeface="Microsoft YaHei"/>
              </a:rPr>
              <a:t>医疗器械与药品进出口贸易、后市场服务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1" y="3977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977640"/>
            <a:ext cx="3611880" cy="1097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99431" y="4297680"/>
            <a:ext cx="822960" cy="822960"/>
          </a:xfrm>
          <a:prstGeom prst="ellipse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431" y="429768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5B3E8E"/>
                </a:solidFill>
                <a:latin typeface="Microsoft YaHei"/>
                <a:ea typeface="Microsoft YaHei"/>
              </a:rPr>
              <a:t>工联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1" y="438912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工业互联网（含数据中心）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26863" y="527608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05A6B"/>
                </a:solidFill>
                <a:latin typeface="Microsoft YaHei"/>
                <a:ea typeface="Microsoft YaHei"/>
              </a:rPr>
              <a:t>数据中心、全网通、境外算力接入服务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93022" y="3977640"/>
            <a:ext cx="36118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93022" y="3977640"/>
            <a:ext cx="3611880" cy="10972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421622" y="4297680"/>
            <a:ext cx="822960" cy="822960"/>
          </a:xfrm>
          <a:prstGeom prst="ellipse">
            <a:avLst/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21622" y="429768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5B3E8E"/>
                </a:solidFill>
                <a:latin typeface="Microsoft YaHei"/>
                <a:ea typeface="Microsoft YaHei"/>
              </a:rPr>
              <a:t>绿能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81742" y="4389120"/>
            <a:ext cx="228600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1F47"/>
                </a:solidFill>
                <a:latin typeface="Microsoft YaHei"/>
                <a:ea typeface="Microsoft YaHei"/>
              </a:rPr>
              <a:t>绿色能源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49054" y="5276088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05A6B"/>
                </a:solidFill>
                <a:latin typeface="Microsoft YaHei"/>
                <a:ea typeface="Microsoft YaHei"/>
              </a:rPr>
              <a:t>新能源汽车、充电桩、锂电储能、新兴储能出海东南亚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总览 ·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下半年 12 场活动总览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457200" cy="402336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#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234440"/>
            <a:ext cx="1691640" cy="402336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234440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拟定时间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234440"/>
            <a:ext cx="3931920" cy="402336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234440"/>
            <a:ext cx="3931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活动主题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234440"/>
            <a:ext cx="1874519" cy="402336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234440"/>
            <a:ext cx="187451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产业板块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9" y="1234440"/>
            <a:ext cx="1280160" cy="402336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9" y="1234440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规模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92639" y="1234440"/>
            <a:ext cx="502920" cy="402336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39" y="1234440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95559" y="1234440"/>
            <a:ext cx="777240" cy="402336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59" y="1234440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报价
万元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636776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1636776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1636776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1636776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7 月中旬（约 7/16）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40" y="1636776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9192" y="1636776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企业出海首站 · “进境关外”政策闭门会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1636776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11112" y="1636776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国际贸易 / 高端服务业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79" y="1636776"/>
            <a:ext cx="12801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9" y="1636776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39" y="1636776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39" y="1636776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5559" y="1636776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95559" y="1636776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2039112"/>
            <a:ext cx="45720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039112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2039112"/>
            <a:ext cx="16916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2039112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7 月底（约 7/30）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06040" y="2039112"/>
            <a:ext cx="3931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79192" y="2039112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绿色能源与新兴储能出海专场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2039112"/>
            <a:ext cx="1874519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1112" y="2039112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绿色能源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79" y="2039112"/>
            <a:ext cx="128016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79" y="2039112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92639" y="2039112"/>
            <a:ext cx="502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39" y="2039112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95559" y="2039112"/>
            <a:ext cx="7772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95559" y="2039112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2441448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2441448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2441448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2441448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8 月 18 日前后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606040" y="2441448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679192" y="2441448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东南亚出海精选对接闭门会（借 8/18 大会引流）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37960" y="2441448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11112" y="2441448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国际贸易 / 全产业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12479" y="2441448"/>
            <a:ext cx="12801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79" y="2441448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92639" y="2441448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39" y="2441448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195559" y="2441448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95559" y="2441448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843784"/>
            <a:ext cx="45720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2843784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2843784"/>
            <a:ext cx="16916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2843784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8 月底（约 8/27）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606040" y="2843784"/>
            <a:ext cx="3931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79192" y="2843784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长三角属地（市级）商会对接会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37960" y="2843784"/>
            <a:ext cx="1874519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11112" y="2843784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国际贸易 / 高端服务业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12479" y="2843784"/>
            <a:ext cx="128016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12479" y="2843784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92639" y="2843784"/>
            <a:ext cx="502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92639" y="2843784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95559" y="2843784"/>
            <a:ext cx="7772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195559" y="2843784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3246120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3246120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4400" y="3246120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400" y="3246120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9 月中旬（约 9/10）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606040" y="3246120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679192" y="3246120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新型国际贸易与跨境服务专场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537960" y="3246120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611112" y="3246120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12479" y="3246120"/>
            <a:ext cx="12801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12479" y="3246120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692639" y="3246120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692639" y="3246120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95559" y="3246120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195559" y="3246120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7200" y="3648456"/>
            <a:ext cx="45720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3648456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14400" y="3648456"/>
            <a:ext cx="16916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4400" y="3648456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9 月底（约 9/24）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606040" y="3648456"/>
            <a:ext cx="3931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679192" y="3648456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民用航空及临空供应链专场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37960" y="3648456"/>
            <a:ext cx="1874519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611112" y="3648456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民用航空（含供应链）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12479" y="3648456"/>
            <a:ext cx="128016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79" y="3648456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692639" y="3648456"/>
            <a:ext cx="502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692639" y="3648456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195559" y="3648456"/>
            <a:ext cx="7772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195559" y="3648456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050792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57200" y="4050792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14400" y="4050792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14400" y="4050792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10 月中旬（约 10/15）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606040" y="4050792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679192" y="4050792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政府飞地招商闭门会（长三角地级市）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537960" y="4050792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611112" y="4050792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高端服务业 / 全产业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12479" y="4050792"/>
            <a:ext cx="12801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12479" y="4050792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692639" y="4050792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692639" y="4050792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95559" y="4050792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195559" y="4050792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457200" y="4453128"/>
            <a:ext cx="45720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57200" y="4453128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14400" y="4453128"/>
            <a:ext cx="16916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0" y="4453128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10 月底（约 10/29）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606040" y="4453128"/>
            <a:ext cx="3931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2679192" y="4453128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工业互联网与数据中心（算力出海）专场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537960" y="4453128"/>
            <a:ext cx="1874519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611112" y="4453128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工业互联网（含数据中心）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412479" y="4453128"/>
            <a:ext cx="128016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412479" y="4453128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692639" y="4453128"/>
            <a:ext cx="502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692639" y="4453128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195559" y="4453128"/>
            <a:ext cx="7772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195559" y="4453128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57200" y="4855464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57200" y="4855464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4855464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4855464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11 月中旬（约 11/12）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606040" y="4855464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679192" y="4855464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生物医药 · 药械贸易出海专场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537960" y="4855464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611112" y="4855464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生物医药（药械贸易为主）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412479" y="4855464"/>
            <a:ext cx="12801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412479" y="4855464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692639" y="4855464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692639" y="4855464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10195559" y="4855464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195559" y="4855464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57200" y="5257800"/>
            <a:ext cx="45720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7200" y="5257800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14400" y="5257800"/>
            <a:ext cx="16916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14400" y="5257800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11 月底（约 11/26）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606040" y="5257800"/>
            <a:ext cx="3931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679192" y="5257800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内陆城市出海对接会（华中 · 中原）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537960" y="5257800"/>
            <a:ext cx="1874519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611112" y="5257800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国际贸易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412479" y="5257800"/>
            <a:ext cx="128016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412479" y="5257800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692639" y="5257800"/>
            <a:ext cx="502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692639" y="5257800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0195559" y="5257800"/>
            <a:ext cx="7772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195559" y="5257800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57200" y="5660136"/>
            <a:ext cx="4572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457200" y="5660136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914400" y="5660136"/>
            <a:ext cx="16916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14400" y="5660136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12 月上旬（约 12/10）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2606040" y="5660136"/>
            <a:ext cx="3931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679192" y="5660136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高端服务业 · 国际汇客厅资源对接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537960" y="5660136"/>
            <a:ext cx="187451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611112" y="5660136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高端服务业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412479" y="5660136"/>
            <a:ext cx="12801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412479" y="5660136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市区专场·80 人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692639" y="5660136"/>
            <a:ext cx="502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692639" y="5660136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5B3E8E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0195559" y="5660136"/>
            <a:ext cx="77724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195559" y="5660136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8.8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57200" y="6062472"/>
            <a:ext cx="45720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57200" y="6062472"/>
            <a:ext cx="45720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12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14400" y="6062472"/>
            <a:ext cx="16916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14400" y="6062472"/>
            <a:ext cx="16916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12 月中旬（约 12/17）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2606040" y="6062472"/>
            <a:ext cx="3931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2679192" y="6062472"/>
            <a:ext cx="3858768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A 片区全产业链招商闭门对接（年度收官）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537960" y="6062472"/>
            <a:ext cx="1874519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611112" y="6062472"/>
            <a:ext cx="1801367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全产业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412479" y="6062472"/>
            <a:ext cx="128016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412479" y="6062472"/>
            <a:ext cx="128016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小而美闭门·30 人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692639" y="6062472"/>
            <a:ext cx="50292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692639" y="6062472"/>
            <a:ext cx="50292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866FB4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10195559" y="6062472"/>
            <a:ext cx="777240" cy="402336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10195559" y="6062472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1">
                <a:solidFill>
                  <a:srgbClr val="C19A3A"/>
                </a:solidFill>
                <a:latin typeface="Microsoft YaHei"/>
                <a:ea typeface="Microsoft YaHei"/>
              </a:rPr>
              <a:t>3.6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57200" y="6464808"/>
            <a:ext cx="9738359" cy="402336"/>
          </a:xfrm>
          <a:prstGeom prst="rect">
            <a:avLst/>
          </a:prstGeom>
          <a:solidFill>
            <a:srgbClr val="C0A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8"/>
            <a:ext cx="973835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1F47"/>
                </a:solidFill>
                <a:latin typeface="Microsoft YaHei"/>
                <a:ea typeface="Microsoft YaHei"/>
              </a:rPr>
              <a:t>12 场合计（初步报价）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10195559" y="6464808"/>
            <a:ext cx="777240" cy="402336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0195559" y="6464808"/>
            <a:ext cx="777240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74.4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05A6B"/>
                </a:solidFill>
                <a:latin typeface="Microsoft YaHei"/>
                <a:ea typeface="Microsoft YaHei"/>
              </a:rPr>
              <a:t>档位：A 小而美闭门(≤30人·区内) / B 市区专场(≤80人) / C 旗舰论坛(≤200人)。节奏两周一场，资源成熟可提档、档期可调。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场活动详细策划案（1–2 / 12）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NO.1  企业出海首站 · “进境关外”政策闭门会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3.6万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7 月中旬（约 7/16）  |  小而美闭门 · 30 人  |  东方枢纽园区（浦开大厦 9 楼）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解读东方枢纽“进境关外”免税与 180 天停留政策，明确落地路径；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复旦专家解读出海政策趋势，拟出海企业为核心客群；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首场试点，跑通邀约—注册—跟进—评估全流程。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市/浦东新区投资促进中心、市商委外办、复旦相关专家、拟出海/已出海企业决策层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建立首批意向企业清单，作为后续 11 场的种子池；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现场收集租赁/入驻意向，导入招商 CRM。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NO.2  绿色能源与新兴储能出海专场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8.8万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7 月底（约 7/30）  |  市区专场 · 80 人  |  浦东新区投资促进中心（浦开大厦 9 楼 200 人厅）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聚焦新能源汽车、充电桩、锂电与新兴储能出海东南亚；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对标已签约的江苏协鑫，邀请特斯拉、比亚迪、特来电、宁德时代等；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延伸低空经济（如沃兰特 eVTOL，锂电池关联）作为新兴科技话题。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江苏协鑫、特斯拉 / 比亚迪、特来电（充电桩）、宁德时代、电动两轮车与储能企业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绿色能源为六大板块中高热度方向，直接匹配枢纽产业招商；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锁定东南亚交付型能源企业的关外仓储/办公需求。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场活动详细策划案（3–4 / 12）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NO.3  东南亚出海精选对接闭门会（借 8/18 大会引流）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3.6万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8 月 18 日前后  |  小而美闭门 · 30 人  |  东方枢纽园区（浦开大厦 9 楼）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借 8/18 领事馆年会大流量，精选 ~10% 高质量出海企业过来做小范围对接；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小而美闭门形式，配套东南亚特色茶歇，聚焦深度撮合；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邀请少数领事/外办代表点睛，重质量不求排面。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东南亚重点国家领事（精选）、市商委外办代表、六大产业出海企业决策层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以低成本承接大会溢出流量，转化为 A 片区精准线索；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国际资源点睛提升项目国际能级，吸引外资落“进境关外”。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NO.4  长三角属地（市级）商会对接会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8.8万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8 月底（约 8/27）  |  市区专场 · 80 人  |  浦东新区投资促进中心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聚焦市级/属地商会（青岛、宁波等港口城市），不做“太虚”的省级商会；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以进出口贸易繁荣的属地商会为主，落地导向；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商会资源成熟即可前置提档，灵活调整档期。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青岛/宁波等市级商会、属地进出口龙头企业、东方枢纽招商团队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批量导入属地贸易企业，形成集群式入驻线索；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商会渠道可复用于后续飞地招商。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场活动详细策划案（5–6 / 12）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NO.5  新型国际贸易与跨境服务专场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8.8万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9 月中旬（约 9/10）  |  市区专场 · 80 人  |  浦东新区投资促进中心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新型离岸贸易、跨境结算与关外政策组合服务；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对接市商委外办、领事馆资源，衔接出海服务；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可与“出海服务”合并作为差异化一体化专场。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市商委外办主任、领事馆代表、新型贸易/离岸贸易企业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以政策+服务组合吸引贸易型租户；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打造枢纽“新型国际贸易”标签，强化产业辨识度。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NO.6  民用航空及临空供应链专场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3.6万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9 月底（约 9/24）  |  小而美闭门 · 30 人  |  东方枢纽园区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依托浦东机场/枢纽区位，聚焦临空经济与航空供应链；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对接航空及其供应链企业，探讨维修、配送、保税协同；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闭门深度对接，锁定高价值供应链租户。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航空及供应链企业、航空维修/物流企业、临空经济服务商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民用航空为枢纽独有优势板块，转化确定性高；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供应链企业黏性强、租赁面积大。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场活动详细策划案（7–8 / 12）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NO.7  政府飞地招商闭门会（长三角地级市）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3.6万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10 月中旬（约 10/15）  |  小而美闭门 · 30 人  |  东方枢纽园区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推动地级市政府在枢纽设“招商飞地/办事处”，走港口出海；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对接内陆无出海口城市的差异化需求（华东/华中/中原）；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由市/区投资促进部门与片区管委会领导出席背书。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浙江温岭/湖州、山东德州/临沂、广州（白云贸易街区）、片区管委会领导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机构型稳定租户 + 持续带来企业流量，差异化核心抓手；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飞地承接流入上海企业，防止资源被其他区域截流。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NO.8  工业互联网与数据中心（算力出海）专场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8.8万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10 月底（约 10/29）  |  市区专场 · 80 人  |  浦东新区投资促进中心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依托枢纽数据中心与全网通，主打境外算力低成本接入；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面向工业互联网、AI/算力、跨境 SaaS 企业；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联合复旦科技智库解读产业趋势，以“境外可用、算力便宜”为卖点。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数据中心/算力企业、工业互联网平台、跨境 SaaS / AI 企业、复旦科技专家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数据中心为高投资强度、高税收贡献租户；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境外算力接入是稀缺卖点，议价能力强。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场活动详细策划案（9–10 / 12）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NO.9  生物医药 · 药械贸易出海专场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8.8万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11 月中旬（约 11/12）  |  市区专场 · 80 人  |  浦东新区投资促进中心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当前以药械贸易为主，聚焦进出口与后市场服务；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结合关外保税政策，探讨医疗器械集散与跨境贸易；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为后续引入研发型企业预留升级空间。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药械贸易企业、医疗器械进出口商、行业协会代表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贸易类药械企业匹配关外保税优势，落地门槛低；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形成医药贸易集群，逐步向研发升级。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NO.10  内陆城市出海对接会（华中 · 中原）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3.6万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11 月底（约 11/26）  |  小而美闭门 · 30 人  |  东方枢纽园区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面向陕西、河南、湖北等有出海需求但无直接出海口城市；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标杆案例：河南南阳雪阳控股（优衣库针织供应商）走出口；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以差异化路径承接内陆制造业出口业务。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河南南阳雪阳控股、陕西/湖北市级政府与企业、华中出口型制造企业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承接内陆出口企业的上海出海“桥头堡”需求；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与飞地招商联动，扩大腹地资源。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详细策划 ·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12 场活动详细策划案（11–12 / 12）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5532120" cy="65836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NO.11  高端服务业 · 国际汇客厅资源对接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5B3E8E"/>
                </a:solidFill>
                <a:latin typeface="Microsoft YaHei"/>
                <a:ea typeface="Microsoft YaHei"/>
              </a:rPr>
              <a:t>8.8万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12 月上旬（约 12/10）  |  市区专场 · 80 人  |  国际汇客厅（浦东）/ 浦东新区投资促进中心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联动浦东挂牌的国际汇客厅（瑞典/北欧创新中心等）资源；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撮合外资机构与高端服务企业落地关外；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以国际化服务生态提升项目品牌能级。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瑞典/北欧创新中心、区商务委、外资机构与高端服务企业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5B3E8E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国际化租户提升项目调性与租金议价；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汇客厅撮合分佣模式反哺场地方，形成长期生态。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280160"/>
            <a:ext cx="553212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280160"/>
            <a:ext cx="5532120" cy="658368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335024"/>
            <a:ext cx="4251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NO.12  A 片区全产业链招商闭门对接（年度收官）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1408176"/>
            <a:ext cx="896112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66FB4"/>
                </a:solidFill>
                <a:latin typeface="Microsoft YaHei"/>
                <a:ea typeface="Microsoft YaHei"/>
              </a:rPr>
              <a:t>3.6万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2011680"/>
            <a:ext cx="5257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605A6B"/>
                </a:solidFill>
                <a:latin typeface="Microsoft YaHei"/>
                <a:ea typeface="Microsoft YaHei"/>
              </a:rPr>
              <a:t>12 月中旬（约 12/17）  |  小而美闭门 · 30 人  |  东方枢纽园区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23317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内容建议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2560320"/>
            <a:ext cx="52120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面向全年沉淀的、对 A 片区办公明确感兴趣的企业做二次跟进；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小范围闭门对接 + 意向企业现场看盘选址（结合 A 片区产品）；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片区管委会领导出席点睛，形成年度闭环收官。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370332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拟邀嘉宾/资源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3913632"/>
            <a:ext cx="5212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片区管委会/投资促进部门代表、复旦及联合会代表、全年意向企业（精选 30 家内）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4572000"/>
            <a:ext cx="52578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66FB4"/>
                </a:solidFill>
                <a:latin typeface="Microsoft YaHei"/>
                <a:ea typeface="Microsoft YaHei"/>
              </a:rPr>
              <a:t>■ 招商衔接价值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782312"/>
            <a:ext cx="5212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全年线索集中转化，直接对接 A 片区办公产品选址；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· </a:t>
            </a:r>
            <a:r>
              <a:rPr sz="869" b="0">
                <a:solidFill>
                  <a:srgbClr val="2B2536"/>
                </a:solidFill>
                <a:latin typeface="Microsoft YaHei"/>
                <a:ea typeface="Microsoft YaHei"/>
              </a:rPr>
              <a:t>沉淀年度招商小结，支撑来年持续合作。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报价 · QUOTE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报价体系 · 按东方枢纽标准优化下调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6118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3611880" cy="868680"/>
          </a:xfrm>
          <a:prstGeom prst="rect">
            <a:avLst/>
          </a:prstGeom>
          <a:solidFill>
            <a:srgbClr val="86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25880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3337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C0AEE0"/>
                </a:solidFill>
                <a:latin typeface="Microsoft YaHei"/>
                <a:ea typeface="Microsoft YaHei"/>
              </a:rPr>
              <a:t>小而美闭门（≤30人·区内）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167128"/>
            <a:ext cx="3337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5B3E8E"/>
                </a:solidFill>
                <a:latin typeface="Microsoft YaHei"/>
                <a:ea typeface="Microsoft YaHei"/>
              </a:rPr>
              <a:t>3.6 </a:t>
            </a:r>
            <a:r>
              <a:rPr sz="1100" b="1">
                <a:solidFill>
                  <a:srgbClr val="605A6B"/>
                </a:solidFill>
                <a:latin typeface="Microsoft YaHei"/>
                <a:ea typeface="Microsoft YaHei"/>
              </a:rPr>
              <a:t>万元/场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697480"/>
            <a:ext cx="331927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内容策划与主持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0.6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精准邀约与接待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0.9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场地搭建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0.4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物料设计制作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0.4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餐饮茶歇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0.5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社群/媒体传播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0.4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会后评估与数据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0.4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234440"/>
            <a:ext cx="36118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234440"/>
            <a:ext cx="3611880" cy="86868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325880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709928"/>
            <a:ext cx="3337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C0AEE0"/>
                </a:solidFill>
                <a:latin typeface="Microsoft YaHei"/>
                <a:ea typeface="Microsoft YaHei"/>
              </a:rPr>
              <a:t>市区专场（≤80人）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167128"/>
            <a:ext cx="3337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5B3E8E"/>
                </a:solidFill>
                <a:latin typeface="Microsoft YaHei"/>
                <a:ea typeface="Microsoft YaHei"/>
              </a:rPr>
              <a:t>8.8 </a:t>
            </a:r>
            <a:r>
              <a:rPr sz="1100" b="1">
                <a:solidFill>
                  <a:srgbClr val="605A6B"/>
                </a:solidFill>
                <a:latin typeface="Microsoft YaHei"/>
                <a:ea typeface="Microsoft YaHei"/>
              </a:rPr>
              <a:t>万元/场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697480"/>
            <a:ext cx="331927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内容策划与主持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1.4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精准邀约与接待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2.0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场地搭建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1.2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物料设计制作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餐饮茶歇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社群/媒体传播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1.0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会后评估与数据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0.9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234440"/>
            <a:ext cx="361188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234440"/>
            <a:ext cx="3611880" cy="86868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1325880"/>
            <a:ext cx="33375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1709928"/>
            <a:ext cx="3337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C0AEE0"/>
                </a:solidFill>
                <a:latin typeface="Microsoft YaHei"/>
                <a:ea typeface="Microsoft YaHei"/>
              </a:rPr>
              <a:t>旗舰论坛（≤200人）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167128"/>
            <a:ext cx="33375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5B3E8E"/>
                </a:solidFill>
                <a:latin typeface="Microsoft YaHei"/>
                <a:ea typeface="Microsoft YaHei"/>
              </a:rPr>
              <a:t>22.0 </a:t>
            </a:r>
            <a:r>
              <a:rPr sz="1100" b="1">
                <a:solidFill>
                  <a:srgbClr val="605A6B"/>
                </a:solidFill>
                <a:latin typeface="Microsoft YaHei"/>
                <a:ea typeface="Microsoft YaHei"/>
              </a:rPr>
              <a:t>万元/场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2697480"/>
            <a:ext cx="331927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内容策划与主持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3.5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精准邀约与接待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5.0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场地搭建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3.5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物料设计制作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2.5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餐饮茶歇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3.0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社群/媒体传播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2.5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2B2536"/>
                </a:solidFill>
                <a:latin typeface="Microsoft YaHei"/>
                <a:ea typeface="Microsoft YaHei"/>
              </a:rPr>
              <a:t>会后评估与数据</a:t>
            </a:r>
            <a:r>
              <a:rPr sz="900" b="1">
                <a:solidFill>
                  <a:srgbClr val="C19A3A"/>
                </a:solidFill>
                <a:latin typeface="Microsoft YaHei"/>
                <a:ea typeface="Microsoft YaHei"/>
              </a:rPr>
              <a:t>  2.0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526280"/>
            <a:ext cx="11274552" cy="1554480"/>
          </a:xfrm>
          <a:prstGeom prst="rect">
            <a:avLst/>
          </a:prstGeom>
          <a:solidFill>
            <a:srgbClr val="ECE6F7"/>
          </a:solidFill>
          <a:ln w="9525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636008"/>
            <a:ext cx="10927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全年预算汇总</a:t>
            </a:r>
            <a:r>
              <a:rPr sz="950" b="0">
                <a:solidFill>
                  <a:srgbClr val="605A6B"/>
                </a:solidFill>
                <a:latin typeface="Microsoft YaHei"/>
                <a:ea typeface="Microsoft YaHei"/>
              </a:rPr>
              <a:t>    （较初版 288.0 万元下调约 74%；本期 12 场均为 A/B 档，未设 C 档旗舰；上不封顶原则下的合理基准价）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93208"/>
            <a:ext cx="3502152" cy="777240"/>
          </a:xfrm>
          <a:prstGeom prst="rect">
            <a:avLst/>
          </a:prstGeom>
          <a:solidFill>
            <a:srgbClr val="FFFFFF"/>
          </a:solidFill>
          <a:ln w="15240">
            <a:solidFill>
              <a:srgbClr val="86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66360"/>
            <a:ext cx="350215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866FB4"/>
                </a:solidFill>
                <a:latin typeface="Microsoft YaHei"/>
                <a:ea typeface="Microsoft YaHei"/>
              </a:rPr>
              <a:t>A 档 × 6 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477256"/>
            <a:ext cx="3502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21.6 万元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0" y="5093208"/>
            <a:ext cx="3502152" cy="777240"/>
          </a:xfrm>
          <a:prstGeom prst="rect">
            <a:avLst/>
          </a:prstGeom>
          <a:solidFill>
            <a:srgbClr val="FFFFFF"/>
          </a:solidFill>
          <a:ln w="15240">
            <a:solidFill>
              <a:srgbClr val="5B3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400" y="5166360"/>
            <a:ext cx="350215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3E8E"/>
                </a:solidFill>
                <a:latin typeface="Microsoft YaHei"/>
                <a:ea typeface="Microsoft YaHei"/>
              </a:rPr>
              <a:t>B 档 × 6 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477256"/>
            <a:ext cx="3502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52.8 万元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5093208"/>
            <a:ext cx="3502152" cy="77724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5166360"/>
            <a:ext cx="3502152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12 场合计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5477256"/>
            <a:ext cx="3502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74.4 万元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价值 · 核心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招商引资价值分析（一）转化漏斗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1F47"/>
                </a:solidFill>
                <a:latin typeface="Microsoft YaHei"/>
                <a:ea typeface="Microsoft YaHei"/>
              </a:rPr>
              <a:t>核心利好：12 场活动为东方枢纽 A 片区办公项目构建“引流—深挖—对接—选址落地”的可量化招商漏斗。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8229600" cy="658368"/>
          </a:xfrm>
          <a:prstGeom prst="round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83080"/>
            <a:ext cx="82296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① 触达（决策层人次）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78308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660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05A6B"/>
                </a:solidFill>
                <a:latin typeface="Microsoft YaHei"/>
                <a:ea typeface="Microsoft YaHei"/>
              </a:rPr>
              <a:t>6 场×80 + 6 场×30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2606040"/>
            <a:ext cx="6766560" cy="658368"/>
          </a:xfrm>
          <a:prstGeom prst="roundRect">
            <a:avLst/>
          </a:prstGeom>
          <a:solidFill>
            <a:srgbClr val="533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2606040"/>
            <a:ext cx="6766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② 意向洽谈企业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0604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约 132 家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05A6B"/>
                </a:solidFill>
                <a:latin typeface="Microsoft YaHei"/>
                <a:ea typeface="Microsoft YaHei"/>
              </a:rPr>
              <a:t>触达转化率约 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03120" y="3429000"/>
            <a:ext cx="5303520" cy="658368"/>
          </a:xfrm>
          <a:prstGeom prst="roundRect">
            <a:avLst/>
          </a:prstGeom>
          <a:solidFill>
            <a:srgbClr val="473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3429000"/>
            <a:ext cx="530352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③ 深度对接企业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42900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约 46 家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05A6B"/>
                </a:solidFill>
                <a:latin typeface="Microsoft YaHei"/>
                <a:ea typeface="Microsoft YaHei"/>
              </a:rPr>
              <a:t>意向转化率约 35%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251960"/>
            <a:ext cx="3840480" cy="658368"/>
          </a:xfrm>
          <a:prstGeom prst="roundRect">
            <a:avLst/>
          </a:prstGeom>
          <a:solidFill>
            <a:srgbClr val="3A2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0" y="4251960"/>
            <a:ext cx="384048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④ 落地/签约企业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25196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约 14 家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05A6B"/>
                </a:solidFill>
                <a:latin typeface="Microsoft YaHei"/>
                <a:ea typeface="Microsoft YaHei"/>
              </a:rPr>
              <a:t>对接转化率约 30%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5074920"/>
            <a:ext cx="2743200" cy="658368"/>
          </a:xfrm>
          <a:prstGeom prst="round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074920"/>
            <a:ext cx="27432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⑤ 政府飞地办事处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5074920"/>
            <a:ext cx="26517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5 – 8 个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05A6B"/>
                </a:solidFill>
                <a:latin typeface="Microsoft YaHei"/>
                <a:ea typeface="Microsoft YaHei"/>
              </a:rPr>
              <a:t>长三角/全国地级市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05A6B"/>
                </a:solidFill>
                <a:latin typeface="Microsoft YaHei"/>
                <a:ea typeface="Microsoft YaHei"/>
              </a:rPr>
              <a:t>注：转化率为测算假设，用于展示价值逻辑；实际以邀约质量与后续跟进为准。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价值 · 核心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招商引资价值分析（二）去化测算与价值支柱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07008"/>
            <a:ext cx="5669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A 片区办公约 30 万㎡ × 情景去化率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737360" cy="1600200"/>
          </a:xfrm>
          <a:prstGeom prst="rect">
            <a:avLst/>
          </a:prstGeom>
          <a:solidFill>
            <a:srgbClr val="FFFFFF"/>
          </a:solidFill>
          <a:ln w="16510">
            <a:solidFill>
              <a:srgbClr val="7658A8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1737360" cy="384048"/>
          </a:xfrm>
          <a:prstGeom prst="rect">
            <a:avLst/>
          </a:prstGeom>
          <a:solidFill>
            <a:srgbClr val="765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45920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保守情景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4884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7658A8"/>
                </a:solidFill>
                <a:latin typeface="Microsoft YaHei"/>
                <a:ea typeface="Microsoft YaHei"/>
              </a:rPr>
              <a:t>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606040"/>
            <a:ext cx="1737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去化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约 0.9 万㎡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59" y="1645920"/>
            <a:ext cx="1737360" cy="1600200"/>
          </a:xfrm>
          <a:prstGeom prst="rect">
            <a:avLst/>
          </a:prstGeom>
          <a:solidFill>
            <a:srgbClr val="FFFFFF"/>
          </a:solidFill>
          <a:ln w="16510">
            <a:solidFill>
              <a:srgbClr val="5B3E8E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59" y="1645920"/>
            <a:ext cx="1737360" cy="384048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23159" y="1645920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中性情景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59" y="214884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5B3E8E"/>
                </a:solidFill>
                <a:latin typeface="Microsoft YaHei"/>
                <a:ea typeface="Microsoft YaHei"/>
              </a:rPr>
              <a:t>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59" y="2606040"/>
            <a:ext cx="1737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去化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约 1.5 万㎡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78" y="1645920"/>
            <a:ext cx="1737360" cy="1600200"/>
          </a:xfrm>
          <a:prstGeom prst="rect">
            <a:avLst/>
          </a:prstGeom>
          <a:solidFill>
            <a:srgbClr val="FFFFFF"/>
          </a:solidFill>
          <a:ln w="16510">
            <a:solidFill>
              <a:srgbClr val="C19A3A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78" y="1645920"/>
            <a:ext cx="1737360" cy="384048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78" y="1645920"/>
            <a:ext cx="173736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乐观情景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8" y="214884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19A3A"/>
                </a:solidFill>
                <a:latin typeface="Microsoft YaHei"/>
                <a:ea typeface="Microsoft YaHei"/>
              </a:rPr>
              <a:t>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8" y="2606040"/>
            <a:ext cx="1737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05A6B"/>
                </a:solidFill>
                <a:latin typeface="Microsoft YaHei"/>
                <a:ea typeface="Microsoft YaHei"/>
              </a:rPr>
              <a:t>去化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1F47"/>
                </a:solidFill>
                <a:latin typeface="Microsoft YaHei"/>
                <a:ea typeface="Microsoft YaHei"/>
              </a:rPr>
              <a:t>约 2.4 万㎡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1207008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投入产出概览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1645920"/>
            <a:ext cx="5349240" cy="292608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1645920"/>
            <a:ext cx="50800" cy="292608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645920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全年活动投入（12 场）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645920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3E8E"/>
                </a:solidFill>
                <a:latin typeface="Microsoft YaHei"/>
                <a:ea typeface="Microsoft YaHei"/>
              </a:rPr>
              <a:t>约 74.4 万元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1993392"/>
            <a:ext cx="5349240" cy="292608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1993392"/>
            <a:ext cx="50800" cy="292608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1993392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累计触达企业决策层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1993392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3E8E"/>
                </a:solidFill>
                <a:latin typeface="Microsoft YaHei"/>
                <a:ea typeface="Microsoft YaHei"/>
              </a:rPr>
              <a:t>约 660 家 / 人次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2340864"/>
            <a:ext cx="5349240" cy="292608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2340864"/>
            <a:ext cx="50800" cy="292608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2340864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预计落地/签约企业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2340864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3E8E"/>
                </a:solidFill>
                <a:latin typeface="Microsoft YaHei"/>
                <a:ea typeface="Microsoft YaHei"/>
              </a:rPr>
              <a:t>约 14 家 + 5–8 个政府飞地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2688336"/>
            <a:ext cx="5349240" cy="292608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2688336"/>
            <a:ext cx="50800" cy="292608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2688336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中性情景带动去化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2688336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3E8E"/>
                </a:solidFill>
                <a:latin typeface="Microsoft YaHei"/>
                <a:ea typeface="Microsoft YaHei"/>
              </a:rPr>
              <a:t>约 1.5 万㎡（≈ A 片区办公 30 万㎡ 的 5%）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3035808"/>
            <a:ext cx="5349240" cy="292608"/>
          </a:xfrm>
          <a:prstGeom prst="rect">
            <a:avLst/>
          </a:prstGeom>
          <a:solidFill>
            <a:srgbClr val="ECE6F7"/>
          </a:solidFill>
          <a:ln w="6350">
            <a:solidFill>
              <a:srgbClr val="DDD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55080" y="3035808"/>
            <a:ext cx="50800" cy="292608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3035808"/>
            <a:ext cx="31089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B2536"/>
                </a:solidFill>
                <a:latin typeface="Microsoft YaHei"/>
                <a:ea typeface="Microsoft YaHei"/>
              </a:rPr>
              <a:t>单位落地企业获客成本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3035808"/>
            <a:ext cx="21945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B3E8E"/>
                </a:solidFill>
                <a:latin typeface="Microsoft YaHei"/>
                <a:ea typeface="Microsoft YaHei"/>
              </a:rPr>
              <a:t>约 5.3 万元 / 家（中性情景）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56616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六大价值支柱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97763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5800" y="405079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3E8E"/>
                </a:solidFill>
                <a:latin typeface="Microsoft YaHei"/>
                <a:ea typeface="Microsoft YaHei"/>
              </a:rPr>
              <a:t>1. 精准产业导流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36168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12 场围绕六大产业定向邀约，累计触达约 660 家企业决策层，较泛化招商大幅提升线索质量与转化效率。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15968" y="397763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53128" y="405079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3E8E"/>
                </a:solidFill>
                <a:latin typeface="Microsoft YaHei"/>
                <a:ea typeface="Microsoft YaHei"/>
              </a:rPr>
              <a:t>2. 闭环去化转化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53128" y="436168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“大会引流→专场深挖→闭门对接→选址落地”漏斗清晰，中性情景可带动约 1.5 万㎡ 去化（占 A 片区办公约 30 万㎡ 的 5%）。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83296" y="397763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0456" y="405079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3E8E"/>
                </a:solidFill>
                <a:latin typeface="Microsoft YaHei"/>
                <a:ea typeface="Microsoft YaHei"/>
              </a:rPr>
              <a:t>3. 政府飞地招商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0456" y="436168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引入 5–8 个地级市政府办事处形成机构型稳定租户，并持续导入其腹地企业流量，构成差异化护城河。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521207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528523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3E8E"/>
                </a:solidFill>
                <a:latin typeface="Microsoft YaHei"/>
                <a:ea typeface="Microsoft YaHei"/>
              </a:rPr>
              <a:t>4. 市区联动背书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59612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市级平台 + 浦东新区落地 + 复旦学术/科技智库背书，提升项目对外话语权与租金议价能力。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15968" y="521207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53128" y="528523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3E8E"/>
                </a:solidFill>
                <a:latin typeface="Microsoft YaHei"/>
                <a:ea typeface="Microsoft YaHei"/>
              </a:rPr>
              <a:t>5. 国际资源注入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53128" y="559612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76 领事馆、国际汇客厅、出海撮合网络，吸引外资与出海企业落“进境关外”，强化区位与政策稀缺性。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83296" y="5212079"/>
            <a:ext cx="35661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0456" y="5285231"/>
            <a:ext cx="3291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B3E8E"/>
                </a:solidFill>
                <a:latin typeface="Microsoft YaHei"/>
                <a:ea typeface="Microsoft YaHei"/>
              </a:rPr>
              <a:t>6. 存量线索激活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0456" y="5596127"/>
            <a:ext cx="32918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60" b="0">
                <a:solidFill>
                  <a:srgbClr val="2B2536"/>
                </a:solidFill>
                <a:latin typeface="Microsoft YaHei"/>
                <a:ea typeface="Microsoft YaHei"/>
              </a:rPr>
              <a:t>已签约（协鑫）与 60–70 家意向企业二次跟进转化，低成本盘活既有资源，缩短招商周期。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50800" cy="4572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4592"/>
            <a:ext cx="1042416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执行 ·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20624"/>
            <a:ext cx="104241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</a:rPr>
              <a:t>执行机制与合规保障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09728"/>
            <a:ext cx="100584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7658A8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914400" cy="14173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5087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邀约与名单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9019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活动前提供邀约名单、参会人数、人员背景，供东方枢纽走 OA 流程。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371600"/>
            <a:ext cx="914400" cy="14173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15087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预算与付款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9019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预算随案提交；经费经东方枢纽指定策划供应商签约支付。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971800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971800"/>
            <a:ext cx="914400" cy="14173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9718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31089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场地与搭建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5021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由持国货区通行证的指定供应商完成搭建，外部团队协同会务邀约衍生服务。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971800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2971800"/>
            <a:ext cx="914400" cy="14173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29718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31089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数据与跟进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35021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注册数据后台全量录入，导入 CRM/名录，支撑会后评估报告。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572000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572000"/>
            <a:ext cx="914400" cy="14173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5720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47091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节奏与灵活度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1023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两周一场（小而美）或一月一场（大型）；资源成熟可提档，档期可调。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572000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2EF"/>
            </a:solidFill>
          </a:ln>
          <a:effectLst/>
          <a:effectLst>
            <a:outerShdw blurRad="55000" dist="25000" dir="5400000" rotWithShape="0">
              <a:srgbClr val="7A6BA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4572000"/>
            <a:ext cx="914400" cy="1417320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572000"/>
            <a:ext cx="914400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470916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1F47"/>
                </a:solidFill>
                <a:latin typeface="Microsoft YaHei"/>
                <a:ea typeface="Microsoft YaHei"/>
              </a:rPr>
              <a:t>质量把控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5102352"/>
            <a:ext cx="4297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B2536"/>
                </a:solidFill>
                <a:latin typeface="Microsoft YaHei"/>
                <a:ea typeface="Microsoft YaHei"/>
              </a:rPr>
              <a:t>嘉宾须为决策层，重质量而非排面，保障长期可持续合作。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6455664"/>
            <a:ext cx="11201400" cy="9525"/>
          </a:xfrm>
          <a:prstGeom prst="rect">
            <a:avLst/>
          </a:prstGeom>
          <a:solidFill>
            <a:srgbClr val="DD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9144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05A6B"/>
                </a:solidFill>
                <a:latin typeface="Microsoft YaHei"/>
                <a:ea typeface="Microsoft YaHei"/>
              </a:rPr>
              <a:t>东方枢纽 × 复旦大学 × 上海市科技企业联合会  |  下半年合作计划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>
                <a:solidFill>
                  <a:srgbClr val="5B3E8E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1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50800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822960"/>
            <a:ext cx="109728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0AEE0"/>
                </a:solidFill>
                <a:latin typeface="Microsoft YaHei"/>
                <a:ea typeface="Microsoft YaHei"/>
              </a:rPr>
              <a:t>下一步 ·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确认试点场次，即刻启动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14600"/>
            <a:ext cx="10881360" cy="804672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514600"/>
            <a:ext cx="63500" cy="80467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7432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① 确认首场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514600"/>
            <a:ext cx="77724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敲定 7 月中旬“企业出海·进境关外”试点主题、时间与 30 人以内精准邀约名单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447288"/>
            <a:ext cx="10881360" cy="804672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447288"/>
            <a:ext cx="63500" cy="80467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447288"/>
            <a:ext cx="27432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② 提交 OA 要件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447288"/>
            <a:ext cx="77724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邀约名单 / 参会人数 / 人员背景 / 预算 / 时间，供东方枢纽走内部 OA 流程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379976"/>
            <a:ext cx="10881360" cy="804672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379976"/>
            <a:ext cx="63500" cy="80467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379976"/>
            <a:ext cx="27432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③ 供应商签约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379976"/>
            <a:ext cx="77724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经指定策划供应商签约支付，落实国货区场地搭建通行证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312664"/>
            <a:ext cx="10881360" cy="804672"/>
          </a:xfrm>
          <a:prstGeom prst="rect">
            <a:avLst/>
          </a:prstGeom>
          <a:solidFill>
            <a:srgbClr val="5B3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312664"/>
            <a:ext cx="63500" cy="804672"/>
          </a:xfrm>
          <a:prstGeom prst="rect">
            <a:avLst/>
          </a:prstGeom>
          <a:solidFill>
            <a:srgbClr val="C1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312664"/>
            <a:ext cx="27432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19A3A"/>
                </a:solidFill>
                <a:latin typeface="Microsoft YaHei"/>
                <a:ea typeface="Microsoft YaHei"/>
              </a:rPr>
              <a:t>④ 滚动推进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5312664"/>
            <a:ext cx="7772400" cy="8046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两周一场滚动执行，形成“活动—跟进—评估—再合作”长期闭环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AEE0"/>
                </a:solidFill>
                <a:latin typeface="Microsoft YaHei"/>
                <a:ea typeface="Microsoft YaHei"/>
              </a:rPr>
              <a:t>复旦大学  ·  上海市科技企业联合会  ·  东方枢纽    |    合作愉快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