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91695" cy="508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6696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0140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01400" y="4160520"/>
            <a:ext cx="960120" cy="1828800"/>
          </a:xfrm>
          <a:prstGeom prst="rect">
            <a:avLst/>
          </a:prstGeom>
          <a:solidFill>
            <a:srgbClr val="3A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029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AEE0"/>
                </a:solidFill>
                <a:latin typeface="Microsoft YaHei"/>
                <a:ea typeface="Microsoft YaHei"/>
              </a:rPr>
              <a:t>三方战略合作 · 单场活动立项计划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024128"/>
            <a:ext cx="1097280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东方枢纽 A 片区整体办公招商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10 场单场活动 · 独立立项方案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61488"/>
            <a:ext cx="1828800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9260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  ·  上海市科技企业联合会  ·  东方枢纽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5643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AEE0"/>
                </a:solidFill>
                <a:latin typeface="Microsoft YaHei"/>
                <a:ea typeface="Microsoft YaHei"/>
              </a:rPr>
              <a:t>8–12 月每月 2 场  |  单场独立走 OA  |  围绕六大产业  |  市级 + 浦东新区资源联动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53328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0AEE0"/>
                </a:solidFill>
                <a:latin typeface="Microsoft YaHei"/>
                <a:ea typeface="Microsoft YaHei"/>
              </a:rPr>
              <a:t>2026 年 8–12 月  |  内部审阅 &amp; 客户呈送 / 单场立项通用版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汇报目录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57276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3852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谁在合作 · 各自角色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157276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政府资源背书矩阵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193852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市级 + 浦东新区联动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56032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276148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招商标的 · A 片区办公项目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12724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四大产品线 · 销售/租赁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56032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56032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56032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76148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六大产业与月度排期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2" y="312724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8–12 月 · 每月 2 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74904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74904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74904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395020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10 场活动总览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431596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立项编号 · 主题 · 报价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74904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374904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74904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88352" y="395020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单场立项详情（10 页）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431596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每场单独成案 · 便于 OA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3776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93776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93776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7632" y="513892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报价体系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7632" y="550468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两档模型 · 全年预算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937760"/>
            <a:ext cx="5349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937760"/>
            <a:ext cx="914400" cy="10058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937760"/>
            <a:ext cx="91440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8352" y="5138928"/>
            <a:ext cx="4160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价值要点与执行下一步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8352" y="5504688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六大产业利好 · 单场 OA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背景 ·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05A6B"/>
                </a:solidFill>
                <a:latin typeface="Microsoft YaHei"/>
                <a:ea typeface="Microsoft YaHei"/>
              </a:rPr>
              <a:t>以“上海市级 + 浦东新区”政府资源联动为核心；每场活动单独立项、单独报价、单独走 OA。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538728" cy="9601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学术与科技智库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依托复旦大学住房政策研究中心及科技成果转化、产业研究资源；提供政策研究、课题背书、复旦专家智库与学术公信力，为项目注入“科创 + 学术”双重能级。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3128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53128" y="1828800"/>
            <a:ext cx="3538728" cy="960120"/>
          </a:xfrm>
          <a:prstGeom prst="rect">
            <a:avLst/>
          </a:prstGeom>
          <a:solidFill>
            <a:srgbClr val="765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上海市科技企业联合会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科技产业组织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市级科技企业组织，覆盖上海及长三角科技企业社群资源；负责科技企业精准邀约、科创内容策划、活动执行、社群传播与会后跟进评估。（备选/补充科技组织：上海市科学技术协会、上海市软件和信息服务业行业协会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57616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57616" y="1828800"/>
            <a:ext cx="3538728" cy="96012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东方枢纽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招商主体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东方枢纽集团 A 片区整体办公招商项目（隶属浦东国际航空城规划），含浦东机场、毗邻高铁站，具备“进境关外”免税/停留政策优势；聚焦六大核心产业招商，联动市级与浦东新区商务、投资促进资源，提供政府背书、场地与指定供应商通道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32120"/>
            <a:ext cx="50800" cy="50292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32120"/>
            <a:ext cx="10972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备选/补充科技组织：</a:t>
            </a: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上海市科学技术协会、上海市软件和信息服务业行业协会、上海市生物医药行业协会、长三角科技型企业创新联盟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资源 ·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政府资源背书矩阵（市级 + 浦东新区）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80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核心逻辑：市级资源与浦东新区资源相结合，商务委与投资促进部门共同参与背书。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548640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512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上海市级资源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743199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743199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43199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上海市商务委员会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01567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401567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01567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上海市投资促进服务中心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59935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059935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059935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上海市商务委外事办公室（领事馆/国际资源对接）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1874519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1874519"/>
            <a:ext cx="5486400" cy="658368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874519"/>
            <a:ext cx="512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浦东新区资源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743199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743199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743199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浦东新区商务委员会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401567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3401567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01567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浦东新区投资促进中心（浦开大厦九楼 200 人会议场地）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059935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0" y="4059935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4059935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浦东新区分管领导及片区管委会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3017520"/>
            <a:ext cx="5943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19A3A"/>
                </a:solidFill>
                <a:latin typeface="Microsoft YaHei"/>
                <a:ea typeface="Microsoft YaHei"/>
              </a:rPr>
              <a:t>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12080"/>
            <a:ext cx="11292840" cy="86868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212080"/>
            <a:ext cx="63500" cy="86868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212080"/>
            <a:ext cx="10789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“1 + 1”市区联动：以市级平台提升能级与权威性，以浦东新区落地承接与就近服务。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标的 ·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招商标的 · A 片区整体办公项目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隶属浦东国际航空城规划，主打“枢纽 + 办公”复合业态；紧邻浦东机场/高铁，具备“进境关外”免税/停留政策优势。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27632"/>
            <a:ext cx="11292840" cy="45720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27632"/>
            <a:ext cx="635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27632"/>
            <a:ext cx="10972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体量：</a:t>
            </a:r>
            <a:r>
              <a:rPr sz="1100" b="1">
                <a:solidFill>
                  <a:srgbClr val="C19A3A"/>
                </a:solidFill>
                <a:latin typeface="Microsoft YaHei"/>
                <a:ea typeface="Microsoft YaHei"/>
              </a:rPr>
              <a:t>办公产品建筑面积约 30 万㎡（汇总自 A 片区产品布局，最终以官方口径为准）  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（招商标的为 A 片区办公项目，非“133 万方”）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4028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240280"/>
            <a:ext cx="128016" cy="9144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13432"/>
            <a:ext cx="51206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1 · 国际商务独栋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24328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>
                <a:solidFill>
                  <a:srgbClr val="2B2536"/>
                </a:solidFill>
                <a:latin typeface="Microsoft YaHei"/>
                <a:ea typeface="Microsoft YaHei"/>
              </a:rPr>
              <a:t>花园独栋 + 独立庭院、私享屋顶飞机观景露台、枢纽 0 距离、抗震隔音、企业 LOGO 多维展示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24028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240280"/>
            <a:ext cx="128016" cy="914400"/>
          </a:xfrm>
          <a:prstGeom prst="rect">
            <a:avLst/>
          </a:prstGeom>
          <a:solidFill>
            <a:srgbClr val="765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313432"/>
            <a:ext cx="51206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2 · 枢纽办公 · 国际 A+ 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24328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>
                <a:solidFill>
                  <a:srgbClr val="2B2536"/>
                </a:solidFill>
                <a:latin typeface="Microsoft YaHei"/>
                <a:ea typeface="Microsoft YaHei"/>
              </a:rPr>
              <a:t>站前中枢、极致动线、双首层活力交互、灵活共享办公、黄金区位企业展厅（A1A-01/A3-01/A4B-01）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9184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91840"/>
            <a:ext cx="128016" cy="91440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364992"/>
            <a:ext cx="51206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3 · 国际总部 · 国际 A+ 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75888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>
                <a:solidFill>
                  <a:srgbClr val="2B2536"/>
                </a:solidFill>
                <a:latin typeface="Microsoft YaHei"/>
                <a:ea typeface="Microsoft YaHei"/>
              </a:rPr>
              <a:t>三叠拼特色办公、空中花园、智慧泊车、智慧门禁及梯控、中庭共栖广场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29184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291840"/>
            <a:ext cx="128016" cy="9144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364992"/>
            <a:ext cx="51206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4 · 品质标办 · A+ 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675888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>
                <a:solidFill>
                  <a:srgbClr val="2B2536"/>
                </a:solidFill>
                <a:latin typeface="Microsoft YaHei"/>
                <a:ea typeface="Microsoft YaHei"/>
              </a:rPr>
              <a:t>垂直绿化、私享露台与公共花园、空中绿廊、生态社交空间、绿色三星认证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80560"/>
            <a:ext cx="11292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80560"/>
            <a:ext cx="128016" cy="155448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7200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销售 / 租赁模式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4864608"/>
            <a:ext cx="109728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销售 / 租赁并重：北/南上盖及多栋采用“分层销售 + 整层/单元/分时租赁”组合；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灵活门槛：多栋支持按 300 ㎡ 最小单元分割出租，单层约 1600–6000 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地块标识：A1A-01/A3-01/A4B-01 核心枢纽办公，N 系（N3–N7）北上盖、S 系（S3/S4）南上盖。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62356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活动↔产品匹配：</a:t>
            </a:r>
            <a:r>
              <a:rPr sz="950" b="0">
                <a:solidFill>
                  <a:srgbClr val="605A6B"/>
                </a:solidFill>
                <a:latin typeface="Microsoft YaHei"/>
                <a:ea typeface="Microsoft YaHei"/>
              </a:rPr>
              <a:t>活动导流企业按需匹配：出海/贸易企业→枢纽办公·品质标办（300 ㎡ 起分割出租）；总部型企业→国际总部/国际商务独栋；政府飞地→小面积单元办事处。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产业 · 排期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六大核心产业与月度排期（8–12 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46304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高服 · 高端服务业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2880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会展、专业服务、国际组织与商协会资源导入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128016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46304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国贸 · 国际贸易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82880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新型离岸贸易、进出口、跨境撮合，依托进境关外政策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728" y="146304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民航 · 民用航空（含供应链）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82880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临空经济、航空维修与配套供应链（枢纽独有优势）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9748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69748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88036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医药 · 生物医药（药械贸易为主）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24612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医疗器械与药品进出口贸易、后市场服务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69748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08960" y="269748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88036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工联 · 工业互联网（含数据中心）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24612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数据中心、全网通、境外算力接入服务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0" y="2697480"/>
            <a:ext cx="24688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15000" y="2697480"/>
            <a:ext cx="2468880" cy="9144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728" y="2880360"/>
            <a:ext cx="2286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绿能 · 绿色能源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246120"/>
            <a:ext cx="2249424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新能源汽车、充电桩、锂电储能、新兴储能出海东南亚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1280160"/>
            <a:ext cx="3291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12480" y="1280160"/>
            <a:ext cx="3291840" cy="50292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1280160"/>
            <a:ext cx="32918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月度排期 · 每月 2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1920240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 月  ·  2 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194560"/>
            <a:ext cx="2926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政策首场 + 东南亚精选对接（最快可组织）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697480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9 月  ·  2 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2971800"/>
            <a:ext cx="2926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绿色能源专场 + 民用航空闭门会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3474720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10 月  · 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3749040"/>
            <a:ext cx="2926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政府飞地闭门会 + 工业互联网专场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4251960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11 月  ·  2 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4526280"/>
            <a:ext cx="2926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生物医药专场 + 属地商会对接会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029200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12 月  ·  2 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5303520"/>
            <a:ext cx="2926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国际汇客厅对接 + A 片区收官选址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总览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10 场单场活动总览（独立立项）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6576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234440"/>
            <a:ext cx="123444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234440"/>
            <a:ext cx="155448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1234440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1234440"/>
            <a:ext cx="365760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234440"/>
            <a:ext cx="3657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活动主题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1234440"/>
            <a:ext cx="173736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234440"/>
            <a:ext cx="17373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34440"/>
            <a:ext cx="109728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234440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规模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234440"/>
            <a:ext cx="41148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20" y="1234440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0" y="1234440"/>
            <a:ext cx="640080" cy="43891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0" y="1234440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报价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673352"/>
            <a:ext cx="365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1673352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1673352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1673352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1673352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7400" y="1673352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8 月上旬（约 8/6）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1673352"/>
            <a:ext cx="36576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6744" y="1673352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企业出海首站 · “进境关外”政策闭门会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9480" y="1673352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24344" y="1673352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1673352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1673352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04120" y="1673352"/>
            <a:ext cx="411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4120" y="1673352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0" y="1673352"/>
            <a:ext cx="640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0" y="1673352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112264"/>
            <a:ext cx="3657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2112264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2112264"/>
            <a:ext cx="123444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2112264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57400" y="2112264"/>
            <a:ext cx="1554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57400" y="2112264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8 月 18 日前后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2112264"/>
            <a:ext cx="365760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66744" y="2112264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东南亚出海精选对接闭门会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69480" y="2112264"/>
            <a:ext cx="17373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2112264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2112264"/>
            <a:ext cx="10972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6840" y="2112264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04120" y="2112264"/>
            <a:ext cx="411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04120" y="2112264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15600" y="2112264"/>
            <a:ext cx="6400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112264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2551176"/>
            <a:ext cx="365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2551176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" y="2551176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2551176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7400" y="2551176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51176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9 月上旬（约 9/10）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11880" y="2551176"/>
            <a:ext cx="36576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66744" y="2551176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绿色能源与新兴储能出海专场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69480" y="2551176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24344" y="2551176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06840" y="2551176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06840" y="2551176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04120" y="2551176"/>
            <a:ext cx="411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04120" y="2551176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515600" y="2551176"/>
            <a:ext cx="640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515600" y="2551176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2990088"/>
            <a:ext cx="3657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2990088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2960" y="2990088"/>
            <a:ext cx="123444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2960" y="2990088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57400" y="2990088"/>
            <a:ext cx="1554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2990088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9 月下旬（约 9/24）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11880" y="2990088"/>
            <a:ext cx="365760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66744" y="2990088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民用航空及临空供应链闭门会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69480" y="2990088"/>
            <a:ext cx="17373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24344" y="2990088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06840" y="2990088"/>
            <a:ext cx="10972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06840" y="2990088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04120" y="2990088"/>
            <a:ext cx="411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04120" y="2990088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515600" y="2990088"/>
            <a:ext cx="6400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515600" y="2990088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3429000"/>
            <a:ext cx="365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7200" y="3429000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22960" y="342900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3429000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57400" y="3429000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57400" y="3429000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10 月上旬（约 10/15）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11880" y="3429000"/>
            <a:ext cx="36576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66744" y="3429000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政府飞地招商闭门会（长三角地级市）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269480" y="3429000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24344" y="3429000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6840" y="3429000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06840" y="3429000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104120" y="3429000"/>
            <a:ext cx="411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4120" y="3429000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15600" y="3429000"/>
            <a:ext cx="640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515600" y="3429000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57200" y="3867912"/>
            <a:ext cx="3657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57200" y="3867912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22960" y="3867912"/>
            <a:ext cx="123444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2960" y="3867912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057400" y="3867912"/>
            <a:ext cx="1554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057400" y="3867912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10 月下旬（约 10/29）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11880" y="3867912"/>
            <a:ext cx="365760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66744" y="3867912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工业互联网与数据中心（算力出海）专场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69480" y="3867912"/>
            <a:ext cx="17373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24344" y="3867912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06840" y="3867912"/>
            <a:ext cx="10972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06840" y="3867912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104120" y="3867912"/>
            <a:ext cx="411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04120" y="3867912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515600" y="3867912"/>
            <a:ext cx="6400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515600" y="3867912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57200" y="4306824"/>
            <a:ext cx="365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57200" y="4306824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22960" y="4306824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22960" y="4306824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DFSN-2026-07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57400" y="4306824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057400" y="4306824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11 月上旬（约 11/12）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611880" y="4306824"/>
            <a:ext cx="36576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666744" y="4306824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生物医药 · 药械贸易出海专场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269480" y="4306824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324344" y="4306824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006840" y="4306824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06840" y="4306824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04120" y="4306824"/>
            <a:ext cx="411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104120" y="4306824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515600" y="4306824"/>
            <a:ext cx="640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0515600" y="4306824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57200" y="4745736"/>
            <a:ext cx="3657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4745736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" y="4745736"/>
            <a:ext cx="123444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22960" y="4745736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DFSN-2026-08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057400" y="4745736"/>
            <a:ext cx="1554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057400" y="4745736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11 月下旬（约 11/26）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11880" y="4745736"/>
            <a:ext cx="365760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66744" y="4745736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长三角属地（市级）商会对接会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269480" y="4745736"/>
            <a:ext cx="17373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24344" y="4745736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006840" y="4745736"/>
            <a:ext cx="10972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006840" y="4745736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104120" y="4745736"/>
            <a:ext cx="411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104120" y="4745736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515600" y="4745736"/>
            <a:ext cx="6400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515600" y="4745736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57200" y="5184648"/>
            <a:ext cx="365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57200" y="5184648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2960" y="5184648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22960" y="5184648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057400" y="5184648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057400" y="5184648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12 月上旬（约 12/10）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11880" y="5184648"/>
            <a:ext cx="36576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666744" y="5184648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高端服务业 · 国际汇客厅资源对接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269480" y="5184648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324344" y="5184648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006840" y="5184648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006840" y="5184648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104120" y="5184648"/>
            <a:ext cx="411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104120" y="5184648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515600" y="5184648"/>
            <a:ext cx="640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515600" y="5184648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7200" y="5623560"/>
            <a:ext cx="3657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5623560"/>
            <a:ext cx="36576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2960" y="5623560"/>
            <a:ext cx="123444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2960" y="5623560"/>
            <a:ext cx="123444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DFSN-2026-10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057400" y="5623560"/>
            <a:ext cx="1554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057400" y="5623560"/>
            <a:ext cx="1554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12 月中旬（约 12/17）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611880" y="5623560"/>
            <a:ext cx="365760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666744" y="5623560"/>
            <a:ext cx="360273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A 片区全产业链招商闭门对接（年度收官）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269480" y="5623560"/>
            <a:ext cx="173736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324344" y="5623560"/>
            <a:ext cx="1682496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六大产业（精选意向）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006840" y="5623560"/>
            <a:ext cx="10972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006840" y="5623560"/>
            <a:ext cx="10972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104120" y="5623560"/>
            <a:ext cx="4114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0104120" y="5623560"/>
            <a:ext cx="4114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515600" y="5623560"/>
            <a:ext cx="640080" cy="438912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515600" y="5623560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6062472"/>
            <a:ext cx="10058400" cy="438912"/>
          </a:xfrm>
          <a:prstGeom prst="rect">
            <a:avLst/>
          </a:prstGeom>
          <a:solidFill>
            <a:srgbClr val="C0A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457200" y="6062472"/>
            <a:ext cx="100584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1F47"/>
                </a:solidFill>
                <a:latin typeface="Microsoft YaHei"/>
                <a:ea typeface="Microsoft YaHei"/>
              </a:rPr>
              <a:t>10 场合计（单场立项累加）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515600" y="6062472"/>
            <a:ext cx="640080" cy="43891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515600" y="6062472"/>
            <a:ext cx="64008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62.0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说明：7 月不排场；最早一场 8 月上旬。每场单独编号（DFSN-2026-XX），可单独提交 OA。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NO.1  企业出海首站 · “进境关外”政策闭门会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8 月上旬（约 8/6）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8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小而美闭门 · 30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东方枢纽园区（浦开大厦 9 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866FB4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解读东方枢纽“进境关外”免税与 180 天停留政策，明确入驻/落地路径；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复旦专家解读出海政策趋势；客群以拟出海企业决策层为主；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首场跑通邀约—注册—跟进流程，为后续单场立项提供范本。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浦东新区投资促进中心、市商委外办、复旦相关专家、拟出海/已出海企业决策层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建立首批意向企业清单，导入招商 CRM；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现场收集 A 片区办公租赁/入驻意向。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建议作为首场立项：政策清晰、邀约路径成熟、最快可组织。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NO.2  东南亚出海精选对接闭门会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8 月 18 日前后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8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小而美闭门 · 30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东方枢纽园区（浦开大厦 9 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866FB4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借 8/18 领事馆相关大会流量，精选高质量出海企业做小范围对接；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小而美闭门形式，配套东南亚特色茶歇，聚焦深度撮合；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邀请少数领事/外办代表点睛，重质量不求排面。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东南亚重点国家领事（精选）、市商委外办代表、六大产业出海企业决策层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承接大会溢出流量，转化为 A 片区精准线索；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强化“进境关外”国际资源标签。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与既定 8/18 节点就近排期，可独立立项、单独结算。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NO.3  绿色能源与新兴储能出海专场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9 月上旬（约 9/10）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9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市区专场 · 80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浦东新区投资促进中心（浦开大厦 9 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5B3E8E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聚焦新能源汽车、充电桩、锂电与新兴储能出海东南亚；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对标已签约江苏协鑫，邀请特斯拉、比亚迪、特来电、宁德时代等；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延伸低空经济（锂电池关联）作为新兴科技话题。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江苏协鑫、特斯拉 / 比亚迪、特来电、宁德时代、储能相关企业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匹配枢纽绿色能源产业招商方向；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锁定东南亚交付型能源企业的关外仓储/办公需求。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对应六大板块之“绿色能源”，建议单独走市区专场立项。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NO.4  民用航空及临空供应链闭门会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9 月下旬（约 9/24）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9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小而美闭门 · 30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东方枢纽园区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866FB4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围绕东方枢纽六大板块之“民用航空”，依托浦东机场/枢纽区位；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对接航空运营、维修、航材、临空物流与供应链企业；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探讨保税协同、关外仓储与 A 片区办公落地组合方案。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航空及供应链企业、航空维修/航材企业、临空物流服务商、片区管委会代表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民用航空为枢纽独有优势板块，与 A 片区产品高度匹配；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供应链企业黏性强，适合独栋/上盖办公产品。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对应六大板块之“民用航空（含供应链）”，小而美闭门独立立项。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NO.5  政府飞地招商闭门会（长三角地级市）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10 月上旬（约 10/15）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10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小而美闭门 · 30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东方枢纽园区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866FB4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推动地级市政府在枢纽设“招商飞地/办事处”，走港口出海；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对接内陆无出海口城市（华东/华中/中原）差异化需求；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由市/区投资促进部门与片区管委会领导出席背书。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浙江温岭/湖州、山东德州/临沂、广州（白云贸易街区）、片区管委会领导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机构型稳定租户 + 持续带来腹地企业流量；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匹配 A 片区小面积单元/分层租赁产品。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对应六大板块之“高端服务业”，飞地招商单独立项。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NO.6  工业互联网与数据中心（算力出海）专场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10 月下旬（约 10/29）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10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市区专场 · 80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5B3E8E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依托枢纽数据中心与全网通，主打境外算力低成本接入；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面向工业互联网、AI/算力、跨境 SaaS 企业；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联合复旦科技智库解读产业趋势。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数据中心/算力企业、工业互联网平台、跨境 SaaS / AI 企业、复旦科技专家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数据中心为高投资强度租户，匹配枢纽办公/上盖产品；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境外算力接入为差异化卖点。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对应六大板块之“工业互联网（含数据中心）”，市区专场独立立项。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NO.7  生物医药 · 药械贸易出海专场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11 月上旬（约 11/12）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11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市区专场 · 80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5B3E8E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当前以药械贸易为主，聚焦进出口与后市场服务；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结合关外保税政策，探讨医疗器械集散与跨境贸易；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为后续引入研发型企业预留升级空间。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药械贸易企业、医疗器械进出口商、行业协会代表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贸易类药械企业匹配关外保税与 A 片区分层租赁；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形成医药贸易集群导流。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对应六大板块之“生物医药（药械贸易为主）”，独立立项。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NO.8  长三角属地（市级）商会对接会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11 月下旬（约 11/26）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11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市区专场 · 80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5B3E8E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聚焦市级/属地商会（青岛、宁波等港口城市），落地导向；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以进出口贸易繁荣的属地商会为主，不做省级虚化邀约；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商会资源成熟即可灵活调整档期。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青岛/宁波等市级商会、属地进出口龙头企业、东方枢纽招商团队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批量导入属地贸易企业，形成集群式入驻线索；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商会渠道可复用于飞地与后续单场。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对应六大板块之“国际贸易/高端服务业”，市区专场独立立项。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NO.9  高端服务业 · 国际汇客厅资源对接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12 月上旬（约 12/10）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12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市区专场 · 80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国际汇客厅（浦东）/ 浦东新区投资促进中心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5B3E8E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联动浦东挂牌的国际汇客厅（瑞典/北欧创新中心等）资源；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撮合外资机构与高端服务企业落地关外；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以国际化服务生态提升 A 片区品牌能级。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瑞典/北欧创新中心、区商务委、外资机构与高端服务企业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国际化租户提升项目调性；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匹配枢纽办公/国际总部产品线。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对应六大板块之“高端服务业”，独立立项。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单场立项 · DFSN-2026-10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NO.10  A 片区全产业链招商闭门对接（年度收官）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9319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基本信息 · OA 要件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立项编号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7451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DFSN-2026-10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5856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25856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12 月中旬（约 12/17）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42615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所属月份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42615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12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26663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26663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六大产业（精选意向）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1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形式规模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10711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小而美闭门 · 30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94759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场地建议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794759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东方枢纽园区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78807"/>
            <a:ext cx="118872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05A6B"/>
                </a:solidFill>
                <a:latin typeface="Microsoft YaHei"/>
                <a:ea typeface="Microsoft YaHei"/>
              </a:rPr>
              <a:t>报价档位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178807"/>
            <a:ext cx="23774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B2536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3566160" cy="109728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3566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05A6B"/>
                </a:solidFill>
                <a:latin typeface="Microsoft YaHei"/>
                <a:ea typeface="Microsoft YaHei"/>
              </a:rPr>
              <a:t>单场报价（万元）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866FB4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1280160"/>
            <a:ext cx="70408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141732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37360"/>
            <a:ext cx="6583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面向全年沉淀的、对 A 片区办公明确感兴趣的企业做二次跟进；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小范围闭门对接 + 意向企业现场看盘选址（结合四大产品线）；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片区管委会领导出席点睛，形成年度闭环收官。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926080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拟邀嘉宾 / 资源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246120"/>
            <a:ext cx="6583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片区管委会/投资促进部门代表、复旦及联合会代表、全年意向企业（精选 30 家内）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39"/>
            <a:ext cx="6675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297680"/>
            <a:ext cx="65836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全年线索集中对接 A 片区办公产品选址；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沉淀年度招商小结，支撑来年单场合作。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6675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3E8E"/>
                </a:solidFill>
                <a:latin typeface="Microsoft YaHei"/>
                <a:ea typeface="Microsoft YaHei"/>
              </a:rPr>
              <a:t>立项说明：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年度收官场，建议单独立项；可含现场看盘环节。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报价 · QUOTE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报价体系 · 两档模型与全年预算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80160"/>
            <a:ext cx="53492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280160"/>
            <a:ext cx="5349240" cy="82296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71600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50749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0AEE0"/>
                </a:solidFill>
                <a:latin typeface="Microsoft YaHei"/>
                <a:ea typeface="Microsoft YaHei"/>
              </a:rPr>
              <a:t>小而美闭门（≤30人·区内）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40280"/>
            <a:ext cx="5074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5B3E8E"/>
                </a:solidFill>
                <a:latin typeface="Microsoft YaHei"/>
                <a:ea typeface="Microsoft YaHei"/>
              </a:rPr>
              <a:t>3.6 </a:t>
            </a:r>
            <a:r>
              <a:rPr sz="1200" b="1">
                <a:solidFill>
                  <a:srgbClr val="605A6B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88920"/>
            <a:ext cx="4983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内容策划与主持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精准邀约与接待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场地搭建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物料设计制作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餐饮茶歇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社群/媒体传播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会后评估与数据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280160"/>
            <a:ext cx="53492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5349240" cy="8229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371600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50749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0AEE0"/>
                </a:solidFill>
                <a:latin typeface="Microsoft YaHei"/>
                <a:ea typeface="Microsoft YaHei"/>
              </a:rPr>
              <a:t>市区专场（≤80人）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40280"/>
            <a:ext cx="5074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5B3E8E"/>
                </a:solidFill>
                <a:latin typeface="Microsoft YaHei"/>
                <a:ea typeface="Microsoft YaHei"/>
              </a:rPr>
              <a:t>8.8 </a:t>
            </a:r>
            <a:r>
              <a:rPr sz="1200" b="1">
                <a:solidFill>
                  <a:srgbClr val="605A6B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983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内容策划与主持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1.4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精准邀约与接待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场地搭建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1.2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物料设计制作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餐饮茶歇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社群/媒体传播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会后评估与数据</a:t>
            </a:r>
            <a:r>
              <a:rPr sz="1000" b="1">
                <a:solidFill>
                  <a:srgbClr val="C19A3A"/>
                </a:solidFill>
                <a:latin typeface="Microsoft YaHei"/>
                <a:ea typeface="Microsoft YaHei"/>
              </a:rPr>
              <a:t>  0.9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11274552" cy="1463040"/>
          </a:xfrm>
          <a:prstGeom prst="rect">
            <a:avLst/>
          </a:prstGeom>
          <a:solidFill>
            <a:srgbClr val="ECE6F7"/>
          </a:solidFill>
          <a:ln w="9525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全年预算汇总（单场立项累加）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    本期 10 场均为 A/B 档；每场可单独审批、单独结算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120640"/>
            <a:ext cx="347472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86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9379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66FB4"/>
                </a:solidFill>
                <a:latin typeface="Microsoft YaHei"/>
                <a:ea typeface="Microsoft YaHei"/>
              </a:rPr>
              <a:t>A 档 × 5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04688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18.0 万元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5120640"/>
            <a:ext cx="347472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5B3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519379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B 档 × 5 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504688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44.0 万元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5120640"/>
            <a:ext cx="3474720" cy="77724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519379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10 场合计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504688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62.0 万元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价值 ·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招商价值要点（围绕六大产业）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10 场单场活动，全面覆盖东方枢纽既定六大产业板块，服务 A 片区整体办公招商。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1. 单场精准导流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46888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每场对应六大产业之一，决策层定向邀约，线索质量高、可单场评估。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830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78308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78308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2. 六大产业全覆盖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46888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10 场覆盖高端服务业、国际贸易、民用航空、生物医药、工业互联网、绿色能源。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7830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78308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3. 市区资源背书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46888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市级平台 + 浦东新区落地 + 复旦学术/科技智库，提升项目对外能级。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79476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79476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9476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4. 产品线精准匹配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48056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按企业类型对接国际商务独栋、枢纽办公、国际总部、品质标办等产品。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79476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79476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79476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5. 政府飞地抓手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48056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引入地级市政府办事处形成机构型租户，并持续导入腹地企业流量。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79476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2440" y="3794760"/>
            <a:ext cx="3611880" cy="5029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3794760"/>
            <a:ext cx="33375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6. 国际资源注入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480560"/>
            <a:ext cx="32461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领事馆、国际汇客厅、出海撮合网络，强化“进境关外”区位与政策优势。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执行 ·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单场 OA 执行机制与下一步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7658A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8016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41732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单场立项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78308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每场单独提交：主题、时间、规模、邀约名单、人员背景、预算明细。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28016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41732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OA 要件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178308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邀约名单、参会人数、人员背景、预算、时间——按场次走东方枢纽内部 OA。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28016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28016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28016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41732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预算与付款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单场预算随案提交；经费经指定策划供应商按场签约支付。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9748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69748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69748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83464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场地与搭建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20040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由持国货区通行证的指定供应商完成搭建，外部团队协同会务邀约。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69748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269748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269748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283464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数据与跟进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320040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注册数据后台全量录入，导入 CRM，支撑会后评估。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2697480"/>
            <a:ext cx="36118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2697480"/>
            <a:ext cx="640080" cy="128016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40" y="2697480"/>
            <a:ext cx="64008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834640"/>
            <a:ext cx="2697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排期节奏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200400"/>
            <a:ext cx="26517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8–12 月每月 2 场、约两周一场；资源成熟可微调档期，不跨月堆积。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43484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C19A3A"/>
                </a:solidFill>
                <a:latin typeface="Microsoft YaHei"/>
                <a:ea typeface="Microsoft YaHei"/>
              </a:rPr>
              <a:t>下一步 · 建议从第 1 场启动立项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800600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① 确认 8 月上旬首场（进境关外政策闭门会）主题、时间与 30 人邀约名单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093208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② 按单场立项表提交 OA 要件：名单 / 人数 / 背景 / 预算 / 时间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385816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③ 经指定策划供应商签约支付，落实场地搭建通行证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78424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④ 8–12 月每月 2 场滚动执行，一场一立、一场一结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单场立项计划（8–12 月）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