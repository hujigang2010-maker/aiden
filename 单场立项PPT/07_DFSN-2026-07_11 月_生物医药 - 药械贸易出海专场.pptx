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508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4572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C0AEE0"/>
                </a:solidFill>
                <a:latin typeface="Microsoft YaHei"/>
                <a:ea typeface="Microsoft YaHei"/>
              </a:rPr>
              <a:t>单场活动立项方案  ·  DFSN-2026-07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960120"/>
            <a:ext cx="10972800" cy="10972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NO.7  生物医药 · 药械贸易出海专场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606040"/>
            <a:ext cx="1645920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834640"/>
            <a:ext cx="10972800" cy="41148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复旦大学  ·  上海市科技企业联合会  ·  东方枢纽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38328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C0AEE0"/>
                </a:solidFill>
                <a:latin typeface="Microsoft YaHei"/>
                <a:ea typeface="Microsoft YaHei"/>
              </a:rPr>
              <a:t>11 月上旬（约 11/12）  |  市区专场 · 80 人  |  生物医药（药械贸易为主）  |  报价 8.8 万元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02336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C0AEE0"/>
                </a:solidFill>
                <a:latin typeface="Microsoft YaHei"/>
                <a:ea typeface="Microsoft YaHei"/>
              </a:rPr>
              <a:t>场地：浦东新区投资促进中心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5943600"/>
            <a:ext cx="1097280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C0AEE0"/>
                </a:solidFill>
                <a:latin typeface="Microsoft YaHei"/>
                <a:ea typeface="Microsoft YaHei"/>
              </a:rPr>
              <a:t>东方枢纽 A 片区整体办公招商  |  单场独立走 OA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基本信息与 OA 要件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548640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325880"/>
            <a:ext cx="54864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活动基本信息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196596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19659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立项编号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19659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DFSN-2026-07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237744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3774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活动主题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23774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生物医药 · 药械贸易出海专场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278892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7889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拟定时间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27889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11 月上旬（约 11/12）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" y="320040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2004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所属月份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32004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11 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61188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61188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产业板块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86000" y="361188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生物医药（药械贸易为主）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02336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402336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形式规模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402336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市区专场 · 80 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3484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43484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场地建议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86000" y="443484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浦东新区投资促进中心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0080" y="4846320"/>
            <a:ext cx="521208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84632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报价档位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86000" y="484632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B 档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257800"/>
            <a:ext cx="5212080" cy="384048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57800"/>
            <a:ext cx="146304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05A6B"/>
                </a:solidFill>
                <a:latin typeface="Microsoft YaHei"/>
                <a:ea typeface="Microsoft YaHei"/>
              </a:rPr>
              <a:t>单场报价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286000" y="5257800"/>
            <a:ext cx="3383280" cy="384048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8.8 万元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63640" y="1325880"/>
            <a:ext cx="5440680" cy="4754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1325880"/>
            <a:ext cx="544068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OA 提交要件（勾选）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92240" y="20574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92240" y="20574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0840" y="20574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活动主题与时间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265176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92240" y="265176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0840" y="265176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参会规模与场地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92240" y="324612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24612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0840" y="324612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邀约名单（企业 / 嘉宾）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92240" y="384048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492240" y="384048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0840" y="384048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参会人员背景（决策层）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92240" y="443484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6492240" y="443484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0840" y="443484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单场预算明细（见第 4 页）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492240" y="5029200"/>
            <a:ext cx="4983480" cy="502920"/>
          </a:xfrm>
          <a:prstGeom prst="rect">
            <a:avLst/>
          </a:prstGeom>
          <a:solidFill>
            <a:srgbClr val="ECE6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492240" y="5029200"/>
            <a:ext cx="6350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0840" y="5029200"/>
            <a:ext cx="45720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2B2536"/>
                </a:solidFill>
                <a:latin typeface="Microsoft YaHei"/>
                <a:ea typeface="Microsoft YaHei"/>
              </a:rPr>
              <a:t>☐  指定策划供应商签约路径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DFSN-2026-07  |  生物医药 · 药械贸易出海专场  |  单场立项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2/5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内容策划 · 嘉宾资源 · 招商衔接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25880"/>
            <a:ext cx="1120140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25880"/>
            <a:ext cx="11201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325880"/>
            <a:ext cx="1097280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内容建议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74519"/>
            <a:ext cx="10789920" cy="10058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当前以药械贸易为主，聚焦进出口与后市场服务；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结合关外保税政策，探讨医疗器械集散与跨境贸易；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为后续引入研发型企业预留升级空间。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200400"/>
            <a:ext cx="5486400" cy="41148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拟邀嘉宾 / 资源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5029200" cy="21031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药械贸易企业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医疗器械进出口商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行业协会代表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200400"/>
            <a:ext cx="5486400" cy="2880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200400"/>
            <a:ext cx="5486400" cy="41148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200400"/>
            <a:ext cx="5120640" cy="41148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招商衔接价值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3794760"/>
            <a:ext cx="5029200" cy="13716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贸易类药械企业匹配关外保税与 A 片区分层租赁；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1">
                <a:solidFill>
                  <a:srgbClr val="C19A3A"/>
                </a:solidFill>
                <a:latin typeface="Microsoft YaHei"/>
                <a:ea typeface="Microsoft YaHei"/>
              </a:rPr>
              <a:t>· </a:t>
            </a:r>
            <a:r>
              <a:rPr sz="1100" b="0">
                <a:solidFill>
                  <a:srgbClr val="2B2536"/>
                </a:solidFill>
                <a:latin typeface="Microsoft YaHei"/>
                <a:ea typeface="Microsoft YaHei"/>
              </a:rPr>
              <a:t>形成医药贸易集群导流。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5303520"/>
            <a:ext cx="5029200" cy="5943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5B3E8E"/>
                </a:solidFill>
                <a:latin typeface="Microsoft YaHei"/>
                <a:ea typeface="Microsoft YaHei"/>
              </a:rPr>
              <a:t>立项说明：</a:t>
            </a: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对应六大板块之“生物医药（药械贸易为主）”，独立立项。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DFSN-2026-07  |  生物医药 · 药械贸易出海专场  |  单场立项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3/5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单场预算明细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1234440"/>
            <a:ext cx="10972800" cy="32004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>
                <a:solidFill>
                  <a:srgbClr val="605A6B"/>
                </a:solidFill>
                <a:latin typeface="Microsoft YaHei"/>
                <a:ea typeface="Microsoft YaHei"/>
              </a:rPr>
              <a:t>档位：B · 市区专场（≤80人）    |    单位：万元    |    最终以指定策划供应商合同为准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1691640"/>
            <a:ext cx="64008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费用构成项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1691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金额（万元）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21488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2148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内容策划与主持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148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371600" y="26060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54480" y="2606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精准邀约与接待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0" y="2606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2.0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30632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54480" y="30632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场地搭建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0" y="30632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371600" y="35204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54480" y="35204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物料设计制作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35204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71600" y="39776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554480" y="39776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餐饮茶歇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371600" y="4434840"/>
            <a:ext cx="6400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554480" y="44348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社群/媒体传播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44348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1.0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371600" y="4892040"/>
            <a:ext cx="640080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solidFill>
            <a:srgbClr val="ECE6F7"/>
          </a:solidFill>
          <a:ln w="6350">
            <a:solidFill>
              <a:srgbClr val="DDD2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54480" y="4892040"/>
            <a:ext cx="603504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会后评估与数据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772400" y="4892040"/>
            <a:ext cx="30175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300" b="1">
                <a:solidFill>
                  <a:srgbClr val="C19A3A"/>
                </a:solidFill>
                <a:latin typeface="Microsoft YaHei"/>
                <a:ea typeface="Microsoft YaHei"/>
              </a:rPr>
              <a:t>0.9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349240"/>
            <a:ext cx="640080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单场合计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772400" y="5349240"/>
            <a:ext cx="3017520" cy="5029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8.8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DFSN-2026-07  |  生物医药 · 药械贸易出海专场  |  单场立项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4/5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2E1F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438912"/>
            <a:ext cx="50800" cy="438912"/>
          </a:xfrm>
          <a:prstGeom prst="rect">
            <a:avLst/>
          </a:prstGeom>
          <a:solidFill>
            <a:srgbClr val="C1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146304"/>
            <a:ext cx="10972800" cy="27432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C0AEE0"/>
                </a:solidFill>
                <a:latin typeface="Microsoft YaHei"/>
                <a:ea typeface="Microsoft YaHei"/>
              </a:rPr>
              <a:t>单场立项 · DFSN-2026-07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402336"/>
            <a:ext cx="10972800" cy="54864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</a:rPr>
              <a:t>执行安排与下一步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① 确认档期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敲定 11 月上旬（约 11/12） 具体日期与场地档期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60020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② 提交 OA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29400" y="201168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提交邀约名单、参会人数、人员背景、本场预算明细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③ 供应商签约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经东方枢纽指定策划供应商签约支付，落实搭建通行证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278892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278892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01752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④ 精准邀约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9400" y="342900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按决策层标准完成企业/嘉宾邀约与确认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⑤ 现场执行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会务执行、签到注册、数据全量录入后台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4206240"/>
            <a:ext cx="55321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2EF"/>
            </a:solidFill>
          </a:ln>
          <a:effectLst/>
          <a:effectLst>
            <a:outerShdw blurRad="55000" dist="25000" dir="5400000" rotWithShape="0">
              <a:srgbClr val="7A6BA0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309360" y="4206240"/>
            <a:ext cx="109728" cy="1234440"/>
          </a:xfrm>
          <a:prstGeom prst="rect">
            <a:avLst/>
          </a:prstGeom>
          <a:solidFill>
            <a:srgbClr val="5B3E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29400" y="4434840"/>
            <a:ext cx="5074920" cy="36576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5B3E8E"/>
                </a:solidFill>
                <a:latin typeface="Microsoft YaHei"/>
                <a:ea typeface="Microsoft YaHei"/>
              </a:rPr>
              <a:t>⑥ 会后跟进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846320"/>
            <a:ext cx="5029200" cy="45720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2B2536"/>
                </a:solidFill>
                <a:latin typeface="Microsoft YaHei"/>
                <a:ea typeface="Microsoft YaHei"/>
              </a:rPr>
              <a:t>导入 CRM，完成意向跟进与会后评估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455664"/>
            <a:ext cx="11201400" cy="9525"/>
          </a:xfrm>
          <a:prstGeom prst="rect">
            <a:avLst/>
          </a:prstGeom>
          <a:solidFill>
            <a:srgbClr val="DDD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92240"/>
            <a:ext cx="96012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0">
                <a:solidFill>
                  <a:srgbClr val="605A6B"/>
                </a:solidFill>
                <a:latin typeface="Microsoft YaHei"/>
                <a:ea typeface="Microsoft YaHei"/>
              </a:rPr>
              <a:t>DFSN-2026-07  |  生物医药 · 药械贸易出海专场  |  单场立项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92240"/>
            <a:ext cx="914400" cy="274320"/>
          </a:xfrm>
          <a:prstGeom prst="rect">
            <a:avLst/>
          </a:prstGeom>
          <a:noFill/>
        </p:spPr>
        <p:txBody>
          <a:bodyPr wrap="square" anchor="t" lIns="25400" rIns="25400" tIns="12700" bIns="1270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800" b="1">
                <a:solidFill>
                  <a:srgbClr val="5B3E8E"/>
                </a:solidFill>
                <a:latin typeface="Microsoft YaHei"/>
                <a:ea typeface="Microsoft YaHei"/>
              </a:rPr>
              <a:t>5/5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