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6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F2B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03920" y="-1280160"/>
            <a:ext cx="4754880" cy="4754880"/>
          </a:xfrm>
          <a:prstGeom prst="ellipse">
            <a:avLst/>
          </a:prstGeom>
          <a:solidFill>
            <a:srgbClr val="123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92640" y="2743200"/>
            <a:ext cx="4206240" cy="4206240"/>
          </a:xfrm>
          <a:prstGeom prst="ellipse">
            <a:avLst/>
          </a:prstGeom>
          <a:solidFill>
            <a:srgbClr val="0F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16B8C6"/>
                </a:solidFill>
                <a:latin typeface="微软雅黑"/>
                <a:ea typeface="微软雅黑"/>
              </a:rPr>
              <a:t>战略合作方案 · 内部沟通版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6070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Aft>
                <a:spcPts val="800"/>
              </a:spcAft>
            </a:pPr>
            <a:r>
              <a:rPr sz="4800" b="1">
                <a:solidFill>
                  <a:srgbClr val="FFFFFF"/>
                </a:solidFill>
                <a:latin typeface="微软雅黑"/>
                <a:ea typeface="微软雅黑"/>
              </a:rPr>
              <a:t>五方共建</a:t>
            </a:r>
          </a:p>
          <a:p>
            <a:pPr algn="l">
              <a:lnSpc>
                <a:spcPct val="102000"/>
              </a:lnSpc>
              <a:spcAft>
                <a:spcPts val="800"/>
              </a:spcAft>
            </a:pPr>
            <a:r>
              <a:rPr sz="3800" b="1">
                <a:solidFill>
                  <a:srgbClr val="FFFFFF"/>
                </a:solidFill>
                <a:latin typeface="微软雅黑"/>
                <a:ea typeface="微软雅黑"/>
              </a:rPr>
              <a:t>“AI + 云计算” 产业生态共同体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3474720"/>
            <a:ext cx="3291840" cy="45720"/>
          </a:xfrm>
          <a:prstGeom prst="rect">
            <a:avLst/>
          </a:prstGeom>
          <a:solidFill>
            <a:srgbClr val="F2B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639312"/>
            <a:ext cx="108813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500" b="0">
                <a:solidFill>
                  <a:srgbClr val="E8EEF6"/>
                </a:solidFill>
                <a:latin typeface="微软雅黑"/>
                <a:ea typeface="微软雅黑"/>
              </a:rPr>
              <a:t>面向 · 上海市云计算创新基地（大学路 · 五角场创新创业学院）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500" b="1">
                <a:solidFill>
                  <a:srgbClr val="F2B632"/>
                </a:solidFill>
                <a:latin typeface="微软雅黑"/>
                <a:ea typeface="微软雅黑"/>
              </a:rPr>
              <a:t>两大诉求：轻资产拓展 × 招商对接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500" b="1">
                <a:solidFill>
                  <a:srgbClr val="16B8C6"/>
                </a:solidFill>
                <a:latin typeface="微软雅黑"/>
                <a:ea typeface="微软雅黑"/>
              </a:rPr>
              <a:t>新引擎：腾讯云算力底座 + OPC 超级孵化闭环 → 产业闭环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9788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0">
                <a:solidFill>
                  <a:srgbClr val="5B6B82"/>
                </a:solidFill>
                <a:latin typeface="微软雅黑"/>
                <a:ea typeface="微软雅黑"/>
              </a:rPr>
              <a:t>复旦大学住房政策研究中心 · 人工智能商业化落地组委会 · 上海市杨浦区科技企业联合会 · 腾讯云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94560"/>
            <a:ext cx="12191695" cy="54864"/>
          </a:xfrm>
          <a:prstGeom prst="rect">
            <a:avLst/>
          </a:prstGeom>
          <a:solidFill>
            <a:srgbClr val="16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16B8C6"/>
                </a:solidFill>
                <a:latin typeface="微软雅黑"/>
                <a:ea typeface="微软雅黑"/>
              </a:rPr>
              <a:t>先把这件事结构化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</a:rPr>
              <a:t>这次不是简单谈一单合作 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3200" b="1">
                <a:solidFill>
                  <a:srgbClr val="F2B632"/>
                </a:solidFill>
                <a:latin typeface="微软雅黑"/>
                <a:ea typeface="微软雅黑"/>
              </a:rPr>
              <a:t>而是用 “资源整合 + 资产运营 + 产业导入”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3200" b="1">
                <a:solidFill>
                  <a:srgbClr val="FFFFFF"/>
                </a:solidFill>
                <a:latin typeface="微软雅黑"/>
                <a:ea typeface="微软雅黑"/>
              </a:rPr>
              <a:t>共建一个可复制的 AI 产业空间运营新模式。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9204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0">
                <a:solidFill>
                  <a:srgbClr val="E8EEF6"/>
                </a:solidFill>
                <a:latin typeface="微软雅黑"/>
                <a:ea typeface="微软雅黑"/>
              </a:rPr>
              <a:t>对方提供“资源平台”（空间 + 政府背书 + 双创资源），腾讯云提供“算力 + 技术底座”；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0">
                <a:solidFill>
                  <a:srgbClr val="E8EEF6"/>
                </a:solidFill>
                <a:latin typeface="微软雅黑"/>
                <a:ea typeface="微软雅黑"/>
              </a:rPr>
              <a:t>我们补上“内容 + 运营 + 产业导入 + 商业化变现”，并用「超级孵化器」批量孵化 OPC，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F2B632"/>
                </a:solidFill>
                <a:latin typeface="微软雅黑"/>
                <a:ea typeface="微软雅黑"/>
              </a:rPr>
              <a:t>（AI 一人公司 / 超级个体）—— 让所有 OPC 在生态链里完成闭环。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16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143000"/>
          </a:xfrm>
          <a:prstGeom prst="rect">
            <a:avLst/>
          </a:prstGeom>
          <a:solidFill>
            <a:srgbClr val="F2B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515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16B8C6"/>
                </a:solidFill>
                <a:latin typeface="微软雅黑"/>
                <a:ea typeface="微软雅黑"/>
              </a:rPr>
              <a:t>RESOURCES · 资源禀赋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五方资源盘点：空间 × 内容 × 算力，三位一体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146304"/>
            <a:ext cx="1188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4000" b="1">
                <a:solidFill>
                  <a:srgbClr val="2C446E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5394960" cy="3977639"/>
          </a:xfrm>
          <a:prstGeom prst="rect">
            <a:avLst/>
          </a:prstGeom>
          <a:solidFill>
            <a:srgbClr val="E8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5394960" cy="502920"/>
          </a:xfrm>
          <a:prstGeom prst="rect">
            <a:avLst/>
          </a:prstGeom>
          <a:solidFill>
            <a:srgbClr val="1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5120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对方 · 资源平台（壳）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011680"/>
            <a:ext cx="5029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00" b="1">
                <a:solidFill>
                  <a:srgbClr val="1B4F9C"/>
                </a:solidFill>
                <a:latin typeface="微软雅黑"/>
              </a:rPr>
              <a:t>▍</a:t>
            </a:r>
            <a:r>
              <a:rPr sz="1300" b="1">
                <a:solidFill>
                  <a:srgbClr val="1A2638"/>
                </a:solidFill>
                <a:latin typeface="微软雅黑"/>
              </a:rPr>
              <a:t>云计算创新基地：  </a:t>
            </a:r>
            <a:r>
              <a:rPr sz="1300" b="0">
                <a:solidFill>
                  <a:srgbClr val="5B6B82"/>
                </a:solidFill>
                <a:latin typeface="微软雅黑"/>
              </a:rPr>
              <a:t>产业承载空间 + 企业集聚载体，孵化器/加速器/总部基地/人才实训“四位一体”。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00" b="1">
                <a:solidFill>
                  <a:srgbClr val="1B4F9C"/>
                </a:solidFill>
                <a:latin typeface="微软雅黑"/>
              </a:rPr>
              <a:t>▍</a:t>
            </a:r>
            <a:r>
              <a:rPr sz="1300" b="1">
                <a:solidFill>
                  <a:srgbClr val="1A2638"/>
                </a:solidFill>
                <a:latin typeface="微软雅黑"/>
              </a:rPr>
              <a:t>五角场创新创业学院：  </a:t>
            </a:r>
            <a:r>
              <a:rPr sz="1300" b="0">
                <a:solidFill>
                  <a:srgbClr val="5B6B82"/>
                </a:solidFill>
                <a:latin typeface="微软雅黑"/>
              </a:rPr>
              <a:t>双创资源连接器，“募课”模式、长三角科创板预备营等全周期服务。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00" b="1">
                <a:solidFill>
                  <a:srgbClr val="1B4F9C"/>
                </a:solidFill>
                <a:latin typeface="微软雅黑"/>
              </a:rPr>
              <a:t>▍</a:t>
            </a:r>
            <a:r>
              <a:rPr sz="1300" b="1">
                <a:solidFill>
                  <a:srgbClr val="1A2638"/>
                </a:solidFill>
                <a:latin typeface="微软雅黑"/>
              </a:rPr>
              <a:t>缺口：  </a:t>
            </a:r>
            <a:r>
              <a:rPr sz="1300" b="0">
                <a:solidFill>
                  <a:srgbClr val="5B6B82"/>
                </a:solidFill>
                <a:latin typeface="微软雅黑"/>
              </a:rPr>
              <a:t>产业内容不足 + 运营能力缺失，物业易空置。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371600"/>
            <a:ext cx="5394960" cy="3977639"/>
          </a:xfrm>
          <a:prstGeom prst="rect">
            <a:avLst/>
          </a:prstGeom>
          <a:solidFill>
            <a:srgbClr val="EA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371600"/>
            <a:ext cx="5394960" cy="502920"/>
          </a:xfrm>
          <a:prstGeom prst="rect">
            <a:avLst/>
          </a:prstGeom>
          <a:solidFill>
            <a:srgbClr val="16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371600"/>
            <a:ext cx="5120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我方 · 内容运营方（芯）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011680"/>
            <a:ext cx="5029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00" b="1">
                <a:solidFill>
                  <a:srgbClr val="16B8C6"/>
                </a:solidFill>
                <a:latin typeface="微软雅黑"/>
              </a:rPr>
              <a:t>▍</a:t>
            </a:r>
            <a:r>
              <a:rPr sz="1300" b="1">
                <a:solidFill>
                  <a:srgbClr val="1A2638"/>
                </a:solidFill>
                <a:latin typeface="微软雅黑"/>
              </a:rPr>
              <a:t>复旦住房政策研究中心：  </a:t>
            </a:r>
            <a:r>
              <a:rPr sz="1300" b="0">
                <a:solidFill>
                  <a:srgbClr val="5B6B82"/>
                </a:solidFill>
                <a:latin typeface="微软雅黑"/>
              </a:rPr>
              <a:t>城市更新、存量盘活、产业社区规划与政策背书。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00" b="1">
                <a:solidFill>
                  <a:srgbClr val="16B8C6"/>
                </a:solidFill>
                <a:latin typeface="微软雅黑"/>
              </a:rPr>
              <a:t>▍</a:t>
            </a:r>
            <a:r>
              <a:rPr sz="1300" b="1">
                <a:solidFill>
                  <a:srgbClr val="1A2638"/>
                </a:solidFill>
                <a:latin typeface="微软雅黑"/>
              </a:rPr>
              <a:t>AI 商业化落地组委会：  </a:t>
            </a:r>
            <a:r>
              <a:rPr sz="1300" b="0">
                <a:solidFill>
                  <a:srgbClr val="5B6B82"/>
                </a:solidFill>
                <a:latin typeface="微软雅黑"/>
              </a:rPr>
              <a:t>5·22 峰会汇聚 AI 全产业链企业与投融资资源。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00" b="1">
                <a:solidFill>
                  <a:srgbClr val="16B8C6"/>
                </a:solidFill>
                <a:latin typeface="微软雅黑"/>
              </a:rPr>
              <a:t>▍</a:t>
            </a:r>
            <a:r>
              <a:rPr sz="1300" b="1">
                <a:solidFill>
                  <a:srgbClr val="1A2638"/>
                </a:solidFill>
                <a:latin typeface="微软雅黑"/>
              </a:rPr>
              <a:t>杨浦区科技企业联合会：  </a:t>
            </a:r>
            <a:r>
              <a:rPr sz="1300" b="0">
                <a:solidFill>
                  <a:srgbClr val="5B6B82"/>
                </a:solidFill>
                <a:latin typeface="微软雅黑"/>
              </a:rPr>
              <a:t>覆盖七大战新产业会员企业网络，直接招商渠道。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00" b="1">
                <a:solidFill>
                  <a:srgbClr val="16B8C6"/>
                </a:solidFill>
                <a:latin typeface="微软雅黑"/>
              </a:rPr>
              <a:t>▍</a:t>
            </a:r>
            <a:r>
              <a:rPr sz="1300" b="1">
                <a:solidFill>
                  <a:srgbClr val="1A2638"/>
                </a:solidFill>
                <a:latin typeface="微软雅黑"/>
              </a:rPr>
              <a:t>您本人：  </a:t>
            </a:r>
            <a:r>
              <a:rPr sz="1300" b="0">
                <a:solidFill>
                  <a:srgbClr val="5B6B82"/>
                </a:solidFill>
                <a:latin typeface="微软雅黑"/>
              </a:rPr>
              <a:t>跨组织协同纽带 + 轻资产拓展操盘能力（关键）。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5486400"/>
            <a:ext cx="11155680" cy="8686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5486400"/>
            <a:ext cx="146304" cy="868680"/>
          </a:xfrm>
          <a:prstGeom prst="rect">
            <a:avLst/>
          </a:prstGeom>
          <a:solidFill>
            <a:srgbClr val="F2B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532120"/>
            <a:ext cx="106070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F2B632"/>
                </a:solidFill>
                <a:latin typeface="微软雅黑"/>
                <a:ea typeface="微软雅黑"/>
              </a:rPr>
              <a:t>新伙伴 · 腾讯云（算力与技术底座）：</a:t>
            </a:r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算力补贴 + 混元大模型/API + 云开发技术中台 + 初创扶持计划 —— 补齐“算力+技术”底座，支撑 OPC 规模化孵化。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16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143000"/>
          </a:xfrm>
          <a:prstGeom prst="rect">
            <a:avLst/>
          </a:prstGeom>
          <a:solidFill>
            <a:srgbClr val="F2B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515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16B8C6"/>
                </a:solidFill>
                <a:latin typeface="微软雅黑"/>
                <a:ea typeface="微软雅黑"/>
              </a:rPr>
              <a:t>INSIGHT · 核心判断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两大诉求的背后，是“内容 + 运营”的缺口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146304"/>
            <a:ext cx="1188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4000" b="1">
                <a:solidFill>
                  <a:srgbClr val="2C446E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54480"/>
            <a:ext cx="5394960" cy="2011680"/>
          </a:xfrm>
          <a:prstGeom prst="rect">
            <a:avLst/>
          </a:prstGeom>
          <a:solidFill>
            <a:srgbClr val="E8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54480"/>
            <a:ext cx="5394960" cy="566928"/>
          </a:xfrm>
          <a:prstGeom prst="rect">
            <a:avLst/>
          </a:prstGeom>
          <a:solidFill>
            <a:srgbClr val="1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554480"/>
            <a:ext cx="51206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诉求 1 · 轻资产拓展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212848"/>
            <a:ext cx="508406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50" b="0">
                <a:solidFill>
                  <a:srgbClr val="1A2638"/>
                </a:solidFill>
                <a:latin typeface="微软雅黑"/>
                <a:ea typeface="微软雅黑"/>
              </a:rPr>
              <a:t>以大学路五角场创新创业学院为基础，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50" b="0">
                <a:solidFill>
                  <a:srgbClr val="1A2638"/>
                </a:solidFill>
                <a:latin typeface="微软雅黑"/>
                <a:ea typeface="微软雅黑"/>
              </a:rPr>
              <a:t>寻找高空置率物业进行合作。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50" b="0">
                <a:solidFill>
                  <a:srgbClr val="1A2638"/>
                </a:solidFill>
                <a:latin typeface="微软雅黑"/>
                <a:ea typeface="微软雅黑"/>
              </a:rPr>
              <a:t>痛点：业主方凭什么把盘子交出来？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554480"/>
            <a:ext cx="5394960" cy="2011680"/>
          </a:xfrm>
          <a:prstGeom prst="rect">
            <a:avLst/>
          </a:prstGeom>
          <a:solidFill>
            <a:srgbClr val="E8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554480"/>
            <a:ext cx="5394960" cy="566928"/>
          </a:xfrm>
          <a:prstGeom prst="rect">
            <a:avLst/>
          </a:prstGeom>
          <a:solidFill>
            <a:srgbClr val="1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1554480"/>
            <a:ext cx="51206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诉求 2 · 招商对接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2212848"/>
            <a:ext cx="508406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50" b="0">
                <a:solidFill>
                  <a:srgbClr val="1A2638"/>
                </a:solidFill>
                <a:latin typeface="微软雅黑"/>
                <a:ea typeface="微软雅黑"/>
              </a:rPr>
              <a:t>为产业办公用地寻找招商租客，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50" b="0">
                <a:solidFill>
                  <a:srgbClr val="1A2638"/>
                </a:solidFill>
                <a:latin typeface="微软雅黑"/>
                <a:ea typeface="微软雅黑"/>
              </a:rPr>
              <a:t>吸引企业入驻。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50" b="0">
                <a:solidFill>
                  <a:srgbClr val="1A2638"/>
                </a:solidFill>
                <a:latin typeface="微软雅黑"/>
                <a:ea typeface="微软雅黑"/>
              </a:rPr>
              <a:t>痛点：纯中介式招商无护城河、匹配度低。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840480"/>
            <a:ext cx="11155680" cy="2286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840480"/>
            <a:ext cx="146304" cy="2286000"/>
          </a:xfrm>
          <a:prstGeom prst="rect">
            <a:avLst/>
          </a:prstGeom>
          <a:solidFill>
            <a:srgbClr val="F2B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0690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16B8C6"/>
                </a:solidFill>
                <a:latin typeface="微软雅黑"/>
                <a:ea typeface="微软雅黑"/>
              </a:rPr>
              <a:t>本质问题不是物业和招商，而是 ——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61772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产业内容不足  +  运营能力缺失。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E8EEF6"/>
                </a:solidFill>
                <a:latin typeface="微软雅黑"/>
                <a:ea typeface="微软雅黑"/>
              </a:rPr>
              <a:t>我们恰好能补这块能力，并把“找物业 / 找租客”升级为“资产重塑 + 生态导入”。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16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143000"/>
          </a:xfrm>
          <a:prstGeom prst="rect">
            <a:avLst/>
          </a:prstGeom>
          <a:solidFill>
            <a:srgbClr val="F2B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515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16B8C6"/>
                </a:solidFill>
                <a:latin typeface="微软雅黑"/>
                <a:ea typeface="微软雅黑"/>
              </a:rPr>
              <a:t>合作点 1 · 轻资产拓展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从“找空置”升级为“资产重塑与联营”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146304"/>
            <a:ext cx="1188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4000" b="1">
                <a:solidFill>
                  <a:srgbClr val="2C446E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08760"/>
            <a:ext cx="3566160" cy="2331720"/>
          </a:xfrm>
          <a:prstGeom prst="rect">
            <a:avLst/>
          </a:prstGeom>
          <a:solidFill>
            <a:srgbClr val="E8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08760"/>
            <a:ext cx="3566160" cy="566928"/>
          </a:xfrm>
          <a:prstGeom prst="rect">
            <a:avLst/>
          </a:prstGeom>
          <a:solidFill>
            <a:srgbClr val="1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508760"/>
            <a:ext cx="32918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① 政产学研赋能包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167128"/>
            <a:ext cx="3255264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50" b="0">
                <a:solidFill>
                  <a:srgbClr val="1A2638"/>
                </a:solidFill>
                <a:latin typeface="微软雅黑"/>
                <a:ea typeface="微软雅黑"/>
              </a:rPr>
              <a:t>复旦中心出具区域产业焕新 / 城市更新评估，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50" b="0">
                <a:solidFill>
                  <a:srgbClr val="1A2638"/>
                </a:solidFill>
                <a:latin typeface="微软雅黑"/>
                <a:ea typeface="微软雅黑"/>
              </a:rPr>
              <a:t>为国企、政府平台业主方提供理论背书，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50" b="0">
                <a:solidFill>
                  <a:srgbClr val="1A2638"/>
                </a:solidFill>
                <a:latin typeface="微软雅黑"/>
                <a:ea typeface="微软雅黑"/>
              </a:rPr>
              <a:t>大幅提升交盘信任度与合作意愿。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508760"/>
            <a:ext cx="3566160" cy="2331720"/>
          </a:xfrm>
          <a:prstGeom prst="rect">
            <a:avLst/>
          </a:prstGeom>
          <a:solidFill>
            <a:srgbClr val="E8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508760"/>
            <a:ext cx="3566160" cy="566928"/>
          </a:xfrm>
          <a:prstGeom prst="rect">
            <a:avLst/>
          </a:prstGeom>
          <a:solidFill>
            <a:srgbClr val="1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62272" y="1508760"/>
            <a:ext cx="32918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② 复用操盘 · 品牌+运营双输出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2272" y="2167128"/>
            <a:ext cx="3255264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50" b="0">
                <a:solidFill>
                  <a:srgbClr val="1A2638"/>
                </a:solidFill>
                <a:latin typeface="微软雅黑"/>
                <a:ea typeface="微软雅黑"/>
              </a:rPr>
              <a:t>复用杨浦科技商业广场出租率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50" b="0">
                <a:solidFill>
                  <a:srgbClr val="1A2638"/>
                </a:solidFill>
                <a:latin typeface="微软雅黑"/>
                <a:ea typeface="微软雅黑"/>
              </a:rPr>
              <a:t>70% → 90%+ 的盘活逻辑；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50" b="0">
                <a:solidFill>
                  <a:srgbClr val="1A2638"/>
                </a:solidFill>
                <a:latin typeface="微软雅黑"/>
                <a:ea typeface="微软雅黑"/>
              </a:rPr>
              <a:t>对方输出品牌+产业资源，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50" b="0">
                <a:solidFill>
                  <a:srgbClr val="1A2638"/>
                </a:solidFill>
                <a:latin typeface="微软雅黑"/>
                <a:ea typeface="微软雅黑"/>
              </a:rPr>
              <a:t>我方输出资产调改与运营体系。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1508760"/>
            <a:ext cx="3566160" cy="2331720"/>
          </a:xfrm>
          <a:prstGeom prst="rect">
            <a:avLst/>
          </a:prstGeom>
          <a:solidFill>
            <a:srgbClr val="E8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508760"/>
            <a:ext cx="3566160" cy="566928"/>
          </a:xfrm>
          <a:prstGeom prst="rect">
            <a:avLst/>
          </a:prstGeom>
          <a:solidFill>
            <a:srgbClr val="1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57032" y="1508760"/>
            <a:ext cx="32918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③ 主题先导区 · 产品化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2" y="2167128"/>
            <a:ext cx="3255264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50" b="0">
                <a:solidFill>
                  <a:srgbClr val="1A2638"/>
                </a:solidFill>
                <a:latin typeface="微软雅黑"/>
                <a:ea typeface="微软雅黑"/>
              </a:rPr>
              <a:t>不做传统二房东，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50" b="0">
                <a:solidFill>
                  <a:srgbClr val="1A2638"/>
                </a:solidFill>
                <a:latin typeface="微软雅黑"/>
                <a:ea typeface="微软雅黑"/>
              </a:rPr>
              <a:t>包装为“AI+产业加速器空间”，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50" b="0">
                <a:solidFill>
                  <a:srgbClr val="1A2638"/>
                </a:solidFill>
                <a:latin typeface="微软雅黑"/>
                <a:ea typeface="微软雅黑"/>
              </a:rPr>
              <a:t>如挂牌“杨浦大模型商业应用先导区”，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50" b="0">
                <a:solidFill>
                  <a:srgbClr val="1A2638"/>
                </a:solidFill>
                <a:latin typeface="微软雅黑"/>
                <a:ea typeface="微软雅黑"/>
              </a:rPr>
              <a:t>以明确定位提升物业溢价。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069080"/>
            <a:ext cx="11155680" cy="2194560"/>
          </a:xfrm>
          <a:prstGeom prst="rect">
            <a:avLst/>
          </a:prstGeom>
          <a:solidFill>
            <a:srgbClr val="EA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2062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1B4F9C"/>
                </a:solidFill>
                <a:latin typeface="微软雅黑"/>
                <a:ea typeface="微软雅黑"/>
              </a:rPr>
              <a:t>空间产品形态（把物业变成可持续招商、可变现的“产业产品”）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754880"/>
            <a:ext cx="251460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4754880"/>
            <a:ext cx="91440" cy="1280160"/>
          </a:xfrm>
          <a:prstGeom prst="rect">
            <a:avLst/>
          </a:prstGeom>
          <a:solidFill>
            <a:srgbClr val="16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754880"/>
            <a:ext cx="22860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1A2638"/>
                </a:solidFill>
                <a:latin typeface="微软雅黑"/>
                <a:ea typeface="微软雅黑"/>
              </a:rPr>
              <a:t>AI 企业轻办公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74720" y="4754880"/>
            <a:ext cx="251460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474720" y="4754880"/>
            <a:ext cx="91440" cy="1280160"/>
          </a:xfrm>
          <a:prstGeom prst="rect">
            <a:avLst/>
          </a:prstGeom>
          <a:solidFill>
            <a:srgbClr val="16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4754880"/>
            <a:ext cx="22860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1A2638"/>
                </a:solidFill>
                <a:latin typeface="微软雅黑"/>
                <a:ea typeface="微软雅黑"/>
              </a:rPr>
              <a:t>AI 应用展示厅（可招商）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4754880"/>
            <a:ext cx="251460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4754880"/>
            <a:ext cx="91440" cy="1280160"/>
          </a:xfrm>
          <a:prstGeom prst="rect">
            <a:avLst/>
          </a:prstGeom>
          <a:solidFill>
            <a:srgbClr val="16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4754880"/>
            <a:ext cx="22860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1A2638"/>
                </a:solidFill>
                <a:latin typeface="微软雅黑"/>
                <a:ea typeface="微软雅黑"/>
              </a:rPr>
              <a:t>AI 路演 / 活动厅（变现）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61120" y="4754880"/>
            <a:ext cx="251460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961120" y="4754880"/>
            <a:ext cx="91440" cy="1280160"/>
          </a:xfrm>
          <a:prstGeom prst="rect">
            <a:avLst/>
          </a:prstGeom>
          <a:solidFill>
            <a:srgbClr val="16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0" y="4754880"/>
            <a:ext cx="22860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1A2638"/>
                </a:solidFill>
                <a:latin typeface="微软雅黑"/>
                <a:ea typeface="微软雅黑"/>
              </a:rPr>
              <a:t>算力接入点（云基地结合）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16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143000"/>
          </a:xfrm>
          <a:prstGeom prst="rect">
            <a:avLst/>
          </a:prstGeom>
          <a:solidFill>
            <a:srgbClr val="F2B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515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16B8C6"/>
                </a:solidFill>
                <a:latin typeface="微软雅黑"/>
                <a:ea typeface="微软雅黑"/>
              </a:rPr>
              <a:t>合作点 2 · 招商对接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从“盲目找租客”转向“生态圈定向导入”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146304"/>
            <a:ext cx="1188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4000" b="1">
                <a:solidFill>
                  <a:srgbClr val="2C446E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1B4F9C"/>
                </a:solidFill>
                <a:latin typeface="微软雅黑"/>
                <a:ea typeface="微软雅黑"/>
              </a:rPr>
              <a:t>不是招商，而是帮对方构建一个产业生态结构 —— 分层招商模型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874519"/>
          <a:ext cx="70408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103120"/>
                <a:gridCol w="2011680"/>
                <a:gridCol w="2011680"/>
              </a:tblGrid>
              <a:tr h="5943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层级</a:t>
                      </a:r>
                    </a:p>
                  </a:txBody>
                  <a:tcPr anchor="ctr" marL="91440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类型</a:t>
                      </a:r>
                    </a:p>
                  </a:txBody>
                  <a:tcPr anchor="ctr" marL="91440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来源</a:t>
                      </a:r>
                    </a:p>
                  </a:txBody>
                  <a:tcPr anchor="ctr" marL="91440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作用</a:t>
                      </a:r>
                    </a:p>
                  </a:txBody>
                  <a:tcPr anchor="ctr" marL="91440" marR="73152" marT="36576" marB="36576">
                    <a:solidFill>
                      <a:srgbClr val="0B1F3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638"/>
                          </a:solidFill>
                          <a:latin typeface="微软雅黑"/>
                        </a:rPr>
                        <a:t>S 层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638"/>
                          </a:solidFill>
                          <a:latin typeface="微软雅黑"/>
                        </a:rPr>
                        <a:t>AI 独角兽 / 龙头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638"/>
                          </a:solidFill>
                          <a:latin typeface="微软雅黑"/>
                        </a:rPr>
                        <a:t>组委会 / 峰会资源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638"/>
                          </a:solidFill>
                          <a:latin typeface="微软雅黑"/>
                        </a:rPr>
                        <a:t>提升品牌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638"/>
                          </a:solidFill>
                          <a:latin typeface="微软雅黑"/>
                        </a:rPr>
                        <a:t>A 层</a:t>
                      </a:r>
                    </a:p>
                  </a:txBody>
                  <a:tcPr anchor="ctr" marL="91440" marR="73152" marT="36576" marB="36576"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638"/>
                          </a:solidFill>
                          <a:latin typeface="微软雅黑"/>
                        </a:rPr>
                        <a:t>成长型 AI 公司</a:t>
                      </a:r>
                    </a:p>
                  </a:txBody>
                  <a:tcPr anchor="ctr" marL="91440" marR="73152" marT="36576" marB="36576"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638"/>
                          </a:solidFill>
                          <a:latin typeface="微软雅黑"/>
                        </a:rPr>
                        <a:t>联合会 / 复旦</a:t>
                      </a:r>
                    </a:p>
                  </a:txBody>
                  <a:tcPr anchor="ctr" marL="91440" marR="73152" marT="36576" marB="36576"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638"/>
                          </a:solidFill>
                          <a:latin typeface="微软雅黑"/>
                        </a:rPr>
                        <a:t>稳定租金</a:t>
                      </a:r>
                    </a:p>
                  </a:txBody>
                  <a:tcPr anchor="ctr" marL="91440" marR="73152" marT="36576" marB="36576">
                    <a:solidFill>
                      <a:srgbClr val="EDF2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638"/>
                          </a:solidFill>
                          <a:latin typeface="微软雅黑"/>
                        </a:rPr>
                        <a:t>B 层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638"/>
                          </a:solidFill>
                          <a:latin typeface="微软雅黑"/>
                        </a:rPr>
                        <a:t>初创团队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638"/>
                          </a:solidFill>
                          <a:latin typeface="微软雅黑"/>
                        </a:rPr>
                        <a:t>学院 / 孵化器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638"/>
                          </a:solidFill>
                          <a:latin typeface="微软雅黑"/>
                        </a:rPr>
                        <a:t>填充空间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863840" y="1828800"/>
            <a:ext cx="3840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00" b="1">
                <a:solidFill>
                  <a:srgbClr val="16B8C6"/>
                </a:solidFill>
                <a:latin typeface="微软雅黑"/>
              </a:rPr>
              <a:t>▍</a:t>
            </a:r>
            <a:r>
              <a:rPr sz="1300" b="1">
                <a:solidFill>
                  <a:srgbClr val="1A2638"/>
                </a:solidFill>
                <a:latin typeface="微软雅黑"/>
              </a:rPr>
              <a:t>承接峰会长尾红利：  </a:t>
            </a:r>
            <a:r>
              <a:rPr sz="1300" b="0">
                <a:solidFill>
                  <a:srgbClr val="5B6B82"/>
                </a:solidFill>
                <a:latin typeface="微软雅黑"/>
              </a:rPr>
              <a:t>将联合会内有扩张/选址需求企业作为首批“种子租客”定向导入。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00" b="1">
                <a:solidFill>
                  <a:srgbClr val="16B8C6"/>
                </a:solidFill>
                <a:latin typeface="微软雅黑"/>
              </a:rPr>
              <a:t>▍</a:t>
            </a:r>
            <a:r>
              <a:rPr sz="1300" b="1">
                <a:solidFill>
                  <a:srgbClr val="1A2638"/>
                </a:solidFill>
                <a:latin typeface="微软雅黑"/>
              </a:rPr>
              <a:t>AI 落地赋能包作招商诱饵：  </a:t>
            </a:r>
            <a:r>
              <a:rPr sz="1300" b="0">
                <a:solidFill>
                  <a:srgbClr val="5B6B82"/>
                </a:solidFill>
                <a:latin typeface="微软雅黑"/>
              </a:rPr>
              <a:t>AI 招聘/视频矩阵/数据分析等工作流打包为“智慧企业入驻包”。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00" b="1">
                <a:solidFill>
                  <a:srgbClr val="16B8C6"/>
                </a:solidFill>
                <a:latin typeface="微软雅黑"/>
              </a:rPr>
              <a:t>▍</a:t>
            </a:r>
            <a:r>
              <a:rPr sz="1300" b="1">
                <a:solidFill>
                  <a:srgbClr val="1A2638"/>
                </a:solidFill>
                <a:latin typeface="微软雅黑"/>
              </a:rPr>
              <a:t>科技金融加速器节点：  </a:t>
            </a:r>
            <a:r>
              <a:rPr sz="1300" b="0">
                <a:solidFill>
                  <a:srgbClr val="5B6B82"/>
                </a:solidFill>
                <a:latin typeface="微软雅黑"/>
              </a:rPr>
              <a:t>联合泰隆银行等，设专属科技金融触点，空间+技术+资本闭环。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16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143000"/>
          </a:xfrm>
          <a:prstGeom prst="rect">
            <a:avLst/>
          </a:prstGeom>
          <a:solidFill>
            <a:srgbClr val="F2B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515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16B8C6"/>
                </a:solidFill>
                <a:latin typeface="微软雅黑"/>
                <a:ea typeface="微软雅黑"/>
              </a:rPr>
              <a:t>差异化杀手锏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AI 商业化落地试验场（Demo City）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146304"/>
            <a:ext cx="1188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4000" b="1">
                <a:solidFill>
                  <a:srgbClr val="2C446E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1B4F9C"/>
                </a:solidFill>
                <a:latin typeface="微软雅黑"/>
                <a:ea typeface="微软雅黑"/>
              </a:rPr>
              <a:t>把这里做成“上海 AI 商业化落地样板点”，而不是一个普通产业园。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011680"/>
            <a:ext cx="3520440" cy="1737360"/>
          </a:xfrm>
          <a:prstGeom prst="rect">
            <a:avLst/>
          </a:prstGeom>
          <a:solidFill>
            <a:srgbClr val="E8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011680"/>
            <a:ext cx="3520440" cy="566928"/>
          </a:xfrm>
          <a:prstGeom prst="rect">
            <a:avLst/>
          </a:prstGeom>
          <a:solidFill>
            <a:srgbClr val="1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2011680"/>
            <a:ext cx="32461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云计算基地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670048"/>
            <a:ext cx="3209544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50" b="0">
                <a:solidFill>
                  <a:srgbClr val="1A2638"/>
                </a:solidFill>
                <a:latin typeface="微软雅黑"/>
                <a:ea typeface="微软雅黑"/>
              </a:rPr>
              <a:t>提供算力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50" b="0">
                <a:solidFill>
                  <a:srgbClr val="1A2638"/>
                </a:solidFill>
                <a:latin typeface="微软雅黑"/>
                <a:ea typeface="微软雅黑"/>
              </a:rPr>
              <a:t>提供真实落地场景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2011680"/>
            <a:ext cx="3520440" cy="1737360"/>
          </a:xfrm>
          <a:prstGeom prst="rect">
            <a:avLst/>
          </a:prstGeom>
          <a:solidFill>
            <a:srgbClr val="E8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2011680"/>
            <a:ext cx="3520440" cy="566928"/>
          </a:xfrm>
          <a:prstGeom prst="rect">
            <a:avLst/>
          </a:prstGeom>
          <a:solidFill>
            <a:srgbClr val="16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62272" y="2011680"/>
            <a:ext cx="32461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创新创业学院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2" y="2670048"/>
            <a:ext cx="3209544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50" b="0">
                <a:solidFill>
                  <a:srgbClr val="1A2638"/>
                </a:solidFill>
                <a:latin typeface="微软雅黑"/>
                <a:ea typeface="微软雅黑"/>
              </a:rPr>
              <a:t>提供人才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50" b="0">
                <a:solidFill>
                  <a:srgbClr val="1A2638"/>
                </a:solidFill>
                <a:latin typeface="微软雅黑"/>
                <a:ea typeface="微软雅黑"/>
              </a:rPr>
              <a:t>提供课程与培训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2011680"/>
            <a:ext cx="3520440" cy="1737360"/>
          </a:xfrm>
          <a:prstGeom prst="rect">
            <a:avLst/>
          </a:prstGeom>
          <a:solidFill>
            <a:srgbClr val="E8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2011680"/>
            <a:ext cx="3520440" cy="566928"/>
          </a:xfrm>
          <a:prstGeom prst="rect">
            <a:avLst/>
          </a:prstGeom>
          <a:solidFill>
            <a:srgbClr val="F2B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2" y="2011680"/>
            <a:ext cx="32461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0B1F3A"/>
                </a:solidFill>
                <a:latin typeface="微软雅黑"/>
                <a:ea typeface="微软雅黑"/>
              </a:rPr>
              <a:t>我们四方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2" y="2670048"/>
            <a:ext cx="3209544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50" b="0">
                <a:solidFill>
                  <a:srgbClr val="1A2638"/>
                </a:solidFill>
                <a:latin typeface="微软雅黑"/>
                <a:ea typeface="微软雅黑"/>
              </a:rPr>
              <a:t>提供项目与企业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50" b="0">
                <a:solidFill>
                  <a:srgbClr val="1A2638"/>
                </a:solidFill>
                <a:latin typeface="微软雅黑"/>
                <a:ea typeface="微软雅黑"/>
              </a:rPr>
              <a:t>提供商业化方法论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023360"/>
            <a:ext cx="11155680" cy="2194560"/>
          </a:xfrm>
          <a:prstGeom prst="rect">
            <a:avLst/>
          </a:prstGeom>
          <a:solidFill>
            <a:srgbClr val="EA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1605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1B4F9C"/>
                </a:solidFill>
                <a:latin typeface="微软雅黑"/>
                <a:ea typeface="微软雅黑"/>
              </a:rPr>
              <a:t>三大落地场景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709160"/>
            <a:ext cx="338328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4709160"/>
            <a:ext cx="91440" cy="1325880"/>
          </a:xfrm>
          <a:prstGeom prst="rect">
            <a:avLst/>
          </a:prstGeom>
          <a:solidFill>
            <a:srgbClr val="F2B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4800600"/>
            <a:ext cx="310896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1">
                <a:solidFill>
                  <a:srgbClr val="1A2638"/>
                </a:solidFill>
                <a:latin typeface="微软雅黑"/>
                <a:ea typeface="微软雅黑"/>
              </a:rPr>
              <a:t>AI + 零售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5B6B82"/>
                </a:solidFill>
                <a:latin typeface="微软雅黑"/>
                <a:ea typeface="微软雅黑"/>
              </a:rPr>
              <a:t>依托大学路商业场景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0" y="4709160"/>
            <a:ext cx="338328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89120" y="4709160"/>
            <a:ext cx="91440" cy="1325880"/>
          </a:xfrm>
          <a:prstGeom prst="rect">
            <a:avLst/>
          </a:prstGeom>
          <a:solidFill>
            <a:srgbClr val="F2B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90288" y="4800600"/>
            <a:ext cx="310896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1">
                <a:solidFill>
                  <a:srgbClr val="1A2638"/>
                </a:solidFill>
                <a:latin typeface="微软雅黑"/>
                <a:ea typeface="微软雅黑"/>
              </a:rPr>
              <a:t>AI + 商业地产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5B6B82"/>
                </a:solidFill>
                <a:latin typeface="微软雅黑"/>
                <a:ea typeface="微软雅黑"/>
              </a:rPr>
              <a:t>空置物业智能盘活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6720" y="4709160"/>
            <a:ext cx="338328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46720" y="4709160"/>
            <a:ext cx="91440" cy="1325880"/>
          </a:xfrm>
          <a:prstGeom prst="rect">
            <a:avLst/>
          </a:prstGeom>
          <a:solidFill>
            <a:srgbClr val="F2B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47888" y="4800600"/>
            <a:ext cx="310896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1">
                <a:solidFill>
                  <a:srgbClr val="1A2638"/>
                </a:solidFill>
                <a:latin typeface="微软雅黑"/>
                <a:ea typeface="微软雅黑"/>
              </a:rPr>
              <a:t>AI + 办公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>
                <a:solidFill>
                  <a:srgbClr val="5B6B82"/>
                </a:solidFill>
                <a:latin typeface="微软雅黑"/>
                <a:ea typeface="微软雅黑"/>
              </a:rPr>
              <a:t>智能办公空间样板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16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143000"/>
          </a:xfrm>
          <a:prstGeom prst="rect">
            <a:avLst/>
          </a:prstGeom>
          <a:solidFill>
            <a:srgbClr val="F2B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515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16B8C6"/>
                </a:solidFill>
                <a:latin typeface="微软雅黑"/>
                <a:ea typeface="微软雅黑"/>
              </a:rPr>
              <a:t>新伙伴 · 腾讯云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引入腾讯云：补齐“算力 + 技术”全栈底座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146304"/>
            <a:ext cx="1188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4000" b="1">
                <a:solidFill>
                  <a:srgbClr val="2C446E"/>
                </a:solidFill>
                <a:latin typeface="微软雅黑"/>
                <a:ea typeface="微软雅黑"/>
              </a:rPr>
              <a:t>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1B4F9C"/>
                </a:solidFill>
                <a:latin typeface="微软雅黑"/>
                <a:ea typeface="微软雅黑"/>
              </a:rPr>
              <a:t>生态从“空间 + 产业”升级为“空间 + 产业 + 算力 + 技术”全栈闭环。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920240"/>
            <a:ext cx="2606040" cy="2331720"/>
          </a:xfrm>
          <a:prstGeom prst="rect">
            <a:avLst/>
          </a:prstGeom>
          <a:solidFill>
            <a:srgbClr val="E8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920240"/>
            <a:ext cx="2606040" cy="566928"/>
          </a:xfrm>
          <a:prstGeom prst="rect">
            <a:avLst/>
          </a:prstGeom>
          <a:solidFill>
            <a:srgbClr val="1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920240"/>
            <a:ext cx="23317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① 算力补贴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578608"/>
            <a:ext cx="2295144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50" b="0">
                <a:solidFill>
                  <a:srgbClr val="1A2638"/>
                </a:solidFill>
                <a:latin typeface="微软雅黑"/>
                <a:ea typeface="微软雅黑"/>
              </a:rPr>
              <a:t>为入驻 OPC / 企业发放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50" b="0">
                <a:solidFill>
                  <a:srgbClr val="1A2638"/>
                </a:solidFill>
                <a:latin typeface="微软雅黑"/>
                <a:ea typeface="微软雅黑"/>
              </a:rPr>
              <a:t>云资源代金券与算力补贴，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50" b="0">
                <a:solidFill>
                  <a:srgbClr val="1A2638"/>
                </a:solidFill>
                <a:latin typeface="微软雅黑"/>
                <a:ea typeface="微软雅黑"/>
              </a:rPr>
              <a:t>直接降本，跑通 AI 应用。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19272" y="1920240"/>
            <a:ext cx="2606040" cy="2331720"/>
          </a:xfrm>
          <a:prstGeom prst="rect">
            <a:avLst/>
          </a:prstGeom>
          <a:solidFill>
            <a:srgbClr val="E8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19272" y="1920240"/>
            <a:ext cx="2606040" cy="566928"/>
          </a:xfrm>
          <a:prstGeom prst="rect">
            <a:avLst/>
          </a:prstGeom>
          <a:solidFill>
            <a:srgbClr val="16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83864" y="1920240"/>
            <a:ext cx="23317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② 大模型与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83864" y="2578608"/>
            <a:ext cx="2295144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50" b="0">
                <a:solidFill>
                  <a:srgbClr val="1A2638"/>
                </a:solidFill>
                <a:latin typeface="微软雅黑"/>
                <a:ea typeface="微软雅黑"/>
              </a:rPr>
              <a:t>混元大模型、API、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50" b="0">
                <a:solidFill>
                  <a:srgbClr val="1A2638"/>
                </a:solidFill>
                <a:latin typeface="微软雅黑"/>
                <a:ea typeface="微软雅黑"/>
              </a:rPr>
              <a:t>Agent 开发工具，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50" b="0">
                <a:solidFill>
                  <a:srgbClr val="1A2638"/>
                </a:solidFill>
                <a:latin typeface="微软雅黑"/>
                <a:ea typeface="微软雅黑"/>
              </a:rPr>
              <a:t>加速 AI 应用快速落地。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35624" y="1920240"/>
            <a:ext cx="2606040" cy="2331720"/>
          </a:xfrm>
          <a:prstGeom prst="rect">
            <a:avLst/>
          </a:prstGeom>
          <a:solidFill>
            <a:srgbClr val="E8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35624" y="1920240"/>
            <a:ext cx="2606040" cy="566928"/>
          </a:xfrm>
          <a:prstGeom prst="rect">
            <a:avLst/>
          </a:prstGeom>
          <a:solidFill>
            <a:srgbClr val="1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0216" y="1920240"/>
            <a:ext cx="23317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③ 技术中台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216" y="2578608"/>
            <a:ext cx="2295144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50" b="0">
                <a:solidFill>
                  <a:srgbClr val="1A2638"/>
                </a:solidFill>
                <a:latin typeface="微软雅黑"/>
                <a:ea typeface="微软雅黑"/>
              </a:rPr>
              <a:t>云开发、数据库、音视频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50" b="0">
                <a:solidFill>
                  <a:srgbClr val="1A2638"/>
                </a:solidFill>
                <a:latin typeface="微软雅黑"/>
                <a:ea typeface="微软雅黑"/>
              </a:rPr>
              <a:t>等中台能力，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50" b="0">
                <a:solidFill>
                  <a:srgbClr val="1A2638"/>
                </a:solidFill>
                <a:latin typeface="微软雅黑"/>
                <a:ea typeface="微软雅黑"/>
              </a:rPr>
              <a:t>支撑 AI 工作流规模化。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51976" y="1920240"/>
            <a:ext cx="2606040" cy="2331720"/>
          </a:xfrm>
          <a:prstGeom prst="rect">
            <a:avLst/>
          </a:prstGeom>
          <a:solidFill>
            <a:srgbClr val="E8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51976" y="1920240"/>
            <a:ext cx="2606040" cy="566928"/>
          </a:xfrm>
          <a:prstGeom prst="rect">
            <a:avLst/>
          </a:prstGeom>
          <a:solidFill>
            <a:srgbClr val="F2B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16568" y="1920240"/>
            <a:ext cx="23317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0B1F3A"/>
                </a:solidFill>
                <a:latin typeface="微软雅黑"/>
                <a:ea typeface="微软雅黑"/>
              </a:rPr>
              <a:t>④ 创业扶持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16568" y="2578608"/>
            <a:ext cx="2295144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50" b="0">
                <a:solidFill>
                  <a:srgbClr val="1A2638"/>
                </a:solidFill>
                <a:latin typeface="微软雅黑"/>
                <a:ea typeface="微软雅黑"/>
              </a:rPr>
              <a:t>腾讯云初创扶持计划 +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50" b="0">
                <a:solidFill>
                  <a:srgbClr val="1A2638"/>
                </a:solidFill>
                <a:latin typeface="微软雅黑"/>
                <a:ea typeface="微软雅黑"/>
              </a:rPr>
              <a:t>生态资源对接，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50" b="0">
                <a:solidFill>
                  <a:srgbClr val="1A2638"/>
                </a:solidFill>
                <a:latin typeface="微软雅黑"/>
                <a:ea typeface="微软雅黑"/>
              </a:rPr>
              <a:t>技术背书提升招商力。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526280"/>
            <a:ext cx="11155680" cy="16916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4526280"/>
            <a:ext cx="146304" cy="1691640"/>
          </a:xfrm>
          <a:prstGeom prst="rect">
            <a:avLst/>
          </a:prstGeom>
          <a:solidFill>
            <a:srgbClr val="16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70916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600" b="1">
                <a:solidFill>
                  <a:srgbClr val="16B8C6"/>
                </a:solidFill>
                <a:latin typeface="微软雅黑"/>
                <a:ea typeface="微软雅黑"/>
              </a:rPr>
              <a:t>战略意义：</a:t>
            </a:r>
            <a:r>
              <a:rPr sz="1600" b="0">
                <a:solidFill>
                  <a:srgbClr val="FFFFFF"/>
                </a:solidFill>
                <a:latin typeface="微软雅黑"/>
                <a:ea typeface="微软雅黑"/>
              </a:rPr>
              <a:t>算力是 OPC（AI 一人公司）的“水电煤”。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0">
                <a:solidFill>
                  <a:srgbClr val="E8EEF6"/>
                </a:solidFill>
                <a:latin typeface="微软雅黑"/>
                <a:ea typeface="微软雅黑"/>
              </a:rPr>
              <a:t>腾讯云作底座，让“超级孵化器”能以极低成本批量孵化 OPC，把算力补贴转化为入驻黏性与招商利器，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1">
                <a:solidFill>
                  <a:srgbClr val="F2B632"/>
                </a:solidFill>
                <a:latin typeface="微软雅黑"/>
                <a:ea typeface="微软雅黑"/>
              </a:rPr>
              <a:t>最终形成“算力 → 孵化 → 落地 → 集聚”的产业闭环。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16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143000"/>
          </a:xfrm>
          <a:prstGeom prst="rect">
            <a:avLst/>
          </a:prstGeom>
          <a:solidFill>
            <a:srgbClr val="F2B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515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16B8C6"/>
                </a:solidFill>
                <a:latin typeface="微软雅黑"/>
                <a:ea typeface="微软雅黑"/>
              </a:rPr>
              <a:t>CORE · 产业闭环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超级孵化器 · OPC 孵化生态闭环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146304"/>
            <a:ext cx="1188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4000" b="1">
                <a:solidFill>
                  <a:srgbClr val="2C446E"/>
                </a:solidFill>
                <a:latin typeface="微软雅黑"/>
                <a:ea typeface="微软雅黑"/>
              </a:rPr>
              <a:t>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98448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1">
                <a:solidFill>
                  <a:srgbClr val="1B4F9C"/>
                </a:solidFill>
                <a:latin typeface="微软雅黑"/>
                <a:ea typeface="微软雅黑"/>
              </a:rPr>
              <a:t>OPC = AI 一人公司 / 超级个体：</a:t>
            </a:r>
            <a:r>
              <a:rPr sz="1400" b="0">
                <a:solidFill>
                  <a:srgbClr val="5B6B82"/>
                </a:solidFill>
                <a:latin typeface="微软雅黑"/>
                <a:ea typeface="微软雅黑"/>
              </a:rPr>
              <a:t>借助 AI 工作流，以极小团队完成过去整家公司的业务。五方联合「超级孵化器」批量孵化 OPC —— 这是生态的最小细胞，也是闭环的主角。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331720"/>
            <a:ext cx="2514600" cy="2331720"/>
          </a:xfrm>
          <a:prstGeom prst="rect">
            <a:avLst/>
          </a:prstGeom>
          <a:solidFill>
            <a:srgbClr val="E8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331720"/>
            <a:ext cx="2514600" cy="868680"/>
          </a:xfrm>
          <a:prstGeom prst="rect">
            <a:avLst/>
          </a:prstGeom>
          <a:solidFill>
            <a:srgbClr val="1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31720"/>
            <a:ext cx="2514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1 · 选育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743200"/>
            <a:ext cx="2514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AI 切磋者大会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" y="3337560"/>
            <a:ext cx="22402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>
                <a:solidFill>
                  <a:srgbClr val="1A2638"/>
                </a:solidFill>
                <a:latin typeface="微软雅黑"/>
                <a:ea typeface="微软雅黑"/>
              </a:rPr>
              <a:t>海选 / 比武发现优质 OPC 与项目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>
                <a:solidFill>
                  <a:srgbClr val="1A2638"/>
                </a:solidFill>
                <a:latin typeface="微软雅黑"/>
                <a:ea typeface="微软雅黑"/>
              </a:rPr>
              <a:t>组委会 + 联合会输送种子</a:t>
            </a:r>
          </a:p>
        </p:txBody>
      </p:sp>
      <p:sp>
        <p:nvSpPr>
          <p:cNvPr id="13" name="Chevron 12"/>
          <p:cNvSpPr/>
          <p:nvPr/>
        </p:nvSpPr>
        <p:spPr>
          <a:xfrm>
            <a:off x="3044952" y="3154680"/>
            <a:ext cx="201168" cy="640080"/>
          </a:xfrm>
          <a:prstGeom prst="chevron">
            <a:avLst/>
          </a:prstGeom>
          <a:solidFill>
            <a:srgbClr val="16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64408" y="2331720"/>
            <a:ext cx="2514600" cy="2331720"/>
          </a:xfrm>
          <a:prstGeom prst="rect">
            <a:avLst/>
          </a:prstGeom>
          <a:solidFill>
            <a:srgbClr val="E8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64408" y="2331720"/>
            <a:ext cx="2514600" cy="868680"/>
          </a:xfrm>
          <a:prstGeom prst="rect">
            <a:avLst/>
          </a:prstGeom>
          <a:solidFill>
            <a:srgbClr val="16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64408" y="2331720"/>
            <a:ext cx="2514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2 · 赋能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4408" y="2743200"/>
            <a:ext cx="2514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超级孵化器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10712" y="3337560"/>
            <a:ext cx="22402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>
                <a:solidFill>
                  <a:srgbClr val="1A2638"/>
                </a:solidFill>
                <a:latin typeface="微软雅黑"/>
                <a:ea typeface="微软雅黑"/>
              </a:rPr>
              <a:t>腾讯云算力补贴 + AI 工作流导入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>
                <a:solidFill>
                  <a:srgbClr val="1A2638"/>
                </a:solidFill>
                <a:latin typeface="微软雅黑"/>
                <a:ea typeface="微软雅黑"/>
              </a:rPr>
              <a:t>复旦课程 / 导师 / 政策</a:t>
            </a:r>
          </a:p>
        </p:txBody>
      </p:sp>
      <p:sp>
        <p:nvSpPr>
          <p:cNvPr id="19" name="Chevron 18"/>
          <p:cNvSpPr/>
          <p:nvPr/>
        </p:nvSpPr>
        <p:spPr>
          <a:xfrm>
            <a:off x="5806440" y="3154680"/>
            <a:ext cx="201168" cy="640080"/>
          </a:xfrm>
          <a:prstGeom prst="chevron">
            <a:avLst/>
          </a:prstGeom>
          <a:solidFill>
            <a:srgbClr val="16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25896" y="2331720"/>
            <a:ext cx="2514600" cy="2331720"/>
          </a:xfrm>
          <a:prstGeom prst="rect">
            <a:avLst/>
          </a:prstGeom>
          <a:solidFill>
            <a:srgbClr val="E8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25896" y="2331720"/>
            <a:ext cx="2514600" cy="868680"/>
          </a:xfrm>
          <a:prstGeom prst="rect">
            <a:avLst/>
          </a:prstGeom>
          <a:solidFill>
            <a:srgbClr val="F2B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25896" y="2331720"/>
            <a:ext cx="2514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0B1F3A"/>
                </a:solidFill>
                <a:latin typeface="微软雅黑"/>
                <a:ea typeface="微软雅黑"/>
              </a:rPr>
              <a:t>3 · 落地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25896" y="2743200"/>
            <a:ext cx="2514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0B1F3A"/>
                </a:solidFill>
                <a:latin typeface="微软雅黑"/>
                <a:ea typeface="微软雅黑"/>
              </a:rPr>
              <a:t>推动 AI 落地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3337560"/>
            <a:ext cx="22402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>
                <a:solidFill>
                  <a:srgbClr val="1A2638"/>
                </a:solidFill>
                <a:latin typeface="微软雅黑"/>
                <a:ea typeface="微软雅黑"/>
              </a:rPr>
              <a:t>Demo City 真实场景验证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>
                <a:solidFill>
                  <a:srgbClr val="1A2638"/>
                </a:solidFill>
                <a:latin typeface="微软雅黑"/>
                <a:ea typeface="微软雅黑"/>
              </a:rPr>
              <a:t>联合会企业订单 + 投融资对接</a:t>
            </a:r>
          </a:p>
        </p:txBody>
      </p:sp>
      <p:sp>
        <p:nvSpPr>
          <p:cNvPr id="25" name="Chevron 24"/>
          <p:cNvSpPr/>
          <p:nvPr/>
        </p:nvSpPr>
        <p:spPr>
          <a:xfrm>
            <a:off x="8567928" y="3154680"/>
            <a:ext cx="201168" cy="640080"/>
          </a:xfrm>
          <a:prstGeom prst="chevron">
            <a:avLst/>
          </a:prstGeom>
          <a:solidFill>
            <a:srgbClr val="16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787384" y="2331720"/>
            <a:ext cx="2514600" cy="2331720"/>
          </a:xfrm>
          <a:prstGeom prst="rect">
            <a:avLst/>
          </a:prstGeom>
          <a:solidFill>
            <a:srgbClr val="E8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787384" y="2331720"/>
            <a:ext cx="2514600" cy="868680"/>
          </a:xfrm>
          <a:prstGeom prst="rect">
            <a:avLst/>
          </a:prstGeom>
          <a:solidFill>
            <a:srgbClr val="1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87384" y="2331720"/>
            <a:ext cx="2514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4 · 集聚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87384" y="2743200"/>
            <a:ext cx="2514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入驻成链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33688" y="3337560"/>
            <a:ext cx="22402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>
                <a:solidFill>
                  <a:srgbClr val="1A2638"/>
                </a:solidFill>
                <a:latin typeface="微软雅黑"/>
                <a:ea typeface="微软雅黑"/>
              </a:rPr>
              <a:t>OPC 入驻盘活空间，形成生态链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>
                <a:solidFill>
                  <a:srgbClr val="1A2638"/>
                </a:solidFill>
                <a:latin typeface="微软雅黑"/>
                <a:ea typeface="微软雅黑"/>
              </a:rPr>
              <a:t>反哺招商、品牌与资产增值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937760"/>
            <a:ext cx="11155680" cy="12801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2920" y="4937760"/>
            <a:ext cx="146304" cy="1280160"/>
          </a:xfrm>
          <a:prstGeom prst="rect">
            <a:avLst/>
          </a:prstGeom>
          <a:solidFill>
            <a:srgbClr val="F2B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074920"/>
            <a:ext cx="105156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600" b="1">
                <a:solidFill>
                  <a:srgbClr val="F2B632"/>
                </a:solidFill>
                <a:latin typeface="微软雅黑"/>
                <a:ea typeface="微软雅黑"/>
              </a:rPr>
              <a:t>↺  形成生态链 · 服务目前所有 OPC · 闭环自循环：</a:t>
            </a:r>
            <a:r>
              <a:rPr sz="1500" b="0">
                <a:solidFill>
                  <a:srgbClr val="FFFFFF"/>
                </a:solidFill>
                <a:latin typeface="微软雅黑"/>
                <a:ea typeface="微软雅黑"/>
              </a:rPr>
              <a:t>入驻 OPC 成长后产生新需求与新订单，又反哺孵化与招商，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0">
                <a:solidFill>
                  <a:srgbClr val="E8EEF6"/>
                </a:solidFill>
                <a:latin typeface="微软雅黑"/>
                <a:ea typeface="微软雅黑"/>
              </a:rPr>
              <a:t>使空间持续满租、产业持续集聚，最终沉淀为可复制到全国的“AI 产业闭环”产品。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16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143000"/>
          </a:xfrm>
          <a:prstGeom prst="rect">
            <a:avLst/>
          </a:prstGeom>
          <a:solidFill>
            <a:srgbClr val="F2B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515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16B8C6"/>
                </a:solidFill>
                <a:latin typeface="微软雅黑"/>
                <a:ea typeface="微软雅黑"/>
              </a:rPr>
              <a:t>运营引流 · 治本之策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内容 + 活动引流：空间是容器，没有内容必然空置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146304"/>
            <a:ext cx="1188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4000" b="1">
                <a:solidFill>
                  <a:srgbClr val="2C446E"/>
                </a:solidFill>
                <a:latin typeface="微软雅黑"/>
                <a:ea typeface="微软雅黑"/>
              </a:rP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737360"/>
            <a:ext cx="2103120" cy="2103120"/>
          </a:xfrm>
          <a:prstGeom prst="rect">
            <a:avLst/>
          </a:prstGeom>
          <a:solidFill>
            <a:srgbClr val="E8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737360"/>
            <a:ext cx="2103120" cy="640080"/>
          </a:xfrm>
          <a:prstGeom prst="rect">
            <a:avLst/>
          </a:prstGeom>
          <a:solidFill>
            <a:srgbClr val="F2B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737360"/>
            <a:ext cx="2103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0B1F3A"/>
                </a:solidFill>
                <a:latin typeface="微软雅黑"/>
                <a:ea typeface="微软雅黑"/>
              </a:rPr>
              <a:t>IP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68880"/>
            <a:ext cx="19202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1A2638"/>
                </a:solidFill>
                <a:latin typeface="微软雅黑"/>
                <a:ea typeface="微软雅黑"/>
              </a:rPr>
              <a:t>AI 切磋者大会</a:t>
            </a:r>
          </a:p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5B6B82"/>
                </a:solidFill>
                <a:latin typeface="微软雅黑"/>
                <a:ea typeface="微软雅黑"/>
              </a:rPr>
              <a:t>选育 · 招商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15768" y="1737360"/>
            <a:ext cx="2103120" cy="2103120"/>
          </a:xfrm>
          <a:prstGeom prst="rect">
            <a:avLst/>
          </a:prstGeom>
          <a:solidFill>
            <a:srgbClr val="E8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15768" y="1737360"/>
            <a:ext cx="2103120" cy="640080"/>
          </a:xfrm>
          <a:prstGeom prst="rect">
            <a:avLst/>
          </a:prstGeom>
          <a:solidFill>
            <a:srgbClr val="1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15768" y="1737360"/>
            <a:ext cx="2103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IP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07208" y="2468880"/>
            <a:ext cx="19202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1A2638"/>
                </a:solidFill>
                <a:latin typeface="微软雅黑"/>
                <a:ea typeface="微软雅黑"/>
              </a:rPr>
              <a:t>AI 产业私董会</a:t>
            </a:r>
          </a:p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5B6B82"/>
                </a:solidFill>
                <a:latin typeface="微软雅黑"/>
                <a:ea typeface="微软雅黑"/>
              </a:rPr>
              <a:t>高端 · 圈层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0056" y="1737360"/>
            <a:ext cx="2103120" cy="2103120"/>
          </a:xfrm>
          <a:prstGeom prst="rect">
            <a:avLst/>
          </a:prstGeom>
          <a:solidFill>
            <a:srgbClr val="E8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0056" y="1737360"/>
            <a:ext cx="2103120" cy="640080"/>
          </a:xfrm>
          <a:prstGeom prst="rect">
            <a:avLst/>
          </a:prstGeom>
          <a:solidFill>
            <a:srgbClr val="16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0056" y="1737360"/>
            <a:ext cx="2103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IP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11496" y="2468880"/>
            <a:ext cx="19202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1A2638"/>
                </a:solidFill>
                <a:latin typeface="微软雅黑"/>
                <a:ea typeface="微软雅黑"/>
              </a:rPr>
              <a:t>AI Demo Day</a:t>
            </a:r>
          </a:p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5B6B82"/>
                </a:solidFill>
                <a:latin typeface="微软雅黑"/>
                <a:ea typeface="微软雅黑"/>
              </a:rPr>
              <a:t>路演 · 转化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24344" y="1737360"/>
            <a:ext cx="2103120" cy="2103120"/>
          </a:xfrm>
          <a:prstGeom prst="rect">
            <a:avLst/>
          </a:prstGeom>
          <a:solidFill>
            <a:srgbClr val="E8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24344" y="1737360"/>
            <a:ext cx="2103120" cy="640080"/>
          </a:xfrm>
          <a:prstGeom prst="rect">
            <a:avLst/>
          </a:prstGeom>
          <a:solidFill>
            <a:srgbClr val="1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24344" y="1737360"/>
            <a:ext cx="2103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IP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15784" y="2468880"/>
            <a:ext cx="19202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1A2638"/>
                </a:solidFill>
                <a:latin typeface="微软雅黑"/>
                <a:ea typeface="微软雅黑"/>
              </a:rPr>
              <a:t>AI 应用展</a:t>
            </a:r>
          </a:p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5B6B82"/>
                </a:solidFill>
                <a:latin typeface="微软雅黑"/>
                <a:ea typeface="微软雅黑"/>
              </a:rPr>
              <a:t>To G / To 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28632" y="1737360"/>
            <a:ext cx="2103120" cy="2103120"/>
          </a:xfrm>
          <a:prstGeom prst="rect">
            <a:avLst/>
          </a:prstGeom>
          <a:solidFill>
            <a:srgbClr val="E8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628632" y="1737360"/>
            <a:ext cx="2103120" cy="640080"/>
          </a:xfrm>
          <a:prstGeom prst="rect">
            <a:avLst/>
          </a:prstGeom>
          <a:solidFill>
            <a:srgbClr val="16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28632" y="1737360"/>
            <a:ext cx="2103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IP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20072" y="2468880"/>
            <a:ext cx="19202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1A2638"/>
                </a:solidFill>
                <a:latin typeface="微软雅黑"/>
                <a:ea typeface="微软雅黑"/>
              </a:rPr>
              <a:t>复旦+产业课程</a:t>
            </a:r>
          </a:p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5B6B82"/>
                </a:solidFill>
                <a:latin typeface="微软雅黑"/>
                <a:ea typeface="微软雅黑"/>
              </a:rPr>
              <a:t>收费 · 人才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206240"/>
            <a:ext cx="11155680" cy="19202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4206240"/>
            <a:ext cx="146304" cy="1920240"/>
          </a:xfrm>
          <a:prstGeom prst="rect">
            <a:avLst/>
          </a:prstGeom>
          <a:solidFill>
            <a:srgbClr val="16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43484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FFFFFF"/>
                </a:solidFill>
                <a:latin typeface="微软雅黑"/>
                <a:ea typeface="微软雅黑"/>
              </a:rPr>
              <a:t>核心逻辑：空间 = 内容容器。其中「AI 切磋者大会」是 OPC 的选育入口，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F2B632"/>
                </a:solidFill>
                <a:latin typeface="微软雅黑"/>
                <a:ea typeface="微软雅黑"/>
              </a:rPr>
              <a:t>固定 IP 持续制造流量、选育 OPC、产出签约线索，从根本上解决空置并反哺招商与品牌溢价。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16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143000"/>
          </a:xfrm>
          <a:prstGeom prst="rect">
            <a:avLst/>
          </a:prstGeom>
          <a:solidFill>
            <a:srgbClr val="F2B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515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16B8C6"/>
                </a:solidFill>
                <a:latin typeface="微软雅黑"/>
                <a:ea typeface="微软雅黑"/>
              </a:rPr>
              <a:t>GOVERNANCE · 合作阵型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五方分工与协同机制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146304"/>
            <a:ext cx="1188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4000" b="1">
                <a:solidFill>
                  <a:srgbClr val="2C446E"/>
                </a:solidFill>
                <a:latin typeface="微软雅黑"/>
                <a:ea typeface="微软雅黑"/>
              </a:rPr>
              <a:t>07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71600"/>
          <a:ext cx="1115568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3291840"/>
                <a:gridCol w="4754880"/>
              </a:tblGrid>
              <a:tr h="6781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组织方</a:t>
                      </a:r>
                    </a:p>
                  </a:txBody>
                  <a:tcPr anchor="ctr" marL="91440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定位 / 核心职责</a:t>
                      </a:r>
                    </a:p>
                  </a:txBody>
                  <a:tcPr anchor="ctr" marL="91440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落地抓手</a:t>
                      </a:r>
                    </a:p>
                  </a:txBody>
                  <a:tcPr anchor="ctr" marL="91440" marR="73152" marT="36576" marB="36576">
                    <a:solidFill>
                      <a:srgbClr val="0B1F3A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2638"/>
                          </a:solidFill>
                          <a:latin typeface="微软雅黑"/>
                        </a:rPr>
                        <a:t>云计算创新基地 / 五角场创新创业学院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2638"/>
                          </a:solidFill>
                          <a:latin typeface="微软雅黑"/>
                        </a:rPr>
                        <a:t>产业原点 · 孵化体系与空间品牌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2638"/>
                          </a:solidFill>
                          <a:latin typeface="微软雅黑"/>
                        </a:rPr>
                        <a:t>产业准入标准、开放活动平台、输出运营模式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2638"/>
                          </a:solidFill>
                          <a:latin typeface="微软雅黑"/>
                        </a:rPr>
                        <a:t>腾讯云</a:t>
                      </a:r>
                    </a:p>
                  </a:txBody>
                  <a:tcPr anchor="ctr" marL="91440" marR="73152" marT="36576" marB="36576"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2638"/>
                          </a:solidFill>
                          <a:latin typeface="微软雅黑"/>
                        </a:rPr>
                        <a:t>算力与技术底座 · 全栈支撑</a:t>
                      </a:r>
                    </a:p>
                  </a:txBody>
                  <a:tcPr anchor="ctr" marL="91440" marR="73152" marT="36576" marB="36576"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2638"/>
                          </a:solidFill>
                          <a:latin typeface="微软雅黑"/>
                        </a:rPr>
                        <a:t>算力补贴、大模型/API、技术中台、初创扶持</a:t>
                      </a:r>
                    </a:p>
                  </a:txBody>
                  <a:tcPr anchor="ctr" marL="91440" marR="73152" marT="36576" marB="36576">
                    <a:solidFill>
                      <a:srgbClr val="EDF2F9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2638"/>
                          </a:solidFill>
                          <a:latin typeface="微软雅黑"/>
                        </a:rPr>
                        <a:t>复旦大学住房政策研究中心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2638"/>
                          </a:solidFill>
                          <a:latin typeface="微软雅黑"/>
                        </a:rPr>
                        <a:t>智库大脑 · 资产评估与政策支持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2638"/>
                          </a:solidFill>
                          <a:latin typeface="微软雅黑"/>
                        </a:rPr>
                        <a:t>物业改造可行性报告、城市更新补贴、人才公寓配套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2638"/>
                          </a:solidFill>
                          <a:latin typeface="微软雅黑"/>
                        </a:rPr>
                        <a:t>人工智能商业化落地组委会</a:t>
                      </a:r>
                    </a:p>
                  </a:txBody>
                  <a:tcPr anchor="ctr" marL="91440" marR="73152" marT="36576" marB="36576"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2638"/>
                          </a:solidFill>
                          <a:latin typeface="微软雅黑"/>
                        </a:rPr>
                        <a:t>流量漏斗(技术) · AI 内容与投融资</a:t>
                      </a:r>
                    </a:p>
                  </a:txBody>
                  <a:tcPr anchor="ctr" marL="91440" marR="73152" marT="36576" marB="36576"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2638"/>
                          </a:solidFill>
                          <a:latin typeface="微软雅黑"/>
                        </a:rPr>
                        <a:t>AI 切磋者大会、OPC 选育、商业化落地辅导</a:t>
                      </a:r>
                    </a:p>
                  </a:txBody>
                  <a:tcPr anchor="ctr" marL="91440" marR="73152" marT="36576" marB="36576">
                    <a:solidFill>
                      <a:srgbClr val="EDF2F9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2638"/>
                          </a:solidFill>
                          <a:latin typeface="微软雅黑"/>
                        </a:rPr>
                        <a:t>杨浦区科技企业联合会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2638"/>
                          </a:solidFill>
                          <a:latin typeface="微软雅黑"/>
                        </a:rPr>
                        <a:t>流量漏斗(企业) · 招商渠道与跨区联动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2638"/>
                          </a:solidFill>
                          <a:latin typeface="微软雅黑"/>
                        </a:rPr>
                        <a:t>企业需求数据库、组织会员考察、对接各地商会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623560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1B4F9C"/>
                </a:solidFill>
                <a:latin typeface="微软雅黑"/>
                <a:ea typeface="微软雅黑"/>
              </a:rPr>
              <a:t>协同机制：</a:t>
            </a:r>
            <a:r>
              <a:rPr sz="1300" b="0">
                <a:solidFill>
                  <a:srgbClr val="5B6B82"/>
                </a:solidFill>
                <a:latin typeface="微软雅黑"/>
                <a:ea typeface="微软雅黑"/>
              </a:rPr>
              <a:t>五方联席工作组（每月对齐）· 资源共享清单 · 战略合作备忘录（明确佣金、运营分成与算力补贴口径）。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16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143000"/>
          </a:xfrm>
          <a:prstGeom prst="rect">
            <a:avLst/>
          </a:prstGeom>
          <a:solidFill>
            <a:srgbClr val="F2B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515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16B8C6"/>
                </a:solidFill>
                <a:latin typeface="微软雅黑"/>
                <a:ea typeface="微软雅黑"/>
              </a:rPr>
              <a:t>BUSINESS MODEL · 收益结构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合作分工 × 收益模式：拿到“运营权 + 导入权”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146304"/>
            <a:ext cx="1188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4000" b="1">
                <a:solidFill>
                  <a:srgbClr val="2C446E"/>
                </a:solidFill>
                <a:latin typeface="微软雅黑"/>
                <a:ea typeface="微软雅黑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1B4F9C"/>
                </a:solidFill>
                <a:latin typeface="微软雅黑"/>
                <a:ea typeface="微软雅黑"/>
              </a:rPr>
              <a:t>合作分工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737360"/>
          <a:ext cx="5486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148840"/>
                <a:gridCol w="2148840"/>
              </a:tblGrid>
              <a:tr h="5334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</a:rPr>
                        <a:t>模块</a:t>
                      </a:r>
                    </a:p>
                  </a:txBody>
                  <a:tcPr anchor="ctr" marL="91440" marR="73152" marT="36576" marB="36576">
                    <a:solidFill>
                      <a:srgbClr val="1B4F9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</a:rPr>
                        <a:t>平台方（云基地/腾讯云）</a:t>
                      </a:r>
                    </a:p>
                  </a:txBody>
                  <a:tcPr anchor="ctr" marL="91440" marR="73152" marT="36576" marB="36576">
                    <a:solidFill>
                      <a:srgbClr val="1B4F9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</a:rPr>
                        <a:t>我们</a:t>
                      </a:r>
                    </a:p>
                  </a:txBody>
                  <a:tcPr anchor="ctr" marL="91440" marR="73152" marT="36576" marB="36576">
                    <a:solidFill>
                      <a:srgbClr val="1B4F9C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2638"/>
                          </a:solidFill>
                          <a:latin typeface="微软雅黑"/>
                        </a:rPr>
                        <a:t>空间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2638"/>
                          </a:solidFill>
                          <a:latin typeface="微软雅黑"/>
                        </a:rPr>
                        <a:t>提供物业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2638"/>
                          </a:solidFill>
                          <a:latin typeface="微软雅黑"/>
                        </a:rPr>
                        <a:t>选址 + 定位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2638"/>
                          </a:solidFill>
                          <a:latin typeface="微软雅黑"/>
                        </a:rPr>
                        <a:t>算力技术</a:t>
                      </a:r>
                    </a:p>
                  </a:txBody>
                  <a:tcPr anchor="ctr" marL="91440" marR="73152" marT="36576" marB="36576"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2638"/>
                          </a:solidFill>
                          <a:latin typeface="微软雅黑"/>
                        </a:rPr>
                        <a:t>腾讯云补贴 + 中台</a:t>
                      </a:r>
                    </a:p>
                  </a:txBody>
                  <a:tcPr anchor="ctr" marL="91440" marR="73152" marT="36576" marB="36576"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2638"/>
                          </a:solidFill>
                          <a:latin typeface="微软雅黑"/>
                        </a:rPr>
                        <a:t>OPC 孵化 + 工作流</a:t>
                      </a:r>
                    </a:p>
                  </a:txBody>
                  <a:tcPr anchor="ctr" marL="91440" marR="73152" marT="36576" marB="36576">
                    <a:solidFill>
                      <a:srgbClr val="EDF2F9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2638"/>
                          </a:solidFill>
                          <a:latin typeface="微软雅黑"/>
                        </a:rPr>
                        <a:t>招商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2638"/>
                          </a:solidFill>
                          <a:latin typeface="微软雅黑"/>
                        </a:rPr>
                        <a:t>政策资源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2638"/>
                          </a:solidFill>
                          <a:latin typeface="微软雅黑"/>
                        </a:rPr>
                        <a:t>企业导入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2638"/>
                          </a:solidFill>
                          <a:latin typeface="微软雅黑"/>
                        </a:rPr>
                        <a:t>运营</a:t>
                      </a:r>
                    </a:p>
                  </a:txBody>
                  <a:tcPr anchor="ctr" marL="91440" marR="73152" marT="36576" marB="36576"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2638"/>
                          </a:solidFill>
                          <a:latin typeface="微软雅黑"/>
                        </a:rPr>
                        <a:t>基础管理</a:t>
                      </a:r>
                    </a:p>
                  </a:txBody>
                  <a:tcPr anchor="ctr" marL="91440" marR="73152" marT="36576" marB="36576"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2638"/>
                          </a:solidFill>
                          <a:latin typeface="微软雅黑"/>
                        </a:rPr>
                        <a:t>内容 + 活动 + 社群</a:t>
                      </a:r>
                    </a:p>
                  </a:txBody>
                  <a:tcPr anchor="ctr" marL="91440" marR="73152" marT="36576" marB="36576">
                    <a:solidFill>
                      <a:srgbClr val="EDF2F9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2638"/>
                          </a:solidFill>
                          <a:latin typeface="微软雅黑"/>
                        </a:rPr>
                        <a:t>品牌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2638"/>
                          </a:solidFill>
                          <a:latin typeface="微软雅黑"/>
                        </a:rPr>
                        <a:t>政府/腾讯云背书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2638"/>
                          </a:solidFill>
                          <a:latin typeface="微软雅黑"/>
                        </a:rPr>
                        <a:t>AI 产业 IP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0" y="13716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16B8C6"/>
                </a:solidFill>
                <a:latin typeface="微软雅黑"/>
                <a:ea typeface="微软雅黑"/>
              </a:rPr>
              <a:t>收入模式（我方主动提）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00" b="1">
                <a:solidFill>
                  <a:srgbClr val="16B8C6"/>
                </a:solidFill>
                <a:latin typeface="微软雅黑"/>
              </a:rPr>
              <a:t>▍</a:t>
            </a:r>
            <a:r>
              <a:rPr sz="1300" b="1">
                <a:solidFill>
                  <a:srgbClr val="1A2638"/>
                </a:solidFill>
                <a:latin typeface="微软雅黑"/>
              </a:rPr>
              <a:t>① 租金分成  </a:t>
            </a:r>
            <a:r>
              <a:rPr sz="1300" b="0">
                <a:solidFill>
                  <a:srgbClr val="5B6B82"/>
                </a:solidFill>
                <a:latin typeface="微软雅黑"/>
              </a:rPr>
              <a:t>—— 核心收益来源。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00" b="1">
                <a:solidFill>
                  <a:srgbClr val="16B8C6"/>
                </a:solidFill>
                <a:latin typeface="微软雅黑"/>
              </a:rPr>
              <a:t>▍</a:t>
            </a:r>
            <a:r>
              <a:rPr sz="1300" b="1">
                <a:solidFill>
                  <a:srgbClr val="1A2638"/>
                </a:solidFill>
                <a:latin typeface="微软雅黑"/>
              </a:rPr>
              <a:t>② 企业服务费  </a:t>
            </a:r>
            <a:r>
              <a:rPr sz="1300" b="0">
                <a:solidFill>
                  <a:srgbClr val="5B6B82"/>
                </a:solidFill>
                <a:latin typeface="微软雅黑"/>
              </a:rPr>
              <a:t>—— 培训 / 咨询 / AI 赋能包。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00" b="1">
                <a:solidFill>
                  <a:srgbClr val="16B8C6"/>
                </a:solidFill>
                <a:latin typeface="微软雅黑"/>
              </a:rPr>
              <a:t>▍</a:t>
            </a:r>
            <a:r>
              <a:rPr sz="1300" b="1">
                <a:solidFill>
                  <a:srgbClr val="1A2638"/>
                </a:solidFill>
                <a:latin typeface="微软雅黑"/>
              </a:rPr>
              <a:t>③ 活动收入  </a:t>
            </a:r>
            <a:r>
              <a:rPr sz="1300" b="0">
                <a:solidFill>
                  <a:srgbClr val="5B6B82"/>
                </a:solidFill>
                <a:latin typeface="微软雅黑"/>
              </a:rPr>
              <a:t>—— 切磋者大会 / Demo Day / 展会。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00" b="1">
                <a:solidFill>
                  <a:srgbClr val="16B8C6"/>
                </a:solidFill>
                <a:latin typeface="微软雅黑"/>
              </a:rPr>
              <a:t>▍</a:t>
            </a:r>
            <a:r>
              <a:rPr sz="1300" b="1">
                <a:solidFill>
                  <a:srgbClr val="1A2638"/>
                </a:solidFill>
                <a:latin typeface="微软雅黑"/>
              </a:rPr>
              <a:t>④ 算力 / 技术服务分成  </a:t>
            </a:r>
            <a:r>
              <a:rPr sz="1300" b="0">
                <a:solidFill>
                  <a:srgbClr val="5B6B82"/>
                </a:solidFill>
                <a:latin typeface="微软雅黑"/>
              </a:rPr>
              <a:t>—— 腾讯云算力分销 + OPC 孵化服务。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00" b="1">
                <a:solidFill>
                  <a:srgbClr val="16B8C6"/>
                </a:solidFill>
                <a:latin typeface="微软雅黑"/>
              </a:rPr>
              <a:t>▍</a:t>
            </a:r>
            <a:r>
              <a:rPr sz="1300" b="1">
                <a:solidFill>
                  <a:srgbClr val="1A2638"/>
                </a:solidFill>
                <a:latin typeface="微软雅黑"/>
              </a:rPr>
              <a:t>⑤ 政策补贴联合申报  </a:t>
            </a:r>
            <a:r>
              <a:rPr sz="1300" b="0">
                <a:solidFill>
                  <a:srgbClr val="5B6B82"/>
                </a:solidFill>
                <a:latin typeface="微软雅黑"/>
              </a:rPr>
              <a:t>—— 城市更新、保租房、算力补贴。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212080"/>
            <a:ext cx="11155680" cy="1188720"/>
          </a:xfrm>
          <a:prstGeom prst="rect">
            <a:avLst/>
          </a:prstGeom>
          <a:solidFill>
            <a:srgbClr val="EA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5212080"/>
            <a:ext cx="146304" cy="1188720"/>
          </a:xfrm>
          <a:prstGeom prst="rect">
            <a:avLst/>
          </a:prstGeom>
          <a:solidFill>
            <a:srgbClr val="F2B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321808"/>
            <a:ext cx="1060704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1B4F9C"/>
                </a:solidFill>
                <a:latin typeface="微软雅黑"/>
                <a:ea typeface="微软雅黑"/>
              </a:rPr>
              <a:t>关键原则：</a:t>
            </a:r>
            <a:r>
              <a:rPr sz="1500" b="0">
                <a:solidFill>
                  <a:srgbClr val="1A2638"/>
                </a:solidFill>
                <a:latin typeface="微软雅黑"/>
                <a:ea typeface="微软雅黑"/>
              </a:rPr>
              <a:t>我方必须拿到“运营权 + 产业导入权”，否则只是给资源平台打工，无法形成可复制的产品与护城河。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16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143000"/>
          </a:xfrm>
          <a:prstGeom prst="rect">
            <a:avLst/>
          </a:prstGeom>
          <a:solidFill>
            <a:srgbClr val="F2B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515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16B8C6"/>
                </a:solidFill>
                <a:latin typeface="微软雅黑"/>
                <a:ea typeface="微软雅黑"/>
              </a:rPr>
              <a:t>ACTION · 即刻启动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四个“立即启动”项目（承接 5·22 峰会余热）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146304"/>
            <a:ext cx="1188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4000" b="1">
                <a:solidFill>
                  <a:srgbClr val="2C446E"/>
                </a:solidFill>
                <a:latin typeface="微软雅黑"/>
                <a:ea typeface="微软雅黑"/>
              </a:rPr>
              <a:t>09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11155680" cy="1115568"/>
          </a:xfrm>
          <a:prstGeom prst="rect">
            <a:avLst/>
          </a:prstGeom>
          <a:solidFill>
            <a:srgbClr val="E8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1188720" cy="1115568"/>
          </a:xfrm>
          <a:prstGeom prst="rect">
            <a:avLst/>
          </a:prstGeom>
          <a:solidFill>
            <a:srgbClr val="1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17320"/>
            <a:ext cx="1188720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1490472"/>
            <a:ext cx="95097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600" b="1">
                <a:solidFill>
                  <a:srgbClr val="1A2638"/>
                </a:solidFill>
                <a:latin typeface="微软雅黑"/>
                <a:ea typeface="微软雅黑"/>
              </a:rPr>
              <a:t>AI 产业社区试点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250" b="0">
                <a:solidFill>
                  <a:srgbClr val="5B6B82"/>
                </a:solidFill>
                <a:latin typeface="微软雅黑"/>
                <a:ea typeface="微软雅黑"/>
              </a:rPr>
              <a:t>联合考察对方推荐的 1–2 个空置物业（大学路 / 杨浦滨江）。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250" b="1">
                <a:solidFill>
                  <a:srgbClr val="1B4F9C"/>
                </a:solidFill>
                <a:latin typeface="微软雅黑"/>
                <a:ea typeface="微软雅黑"/>
              </a:rPr>
              <a:t>交付：2 周内出具《产业社区改造初步方案》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679191"/>
            <a:ext cx="11155680" cy="1115568"/>
          </a:xfrm>
          <a:prstGeom prst="rect">
            <a:avLst/>
          </a:prstGeom>
          <a:solidFill>
            <a:srgbClr val="E8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679191"/>
            <a:ext cx="1188720" cy="1115568"/>
          </a:xfrm>
          <a:prstGeom prst="rect">
            <a:avLst/>
          </a:prstGeom>
          <a:solidFill>
            <a:srgbClr val="F2B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679191"/>
            <a:ext cx="1188720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3000" b="1">
                <a:solidFill>
                  <a:srgbClr val="0B1F3A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752343"/>
            <a:ext cx="95097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600" b="1">
                <a:solidFill>
                  <a:srgbClr val="1A2638"/>
                </a:solidFill>
                <a:latin typeface="微软雅黑"/>
                <a:ea typeface="微软雅黑"/>
              </a:rPr>
              <a:t>首场 AI 切磋者大会 + OPC 超级孵化营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250" b="0">
                <a:solidFill>
                  <a:srgbClr val="5B6B82"/>
                </a:solidFill>
                <a:latin typeface="微软雅黑"/>
                <a:ea typeface="微软雅黑"/>
              </a:rPr>
              <a:t>承接峰会余热，7 月办首站，选育首批种子 OPC。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250" b="1">
                <a:solidFill>
                  <a:srgbClr val="1B4F9C"/>
                </a:solidFill>
                <a:latin typeface="微软雅黑"/>
                <a:ea typeface="微软雅黑"/>
              </a:rPr>
              <a:t>交付：活动方案 + 拟邀 OPC/企业名单（本周完成）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941063"/>
            <a:ext cx="11155680" cy="1115568"/>
          </a:xfrm>
          <a:prstGeom prst="rect">
            <a:avLst/>
          </a:prstGeom>
          <a:solidFill>
            <a:srgbClr val="E8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941063"/>
            <a:ext cx="1188720" cy="1115568"/>
          </a:xfrm>
          <a:prstGeom prst="rect">
            <a:avLst/>
          </a:prstGeom>
          <a:solidFill>
            <a:srgbClr val="16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941063"/>
            <a:ext cx="1188720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014215"/>
            <a:ext cx="95097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600" b="1">
                <a:solidFill>
                  <a:srgbClr val="1A2638"/>
                </a:solidFill>
                <a:latin typeface="微软雅黑"/>
                <a:ea typeface="微软雅黑"/>
              </a:rPr>
              <a:t>腾讯云算力补贴包落地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250" b="0">
                <a:solidFill>
                  <a:srgbClr val="5B6B82"/>
                </a:solidFill>
                <a:latin typeface="微软雅黑"/>
                <a:ea typeface="微软雅黑"/>
              </a:rPr>
              <a:t>联合腾讯云敲定面向入驻 OPC 的算力补贴与扶持政策。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250" b="1">
                <a:solidFill>
                  <a:srgbClr val="1B4F9C"/>
                </a:solidFill>
                <a:latin typeface="微软雅黑"/>
                <a:ea typeface="微软雅黑"/>
              </a:rPr>
              <a:t>交付：2 周内确定补贴口径、额度与申领流程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5202936"/>
            <a:ext cx="11155680" cy="1115568"/>
          </a:xfrm>
          <a:prstGeom prst="rect">
            <a:avLst/>
          </a:prstGeom>
          <a:solidFill>
            <a:srgbClr val="E8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5202936"/>
            <a:ext cx="1188720" cy="1115568"/>
          </a:xfrm>
          <a:prstGeom prst="rect">
            <a:avLst/>
          </a:prstGeom>
          <a:solidFill>
            <a:srgbClr val="1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5202936"/>
            <a:ext cx="1188720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74519" y="5276088"/>
            <a:ext cx="95097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600" b="1">
                <a:solidFill>
                  <a:srgbClr val="1A2638"/>
                </a:solidFill>
                <a:latin typeface="微软雅黑"/>
                <a:ea typeface="微软雅黑"/>
              </a:rPr>
              <a:t>企业需求数据库共建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250" b="0">
                <a:solidFill>
                  <a:srgbClr val="5B6B82"/>
                </a:solidFill>
                <a:latin typeface="微软雅黑"/>
                <a:ea typeface="微软雅黑"/>
              </a:rPr>
              <a:t>本周启动联合会会员企业扩租 / 迁址需求调研。</a:t>
            </a:r>
          </a:p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1250" b="1">
                <a:solidFill>
                  <a:srgbClr val="1B4F9C"/>
                </a:solidFill>
                <a:latin typeface="微软雅黑"/>
                <a:ea typeface="微软雅黑"/>
              </a:rPr>
              <a:t>交付：1 个月内形成首批 50 家目标企业清单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6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F2B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16B8C6"/>
                </a:solidFill>
                <a:latin typeface="微软雅黑"/>
                <a:ea typeface="微软雅黑"/>
              </a:rPr>
              <a:t>核心价值主张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6070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“我们不是来租您房子的 ——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600" b="1">
                <a:solidFill>
                  <a:srgbClr val="F2B632"/>
                </a:solidFill>
                <a:latin typeface="微软雅黑"/>
                <a:ea typeface="微软雅黑"/>
              </a:rPr>
              <a:t>  是来帮您把空置物业变成 AI 产业资产的。”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926080"/>
            <a:ext cx="3383280" cy="1371600"/>
          </a:xfrm>
          <a:prstGeom prst="rect">
            <a:avLst/>
          </a:prstGeom>
          <a:solidFill>
            <a:srgbClr val="123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926080"/>
            <a:ext cx="3383280" cy="73152"/>
          </a:xfrm>
          <a:prstGeom prst="rect">
            <a:avLst/>
          </a:prstGeom>
          <a:solidFill>
            <a:srgbClr val="16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063240"/>
            <a:ext cx="3108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F2B632"/>
                </a:solidFill>
                <a:latin typeface="微软雅黑"/>
                <a:ea typeface="微软雅黑"/>
              </a:rPr>
              <a:t>模式不一样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E8EEF6"/>
                </a:solidFill>
                <a:latin typeface="微软雅黑"/>
                <a:ea typeface="微软雅黑"/>
              </a:rPr>
              <a:t>不做二房东，做产业运营服务商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2926080"/>
            <a:ext cx="3383280" cy="1371600"/>
          </a:xfrm>
          <a:prstGeom prst="rect">
            <a:avLst/>
          </a:prstGeom>
          <a:solidFill>
            <a:srgbClr val="123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60" y="2926080"/>
            <a:ext cx="3383280" cy="73152"/>
          </a:xfrm>
          <a:prstGeom prst="rect">
            <a:avLst/>
          </a:prstGeom>
          <a:solidFill>
            <a:srgbClr val="16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3063240"/>
            <a:ext cx="3108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F2B632"/>
                </a:solidFill>
                <a:latin typeface="微软雅黑"/>
                <a:ea typeface="微软雅黑"/>
              </a:rPr>
              <a:t>招商不一样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E8EEF6"/>
                </a:solidFill>
                <a:latin typeface="微软雅黑"/>
                <a:ea typeface="微软雅黑"/>
              </a:rPr>
              <a:t>不靠中介，靠产业生态精准匹配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2926080"/>
            <a:ext cx="3383280" cy="1371600"/>
          </a:xfrm>
          <a:prstGeom prst="rect">
            <a:avLst/>
          </a:prstGeom>
          <a:solidFill>
            <a:srgbClr val="123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2926080"/>
            <a:ext cx="3383280" cy="73152"/>
          </a:xfrm>
          <a:prstGeom prst="rect">
            <a:avLst/>
          </a:prstGeom>
          <a:solidFill>
            <a:srgbClr val="16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3063240"/>
            <a:ext cx="3108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F2B632"/>
                </a:solidFill>
                <a:latin typeface="微软雅黑"/>
                <a:ea typeface="微软雅黑"/>
              </a:rPr>
              <a:t>价值不一样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E8EEF6"/>
                </a:solidFill>
                <a:latin typeface="微软雅黑"/>
                <a:ea typeface="微软雅黑"/>
              </a:rPr>
              <a:t>不只填空置，更提升资产估值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4663440"/>
            <a:ext cx="10515600" cy="1554480"/>
          </a:xfrm>
          <a:prstGeom prst="rect">
            <a:avLst/>
          </a:prstGeom>
          <a:solidFill>
            <a:srgbClr val="123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4663440"/>
            <a:ext cx="146304" cy="1554480"/>
          </a:xfrm>
          <a:prstGeom prst="rect">
            <a:avLst/>
          </a:prstGeom>
          <a:solidFill>
            <a:srgbClr val="F2B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480060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16B8C6"/>
                </a:solidFill>
                <a:latin typeface="微软雅黑"/>
                <a:ea typeface="微软雅黑"/>
              </a:rPr>
              <a:t>收口句：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微软雅黑"/>
                <a:ea typeface="微软雅黑"/>
              </a:rPr>
              <a:t>“如果今天只是谈招商，我们做的是一单生意；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微软雅黑"/>
                <a:ea typeface="微软雅黑"/>
              </a:rPr>
              <a:t>  如果我们一起做模型，这是一个可以复制到全国的产品。”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