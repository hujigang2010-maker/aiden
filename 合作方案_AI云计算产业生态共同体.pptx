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-1280160"/>
            <a:ext cx="4754880" cy="4754880"/>
          </a:xfrm>
          <a:prstGeom prst="ellipse">
            <a:avLst/>
          </a:prstGeom>
          <a:solidFill>
            <a:srgbClr val="12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2743200"/>
            <a:ext cx="4206240" cy="4206240"/>
          </a:xfrm>
          <a:prstGeom prst="ellipse">
            <a:avLst/>
          </a:prstGeom>
          <a:solidFill>
            <a:srgbClr val="0F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6B8C6"/>
                </a:solidFill>
                <a:latin typeface="微软雅黑"/>
                <a:ea typeface="微软雅黑"/>
              </a:rPr>
              <a:t>战略合作方案 · 内部沟通版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5000" b="1">
                <a:solidFill>
                  <a:srgbClr val="FFFFFF"/>
                </a:solidFill>
                <a:latin typeface="微软雅黑"/>
                <a:ea typeface="微软雅黑"/>
              </a:rPr>
              <a:t>四方联动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共建 “AI + 云计算” 产业生态共同体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657600"/>
            <a:ext cx="3291840" cy="4572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E8EEF6"/>
                </a:solidFill>
                <a:latin typeface="微软雅黑"/>
                <a:ea typeface="微软雅黑"/>
              </a:rPr>
              <a:t>面向 · 上海市云计算创新基地（大学路 · 五角场创新创业学院）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B632"/>
                </a:solidFill>
                <a:latin typeface="微软雅黑"/>
                <a:ea typeface="微软雅黑"/>
              </a:rPr>
              <a:t>聚焦两大诉求：轻资产拓展  ×  招商对接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B6B82"/>
                </a:solidFill>
                <a:latin typeface="微软雅黑"/>
                <a:ea typeface="微软雅黑"/>
              </a:rPr>
              <a:t>复旦大学住房政策研究中心  ·  人工智能商业化落地组委会  ·  上海市杨浦区科技企业联合会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6B8C6"/>
                </a:solidFill>
                <a:latin typeface="微软雅黑"/>
                <a:ea typeface="微软雅黑"/>
              </a:rPr>
              <a:t>先把这件事结构化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这次不是简单谈一单合作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3200" b="1">
                <a:solidFill>
                  <a:srgbClr val="F2B632"/>
                </a:solidFill>
                <a:latin typeface="微软雅黑"/>
                <a:ea typeface="微软雅黑"/>
              </a:rPr>
              <a:t>而是用 “资源整合 + 资产运营 + 产业导入”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共建一个可复制的 AI 产业空间运营新模式。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E8EEF6"/>
                </a:solidFill>
                <a:latin typeface="微软雅黑"/>
                <a:ea typeface="微软雅黑"/>
              </a:rPr>
              <a:t>对方本质是“资源平台”（空间 + 政府背书 + 双创资源）；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>
                <a:solidFill>
                  <a:srgbClr val="E8EEF6"/>
                </a:solidFill>
                <a:latin typeface="微软雅黑"/>
                <a:ea typeface="微软雅黑"/>
              </a:rPr>
              <a:t>我们要补上的是“内容 + 运营 + 产业导入 + 商业化变现”的闭环能力。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RESOURCES · 资源禀赋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双方资源盘点：壳 × 内容，天然互补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394960" cy="48463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394960" cy="548640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对方 · 资源平台（壳）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B4F9C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云计算创新基地：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产业承载空间 + 企业集聚载体，孵化器/加速器/总部基地/人才实训“四位一体”。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B4F9C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五角场创新创业学院：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双创资源连接器 + 加速器，“募课”模式、长三角科创板预备营等全周期服务。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B4F9C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政府背书：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杨浦区政策明确支持盘活低效物业、发展孵化器、引入 AI 企业。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B4F9C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缺口：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产业内容不足 + 运营能力缺失，物业易空置。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394960" cy="4846320"/>
          </a:xfrm>
          <a:prstGeom prst="rect">
            <a:avLst/>
          </a:prstGeom>
          <a:solidFill>
            <a:srgbClr val="EA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63040"/>
            <a:ext cx="5394960" cy="54864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63040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我方 · 内容运营方（芯）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复旦住房政策研究中心：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城市更新、存量盘活、产业社区规划与政策研判背书。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AI 商业化落地组委会：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5·22 峰会汇聚 AI 全产业链企业与投融资资源。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杨浦区科技企业联合会：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覆盖七大战新产业的会员企业网络，直接招商渠道。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您本人：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跨组织协同纽带 + 轻资产拓展操盘能力（关键）。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INSIGHT · 核心判断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两大诉求的背后，是“内容 + 运营”的缺口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394960" cy="201168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5394960" cy="566928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54480"/>
            <a:ext cx="5120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诉求 1 · 轻资产拓展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212848"/>
            <a:ext cx="508406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以大学路五角场创新创业学院为基础，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寻找高空置率物业进行合作。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痛点：业主方凭什么把盘子交出来？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5394960" cy="201168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394960" cy="566928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554480"/>
            <a:ext cx="5120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诉求 2 · 招商对接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212848"/>
            <a:ext cx="508406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为产业办公用地寻找招商租客，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吸引企业入驻。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痛点：纯中介式招商无护城河、匹配度低。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2286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146304" cy="2286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6B8C6"/>
                </a:solidFill>
                <a:latin typeface="微软雅黑"/>
                <a:ea typeface="微软雅黑"/>
              </a:rPr>
              <a:t>本质问题不是物业和招商，而是 ——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产业内容不足  +  运营能力缺失。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E8EEF6"/>
                </a:solidFill>
                <a:latin typeface="微软雅黑"/>
                <a:ea typeface="微软雅黑"/>
              </a:rPr>
              <a:t>我们恰好能补这块能力，并把“找物业 / 找租客”升级为“资产重塑 + 生态导入”。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合作点 1 · 轻资产拓展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从“找空置”升级为“资产重塑与联营”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3566160" cy="23317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566160" cy="566928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08760"/>
            <a:ext cx="3291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① 政产学研赋能包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67128"/>
            <a:ext cx="3255264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复旦中心出具区域产业焕新 / 城市更新评估，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为国企、政府平台业主方提供理论背书，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大幅提升交盘信任度与合作意愿。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508760"/>
            <a:ext cx="3566160" cy="23317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08760"/>
            <a:ext cx="3566160" cy="566928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508760"/>
            <a:ext cx="3291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② 复用操盘 · 品牌+运营双输出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167128"/>
            <a:ext cx="3255264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复用杨浦科技商业广场出租率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70% → 90%+ 的盘活逻辑；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对方输出品牌+产业资源，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我方输出资产调改与运营体系。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508760"/>
            <a:ext cx="3566160" cy="23317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508760"/>
            <a:ext cx="3566160" cy="566928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508760"/>
            <a:ext cx="3291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③ 主题先导区 · 产品化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2167128"/>
            <a:ext cx="3255264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不做传统二房东，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包装为“AI+产业加速器空间”，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如挂牌“杨浦大模型商业应用先导区”，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以明确定位提升物业溢价。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69080"/>
            <a:ext cx="11155680" cy="2194560"/>
          </a:xfrm>
          <a:prstGeom prst="rect">
            <a:avLst/>
          </a:prstGeom>
          <a:solidFill>
            <a:srgbClr val="EA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B4F9C"/>
                </a:solidFill>
                <a:latin typeface="微软雅黑"/>
                <a:ea typeface="微软雅黑"/>
              </a:rPr>
              <a:t>空间产品形态（把物业变成可持续招商、可变现的“产业产品”）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754880"/>
            <a:ext cx="251460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754880"/>
            <a:ext cx="91440" cy="128016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754880"/>
            <a:ext cx="2286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A2638"/>
                </a:solidFill>
                <a:latin typeface="微软雅黑"/>
                <a:ea typeface="微软雅黑"/>
              </a:rPr>
              <a:t>AI 企业轻办公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0" y="4754880"/>
            <a:ext cx="251460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0" y="4754880"/>
            <a:ext cx="91440" cy="128016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4754880"/>
            <a:ext cx="2286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A2638"/>
                </a:solidFill>
                <a:latin typeface="微软雅黑"/>
                <a:ea typeface="微软雅黑"/>
              </a:rPr>
              <a:t>AI 应用展示厅（可招商）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754880"/>
            <a:ext cx="251460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4754880"/>
            <a:ext cx="91440" cy="128016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754880"/>
            <a:ext cx="2286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A2638"/>
                </a:solidFill>
                <a:latin typeface="微软雅黑"/>
                <a:ea typeface="微软雅黑"/>
              </a:rPr>
              <a:t>AI 路演 / 活动厅（变现）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0" y="4754880"/>
            <a:ext cx="251460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61120" y="4754880"/>
            <a:ext cx="91440" cy="128016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4754880"/>
            <a:ext cx="2286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A2638"/>
                </a:solidFill>
                <a:latin typeface="微软雅黑"/>
                <a:ea typeface="微软雅黑"/>
              </a:rPr>
              <a:t>算力接入点（云基地结合）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合作点 2 · 招商对接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从“盲目找租客”转向“生态圈定向导入”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B4F9C"/>
                </a:solidFill>
                <a:latin typeface="微软雅黑"/>
                <a:ea typeface="微软雅黑"/>
              </a:rPr>
              <a:t>不是招商，而是帮对方构建一个产业生态结构 —— 分层招商模型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874519"/>
          <a:ext cx="7040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011680"/>
                <a:gridCol w="201168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层级</a:t>
                      </a:r>
                    </a:p>
                  </a:txBody>
                  <a:tcPr anchor="ctr" marL="91440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类型</a:t>
                      </a:r>
                    </a:p>
                  </a:txBody>
                  <a:tcPr anchor="ctr" marL="91440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来源</a:t>
                      </a:r>
                    </a:p>
                  </a:txBody>
                  <a:tcPr anchor="ctr" marL="91440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anchor="ctr" marL="91440" marR="73152" marT="36576" marB="36576">
                    <a:solidFill>
                      <a:srgbClr val="0B1F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S 层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AI 独角兽 / 龙头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组委会 / 峰会资源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提升品牌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A 层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成长型 AI 公司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联合会 / 复旦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稳定租金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B 层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初创团队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学院 / 孵化器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638"/>
                          </a:solidFill>
                          <a:latin typeface="微软雅黑"/>
                        </a:rPr>
                        <a:t>填充空间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182880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300" b="1">
                <a:solidFill>
                  <a:srgbClr val="1A2638"/>
                </a:solidFill>
                <a:latin typeface="微软雅黑"/>
              </a:rPr>
              <a:t>承接峰会长尾红利：  </a:t>
            </a:r>
            <a:r>
              <a:rPr sz="1300" b="0">
                <a:solidFill>
                  <a:srgbClr val="5B6B82"/>
                </a:solidFill>
                <a:latin typeface="微软雅黑"/>
              </a:rPr>
              <a:t>将联合会内有扩张/选址需求企业作为首批“种子租客”定向导入。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300" b="1">
                <a:solidFill>
                  <a:srgbClr val="1A2638"/>
                </a:solidFill>
                <a:latin typeface="微软雅黑"/>
              </a:rPr>
              <a:t>AI 落地赋能包作招商诱饵：  </a:t>
            </a:r>
            <a:r>
              <a:rPr sz="1300" b="0">
                <a:solidFill>
                  <a:srgbClr val="5B6B82"/>
                </a:solidFill>
                <a:latin typeface="微软雅黑"/>
              </a:rPr>
              <a:t>AI 招聘/视频矩阵/数据分析等工作流打包为“智慧企业入驻包”。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300" b="1">
                <a:solidFill>
                  <a:srgbClr val="1A2638"/>
                </a:solidFill>
                <a:latin typeface="微软雅黑"/>
              </a:rPr>
              <a:t>科技金融加速器节点：  </a:t>
            </a:r>
            <a:r>
              <a:rPr sz="1300" b="0">
                <a:solidFill>
                  <a:srgbClr val="5B6B82"/>
                </a:solidFill>
                <a:latin typeface="微软雅黑"/>
              </a:rPr>
              <a:t>联合泰隆银行等，设专属科技金融触点，空间+技术+资本闭环。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差异化杀手锏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AI 商业化落地试验场（Demo City）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B4F9C"/>
                </a:solidFill>
                <a:latin typeface="微软雅黑"/>
                <a:ea typeface="微软雅黑"/>
              </a:rPr>
              <a:t>把这里做成“上海 AI 商业化落地样板点”，而不是一个普通产业园。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3520440" cy="173736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3520440" cy="566928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11680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云计算基地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70048"/>
            <a:ext cx="320954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提供算力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提供真实落地场景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3520440" cy="173736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2011680"/>
            <a:ext cx="3520440" cy="566928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011680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创新创业学院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670048"/>
            <a:ext cx="320954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提供人才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提供课程与培训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2011680"/>
            <a:ext cx="3520440" cy="173736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2011680"/>
            <a:ext cx="3520440" cy="566928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2011680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0B1F3A"/>
                </a:solidFill>
                <a:latin typeface="微软雅黑"/>
                <a:ea typeface="微软雅黑"/>
              </a:rPr>
              <a:t>我们四方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670048"/>
            <a:ext cx="320954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提供项目与企业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50" b="0">
                <a:solidFill>
                  <a:srgbClr val="1A2638"/>
                </a:solidFill>
                <a:latin typeface="微软雅黑"/>
                <a:ea typeface="微软雅黑"/>
              </a:rPr>
              <a:t>提供商业化方法论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solidFill>
            <a:srgbClr val="EA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160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B4F9C"/>
                </a:solidFill>
                <a:latin typeface="微软雅黑"/>
                <a:ea typeface="微软雅黑"/>
              </a:rPr>
              <a:t>三大落地场景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709160"/>
            <a:ext cx="338328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4709160"/>
            <a:ext cx="91440" cy="132588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800600"/>
            <a:ext cx="31089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A2638"/>
                </a:solidFill>
                <a:latin typeface="微软雅黑"/>
                <a:ea typeface="微软雅黑"/>
              </a:rPr>
              <a:t>AI + 零售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微软雅黑"/>
                <a:ea typeface="微软雅黑"/>
              </a:rPr>
              <a:t>依托大学路商业场景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4709160"/>
            <a:ext cx="338328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4709160"/>
            <a:ext cx="91440" cy="132588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4800600"/>
            <a:ext cx="31089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A2638"/>
                </a:solidFill>
                <a:latin typeface="微软雅黑"/>
                <a:ea typeface="微软雅黑"/>
              </a:rPr>
              <a:t>AI + 商业地产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微软雅黑"/>
                <a:ea typeface="微软雅黑"/>
              </a:rPr>
              <a:t>空置物业智能盘活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4709160"/>
            <a:ext cx="338328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4709160"/>
            <a:ext cx="91440" cy="132588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7888" y="4800600"/>
            <a:ext cx="31089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A2638"/>
                </a:solidFill>
                <a:latin typeface="微软雅黑"/>
                <a:ea typeface="微软雅黑"/>
              </a:rPr>
              <a:t>AI + 办公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5B6B82"/>
                </a:solidFill>
                <a:latin typeface="微软雅黑"/>
                <a:ea typeface="微软雅黑"/>
              </a:rPr>
              <a:t>智能办公空间样板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运营引流 · 治本之策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内容 + 活动引流：空间是容器，没有内容必然空置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2606040" cy="21031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2606040" cy="640080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IP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1A2638"/>
                </a:solidFill>
                <a:latin typeface="微软雅黑"/>
                <a:ea typeface="微软雅黑"/>
              </a:rPr>
              <a:t>AI 产业私董会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B6B82"/>
                </a:solidFill>
                <a:latin typeface="微软雅黑"/>
                <a:ea typeface="微软雅黑"/>
              </a:rPr>
              <a:t>高端 · 圈层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21031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737360"/>
            <a:ext cx="2606040" cy="64008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73736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IP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1460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1A2638"/>
                </a:solidFill>
                <a:latin typeface="微软雅黑"/>
                <a:ea typeface="微软雅黑"/>
              </a:rPr>
              <a:t>AI Demo Day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B6B82"/>
                </a:solidFill>
                <a:latin typeface="微软雅黑"/>
                <a:ea typeface="微软雅黑"/>
              </a:rPr>
              <a:t>招商 · 路演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737360"/>
            <a:ext cx="2606040" cy="21031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37360"/>
            <a:ext cx="2606040" cy="64008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73736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B1F3A"/>
                </a:solidFill>
                <a:latin typeface="微软雅黑"/>
                <a:ea typeface="微软雅黑"/>
              </a:rPr>
              <a:t>IP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51460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1A2638"/>
                </a:solidFill>
                <a:latin typeface="微软雅黑"/>
                <a:ea typeface="微软雅黑"/>
              </a:rPr>
              <a:t>AI 应用展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B6B82"/>
                </a:solidFill>
                <a:latin typeface="微软雅黑"/>
                <a:ea typeface="微软雅黑"/>
              </a:rPr>
              <a:t>To G / To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737360"/>
            <a:ext cx="2606040" cy="21031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737360"/>
            <a:ext cx="2606040" cy="640080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173736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IP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514600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>
                <a:solidFill>
                  <a:srgbClr val="1A2638"/>
                </a:solidFill>
                <a:latin typeface="微软雅黑"/>
                <a:ea typeface="微软雅黑"/>
              </a:rPr>
              <a:t>复旦 + 产业课程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B6B82"/>
                </a:solidFill>
                <a:latin typeface="微软雅黑"/>
                <a:ea typeface="微软雅黑"/>
              </a:rPr>
              <a:t>收费 · 人才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206240"/>
            <a:ext cx="11155680" cy="19202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06240"/>
            <a:ext cx="146304" cy="192024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4348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核心逻辑：空间 = 内容容器。固定 IP 活动持续制造流量、人气与签约线索，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F2B632"/>
                </a:solidFill>
                <a:latin typeface="微软雅黑"/>
                <a:ea typeface="微软雅黑"/>
              </a:rPr>
              <a:t>从根本上解决空置问题，并反哺招商与品牌溢价。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GOVERNANCE · 合作阵型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四方分工与协同机制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47548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组织方</a:t>
                      </a:r>
                    </a:p>
                  </a:txBody>
                  <a:tcPr anchor="ctr" marL="91440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定位 / 核心职责</a:t>
                      </a:r>
                    </a:p>
                  </a:txBody>
                  <a:tcPr anchor="ctr" marL="91440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落地抓手</a:t>
                      </a:r>
                    </a:p>
                  </a:txBody>
                  <a:tcPr anchor="ctr" marL="91440" marR="73152" marT="36576" marB="36576">
                    <a:solidFill>
                      <a:srgbClr val="0B1F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云计算创新基地 / 五角场创新创业学院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产业原点 · 提供孵化体系与空间品牌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产业准入标准、开放活动平台、输出运营管理模式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复旦大学住房政策研究中心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智库大脑 · 资产评估与政策支持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物业改造可行性报告、城市更新补贴、人才公寓配套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人工智能商业化落地组委会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流量漏斗(技术) · AI 内容与投融资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AI 场景对接会、优质企业筛选、商业化落地辅导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杨浦区科技企业联合会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流量漏斗(企业) · 招商渠道与跨区联动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企业需求数据库、组织会员考察、对接各地商会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035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B4F9C"/>
                </a:solidFill>
                <a:latin typeface="微软雅黑"/>
                <a:ea typeface="微软雅黑"/>
              </a:rPr>
              <a:t>协同机制：</a:t>
            </a:r>
            <a:r>
              <a:rPr sz="1400" b="0">
                <a:solidFill>
                  <a:srgbClr val="5B6B82"/>
                </a:solidFill>
                <a:latin typeface="微软雅黑"/>
                <a:ea typeface="微软雅黑"/>
              </a:rPr>
              <a:t>四方联席工作组（每月对齐）· 资源共享清单 · 战略合作备忘录（明确佣金与运营分成比例）。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BUSINESS MODEL · 收益结构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合作分工 × 收益模式：拿到“运营权 + 导入权”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B4F9C"/>
                </a:solidFill>
                <a:latin typeface="微软雅黑"/>
                <a:ea typeface="微软雅黑"/>
              </a:rPr>
              <a:t>合作分工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48840"/>
                <a:gridCol w="2148840"/>
              </a:tblGrid>
              <a:tr h="58521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模块</a:t>
                      </a:r>
                    </a:p>
                  </a:txBody>
                  <a:tcPr anchor="ctr" marL="91440" marR="73152" marT="36576" marB="36576">
                    <a:solidFill>
                      <a:srgbClr val="1B4F9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对方（云基地）</a:t>
                      </a:r>
                    </a:p>
                  </a:txBody>
                  <a:tcPr anchor="ctr" marL="91440" marR="73152" marT="36576" marB="36576">
                    <a:solidFill>
                      <a:srgbClr val="1B4F9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我们</a:t>
                      </a:r>
                    </a:p>
                  </a:txBody>
                  <a:tcPr anchor="ctr" marL="91440" marR="73152" marT="36576" marB="36576">
                    <a:solidFill>
                      <a:srgbClr val="1B4F9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空间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提供物业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选址 + 定位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招商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政策资源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企业导入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运营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基础管理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内容 + 活动 + 社群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品牌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政府背书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2638"/>
                          </a:solidFill>
                          <a:latin typeface="微软雅黑"/>
                        </a:rPr>
                        <a:t>AI 产业 IP</a:t>
                      </a:r>
                    </a:p>
                  </a:txBody>
                  <a:tcPr anchor="ctr" marL="91440" marR="73152" marT="36576" marB="36576"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371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6B8C6"/>
                </a:solidFill>
                <a:latin typeface="微软雅黑"/>
                <a:ea typeface="微软雅黑"/>
              </a:rPr>
              <a:t>收入模式（我方主动提）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① 租金分成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—— 核心收益来源。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② 企业服务费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—— 培训 / 咨询 / AI 赋能包。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③ 活动收入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—— 私董会 / Demo Day / 展会。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6B8C6"/>
                </a:solidFill>
                <a:latin typeface="微软雅黑"/>
              </a:rPr>
              <a:t>▍</a:t>
            </a:r>
            <a:r>
              <a:rPr sz="1400" b="1">
                <a:solidFill>
                  <a:srgbClr val="1A2638"/>
                </a:solidFill>
                <a:latin typeface="微软雅黑"/>
              </a:rPr>
              <a:t>④ 政策补贴联合申报  </a:t>
            </a:r>
            <a:r>
              <a:rPr sz="1400" b="0">
                <a:solidFill>
                  <a:srgbClr val="5B6B82"/>
                </a:solidFill>
                <a:latin typeface="微软雅黑"/>
              </a:rPr>
              <a:t>—— 城市更新、保租房等。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074920"/>
            <a:ext cx="11155680" cy="1280160"/>
          </a:xfrm>
          <a:prstGeom prst="rect">
            <a:avLst/>
          </a:prstGeom>
          <a:solidFill>
            <a:srgbClr val="EA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074920"/>
            <a:ext cx="146304" cy="128016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106070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B4F9C"/>
                </a:solidFill>
                <a:latin typeface="微软雅黑"/>
                <a:ea typeface="微软雅黑"/>
              </a:rPr>
              <a:t>关键原则：</a:t>
            </a:r>
            <a:r>
              <a:rPr sz="1500" b="0">
                <a:solidFill>
                  <a:srgbClr val="1A2638"/>
                </a:solidFill>
                <a:latin typeface="微软雅黑"/>
                <a:ea typeface="微软雅黑"/>
              </a:rPr>
              <a:t>我方必须拿到“运营权 + 产业导入权”，否则只是给资源平台打工，无法形成可复制的产品与护城河。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6B8C6"/>
                </a:solidFill>
                <a:latin typeface="微软雅黑"/>
                <a:ea typeface="微软雅黑"/>
              </a:rPr>
              <a:t>ACTION · 即刻启动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三个“立即启动”项目（承接 5·22 峰会余热）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146304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C446E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11155680" cy="14173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1188720" cy="1417320"/>
          </a:xfrm>
          <a:prstGeom prst="rect">
            <a:avLst/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18872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618488"/>
            <a:ext cx="9509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1A2638"/>
                </a:solidFill>
                <a:latin typeface="微软雅黑"/>
                <a:ea typeface="微软雅黑"/>
              </a:rPr>
              <a:t>AI 产业社区试点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微软雅黑"/>
                <a:ea typeface="微软雅黑"/>
              </a:rPr>
              <a:t>联合考察对方推荐的 1–2 个空置物业（大学路 / 杨浦滨江）。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1B4F9C"/>
                </a:solidFill>
                <a:latin typeface="微软雅黑"/>
                <a:ea typeface="微软雅黑"/>
              </a:rPr>
              <a:t>交付：2 周内出具《产业社区改造初步方案》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11155680" cy="14173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1188720" cy="141732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8872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18688"/>
            <a:ext cx="9509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1A2638"/>
                </a:solidFill>
                <a:latin typeface="微软雅黑"/>
                <a:ea typeface="微软雅黑"/>
              </a:rPr>
              <a:t>企业需求数据库共建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微软雅黑"/>
                <a:ea typeface="微软雅黑"/>
              </a:rPr>
              <a:t>本周启动联合会会员企业扩租 / 迁址需求调研。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1B4F9C"/>
                </a:solidFill>
                <a:latin typeface="微软雅黑"/>
                <a:ea typeface="微软雅黑"/>
              </a:rPr>
              <a:t>交付：1 个月内形成首批 50 家目标企业清单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709160"/>
            <a:ext cx="11155680" cy="141732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09160"/>
            <a:ext cx="1188720" cy="141732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709160"/>
            <a:ext cx="118872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0B1F3A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818888"/>
            <a:ext cx="9509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1A2638"/>
                </a:solidFill>
                <a:latin typeface="微软雅黑"/>
                <a:ea typeface="微软雅黑"/>
              </a:rPr>
              <a:t>首场 AI 场景对接会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微软雅黑"/>
                <a:ea typeface="微软雅黑"/>
              </a:rPr>
              <a:t>7 月办首场“AI 企业走进云计算创新基地”活动。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1B4F9C"/>
                </a:solidFill>
                <a:latin typeface="微软雅黑"/>
                <a:ea typeface="微软雅黑"/>
              </a:rPr>
              <a:t>交付：活动方案 + 拟邀企业名单（本周完成）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6B8C6"/>
                </a:solidFill>
                <a:latin typeface="微软雅黑"/>
                <a:ea typeface="微软雅黑"/>
              </a:rPr>
              <a:t>核心价值主张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“我们不是来租您房子的 ——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1">
                <a:solidFill>
                  <a:srgbClr val="F2B632"/>
                </a:solidFill>
                <a:latin typeface="微软雅黑"/>
                <a:ea typeface="微软雅黑"/>
              </a:rPr>
              <a:t>  是来帮您把空置物业变成 AI 产业资产的。”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26080"/>
            <a:ext cx="3383280" cy="1371600"/>
          </a:xfrm>
          <a:prstGeom prst="rect">
            <a:avLst/>
          </a:prstGeom>
          <a:solidFill>
            <a:srgbClr val="12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926080"/>
            <a:ext cx="3383280" cy="73152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3108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B632"/>
                </a:solidFill>
                <a:latin typeface="微软雅黑"/>
                <a:ea typeface="微软雅黑"/>
              </a:rPr>
              <a:t>模式不一样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E8EEF6"/>
                </a:solidFill>
                <a:latin typeface="微软雅黑"/>
                <a:ea typeface="微软雅黑"/>
              </a:rPr>
              <a:t>不做二房东，做产业运营服务商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926080"/>
            <a:ext cx="3383280" cy="1371600"/>
          </a:xfrm>
          <a:prstGeom prst="rect">
            <a:avLst/>
          </a:prstGeom>
          <a:solidFill>
            <a:srgbClr val="12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2926080"/>
            <a:ext cx="3383280" cy="73152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063240"/>
            <a:ext cx="3108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B632"/>
                </a:solidFill>
                <a:latin typeface="微软雅黑"/>
                <a:ea typeface="微软雅黑"/>
              </a:rPr>
              <a:t>招商不一样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E8EEF6"/>
                </a:solidFill>
                <a:latin typeface="微软雅黑"/>
                <a:ea typeface="微软雅黑"/>
              </a:rPr>
              <a:t>不靠中介，靠产业生态精准匹配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926080"/>
            <a:ext cx="3383280" cy="1371600"/>
          </a:xfrm>
          <a:prstGeom prst="rect">
            <a:avLst/>
          </a:prstGeom>
          <a:solidFill>
            <a:srgbClr val="12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926080"/>
            <a:ext cx="3383280" cy="73152"/>
          </a:xfrm>
          <a:prstGeom prst="rect">
            <a:avLst/>
          </a:prstGeom>
          <a:solidFill>
            <a:srgbClr val="16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063240"/>
            <a:ext cx="3108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2B632"/>
                </a:solidFill>
                <a:latin typeface="微软雅黑"/>
                <a:ea typeface="微软雅黑"/>
              </a:rPr>
              <a:t>价值不一样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E8EEF6"/>
                </a:solidFill>
                <a:latin typeface="微软雅黑"/>
                <a:ea typeface="微软雅黑"/>
              </a:rPr>
              <a:t>不只填空置，更提升资产估值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663440"/>
            <a:ext cx="10515600" cy="1554480"/>
          </a:xfrm>
          <a:prstGeom prst="rect">
            <a:avLst/>
          </a:prstGeom>
          <a:solidFill>
            <a:srgbClr val="12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663440"/>
            <a:ext cx="146304" cy="1554480"/>
          </a:xfrm>
          <a:prstGeom prst="rect">
            <a:avLst/>
          </a:prstGeom>
          <a:solidFill>
            <a:srgbClr val="F2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80060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6B8C6"/>
                </a:solidFill>
                <a:latin typeface="微软雅黑"/>
                <a:ea typeface="微软雅黑"/>
              </a:rPr>
              <a:t>收口句：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“如果今天只是谈招商，我们做的是一单生意；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  如果我们一起做模型，这是一个可以复制到全国的产品。”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