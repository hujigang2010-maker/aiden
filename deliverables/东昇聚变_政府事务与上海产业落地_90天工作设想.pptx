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A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0C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A8B4"/>
                </a:solidFill>
                <a:latin typeface="微软雅黑"/>
                <a:ea typeface="微软雅黑"/>
              </a:rPr>
              <a:t>内部讨论稿 · 仅供公司高管阅示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东昇聚变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政府事务与上海产业落地 90 天工作设想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999232"/>
            <a:ext cx="2011680" cy="54864"/>
          </a:xfrm>
          <a:prstGeom prst="rect">
            <a:avLst/>
          </a:prstGeom>
          <a:solidFill>
            <a:srgbClr val="E3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A8B4"/>
                </a:solidFill>
                <a:latin typeface="微软雅黑"/>
                <a:ea typeface="微软雅黑"/>
              </a:rPr>
              <a:t>补位不抢位 · 先懂装置再对外 · 重资产看场域与财政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微软雅黑"/>
                <a:ea typeface="微软雅黑"/>
              </a:rPr>
              <a:t>给公司高管的一份入职工作设想：把政府事务做成可调用的地图，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微软雅黑"/>
                <a:ea typeface="微软雅黑"/>
              </a:rPr>
              <a:t>把上海落地做成可决策的比选，而不是再设一套拿地施工班子。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82512"/>
            <a:ext cx="109728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提交人  胡继刚      2026年9月      V1.0      入职后 T0 至 T+90（交接约一个月后启动）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A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713232"/>
          </a:xfrm>
          <a:prstGeom prst="rect">
            <a:avLst/>
          </a:prstGeom>
          <a:solidFill>
            <a:srgbClr val="07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92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A8B4"/>
                </a:solidFill>
                <a:latin typeface="微软雅黑"/>
                <a:ea typeface="微软雅黑"/>
              </a:rPr>
              <a:t>先对齐岗位边界，再谈 90 天能交出什么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565392"/>
            <a:ext cx="187451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微软雅黑"/>
                <a:ea typeface="微软雅黑"/>
              </a:rPr>
              <a:t>2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6539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6775"/>
                </a:solidFill>
                <a:latin typeface="微软雅黑"/>
                <a:ea typeface="微软雅黑"/>
              </a:rPr>
              <a:t>东昇聚变  ·  内部讨论稿 · 仅供公司高管阅示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097280"/>
            <a:ext cx="3611880" cy="2194560"/>
          </a:xfrm>
          <a:prstGeom prst="roundRect">
            <a:avLst>
              <a:gd name="adj" fmla="val 8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097280"/>
            <a:ext cx="91440" cy="2194560"/>
          </a:xfrm>
          <a:prstGeom prst="rect">
            <a:avLst/>
          </a:prstGeom>
          <a:solidFill>
            <a:srgbClr val="1FA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5331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A8B4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874520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71A2B"/>
                </a:solidFill>
                <a:latin typeface="微软雅黑"/>
                <a:ea typeface="微软雅黑"/>
              </a:rPr>
              <a:t>岗位怎么理解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37744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775"/>
                </a:solidFill>
                <a:latin typeface="微软雅黑"/>
                <a:ea typeface="微软雅黑"/>
              </a:rPr>
              <a:t>三张地图，一条边界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097280"/>
            <a:ext cx="3611880" cy="2194560"/>
          </a:xfrm>
          <a:prstGeom prst="roundRect">
            <a:avLst>
              <a:gd name="adj" fmla="val 8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1097280"/>
            <a:ext cx="91440" cy="2194560"/>
          </a:xfrm>
          <a:prstGeom prst="rect">
            <a:avLst/>
          </a:prstGeom>
          <a:solidFill>
            <a:srgbClr val="1FA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35331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A8B4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1874520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71A2B"/>
                </a:solidFill>
                <a:latin typeface="微软雅黑"/>
                <a:ea typeface="微软雅黑"/>
              </a:rPr>
              <a:t>上海落地判断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37744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775"/>
                </a:solidFill>
                <a:latin typeface="微软雅黑"/>
                <a:ea typeface="微软雅黑"/>
              </a:rPr>
              <a:t>重资产看浦东，杨浦做窗口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097280"/>
            <a:ext cx="3611880" cy="2194560"/>
          </a:xfrm>
          <a:prstGeom prst="roundRect">
            <a:avLst>
              <a:gd name="adj" fmla="val 8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097280"/>
            <a:ext cx="91440" cy="2194560"/>
          </a:xfrm>
          <a:prstGeom prst="rect">
            <a:avLst/>
          </a:prstGeom>
          <a:solidFill>
            <a:srgbClr val="1FA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135331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A8B4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1874520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71A2B"/>
                </a:solidFill>
                <a:latin typeface="微软雅黑"/>
                <a:ea typeface="微软雅黑"/>
              </a:rPr>
              <a:t>90 天总目标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37744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775"/>
                </a:solidFill>
                <a:latin typeface="微软雅黑"/>
                <a:ea typeface="微软雅黑"/>
              </a:rPr>
              <a:t>作战图 · 比选包 · 闭环清单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3566160"/>
            <a:ext cx="3611880" cy="2194560"/>
          </a:xfrm>
          <a:prstGeom prst="roundRect">
            <a:avLst>
              <a:gd name="adj" fmla="val 8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3566160"/>
            <a:ext cx="91440" cy="2194560"/>
          </a:xfrm>
          <a:prstGeom prst="rect">
            <a:avLst/>
          </a:prstGeom>
          <a:solidFill>
            <a:srgbClr val="E3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82219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A8B4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343400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71A2B"/>
                </a:solidFill>
                <a:latin typeface="微软雅黑"/>
                <a:ea typeface="微软雅黑"/>
              </a:rPr>
              <a:t>三阶段安排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84632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775"/>
                </a:solidFill>
                <a:latin typeface="微软雅黑"/>
                <a:ea typeface="微软雅黑"/>
              </a:rPr>
              <a:t>入局对齐 → 开渠比选 → 交卷闭环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51960" y="3566160"/>
            <a:ext cx="3611880" cy="2194560"/>
          </a:xfrm>
          <a:prstGeom prst="roundRect">
            <a:avLst>
              <a:gd name="adj" fmla="val 8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51960" y="3566160"/>
            <a:ext cx="91440" cy="2194560"/>
          </a:xfrm>
          <a:prstGeom prst="rect">
            <a:avLst/>
          </a:prstGeom>
          <a:solidFill>
            <a:srgbClr val="E3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80" y="382219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A8B4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4343400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71A2B"/>
                </a:solidFill>
                <a:latin typeface="微软雅黑"/>
                <a:ea typeface="微软雅黑"/>
              </a:rPr>
              <a:t>部门与风控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484632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775"/>
                </a:solidFill>
                <a:latin typeface="微软雅黑"/>
                <a:ea typeface="微软雅黑"/>
              </a:rPr>
              <a:t>补位拜访，指标翻译，不承包施工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92440" y="3566160"/>
            <a:ext cx="3611880" cy="2194560"/>
          </a:xfrm>
          <a:prstGeom prst="roundRect">
            <a:avLst>
              <a:gd name="adj" fmla="val 8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92440" y="3566160"/>
            <a:ext cx="91440" cy="2194560"/>
          </a:xfrm>
          <a:prstGeom prst="rect">
            <a:avLst/>
          </a:prstGeom>
          <a:solidFill>
            <a:srgbClr val="E3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6760" y="382219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A8B4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4343400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71A2B"/>
                </a:solidFill>
                <a:latin typeface="微软雅黑"/>
                <a:ea typeface="微软雅黑"/>
              </a:rPr>
              <a:t>节奏与支持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484632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775"/>
                </a:solidFill>
                <a:latin typeface="微软雅黑"/>
                <a:ea typeface="微软雅黑"/>
              </a:rPr>
              <a:t>周报、风险、需要公司打开的门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A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713232"/>
          </a:xfrm>
          <a:prstGeom prst="rect">
            <a:avLst/>
          </a:prstGeom>
          <a:solidFill>
            <a:srgbClr val="07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92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岗位怎么理解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A8B4"/>
                </a:solidFill>
                <a:latin typeface="微软雅黑"/>
                <a:ea typeface="微软雅黑"/>
              </a:rPr>
              <a:t>三张地图，一条边界——辅助高管，而不是替代合作方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565392"/>
            <a:ext cx="187451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微软雅黑"/>
                <a:ea typeface="微软雅黑"/>
              </a:rPr>
              <a:t>3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6539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6775"/>
                </a:solidFill>
                <a:latin typeface="微软雅黑"/>
                <a:ea typeface="微软雅黑"/>
              </a:rPr>
              <a:t>东昇聚变  ·  内部讨论稿 · 仅供公司高管阅示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987552"/>
            <a:ext cx="11384280" cy="77724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078992"/>
            <a:ext cx="110185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2433"/>
                </a:solidFill>
                <a:latin typeface="微软雅黑"/>
                <a:ea typeface="微软雅黑"/>
              </a:rPr>
              <a:t>本岗定位为公司高管的政府事务与上海产业落地参谋：把市—区关系、产业协同、落地风控做成可调用的三张地图，辅助战略判断与对外对接，而不是再设一套拿地施工班子。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920240"/>
            <a:ext cx="3657600" cy="3246120"/>
          </a:xfrm>
          <a:prstGeom prst="roundRect">
            <a:avLst>
              <a:gd name="adj" fmla="val 8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920240"/>
            <a:ext cx="3657600" cy="91440"/>
          </a:xfrm>
          <a:prstGeom prst="rect">
            <a:avLst/>
          </a:prstGeom>
          <a:solidFill>
            <a:srgbClr val="1FA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10312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71A2B"/>
                </a:solidFill>
                <a:latin typeface="微软雅黑"/>
                <a:ea typeface="微软雅黑"/>
              </a:rPr>
              <a:t>政府关系地图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45059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B6775"/>
                </a:solidFill>
                <a:latin typeface="微软雅黑"/>
                <a:ea typeface="微软雅黑"/>
              </a:rPr>
              <a:t>市—区两级说得上话、找得到人、不重复打扰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880360"/>
            <a:ext cx="3246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1A2433"/>
                </a:solidFill>
                <a:latin typeface="微软雅黑"/>
                <a:ea typeface="微软雅黑"/>
              </a:rPr>
              <a:t>·  先盘点公司已有处室关系，补位不抢位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1A2433"/>
                </a:solidFill>
                <a:latin typeface="微软雅黑"/>
                <a:ea typeface="微软雅黑"/>
              </a:rPr>
              <a:t>·  市级主通道：科委、投促；经信按阶段跟上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1A2433"/>
                </a:solidFill>
                <a:latin typeface="微软雅黑"/>
                <a:ea typeface="微软雅黑"/>
              </a:rPr>
              <a:t>·  浦东主攻落地，杨浦稳住高校与人才窗口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1920240"/>
            <a:ext cx="3657600" cy="3246120"/>
          </a:xfrm>
          <a:prstGeom prst="roundRect">
            <a:avLst>
              <a:gd name="adj" fmla="val 8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1920240"/>
            <a:ext cx="3657600" cy="91440"/>
          </a:xfrm>
          <a:prstGeom prst="rect">
            <a:avLst/>
          </a:prstGeom>
          <a:solidFill>
            <a:srgbClr val="E3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53128" y="210312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71A2B"/>
                </a:solidFill>
                <a:latin typeface="微软雅黑"/>
                <a:ea typeface="微软雅黑"/>
              </a:rPr>
              <a:t>产业协同地图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8" y="245059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B6775"/>
                </a:solidFill>
                <a:latin typeface="微软雅黑"/>
                <a:ea typeface="微软雅黑"/>
              </a:rPr>
              <a:t>装置上下游、高校、国资平台可被调用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2880360"/>
            <a:ext cx="3246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1A2433"/>
                </a:solidFill>
                <a:latin typeface="微软雅黑"/>
                <a:ea typeface="微软雅黑"/>
              </a:rPr>
              <a:t>·  梳理材料、超导、电源、真空、诊断等协同面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1A2433"/>
                </a:solidFill>
                <a:latin typeface="微软雅黑"/>
                <a:ea typeface="微软雅黑"/>
              </a:rPr>
              <a:t>·  复旦核物理与九三学社作学术沟通备选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1A2433"/>
                </a:solidFill>
                <a:latin typeface="微软雅黑"/>
                <a:ea typeface="微软雅黑"/>
              </a:rPr>
              <a:t>·  国资平台按有钱、有地、能谈政策分层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920240"/>
            <a:ext cx="3657600" cy="3246120"/>
          </a:xfrm>
          <a:prstGeom prst="roundRect">
            <a:avLst>
              <a:gd name="adj" fmla="val 8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1920240"/>
            <a:ext cx="3657600" cy="91440"/>
          </a:xfrm>
          <a:prstGeom prst="rect">
            <a:avLst/>
          </a:prstGeom>
          <a:solidFill>
            <a:srgbClr val="0C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93608" y="2103120"/>
            <a:ext cx="3246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71A2B"/>
                </a:solidFill>
                <a:latin typeface="微软雅黑"/>
                <a:ea typeface="微软雅黑"/>
              </a:rPr>
              <a:t>落地风控地图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8" y="2450592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B6775"/>
                </a:solidFill>
                <a:latin typeface="微软雅黑"/>
                <a:ea typeface="微软雅黑"/>
              </a:rPr>
              <a:t>拿地、建设、对赌的坑前置看见，而不是事后救火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08" y="2880360"/>
            <a:ext cx="3246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1A2433"/>
                </a:solidFill>
                <a:latin typeface="微软雅黑"/>
                <a:ea typeface="微软雅黑"/>
              </a:rPr>
              <a:t>·  用地性质、税收对赌、荷载净高一次说清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1A2433"/>
                </a:solidFill>
                <a:latin typeface="微软雅黑"/>
                <a:ea typeface="微软雅黑"/>
              </a:rPr>
              <a:t>·  报建施工交给合作方，本岗做指标翻译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1A2433"/>
                </a:solidFill>
                <a:latin typeface="微软雅黑"/>
                <a:ea typeface="微软雅黑"/>
              </a:rPr>
              <a:t>·  闲置面积与公摊计税会拉低平效，须锁死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A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713232"/>
          </a:xfrm>
          <a:prstGeom prst="rect">
            <a:avLst/>
          </a:prstGeom>
          <a:solidFill>
            <a:srgbClr val="07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92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一条边界，一个判断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A8B4"/>
                </a:solidFill>
                <a:latin typeface="微软雅黑"/>
                <a:ea typeface="微软雅黑"/>
              </a:rPr>
              <a:t>先写清不做什么，再写上海该往哪落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565392"/>
            <a:ext cx="187451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微软雅黑"/>
                <a:ea typeface="微软雅黑"/>
              </a:rPr>
              <a:t>4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6539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6775"/>
                </a:solidFill>
                <a:latin typeface="微软雅黑"/>
                <a:ea typeface="微软雅黑"/>
              </a:rPr>
              <a:t>东昇聚变  ·  内部讨论稿 · 仅供公司高管阅示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960120"/>
            <a:ext cx="5577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71A2B"/>
                </a:solidFill>
                <a:latin typeface="微软雅黑"/>
                <a:ea typeface="微软雅黑"/>
              </a:rPr>
              <a:t>本岗明确不做什么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325880"/>
            <a:ext cx="5669280" cy="4937760"/>
          </a:xfrm>
          <a:prstGeom prst="roundRect">
            <a:avLst>
              <a:gd name="adj" fmla="val 8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08760"/>
            <a:ext cx="525780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1A2433"/>
                </a:solidFill>
                <a:latin typeface="微软雅黑"/>
                <a:ea typeface="微软雅黑"/>
              </a:rPr>
              <a:t>·  拿地、报批报建、施工管理不是本岗主责，可由合作方承办；本岗负责政策口径、部门路径与风险前提醒。</a:t>
            </a:r>
          </a:p>
          <a:p>
            <a:pPr>
              <a:lnSpc>
                <a:spcPct val="112000"/>
              </a:lnSpc>
            </a:pPr>
            <a:r>
              <a:rPr sz="1300" b="0">
                <a:solidFill>
                  <a:srgbClr val="1A2433"/>
                </a:solidFill>
                <a:latin typeface="微软雅黑"/>
                <a:ea typeface="微软雅黑"/>
              </a:rPr>
              <a:t>·  公司已与市科委、经信委、国资委及相关处室建立联系，本岗不另起炉灶、不重复拜访。</a:t>
            </a:r>
          </a:p>
          <a:p>
            <a:pPr>
              <a:lnSpc>
                <a:spcPct val="112000"/>
              </a:lnSpc>
            </a:pPr>
            <a:r>
              <a:rPr sz="1300" b="0">
                <a:solidFill>
                  <a:srgbClr val="1A2433"/>
                </a:solidFill>
                <a:latin typeface="微软雅黑"/>
                <a:ea typeface="微软雅黑"/>
              </a:rPr>
              <a:t>·  聚变装置与关键节点需恶补，入职初期不带团队、不对外独立讲技术故事。</a:t>
            </a:r>
          </a:p>
          <a:p>
            <a:pPr>
              <a:lnSpc>
                <a:spcPct val="112000"/>
              </a:lnSpc>
            </a:pPr>
            <a:r>
              <a:rPr sz="1300" b="0">
                <a:solidFill>
                  <a:srgbClr val="1A2433"/>
                </a:solidFill>
                <a:latin typeface="微软雅黑"/>
                <a:ea typeface="微软雅黑"/>
              </a:rPr>
              <a:t>·  融资以公司融资团队为主责；本岗可提供硬科技机构名单与政府侧背书协同，不抢节奏。</a:t>
            </a:r>
          </a:p>
          <a:p>
            <a:pPr>
              <a:lnSpc>
                <a:spcPct val="112000"/>
              </a:lnSpc>
            </a:pPr>
            <a:r>
              <a:rPr sz="1300" b="0">
                <a:solidFill>
                  <a:srgbClr val="1A2433"/>
                </a:solidFill>
                <a:latin typeface="微软雅黑"/>
                <a:ea typeface="微软雅黑"/>
              </a:rPr>
              <a:t>·  政策与税收返还写成可核验路径，不把口头优惠写成收入承诺。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9601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71A2B"/>
                </a:solidFill>
                <a:latin typeface="微软雅黑"/>
                <a:ea typeface="微软雅黑"/>
              </a:rPr>
              <a:t>上海落地的基本判断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25880"/>
            <a:ext cx="5486400" cy="2331720"/>
          </a:xfrm>
          <a:prstGeom prst="roundRect">
            <a:avLst>
              <a:gd name="adj" fmla="val 8000"/>
            </a:avLst>
          </a:prstGeom>
          <a:solidFill>
            <a:srgbClr val="07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463040"/>
            <a:ext cx="512064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聚变是重投资、大装置行为。上海落地不能按互联网楼宇逻辑选点：要同时看财政能力、工业场域与承重、聚变政策是否真正可执行。杨浦是公司当前所在地和高校窗口，适合总部、研发与人才，但财政位势居全市中游，难以单独托住重资产投入。闵行马桥虽有专项场域，但同类企业密集，资源互挤，建议排除。重资产主方案应放在浦东（金桥/张江），杨浦做成协同方案，徐汇作政策对照而不作为大装置首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794760"/>
            <a:ext cx="5486400" cy="246888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93192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1A2433"/>
                </a:solidFill>
                <a:latin typeface="微软雅黑"/>
                <a:ea typeface="微软雅黑"/>
              </a:rPr>
              <a:t>·  重资产看三件事：区财政能否托住、工业场域能否放装置、承重/货梯/净高能否过关。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1A2433"/>
                </a:solidFill>
                <a:latin typeface="微软雅黑"/>
                <a:ea typeface="微软雅黑"/>
              </a:rPr>
              <a:t>·  轻资产看三件事：高校与人才、国资平台谁真正有钱、政策窗口还剩多久。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1A2433"/>
                </a:solidFill>
                <a:latin typeface="微软雅黑"/>
                <a:ea typeface="微软雅黑"/>
              </a:rPr>
              <a:t>·  马桥排除是产业策略，不是能力问题：同类企业同场会把土地、人才、政策同时打薄。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1A2433"/>
                </a:solidFill>
                <a:latin typeface="微软雅黑"/>
                <a:ea typeface="微软雅黑"/>
              </a:rPr>
              <a:t>·  公司已在浦东推进拿地沟通，且校领导大力支持——90 天工作是把这条线补全政策翻译与风控，而不是另开一条。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A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713232"/>
          </a:xfrm>
          <a:prstGeom prst="rect">
            <a:avLst/>
          </a:prstGeom>
          <a:solidFill>
            <a:srgbClr val="07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92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选址角色分工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A8B4"/>
                </a:solidFill>
                <a:latin typeface="微软雅黑"/>
                <a:ea typeface="微软雅黑"/>
              </a:rPr>
              <a:t>主方案、协同方案、排除与对照一次写死，避免情感选点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565392"/>
            <a:ext cx="187451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微软雅黑"/>
                <a:ea typeface="微软雅黑"/>
              </a:rPr>
              <a:t>5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6539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6775"/>
                </a:solidFill>
                <a:latin typeface="微软雅黑"/>
                <a:ea typeface="微软雅黑"/>
              </a:rPr>
              <a:t>东昇聚变  ·  内部讨论稿 · 仅供公司高管阅示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024128"/>
            <a:ext cx="3749039" cy="5212080"/>
          </a:xfrm>
          <a:prstGeom prst="roundRect">
            <a:avLst>
              <a:gd name="adj" fmla="val 8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024128"/>
            <a:ext cx="3749039" cy="1051560"/>
          </a:xfrm>
          <a:prstGeom prst="rect">
            <a:avLst/>
          </a:prstGeom>
          <a:solidFill>
            <a:srgbClr val="1FA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115568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主方案 · 浦东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81328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金桥看装置与制造，张江看研发与人才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240280"/>
            <a:ext cx="33832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1A2433"/>
                </a:solidFill>
                <a:latin typeface="微软雅黑"/>
                <a:ea typeface="微软雅黑"/>
              </a:rPr>
              <a:t>·  新区财政能够托住重资产对话</a:t>
            </a:r>
          </a:p>
          <a:p>
            <a:pPr>
              <a:lnSpc>
                <a:spcPct val="112000"/>
              </a:lnSpc>
            </a:pPr>
            <a:r>
              <a:rPr sz="1300" b="0">
                <a:solidFill>
                  <a:srgbClr val="1A2433"/>
                </a:solidFill>
                <a:latin typeface="微软雅黑"/>
                <a:ea typeface="微软雅黑"/>
              </a:rPr>
              <a:t>·  金桥工业场域与承重更对口大装置</a:t>
            </a:r>
          </a:p>
          <a:p>
            <a:pPr>
              <a:lnSpc>
                <a:spcPct val="112000"/>
              </a:lnSpc>
            </a:pPr>
            <a:r>
              <a:rPr sz="1300" b="0">
                <a:solidFill>
                  <a:srgbClr val="1A2433"/>
                </a:solidFill>
                <a:latin typeface="微软雅黑"/>
                <a:ea typeface="微软雅黑"/>
              </a:rPr>
              <a:t>·  张江科研配套完整，须逐栋核荷载</a:t>
            </a:r>
          </a:p>
          <a:p>
            <a:pPr>
              <a:lnSpc>
                <a:spcPct val="112000"/>
              </a:lnSpc>
            </a:pPr>
            <a:r>
              <a:rPr sz="1300" b="0">
                <a:solidFill>
                  <a:srgbClr val="1A2433"/>
                </a:solidFill>
                <a:latin typeface="微软雅黑"/>
                <a:ea typeface="微软雅黑"/>
              </a:rPr>
              <a:t>·  服务公司已在推进的拿地沟通，做条款翻译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024128"/>
            <a:ext cx="3749039" cy="5212080"/>
          </a:xfrm>
          <a:prstGeom prst="roundRect">
            <a:avLst>
              <a:gd name="adj" fmla="val 8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024128"/>
            <a:ext cx="3749039" cy="1051560"/>
          </a:xfrm>
          <a:prstGeom prst="rect">
            <a:avLst/>
          </a:prstGeom>
          <a:solidFill>
            <a:srgbClr val="E3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1115568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协同 · 杨浦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1481328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滨江与复兴岛做窗口，不扛重资产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2240280"/>
            <a:ext cx="33832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1A2433"/>
                </a:solidFill>
                <a:latin typeface="微软雅黑"/>
                <a:ea typeface="微软雅黑"/>
              </a:rPr>
              <a:t>·  十五五将聚变列入区级重点，高校红利在此</a:t>
            </a:r>
          </a:p>
          <a:p>
            <a:pPr>
              <a:lnSpc>
                <a:spcPct val="112000"/>
              </a:lnSpc>
            </a:pPr>
            <a:r>
              <a:rPr sz="1300" b="0">
                <a:solidFill>
                  <a:srgbClr val="1A2433"/>
                </a:solidFill>
                <a:latin typeface="微软雅黑"/>
                <a:ea typeface="微软雅黑"/>
              </a:rPr>
              <a:t>·  滨江平台相对有资金，其他平台负债偏高</a:t>
            </a:r>
          </a:p>
          <a:p>
            <a:pPr>
              <a:lnSpc>
                <a:spcPct val="112000"/>
              </a:lnSpc>
            </a:pPr>
            <a:r>
              <a:rPr sz="1300" b="0">
                <a:solidFill>
                  <a:srgbClr val="1A2433"/>
                </a:solidFill>
                <a:latin typeface="微软雅黑"/>
                <a:ea typeface="微软雅黑"/>
              </a:rPr>
              <a:t>·  复兴岛窗口短、剩余空间有限，轻资产才考虑</a:t>
            </a:r>
          </a:p>
          <a:p>
            <a:pPr>
              <a:lnSpc>
                <a:spcPct val="112000"/>
              </a:lnSpc>
            </a:pPr>
            <a:r>
              <a:rPr sz="1300" b="0">
                <a:solidFill>
                  <a:srgbClr val="1A2433"/>
                </a:solidFill>
                <a:latin typeface="微软雅黑"/>
                <a:ea typeface="微软雅黑"/>
              </a:rPr>
              <a:t>·  适合总部、研发、人才与学术背书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024128"/>
            <a:ext cx="3749039" cy="5212080"/>
          </a:xfrm>
          <a:prstGeom prst="roundRect">
            <a:avLst>
              <a:gd name="adj" fmla="val 8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024128"/>
            <a:ext cx="3749039" cy="1051560"/>
          </a:xfrm>
          <a:prstGeom prst="rect">
            <a:avLst/>
          </a:prstGeom>
          <a:solidFill>
            <a:srgbClr val="0C2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0768" y="1115568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排除 / 对照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768" y="1481328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马桥排除，徐汇对照，枢纽观察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0768" y="2240280"/>
            <a:ext cx="33832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1A2433"/>
                </a:solidFill>
                <a:latin typeface="微软雅黑"/>
                <a:ea typeface="微软雅黑"/>
              </a:rPr>
              <a:t>·  马桥政策浓度高，但同类企业同场互挤</a:t>
            </a:r>
          </a:p>
          <a:p>
            <a:pPr>
              <a:lnSpc>
                <a:spcPct val="112000"/>
              </a:lnSpc>
            </a:pPr>
            <a:r>
              <a:rPr sz="1300" b="0">
                <a:solidFill>
                  <a:srgbClr val="1A2433"/>
                </a:solidFill>
                <a:latin typeface="微软雅黑"/>
                <a:ea typeface="微软雅黑"/>
              </a:rPr>
              <a:t>·  徐汇财政强、楼宇承重弱，排除大装置</a:t>
            </a:r>
          </a:p>
          <a:p>
            <a:pPr>
              <a:lnSpc>
                <a:spcPct val="112000"/>
              </a:lnSpc>
            </a:pPr>
            <a:r>
              <a:rPr sz="1300" b="0">
                <a:solidFill>
                  <a:srgbClr val="1A2433"/>
                </a:solidFill>
                <a:latin typeface="微软雅黑"/>
                <a:ea typeface="微软雅黑"/>
              </a:rPr>
              <a:t>·  东方枢纽作外向协同观察，不纳入主装置</a:t>
            </a:r>
          </a:p>
          <a:p>
            <a:pPr>
              <a:lnSpc>
                <a:spcPct val="112000"/>
              </a:lnSpc>
            </a:pPr>
            <a:r>
              <a:rPr sz="1300" b="0">
                <a:solidFill>
                  <a:srgbClr val="1A2433"/>
                </a:solidFill>
                <a:latin typeface="微软雅黑"/>
                <a:ea typeface="微软雅黑"/>
              </a:rPr>
              <a:t>·  比选表进高管会，不靠口头偏好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A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713232"/>
          </a:xfrm>
          <a:prstGeom prst="rect">
            <a:avLst/>
          </a:prstGeom>
          <a:solidFill>
            <a:srgbClr val="07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92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90 天总目标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A8B4"/>
                </a:solidFill>
                <a:latin typeface="微软雅黑"/>
                <a:ea typeface="微软雅黑"/>
              </a:rPr>
              <a:t>可汇报、可决策、可继续往下干的三件套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565392"/>
            <a:ext cx="187451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微软雅黑"/>
                <a:ea typeface="微软雅黑"/>
              </a:rPr>
              <a:t>6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6539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6775"/>
                </a:solidFill>
                <a:latin typeface="微软雅黑"/>
                <a:ea typeface="微软雅黑"/>
              </a:rPr>
              <a:t>东昇聚变  ·  内部讨论稿 · 仅供公司高管阅示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005840"/>
            <a:ext cx="11384280" cy="777240"/>
          </a:xfrm>
          <a:prstGeom prst="roundRect">
            <a:avLst>
              <a:gd name="adj" fmla="val 8000"/>
            </a:avLst>
          </a:prstGeom>
          <a:solidFill>
            <a:srgbClr val="07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115568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微软雅黑"/>
                <a:ea typeface="微软雅黑"/>
              </a:rPr>
              <a:t>90 天内形成可汇报、可决策、可继续往下干的“三件套”，让高管对外有地图、对内有边界、对下一季度有节奏。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965960"/>
            <a:ext cx="3657600" cy="4160520"/>
          </a:xfrm>
          <a:prstGeom prst="roundRect">
            <a:avLst>
              <a:gd name="adj" fmla="val 8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4884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A8B4"/>
                </a:solidFill>
                <a:latin typeface="微软雅黑"/>
                <a:ea typeface="微软雅黑"/>
              </a:rPr>
              <a:t>交付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14600"/>
            <a:ext cx="3200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71A2B"/>
                </a:solidFill>
                <a:latin typeface="微软雅黑"/>
                <a:ea typeface="微软雅黑"/>
              </a:rPr>
              <a:t>政府关系作战图 V1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3200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2433"/>
                </a:solidFill>
                <a:latin typeface="微软雅黑"/>
                <a:ea typeface="微软雅黑"/>
              </a:rPr>
              <a:t>已对接处室、补位对象、不宜重复打扰名单、推荐沟通顺序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02920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6775"/>
                </a:solidFill>
                <a:latin typeface="微软雅黑"/>
                <a:ea typeface="微软雅黑"/>
              </a:rPr>
              <a:t>审定：本岗起草，于总分管审定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1965960"/>
            <a:ext cx="3657600" cy="4160520"/>
          </a:xfrm>
          <a:prstGeom prst="roundRect">
            <a:avLst>
              <a:gd name="adj" fmla="val 8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214884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A8B4"/>
                </a:solidFill>
                <a:latin typeface="微软雅黑"/>
                <a:ea typeface="微软雅黑"/>
              </a:rPr>
              <a:t>交付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514600"/>
            <a:ext cx="3200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71A2B"/>
                </a:solidFill>
                <a:latin typeface="微软雅黑"/>
                <a:ea typeface="微软雅黑"/>
              </a:rPr>
              <a:t>落地比选与政策包 V1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611880"/>
            <a:ext cx="3200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2433"/>
                </a:solidFill>
                <a:latin typeface="微软雅黑"/>
                <a:ea typeface="微软雅黑"/>
              </a:rPr>
              <a:t>浦东主方案 + 杨浦协同方案 + 徐汇对照；用地与建设指标风险备忘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502920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6775"/>
                </a:solidFill>
                <a:latin typeface="微软雅黑"/>
                <a:ea typeface="微软雅黑"/>
              </a:rPr>
              <a:t>审定：本岗起草，叶总决策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965960"/>
            <a:ext cx="3657600" cy="4160520"/>
          </a:xfrm>
          <a:prstGeom prst="roundRect">
            <a:avLst>
              <a:gd name="adj" fmla="val 8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214884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A8B4"/>
                </a:solidFill>
                <a:latin typeface="微软雅黑"/>
                <a:ea typeface="微软雅黑"/>
              </a:rPr>
              <a:t>交付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514600"/>
            <a:ext cx="3200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71A2B"/>
                </a:solidFill>
                <a:latin typeface="微软雅黑"/>
                <a:ea typeface="微软雅黑"/>
              </a:rPr>
              <a:t>90 天事项闭环清单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611880"/>
            <a:ext cx="3200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2433"/>
                </a:solidFill>
                <a:latin typeface="微软雅黑"/>
                <a:ea typeface="微软雅黑"/>
              </a:rPr>
              <a:t>对接纪要、1–2 条可启动申报路径、硬科技机构短名单、下季度建议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502920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B6775"/>
                </a:solidFill>
                <a:latin typeface="微软雅黑"/>
                <a:ea typeface="微软雅黑"/>
              </a:rPr>
              <a:t>审定：本岗汇总，分管高管过目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A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713232"/>
          </a:xfrm>
          <a:prstGeom prst="rect">
            <a:avLst/>
          </a:prstGeom>
          <a:solidFill>
            <a:srgbClr val="07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92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三阶段总览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A8B4"/>
                </a:solidFill>
                <a:latin typeface="微软雅黑"/>
                <a:ea typeface="微软雅黑"/>
              </a:rPr>
              <a:t>入职后 T0 至 T+90（交接约一个月后启动）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565392"/>
            <a:ext cx="187451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微软雅黑"/>
                <a:ea typeface="微软雅黑"/>
              </a:rPr>
              <a:t>7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6539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6775"/>
                </a:solidFill>
                <a:latin typeface="微软雅黑"/>
                <a:ea typeface="微软雅黑"/>
              </a:rPr>
              <a:t>东昇聚变  ·  内部讨论稿 · 仅供公司高管阅示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051560"/>
            <a:ext cx="11384280" cy="1600200"/>
          </a:xfrm>
          <a:prstGeom prst="roundRect">
            <a:avLst>
              <a:gd name="adj" fmla="val 8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051560"/>
            <a:ext cx="1554480" cy="1600200"/>
          </a:xfrm>
          <a:prstGeom prst="rect">
            <a:avLst/>
          </a:prstGeom>
          <a:solidFill>
            <a:srgbClr val="07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7452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T0 – T+30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118872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71A2B"/>
                </a:solidFill>
                <a:latin typeface="微软雅黑"/>
                <a:ea typeface="微软雅黑"/>
              </a:rPr>
              <a:t>入局 · 对齐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1554480"/>
            <a:ext cx="3840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775"/>
                </a:solidFill>
                <a:latin typeface="微软雅黑"/>
                <a:ea typeface="微软雅黑"/>
              </a:rPr>
              <a:t>先把装置、公司诉求和已有关系搞清楚，再出门。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216152"/>
            <a:ext cx="5440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1A2433"/>
                </a:solidFill>
                <a:latin typeface="微软雅黑"/>
                <a:ea typeface="微软雅黑"/>
              </a:rPr>
              <a:t>·  完成聚变装置与关键术语速成，形成内部学习笔记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1A2433"/>
                </a:solidFill>
                <a:latin typeface="微软雅黑"/>
                <a:ea typeface="微软雅黑"/>
              </a:rPr>
              <a:t>·  完成叶总、于总、卢总及业务条线一对一访谈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1A2433"/>
                </a:solidFill>
                <a:latin typeface="微软雅黑"/>
                <a:ea typeface="微软雅黑"/>
              </a:rPr>
              <a:t>·  输出《内部诉求与已有关系盘点》，明确补位边界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2788920"/>
            <a:ext cx="11384280" cy="1600200"/>
          </a:xfrm>
          <a:prstGeom prst="roundRect">
            <a:avLst>
              <a:gd name="adj" fmla="val 8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2788920"/>
            <a:ext cx="1554480" cy="1600200"/>
          </a:xfrm>
          <a:prstGeom prst="rect">
            <a:avLst/>
          </a:prstGeom>
          <a:solidFill>
            <a:srgbClr val="1FA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15468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61188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T+31 – T+60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292608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71A2B"/>
                </a:solidFill>
                <a:latin typeface="微软雅黑"/>
                <a:ea typeface="微软雅黑"/>
              </a:rPr>
              <a:t>开渠 · 比选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3291840"/>
            <a:ext cx="3840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775"/>
                </a:solidFill>
                <a:latin typeface="微软雅黑"/>
                <a:ea typeface="微软雅黑"/>
              </a:rPr>
              <a:t>按地图拜访，按指标比选，把浦东主方案写实。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953512"/>
            <a:ext cx="5440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1A2433"/>
                </a:solidFill>
                <a:latin typeface="微软雅黑"/>
                <a:ea typeface="微软雅黑"/>
              </a:rPr>
              <a:t>·  完成市级补位沟通（科委归口处室、投促；经信按已有关系协同）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1A2433"/>
                </a:solidFill>
                <a:latin typeface="微软雅黑"/>
                <a:ea typeface="微软雅黑"/>
              </a:rPr>
              <a:t>·  围绕浦东已有拿地沟通，做政策与建设指标翻译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1A2433"/>
                </a:solidFill>
                <a:latin typeface="微软雅黑"/>
                <a:ea typeface="微软雅黑"/>
              </a:rPr>
              <a:t>·  金桥、张江至少各一次现场核验（荷载、货梯、净高、净深、配套）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526279"/>
            <a:ext cx="11384280" cy="1600200"/>
          </a:xfrm>
          <a:prstGeom prst="roundRect">
            <a:avLst>
              <a:gd name="adj" fmla="val 8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4526279"/>
            <a:ext cx="1554480" cy="1600200"/>
          </a:xfrm>
          <a:prstGeom prst="rect">
            <a:avLst/>
          </a:prstGeom>
          <a:solidFill>
            <a:srgbClr val="07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892039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349239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T+61 – T+90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48840" y="4663439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71A2B"/>
                </a:solidFill>
                <a:latin typeface="微软雅黑"/>
                <a:ea typeface="微软雅黑"/>
              </a:rPr>
              <a:t>交卷 · 闭环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8840" y="5029199"/>
            <a:ext cx="3840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775"/>
                </a:solidFill>
                <a:latin typeface="微软雅黑"/>
                <a:ea typeface="微软雅黑"/>
              </a:rPr>
              <a:t>三件套进高管会，下一季度只留可执行事项。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4690871"/>
            <a:ext cx="5440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1A2433"/>
                </a:solidFill>
                <a:latin typeface="微软雅黑"/>
                <a:ea typeface="微软雅黑"/>
              </a:rPr>
              <a:t>·  向高管提交三件套并当面过一遍决策点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1A2433"/>
                </a:solidFill>
                <a:latin typeface="微软雅黑"/>
                <a:ea typeface="微软雅黑"/>
              </a:rPr>
              <a:t>·  明确 1–2 条市区政策申报启动路径（不承诺金额）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1A2433"/>
                </a:solidFill>
                <a:latin typeface="微软雅黑"/>
                <a:ea typeface="微软雅黑"/>
              </a:rPr>
              <a:t>·  向融资团队提交 15–20 家硬科技/能源/先进制造机构短名单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A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713232"/>
          </a:xfrm>
          <a:prstGeom prst="rect">
            <a:avLst/>
          </a:prstGeom>
          <a:solidFill>
            <a:srgbClr val="07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92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第一阶段  T0–T+30  入局 · 对齐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A8B4"/>
                </a:solidFill>
                <a:latin typeface="微软雅黑"/>
                <a:ea typeface="微软雅黑"/>
              </a:rPr>
              <a:t>先把装置、公司诉求和已有关系搞清楚，再出门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565392"/>
            <a:ext cx="187451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微软雅黑"/>
                <a:ea typeface="微软雅黑"/>
              </a:rPr>
              <a:t>8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6539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6775"/>
                </a:solidFill>
                <a:latin typeface="微软雅黑"/>
                <a:ea typeface="微软雅黑"/>
              </a:rPr>
              <a:t>东昇聚变  ·  内部讨论稿 · 仅供公司高管阅示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024128"/>
            <a:ext cx="3749039" cy="5212080"/>
          </a:xfrm>
          <a:prstGeom prst="roundRect">
            <a:avLst>
              <a:gd name="adj" fmla="val 8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024128"/>
            <a:ext cx="91440" cy="5212080"/>
          </a:xfrm>
          <a:prstGeom prst="rect">
            <a:avLst/>
          </a:prstGeom>
          <a:solidFill>
            <a:srgbClr val="1FA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188720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71A2B"/>
                </a:solidFill>
                <a:latin typeface="微软雅黑"/>
                <a:ea typeface="微软雅黑"/>
              </a:rPr>
              <a:t>装置与产业速成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691640"/>
            <a:ext cx="3291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1A2433"/>
                </a:solidFill>
                <a:latin typeface="微软雅黑"/>
                <a:ea typeface="微软雅黑"/>
              </a:rPr>
              <a:t>·  跟技术条线把装置类型、关键节点、安全与场地约束听懂，能复述不能班门弄斧</a:t>
            </a:r>
          </a:p>
          <a:p>
            <a:pPr>
              <a:lnSpc>
                <a:spcPct val="112000"/>
              </a:lnSpc>
            </a:pPr>
            <a:r>
              <a:rPr sz="1300" b="0">
                <a:solidFill>
                  <a:srgbClr val="1A2433"/>
                </a:solidFill>
                <a:latin typeface="微软雅黑"/>
                <a:ea typeface="微软雅黑"/>
              </a:rPr>
              <a:t>·  对照合肥、成都等大装置公开信息，搞清“上海能做什么、不能比什么”</a:t>
            </a:r>
          </a:p>
          <a:p>
            <a:pPr>
              <a:lnSpc>
                <a:spcPct val="112000"/>
              </a:lnSpc>
            </a:pPr>
            <a:r>
              <a:rPr sz="1300" b="0">
                <a:solidFill>
                  <a:srgbClr val="1A2433"/>
                </a:solidFill>
                <a:latin typeface="微软雅黑"/>
                <a:ea typeface="微软雅黑"/>
              </a:rPr>
              <a:t>·  整理聚变产业政策口径：国家十五五、上海新兴产业、杨浦区纲要中的相关表述</a:t>
            </a:r>
          </a:p>
          <a:p>
            <a:pPr>
              <a:lnSpc>
                <a:spcPct val="112000"/>
              </a:lnSpc>
            </a:pPr>
            <a:r>
              <a:rPr sz="1300" b="0">
                <a:solidFill>
                  <a:srgbClr val="1A2433"/>
                </a:solidFill>
                <a:latin typeface="微软雅黑"/>
                <a:ea typeface="微软雅黑"/>
              </a:rPr>
              <a:t>·  每周一次内部小课纪要，月底形成《聚变认知与对外口径备忘》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024128"/>
            <a:ext cx="3749039" cy="5212080"/>
          </a:xfrm>
          <a:prstGeom prst="roundRect">
            <a:avLst>
              <a:gd name="adj" fmla="val 8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024128"/>
            <a:ext cx="91440" cy="5212080"/>
          </a:xfrm>
          <a:prstGeom prst="rect">
            <a:avLst/>
          </a:prstGeom>
          <a:solidFill>
            <a:srgbClr val="1FA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188720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71A2B"/>
                </a:solidFill>
                <a:latin typeface="微软雅黑"/>
                <a:ea typeface="微软雅黑"/>
              </a:rPr>
              <a:t>内部对齐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691640"/>
            <a:ext cx="3291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1A2433"/>
                </a:solidFill>
                <a:latin typeface="微软雅黑"/>
                <a:ea typeface="微软雅黑"/>
              </a:rPr>
              <a:t>·  叶总：战略优先级、浦东拿地期望、对外形象边界</a:t>
            </a:r>
          </a:p>
          <a:p>
            <a:pPr>
              <a:lnSpc>
                <a:spcPct val="112000"/>
              </a:lnSpc>
            </a:pPr>
            <a:r>
              <a:rPr sz="1300" b="0">
                <a:solidFill>
                  <a:srgbClr val="1A2433"/>
                </a:solidFill>
                <a:latin typeface="微软雅黑"/>
                <a:ea typeface="微软雅黑"/>
              </a:rPr>
              <a:t>·  于总：市科委 / 经信委 / 国资委已有处室与沟通温度，明确谁不要重复出现</a:t>
            </a:r>
          </a:p>
          <a:p>
            <a:pPr>
              <a:lnSpc>
                <a:spcPct val="112000"/>
              </a:lnSpc>
            </a:pPr>
            <a:r>
              <a:rPr sz="1300" b="0">
                <a:solidFill>
                  <a:srgbClr val="1A2433"/>
                </a:solidFill>
                <a:latin typeface="微软雅黑"/>
                <a:ea typeface="微软雅黑"/>
              </a:rPr>
              <a:t>·  卢总：融资轮次节奏、希望政府侧提供的背书与场景</a:t>
            </a:r>
          </a:p>
          <a:p>
            <a:pPr>
              <a:lnSpc>
                <a:spcPct val="112000"/>
              </a:lnSpc>
            </a:pPr>
            <a:r>
              <a:rPr sz="1300" b="0">
                <a:solidFill>
                  <a:srgbClr val="1A2433"/>
                </a:solidFill>
                <a:latin typeface="微软雅黑"/>
                <a:ea typeface="微软雅黑"/>
              </a:rPr>
              <a:t>·  业务与场地：装置荷载、物流、洁净/电磁/振动等真实约束，写成一页需求表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024128"/>
            <a:ext cx="3749039" cy="5212080"/>
          </a:xfrm>
          <a:prstGeom prst="roundRect">
            <a:avLst>
              <a:gd name="adj" fmla="val 8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024128"/>
            <a:ext cx="91440" cy="5212080"/>
          </a:xfrm>
          <a:prstGeom prst="rect">
            <a:avLst/>
          </a:prstGeom>
          <a:solidFill>
            <a:srgbClr val="1FA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85632" y="1188720"/>
            <a:ext cx="3291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71A2B"/>
                </a:solidFill>
                <a:latin typeface="微软雅黑"/>
                <a:ea typeface="微软雅黑"/>
              </a:rPr>
              <a:t>身份与资源交接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1691640"/>
            <a:ext cx="3291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1A2433"/>
                </a:solidFill>
                <a:latin typeface="微软雅黑"/>
                <a:ea typeface="微软雅黑"/>
              </a:rPr>
              <a:t>·  一个月内完成原单位在手标书交接，不把未完成事项带进公司</a:t>
            </a:r>
          </a:p>
          <a:p>
            <a:pPr>
              <a:lnSpc>
                <a:spcPct val="112000"/>
              </a:lnSpc>
            </a:pPr>
            <a:r>
              <a:rPr sz="1300" b="0">
                <a:solidFill>
                  <a:srgbClr val="1A2433"/>
                </a:solidFill>
                <a:latin typeface="微软雅黑"/>
                <a:ea typeface="微软雅黑"/>
              </a:rPr>
              <a:t>·  市 / 区科企联、复旦侧可延续的对接关系登记进作战图，不把个人身份写成公司承诺</a:t>
            </a:r>
          </a:p>
          <a:p>
            <a:pPr>
              <a:lnSpc>
                <a:spcPct val="112000"/>
              </a:lnSpc>
            </a:pPr>
            <a:r>
              <a:rPr sz="1300" b="0">
                <a:solidFill>
                  <a:srgbClr val="1A2433"/>
                </a:solidFill>
                <a:latin typeface="微软雅黑"/>
                <a:ea typeface="微软雅黑"/>
              </a:rPr>
              <a:t>·  九三学社与核物理学院老师网络仅作学术沟通备选，不对外宣传为“已谈定”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A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713232"/>
          </a:xfrm>
          <a:prstGeom prst="rect">
            <a:avLst/>
          </a:prstGeom>
          <a:solidFill>
            <a:srgbClr val="07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92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第二阶段  T+31–T+60  开渠 · 部门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A8B4"/>
                </a:solidFill>
                <a:latin typeface="微软雅黑"/>
                <a:ea typeface="微软雅黑"/>
              </a:rPr>
              <a:t>按地图拜访：补位不抢位，服务已有谈判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565392"/>
            <a:ext cx="187451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微软雅黑"/>
                <a:ea typeface="微软雅黑"/>
              </a:rPr>
              <a:t>9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6539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6775"/>
                </a:solidFill>
                <a:latin typeface="微软雅黑"/>
                <a:ea typeface="微软雅黑"/>
              </a:rPr>
              <a:t>东昇聚变  ·  内部讨论稿 · 仅供公司高管阅示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051560"/>
          <a:ext cx="11475720" cy="5212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560320"/>
                <a:gridCol w="4572000"/>
                <a:gridCol w="3246120"/>
              </a:tblGrid>
              <a:tr h="744582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层级</a:t>
                      </a:r>
                    </a:p>
                  </a:txBody>
                  <a:tcPr anchor="ctr">
                    <a:solidFill>
                      <a:srgbClr val="071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对象</a:t>
                      </a:r>
                    </a:p>
                  </a:txBody>
                  <a:tcPr anchor="ctr">
                    <a:solidFill>
                      <a:srgbClr val="071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90 天动作</a:t>
                      </a:r>
                    </a:p>
                  </a:txBody>
                  <a:tcPr anchor="ctr">
                    <a:solidFill>
                      <a:srgbClr val="071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注意</a:t>
                      </a:r>
                    </a:p>
                  </a:txBody>
                  <a:tcPr anchor="ctr">
                    <a:solidFill>
                      <a:srgbClr val="071A2B"/>
                    </a:solidFill>
                  </a:tcPr>
                </a:tc>
              </a:tr>
              <a:tr h="74458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市级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市科委（新兴领域暂归二处）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先认处室与处长，再按公司已有关系补一次专业汇报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处长人选需核实，不凭印象对外介绍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4458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市级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市投促办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把浦东落地诉求翻译成招商语言：装置、用地、人才、税收节奏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与科委口径保持一致，避免两套故事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</a:tr>
              <a:tr h="74458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市级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市经信委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按公司现有处室协同，现阶段不主动新开条线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装备与先进制造议题成熟后再加重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4458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浦东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区投促办 + 区科委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服务已在谈的拿地沟通：政策包、指标、对赌条款对照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不另找条线“重新介绍一遍公司”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</a:tr>
              <a:tr h="74458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杨浦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区科委 / 经信 / 投促 / 滨江平台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稳住高校窗口与轻资产协同，不把重资产压力压给区财政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滨江相对有钱，科创等平台负债偏高，谈政策要对人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44582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观察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东方枢纽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保持一次到访级了解，记录境内关外与外向协同条件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不纳入主装置方案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A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713232"/>
          </a:xfrm>
          <a:prstGeom prst="rect">
            <a:avLst/>
          </a:prstGeom>
          <a:solidFill>
            <a:srgbClr val="07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92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现场六指标与第三阶段交卷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A8B4"/>
                </a:solidFill>
                <a:latin typeface="微软雅黑"/>
                <a:ea typeface="微软雅黑"/>
              </a:rPr>
              <a:t>选址只核事实；90 天结束只留可执行事项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565392"/>
            <a:ext cx="187451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微软雅黑"/>
                <a:ea typeface="微软雅黑"/>
              </a:rPr>
              <a:t>10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6539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6775"/>
                </a:solidFill>
                <a:latin typeface="微软雅黑"/>
                <a:ea typeface="微软雅黑"/>
              </a:rPr>
              <a:t>东昇聚变  ·  内部讨论稿 · 仅供公司高管阅示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987552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71A2B"/>
                </a:solidFill>
                <a:latin typeface="微软雅黑"/>
                <a:ea typeface="微软雅黑"/>
              </a:rPr>
              <a:t>现场只核六件事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353312"/>
            <a:ext cx="5715000" cy="4892040"/>
          </a:xfrm>
          <a:prstGeom prst="roundRect">
            <a:avLst>
              <a:gd name="adj" fmla="val 8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087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1A2433"/>
                </a:solidFill>
                <a:latin typeface="微软雅黑"/>
                <a:ea typeface="微软雅黑"/>
              </a:rPr>
              <a:t>·  六件事：容积率、建筑密度、单位荷载、货梯、建筑净深、室内净高。</a:t>
            </a:r>
          </a:p>
          <a:p>
            <a:pPr>
              <a:lnSpc>
                <a:spcPct val="112000"/>
              </a:lnSpc>
            </a:pPr>
            <a:r>
              <a:rPr sz="1300" b="0">
                <a:solidFill>
                  <a:srgbClr val="1A2433"/>
                </a:solidFill>
                <a:latin typeface="微软雅黑"/>
                <a:ea typeface="微软雅黑"/>
              </a:rPr>
              <a:t>·  普通产业楼约 500 kg/㎡，装备与机器人上楼通常要到 800 kg–1 t/㎡；不够就不要硬上。</a:t>
            </a:r>
          </a:p>
          <a:p>
            <a:pPr>
              <a:lnSpc>
                <a:spcPct val="112000"/>
              </a:lnSpc>
            </a:pPr>
            <a:r>
              <a:rPr sz="1300" b="0">
                <a:solidFill>
                  <a:srgbClr val="1A2433"/>
                </a:solidFill>
                <a:latin typeface="微软雅黑"/>
                <a:ea typeface="微软雅黑"/>
              </a:rPr>
              <a:t>·  容积率不是越高越好：用不完的面积仍计入税收对赌，闲置即亏损。</a:t>
            </a:r>
          </a:p>
          <a:p>
            <a:pPr>
              <a:lnSpc>
                <a:spcPct val="112000"/>
              </a:lnSpc>
            </a:pPr>
            <a:r>
              <a:rPr sz="1300" b="0">
                <a:solidFill>
                  <a:srgbClr val="1A2433"/>
                </a:solidFill>
                <a:latin typeface="微软雅黑"/>
                <a:ea typeface="微软雅黑"/>
              </a:rPr>
              <a:t>·  生活配套（员工宿舍）可调比例大约 7%–17%，超出需补十倍至五十倍差价且不一定批得下。</a:t>
            </a:r>
          </a:p>
          <a:p>
            <a:pPr>
              <a:lnSpc>
                <a:spcPct val="112000"/>
              </a:lnSpc>
            </a:pPr>
            <a:r>
              <a:rPr sz="1300" b="0">
                <a:solidFill>
                  <a:srgbClr val="1A2433"/>
                </a:solidFill>
                <a:latin typeface="微软雅黑"/>
                <a:ea typeface="微软雅黑"/>
              </a:rPr>
              <a:t>·  走廊与公摊计入每平方米税收核算，公共区做多了会直接打薄平效。</a:t>
            </a:r>
          </a:p>
          <a:p>
            <a:pPr>
              <a:lnSpc>
                <a:spcPct val="112000"/>
              </a:lnSpc>
            </a:pPr>
            <a:r>
              <a:rPr sz="1300" b="0">
                <a:solidFill>
                  <a:srgbClr val="1A2433"/>
                </a:solidFill>
                <a:latin typeface="微软雅黑"/>
                <a:ea typeface="微软雅黑"/>
              </a:rPr>
              <a:t>·  最优结构往往是“自用刚好 + 一家产业协同方分担部分税收”，而不是自己把楼拿满。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9875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71A2B"/>
                </a:solidFill>
                <a:latin typeface="微软雅黑"/>
                <a:ea typeface="微软雅黑"/>
              </a:rPr>
              <a:t>T+61–T+90 交卷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353312"/>
            <a:ext cx="5440680" cy="489204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5087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1A2433"/>
                </a:solidFill>
                <a:latin typeface="微软雅黑"/>
                <a:ea typeface="微软雅黑"/>
              </a:rPr>
              <a:t>·  高管汇报会：三件套各不超过 15 分钟讲清楚，决策点写成“是/否/再看”。</a:t>
            </a:r>
          </a:p>
          <a:p>
            <a:pPr>
              <a:lnSpc>
                <a:spcPct val="112000"/>
              </a:lnSpc>
            </a:pPr>
            <a:r>
              <a:rPr sz="1300" b="0">
                <a:solidFill>
                  <a:srgbClr val="1A2433"/>
                </a:solidFill>
                <a:latin typeface="微软雅黑"/>
                <a:ea typeface="微软雅黑"/>
              </a:rPr>
              <a:t>·  政策路径：从市区两级现有条款中筛 1–2 条真正可启动的申报（研发、专项、人才、中试），附材料清单与窗口时间。</a:t>
            </a:r>
          </a:p>
          <a:p>
            <a:pPr>
              <a:lnSpc>
                <a:spcPct val="112000"/>
              </a:lnSpc>
            </a:pPr>
            <a:r>
              <a:rPr sz="1300" b="0">
                <a:solidFill>
                  <a:srgbClr val="1A2433"/>
                </a:solidFill>
                <a:latin typeface="微软雅黑"/>
                <a:ea typeface="微软雅黑"/>
              </a:rPr>
              <a:t>·  融资协同：从长期积累的机构名单中按硬科技 / 能源 / 先进制造过滤 15–20 家，标注近期是否看聚变，交卢总决定见不见。</a:t>
            </a:r>
          </a:p>
          <a:p>
            <a:pPr>
              <a:lnSpc>
                <a:spcPct val="112000"/>
              </a:lnSpc>
            </a:pPr>
            <a:r>
              <a:rPr sz="1300" b="0">
                <a:solidFill>
                  <a:srgbClr val="1A2433"/>
                </a:solidFill>
                <a:latin typeface="微软雅黑"/>
                <a:ea typeface="微软雅黑"/>
              </a:rPr>
              <a:t>·  下季度建议：哪些部门维持温度、哪些现场还要再看、哪些政策窗口会在 2027 年一季度关闭。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A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713232"/>
          </a:xfrm>
          <a:prstGeom prst="rect">
            <a:avLst/>
          </a:prstGeom>
          <a:solidFill>
            <a:srgbClr val="07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92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用地与对赌：给决策用的风控，不是去谈地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A8B4"/>
                </a:solidFill>
                <a:latin typeface="微软雅黑"/>
                <a:ea typeface="微软雅黑"/>
              </a:rPr>
              <a:t>低地价换长期税收。曲线讲不清，就不要急着拿地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565392"/>
            <a:ext cx="187451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微软雅黑"/>
                <a:ea typeface="微软雅黑"/>
              </a:rPr>
              <a:t>11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6539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6775"/>
                </a:solidFill>
                <a:latin typeface="微软雅黑"/>
                <a:ea typeface="微软雅黑"/>
              </a:rPr>
              <a:t>东昇聚变  ·  内部讨论稿 · 仅供公司高管阅示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024128"/>
          <a:ext cx="114757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017520"/>
                <a:gridCol w="3108960"/>
                <a:gridCol w="2971800"/>
              </a:tblGrid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用地类型</a:t>
                      </a:r>
                    </a:p>
                  </a:txBody>
                  <a:tcPr anchor="ctr">
                    <a:solidFill>
                      <a:srgbClr val="071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地价直觉</a:t>
                      </a:r>
                    </a:p>
                  </a:txBody>
                  <a:tcPr anchor="ctr">
                    <a:solidFill>
                      <a:srgbClr val="071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税收与对赌</a:t>
                      </a:r>
                    </a:p>
                  </a:txBody>
                  <a:tcPr anchor="ctr">
                    <a:solidFill>
                      <a:srgbClr val="071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对东昇的含义</a:t>
                      </a:r>
                    </a:p>
                  </a:txBody>
                  <a:tcPr anchor="ctr">
                    <a:solidFill>
                      <a:srgbClr val="071A2B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工业用地（如 C40 / C65）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上海工业用地长期低位，大约数十万级/亩，远低于商办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用后续税收平衡低地价；约 3 年宽限，其后罚则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适合制造与中试，须把税收爬坡节奏写进协议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科技研发用地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地价往往更便宜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税收要求通常最高，对赌更硬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适合研发总部；税收爬坡慢则容易变成烫手山芋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365760" y="3703320"/>
            <a:ext cx="11475720" cy="2514600"/>
          </a:xfrm>
          <a:prstGeom prst="roundRect">
            <a:avLst>
              <a:gd name="adj" fmla="val 8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8404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6B2C"/>
                </a:solidFill>
                <a:latin typeface="微软雅黑"/>
                <a:ea typeface="微软雅黑"/>
              </a:rPr>
              <a:t>谈判时必须提前说清的三句话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206240"/>
            <a:ext cx="11018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1A2433"/>
                </a:solidFill>
                <a:latin typeface="微软雅黑"/>
                <a:ea typeface="微软雅黑"/>
              </a:rPr>
              <a:t>·  对赌常见三个可谈面：企业可抵税部分、部分高管个税、基础税收贡献。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1A2433"/>
                </a:solidFill>
                <a:latin typeface="微软雅黑"/>
                <a:ea typeface="微软雅黑"/>
              </a:rPr>
              <a:t>·  宽限不是豁免：三年内未达标通常不计罚，三年后会启动罚款或其他约束。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1A2433"/>
                </a:solidFill>
                <a:latin typeface="微软雅黑"/>
                <a:ea typeface="微软雅黑"/>
              </a:rPr>
              <a:t>·  政府低价供地的本质是换长期税收。谈地价之前先谈自己交税的曲线，曲线讲不清就不要急着拿地。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A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713232"/>
          </a:xfrm>
          <a:prstGeom prst="rect">
            <a:avLst/>
          </a:prstGeom>
          <a:solidFill>
            <a:srgbClr val="07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92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政策包：写成路径，不写成收入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A8B4"/>
                </a:solidFill>
                <a:latin typeface="微软雅黑"/>
                <a:ea typeface="微软雅黑"/>
              </a:rPr>
              <a:t>90 天能认路、备材料；不能承诺名单和金额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565392"/>
            <a:ext cx="187451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微软雅黑"/>
                <a:ea typeface="微软雅黑"/>
              </a:rPr>
              <a:t>12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6539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6775"/>
                </a:solidFill>
                <a:latin typeface="微软雅黑"/>
                <a:ea typeface="微软雅黑"/>
              </a:rPr>
              <a:t>东昇聚变  ·  内部讨论稿 · 仅供公司高管阅示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051560"/>
          <a:ext cx="1147572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017520"/>
                <a:gridCol w="3474720"/>
                <a:gridCol w="3337560"/>
              </a:tblGrid>
              <a:tr h="1042416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层级</a:t>
                      </a:r>
                    </a:p>
                  </a:txBody>
                  <a:tcPr anchor="ctr">
                    <a:solidFill>
                      <a:srgbClr val="071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可能窗口</a:t>
                      </a:r>
                    </a:p>
                  </a:txBody>
                  <a:tcPr anchor="ctr">
                    <a:solidFill>
                      <a:srgbClr val="071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90 天能做的</a:t>
                      </a:r>
                    </a:p>
                  </a:txBody>
                  <a:tcPr anchor="ctr">
                    <a:solidFill>
                      <a:srgbClr val="071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不能做的</a:t>
                      </a:r>
                    </a:p>
                  </a:txBody>
                  <a:tcPr anchor="ctr">
                    <a:solidFill>
                      <a:srgbClr val="071A2B"/>
                    </a:solidFill>
                  </a:tcPr>
                </a:tc>
              </a:tr>
              <a:tr h="1042416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国家 / 上海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十五五新兴产业、未来能源与硬科技口径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把公司故事对齐官方表述，形成一页对外口径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承诺进入某张“名单”或拿到定额补贴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042416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市科委 / 投促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重大专项、研发平台、招商落地服务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认路、认人、把材料目录准备好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代替技术条线填写技术指标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</a:tr>
              <a:tr h="1042416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浦东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拿地与产业支持包、人才与中试政策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把在谈条款做成对照表：给什么、要什么、罚什么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在未授权情况下对外报价或承诺产值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042416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杨浦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高校协同、轻资产空间、区级科创支持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梳理可申报事项与滨江 / 复兴岛窗口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把大装置重资产压力甩给区财政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A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713232"/>
          </a:xfrm>
          <a:prstGeom prst="rect">
            <a:avLst/>
          </a:prstGeom>
          <a:solidFill>
            <a:srgbClr val="07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92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融资协同与周节奏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A8B4"/>
                </a:solidFill>
                <a:latin typeface="微软雅黑"/>
                <a:ea typeface="微软雅黑"/>
              </a:rPr>
              <a:t>融资是公司级事项；本岗只做背书材料与机构过滤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565392"/>
            <a:ext cx="187451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微软雅黑"/>
                <a:ea typeface="微软雅黑"/>
              </a:rPr>
              <a:t>13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6539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6775"/>
                </a:solidFill>
                <a:latin typeface="微软雅黑"/>
                <a:ea typeface="微软雅黑"/>
              </a:rPr>
              <a:t>东昇聚变  ·  内部讨论稿 · 仅供公司高管阅示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005840"/>
            <a:ext cx="11475720" cy="1234440"/>
          </a:xfrm>
          <a:prstGeom prst="roundRect">
            <a:avLst>
              <a:gd name="adj" fmla="val 8000"/>
            </a:avLst>
          </a:prstGeom>
          <a:solidFill>
            <a:srgbClr val="07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115568"/>
            <a:ext cx="110642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公司已完成多轮融资，下一轮仍在推进。聚变是持续重投入，融资是公司级事项，不是政府事务岗的主责。本岗只做配合：把政府侧温度变成可核验的背书材料，把硬科技机构名单按公司阶段过滤后交给融资团队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377440"/>
            <a:ext cx="5669280" cy="3794760"/>
          </a:xfrm>
          <a:prstGeom prst="roundRect">
            <a:avLst>
              <a:gd name="adj" fmla="val 8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51460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71A2B"/>
                </a:solidFill>
                <a:latin typeface="微软雅黑"/>
                <a:ea typeface="微软雅黑"/>
              </a:rPr>
              <a:t>本岗只做三件事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26080"/>
            <a:ext cx="5303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1A2433"/>
                </a:solidFill>
                <a:latin typeface="微软雅黑"/>
                <a:ea typeface="微软雅黑"/>
              </a:rPr>
              <a:t>·  按“看能源 / 先进制造 / 硬科技装置”筛选 15–20 家，而不是把 200 余家名单直接甩出。</a:t>
            </a:r>
          </a:p>
          <a:p>
            <a:pPr>
              <a:lnSpc>
                <a:spcPct val="112000"/>
              </a:lnSpc>
            </a:pPr>
            <a:r>
              <a:rPr sz="1300" b="0">
                <a:solidFill>
                  <a:srgbClr val="1A2433"/>
                </a:solidFill>
                <a:latin typeface="微软雅黑"/>
                <a:ea typeface="微软雅黑"/>
              </a:rPr>
              <a:t>·  每家只标注：近期是否看聚变、能否介绍到项目负责人、与本轮是否匹配。见不见由卢总决定。</a:t>
            </a:r>
          </a:p>
          <a:p>
            <a:pPr>
              <a:lnSpc>
                <a:spcPct val="112000"/>
              </a:lnSpc>
            </a:pPr>
            <a:r>
              <a:rPr sz="1300" b="0">
                <a:solidFill>
                  <a:srgbClr val="1A2433"/>
                </a:solidFill>
                <a:latin typeface="微软雅黑"/>
                <a:ea typeface="微软雅黑"/>
              </a:rPr>
              <a:t>·  政府侧可提供的是：部门拜访纪要、区级兴趣、高校协同事实，而不是包装成已落地的政策批文。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3774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71A2B"/>
                </a:solidFill>
                <a:latin typeface="微软雅黑"/>
                <a:ea typeface="微软雅黑"/>
              </a:rPr>
              <a:t>固定节奏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263640" y="2743200"/>
          <a:ext cx="553212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743200"/>
                <a:gridCol w="1417320"/>
              </a:tblGrid>
              <a:tr h="85725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频率</a:t>
                      </a:r>
                    </a:p>
                  </a:txBody>
                  <a:tcPr anchor="ctr">
                    <a:solidFill>
                      <a:srgbClr val="071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动作</a:t>
                      </a:r>
                    </a:p>
                  </a:txBody>
                  <a:tcPr anchor="ctr">
                    <a:solidFill>
                      <a:srgbClr val="071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形式</a:t>
                      </a:r>
                    </a:p>
                  </a:txBody>
                  <a:tcPr anchor="ctr">
                    <a:solidFill>
                      <a:srgbClr val="071A2B"/>
                    </a:solidFill>
                  </a:tcPr>
                </a:tc>
              </a:tr>
              <a:tr h="85725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每周五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一页纸周报：见了谁、进展、风险、需决策事项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书面，抄送分管高管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每月末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口头同步 + 当月作战图更新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30 分钟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</a:tr>
              <a:tr h="85725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T+30 / 60 / 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阶段评审：出门 / 定主方案 / 进下季度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高管会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A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713232"/>
          </a:xfrm>
          <a:prstGeom prst="rect">
            <a:avLst/>
          </a:prstGeom>
          <a:solidFill>
            <a:srgbClr val="07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92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90 天产出物时间表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A8B4"/>
                </a:solidFill>
                <a:latin typeface="微软雅黑"/>
                <a:ea typeface="微软雅黑"/>
              </a:rPr>
              <a:t>每个阶段都有纸面结果，避免“一直在跑、没有交卷”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565392"/>
            <a:ext cx="187451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微软雅黑"/>
                <a:ea typeface="微软雅黑"/>
              </a:rPr>
              <a:t>14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6539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6775"/>
                </a:solidFill>
                <a:latin typeface="微软雅黑"/>
                <a:ea typeface="微软雅黑"/>
              </a:rPr>
              <a:t>东昇聚变  ·  内部讨论稿 · 仅供公司高管阅示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051560"/>
          <a:ext cx="11475720" cy="5212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5760720"/>
                <a:gridCol w="4069080"/>
              </a:tblGrid>
              <a:tr h="744582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时点</a:t>
                      </a:r>
                    </a:p>
                  </a:txBody>
                  <a:tcPr anchor="ctr">
                    <a:solidFill>
                      <a:srgbClr val="071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产出物</a:t>
                      </a:r>
                    </a:p>
                  </a:txBody>
                  <a:tcPr anchor="ctr">
                    <a:solidFill>
                      <a:srgbClr val="071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用途</a:t>
                      </a:r>
                    </a:p>
                  </a:txBody>
                  <a:tcPr anchor="ctr">
                    <a:solidFill>
                      <a:srgbClr val="071A2B"/>
                    </a:solidFill>
                  </a:tcPr>
                </a:tc>
              </a:tr>
              <a:tr h="74458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T+15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《聚变认知与对外口径备忘》初稿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防止对外讲错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4458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T+30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《内部诉求与已有关系盘点》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补位边界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</a:tr>
              <a:tr h="74458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T+45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金桥 / 张江现场核验记录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选址事实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4458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T+60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选址比选表 + 用地风控备忘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决策材料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</a:tr>
              <a:tr h="74458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T+75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政策申报路径 1–2 条（含材料目录）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可启动事项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4458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T+90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三件套正式稿 + 下季度节奏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高管会交卷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A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713232"/>
          </a:xfrm>
          <a:prstGeom prst="rect">
            <a:avLst/>
          </a:prstGeom>
          <a:solidFill>
            <a:srgbClr val="07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92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风险、边界、需要公司打开的门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A8B4"/>
                </a:solidFill>
                <a:latin typeface="微软雅黑"/>
                <a:ea typeface="微软雅黑"/>
              </a:rPr>
              <a:t>岗位价值取决于补位是否干净、口径是否经得起问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6565392"/>
            <a:ext cx="187451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775"/>
                </a:solidFill>
                <a:latin typeface="微软雅黑"/>
                <a:ea typeface="微软雅黑"/>
              </a:rPr>
              <a:t>15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65392"/>
            <a:ext cx="7315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6775"/>
                </a:solidFill>
                <a:latin typeface="微软雅黑"/>
                <a:ea typeface="微软雅黑"/>
              </a:rPr>
              <a:t>东昇聚变  ·  内部讨论稿 · 仅供公司高管阅示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67160" cy="3063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931920"/>
                <a:gridCol w="5349240"/>
              </a:tblGrid>
              <a:tr h="437605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风险</a:t>
                      </a:r>
                    </a:p>
                  </a:txBody>
                  <a:tcPr anchor="ctr">
                    <a:solidFill>
                      <a:srgbClr val="071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如果发生</a:t>
                      </a:r>
                    </a:p>
                  </a:txBody>
                  <a:tcPr anchor="ctr">
                    <a:solidFill>
                      <a:srgbClr val="071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前置办法</a:t>
                      </a:r>
                    </a:p>
                  </a:txBody>
                  <a:tcPr anchor="ctr">
                    <a:solidFill>
                      <a:srgbClr val="071A2B"/>
                    </a:solidFill>
                  </a:tcPr>
                </a:tc>
              </a:tr>
              <a:tr h="437605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对外技术口径失真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部门听不懂或听错，后续很难圆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前 30 天不独立对外讲装置；口径由技术条线审定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7605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重复拜访已有处室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高管与部门都反感，岗位价值被抵消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先做关系盘点，拜访清单于总过目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</a:tr>
              <a:tr h="437605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把岗位做成专职拿地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与公司主业错位，也替代不了专业合作方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拿地只提供指标翻译与风控，不承包报建施工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7605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杨浦情感 vs 浦东能力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重资产放错区，后期税收与空间都被动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杨浦做窗口，浦东做主方案，书面写进比选表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</a:tr>
              <a:tr h="437605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政策口头化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把“区里很感兴趣”写成可兑现金额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凡优惠必须落到条款、文件或会议纪要编号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7605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身份交接空窗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原单位事务拖住前 30 天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433"/>
                          </a:solidFill>
                          <a:latin typeface="微软雅黑"/>
                          <a:ea typeface="微软雅黑"/>
                        </a:rPr>
                        <a:t>入职前完成标书交接计划，入职后每周只留固定收尾窗口</a:t>
                      </a:r>
                    </a:p>
                  </a:txBody>
                  <a:tcPr anchor="ctr"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4133087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71A2B"/>
                </a:solidFill>
                <a:latin typeface="微软雅黑"/>
                <a:ea typeface="微软雅黑"/>
              </a:rPr>
              <a:t>需要公司支持的五件事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4434840"/>
            <a:ext cx="11567160" cy="178308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526280"/>
            <a:ext cx="112014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200" b="0">
                <a:solidFill>
                  <a:srgbClr val="1A2433"/>
                </a:solidFill>
                <a:latin typeface="微软雅黑"/>
                <a:ea typeface="微软雅黑"/>
              </a:rPr>
              <a:t>·  指定一名分管高管（建议于总）作为政府事务接口，拜访清单与对外口径由其过目。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1A2433"/>
                </a:solidFill>
                <a:latin typeface="微软雅黑"/>
                <a:ea typeface="微软雅黑"/>
              </a:rPr>
              <a:t>·  安排技术条线固定联系人，保证每周一次装置与场地约束答疑。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1A2433"/>
                </a:solidFill>
                <a:latin typeface="微软雅黑"/>
                <a:ea typeface="微软雅黑"/>
              </a:rPr>
              <a:t>·  开放已有市 / 区部门对接台账与浦东拿地沟通进展（知悉范围按公司保密要求）。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1A2433"/>
                </a:solidFill>
                <a:latin typeface="微软雅黑"/>
                <a:ea typeface="微软雅黑"/>
              </a:rPr>
              <a:t>·  现场踏勘需要业务或工程同事同行，本岗不独自判断荷载与工艺可行性。</a:t>
            </a:r>
          </a:p>
          <a:p>
            <a:pPr>
              <a:lnSpc>
                <a:spcPct val="112000"/>
              </a:lnSpc>
            </a:pPr>
            <a:r>
              <a:rPr sz="1200" b="0">
                <a:solidFill>
                  <a:srgbClr val="1A2433"/>
                </a:solidFill>
                <a:latin typeface="微软雅黑"/>
                <a:ea typeface="微软雅黑"/>
              </a:rPr>
              <a:t>·  对外以公司名义发函、汇报材料，须走现有审批，不使用个人社会组织身份替代公司身份。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6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A8B4"/>
                </a:solidFill>
                <a:latin typeface="微软雅黑"/>
                <a:ea typeface="微软雅黑"/>
              </a:rPr>
              <a:t>90 天结束时，高管手里应有三样东西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地图、比选、下一季度只留可执行事项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889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</a:rPr>
              <a:t>·  谁已对接、谁该补、谁不要再去——写在作战图上</a:t>
            </a:r>
          </a:p>
          <a:p>
            <a:pPr>
              <a:lnSpc>
                <a:spcPct val="112000"/>
              </a:lnSpc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</a:rPr>
              <a:t>·  重资产主方案在浦东，杨浦做窗口——写在比选表上</a:t>
            </a:r>
          </a:p>
          <a:p>
            <a:pPr>
              <a:lnSpc>
                <a:spcPct val="112000"/>
              </a:lnSpc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</a:rPr>
              <a:t>·  1–2 条可启动的政策路径，15–20 家机构短名单——写在闭环清单上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3776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A8B4"/>
                </a:solidFill>
                <a:latin typeface="微软雅黑"/>
                <a:ea typeface="微软雅黑"/>
              </a:rPr>
              <a:t>先懂装置，再出门；补位不抢位；政策不口头化。
这是本岗对东昇聚变最有用的 90 天。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264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胡继刚  ·  2026年9月  ·  V1.0  ·  内部讨论稿 · 仅供公司高管阅示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