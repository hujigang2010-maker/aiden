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开场先说明这是研讨稿。数字都是计划口径。重点章节是商业价值、长期业务和合作模式。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这三件事回答老板最关心的问题：为什么听、能得到什么、哪些话现在不能说死。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这一页是全篇地图。后面四页分别展开婚庆、档期产品、获客，以及餐饮、夜间和品牌资产。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老板若担心活动拉低婚宴调性，用右侧这句话回应：原有高端婚礼继续做，这里是新增细分。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若对方希望免费或纯置换，回到这页：置换可以谈，但要核算场地成本和机会成本，并写明未交付权益怎么处理。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这页建议留在汇报最后。老板如果只记一件事，就是：方向可以谈，这八项没有闭合之前不签约、不对外宣传。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收束时重复三句话：新客户、新收入、新品牌。然后回到待确认事项，请对方指定下一步对接人。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北外滩尚9 · 一滴水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09728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TIDELINE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097280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6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潮起潮落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14600"/>
            <a:ext cx="10972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青年文化消费场景创新暨长期战略合作综合方案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246120"/>
            <a:ext cx="1828800" cy="2743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429000"/>
            <a:ext cx="10972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以二次元文化活动为切入点，探索年轻婚庆、主题社交、特色餐饮与城市文化空间运营新模式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343400"/>
            <a:ext cx="2724912" cy="10515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43984"/>
            <a:ext cx="243230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拟合作场地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736592"/>
            <a:ext cx="2432304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北外滩尚9·一滴水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4343400"/>
            <a:ext cx="2724912" cy="10515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443984"/>
            <a:ext cx="243230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拟举办时间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736592"/>
            <a:ext cx="2432304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2026年11月下旬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4343400"/>
            <a:ext cx="2724912" cy="10515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443984"/>
            <a:ext cx="243230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项目类型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736592"/>
            <a:ext cx="2432304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主题展与商业合作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1" y="4343400"/>
            <a:ext cx="2724912" cy="10515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5" y="4443984"/>
            <a:ext cx="2432304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方案性质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5" y="4736592"/>
            <a:ext cx="2432304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研讨稿，附工作表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623560"/>
            <a:ext cx="109728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客流、曝光、合作资源和经营收益，均为计划目标或合作设想，不代表已经兑现的结果。赞助金额为原稿建议档位。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72200"/>
            <a:ext cx="10972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配套表格：赞助权益、空间日程、团队案例、职责评估、待确认事项，以及一滴水收益测算表。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01  /  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开篇  ·  给经营者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先看清三件事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02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372465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7899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88719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参与的理由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36191"/>
            <a:ext cx="3468623" cy="20756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年轻文化消费正在进入婚礼、宴会和主题社交。一滴水可以用一次江景主题活动，接触未来的婚庆和聚会客户，并测试非核心档期怎么经营。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6720" y="1078992"/>
            <a:ext cx="372465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6720" y="107899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4735" y="1188719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能够得到什么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5" y="1536191"/>
            <a:ext cx="3468623" cy="20756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本次争取场地使用和餐饮收入；中期积累年轻客群认知和可跟进的咨询；长期再验证主题婚礼、茶会、生日会、摄影和品牌包场。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9391" y="1078992"/>
            <a:ext cx="372465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391" y="107899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188719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汇报时的口径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8" y="1536191"/>
            <a:ext cx="3468623" cy="20756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客流、曝光、赞助金额、创作者资源和经营收益，都是计划目标或合作设想。审批、主办主体和活动日期尚未闭合。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886200"/>
            <a:ext cx="11430000" cy="22402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886200"/>
            <a:ext cx="54864" cy="224028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59352"/>
            <a:ext cx="11155680" cy="2130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建议把汇报时间主要留给三部分：核心商业价值、长期业务方向、收入与合作模式。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传播、场地、团队和执行细节放在后面，供追问时展开。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签约前请逐项闭合文末八件待确认事项。日期、主办主体、审批和头部资源，目前都还没有闭合。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这份方案的九个部分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03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37246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7043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5448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合作契机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98424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年轻消费、宴会档期与一滴水的空间基础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6720" y="1024128"/>
            <a:ext cx="37246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6720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3024" y="117043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024" y="155448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定位与路径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3024" y="198424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五个目标，以及试点、产品、长期三阶段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9391" y="1024128"/>
            <a:ext cx="37246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5695" y="117043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695" y="155448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首期活动与客群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695" y="198424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TIDELINE 的内容、亮点和未来客户价值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2761488"/>
            <a:ext cx="37246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276148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90779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29184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72160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三大主题区、色彩和八项互动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6720" y="2761488"/>
            <a:ext cx="3724656" cy="1627632"/>
          </a:xfrm>
          <a:prstGeom prst="rect">
            <a:avLst/>
          </a:prstGeom>
          <a:solidFill>
            <a:srgbClr val="FBF6EC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6720" y="276148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3024" y="290779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9816" y="2926080"/>
            <a:ext cx="8686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3024" y="329184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核心商业价值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3024" y="372160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重点。回答一滴水为什么参与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9391" y="2761488"/>
            <a:ext cx="3724656" cy="1627632"/>
          </a:xfrm>
          <a:prstGeom prst="rect">
            <a:avLst/>
          </a:prstGeom>
          <a:solidFill>
            <a:srgbClr val="FBF6EC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9391" y="276148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5695" y="290779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62487" y="2926080"/>
            <a:ext cx="8686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5695" y="329184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长期业务方向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5695" y="372160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重点。婚礼、社交、摄影、餐饮与夜间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4498848"/>
            <a:ext cx="3724656" cy="1627632"/>
          </a:xfrm>
          <a:prstGeom prst="rect">
            <a:avLst/>
          </a:prstGeom>
          <a:solidFill>
            <a:srgbClr val="FBF6EC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449884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64515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57144" y="4663440"/>
            <a:ext cx="8686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502920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收入与合作模式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545896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重点。赞助、分成、成本和建议模式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6720" y="4498848"/>
            <a:ext cx="37246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6720" y="449884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3024" y="464515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3024" y="502920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传播、场地与执行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3024" y="545896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渠道目标、面积、日程、团队和配合清单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9391" y="4498848"/>
            <a:ext cx="372465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89391" y="449884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5695" y="4645152"/>
            <a:ext cx="10058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35695" y="5029200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权责、评估与确认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5695" y="5458968"/>
            <a:ext cx="3432048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分工、合规、复盘，以及签约前的八项缺口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01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合作契机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年轻消费、宴会档期，以及一滴水已经具备的空间基础。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04  /  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01  ·  合作契机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年轻消费正在重塑文化消费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05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11430000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兴趣、文化、社交和情绪价值成为更多年轻人的消费理由。二次元、游戏、角色扮演、沉浸式体验、主题摄影和文化社交，正在从垂直圈层走向可经营的商业场景。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37360"/>
            <a:ext cx="372465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373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47088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兴趣社群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194560"/>
            <a:ext cx="3468623" cy="23500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消费者围绕特定作品、游戏角色、创作者或文化主题聚集，兴趣标签清楚，社群有凝聚力。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6720" y="1737360"/>
            <a:ext cx="372465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6720" y="17373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5" y="1847088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线下体验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5" y="2194560"/>
            <a:ext cx="3468623" cy="23500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他们重视参与感和沉浸式体验，愿意为情感认同、审美特色和社交价值支付费用。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9391" y="1737360"/>
            <a:ext cx="3724656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391" y="17373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7408" y="1847088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二次传播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408" y="2194560"/>
            <a:ext cx="3468623" cy="23500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参与者会在小红书、B站、微博、抖音发布照片、摄影作品、短视频和活动攻略。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800600"/>
            <a:ext cx="11430000" cy="14173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800600"/>
            <a:ext cx="54864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11155680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项目材料把杨浦复兴岛青年文化活动、静安大悦城二次元消费场景作为市场观察方向，认为这类活动具有客流吸引、消费组织和社交传播的可能。具体客流规模与商业效果尚需进一步核实。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01  ·  合作契机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这一客群的四个特点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06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565099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61288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兴趣标签清晰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08760"/>
            <a:ext cx="5394959" cy="1618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能围绕作品、角色、创作者或文化主题形成有凝聚力的社群。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051560"/>
            <a:ext cx="565099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5" y="1051560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1161288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愿意为体验付费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1508760"/>
            <a:ext cx="5394959" cy="1618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相比单纯购买商品，也愿意为情感认同、审美和社交价值付费。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328416"/>
            <a:ext cx="565099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328416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438144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分享意愿强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785616"/>
            <a:ext cx="5394959" cy="161848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会在小红书、B站、微博、抖音发布照片、短视频和攻略，有机会形成二次传播。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5" y="3328416"/>
            <a:ext cx="565099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3328416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1" y="3438144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场景正在外延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3785616"/>
            <a:ext cx="5394959" cy="161848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从动漫展、同人集市和周边，延伸到餐饮、摄影、生日会、见面会、沉浸式社交和个性化婚礼。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5623560"/>
            <a:ext cx="11430000" cy="7498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5623560"/>
            <a:ext cx="54864" cy="7498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96712"/>
            <a:ext cx="111556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对高品质宴会场地来说，值得研究的是：怎样把这些年轻消费需求，与自身的空间、餐饮和婚庆服务接在一起。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01  ·  合作契机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传统宴会场地的新课题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07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553212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553212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传统业务仍然是基本盘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512064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婚宴、商务会议、企业年会和各类庆典，一直是高品质宴会场地的重要业务来源。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客户对空间品质、活动体验、主题设计和服务个性化程度，提出了更高要求。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婚宴和商务会议存在季节性及档期差异。提高非核心档期的利用率、增加配套消费，是经营上的重要课题。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年轻群体的婚庆观念正走向多元和个性化，婚礼被期待能体现兴趣、审美、情感和独特体验。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5733288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051560"/>
            <a:ext cx="5733288" cy="41148"/>
          </a:xfrm>
          <a:prstGeom prst="rect">
            <a:avLst/>
          </a:prstGeom>
          <a:solidFill>
            <a:srgbClr val="1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可以同时研究的新场景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534924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特色主题婚礼及沉浸式婚礼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年轻文化主题宴会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个性化生日庆典及纪念活动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精品下午茶及主题社交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文化品牌发布及创作者交流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主题摄影及商业拍摄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特色夜间文化活动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01  ·  合作契机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一滴水已经具备的空间基础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08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650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33856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视觉识别度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81328"/>
            <a:ext cx="5394959" cy="14813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全玻璃建筑、黄浦江景和现代空间，为摄影、主题布景和沉浸式活动提供环境基础。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024128"/>
            <a:ext cx="5650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5" y="1024128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1133856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宴会条件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1481328"/>
            <a:ext cx="5394959" cy="14813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现有宴会厅及配套空间，可按使用权限和安全条件，研究不同规模的文化活动、特色晚宴和主题社交。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145536"/>
            <a:ext cx="5650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45536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255264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婚庆基础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602736"/>
            <a:ext cx="5394959" cy="14813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宴会、餐饮和配套服务，可以与主题婚礼、沉浸式庆典及定制化活动结合。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5" y="3145536"/>
            <a:ext cx="5650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3145536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1" y="3255264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城市传播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3602736"/>
            <a:ext cx="5394959" cy="14813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若用好江景、建筑和城市空间，一滴水有机会发展为具有青年文化特色的活动目的地。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5303520"/>
            <a:ext cx="11430000" cy="105156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5303520"/>
            <a:ext cx="54864" cy="105156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76672"/>
            <a:ext cx="11155680" cy="9418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因此，本次合作的定位，是一次探索青年文化消费场景和新型宴会业务的商业合作。场地租赁是执行形式，合作内容还包括内容、客群、餐饮、婚庆和后续运营。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02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定位与路径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一次活动是起点。目标是客群、产品和经营方式的长期变化。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09  /  57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02  ·  定位与路径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合作定位与五个目标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10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05840"/>
            <a:ext cx="11430000" cy="566928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005840"/>
            <a:ext cx="111556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高品质场地  ＋  青年文化内容  ＋  兴趣社群  ＋  特色餐饮  ＋  婚庆消费  ＋  长期运营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719072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719072"/>
            <a:ext cx="64008" cy="80467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19072"/>
            <a:ext cx="566928" cy="8046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792224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客群年轻化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084831"/>
            <a:ext cx="10469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 18—28 岁为切入点，扩大在 95 后、00 后及未来婚庆消费群体中的品牌认知。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596896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596896"/>
            <a:ext cx="64008" cy="80467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96896"/>
            <a:ext cx="566928" cy="8046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670048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产品多元化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962656"/>
            <a:ext cx="10469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在婚宴、会议和宴会之外，研究主题婚礼、茶话会、角色生日会、签售会和特色摄影。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474720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474720"/>
            <a:ext cx="64008" cy="80467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566928" cy="8046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547872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场景创新化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840480"/>
            <a:ext cx="10469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把江景、建筑、主题视觉和互动体验，转化成文化活动的内容优势。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352544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4352544"/>
            <a:ext cx="64008" cy="80467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52544"/>
            <a:ext cx="566928" cy="8046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425696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经营持续化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718304"/>
            <a:ext cx="10469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由专业团队持续引入内容和客户，探索非核心档期增量，提高空间利用效率。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5230368"/>
            <a:ext cx="1143000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5230368"/>
            <a:ext cx="64008" cy="80467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30368"/>
            <a:ext cx="566928" cy="8046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303520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品牌年轻化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96128"/>
            <a:ext cx="10469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保持高品质宴会定位，同时增加青年文化、创意活动和特色社交的认知。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02  ·  定位与路径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分三阶段推进，先试点再扩展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11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3724656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61288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807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首期项目试点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28216"/>
            <a:ext cx="3468623" cy="30449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以《潮起潮落 TIDELINE》验证组织能力、客流吸引、场地承载、传播效果和实际经营收益。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6720" y="1051560"/>
            <a:ext cx="3724656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6720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5" y="1161288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5" y="13807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特色产品开发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5" y="1728216"/>
            <a:ext cx="3468623" cy="30449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试点效果可接受后，再开发二次元主题婚礼、主题茶会、特色摄影、生日会和创作者交流。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9391" y="1051560"/>
            <a:ext cx="3724656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7408" y="1161288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第三阶段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13807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长期合作运营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1728216"/>
            <a:ext cx="3468623" cy="30449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探索年度主题活动、特色婚礼产品和联合营销，逐步形成可持续的青年文化消费场景。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029200"/>
            <a:ext cx="11430000" cy="11887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029200"/>
            <a:ext cx="54864" cy="11887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02352"/>
            <a:ext cx="11155680" cy="10789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进入下一阶段的前提，是试点取得可接受的效果。首期任务是验证组织、客流、承载、传播和实际收益。缺少测算时，不在试点之前承诺长期免费使用场地。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03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首期活动与客群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用《潮起潮落 TIDELINE》验证年轻文化活动能不能在一滴水成立。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12  /  57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03  ·  首期活动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首期活动名片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13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05840"/>
            <a:ext cx="277520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05840"/>
            <a:ext cx="2775204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115568"/>
            <a:ext cx="25557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700—900人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481328"/>
            <a:ext cx="25557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预计参与人数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755648"/>
            <a:ext cx="25557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以批准及核定容量为准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8980" y="1005840"/>
            <a:ext cx="277520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8980" y="1005840"/>
            <a:ext cx="2775204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8708" y="1115568"/>
            <a:ext cx="25557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20—30个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8708" y="1481328"/>
            <a:ext cx="25557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同人及商业摊位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8708" y="1755648"/>
            <a:ext cx="25557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最终以场地条件为准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005840"/>
            <a:ext cx="277520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005840"/>
            <a:ext cx="2775204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115568"/>
            <a:ext cx="25557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单日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481328"/>
            <a:ext cx="25557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活动周期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755648"/>
            <a:ext cx="25557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具备条件时可研究双日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005840"/>
            <a:ext cx="277520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8844" y="1005840"/>
            <a:ext cx="2775204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8572" y="1115568"/>
            <a:ext cx="25557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11月28或29日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1481328"/>
            <a:ext cx="25557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拟举办日期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1755648"/>
            <a:ext cx="25557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两版材料冲突，待确认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84048" y="2331720"/>
          <a:ext cx="11430000" cy="3456432"/>
        </p:xfrm>
        <a:graphic>
          <a:graphicData uri="http://schemas.openxmlformats.org/drawingml/2006/table">
            <a:tbl>
              <a:tblPr firstRow="1" bandRow="0" bandCol="0"/>
              <a:tblGrid>
                <a:gridCol w="2103120"/>
                <a:gridCol w="93268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活动名称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《潮起潮落 TIDELINE》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活动主题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《明日方舟》“潮起潮落”主题 Only 展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活动性质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 IP 主题同人文化活动，非官方活动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拟举办地点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上海市虹口区北外滩尚9·一滴水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主要群体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年轻游戏玩家、同人创作者、画师、Coser、摄影爱好者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票务形式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普通票、VIP 票及其他主题体验票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拟用渠道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B站会员购、CPP、千岛等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活动运营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拟引入专业活动团队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正式主办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待最终确认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384048" y="5852160"/>
            <a:ext cx="11430000" cy="56692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5852160"/>
            <a:ext cx="54864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25312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原方案采用单一 IP 同人 Only 展，强调核心玩家的社群黏性。日期、人数和主办主体都要在场地条件确认后闭合。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03  ·  首期活动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现场的八项核心内容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14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同人创作及即卖集市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邀请画师、手作创作者和社团展示原创成果。商品交流与销售以实际授权和合规条件为前提。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Coser 自由行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在合规管理和场地要求范围内组织角色扮演，形成现场视觉。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主题舞台活动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互动问答、主题表演、嘉宾交流、抽奖及其他文化互动。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创作者签售与交流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邀请具有影响力的创作者、画师、Coser 及相关嘉宾面对面交流。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沉浸式主题体验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围绕三大主题区设计互动任务、打卡点、道具、剧情体验和集章。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主题摄影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依托玻璃建筑和江景，设置摄影区域、主题布景和专业摄影点。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6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主题餐饮及 VIP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 VIP 江景套餐、主题晚宴和特色社交，优先使用一滴水餐饮。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夜间活动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在场地运营和管理要求下，安排夜间灯光、乐队演奏和主题合影。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03  ·  首期活动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活动的六个亮点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15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37246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61288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受众精准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08760"/>
            <a:ext cx="3468623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Only 展围绕单一作品组织。兴趣标签清楚，便于社群推广、定向邀请和主题设计。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6720" y="1051560"/>
            <a:ext cx="37246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6720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4735" y="1161288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江景契合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5" y="1508760"/>
            <a:ext cx="3468623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海洋主题与黄浦江景、玻璃建筑、自然采光可以形成区别于商场快闪的视觉体验。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9391" y="1051560"/>
            <a:ext cx="37246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391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161288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体验完整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8" y="1508760"/>
            <a:ext cx="3468623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在同人集市之外，加入互动剧情、装置布景、主题任务和摄影场景。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648456"/>
            <a:ext cx="37246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48456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75818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停留较长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105656"/>
            <a:ext cx="3468623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原稿预计部分观众停留 4—6 小时，深度参与者 6—8 小时甚至全天。此为待验证的预测。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3648456"/>
            <a:ext cx="37246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6720" y="3648456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4735" y="375818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餐饮可延展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4735" y="4105656"/>
            <a:ext cx="3468623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江景餐饮、嘉宾互动和夜间体验，可以沉淀为主题宴会产品。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9391" y="3648456"/>
            <a:ext cx="37246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9391" y="3648456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7408" y="375818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二次传播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408" y="4105656"/>
            <a:ext cx="3468623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创作者、Coser 和摄影爱好者的作品，能够为一滴水提供新的品牌素材。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03  ·  首期活动与客群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谁会来，以及未来可能消费什么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16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05840"/>
            <a:ext cx="27614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05840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1556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核心玩家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63040"/>
            <a:ext cx="2505456" cy="18013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18—28 岁《明日方舟》玩家及粉丝。消费可能涉及门票、主题商品、餐饮、摄影和体验项目。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005840"/>
            <a:ext cx="27614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1005840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11556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创作者与摊主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463040"/>
            <a:ext cx="2505456" cy="18013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同人画师、手作摊主既提供内容，也消费文化产品，并在垂直圈层里带来传播。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005840"/>
            <a:ext cx="27614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005840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11556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Coser 与摄影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463040"/>
            <a:ext cx="2505456" cy="18013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关注建筑、光线和背景。江景玻璃建筑适合产出可传播的主题摄影。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05840"/>
            <a:ext cx="276148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005840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111556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本地青年消费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1463040"/>
            <a:ext cx="2505456" cy="18013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面向上海及长三角具有青年文化消费意愿的人群，吸引部分泛文化消费者。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493008"/>
            <a:ext cx="11430000" cy="26974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493008"/>
            <a:ext cx="64008" cy="269748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602736"/>
            <a:ext cx="109728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对一滴水而言，价值不按这一次门票计算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977639"/>
            <a:ext cx="5486400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特色婚礼及婚宴的潜在客户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主题生日会及纪念庆典消费者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江景下午茶及特色餐饮客户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小型文化聚会及包场客户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77639"/>
            <a:ext cx="5212080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摄影及商业拍摄客户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未来活动的组织者和合作方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传播场地品牌的内容创作者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623560"/>
            <a:ext cx="1097280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以上是策划中的目标客群判断。消费能力、男女比例和品类需求，需用调研和运营数据确认。单笔更高的可能，来自特色婚庆、宴会、团体包场和品牌活动。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04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海洋主题与江景建筑的内容设计。使用官方素材前须完成授权审核。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17  /  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04  ·  主题场景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三大主题区与色彩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18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05840"/>
            <a:ext cx="372465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0584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深海猎人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389888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阿戈尔前沿营地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755648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银白、冷蓝、科技蓝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121408"/>
            <a:ext cx="329184" cy="256032"/>
          </a:xfrm>
          <a:prstGeom prst="rect">
            <a:avLst/>
          </a:prstGeom>
          <a:solidFill>
            <a:srgbClr val="E0E5EC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95728"/>
            <a:ext cx="11074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银白冷蓝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4367" y="2121408"/>
            <a:ext cx="329184" cy="256032"/>
          </a:xfrm>
          <a:prstGeom prst="rect">
            <a:avLst/>
          </a:prstGeom>
          <a:solidFill>
            <a:srgbClr val="2A5C8A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74367" y="2395728"/>
            <a:ext cx="11074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深海蓝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8384" y="2121408"/>
            <a:ext cx="329184" cy="256032"/>
          </a:xfrm>
          <a:prstGeom prst="rect">
            <a:avLst/>
          </a:prstGeom>
          <a:solidFill>
            <a:srgbClr val="4FC3F7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8384" y="2395728"/>
            <a:ext cx="11074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科技蓝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432048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帐篷、木箱、渔网、科技装饰、主题旗帜，形成深海探索营地。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023360"/>
            <a:ext cx="3432048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角色主题展示、互动任务、主题摄影和交流。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720" y="1005840"/>
            <a:ext cx="372465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36720" y="100584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3024" y="1133856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伊比利亚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3024" y="1389888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灯塔与港都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3024" y="1755648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锈金、审判白、深海军蓝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3024" y="2121408"/>
            <a:ext cx="329184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锈金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41036" y="2121408"/>
            <a:ext cx="329184" cy="256032"/>
          </a:xfrm>
          <a:prstGeom prst="rect">
            <a:avLst/>
          </a:prstGeom>
          <a:solidFill>
            <a:srgbClr val="8B7A4A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1036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暖金棕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2121408"/>
            <a:ext cx="329184" cy="256032"/>
          </a:xfrm>
          <a:prstGeom prst="rect">
            <a:avLst/>
          </a:prstGeom>
          <a:solidFill>
            <a:srgbClr val="E8E0D0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审判白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57059" y="2121408"/>
            <a:ext cx="329184" cy="256032"/>
          </a:xfrm>
          <a:prstGeom prst="rect">
            <a:avLst/>
          </a:prstGeom>
          <a:solidFill>
            <a:srgbClr val="1B2A4A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7059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深海军蓝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3024" y="2880360"/>
            <a:ext cx="3432048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白色灯塔立牌、金色灯光、主题许愿墙和港口风格装饰。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3024" y="4023360"/>
            <a:ext cx="3432048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兼顾仪式感、历史感和艺术感的主题空间。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9391" y="1005840"/>
            <a:ext cx="3724656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9391" y="100584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5695" y="1133856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海嗣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5695" y="1389888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溟痕深渊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5695" y="1755648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暗蓝、深紫、水纹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5695" y="2121408"/>
            <a:ext cx="329184" cy="256032"/>
          </a:xfrm>
          <a:prstGeom prst="rect">
            <a:avLst/>
          </a:prstGeom>
          <a:solidFill>
            <a:srgbClr val="0D0D0D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35695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深渊黑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3707" y="2121408"/>
            <a:ext cx="329184" cy="256032"/>
          </a:xfrm>
          <a:prstGeom prst="rect">
            <a:avLst/>
          </a:prstGeom>
          <a:solidFill>
            <a:srgbClr val="2D1B69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3707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溟痕紫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51720" y="2121408"/>
            <a:ext cx="329184" cy="256032"/>
          </a:xfrm>
          <a:prstGeom prst="rect">
            <a:avLst/>
          </a:prstGeom>
          <a:solidFill>
            <a:srgbClr val="1B4332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1720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海嗣绿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9731" y="2121408"/>
            <a:ext cx="329184" cy="256032"/>
          </a:xfrm>
          <a:prstGeom prst="rect">
            <a:avLst/>
          </a:prstGeom>
          <a:solidFill>
            <a:srgbClr val="C8D6E5"/>
          </a:solidFill>
          <a:ln w="635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09731" y="2395728"/>
            <a:ext cx="82143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苍白色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5695" y="2880360"/>
            <a:ext cx="3432048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珊瑚、贝壳、水纹、光影装置及艺术化展示道具。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5695" y="4023360"/>
            <a:ext cx="3432048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突出沉浸感、主题摄影和互动体验。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5596128"/>
            <a:ext cx="11430000" cy="77724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" y="5596128"/>
            <a:ext cx="54864" cy="77724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669280"/>
            <a:ext cx="11155680" cy="6675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以上是原稿的创意设想。角色形象、标识、官方素材和衍生展示，需在完成知识产权合规审核后使用。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04  ·  主题场景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八个主题互动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19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2412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11556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深蓝抉择台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44475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按主题剧情做选择并完成任务，获得纪念徽章或其他奖励。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5" y="102412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5" y="102412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102412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999" y="111556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灯塔信号解码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44475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以摩斯密码、图案解码等智力互动获取线索，兑换限定纪念品。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35000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35000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35000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44144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猎人速判训练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277063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模拟任务和快速反应挑战，完成后获得主题认证卡或纪念证书。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5" y="235000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5" y="235000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5" y="235000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99" y="244144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深蓝之树祈愿墙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999" y="277063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写下祝福、愿望或纪念内容，形成集体创作和情感交流。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67588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67588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67588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376732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港城打捞站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09651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以港口探索为线索，通过模拟打捞或抽取获得主题纪念品。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5" y="367588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3055" y="367588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5" y="367588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376732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阿戈尔联络站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7999" y="409651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在取得内容授权和技术支持后，探索 AR 扫描和数字互动剧情。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00176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" y="500176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500176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09320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猎人档案站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42239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主题知识问答与资料展示，集章后获得纪念贴纸等物料。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3055" y="5001768"/>
            <a:ext cx="56509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63055" y="5001768"/>
            <a:ext cx="566928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63055" y="5001768"/>
            <a:ext cx="566928" cy="1234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7999" y="5093208"/>
            <a:ext cx="4828031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潮声留言站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7999" y="5422392"/>
            <a:ext cx="4828031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文字、语音或数字留言，生成主题纪念卡。优秀内容经授权后可用于回顾。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05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核心商业价值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回答一滴水为什么要参与，以及参与之后能够经营什么。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00600"/>
            <a:ext cx="1554480" cy="3840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55448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20  /  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  ·  核心商业价值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一滴水的八项商业价值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21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新型婚庆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提前接触 95 后、00 后的个性化婚礼需求，在原有高端婚礼之外增加细分市场。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非核心档期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用主题活动提高工作日、晚间和非热门婚期的空间利用效率。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精准获客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在婚庆公司、广告和转介绍之外，增加兴趣社群实际到店的获客路径。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品牌认知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让年轻消费者亲眼看到江景、玻璃建筑和高品质空间。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餐饮收入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套餐、晚宴、茶歇和嘉宾接待，优先由一滴水提供。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夜间场景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用一次晚间内容，测试灯光、乐队和夜间宴会的运营条件。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6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区域联动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在交通和排队安排合理时，与周边餐饮、零售形成联合消费。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品牌资产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留下摄影、视频、案例和运营数据，供后续宣传和招商使用。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  ·  核心商业价值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提前进入新一代婚庆市场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22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11430000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新一代消费者进入婚恋和家庭生活阶段后，婚礼偏好更个性化、主题化和情感化。传统婚礼围绕规模、流程和档次展开；其中一部分年轻人，同时看重兴趣、共同记忆和独特体验。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83080"/>
            <a:ext cx="69037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01952"/>
            <a:ext cx="65836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可能出现的婚礼表达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67712"/>
            <a:ext cx="6583680" cy="2423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按动漫、游戏、电影等文化主题设计婚礼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用角色扮演或特色服装呈现婚礼风格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把共同喜爱的作品融入仪式设计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用沉浸式剧情和互动替代部分传统流程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组织规模较小、个性化程度较高的主题婚礼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用特色建筑和摄影空间形成可传播的婚礼作品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783080"/>
            <a:ext cx="4361688" cy="306324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783080"/>
            <a:ext cx="43616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1965960"/>
            <a:ext cx="406908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高端婚礼定位保持不变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697480"/>
            <a:ext cx="4069080" cy="192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本合作是在传统婚礼产品之外，增加一个新的细分市场。一滴水已有高品质宴会空间、餐饮服务和江景，适合用来研究主题婚礼和沉浸式庆典。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010912"/>
            <a:ext cx="11430000" cy="12070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5010912"/>
            <a:ext cx="54864" cy="12070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84064"/>
            <a:ext cx="11155680" cy="10972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本次活动用来集中接触这一年轻文化消费群体，并了解他们的真实需求。建议现场适度设置特色婚礼展示、江景宴会介绍和官方咨询入口，让到场体验留下可以跟进的业务线索。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  ·  核心商业价值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九类可以研究的档期产品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23  /  57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024128"/>
          <a:ext cx="11430000" cy="4169664"/>
        </p:xfrm>
        <a:graphic>
          <a:graphicData uri="http://schemas.openxmlformats.org/drawingml/2006/table">
            <a:tbl>
              <a:tblPr firstRow="1" bandRow="0" bandCol="0"/>
              <a:tblGrid>
                <a:gridCol w="2834640"/>
                <a:gridCol w="475488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主要消费内容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对场地方的价值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二次元主题婚礼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婚宴、仪式、布景、摄影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扩大婚庆业务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沉浸式主题宴会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场租、餐饮、活动服务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增加宴会收入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主题茶话会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下午茶、包场、摄影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利用非核心时段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Coser 签售会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场地、配套、餐饮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导入新型活动客户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角色生日会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主题包场、餐饮、装饰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形成细分活动产品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主题摄影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空间租赁、摄影合作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提高空间利用率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游戏文化沙龙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会议、餐饮、品牌合作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丰富商务活动类型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主题夜间活动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餐饮、演出、包场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拓展夜间经营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品牌快闪活动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场租、活动执行、品牌展示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引入品牌客户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4048" y="5669280"/>
            <a:ext cx="11430000" cy="713232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5669280"/>
            <a:ext cx="54864" cy="71323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742432"/>
            <a:ext cx="1115568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工作日、晚间和非热门婚期，都有机会用适当的主题活动提高利用率。产品按经营数据再做定价、标准化和套餐化。表内是方向，不是已经在售的清单。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  ·  核心商业价值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多一条精准到店的获客路径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24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114300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婚宴客户通常来自婚庆公司、广告平台、转介绍和其他商业渠道。二次元活动可以再增加一条路径：专业团队用社群，把有明确兴趣的年轻人带进场地。他们看过建筑和空间之后，未来办婚礼、生日、纪念、聚会或摄影时，一滴水可以进入选择范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74519"/>
            <a:ext cx="11430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874519"/>
            <a:ext cx="640080" cy="64008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74519"/>
            <a:ext cx="640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874519"/>
            <a:ext cx="22860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特色婚礼展示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19"/>
            <a:ext cx="80924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现场展示一滴水可提供的主题婚礼产品。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587752"/>
            <a:ext cx="11430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587752"/>
            <a:ext cx="640080" cy="64008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587752"/>
            <a:ext cx="640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87752"/>
            <a:ext cx="22860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宴会与餐饮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87752"/>
            <a:ext cx="80924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介绍江景宴会和主题餐饮。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300984"/>
            <a:ext cx="11430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300984"/>
            <a:ext cx="640080" cy="64008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300984"/>
            <a:ext cx="640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300984"/>
            <a:ext cx="22860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官方咨询入口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300984"/>
            <a:ext cx="80924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设置一滴水官方咨询入口，方便场地后续跟进有明确意向的客人。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4014215"/>
            <a:ext cx="11430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4014215"/>
            <a:ext cx="640080" cy="64008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014215"/>
            <a:ext cx="640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014215"/>
            <a:ext cx="22860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后续活动预约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014215"/>
            <a:ext cx="80924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开放后续主题活动的预约渠道。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727448"/>
            <a:ext cx="11430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4727448"/>
            <a:ext cx="640080" cy="64008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727448"/>
            <a:ext cx="640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4727448"/>
            <a:ext cx="22860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体验活动报名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727448"/>
            <a:ext cx="80924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收集场地开放日及婚礼体验活动的报名。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532120"/>
            <a:ext cx="11430000" cy="84124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5532120"/>
            <a:ext cx="54864" cy="8412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05272"/>
            <a:ext cx="11155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咨询登记需要符合个人信息保护要求，并形成可以持续跟进的潜在业务线索。特色婚庆、宴会、团体包场和品牌活动，可能带来较高的单笔经营收入。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  ·  核心商业价值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餐饮、夜间与北外滩联动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25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3724656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70432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餐饮收入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54480"/>
            <a:ext cx="3432048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原则上优先发挥一滴水现有餐饮能力。具体内容和收入分配写入正式合同。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127248"/>
            <a:ext cx="3432048" cy="2834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江景套餐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主题晚宴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下午茶及茶歇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活动工作人员餐饮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嘉宾接待餐饮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特色饮品及轻餐饮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其他符合场地经营条件的配套服务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6720" y="1024128"/>
            <a:ext cx="3724656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6720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3024" y="1170432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夜间场景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024" y="1554480"/>
            <a:ext cx="3432048" cy="4206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原稿把部分体验延伸到晚间 20:30，包括 VIP 江景餐饮、主题灯光、乐队和全场合影。这是一次夜间运营测试。效果良好时，可再研究江景音乐、主题晚宴、夜间沙龙和小型 Livehouse 类活动。前提是场地许可、噪声、消防和经营条件。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9391" y="1024128"/>
            <a:ext cx="3724656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391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5695" y="1170432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区域联动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695" y="1554480"/>
            <a:ext cx="3432048" cy="4206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活动预计吸引上海本地及周边的年轻消费者。交通、排队和现场消费安排合理时，可与周边餐饮、零售做专属优惠、商户推荐、餐饮套餐和摄影路线，把单场地活动延伸成区域消费。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05  ·  核心商业价值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年轻化认知与可复用内容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26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430000" cy="123444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0432"/>
            <a:ext cx="110642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传播中建议同时出现的关键词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36192"/>
            <a:ext cx="110642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北外滩江景    特色玻璃建筑    高品质空间    沉浸式活动    年轻化文化体验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395728"/>
            <a:ext cx="11430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一滴水的空间品质已经成立。部分年轻消费者还不熟悉具体产品和服务。到场之后的照片、视频和用户分享，可以继续扩大认知，并留下可重复使用的内容。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017520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3017520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17520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场地主题摄影作品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3017520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3552" y="3017520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3017520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活动现场精修照片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3017520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3017520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017520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主题宣传视频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017520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3017520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场地介绍及体验短视频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4544568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4544568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544568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社交平台内容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4544568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3552" y="4544568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4544568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品牌联名案例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544568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544568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4544568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青年文化活动运营数据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544568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4544568"/>
            <a:ext cx="64008" cy="14173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544568"/>
            <a:ext cx="2468880" cy="1417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特色活动产品开发经验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5623560"/>
            <a:ext cx="11430000" cy="7498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5623560"/>
            <a:ext cx="54864" cy="7498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696712"/>
            <a:ext cx="111556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上述资料在取得使用授权后，可用于后续品牌宣传、客户推广和招商合作。影像素材的商业使用，需另行取得授权。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06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长期业务方向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试点成立之后，才把这些方向做成可售卖的产品。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00600"/>
            <a:ext cx="1554480" cy="3840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55448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27  /  57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06  ·  长期业务方向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长期合作的八个业务方向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28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主题婚礼及特色婚庆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二次元主题婚礼、虚拟角色主题庆典、主题婚礼开放日。知识产权许可是前提。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主题茶话会与社交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Lolita 下午茶、特色服装聚会、《无限暖暖》等审美主题、女性向文化聚会、生日下午茶和年轻员工团建。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创作者签售会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签售、主题摄影、粉丝见面、现场问答、创作分享、联合展示和品牌交流。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024128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133856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353312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角色生日会与纪念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1700784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角色生日会、作品周年、粉丝庆典和定制主题晚宴，可逐步做成标准包场产品。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主题摄影及商拍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Coser、角色扮演、年轻婚礼、个人纪念、品牌宣传和青年文化主题摄影。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主题餐饮及宴会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江景套餐、下午茶、创作者晚宴、小型主题宴会和生日纪念餐饮。使用商业 IP 前先取得授权。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6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品牌快闪与沉浸式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与潮玩、饮品、数码、美妆、文创研究快闪、限时展览和互动展示。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666744"/>
            <a:ext cx="276148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3666744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3776472"/>
            <a:ext cx="250545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995928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夜间文化与音乐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4343400"/>
            <a:ext cx="2505456" cy="176479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江景音乐沙龙、主题派对、小型乐队、艺术交流和夜间餐饮。以许可、消防、噪声和演出管理为前提。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06  ·  长期业务方向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主题婚礼分成三个产品层次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29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372465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61288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层次一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807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二次元主题婚礼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28216"/>
            <a:ext cx="3468623" cy="30906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在传统仪式和宴会服务上，增加动漫、游戏、角色扮演和特色美陈，组合策划、服装、摄影和舞美。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6720" y="1051560"/>
            <a:ext cx="372465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6720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5" y="1161288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层次二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5" y="13807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虚拟角色主题庆典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5" y="1728216"/>
            <a:ext cx="3468623" cy="30906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研究虚拟角色纪念、仪式体验和互动庆典。开展前须明确相关知识产权使用权限。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9391" y="1051560"/>
            <a:ext cx="372465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051560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7408" y="1161288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层次三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13807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主题婚礼开放日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1728216"/>
            <a:ext cx="3468623" cy="30906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定期邀请潜在新人、摄影机构、策划机构和文化社群，展示一滴水的特色婚礼服务。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074920"/>
            <a:ext cx="11430000" cy="1143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074920"/>
            <a:ext cx="54864" cy="1143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48072"/>
            <a:ext cx="11155680" cy="10332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未来可以把主题婚礼、宴会餐饮、婚礼摄影和场地租赁组合成特色产品。虚拟角色庆典和任何使用特定商业 IP 的产品，都先明确授权，再进入销售。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06  ·  长期业务方向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主题社交与创作者活动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30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6235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562356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170432"/>
            <a:ext cx="53035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主题茶话会与社交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00200"/>
            <a:ext cx="5303520" cy="3200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Lolita 主题下午茶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特色服装主题聚会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《无限暖暖》等作品风格启发的审美主题活动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青年文化社交茶会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女性向文化主题聚会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特色生日下午茶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企业年轻员工主题团建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074920"/>
            <a:ext cx="530352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适合预约制、小规模和主题化经营。优先考虑工作日下午、部分晚间及其他非核心时段。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024128"/>
            <a:ext cx="5641848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024128"/>
            <a:ext cx="5641848" cy="41148"/>
          </a:xfrm>
          <a:prstGeom prst="rect">
            <a:avLst/>
          </a:prstGeom>
          <a:solidFill>
            <a:srgbClr val="1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170432"/>
            <a:ext cx="53492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创作者签售与见面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600200"/>
            <a:ext cx="5303520" cy="3017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创作者签售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主题摄影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粉丝见面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现场问答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创作分享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联合展示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品牌交流活动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4754880"/>
            <a:ext cx="53035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专业团队负责嘉宾邀请、粉丝组织、票务和传播。一滴水提供符合活动要求的场地及配套服务。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06  ·  长期业务方向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庆典、摄影、餐饮、快闪与夜间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31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5650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61288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角色生日与纪念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08760"/>
            <a:ext cx="5394959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围绕年轻消费者喜爱的文化主题，开发纪念日和庆典。可组合美陈、影像、互动、餐饮和摄影，并逐步做成标准化包场。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5" y="1051560"/>
            <a:ext cx="5650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5" y="1051560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1161288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主题摄影与商拍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1508760"/>
            <a:ext cx="5394959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依托全玻璃建筑和江景，与专业摄影机构合作，推出不同档次的场地和摄影套餐。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648456"/>
            <a:ext cx="5650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758184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主题餐饮与宴会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105656"/>
            <a:ext cx="5394959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江景套餐、下午茶、创作者晚宴、小型主题宴会、品牌晚宴，以及生日纪念餐饮。使用特定商业 IP 前先取得授权。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5" y="3648456"/>
            <a:ext cx="565099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3648456"/>
            <a:ext cx="5650992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1" y="3758184"/>
            <a:ext cx="5394959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快闪、音乐与夜间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4105656"/>
            <a:ext cx="5394959" cy="19385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研究潮玩、饮品、数码、美妆和文创快闪。夜间可研究音乐沙龙、小型乐队、艺术交流和主题派对，以许可、消防、噪声和演出管理为前提。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217920"/>
            <a:ext cx="114300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摄影方向还包括：Coser、角色扮演、年轻婚礼、个人纪念、品牌宣传和青年文化主题摄影。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07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收入与合作模式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赞助、场地方收入、成本和三种合作方式。金额均为建议或待填。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00600"/>
            <a:ext cx="1554480" cy="3840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554480" cy="384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32  /  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07  ·  收入与合作模式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三档赞助权益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33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372465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078992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白银赞助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335024"/>
            <a:ext cx="34320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5,000元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755648"/>
            <a:ext cx="34320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希望以较低投入测试二次元消费群体的品牌。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13432"/>
            <a:ext cx="3505199" cy="3063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一个现场商业摊位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活动宣传物料展示品牌 LOGO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活动结束后发布合作感谢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987552"/>
            <a:ext cx="372465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98755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3024" y="1078992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黄金赞助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3024" y="1335024"/>
            <a:ext cx="34320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15,000元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3024" y="1755648"/>
            <a:ext cx="34320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需要较深入参与现场体验和消费者互动的品牌。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6448" y="2313432"/>
            <a:ext cx="3505199" cy="3063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包含白银档全部权益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一个约 3 米 × 3 米的品牌展位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主题区域品牌元素植入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主题互动环节合作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品牌道具、互动任务或补给站命名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餐饮环节产品展示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餐饮、饮品、伴手礼等合作机会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活动舞台主持人口播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社交平台宣传中的品牌露出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9391" y="987552"/>
            <a:ext cx="3724656" cy="4526280"/>
          </a:xfrm>
          <a:prstGeom prst="rect">
            <a:avLst/>
          </a:prstGeom>
          <a:solidFill>
            <a:srgbClr val="FBF6EC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98755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5695" y="1078992"/>
            <a:ext cx="343204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钻石赞助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5695" y="1335024"/>
            <a:ext cx="3432048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30,000元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5695" y="1755648"/>
            <a:ext cx="343204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寻求独家冠名、全渠道露出和完整结案的品牌。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9119" y="2313432"/>
            <a:ext cx="3505199" cy="3063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包含黄金档全部权益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活动独家冠名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活动名称中的品牌展示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主背景板核心位置 LOGO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全渠道宣传中的重点品牌展示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主题区域深度合作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定制互动环节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江景餐饮环节品牌合作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社交平台重点宣传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活动结束后的完整结案报告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650992"/>
            <a:ext cx="11430000" cy="7315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650992"/>
            <a:ext cx="54864" cy="7315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24144"/>
            <a:ext cx="11155680" cy="6217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以上为原稿建议档位，并非已经确认的赞助订单。高一档包含前一档权益。结案报告拟含现场照片、触达数据、推文阅读量、品牌互动和效果总结。完整对照见附表。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07  ·  收入与合作模式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置换合作与一滴水自有权益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34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557784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现金之外的四种合作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987552"/>
            <a:ext cx="557784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建议预留给一滴水的权益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389888"/>
            <a:ext cx="562356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89888"/>
            <a:ext cx="562356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499616"/>
            <a:ext cx="5367528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产品赞助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847088"/>
            <a:ext cx="5367528" cy="3474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品牌提供饮品、食品、周边或纪念品，用于现场体验、福利和互动奖励。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50008"/>
            <a:ext cx="562356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350008"/>
            <a:ext cx="562356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459736"/>
            <a:ext cx="5367528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平台资源置换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807208"/>
            <a:ext cx="5367528" cy="3474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以广告位、流量位、开屏或活动专题，换取品牌露出和现场权益。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310128"/>
            <a:ext cx="562356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310128"/>
            <a:ext cx="562356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419856"/>
            <a:ext cx="5367528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内容共创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767328"/>
            <a:ext cx="5367528" cy="3474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产品进入主题互动、限量体验和抽奖。联名周边须同时满足知识产权和商业合作要求。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270248"/>
            <a:ext cx="562356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270248"/>
            <a:ext cx="562356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4379976"/>
            <a:ext cx="5367528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品牌展位合作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4727448"/>
            <a:ext cx="5367528" cy="34747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设置展示区、产品体验区、消费者互动区和相关营销空间。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389888"/>
            <a:ext cx="5641848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389888"/>
            <a:ext cx="64008" cy="69494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444752"/>
            <a:ext cx="53035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场地品牌露出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682496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在主视觉、票务介绍、入场指引和官方宣传中合理体现一滴水名称。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157984"/>
            <a:ext cx="5641848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2157984"/>
            <a:ext cx="64008" cy="69494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212848"/>
            <a:ext cx="53035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场地产品推广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450591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设置婚庆、主题宴会和江景餐饮服务介绍。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926080"/>
            <a:ext cx="5641848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926080"/>
            <a:ext cx="64008" cy="69494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980944"/>
            <a:ext cx="53035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联合内容传播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218688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共同制作场地摄影、活动预告和回顾视频。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694176"/>
            <a:ext cx="5641848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694176"/>
            <a:ext cx="64008" cy="69494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749039"/>
            <a:ext cx="53035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客户转化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986784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通过现场展示和官方咨询入口，获取有明确意愿的业务咨询。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462272"/>
            <a:ext cx="5641848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4462272"/>
            <a:ext cx="64008" cy="69494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517136"/>
            <a:ext cx="53035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后续商务引荐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754880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由活动团队引荐适合在一滴水举办品牌活动、社群聚会和商务活动的客户。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5669280"/>
            <a:ext cx="11430000" cy="713232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5669280"/>
            <a:ext cx="54864" cy="71323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42432"/>
            <a:ext cx="1115568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场地方权益在不侵犯品牌赞助商权益的前提下，由双方共同确定。目标品牌包括潮玩文创、饮料食品、数码 3C、美妆个护、摄影器材、服饰及其他适合青年文化场景的品牌。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07  ·  收入与合作模式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收入分开列，避免重复计算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35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6235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5623560" cy="4572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024128"/>
            <a:ext cx="53492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活动主办方的四类收入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27632"/>
            <a:ext cx="5257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门票收入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01952"/>
            <a:ext cx="525780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普通票、VIP 票及其他主题体验票，可按内容设计差异化权益。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23744"/>
            <a:ext cx="5257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摊位收入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98063"/>
            <a:ext cx="525780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同人创作者摊位、商业摊位及相关展示空间费用。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19856"/>
            <a:ext cx="5257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品牌赞助收入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94176"/>
            <a:ext cx="525780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白银、黄金、钻石等建议档位及其他商业合作。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15968"/>
            <a:ext cx="5257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现场服务收入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90288"/>
            <a:ext cx="525780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摄影、妆造、主题物料及其他符合规定的现场服务。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024128"/>
            <a:ext cx="5641848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024128"/>
            <a:ext cx="5641848" cy="457200"/>
          </a:xfrm>
          <a:prstGeom prst="rect">
            <a:avLst/>
          </a:prstGeom>
          <a:solidFill>
            <a:srgbClr val="1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024128"/>
            <a:ext cx="53492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建议单独列示的一滴水收入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591056"/>
            <a:ext cx="53035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场地使用收入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828800"/>
            <a:ext cx="53035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按活动规模、使用面积、布撤展时间和档期确定。计入本次。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322576"/>
            <a:ext cx="53035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餐饮收入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53035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江景套餐、工作人员餐饮、主题茶歇及其他餐饮。计入本次。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54096"/>
            <a:ext cx="53035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设备及配套收入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91839"/>
            <a:ext cx="53035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在具备条件时提供设备、停车、仓储及其他配套。计入本次。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85616"/>
            <a:ext cx="53035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后续业务收入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023360"/>
            <a:ext cx="53035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未来婚宴、生日宴、文化活动、品牌包场和摄影订单。单独列示，不并入本次利润。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517136"/>
            <a:ext cx="53035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商业合作收益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54880"/>
            <a:ext cx="530352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联合招商、品牌联名或其他合作的分配。按合同约定，避免与本次场地费重复计算。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5596128"/>
            <a:ext cx="11430000" cy="77724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5596128"/>
            <a:ext cx="54864" cy="77724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69280"/>
            <a:ext cx="11155680" cy="6675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场地、餐饮、设备配套计入本次直接收入。后续婚宴和包场订单单独列示，不并入本次活动利润。联合招商的分成按合同约定，避免和场地费重复计算。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07  ·  收入与合作模式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成本结构与备用金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36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1051560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场地租金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709928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709928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3" y="1709928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布展及撤展费用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68296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368296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3" y="2368296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舞台、灯光、音响及展陈设备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026664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026664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3026664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主题美陈及活动道具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685031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85031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3685031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印刷品、手环、指引牌等物料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343400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4343400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3" y="4343400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嘉宾出场、交通及住宿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1051560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1051560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1051560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安保、消防和医疗保障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1709928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1709928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1709928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工作人员及志愿者费用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0488" y="2368296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0488" y="2368296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2368296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宣传推广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0488" y="3026664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3026664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3026664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设备运输和物料采购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685031"/>
            <a:ext cx="5623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3685031"/>
            <a:ext cx="73152" cy="5669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9944" y="3685031"/>
            <a:ext cx="5257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其他现场运营成本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120640"/>
            <a:ext cx="11430000" cy="10972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120640"/>
            <a:ext cx="54864" cy="109728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193792"/>
            <a:ext cx="11155680" cy="987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原稿建议预留总预算的 5%—10% 作为备用金。请活动团队形成完整预算表，并向一滴水提供与场地合作直接相关的预算、保障安排和资金承担主体。成本清单见附表，金额待填。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07  ·  收入与合作模式  ·  汇报重点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三种合作方式与建议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37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3724656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097280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模式一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346862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正常商业租赁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92224"/>
            <a:ext cx="3468623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主办方按约定支付场地租金，一滴水提供约定场地及服务。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907792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1F6A7A"/>
                </a:solidFill>
                <a:latin typeface="Microsoft YaHei"/>
                <a:ea typeface="Microsoft YaHei"/>
                <a:cs typeface="Microsoft YaHei"/>
              </a:rPr>
              <a:t>适合的情况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127248"/>
            <a:ext cx="3468623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权责清楚，适合主办方具备完整商业预算时。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776472"/>
            <a:ext cx="3468623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需要写清的条件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986783"/>
            <a:ext cx="3468623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主办方预算不足时较难启动。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720" y="987552"/>
            <a:ext cx="3724656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36720" y="98755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4735" y="1097280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模式二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4735" y="1335024"/>
            <a:ext cx="346862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优惠场租＋餐饮保障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4735" y="1792224"/>
            <a:ext cx="3468623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一滴水按档期给予适度场地合作优惠；主办方提供明确的餐饮最低消费，并承担相应执行成本。双方共同制定品牌宣传方案。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4735" y="2907792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1F6A7A"/>
                </a:solidFill>
                <a:latin typeface="Microsoft YaHei"/>
                <a:ea typeface="Microsoft YaHei"/>
                <a:cs typeface="Microsoft YaHei"/>
              </a:rPr>
              <a:t>适合的情况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4735" y="3127248"/>
            <a:ext cx="3468623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兼顾活动成本与场地方直接经营收入。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4735" y="3776472"/>
            <a:ext cx="3468623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需要写清的条件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4735" y="3986783"/>
            <a:ext cx="3468623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最低消费、优惠幅度和未达标处理都要写进合同。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9391" y="987552"/>
            <a:ext cx="3724656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9391" y="987552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7408" y="1097280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模式三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7408" y="1335024"/>
            <a:ext cx="346862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资源置换＋长期试点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7408" y="1792224"/>
            <a:ext cx="3468623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在认可市场拓展价值且档期合适时，研究部分场地资源与品牌宣传、市场推广、后续合作机会的置换。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408" y="2907792"/>
            <a:ext cx="3468623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1F6A7A"/>
                </a:solidFill>
                <a:latin typeface="Microsoft YaHei"/>
                <a:ea typeface="Microsoft YaHei"/>
                <a:cs typeface="Microsoft YaHei"/>
              </a:rPr>
              <a:t>适合的情况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7408" y="3127248"/>
            <a:ext cx="3468623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适合双方都看重长期客群，且能把权益写成可交付标准时。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7408" y="3776472"/>
            <a:ext cx="3468623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需要写清的条件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7408" y="3986783"/>
            <a:ext cx="3468623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须列明投入资源、实际权益、交付标准、后续义务，以及取消和未完成权益的处理。置换同时核算场地成本和机会成本。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791456"/>
            <a:ext cx="11430000" cy="141732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901184"/>
            <a:ext cx="110642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首期建议优先研究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193792"/>
            <a:ext cx="11064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优惠场租  ＋  餐饮最低消费  ＋  场地品牌传播  ＋  后续业务合作权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623560"/>
            <a:ext cx="110642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具体条件按商业原则协商。首期以验证模式为核心。缺少成本和收益测算时，不承诺长期免费使用场地。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08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传播、场地与执行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计划目标、空间需求、日程、团队和需要场地确认的清单。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38  /  57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传播渠道与计划目标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39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1143000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传播方向：潮起潮落 TIDELINE  ×  北外滩江景  ×  青年文化  ×  沉浸式体验  ×  尚9·一滴水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353312"/>
          <a:ext cx="11430000" cy="2542032"/>
        </p:xfrm>
        <a:graphic>
          <a:graphicData uri="http://schemas.openxmlformats.org/drawingml/2006/table">
            <a:tbl>
              <a:tblPr firstRow="1" bandRow="0" bandCol="0"/>
              <a:tblGrid>
                <a:gridCol w="2286000"/>
                <a:gridCol w="2286000"/>
                <a:gridCol w="68580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渠道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计划覆盖或曝光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B站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25,000+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主题预告、场地实拍、玩法、嘉宾、回顾和体验视频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微博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15,000+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主视觉、嘉宾、倒计时、活动动态和现场内容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小红书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15,000+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打卡攻略、摄影、妆造、活动体验、江景餐饮和特色婚庆场景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微信群及 QQ 群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5,000+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票务、摊位招募、入场须知和现场服务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CPP、千岛等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10,000+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定向触达创作者、摊主、核心玩家和文化兴趣群体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0E24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 marL="64008" marR="54864" marT="18288" marB="18288">
                    <a:solidFill>
                      <a:srgbClr val="F8F1DE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zh-CN">
                          <a:solidFill>
                            <a:srgbClr val="0E24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70,000+</a:t>
                      </a:r>
                    </a:p>
                  </a:txBody>
                  <a:tcPr anchor="ctr" marL="64008" marR="54864" marT="18288" marB="18288">
                    <a:solidFill>
                      <a:srgbClr val="F8F1DE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0E24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各渠道曝光或触达合计，用户有重叠，不是独立消费者人数</a:t>
                      </a:r>
                    </a:p>
                  </a:txBody>
                  <a:tcPr anchor="ctr" marL="64008" marR="54864" marT="18288" marB="18288">
                    <a:solidFill>
                      <a:srgbClr val="F8F1DE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84048" y="4434840"/>
            <a:ext cx="5650992" cy="777240"/>
          </a:xfrm>
          <a:prstGeom prst="rect">
            <a:avLst/>
          </a:prstGeom>
          <a:solidFill>
            <a:srgbClr val="F3F6F9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4507992"/>
            <a:ext cx="5394959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抖音及短视频    原稿未单列数值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4782312"/>
            <a:ext cx="539495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展示主题场景、江景建筑、嘉宾互动和活动体验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5" y="4434840"/>
            <a:ext cx="5650992" cy="777240"/>
          </a:xfrm>
          <a:prstGeom prst="rect">
            <a:avLst/>
          </a:prstGeom>
          <a:solidFill>
            <a:srgbClr val="F3F6F9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4507992"/>
            <a:ext cx="5394959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综合平台    视招商资源而定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4782312"/>
            <a:ext cx="539495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 B站会员购、社交平台活动专题页及其他传播资源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349240"/>
            <a:ext cx="11430000" cy="9601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5349240"/>
            <a:ext cx="54864" cy="9601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22392"/>
            <a:ext cx="11155680" cy="8503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合计约 70,000+ 是各渠道曝光或触达的计划目标，用户存在重叠，不能直接当成 7 万名独立消费者。抖音未计入该合计。统一话题：#尚9一滴水  #潮起潮落TIDELINE  #北外滩青年文化  #一滴水主题活动。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资源核验与宣传节奏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40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05840"/>
            <a:ext cx="56235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15568"/>
            <a:ext cx="5349240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原稿提到 UP主、Coser、B站百大，以及卡游、杭州银行等潜在合作方。粉丝规模写为 10 万至 1,000 万不等。正式合作前请提供：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40280"/>
            <a:ext cx="5303520" cy="2743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拟邀请嘉宾与 KOL 清单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相关账号及粉丝数据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已确认的合作证明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具体宣传内容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计划发布时间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可提供给一滴水的场地露出权益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活动后可核查的传播数据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005840"/>
          <a:ext cx="5715000" cy="2999232"/>
        </p:xfrm>
        <a:graphic>
          <a:graphicData uri="http://schemas.openxmlformats.org/drawingml/2006/table">
            <a:tbl>
              <a:tblPr firstRow="1" bandRow="0" bandCol="0"/>
              <a:tblGrid>
                <a:gridCol w="1417320"/>
                <a:gridCol w="15544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展前约 6 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公布主题、时间、场地和主视觉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展前约 4 周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摊位招募、嘉宾信息、创作者招募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展前约 2 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票务信息、互动玩法、场地动线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第四轮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展前约 1 周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交通指引、入场须知、安检要求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活动期间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活动当天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现场摄影、短视频、话题互动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活动结束后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3—7 天内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活动回顾、数据报告、品牌传播总结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84048" y="5321808"/>
            <a:ext cx="11430000" cy="102412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5321808"/>
            <a:ext cx="54864" cy="102412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线下还包括高校动漫社和摄影社团、同人社团、合作商户、北外滩商圈合规展示、场地指引和品牌展位。原定筹备节点部分早于今天，执行时重排宣传排期。分享靠摄影、创作者合作和内容设计来促成。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三个楼层分别承担什么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41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51560"/>
            <a:ext cx="114300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51560"/>
            <a:ext cx="73152" cy="12070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61288"/>
            <a:ext cx="2926080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地面 G层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97863"/>
            <a:ext cx="7955279" cy="9326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签到、安检、同人集市、深海猎人、伊比利亚、海嗣、互动体验和部分休息。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377439"/>
            <a:ext cx="114300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377439"/>
            <a:ext cx="73152" cy="12070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2926080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一楼宴会空间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23744"/>
            <a:ext cx="7955279" cy="9326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原稿提及 A·风岚厅、B·水韵厅、C·月海厅。拟用于舞台、嘉宾互动、签售、餐饮、VIP 套餐、夜间乐队和合影。厅室划分待确认。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703320"/>
            <a:ext cx="114300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703320"/>
            <a:ext cx="73152" cy="12070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2926080" cy="960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三楼全景空间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49624"/>
            <a:ext cx="7955279" cy="9326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原稿提及城市之眼宴会厅、观景露台等。拟用于 VIP、江景、嘉宾休息、摄影、更衣化妆、小型文化交流和特色餐饮。须同时看电梯、楼梯、消防、露台和人流。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5120640"/>
            <a:ext cx="11430000" cy="10972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5120640"/>
            <a:ext cx="54864" cy="109728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93792"/>
            <a:ext cx="11155680" cy="987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动线原稿：G层签到 → 安检 → 手环发放 → 摊位区 → 主题互动区 → 一楼宴会区域 → 三楼相应体验区。散场采取分批、单向和分流。具体动线须经场地方及专业安全管理人员审核。使用范围以最新平面图、使用权限、消防条件和核定容量为准。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功能区面积需求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42  /  57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87552"/>
          <a:ext cx="11430000" cy="4471416"/>
        </p:xfrm>
        <a:graphic>
          <a:graphicData uri="http://schemas.openxmlformats.org/drawingml/2006/table">
            <a:tbl>
              <a:tblPr firstRow="1" bandRow="0" bandCol="0"/>
              <a:tblGrid>
                <a:gridCol w="3931920"/>
                <a:gridCol w="4114800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拟设置位置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计划面积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签到区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G层入口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摊位区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G层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深海猎人主题区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G层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伊比利亚主题区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G层及一楼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海嗣主题区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G层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互动体验区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G层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舞台区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一楼宴会厅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摄影区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一楼及 G层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休息区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一楼及 G层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后勤区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指定区域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三楼 VIP 体验区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三楼全景厅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江景观景区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三楼露台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三楼摄影区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三楼全景厅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80㎡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0E24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 marL="64008" marR="54864" marT="18288" marB="18288">
                    <a:solidFill>
                      <a:srgbClr val="F8F1DE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0E24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需求简单加总</a:t>
                      </a:r>
                    </a:p>
                  </a:txBody>
                  <a:tcPr anchor="ctr" marL="64008" marR="54864" marT="18288" marB="18288">
                    <a:solidFill>
                      <a:srgbClr val="F8F1DE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lang="zh-CN">
                          <a:solidFill>
                            <a:srgbClr val="0E24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1,780㎡</a:t>
                      </a:r>
                    </a:p>
                  </a:txBody>
                  <a:tcPr anchor="ctr" marL="64008" marR="54864" marT="18288" marB="18288">
                    <a:solidFill>
                      <a:srgbClr val="F8F1DE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4048" y="5669280"/>
            <a:ext cx="11430000" cy="713232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5669280"/>
            <a:ext cx="54864" cy="71323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742432"/>
            <a:ext cx="1115568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1,780㎡ 是方案需求的简单加总，不代表场地需要提供的独立净面积，也不能据此判断安全承载能力。各区域尚未获得场地方确认。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活动日流程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43  /  57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60120"/>
          <a:ext cx="11430000" cy="4471416"/>
        </p:xfrm>
        <a:graphic>
          <a:graphicData uri="http://schemas.openxmlformats.org/drawingml/2006/table">
            <a:tbl>
              <a:tblPr firstRow="1" bandRow="0" bandCol="0"/>
              <a:tblGrid>
                <a:gridCol w="1965960"/>
                <a:gridCol w="4160520"/>
                <a:gridCol w="5303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活动内容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场地方配合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07:30—09:00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现场布场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开放货梯、装卸区及指定施工通道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09:00—09:30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工作人员进场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开放工作人员通道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09:30—10:00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入场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专属核销及引导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10:00—10:30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第一批普通观众入场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开放主入口、安检及核销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10:30—11:00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第二批普通观众入场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分批放行与秩序维护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10:00—12:00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主题集市、互动、打卡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保障电力、网络及基础服务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12:00—13:00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痛车展示、主题摄影及互动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协调指定展示区域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13:00—13:30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舞台互动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灯光音响及嘉宾候场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13:30—18:00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创作者签售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签售区域及秩序维护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17:30—18:00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夜间主题灯光启动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配合灯光及技术要求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18:30—19:30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VIP 江景套餐宴会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餐饮服务及宴会布置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19:45—20:15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乐队演奏、全场合影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舞台灯光、音响配合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20:15—20:30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抽奖、总结及散场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广播提示、分批离场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20:30—21:30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撤场及清洁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开放货梯、装卸区及清洁安排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4048" y="5623560"/>
            <a:ext cx="11430000" cy="7498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5623560"/>
            <a:ext cx="54864" cy="74980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696712"/>
            <a:ext cx="111556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日程保留原稿时间，部分环节并行。VIP 约 200 人及分批人数，须按票务、空间和安全容量调整。布展写在 11月26日至28日，需等活动日确认后重排。占用周期按布展到恢复计算。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拟合作团队与自述规模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44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1143000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北京惠迪文化传播有限公司，2016 年成立。定位为文化活动、会展、演出及 IP 运营服务机构。以下规模来自公司自述，正式合作前核验案例和履约情况。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572768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72768"/>
            <a:ext cx="182880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719072"/>
            <a:ext cx="1719072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300+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57984"/>
            <a:ext cx="1719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活动全案项目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572768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1572768"/>
            <a:ext cx="182880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719072"/>
            <a:ext cx="1719072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157984"/>
            <a:ext cx="1719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大型线下活动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572768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1572768"/>
            <a:ext cx="182880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719072"/>
            <a:ext cx="1719072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13座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157984"/>
            <a:ext cx="1719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业务涉及城市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572768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572768"/>
            <a:ext cx="182880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719072"/>
            <a:ext cx="1719072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70+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2157984"/>
            <a:ext cx="1719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合作品牌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1572768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1572768"/>
            <a:ext cx="182880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1719072"/>
            <a:ext cx="1719072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40+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157984"/>
            <a:ext cx="1719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合作商业综合体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85248" y="1572768"/>
            <a:ext cx="1828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85248" y="1572768"/>
            <a:ext cx="1828800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1719072"/>
            <a:ext cx="1719072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50+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157984"/>
            <a:ext cx="171907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年均展会及演出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788920"/>
            <a:ext cx="11430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八个职能模块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策划统筹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1942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1942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商务与对外合作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59836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9836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内容及活动策划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7730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7730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线上运营与宣传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35624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美术与设计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73518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3518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行政与后勤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1412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1412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现场执行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49306" y="3108960"/>
            <a:ext cx="1364742" cy="4389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49306" y="3108960"/>
            <a:ext cx="1364742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展后收尾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" y="3730752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3730752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" y="3840480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孕育期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" y="4187952"/>
            <a:ext cx="2505456" cy="8869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立项、排期、预算框架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场地落实、主题确定、招商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嘉宾邀请及合作签约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73552" y="3730752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73552" y="3730752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1568" y="3840480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生长期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1568" y="4187952"/>
            <a:ext cx="2505456" cy="8869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内容规划、宣传推广、票务上线、设计交付和社群运营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63056" y="3730752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63056" y="3730752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3840480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4187952"/>
            <a:ext cx="2505456" cy="8869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现场方案、合规报批、采购物流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人员到位、展前检查、搭建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入场、运营及撤展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3730752"/>
            <a:ext cx="276148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52560" y="3730752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0576" y="3840480"/>
            <a:ext cx="250545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沉淀期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0576" y="4187952"/>
            <a:ext cx="2505456" cy="88696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数据总结、活动复盘、客户维护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" y="5303520"/>
            <a:ext cx="11430000" cy="105156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4048" y="5303520"/>
            <a:ext cx="54864" cy="105156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376672"/>
            <a:ext cx="11155680" cy="9418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材料称覆盖全过程的 25 个管理节点，并有进度预警和分级管理。对一滴水有用的交付，是本次活动专属的执行计划、责任表和项目进度表。商业综合体合作经验涉及万达广场、大悦城、吾悦广场、爱琴海、永旺梦乐城、印象城、环宇城等，能否用于本项目需另行确认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材料所列代表项目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45  /  57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87552"/>
          <a:ext cx="11430000" cy="3986784"/>
        </p:xfrm>
        <a:graphic>
          <a:graphicData uri="http://schemas.openxmlformats.org/drawingml/2006/table">
            <a:tbl>
              <a:tblPr firstRow="1" bandRow="0" bandCol="0"/>
              <a:tblGrid>
                <a:gridCol w="6126480"/>
                <a:gridCol w="192024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项目名称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材料所列规模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材料所述传播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ACF 明日方舟创作者庆典 1.0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B站直播约 20 万人气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ACF 明日方舟创作者庆典 2.0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12,000人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B站单一话题 140 万以上曝光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姑苏梦行高校联展 2.0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3,000人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北京·正阳象限明日方舟 ONLY 4.0《京穗流年》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3,000人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北京·明日方舟 ONLY 3.0《京春华章》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2,500人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北京·明日方舟 ONLY 2.0《京台夕照》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2,000人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北京·首届明日方舟 ONLY《春和京明》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1,500人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武汉·明日方舟与狼共舞同人 ONLY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1,500人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广州·天时地利明日方舟同人 ONLY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广州·风华粤韵明日方舟同人 ONLY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材料未单列传播数据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4048" y="5486400"/>
            <a:ext cx="11430000" cy="8686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5486400"/>
            <a:ext cx="54864" cy="86868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11155680" cy="7589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播数据以可核查资料为准。其他案例包括缀梦音游展、音律联觉舞美、主题展台、交通卡展台、旗忠劳力士功能展台、马文化周、舞马秀、马匹拍卖和沙地马球等。需确认团队在其中是主办、承办、联合执行还是单项供应商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现场人员配置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46  /  57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051560"/>
          <a:ext cx="11430000" cy="3255264"/>
        </p:xfrm>
        <a:graphic>
          <a:graphicData uri="http://schemas.openxmlformats.org/drawingml/2006/table">
            <a:tbl>
              <a:tblPr firstRow="1" bandRow="0" bandCol="0"/>
              <a:tblGrid>
                <a:gridCol w="2194560"/>
                <a:gridCol w="6675120"/>
                <a:gridCol w="25603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工作组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计划人数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策划组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整体策划、主题设计、流程管理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3—5人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宣传组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宣发、媒体、内容制作、UGC 征集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3—4人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舞台组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舞台流程、嘉宾对接、灯光音响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3—4人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执行组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现场运营、互动点位、动线管理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10—15人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后勤组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物料、餐饮、现场保障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3—4人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安全组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安检、人流管理、应急协调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5—8人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4048" y="4983480"/>
            <a:ext cx="11430000" cy="123444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4983480"/>
            <a:ext cx="54864" cy="123444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056632"/>
            <a:ext cx="11155680" cy="11247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品牌赞助方案另设招商组，负责摊位招募、赞助对接和合同管理。上表人数属于策划阶段的初步安排。实际投入的人数、岗位资质和专业安保，依据场地条件、活动人数和相关管理要求确定。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现场安全与环境保障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47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3724656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33856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入口与安检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81328"/>
            <a:ext cx="3468623" cy="143560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票务核销、违禁物品规则、入口排队和高峰秩序。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6720" y="1024128"/>
            <a:ext cx="3724656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6720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4735" y="1133856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人流组织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5" y="1481328"/>
            <a:ext cx="3468623" cy="143560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与普通观众错峰，分时入场，电梯楼梯分流，重点区域限流，签售区秩序，分批散场。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9391" y="1024128"/>
            <a:ext cx="3724656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391" y="1024128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133856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消防与应急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8" y="1481328"/>
            <a:ext cx="3468623" cy="143560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疏散、人员伤害、设备故障预案；应急照明、广播、对讲、急救和消防设施按需配置。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099816"/>
            <a:ext cx="3724656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099816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95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医疗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557016"/>
            <a:ext cx="3468623" cy="143560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设置医疗应急点，明确物资、紧急转运和医疗联系机制。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3099816"/>
            <a:ext cx="3724656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6720" y="3099816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4735" y="32095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噪声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4735" y="3557016"/>
            <a:ext cx="3468623" cy="143560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管理舞台、乐队和音响的时间与音量。原稿以 30 分钟作为投诉的内部响应目标之一。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9391" y="3099816"/>
            <a:ext cx="3724656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9391" y="3099816"/>
            <a:ext cx="3724656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7408" y="3209544"/>
            <a:ext cx="3468623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卫生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408" y="3557016"/>
            <a:ext cx="3468623" cy="143560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分类收集。常规每两小时清运一次，午间和高峰加密；加强卫生间巡检。结束后恢复场地。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5212080"/>
            <a:ext cx="11430000" cy="105156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5212080"/>
            <a:ext cx="54864" cy="105156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85232"/>
            <a:ext cx="11155680" cy="94183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布展和撤展需提前确认：布展时间、施工要求、物料运输、货梯、用电、场地保护、撤展期限、垃圾清运和恢复标准。活动前完成实地踏勘，重点看 G层、一楼、三楼之间的电梯和应急通道。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需要一滴水配合确认的事项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48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0584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00584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0584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电梯数量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00584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核实 G层至一楼及其他楼层电梯数量、载重和运输能力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64592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64592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64592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楼梯通道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164592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确认适合的楼梯是否可用于人员分流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28600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8600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28600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货梯使用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228600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明确货梯使用权限和时间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926079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926079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26079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电梯运行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8" y="2926079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研究高峰期合理分流方案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56616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56616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56616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场地承载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356616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核实各楼层及区域允许同时容纳人数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20624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20624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0624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排队等候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32888" y="420624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确认入口及等候区设置条件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4846319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846319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846319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嘉宾通道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32888" y="4846319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研究嘉宾独立通道及休息区域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0488" y="100584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7" y="100584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100584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安保协调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100584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明确双方现场安保和秩序管理接口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164592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7" y="164592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7" y="164592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停车及装卸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164592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确认停车、货车进出及物料装卸要求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0488" y="228600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7" y="228600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7" y="228600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物业管理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228600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指定物业联系人，协调水电、空调和保洁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0488" y="2926079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7" y="2926079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39127" y="2926079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网络支持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2926079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确认无线网络及票务核销网络需求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56616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7" y="356616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9127" y="356616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消防安全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7" y="356616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配合必要的安全检查和场地条件核实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0488" y="4206240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7" y="4206240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39127" y="4206240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三楼全景厅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327" y="4206240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确认全景厅、露台及相关空间使用权限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0488" y="4846319"/>
            <a:ext cx="56692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81927" y="4846319"/>
            <a:ext cx="4572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39127" y="4846319"/>
            <a:ext cx="15544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三楼交通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7" y="4846319"/>
            <a:ext cx="338328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核实三楼电梯及楼梯通行条件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" y="5577840"/>
            <a:ext cx="11430000" cy="77724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84048" y="5577840"/>
            <a:ext cx="54864" cy="77724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650992"/>
            <a:ext cx="11155680" cy="6675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另外确认：场地灯光、音响、餐饮及其他配套，哪些可以使用现有设备，哪些需要另行采购或租赁。十四项的完整表述见附表。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08  ·  传播、场地与执行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原定节点与今天的关系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49  / 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32688"/>
            <a:ext cx="114300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对照日期：2026年10月16日。状态按原稿节点判断，供重排计划，不代表团队实际进度已经核验。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243584"/>
          <a:ext cx="11430000" cy="4133088"/>
        </p:xfrm>
        <a:graphic>
          <a:graphicData uri="http://schemas.openxmlformats.org/drawingml/2006/table">
            <a:tbl>
              <a:tblPr firstRow="1" bandRow="0" bandCol="0"/>
              <a:tblGrid>
                <a:gridCol w="2103120"/>
                <a:gridCol w="2286000"/>
                <a:gridCol w="5029200"/>
                <a:gridCol w="20116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原计划时间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相对今天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项目筹备启动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10月9日—12日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主视觉、角色清单、分区草图、票务框架、社群建立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已过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内容制作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10月13日—25日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画师邀约、嘉宾邀请、首轮宣传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窗口进行中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合作签约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10月26日—11月5日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合同签订、流程确认、方案完善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票务销售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10月26日—11月27日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售票、渠道推广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尚未开始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物料制作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10月28日—11月29日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主题美陈、互动道具、印刷物料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第二轮宣传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11月6日—15日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摊位公布、玩法介绍、动线说明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尚未开始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第三轮宣传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11月16日—23日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票务提醒、入场须知、交通信息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尚未开始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进场布展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11月26日起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搭建、设备调试、安全检查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尚未开始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正式活动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11月下旬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活动执行、现场管理、数据记录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日期待确认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撤场收尾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活动结束后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撤展、清洁、场地恢复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随活动日确定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人员招募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10月至活动前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主持、NPC、志愿者、摄影及工作人员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跨周期，需复核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84048" y="5532120"/>
            <a:ext cx="11430000" cy="84124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5532120"/>
            <a:ext cx="54864" cy="8412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05272"/>
            <a:ext cx="111556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明确合作意向后，请主办团队更新这些节点：场地签约、手续、核心嘉宾与品牌、正式开票、宣传物料。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另附施工图、消防与现场安全方案，以及最终场地验收的时间。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第 09 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权责、评估与待确认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291840"/>
            <a:ext cx="1645920" cy="3200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24128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先分清责任和合规，再用数据决定要不要做长期合作。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50  /  57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09  ·  权责、评估与确认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双方各自负责什么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51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3712463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3712463" cy="438912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24128"/>
            <a:ext cx="3712463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主办及运营团队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572768"/>
            <a:ext cx="3493008" cy="4434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活动整体策划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商业预算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票务运营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品牌招商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嘉宾邀请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宣传推广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摊位及活动组织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工作人员管理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现场执行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依法办理相应手续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活动安全组织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应急预案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场地保护及恢复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保险安排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活动结案及数据复盘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024128"/>
            <a:ext cx="3712463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1024128"/>
            <a:ext cx="3712463" cy="438912"/>
          </a:xfrm>
          <a:prstGeom prst="rect">
            <a:avLst/>
          </a:prstGeom>
          <a:solidFill>
            <a:srgbClr val="1F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024128"/>
            <a:ext cx="3712463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一滴水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572768"/>
            <a:ext cx="3493008" cy="4434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提供约定的场地及配套空间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确认场地实际使用条件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提供必要的设施信息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协调物业相关服务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按合同提供餐饮及其他配套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配合场地安全检查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配合必要的现场运营协调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参与品牌联合推广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研究后续业务合作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024128"/>
            <a:ext cx="3712463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024128"/>
            <a:ext cx="3712463" cy="438912"/>
          </a:xfrm>
          <a:prstGeom prst="rect">
            <a:avLst/>
          </a:prstGeom>
          <a:solidFill>
            <a:srgbClr val="8C6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1024128"/>
            <a:ext cx="3712463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双方共同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572768"/>
            <a:ext cx="3493008" cy="4434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合作机制确认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商务条件谈判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宣传内容审核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重大风险沟通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突发事件协调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活动效果评估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长期合作研究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09  ·  权责、评估与确认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知识产权、保险与取消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52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56235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33856"/>
            <a:ext cx="534924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活动为非官方同人文化活动。原稿提出不涉及《明日方舟》官方 IP 商业授权，并计划在宣传中注明非官方。正式活动仍需明确：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74519"/>
            <a:ext cx="5303520" cy="3108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同人作品与官方作品的使用界限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角色形象及美术素材的使用权限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商品销售和品牌联名的知识产权问题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商业赞助与宣传材料的合规要求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活动名称和宣传内容是否存在误导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相关许可、备案和安全管理要求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24128"/>
            <a:ext cx="564184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152144"/>
            <a:ext cx="534924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保险、损坏与取消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536192"/>
            <a:ext cx="5349240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合同中明确公众责任险及其他必要保险。因主办方原因造成场地设施损坏的，按合同承担修复或赔偿。布展前确认场地状态，撤场后完成验收。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651760"/>
            <a:ext cx="53492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不可抗力导致延期或取消时协商处理，主办方提前通知。合同建议写明：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200400"/>
            <a:ext cx="530352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取消通知期限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已产生费用的承担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场地档期调整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票务退款责任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宣传物料损失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供应商违约处理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2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已交付或未交付商业权益的处理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349240"/>
            <a:ext cx="11430000" cy="9601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5349240"/>
            <a:ext cx="54864" cy="96012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22392"/>
            <a:ext cx="11155680" cy="8503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注明“非官方活动”，并不能替代知识产权审核。正式主办方应提供合规说明和相应证明。右侧取消事项需要全部写入合同。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09  ·  权责、评估与确认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用四类数据判断试点是否成立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53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276148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170432"/>
            <a:ext cx="250545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客流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36192"/>
            <a:ext cx="250545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看活动是否真的发生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67128"/>
            <a:ext cx="256032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实际购票与入场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VIP 与普通观众比例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高峰人流与停留时间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不同区域的参与情况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024128"/>
            <a:ext cx="276148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170432"/>
            <a:ext cx="250545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经营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536192"/>
            <a:ext cx="250545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看一滴水是否划算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167128"/>
            <a:ext cx="256032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场地、餐饮、配套收入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实际投入成本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净收益或净成本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新增经营机会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024128"/>
            <a:ext cx="276148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170432"/>
            <a:ext cx="250545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536192"/>
            <a:ext cx="250545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看内容是否可核查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167128"/>
            <a:ext cx="256032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B站、小红书、微博、短视频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合作创作者发布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场地话题与用户作品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后台截图或平台统计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024128"/>
            <a:ext cx="2761488" cy="3794760"/>
          </a:xfrm>
          <a:prstGeom prst="rect">
            <a:avLst/>
          </a:prstGeom>
          <a:solidFill>
            <a:srgbClr val="FBF6EC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024128"/>
            <a:ext cx="2761488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170432"/>
            <a:ext cx="250545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转化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536192"/>
            <a:ext cx="2505456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建议新增的经营指标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67128"/>
            <a:ext cx="256032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场地与特色婚礼咨询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生日、聚会、品牌活动咨询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摄影及其他包场咨询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实际形成的后续订单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983480"/>
            <a:ext cx="11430000" cy="123444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4983480"/>
            <a:ext cx="54864" cy="123444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56632"/>
            <a:ext cx="11155680" cy="11247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原稿提出活动结束后 3—7 天提交复盘报告。建议双方收到报告后开会，判断收益、资源投入、对原有经营的影响、年轻客群认知，以及哪些内容值得继续做。影像和内容的后续商业使用需取得授权。完整指标和交付清单见附表。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09  ·  权责、评估与确认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从一次活动走到长期经营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54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97280"/>
            <a:ext cx="11430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97280"/>
            <a:ext cx="64008" cy="9875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66928" cy="987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170432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从单次到年度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463040"/>
            <a:ext cx="1046988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若首期验证成功，研究由主题展、特色婚礼体验、青年文化沙龙、摄影、主题餐饮和节日庆典组成的年度计划。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194560"/>
            <a:ext cx="11430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194560"/>
            <a:ext cx="64008" cy="9875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566928" cy="987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267712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从租赁到联合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60320"/>
            <a:ext cx="1046988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一滴水继续以场地和餐饮为核心。专业团队负责内容、社群、嘉宾和品牌。按项目选择租赁、联合推广、资源置换或联合经营。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291839"/>
            <a:ext cx="11430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291839"/>
            <a:ext cx="64008" cy="9875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39"/>
            <a:ext cx="566928" cy="987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364991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从流量到产品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657599"/>
            <a:ext cx="1046988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长期要回答消费者愿意为什么付费。重点围绕特色婚礼、主题餐饮、生日庆典、精品摄影和品牌活动，形成清单、价格、标准和服务流程。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389120"/>
            <a:ext cx="11430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4389120"/>
            <a:ext cx="64008" cy="9875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566928" cy="9875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462272"/>
            <a:ext cx="104698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从曝光到订单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754880"/>
            <a:ext cx="1046988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第一层是场地认知，第二层是到场体验，第三层是婚庆、宴会或其他活动订单。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623560"/>
            <a:ext cx="114300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成熟之后，还可以研究与北外滩其他商业资源、文化机构和品牌的联合活动，形成兼顾文化体验、商业消费和品牌传播的运营方式。是否进入这一步，由首期数据决定。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09  ·  权责、评估与确认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合作推进的五步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55  / 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97280"/>
            <a:ext cx="2198217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97280"/>
            <a:ext cx="2198217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325880"/>
            <a:ext cx="1978761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874519"/>
            <a:ext cx="1978761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建立合作意向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697480"/>
            <a:ext cx="1978761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由推荐方与经营负责人沟通年轻消费、场地潜力、首期引流、后续业务和专业分工。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1993" y="1097280"/>
            <a:ext cx="2198217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1993" y="1097280"/>
            <a:ext cx="2198217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1721" y="1325880"/>
            <a:ext cx="1978761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1721" y="1874519"/>
            <a:ext cx="1978761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团队正式对接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1721" y="2697480"/>
            <a:ext cx="1978761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确认时间、场地范围、规模、预算、餐饮、宣传、审批、合同主体和风险责任。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9939" y="1097280"/>
            <a:ext cx="2198217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9939" y="1097280"/>
            <a:ext cx="2198217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9667" y="1325880"/>
            <a:ext cx="1978761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9667" y="1874519"/>
            <a:ext cx="1978761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提交专项方案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9667" y="2697480"/>
            <a:ext cx="1978761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预算、平面图、人流动线、安全预案、嘉宾与赞助清单、宣传计划、团队名单、场地需求和收益安排。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7884" y="1097280"/>
            <a:ext cx="2198217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7884" y="1097280"/>
            <a:ext cx="2198217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7612" y="1325880"/>
            <a:ext cx="1978761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7612" y="1874519"/>
            <a:ext cx="1978761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确定首期项目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7612" y="2697480"/>
            <a:ext cx="1978761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完成商务和合规评估后签订合同，确认试点。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5830" y="1097280"/>
            <a:ext cx="2198217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5830" y="1097280"/>
            <a:ext cx="2198217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5558" y="1325880"/>
            <a:ext cx="1978761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 lang="zh-CN">
                <a:solidFill>
                  <a:srgbClr val="8C6E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5558" y="1874519"/>
            <a:ext cx="1978761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按效果研究长期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5558" y="2697480"/>
            <a:ext cx="1978761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以复盘和经营结果决定是否推出主题婚礼、特色餐饮及其他产品。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5440680"/>
            <a:ext cx="11430000" cy="86868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5440680"/>
            <a:ext cx="54864" cy="868680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13832"/>
            <a:ext cx="11155680" cy="7589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lang="zh-CN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第三步的专项方案至少包括：商业预算、平面图、人流动线、安全及应急预案、嘉宾与赞助商清单、宣传计划、执行团队、场地使用需求和收益安排。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9875520" cy="219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09  ·  权责、评估与确认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1115568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2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签约前必须确认的八件事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37960"/>
            <a:ext cx="969264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lang="zh-CN">
                <a:solidFill>
                  <a:srgbClr val="5C6B78"/>
                </a:solidFill>
                <a:latin typeface="Microsoft YaHei"/>
                <a:ea typeface="Microsoft YaHei"/>
                <a:cs typeface="Microsoft YaHei"/>
              </a:rPr>
              <a:t>潮起潮落 TIDELINE  ×  北外滩尚9·一滴水    内部研讨稿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C5D0DA"/>
                </a:solidFill>
                <a:latin typeface="Microsoft YaHei"/>
                <a:ea typeface="Microsoft YaHei"/>
                <a:cs typeface="Microsoft YaHei"/>
              </a:rPr>
              <a:t>56  /  57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987552"/>
          <a:ext cx="11475720" cy="4608576"/>
        </p:xfrm>
        <a:graphic>
          <a:graphicData uri="http://schemas.openxmlformats.org/drawingml/2006/table">
            <a:tbl>
              <a:tblPr firstRow="1" bandRow="0" bandCol="0"/>
              <a:tblGrid>
                <a:gridCol w="1554480"/>
                <a:gridCol w="1051560"/>
                <a:gridCol w="4709160"/>
                <a:gridCol w="41605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当前缺口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签约前的使用口径</a:t>
                      </a:r>
                    </a:p>
                  </a:txBody>
                  <a:tcPr anchor="ctr" marL="64008" marR="54864" marT="18288" marB="18288">
                    <a:solidFill>
                      <a:srgbClr val="0E2438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活动日期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28日与29日并存，且有首页与正文不一致；场地方案以29日为主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对外写 11月下旬，日期待确认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主办主体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已有北京惠迪介绍，法律角色仍待定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未闭合前不承诺签约、收款和开票主体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审批手续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一版写已办理，另一版待办理，未见完成证明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按未完成管理，由主办方提交文件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宣传资源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粉丝量、百大 UP主、卡游、杭州银行尚无确认清单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只作为可推进的潜在资源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场地范围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楼层、露台权限及对既有订单的影响未核实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面积需求不等于可用面积或容量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商业预算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尚无完整收入、成本、盈亏和风险准备金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计划曝光和客流不折算成利润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场地方收益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一滴水的收入、成本和权益尚未单列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与主办方总收入分开列示</a:t>
                      </a:r>
                    </a:p>
                  </a:txBody>
                  <a:tcPr anchor="ctr" marL="64008" marR="54864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长期合作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婚礼、虚拟庆典和特色餐饮的需求与授权未评估完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用首期验证，不绑定长期免费场地</a:t>
                      </a:r>
                    </a:p>
                  </a:txBody>
                  <a:tcPr anchor="ctr" marL="64008" marR="54864" marT="18288" marB="18288">
                    <a:solidFill>
                      <a:srgbClr val="F3F6F9"/>
                    </a:solidFill>
                    <a:lnL w="6350" cap="flat" cmpd="sng" algn="ctr">
                      <a:solidFill>
                        <a:srgbClr val="E1E7EE"/>
                      </a:solidFill>
                      <a:prstDash val="soli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合作愿景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新客户、新收入、新品牌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25880"/>
            <a:ext cx="3724656" cy="19659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53895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新客户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56231"/>
            <a:ext cx="3432048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用兴趣明确的青年文化活动，接触新的年轻消费者，为未来的婚礼、宴会、聚会和特色消费积累潜在客户。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6720" y="1325880"/>
            <a:ext cx="3724656" cy="19659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3024" y="1453895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新收入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3024" y="1856231"/>
            <a:ext cx="3432048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用主题活动、特色餐饮、婚庆产品、摄影和包场，探索原有业务之外的增量经营机会。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9391" y="1325880"/>
            <a:ext cx="3724656" cy="1965960"/>
          </a:xfrm>
          <a:prstGeom prst="rect">
            <a:avLst/>
          </a:prstGeom>
          <a:solidFill>
            <a:srgbClr val="1B3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5695" y="1453895"/>
            <a:ext cx="3432048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C4A15A"/>
                </a:solidFill>
                <a:latin typeface="Microsoft YaHei"/>
                <a:ea typeface="Microsoft YaHei"/>
                <a:cs typeface="Microsoft YaHei"/>
              </a:rPr>
              <a:t>新品牌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5695" y="1856231"/>
            <a:ext cx="3432048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保持高品质宴会空间的定位，同时增加青年文化、特色活动和个性化消费场景的认知。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74720"/>
            <a:ext cx="11064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希望把《潮起潮落 TIDELINE》做成一次可验证、可评估、可复制的试点。年轻人在体验一滴水之后，未来愿意再次选择这里，举办婚礼、生日、聚会、纪念庆典，以及其他值得纪念的重要活动。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34840"/>
            <a:ext cx="2121408" cy="42062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434840"/>
            <a:ext cx="212140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品牌年轻化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434840"/>
            <a:ext cx="2121408" cy="42062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4434840"/>
            <a:ext cx="212140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客群多元化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4434840"/>
            <a:ext cx="2121408" cy="42062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4434840"/>
            <a:ext cx="212140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场景创新化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3" y="4434840"/>
            <a:ext cx="2121408" cy="42062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3" y="4434840"/>
            <a:ext cx="212140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经营高效化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4434840"/>
            <a:ext cx="2121408" cy="420624"/>
          </a:xfrm>
          <a:prstGeom prst="rect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4434840"/>
            <a:ext cx="2121408" cy="42062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 lang="zh-CN">
                <a:solidFill>
                  <a:srgbClr val="0E2438"/>
                </a:solidFill>
                <a:latin typeface="Microsoft YaHei"/>
                <a:ea typeface="Microsoft YaHei"/>
                <a:cs typeface="Microsoft YaHei"/>
              </a:rPr>
              <a:t>合作长期化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074920"/>
            <a:ext cx="11064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以青年文化引入客户，以高品质空间创造体验，以特色婚庆和餐饮形成消费，以长期运营创造持续收益。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80760"/>
            <a:ext cx="10972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lang="zh-CN">
                <a:solidFill>
                  <a:srgbClr val="D7E0E8"/>
                </a:solidFill>
                <a:latin typeface="Microsoft YaHei"/>
                <a:ea typeface="Microsoft YaHei"/>
                <a:cs typeface="Microsoft YaHei"/>
              </a:rPr>
              <a:t>北外滩尚9·一滴水    ·    青年文化活动、主题婚庆与精品社交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378440" y="6537960"/>
            <a:ext cx="1417320" cy="23774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100" b="1" lang="zh-CN">
                <a:solidFill>
                  <a:srgbClr val="E6D3A1"/>
                </a:solidFill>
                <a:latin typeface="Microsoft YaHei"/>
                <a:ea typeface="Microsoft YaHei"/>
                <a:cs typeface="Microsoft YaHei"/>
              </a:rPr>
              <a:t>57  /  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潮起潮落 TIDELINE × 北外滩尚9·一滴水 综合合作方案</dc:title>
  <dc:subject>青年文化消费场景创新暨长期战略合作</dc:subject>
  <dc:creator/>
  <cp:keywords>一滴水,TIDELINE,北外滩,婚庆,青年文化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内部研讨稿</cp:category>
</cp:coreProperties>
</file>