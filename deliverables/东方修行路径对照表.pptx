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91440" cy="18288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东方修行路径对照表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8D5C4"/>
                </a:solidFill>
                <a:latin typeface="微软雅黑"/>
                <a:ea typeface="微软雅黑"/>
              </a:rPr>
              <a:t>佛家 · 道家 · 儒家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20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5E5DE"/>
                </a:solidFill>
                <a:latin typeface="微软雅黑"/>
                <a:ea typeface="微软雅黑"/>
              </a:rPr>
              <a:t>目标 · 方法 · 入门门槛 · 典型误区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23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知识对照 / 学习地图 ｜ V1.0 ｜ 非劝信、非替代师承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结构一览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420624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42062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6F5E"/>
                </a:solidFill>
                <a:latin typeface="微软雅黑"/>
                <a:ea typeface="微软雅黑"/>
              </a:rPr>
              <a:t>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一、为何做对照表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二、三教宏观对照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三、佛家三条路径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四、道家三条路径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420624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73152" cy="42062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8132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6F5E"/>
                </a:solidFill>
                <a:latin typeface="微软雅黑"/>
                <a:ea typeface="微软雅黑"/>
              </a:rPr>
              <a:t>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五、儒家两条路径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六、四维横比总表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七、入门路线图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八、误区与边界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420624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420624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8132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67C3D"/>
                </a:solidFill>
                <a:latin typeface="微软雅黑"/>
                <a:ea typeface="微软雅黑"/>
              </a:rPr>
              <a:t>使用原则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2880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附录取向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先辨问题，再选方法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一主一辅，忌混炖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2"/>
                </a:solidFill>
                <a:latin typeface="微软雅黑"/>
                <a:ea typeface="微软雅黑"/>
              </a:rPr>
              <a:t>·  身心异常先就医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一、为何做对照表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把「兴趣」翻译成「可选择的路径地图」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0" cy="47548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3152" cy="4754880"/>
          </a:xfrm>
          <a:prstGeom prst="rect">
            <a:avLst/>
          </a:prstGeom>
          <a:solidFill>
            <a:srgbClr val="8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356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3A2F"/>
                </a:solidFill>
                <a:latin typeface="微软雅黑"/>
                <a:ea typeface="微软雅黑"/>
              </a:rPr>
              <a:t>常见困境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名词很多：禅、净土、丹道、慎独……不知从何起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把不同问题的答案硬比高下（解脱 vs 成德）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方法混炖：今天周天、明天话头、后天念佛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忽视门槛：无师练高阶命功，或苛责式慎独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被神通、速成、恐吓营销带偏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486400" cy="47548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47548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356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6F5E"/>
                </a:solidFill>
                <a:latin typeface="微软雅黑"/>
                <a:ea typeface="微软雅黑"/>
              </a:rPr>
              <a:t>本表提供什么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按传统与路径拆开：目标 / 方法 / 门槛 / 误区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三教总对照：先看问题意识差异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情境化入门：忙人、爱静、爱读书、重身体……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误区速查：从症状反查纠偏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边界声明：对照理解，不替代传承与医疗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二、三教宏观对照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问题不同，路径才不同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4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对照项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佛家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道家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儒家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核心问题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苦从何来？如何了生死？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如何与道合真、全生？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如何成德、安身立命？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终极指向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解脱 / 成佛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合道 / 性命双修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成圣贤 / 内圣外王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方法气质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戒定慧、信愿行、止观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虚静、丹道、科仪、导引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格致诚正、克己、礼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社会位置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出离与菩萨道并存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隐逸与济世并存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家国天下为主场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入门印象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净土易；禅中；唯识难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导引易；符箓需传；丹难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懂易行难，难在持续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三、佛家路径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禅宗 · 净土 · 唯识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749039" cy="493776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749039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3474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禅宗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52043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目标：见性成佛，日用保任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方法：坐禅、话头/公案、觉照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门槛：中高，宜有师资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误区：口头禅、求玄、厌弃责任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749039" cy="493776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3749039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3474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净土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83080"/>
            <a:ext cx="352043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目标：信愿持名，往生净土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方法：念佛、发愿、回向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门槛：低，重在持续真切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误区：感应攀比、废事废戒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3749039" cy="493776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3749039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25880"/>
            <a:ext cx="3474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唯识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52043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目标：转识成智，教观双运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方法：经论 + 观心止观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门槛：高，名相繁密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误区：知解障、炫博轻修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佛家共通地基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三条路径不同，地基相似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47548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3152" cy="4754880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356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5A7A"/>
                </a:solidFill>
                <a:latin typeface="微软雅黑"/>
                <a:ea typeface="微软雅黑"/>
              </a:rPr>
              <a:t>戒与伦理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383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不伤害、诚实、节制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定慧需地基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五戒精神先落地生活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3657600" cy="47548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25880"/>
            <a:ext cx="73152" cy="47548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356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6F5E"/>
                </a:solidFill>
                <a:latin typeface="微软雅黑"/>
                <a:ea typeface="微软雅黑"/>
              </a:rPr>
              <a:t>正见与方向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83080"/>
            <a:ext cx="3383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缘起因果可转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出离心 + 慈悲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防神通导向与自欺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3657600" cy="47548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73152" cy="475488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356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67C3D"/>
                </a:solidFill>
                <a:latin typeface="微软雅黑"/>
                <a:ea typeface="微软雅黑"/>
              </a:rPr>
              <a:t>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783080"/>
            <a:ext cx="3383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可依止的人/团体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多方了解再亲近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远离恐吓与违法诱导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四、道家路径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内丹 · 符箓 · 导引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749039" cy="493776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749039" cy="38404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3474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内丹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52043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目标：性命双修，还虚合道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方法：筑基、调息、周天次第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门槛：高，须明师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误区：盲练、气感崇拜、废德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749039" cy="493776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3749039" cy="38404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3474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符箓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83080"/>
            <a:ext cx="352043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目标：通真济世，科仪安顿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方法：授箓、斋醮、符咒、积德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门槛：中，靠门派传承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误区：符力迷信、功利恐吓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3749039" cy="493776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3749039" cy="38404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25880"/>
            <a:ext cx="34747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导引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52043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目标：形气神和，养生奠基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方法：导引、吐纳、站桩、动功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门槛：低中，可渐进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误区：逞强过量、特效迷信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道家实践提醒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自然 · 节度 · 安全 · 传承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8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marL="54864" marR="54864" marT="36576" marB="36576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要义</a:t>
                      </a:r>
                    </a:p>
                  </a:txBody>
                  <a:tcPr marL="54864" marR="54864" marT="36576" marB="36576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高危信号</a:t>
                      </a:r>
                    </a:p>
                  </a:txBody>
                  <a:tcPr marL="54864" marR="54864" marT="36576" marB="36576">
                    <a:solidFill>
                      <a:srgbClr val="2F6F5E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自然与节度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合节律，而非放纵或硬拼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屏气硬顶、疼痛当进步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德行为基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无德求术易入歧途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鼓励损人利己「用术」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身体安全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异常即停，医疗优先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胸闷心悸仍强练、禁医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传承辨别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正统公开可核对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高价速成、神秘恐吓、断亲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五、儒家路径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修身 · 慎独——日用人伦即道场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493776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384048"/>
          </a:xfrm>
          <a:prstGeom prst="rect">
            <a:avLst/>
          </a:prstGeom>
          <a:solidFill>
            <a:srgbClr val="7A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修身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25780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目标：成德成人，推及家国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方法：格致诚正、克己复礼、事上磨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门槛：低中：懂易，落在角色责任难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误区：道德表演、指责他人、空谈废事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493776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84048"/>
          </a:xfrm>
          <a:prstGeom prst="rect">
            <a:avLst/>
          </a:prstGeom>
          <a:solidFill>
            <a:srgbClr val="7A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25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慎独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525780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目标：独处亦正，意念不自欺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方法：省察克治、戒惧慎微、日省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门槛：中：难在无人时的真实持续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A32"/>
                </a:solidFill>
                <a:latin typeface="微软雅黑"/>
                <a:ea typeface="微软雅黑"/>
              </a:rPr>
              <a:t>·  误区：苛责成疾、形式反省、逃避责任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六、四维横比（摘录）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目标清晰度 × 门槛 × 风险的速览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10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3444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近程目标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综合门槛(1-5)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师承依赖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首要误区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禅宗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心稳、少被动反应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强建议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口头禅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净土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心有所归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可自学起步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感应攀比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唯识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能辨心所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建议辅导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知解障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内丹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精气神较充、欲有度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无师盲练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符箓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礼仪与服务安顿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符力迷信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导引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柔顺有力、息顺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教师更佳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逞强过量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修身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一事能克己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不必秘传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道德表演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慎独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独处少自欺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不必秘传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苛责自我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七、入门路线图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按情境选择，一主一辅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11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3444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情境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建议主路径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可搭配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30天起步</a:t>
                      </a:r>
                    </a:p>
                  </a:txBody>
                  <a:tcPr marL="54864" marR="54864" marT="36576" marB="36576">
                    <a:solidFill>
                      <a:srgbClr val="1B3A4B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忙、心不安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净土持名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儒家修身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定课念佛 + 一件负责事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喜安静坐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禅宗坐禅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导引松身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静坐20分 + 松柔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爱体系阅读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唯识入门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短时止观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导读 + 观心日记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身体紧、睡差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导引/站桩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作息节欲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每日20分 + 固定睡眠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有明师长线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内丹依师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导引+积德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只做师嘱筑基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重仪式服务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正规符箓学习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持诵积德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先核传承与规戒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关系中成长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修身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慎独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读《大学》+事上克己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易自欺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慎独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短静坐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2A32"/>
                          </a:solidFill>
                          <a:latin typeface="微软雅黑"/>
                          <a:ea typeface="微软雅黑"/>
                        </a:rPr>
                        <a:t>晚间三问日记</a:t>
                      </a:r>
                    </a:p>
                  </a:txBody>
                  <a:tcPr marL="54864" marR="54864" marT="27432" marB="27432">
                    <a:solidFill>
                      <a:srgbClr val="E8F0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八、误区与高危信号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出现这些，停下来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577840" cy="484632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73152" cy="4846320"/>
          </a:xfrm>
          <a:prstGeom prst="rect">
            <a:avLst/>
          </a:prstGeom>
          <a:solidFill>
            <a:srgbClr val="8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3A2F"/>
                </a:solidFill>
                <a:latin typeface="微软雅黑"/>
                <a:ea typeface="微软雅黑"/>
              </a:rPr>
              <a:t>认知与心理误区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53035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2"/>
                </a:solidFill>
                <a:latin typeface="微软雅黑"/>
                <a:ea typeface="微软雅黑"/>
              </a:rPr>
              <a:t>·  开悟自慢 / 口头禅 / 名相游戏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2"/>
                </a:solidFill>
                <a:latin typeface="微软雅黑"/>
                <a:ea typeface="微软雅黑"/>
              </a:rPr>
              <a:t>·  感应攀比、恐吓式信仰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2"/>
                </a:solidFill>
                <a:latin typeface="微软雅黑"/>
                <a:ea typeface="微软雅黑"/>
              </a:rPr>
              <a:t>·  道德表演、以儒学压人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2"/>
                </a:solidFill>
                <a:latin typeface="微软雅黑"/>
                <a:ea typeface="微软雅黑"/>
              </a:rPr>
              <a:t>·  苛责式慎独导致自我厌恶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2"/>
                </a:solidFill>
                <a:latin typeface="微软雅黑"/>
                <a:ea typeface="微软雅黑"/>
              </a:rPr>
              <a:t>·  神通导向、境界炫耀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484632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73152" cy="4846320"/>
          </a:xfrm>
          <a:prstGeom prst="rect">
            <a:avLst/>
          </a:prstGeom>
          <a:solidFill>
            <a:srgbClr val="A6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67C3D"/>
                </a:solidFill>
                <a:latin typeface="微软雅黑"/>
                <a:ea typeface="微软雅黑"/>
              </a:rPr>
              <a:t>应立即远离 / 就医的信号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3035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2"/>
                </a:solidFill>
                <a:latin typeface="微软雅黑"/>
                <a:ea typeface="微软雅黑"/>
              </a:rPr>
              <a:t>·  胸闷心悸仍强练；禁止就医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2"/>
                </a:solidFill>
                <a:latin typeface="微软雅黑"/>
                <a:ea typeface="微软雅黑"/>
              </a:rPr>
              <a:t>·  高价速成密法 + 神秘恐吓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2"/>
                </a:solidFill>
                <a:latin typeface="微软雅黑"/>
                <a:ea typeface="微软雅黑"/>
              </a:rPr>
              <a:t>·  鼓励违法、毁家庭、全面断亲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2"/>
                </a:solidFill>
                <a:latin typeface="微软雅黑"/>
                <a:ea typeface="微软雅黑"/>
              </a:rPr>
              <a:t>·  持续抑郁焦虑却禁止求助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2"/>
                </a:solidFill>
                <a:latin typeface="微软雅黑"/>
                <a:ea typeface="微软雅黑"/>
              </a:rPr>
              <a:t>·  以符咒/修行替代急症医疗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B3A4B"/>
                </a:solidFill>
                <a:latin typeface="微软雅黑"/>
                <a:ea typeface="微软雅黑"/>
              </a:rPr>
              <a:t>实践组合原则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现代生活中的稳健用法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92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3703320" cy="22402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73152" cy="22402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35608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6F5E"/>
                </a:solidFill>
                <a:latin typeface="微软雅黑"/>
                <a:ea typeface="微软雅黑"/>
              </a:rPr>
              <a:t>一主一辅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34290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2"/>
                </a:solidFill>
                <a:latin typeface="微软雅黑"/>
                <a:ea typeface="微软雅黑"/>
              </a:rPr>
              <a:t>·  同时只深耕一条主路径，另一条滋养，勿三线深钻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3703320" cy="22402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25880"/>
            <a:ext cx="73152" cy="224028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35608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/>
                <a:ea typeface="微软雅黑"/>
              </a:rPr>
              <a:t>身→心→理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83080"/>
            <a:ext cx="34290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2"/>
                </a:solidFill>
                <a:latin typeface="微软雅黑"/>
                <a:ea typeface="微软雅黑"/>
              </a:rPr>
              <a:t>·  身躁先导引作息；心乱立定课；理路后置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3703320" cy="22402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73152" cy="22402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435608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6F5E"/>
                </a:solidFill>
                <a:latin typeface="微软雅黑"/>
                <a:ea typeface="微软雅黑"/>
              </a:rPr>
              <a:t>入世不废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1783080"/>
            <a:ext cx="34290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2"/>
                </a:solidFill>
                <a:latin typeface="微软雅黑"/>
                <a:ea typeface="微软雅黑"/>
              </a:rPr>
              <a:t>·  有家庭职场者，优先能嵌入日程的路径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94760"/>
            <a:ext cx="3703320" cy="22402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794760"/>
            <a:ext cx="73152" cy="224028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04488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/>
                <a:ea typeface="微软雅黑"/>
              </a:rPr>
              <a:t>高门槛单列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51960"/>
            <a:ext cx="34290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2"/>
                </a:solidFill>
                <a:latin typeface="微软雅黑"/>
                <a:ea typeface="微软雅黑"/>
              </a:rPr>
              <a:t>·  内丹/符箓/深度禅堂，单独评估师承与身心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794760"/>
            <a:ext cx="3703320" cy="22402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794760"/>
            <a:ext cx="73152" cy="22402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904488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6F5E"/>
                </a:solidFill>
                <a:latin typeface="微软雅黑"/>
                <a:ea typeface="微软雅黑"/>
              </a:rPr>
              <a:t>季度复盘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251960"/>
            <a:ext cx="34290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2"/>
                </a:solidFill>
                <a:latin typeface="微软雅黑"/>
                <a:ea typeface="微软雅黑"/>
              </a:rPr>
              <a:t>·  更平静？更负责？更少自欺？无效则调整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794760"/>
            <a:ext cx="3703320" cy="2240280"/>
          </a:xfrm>
          <a:prstGeom prst="rect">
            <a:avLst/>
          </a:prstGeom>
          <a:solidFill>
            <a:srgbClr val="E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794760"/>
            <a:ext cx="73152" cy="224028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3904488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/>
                <a:ea typeface="微软雅黑"/>
              </a:rPr>
              <a:t>对照非混一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4251960"/>
            <a:ext cx="34290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2"/>
                </a:solidFill>
                <a:latin typeface="微软雅黑"/>
                <a:ea typeface="微软雅黑"/>
              </a:rPr>
              <a:t>·  可互相启发，不可把术语体系强行合一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先问自己在解什么题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D5E5DE"/>
                </a:solidFill>
                <a:latin typeface="微软雅黑"/>
                <a:ea typeface="微软雅黑"/>
              </a:rPr>
              <a:t>苦与生死 → 佛家　　合道与形神 → 道家　　成人与人伦 → 儒家</a:t>
            </a:r>
          </a:p>
          <a:p>
            <a:pPr algn="ctr"/>
            <a:r>
              <a:rPr sz="1600" b="0">
                <a:solidFill>
                  <a:srgbClr val="D5E5DE"/>
                </a:solidFill>
                <a:latin typeface="微软雅黑"/>
                <a:ea typeface="微软雅黑"/>
              </a:rPr>
              <a:t>选一条主路，守住门槛与误区，让日用成为道场。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67C3D"/>
                </a:solidFill>
                <a:latin typeface="微软雅黑"/>
                <a:ea typeface="微软雅黑"/>
              </a:rPr>
              <a:t>配套交付：东方修行路径对照表.xlsx（九个工作表详表）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A72"/>
                </a:solidFill>
                <a:latin typeface="微软雅黑"/>
                <a:ea typeface="微软雅黑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