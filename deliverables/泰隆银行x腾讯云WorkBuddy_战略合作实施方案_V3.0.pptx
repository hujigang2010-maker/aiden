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583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B3C0"/>
                </a:solidFill>
                <a:latin typeface="微软雅黑"/>
                <a:ea typeface="微软雅黑"/>
              </a:rPr>
              <a:t>战略合作实施方案  V3.0 作战包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68580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泰隆银行 × 腾讯云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E8A838"/>
                </a:solidFill>
                <a:latin typeface="微软雅黑"/>
                <a:ea typeface="微软雅黑"/>
              </a:rPr>
              <a:t>Work Buddy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6583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A8E6EC"/>
                </a:solidFill>
                <a:latin typeface="微软雅黑"/>
                <a:ea typeface="微软雅黑"/>
              </a:rPr>
              <a:t>AI 生产力 × 跨境出海 · 双闭环生态共建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把 V2.0 的方向，翻译成下周一就能开工的动作、数字与责任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90 天双试点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8920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可计量闭环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8920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准出门槛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489204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Excel 作战表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645920"/>
            <a:ext cx="3931920" cy="3474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提交对象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浙江泰隆商业银行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腾讯云（含 Work Buddy）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文档定位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高层决策会 + 联合 PMO 启动包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编制日期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2026 年 7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内部讨论使用 · 金额比例为测算假设 · 正式条款以双方协议为准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从 V2.0 落地版到 V3.0 作战包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不改战略方向，强化可执行性、可计量性与可决策性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升级说明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1645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战略表达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371600"/>
            <a:ext cx="39319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V2.0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双主线概念完整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B3C0"/>
                </a:solidFill>
                <a:latin typeface="微软雅黑"/>
                <a:ea typeface="微软雅黑"/>
              </a:rPr>
              <a:t>V3.0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决策卡前置 + 一页纸结论句 + 对外口径锁定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05740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21992"/>
            <a:ext cx="1645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商业模型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148840"/>
            <a:ext cx="39319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V2.0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三情景测算框架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B3C0"/>
                </a:solidFill>
                <a:latin typeface="微软雅黑"/>
                <a:ea typeface="微软雅黑"/>
              </a:rPr>
              <a:t>V3.0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投入分担建议 + 漏斗敏感变量 + 止损条件可勾选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3464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99232"/>
            <a:ext cx="1645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执行计划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926080"/>
            <a:ext cx="39319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V2.0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W0–W13 任务表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B3C0"/>
                </a:solidFill>
                <a:latin typeface="微软雅黑"/>
                <a:ea typeface="微软雅黑"/>
              </a:rPr>
              <a:t>V3.0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里程碑闸门 + 交付物验收标准 + 责任到岗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1188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76472"/>
            <a:ext cx="1645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联名卡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703320"/>
            <a:ext cx="39319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V2.0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说明书级参数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B3C0"/>
                </a:solidFill>
                <a:latin typeface="微软雅黑"/>
                <a:ea typeface="微软雅黑"/>
              </a:rPr>
              <a:t>V3.0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权益成本封顶仪表盘 + 反套利规则可落地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38912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53712"/>
            <a:ext cx="1645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合规风控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480560"/>
            <a:ext cx="39319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V2.0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红黄绿灯与清单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056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B3C0"/>
                </a:solidFill>
                <a:latin typeface="微软雅黑"/>
                <a:ea typeface="微软雅黑"/>
              </a:rPr>
              <a:t>V3.0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字段白名单草案 + 审批路径时点表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16636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30952"/>
            <a:ext cx="1645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配套交付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257800"/>
            <a:ext cx="39319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V2.0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PDF 沟通稿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25780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B3C0"/>
                </a:solidFill>
                <a:latin typeface="微软雅黑"/>
                <a:ea typeface="微软雅黑"/>
              </a:rPr>
              <a:t>V3.0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本 PPT + Excel 作战表，直接进入联合 PMO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一句话方案与基本主张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采购是入场券，联名卡是获客工具，资产是联合经营能力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执行摘要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141732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881360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3C0"/>
                </a:solidFill>
                <a:latin typeface="微软雅黑"/>
                <a:ea typeface="微软雅黑"/>
              </a:rPr>
              <a:t>方案定位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以战略协议为总牵引，以 Work Buddy 小规模采购与内部示范为起点，以联名信用卡权益池为获客抓手，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以 20 万+ 存量客户为增长基础，以跨境金融为高价值客群锚点，形成「内部示范→权益获客→场景转化→数据复盘→生态扩容」闭环。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26080"/>
            <a:ext cx="5532120" cy="31089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926080"/>
            <a:ext cx="91440" cy="3108960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035808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银行真正获得什么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364992"/>
            <a:ext cx="5212080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以 AI 使用行为 + 跨境资金流观察客户的新能力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生产力场景下的卡活跃与粘性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科技型客群「第一联系人」位置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可复制的 90 天验证机制，而不是一次性采购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26080"/>
            <a:ext cx="5577840" cy="31089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926080"/>
            <a:ext cx="91440" cy="310896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035808"/>
            <a:ext cx="5257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腾讯云真正获得什么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364992"/>
            <a:ext cx="5257800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有信任、有支付、有场景的小微企业入口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客户经理网络带来的线下密度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联名权益驱动的真实激活与续费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• 银行背书下的行业案例与标杆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双闭环结构：同一批客户的两个价值切面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主线 A 全量试点 · 主线 B 样本验证 · 共用权益与看板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战略架构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32120" cy="475488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75488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主线 A · AI 生产力金融闭环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19072"/>
            <a:ext cx="5212080" cy="4251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核心问题：想用 AI，但不会用、不敢用、算不清账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银行抓手：联名卡 / 分期 / 客户经理 / 权益运营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云侧抓手：Work Buddy / Agent / Token / 云折扣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收入形态：卡收入、分期、分润、粘性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首期目标：90 天全量跑通闭环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关键验证：领取 → 激活 → 线索是否连续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80160"/>
            <a:ext cx="91440" cy="4754880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89888"/>
            <a:ext cx="5257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主线 B · 科创跨境出海闭环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19072"/>
            <a:ext cx="5257800" cy="4251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核心问题：钱怎么出去、怎么回来、合不合规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银行抓手：FT 账户 / 跨境贷 / 退税 / 汇率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云侧抓手：出海云 / 多语言 Agent / 合规工具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收入形态：利息、结售汇、结算沉淀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首期目标：货架就位 + 20–30 户样本接洽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关键验证：需求摸排 → 方案 → 开户落地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首期关键数字（测算口径，非承诺）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用于建立讨论基准；正式目标值写入补充协议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关键数字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80–150 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Work Buddy 内部席位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5 个试点部门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3619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180–320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65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首期采购总额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6771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分两笔：60% / 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3619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3,000–5,000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965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90 天联名卡发卡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6771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12 个月 8k–24k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57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2219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150–260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权益成本封顶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5371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按核销结算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657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82219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12–40 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251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90 天企业付费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55371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12 个月 45–120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6576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82219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20–30 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251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跨境样本接洽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55371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不以放款为硬指标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本次会议需要的三项决策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不做决策 = 项目停留在意向阶段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决策卡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D9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1005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508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是否启动 90 天双试点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20240"/>
            <a:ext cx="91440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AI 主线全量 + 跨境主线样本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若不决：否则双方无法投入实质资源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34639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54679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39"/>
            <a:ext cx="1005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A254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063239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是否成立联合 PMO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74719"/>
            <a:ext cx="91440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双方各 1 名负责人，直报分管领导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若不决：否则跨部门进度被日常业务挤压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389120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05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A254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1772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是否两周内完成测算与合规预审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029200"/>
            <a:ext cx="91440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商务测算表 + 合规清单作为签约依据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若不决：否则谈判缺少数据基础、反复空转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建议会议结论表述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首轮会议只锁定方向与组织，不一次性写死全年 KPI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结论句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63040"/>
            <a:ext cx="11338560" cy="29260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1069848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建议结论（可直接写入纪要）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双方原则同意围绕企业 AI 协作与小微企业数字化服务开展战略合作，同意启动 90 天联合试点，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成立联合项目办公室，两周内提交项目章程、商务测算与合规清单，作为签署框架协议的依据。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617720"/>
            <a:ext cx="11338560" cy="141732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617720"/>
            <a:ext cx="91440" cy="141732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727448"/>
            <a:ext cx="11018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会后两周必须交出的四份文件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056632"/>
            <a:ext cx="11018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① 项目章程 v0.1（含 RACI）　　② 商务测算表 v1　　③ 数据共享正负面清单　　④ MVP 权益方案骨架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三轮驱动模型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先自己用起来，再用权益带进来，最后把高价值客户留住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增长引擎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657600" cy="47548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3657600" cy="109728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B3C0"/>
                </a:solidFill>
                <a:latin typeface="微软雅黑"/>
                <a:ea typeface="微软雅黑"/>
              </a:rPr>
              <a:t>A 轮 · 内部示范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客户经理 / 信用卡 / 市场 / 知识服务 / 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320040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沉淀可对外案例（脱敏）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客户经理先成为熟练用户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场景卡 + AI 使用规范同步上线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80160"/>
            <a:ext cx="3657600" cy="47548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3657600" cy="10972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B 轮 · 客户增长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1168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联名卡 + 腾讯云权益包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320040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体验 → 试用 → 付费 → 续费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每级有定义、埋点、责任人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反馈反哺权益与话术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657600" cy="47548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3657600" cy="109728"/>
          </a:xfrm>
          <a:prstGeom prst="rect">
            <a:avLst/>
          </a:prstGeom>
          <a:solidFill>
            <a:srgbClr val="3D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DB38A"/>
                </a:solidFill>
                <a:latin typeface="微软雅黑"/>
                <a:ea typeface="微软雅黑"/>
              </a:rPr>
              <a:t>C 轮 · 科创深耕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1168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具身智能 / AI / 制造 / 跨境电商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34640"/>
            <a:ext cx="320040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参访 + 诊断 + 跨境方案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银行升级为综合服务集成商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• 首期小而精，做标杆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客户增长闭环八步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每一步必须有埋点、定义与责任人，否则无法优化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增长闭环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客户触达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2316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申请/绑卡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3736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消费达标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173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73736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42316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领取权益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1188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3192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BB3C0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1772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场景体验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61188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93192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BB3C0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1772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顾问跟进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1188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3192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BB3C0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付费/续费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361188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93192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BB3C0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61772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联合复盘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模块一：采购结构与五场景试点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小步快跑：试点结果挂钩第二笔付款与扩容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产品采购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首期采购三档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B0C2"/>
                </a:solidFill>
                <a:latin typeface="微软雅黑"/>
                <a:ea typeface="微软雅黑"/>
              </a:rPr>
              <a:t>组成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39" y="1874519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B0C2"/>
                </a:solidFill>
                <a:latin typeface="微软雅黑"/>
                <a:ea typeface="微软雅黑"/>
              </a:rPr>
              <a:t>保守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74519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B0C2"/>
                </a:solidFill>
                <a:latin typeface="微软雅黑"/>
                <a:ea typeface="微软雅黑"/>
              </a:rPr>
              <a:t>中性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874519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B0C2"/>
                </a:solidFill>
                <a:latin typeface="微软雅黑"/>
                <a:ea typeface="微软雅黑"/>
              </a:rPr>
              <a:t>积极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席位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22860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860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2860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场景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27432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7432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7432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测算总额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39" y="32004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≈180万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2004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≈240万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200400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≈320万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03320"/>
            <a:ext cx="512064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支付：签约 60% + 试点验收 40%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280160"/>
            <a:ext cx="5532120" cy="27432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280160"/>
            <a:ext cx="91440" cy="2743200"/>
          </a:xfrm>
          <a:prstGeom prst="rect">
            <a:avLst/>
          </a:prstGeom>
          <a:solidFill>
            <a:srgbClr val="D9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389888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5A5A"/>
                </a:solidFill>
                <a:latin typeface="微软雅黑"/>
                <a:ea typeface="微软雅黑"/>
              </a:rPr>
              <a:t>试点禁区（写入《AI 使用规范》）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719072"/>
            <a:ext cx="5212080" cy="2240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× Agent 独立做授信/定价/AML/KYC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× 未授权敏感信息直输模型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× 模型输出直接作为对客承诺或报送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297680"/>
            <a:ext cx="2148840" cy="16916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4526280"/>
            <a:ext cx="1920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客户经理辅助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5212080"/>
            <a:ext cx="1920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8E6EC"/>
                </a:solidFill>
                <a:latin typeface="微软雅黑"/>
                <a:ea typeface="微软雅黑"/>
              </a:rPr>
              <a:t>纪要采纳率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4297680"/>
            <a:ext cx="2148840" cy="16916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07208" y="4526280"/>
            <a:ext cx="1920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信用卡运营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5212080"/>
            <a:ext cx="1920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8E6EC"/>
                </a:solidFill>
                <a:latin typeface="微软雅黑"/>
                <a:ea typeface="微软雅黑"/>
              </a:rPr>
              <a:t>出稿周期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4297680"/>
            <a:ext cx="2148840" cy="16916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3208" y="4526280"/>
            <a:ext cx="1920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市场营销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3208" y="5212080"/>
            <a:ext cx="1920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8E6EC"/>
                </a:solidFill>
                <a:latin typeface="微软雅黑"/>
                <a:ea typeface="微软雅黑"/>
              </a:rPr>
              <a:t>素材产出量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69480" y="4297680"/>
            <a:ext cx="2148840" cy="16916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208" y="4526280"/>
            <a:ext cx="1920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内部知识服务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5212080"/>
            <a:ext cx="1920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8E6EC"/>
                </a:solidFill>
                <a:latin typeface="微软雅黑"/>
                <a:ea typeface="微软雅黑"/>
              </a:rPr>
              <a:t>一次命中率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55480" y="4297680"/>
            <a:ext cx="2148840" cy="16916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65208" y="4526280"/>
            <a:ext cx="1920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管理提效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65208" y="5212080"/>
            <a:ext cx="1920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8E6EC"/>
                </a:solidFill>
                <a:latin typeface="微软雅黑"/>
                <a:ea typeface="微软雅黑"/>
              </a:rPr>
              <a:t>纪要覆盖率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模块二：AI 生产力联名卡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把经营性消费转化为 AI 生产力资源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联名卡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838"/>
                </a:solidFill>
                <a:latin typeface="微软雅黑"/>
                <a:ea typeface="微软雅黑"/>
              </a:rPr>
              <a:t>标准版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客群：职能岗位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权益：体验层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E6EC"/>
                </a:solidFill>
                <a:latin typeface="微软雅黑"/>
                <a:ea typeface="微软雅黑"/>
              </a:rPr>
              <a:t>节奏：W6 小批量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801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838"/>
                </a:solidFill>
                <a:latin typeface="微软雅黑"/>
                <a:ea typeface="微软雅黑"/>
              </a:rPr>
              <a:t>金卡版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客群：小微企业主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权益：体验+成长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E6EC"/>
                </a:solidFill>
                <a:latin typeface="微软雅黑"/>
                <a:ea typeface="微软雅黑"/>
              </a:rPr>
              <a:t>节奏：W6 小批量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801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838"/>
                </a:solidFill>
                <a:latin typeface="微软雅黑"/>
                <a:ea typeface="微软雅黑"/>
              </a:rPr>
              <a:t>企业主版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客群：对公实控人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权益：三层全开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E6EC"/>
                </a:solidFill>
                <a:latin typeface="微软雅黑"/>
                <a:ea typeface="微软雅黑"/>
              </a:rPr>
              <a:t>节奏：W9 定向邀约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03320"/>
            <a:ext cx="91440" cy="2286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813048"/>
            <a:ext cx="3337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体验层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142232"/>
            <a:ext cx="333756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开卡激活 / 绑卡 / 首刷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体验席位 + 入门 Token + 公开课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目的：降低首次门槛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03320"/>
            <a:ext cx="91440" cy="2286000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813048"/>
            <a:ext cx="3337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成长层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142232"/>
            <a:ext cx="333756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月度消费达标 / 指定场景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Agent 包 + Token 加赠 + 折扣券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目的：提升使用深度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703320"/>
            <a:ext cx="91440" cy="2286000"/>
          </a:xfrm>
          <a:prstGeom prst="rect">
            <a:avLst/>
          </a:prstGeom>
          <a:solidFill>
            <a:srgbClr val="3D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813048"/>
            <a:ext cx="3337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B38A"/>
                </a:solidFill>
                <a:latin typeface="微软雅黑"/>
                <a:ea typeface="微软雅黑"/>
              </a:rPr>
              <a:t>企业层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142232"/>
            <a:ext cx="333756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企业采购 / 重点任务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顾问诊断 + 企业试用 + 活动席位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目的：推动付费续费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权益核销时序与控本机制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优先按实际核销结算；未领取不产生成本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权益运营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T+0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达标识别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银行生成权益资格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3258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5087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T+1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01168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资格推送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14600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App 权益中心提示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13258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5087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T+2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01168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领取激活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514600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兑换码 / 账号绑定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3258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5087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T+3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01168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状态回传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14600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腾讯云回传看板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3258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5087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月末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01168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汇总对账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514600"/>
            <a:ext cx="1965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T+5 出账 / T+10 确认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749039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总预算封顶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150–260 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92040"/>
            <a:ext cx="24688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季度分配，超支需 steering 审批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749039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93192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单客封顶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3434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体验+成长合计上限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892040"/>
            <a:ext cx="24688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防头部客户独占预算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749039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3192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领取率监控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3434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35%–50% 假设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92040"/>
            <a:ext cx="24688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按周监控，动态调门槛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3749039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93192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降档触发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3434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70% / 85%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892040"/>
            <a:ext cx="24688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自动降档或暂停发放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模块三：20 万+ 客户分层与联合运营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客户经理是成败变量：自己先用、讲得清楚、讲了有得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客户运营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19659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高意向科技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折扣+专业服务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定向邀约 / 顾问诊断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28016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463040"/>
            <a:ext cx="19659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成长型小微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0574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低成本提效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训练营 / Agent 体验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128016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463040"/>
            <a:ext cx="19659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传统经营者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0574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银行背书入口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65176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沙龙 / 案例教育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28016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463040"/>
            <a:ext cx="19659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个人高活跃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0574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日常 AI 权益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65176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App 任务 / 月度主题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28016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463040"/>
            <a:ext cx="19659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出海意向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0574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跨境+出海云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65176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摸排 / 一揽子方案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79476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931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1 筛选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2519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银行分层触达，不出完整底表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79476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931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2 教育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2519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每月≥2 篇行业化内容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79476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931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3 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519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活动后 7 天内跟进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93776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074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4 商机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3949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书面授权后 24h 交接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493776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5074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5 成交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3949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归属/报价/SLA 写清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493776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5074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B3C0"/>
                </a:solidFill>
                <a:latin typeface="微软雅黑"/>
                <a:ea typeface="微软雅黑"/>
              </a:rPr>
              <a:t>6 续费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3949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到期前 30 天复盘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主线二：科创跨境出海（样本验证）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首期不做规模幻觉：账户/结算/退税优先，信贷逐笔审议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跨境闭环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7498079" cy="10972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基础包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4937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FT 账户 + 结算 + 汇率咨询 + 政策解读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适用：首次出海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14600"/>
            <a:ext cx="7498079" cy="10972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成长包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97480"/>
            <a:ext cx="4937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基础包 + 阳光退税 + 快收 + 融资方案 + 出海云权益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适用：稳定跨境业务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49039"/>
            <a:ext cx="7498079" cy="109728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19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微软雅黑"/>
                <a:ea typeface="微软雅黑"/>
              </a:rPr>
              <a:t>护航包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31919"/>
            <a:ext cx="4937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微软雅黑"/>
                <a:ea typeface="微软雅黑"/>
              </a:rPr>
              <a:t>成长包 + 法税物流对接 + 专属顾问 + 生态席位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适用：深度出海/建厂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91440" cy="466344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389888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90 天节奏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719072"/>
            <a:ext cx="3291840" cy="4160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W1–W4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需求摸排 / 货架 / SOP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W5–W8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20–30 户接洽 / 活动 / 伙伴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W9–W13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方案落地 / FT 开户 / 案例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风险提示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境外贷后未成熟可复制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→ 非信贷优先，信贷限样本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量化商业模型：六个关键变量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最敏感变量是权益激活率；成本最不可控是领取率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商业模型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1  权益领取率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决定成本与转化分母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801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2  领取后激活率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974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闭环最易断裂环节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2801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3  激活后线索率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企业转化输入量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11879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79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4  线索付费转化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43399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19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收入侧规模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611879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840479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5  企业年均消费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43399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1.8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2919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单客价值与回本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611879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840479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B3C0"/>
                </a:solidFill>
                <a:latin typeface="微软雅黑"/>
                <a:ea typeface="微软雅黑"/>
              </a:rPr>
              <a:t>6  次年续费率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43399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8A838"/>
                </a:solidFill>
                <a:latin typeface="微软雅黑"/>
                <a:ea typeface="微软雅黑"/>
              </a:rPr>
              <a:t>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2919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是否可持续生意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中性档转化漏斗（90 天 / 12 个月）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首期真正验证第 5、6 步：领取与真实使用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漏斗测算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B0C2"/>
                </a:solidFill>
                <a:latin typeface="微软雅黑"/>
                <a:ea typeface="微软雅黑"/>
              </a:rPr>
              <a:t>环节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914400" cy="256032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可触达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60,000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3154681"/>
            <a:ext cx="914400" cy="2240279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曝光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12,000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36,000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3474720"/>
            <a:ext cx="914400" cy="192024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申请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6,000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18,000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3794760"/>
            <a:ext cx="914400" cy="16002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激活卡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4,000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15,000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114800"/>
            <a:ext cx="914400" cy="128016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领取权益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1,600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6,000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4434841"/>
            <a:ext cx="914400" cy="960119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真实激活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560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2,100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26880" y="4754880"/>
            <a:ext cx="914400" cy="640080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高意向线索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67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252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61320" y="160020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89920" y="5074920"/>
            <a:ext cx="914400" cy="320040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7040" y="1737360"/>
            <a:ext cx="1280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企业付费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24231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90天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3337560"/>
            <a:ext cx="1280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12月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8E6EC"/>
                </a:solidFill>
                <a:latin typeface="微软雅黑"/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首期投入结构与止损条件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90 天不以盈亏平衡为目标，而是能力投资与证伪窗口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投入止损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685800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Work Buddy 采购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41732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180–240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417320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银行承担（建议）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938528"/>
            <a:ext cx="685800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75688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权益成本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075688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150–210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075688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双方共担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596896"/>
            <a:ext cx="685800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34056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市场活动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34056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40–70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734056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双方共担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255264"/>
            <a:ext cx="685800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92424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系统对接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392424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30–50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392424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双方共担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13631"/>
            <a:ext cx="685800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50791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专项人力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50791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折算 40–60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050791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各自承担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1280160"/>
            <a:ext cx="4251960" cy="475488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1280160"/>
            <a:ext cx="91440" cy="4754880"/>
          </a:xfrm>
          <a:prstGeom prst="rect">
            <a:avLst/>
          </a:prstGeom>
          <a:solidFill>
            <a:srgbClr val="D9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7" y="1389888"/>
            <a:ext cx="3931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5A5A"/>
                </a:solidFill>
                <a:latin typeface="微软雅黑"/>
                <a:ea typeface="微软雅黑"/>
              </a:rPr>
              <a:t>止损 / 重评估触发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7" y="1719072"/>
            <a:ext cx="3931920" cy="4251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内部月活 &lt; 30%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权益激活率 &lt; 20%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高意向线索 &lt; 50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重大合规或投诉爆发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归属/数据/结算无法一致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中性档回本周期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约 18–30 个月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高度依赖续费与二期规模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90 天里程碑总览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五段闸门：启动 → 准备 → 试运行 → 放量 → 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执行计划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804672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444752"/>
            <a:ext cx="1645920" cy="475488"/>
          </a:xfrm>
          <a:prstGeom prst="roundRect">
            <a:avLst>
              <a:gd name="adj" fmla="val 15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36192"/>
            <a:ext cx="1645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W0–W2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50876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联合 PMO / 项目章程 / 合规预审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94560"/>
            <a:ext cx="11338560" cy="804672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359152"/>
            <a:ext cx="1645920" cy="475488"/>
          </a:xfrm>
          <a:prstGeom prst="roundRect">
            <a:avLst>
              <a:gd name="adj" fmla="val 15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50592"/>
            <a:ext cx="1645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W3–W5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42316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准备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采购签约 / 场景上线 / 使用规范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108960"/>
            <a:ext cx="11338560" cy="804672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273552"/>
            <a:ext cx="1645920" cy="475488"/>
          </a:xfrm>
          <a:prstGeom prst="roundRect">
            <a:avLst>
              <a:gd name="adj" fmla="val 15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64992"/>
            <a:ext cx="1645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W6–W8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3756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试运行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3756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小批量发卡 / 核销链路跑通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023360"/>
            <a:ext cx="11338560" cy="804672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187952"/>
            <a:ext cx="1645920" cy="475488"/>
          </a:xfrm>
          <a:prstGeom prst="roundRect">
            <a:avLst>
              <a:gd name="adj" fmla="val 15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79392"/>
            <a:ext cx="1645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W9–W11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5196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放量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5196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线索交接 / 跨境样本开户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937760"/>
            <a:ext cx="11338560" cy="804672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5102352"/>
            <a:ext cx="1645920" cy="475488"/>
          </a:xfrm>
          <a:prstGeom prst="roundRect">
            <a:avLst>
              <a:gd name="adj" fmla="val 15000"/>
            </a:avLst>
          </a:prstGeom>
          <a:solidFill>
            <a:srgbClr val="3D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93792"/>
            <a:ext cx="1645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W12–W13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16636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评估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16636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案例沉淀 / 准出决策 / 二期方案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三道准入准出门槛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达不到就延后或缩范围，不带风险放量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闸门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3657600" cy="109728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B3C0"/>
                </a:solidFill>
                <a:latin typeface="微软雅黑"/>
                <a:ea typeface="微软雅黑"/>
              </a:rPr>
              <a:t>W5 上线关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合规预审通过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数据清单确认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培训完成率 ≥90%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3200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0C2"/>
                </a:solidFill>
                <a:latin typeface="微软雅黑"/>
                <a:ea typeface="微软雅黑"/>
              </a:rPr>
              <a:t>不通过：延后上线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325880"/>
            <a:ext cx="3657600" cy="10972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64592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838"/>
                </a:solidFill>
                <a:latin typeface="微软雅黑"/>
                <a:ea typeface="微软雅黑"/>
              </a:rPr>
              <a:t>W8 链路关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核销成功率 ≥99%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260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重大故障 0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6616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投诉可控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572000"/>
            <a:ext cx="3200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0C2"/>
                </a:solidFill>
                <a:latin typeface="微软雅黑"/>
                <a:ea typeface="微软雅黑"/>
              </a:rPr>
              <a:t>不通过：修复后再放量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325880"/>
            <a:ext cx="3657600" cy="109728"/>
          </a:xfrm>
          <a:prstGeom prst="rect">
            <a:avLst/>
          </a:prstGeom>
          <a:solidFill>
            <a:srgbClr val="3D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4592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38A"/>
                </a:solidFill>
                <a:latin typeface="微软雅黑"/>
                <a:ea typeface="微软雅黑"/>
              </a:rPr>
              <a:t>W13 准出关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六项门槛全满足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260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≥3 个授权案例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6616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微软雅黑"/>
                <a:ea typeface="微软雅黑"/>
              </a:rPr>
              <a:t>✓  单位获客成本可控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72000"/>
            <a:ext cx="3200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0C2"/>
                </a:solidFill>
                <a:latin typeface="微软雅黑"/>
                <a:ea typeface="微软雅黑"/>
              </a:rPr>
              <a:t>不通过：延长 4–8 周或调整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90 天参考目标与复盘机制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目标供测算，不作为战略协议刚性承诺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指标体系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4475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≥80%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2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内部激活率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7627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观察频率：周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8016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4475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≥50–60%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7452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内部月活率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7627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观察频率：周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28016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35–50%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7452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权益领取率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17627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观察频率：周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10896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7355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≥30–40%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领取后激活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0507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观察频率：周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10896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27355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≥5–10%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0332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高意向线索转化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0507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观察频率：月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10896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273552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8A838"/>
                </a:solidFill>
                <a:latin typeface="微软雅黑"/>
                <a:ea typeface="微软雅黑"/>
              </a:rPr>
              <a:t>20–30 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70332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跨境接洽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005072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8FB0C2"/>
                </a:solidFill>
                <a:latin typeface="微软雅黑"/>
                <a:ea typeface="微软雅黑"/>
              </a:rPr>
              <a:t>观察频率：月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F1F5"/>
                </a:solidFill>
                <a:latin typeface="微软雅黑"/>
                <a:ea typeface="微软雅黑"/>
              </a:rPr>
              <a:t>复盘节奏：周度联合 PMO（进度/库存/风险） · 月度业务负责人（完整漏斗/成本/对账） · 季度 steering（战略/预算/准出）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合规硬原则与 AI 红黄绿灯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结果出行，明细不出行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合规风控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一条硬性原则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银行向腾讯云传递的是「这位客户有资格领取 B 档权益」，而不是「这位客户本月消费了 6,842 元」。W2 前由合规专项小组书面确认字段清单。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4320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00200" y="29718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3D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3035808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绿灯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可直接用，事后抽查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0C2"/>
                </a:solidFill>
                <a:latin typeface="微软雅黑"/>
                <a:ea typeface="微软雅黑"/>
              </a:rPr>
              <a:t>公开信息整理 / 会议纪要 / 素材创意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74320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40680" y="29718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3035808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黄灯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100% 人工复核后生效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06240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0C2"/>
                </a:solidFill>
                <a:latin typeface="微软雅黑"/>
                <a:ea typeface="微软雅黑"/>
              </a:rPr>
              <a:t>对客文案 / 活动规则 / 制度解读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74320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29718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D9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035808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红灯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禁止使用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06240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0C2"/>
                </a:solidFill>
                <a:latin typeface="微软雅黑"/>
                <a:ea typeface="微软雅黑"/>
              </a:rPr>
              <a:t>授信定价 / AML KYC / 监管报送 / 未授权敏感信息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最容易被低估的风险：组织执行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技术有解、合规有流程；客户经理不愿意讲没有技术解法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风险提示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32120" cy="475488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754880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四件必须同步落地的事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19072"/>
            <a:ext cx="5212080" cy="4251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① 自己先用：试点客户经理完成培训与首次任务，纳入考核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② 讲得清楚：3 分钟话术卡 + 一页纸材料 + 5 个场景案例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③ 讲了有得：激活 / 转化 / 案例贡献分别计分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④ 问得到人：答疑群 + 腾讯云专家轮值，4 小时响应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建议首轮会议明确：试点部门负责人对内部月活率负责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80160"/>
            <a:ext cx="91440" cy="4754880"/>
          </a:xfrm>
          <a:prstGeom prst="rect">
            <a:avLst/>
          </a:prstGeom>
          <a:solidFill>
            <a:srgbClr val="D9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89888"/>
            <a:ext cx="5257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5A5A"/>
                </a:solidFill>
                <a:latin typeface="微软雅黑"/>
                <a:ea typeface="微软雅黑"/>
              </a:rPr>
              <a:t>风险登记册（摘要）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19072"/>
            <a:ext cx="5257800" cy="4251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高×高：组织执行（客户经理不用不推）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中×高：数据隐私 / 模型输出 / 权益合规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高×中：跨境贷后与汇率合规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中×中：领取率失控 / 接口故障 / 归属争议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低×高：舆情（银行推销 AI / 贷款买算力）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Token 一律表述为「产品使用额度/服务权益」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严禁与虚拟资产、投资收益产生联想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会后一页纸行动清单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从会议结束到框架协议，最长 15 个工作日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立即执行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344168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99032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371600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指定双方项目负责人并互换联系方式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371600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2 个工作日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37160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双方分管领导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892808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002536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57400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029968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联合 PMO 第一次会议，发布项目章程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029968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5 个工作日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029968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 PMO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551176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2660904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15768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688336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银行启动合规预审与数据边界梳理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688336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5 个工作日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688336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银行合规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209544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319272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374136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346704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腾讯云提交产品清单、报价与技术白皮书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346704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5 个工作日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346704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腾讯云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867912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3977640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32504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4005072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确定试点部门与人员名单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005072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10 个工作日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005072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银行 PMO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526279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4636007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690871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663439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完成商务测算表 v1 与合规清单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663439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10 个工作日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663439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184648"/>
            <a:ext cx="11338560" cy="594360"/>
          </a:xfrm>
          <a:prstGeom prst="roundRect">
            <a:avLst>
              <a:gd name="adj" fmla="val 5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5294376"/>
            <a:ext cx="411480" cy="384048"/>
          </a:xfrm>
          <a:prstGeom prst="roundRect">
            <a:avLst>
              <a:gd name="adj" fmla="val 20000"/>
            </a:avLst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349240"/>
            <a:ext cx="411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2540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5321808"/>
            <a:ext cx="6217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向 steering 汇报，决定是否签框架协议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321808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A838"/>
                </a:solidFill>
                <a:latin typeface="微软雅黑"/>
                <a:ea typeface="微软雅黑"/>
              </a:rPr>
              <a:t>会后 15 个工作日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321808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B0C2"/>
                </a:solidFill>
                <a:latin typeface="微软雅黑"/>
                <a:ea typeface="微软雅黑"/>
              </a:rPr>
              <a:t>双方分管领导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9875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配套 Excel 作战表（落地操作系统）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98755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E6EC"/>
                </a:solidFill>
                <a:latin typeface="微软雅黑"/>
                <a:ea typeface="微软雅黑"/>
              </a:rPr>
              <a:t>PPT 用于决策对齐；Excel 用于联合 PMO 周度运转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16486B"/>
          </a:solidFill>
          <a:ln w="15875">
            <a:solidFill>
              <a:srgbClr val="2B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8E6EC"/>
                </a:solidFill>
                <a:latin typeface="微软雅黑"/>
                <a:ea typeface="微软雅黑"/>
              </a:rPr>
              <a:t>配套交付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00 总览看板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模块目标 / 责任 / 优先级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28016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6304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01 决策与确认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2880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三项决策 + 12 项待确认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8016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02 投入预算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分档预算 + 分担建议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28016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6304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03 转化漏斗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82880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90天/12月三情景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56032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04 周计划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W0–W13 任务与交付物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256032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74320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05 RACI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10896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责任矩阵可勾选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56032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74320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06 联名卡权益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0896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档位 / 成本封顶 / 反套利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256032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74320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07 场景卡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10896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五场景输入输出指标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840479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23359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08 客户运营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89119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分层 SOP + 经理激励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3840479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023359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09 跨境样本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389119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货架 / 评分 / 节奏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840479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023359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10 KPI看板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89119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目标 / 实际 / 红绿灯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3840479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4023359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11 合规清单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389119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字段白名单 + 审批路径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12064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30352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12 风险登记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66928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概率影响与缓解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7560" y="5120640"/>
            <a:ext cx="2788920" cy="1143000"/>
          </a:xfrm>
          <a:prstGeom prst="roundRect">
            <a:avLst>
              <a:gd name="adj" fmla="val 6000"/>
            </a:avLst>
          </a:prstGeom>
          <a:solidFill>
            <a:srgbClr val="16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303520"/>
            <a:ext cx="2514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A838"/>
                </a:solidFill>
                <a:latin typeface="微软雅黑"/>
                <a:ea typeface="微软雅黑"/>
              </a:rPr>
              <a:t>13 对账结算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669280"/>
            <a:ext cx="2514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微软雅黑"/>
                <a:ea typeface="微软雅黑"/>
              </a:rPr>
              <a:t>核销字段与月结流程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下一步：启动 90 天双试点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A8E6EC"/>
                </a:solidFill>
                <a:latin typeface="微软雅黑"/>
                <a:ea typeface="微软雅黑"/>
              </a:rPr>
              <a:t>成立联合 PMO · 两周内交出章程 / 测算 / 合规清单 · 用准出门槛管理扩容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838"/>
                </a:solidFill>
                <a:latin typeface="微软雅黑"/>
                <a:ea typeface="微软雅黑"/>
              </a:rPr>
              <a:t>泰隆银行 × 腾讯云 Work Buddy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FB0C2"/>
                </a:solidFill>
                <a:latin typeface="微软雅黑"/>
                <a:ea typeface="微软雅黑"/>
              </a:rPr>
              <a:t>本文件为商务沟通与内部执行草案，所有数据为测算假设，不构成承诺；条款以正式协议为准。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9601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泰隆银行 × 腾讯云 Work Buddy · 战略合作实施方案 V3.0 作战包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1005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FB0C2"/>
                </a:solidFill>
                <a:latin typeface="微软雅黑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