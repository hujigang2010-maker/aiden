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呈送对方。面积是 9 月 24 日洽谈口径，以空铺清单为准。不要在开场展开机器人、改公寓、创智汇。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内部：不要用宝龙「一个月 120 个现场客」当这单的 KPI。对方区位在杨浦最西北，物业不在自己手里。机器人、改公寓若对方再提，回答「本单不纳入」。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内部口径：东升巨变不在这栋楼，在的是华数科技。对外不要讲成「楼里有东升巨变」。成都 80 万㎡、飞地是对方口述加公开载体，产线项目单案核实。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入会文本只写场地和月度沙龙。招商条款只写「推荐与陪看」。不要写面积目标，不要写税收返还。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1.5–2 元是筛选带，不是替对方报价。自持洽谈口径在 2 元以上，好项目可降。1–4 人隔间已经改掉，预算不够改回，不能答应切小间。晶丰是对方自己的教训：长起来会被免租加投资挖走，所以每场要有早期投资人。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600 人那场峰会不要往这栋楼排。对方自己说承载不了。30–80 人是方案假设，第一场前去茶馆量一次。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飞地数字来自洽谈：台州城投约 4000㎡合作八年，海宁约 2000㎡三年多，绍兴也合作过。对外只说「已有通道」，具体面积等项目核实。新加坡对接人姓名没在会上留下，群里要。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不要在这页补一个带看量指标。对方知道行业大约 110 比 1，但本单不接这个考核。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物业费洽谈口径约 20 元/㎡/月，停车约 700 元/月，都在开发商物业手里。表上要单列「能否谈」，不能默认可谈。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这页是给对方看的收费边界。成交佣金即使以后要谈，也不在试单文本里。避免会后变成招商对赌。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会后三件事的原口径：朱震拉群；入会不写面积和税收；创智汇只认交情，不绑定本楼。主谈人曾在创智汇、从富湘出来，这个背景留在内部，不上版面。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818120" cy="685800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63500" cy="68580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69494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试单合作方案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不签招商对赌  ·  先入会，再看 90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694944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上海新谷湾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三个月试单合作方案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3291840"/>
            <a:ext cx="1554480" cy="4445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520440"/>
            <a:ext cx="694944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早期项目陪看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复旦周边小型路演点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产线外溢与新加坡分头对接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06440"/>
            <a:ext cx="69494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上海市杨浦区科技企业联合会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复旦大学住房政策研究中心    2026 年 10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84048"/>
            <a:ext cx="36576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94944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自持可租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097280"/>
            <a:ext cx="3657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约 6,000㎡ 起谈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38528"/>
            <a:ext cx="36576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9424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整栋 1.67 万㎡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3657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小业主部分不纳入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93008"/>
            <a:ext cx="36576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03904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副会长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206240"/>
            <a:ext cx="3657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年费 1 万元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047488"/>
            <a:ext cx="36576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358384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760720"/>
            <a:ext cx="3657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清单到齐后 90 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445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9728"/>
            <a:ext cx="111556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范围  · 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65760"/>
            <a:ext cx="111556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这次只做三件事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37307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3730752" cy="6400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336499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 早期过渡办公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65960"/>
            <a:ext cx="3328416" cy="2057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把仍在找址、付得起租金的早期科技团队，带到有权出租的房源。面积按现有开间，好项目的租金可以谈。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170432"/>
            <a:ext cx="37307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170432"/>
            <a:ext cx="3730752" cy="6400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170432"/>
            <a:ext cx="336499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 小型路演点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65960"/>
            <a:ext cx="3328416" cy="2057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茶馆作为联合会在复旦周边的固定小场地。每月一场，主题只做人工智能落地或早期融资。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170432"/>
            <a:ext cx="37307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1170432"/>
            <a:ext cx="3730752" cy="6400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170432"/>
            <a:ext cx="336499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 双向通道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965960"/>
            <a:ext cx="3328416" cy="2057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企业要产线时，办公留在上海，生产走已有外地通道。新加坡选址由出海同事另开一次会。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389120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同时写进确认函的四条边界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73168"/>
            <a:ext cx="2788920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773168"/>
            <a:ext cx="50800" cy="566928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4773168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不设税收平台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773168"/>
            <a:ext cx="2788920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4773168"/>
            <a:ext cx="50800" cy="566928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38144" y="4773168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不对赌出租面积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773168"/>
            <a:ext cx="2788920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773168"/>
            <a:ext cx="50800" cy="566928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4773168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不改公寓、不切小间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4773168"/>
            <a:ext cx="2788920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4773168"/>
            <a:ext cx="50800" cy="566928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0304" y="4773168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不交付企业名录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532120"/>
            <a:ext cx="1133856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创智汇、中建四局另行沟通。机器人集聚不写进本单。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录音口径：现场带看成交大约 110 比 1。试单考核到场和陪看，不考核成交套数。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6547104"/>
            <a:ext cx="969264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杨浦区科技企业联合会  ·  复旦大学住房政策研究中心  ·  上海新谷湾试单  ·  2026.10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445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9728"/>
            <a:ext cx="111556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资源  ·  WHAT EACH SIDE BRINGS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65760"/>
            <a:ext cx="111556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双方这次各自拿出什么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56692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5669280" cy="62179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170432"/>
            <a:ext cx="521208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上海新谷湾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75104"/>
            <a:ext cx="5266944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75104"/>
            <a:ext cx="4983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自持办公。单一股东，好项目可以调租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5266944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4983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茶馆和小型活动场地，试单期免费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91840"/>
            <a:ext cx="5266944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83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注册地址：以清单确认还能不能落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50208"/>
            <a:ext cx="5266944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50208"/>
            <a:ext cx="4983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成都约 80 万㎡，以及台州、海宁、绍兴飞地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608576"/>
            <a:ext cx="5266944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08576"/>
            <a:ext cx="4983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正在选址的新加坡点，另会对接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170432"/>
            <a:ext cx="56692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170432"/>
            <a:ext cx="5669280" cy="6217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1170432"/>
            <a:ext cx="521208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联合会 / 住房政策研究中心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4808" y="1975104"/>
            <a:ext cx="5266944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975104"/>
            <a:ext cx="4983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白皮书和走访形成的企业、融资判断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8" y="2633472"/>
            <a:ext cx="5266944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633472"/>
            <a:ext cx="4983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世界人工智能大会与人工智能企业库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64808" y="3291840"/>
            <a:ext cx="5266944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291840"/>
            <a:ext cx="4983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仍在投早期项目的投行关系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64808" y="3950208"/>
            <a:ext cx="5266944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950208"/>
            <a:ext cx="4983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复旦科技园，以及现有会客厅机制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4808" y="4608576"/>
            <a:ext cx="5266944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608576"/>
            <a:ext cx="49834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小型活动组织；新加坡电商与小游戏已运营两年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742432"/>
            <a:ext cx="113385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楼内企业按实际入驻介绍。澳大利亚市场今年才开，不写进这 90 天的交付。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6547104"/>
            <a:ext cx="969264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杨浦区科技企业联合会  ·  复旦大学住房政策研究中心  ·  上海新谷湾试单  ·  2026.10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3  /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445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9728"/>
            <a:ext cx="111556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包  ·  THE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65760"/>
            <a:ext cx="111556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先入会，再试 90 天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20700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207008"/>
            <a:ext cx="2816352" cy="7315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71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01   入会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874519"/>
            <a:ext cx="246888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副会长
年费 1 万元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063240"/>
            <a:ext cx="246888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换固定小场地、月度沙龙席位，以及挂牌机会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20700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207008"/>
            <a:ext cx="2816352" cy="7315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371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02   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74519"/>
            <a:ext cx="246888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空铺表到齐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063240"/>
            <a:ext cx="246888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没有这张表，不开始推企业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120700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207008"/>
            <a:ext cx="2816352" cy="7315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1371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03   90 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1874519"/>
            <a:ext cx="246888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只做过程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063240"/>
            <a:ext cx="246888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筛 10–15 家、每月一场、投资人陪看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20700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207008"/>
            <a:ext cx="2816352" cy="7315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2" y="1371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04   复盘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1874519"/>
            <a:ext cx="246888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三选一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063240"/>
            <a:ext cx="246888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继续、停止，或改成单场活动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63440"/>
            <a:ext cx="11448288" cy="1600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800600"/>
            <a:ext cx="11018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C19A3A"/>
                </a:solidFill>
                <a:latin typeface="Microsoft YaHei"/>
                <a:ea typeface="Microsoft YaHei"/>
                <a:cs typeface="Microsoft YaHei"/>
              </a:rPr>
              <a:t>挂牌的三个条件，缺一就不挂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230368"/>
            <a:ext cx="110185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有真实机构主体，优先复旦科技园或现有会客厅。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挂上之后有季度活动。不新设空壳机构，也不先挂一块空牌子。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6547104"/>
            <a:ext cx="969264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杨浦区科技企业联合会  ·  复旦大学住房政策研究中心  ·  上海新谷湾试单  ·  2026.10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4  /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445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9728"/>
            <a:ext cx="111556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契合 1  · 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65760"/>
            <a:ext cx="111556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早期团队的过渡办公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52144"/>
            <a:ext cx="69037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6492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推过来的企业，六条都要对上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234440" cy="53035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123444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783080"/>
            <a:ext cx="50292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人工智能，或相邻硬科技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68880"/>
            <a:ext cx="1234440" cy="53035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68880"/>
            <a:ext cx="123444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468880"/>
            <a:ext cx="50292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早期。尚未被免租加投资锁定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54680"/>
            <a:ext cx="1234440" cy="53035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154680"/>
            <a:ext cx="123444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154680"/>
            <a:ext cx="50292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付得起大约 1.5–2 元/㎡/天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40480"/>
            <a:ext cx="1234440" cy="53035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840480"/>
            <a:ext cx="123444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840480"/>
            <a:ext cx="50292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对得上清单里的现有房源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26280"/>
            <a:ext cx="1234440" cy="53035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526280"/>
            <a:ext cx="123444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526280"/>
            <a:ext cx="50292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接受现在的大开间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212080"/>
            <a:ext cx="1234440" cy="53035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212080"/>
            <a:ext cx="123444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212080"/>
            <a:ext cx="50292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最好带一位能影响选址的投资人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1152144"/>
            <a:ext cx="4343400" cy="5074920"/>
          </a:xfrm>
          <a:prstGeom prst="rect">
            <a:avLst/>
          </a:prstGeom>
          <a:solidFill>
            <a:srgbClr val="2E1F47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1325880"/>
            <a:ext cx="3931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C19A3A"/>
                </a:solidFill>
                <a:latin typeface="Microsoft YaHei"/>
                <a:ea typeface="Microsoft YaHei"/>
                <a:cs typeface="Microsoft YaHei"/>
              </a:rPr>
              <a:t>操作顺序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920240"/>
            <a:ext cx="411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C19A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1920240"/>
            <a:ext cx="3383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先看空铺清单，再从库里筛人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670048"/>
            <a:ext cx="411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C19A3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670048"/>
            <a:ext cx="3383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内部留下 10–15 家，整表不外发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419856"/>
            <a:ext cx="411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C19A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419856"/>
            <a:ext cx="3383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只约有权出租的那一部分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169664"/>
            <a:ext cx="411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C19A3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169664"/>
            <a:ext cx="3383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看盘必须到现场，电话不算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919472"/>
            <a:ext cx="411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C19A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919472"/>
            <a:ext cx="3383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租金以清单报价为底，好项目当场谈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6547104"/>
            <a:ext cx="969264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杨浦区科技企业联合会  ·  复旦大学住房政策研究中心  ·  上海新谷湾试单  ·  2026.10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5  /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445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9728"/>
            <a:ext cx="111556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契合 2  ·  SALON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65760"/>
            <a:ext cx="111556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复旦周边的小型路演点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2788920" cy="635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5331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规模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0"/>
            <a:ext cx="246888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按茶馆实测。
方案先按 30–80 人准备。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170432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170432"/>
            <a:ext cx="2788920" cy="635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35331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频率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246888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试单期每月 1 场。
90 天一共 3 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170432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1170432"/>
            <a:ext cx="2788920" cy="635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35331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28800"/>
            <a:ext cx="246888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只做两选一：
人工智能落地，或早期融资。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1170432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98864" y="1170432"/>
            <a:ext cx="2788920" cy="635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135331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到场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1828800"/>
            <a:ext cx="246888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每场至少一位
仍在投早期项目的机构。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114482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3840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场地免费，买的是到场的人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4343400"/>
            <a:ext cx="1280160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4343400"/>
            <a:ext cx="1280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他们出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2536" y="4343400"/>
            <a:ext cx="3931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场地、现场接待、开门时间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4343400"/>
            <a:ext cx="1280160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4343400"/>
            <a:ext cx="1280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我们出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6096" y="4343400"/>
            <a:ext cx="3931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主题、嘉宾、企业邀约、流程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" y="5120640"/>
            <a:ext cx="1280160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5120640"/>
            <a:ext cx="1280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试单期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02536" y="5120640"/>
            <a:ext cx="3931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组织费用由联合会承担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8776" y="5120640"/>
            <a:ext cx="1280160" cy="56692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8776" y="5120640"/>
            <a:ext cx="1280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另计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5120640"/>
            <a:ext cx="3931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对外传播、直播、媒体稿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6547104"/>
            <a:ext cx="969264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杨浦区科技企业联合会  ·  复旦大学住房政策研究中心  ·  上海新谷湾试单  ·  2026.10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6  /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445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9728"/>
            <a:ext cx="111556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契合 3  ·  TWO-WAY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65760"/>
            <a:ext cx="111556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双向通道分开谈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144828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1051560" cy="129844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051560" cy="12984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316736"/>
            <a:ext cx="9875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上海企业要产线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00784"/>
            <a:ext cx="9875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办公和研发留在上海。生产放到对方已跑过的通道：台州城投、海宁、绍兴，或成都载体。企业自己提出来，再单案对接。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87752"/>
            <a:ext cx="1144828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587752"/>
            <a:ext cx="1051560" cy="129844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87752"/>
            <a:ext cx="1051560" cy="12984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734056"/>
            <a:ext cx="9875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成都企业来上海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118104"/>
            <a:ext cx="9875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只接待本来就要来长三角的团队。不承诺从成都批量导入新谷湾。这栋楼做桥头堡，不做搬迁指标。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05072"/>
            <a:ext cx="1144828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05072"/>
            <a:ext cx="1051560" cy="129844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05072"/>
            <a:ext cx="1051560" cy="12984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151376"/>
            <a:ext cx="9875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新加坡选址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35424"/>
            <a:ext cx="9875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对方正在选点。我方电商和小游戏已在新加坡运营两年。出海同事单独开一次会，验证能不能互相落地。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532120"/>
            <a:ext cx="11338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A、B 不写进 90 天的过程指标。C 不写进招商安排。三件事都单案记账。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6547104"/>
            <a:ext cx="969264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杨浦区科技企业联合会  ·  复旦大学住房政策研究中心  ·  上海新谷湾试单  ·  2026.10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445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9728"/>
            <a:ext cx="111556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过程  · 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65760"/>
            <a:ext cx="111556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90 天只承诺过程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52144"/>
            <a:ext cx="11448288" cy="53035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52144"/>
            <a:ext cx="15544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"/>
            <a:ext cx="30175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152144"/>
            <a:ext cx="45720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完成的样子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152144"/>
            <a:ext cx="18288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谁负责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92224"/>
            <a:ext cx="1144828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92224"/>
            <a:ext cx="14630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792224"/>
            <a:ext cx="301752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空铺清单、新加坡对接人、入会主体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92224"/>
            <a:ext cx="4480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三样到齐，试单才起算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1792224"/>
            <a:ext cx="1874519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对方填，朱震收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15184"/>
            <a:ext cx="11448288" cy="749808"/>
          </a:xfrm>
          <a:prstGeom prst="rect">
            <a:avLst/>
          </a:prstGeom>
          <a:solidFill>
            <a:srgbClr val="ECE6F7"/>
          </a:solidFill>
          <a:ln w="9525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15184"/>
            <a:ext cx="14630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615184"/>
            <a:ext cx="301752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副会长文本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615184"/>
            <a:ext cx="4480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写明场地和月度沙龙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615184"/>
            <a:ext cx="1874519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联合会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38144"/>
            <a:ext cx="1144828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38144"/>
            <a:ext cx="14630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第 2–4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438144"/>
            <a:ext cx="301752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按清单筛 10–15 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438144"/>
            <a:ext cx="4480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内部表填完，整表不外发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438144"/>
            <a:ext cx="1874519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联合会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61104"/>
            <a:ext cx="11448288" cy="749808"/>
          </a:xfrm>
          <a:prstGeom prst="rect">
            <a:avLst/>
          </a:prstGeom>
          <a:solidFill>
            <a:srgbClr val="ECE6F7"/>
          </a:solidFill>
          <a:ln w="9525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61104"/>
            <a:ext cx="14630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每月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261104"/>
            <a:ext cx="301752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一场沙龙，一位早期投资人看盘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261104"/>
            <a:ext cx="4480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有到场记录，电话不算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4261104"/>
            <a:ext cx="1874519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双方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084064"/>
            <a:ext cx="1144828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084064"/>
            <a:ext cx="14630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第 90 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084064"/>
            <a:ext cx="301752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复盘，书面三选一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084064"/>
            <a:ext cx="4480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继续 / 停止 / 改成单场活动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5084064"/>
            <a:ext cx="1874519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双方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6547104"/>
            <a:ext cx="969264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杨浦区科技企业联合会  ·  复旦大学住房政策研究中心  ·  上海新谷湾试单  ·  2026.10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8  /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445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9728"/>
            <a:ext cx="111556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启动门  ·  THE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65760"/>
            <a:ext cx="111556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没有空铺清单，不开始推企业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1338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请对方按这个字段填。小业主的面积可以附在表外，不能混进可推清单。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74650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楼层房号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8541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具体到间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60020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60020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74650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建筑面积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8541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㎡，可租面积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60020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60020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4650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权属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18541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自持 / 小业主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8864" y="160020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98864" y="160020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54896" y="174650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218541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空置，或到期日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92608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07238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报价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51129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元/㎡/天，不含物业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128" y="292608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0128" y="292608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307238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物业费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51129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金额，以及能否谈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292608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4496" y="292608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07238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351129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毛坯 / 精装 / 现状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98864" y="292608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98864" y="292608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54896" y="307238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注册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54896" y="351129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还能不能落地址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25196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25196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439826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租期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483717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最短租期、免租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25196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10128" y="425196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439826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483717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空调、朝向、层高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4496" y="425196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54496" y="425196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439826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483717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谁能当场定租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98864" y="4251960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98864" y="4251960"/>
            <a:ext cx="91440" cy="117043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54896" y="439826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对接人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54896" y="4837176"/>
            <a:ext cx="2377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姓名和电话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" y="6547104"/>
            <a:ext cx="969264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杨浦区科技企业联合会  ·  复旦大学住房政策研究中心  ·  上海新谷湾试单  ·  2026.10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9  /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445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9728"/>
            <a:ext cx="111556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费用  ·  WHO PAYS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65760"/>
            <a:ext cx="111556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谁交付，谁付费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33856"/>
            <a:ext cx="11539728" cy="47548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33856"/>
            <a:ext cx="1920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133856"/>
            <a:ext cx="320040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新谷湾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133856"/>
            <a:ext cx="33832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1133856"/>
            <a:ext cx="26060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费用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11539728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64208"/>
            <a:ext cx="18745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入会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664208"/>
            <a:ext cx="31546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办副会长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664208"/>
            <a:ext cx="33832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纳入活动点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664208"/>
            <a:ext cx="26060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1 万元/年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11539728" cy="585216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286000"/>
            <a:ext cx="18745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场地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86000"/>
            <a:ext cx="31546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每月开放一场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286000"/>
            <a:ext cx="33832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定主题和邀约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86000"/>
            <a:ext cx="26060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场地不收费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07792"/>
            <a:ext cx="11539728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907792"/>
            <a:ext cx="18745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沙龙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907792"/>
            <a:ext cx="31546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现场接待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2907792"/>
            <a:ext cx="33832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组织 3 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907792"/>
            <a:ext cx="26060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试单期我们承担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29584"/>
            <a:ext cx="11539728" cy="585216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529584"/>
            <a:ext cx="18745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陪看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529584"/>
            <a:ext cx="31546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出报价，可当场定租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3529584"/>
            <a:ext cx="33832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筛选、预约、陪同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529584"/>
            <a:ext cx="26060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不写佣金和税收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151376"/>
            <a:ext cx="11539728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151376"/>
            <a:ext cx="18745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挂牌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151376"/>
            <a:ext cx="31546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出墙面和发布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151376"/>
            <a:ext cx="33832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协调真实主体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151376"/>
            <a:ext cx="26060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主体未定不挂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773168"/>
            <a:ext cx="11539728" cy="585216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773168"/>
            <a:ext cx="18745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新加坡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4773168"/>
            <a:ext cx="31546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出对接人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4773168"/>
            <a:ext cx="33832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出海同事参会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73168"/>
            <a:ext cx="26060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不进本方案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394960"/>
            <a:ext cx="11539728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394960"/>
            <a:ext cx="18745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产线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5394960"/>
            <a:ext cx="31546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提供已有通道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5394960"/>
            <a:ext cx="338328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企业提出才对接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394960"/>
            <a:ext cx="260604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单案单议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" y="6547104"/>
            <a:ext cx="969264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杨浦区科技企业联合会  ·  复旦大学住房政策研究中心  ·  上海新谷湾试单  ·  2026.10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10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445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9728"/>
            <a:ext cx="111556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  <a:cs typeface="Microsoft YaHei"/>
              </a:rPr>
              <a:t>下一步  · 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65760"/>
            <a:ext cx="1115568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群里先要两样东西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33856"/>
            <a:ext cx="11448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33856"/>
            <a:ext cx="822960" cy="9601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33856"/>
            <a:ext cx="8229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225296"/>
            <a:ext cx="10149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先要表，不谈框架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91056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空铺清单和新加坡对接人。两样到了，再约第一场看盘。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85416"/>
            <a:ext cx="11448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85416"/>
            <a:ext cx="822960" cy="9601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85416"/>
            <a:ext cx="8229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76856"/>
            <a:ext cx="10149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入会按副会长写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42616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文本写明场地和月度沙龙。招商只写推荐与陪看。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36976"/>
            <a:ext cx="11448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236976"/>
            <a:ext cx="822960" cy="9601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236976"/>
            <a:ext cx="82296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28416"/>
            <a:ext cx="10149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另一条线分开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694176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B2536"/>
                </a:solidFill>
                <a:latin typeface="Microsoft YaHei"/>
                <a:ea typeface="Microsoft YaHei"/>
                <a:cs typeface="Microsoft YaHei"/>
              </a:rPr>
              <a:t>创智汇、中建四局另行沟通，不和这栋楼写在同一份确认里。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34340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当场填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736592"/>
            <a:ext cx="2103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新谷湾对接人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5084064"/>
            <a:ext cx="3291840" cy="15875"/>
          </a:xfrm>
          <a:prstGeom prst="rect">
            <a:avLst/>
          </a:prstGeom>
          <a:solidFill>
            <a:srgbClr val="76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736592"/>
            <a:ext cx="2103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新加坡对接人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5084064"/>
            <a:ext cx="3291840" cy="15875"/>
          </a:xfrm>
          <a:prstGeom prst="rect">
            <a:avLst/>
          </a:prstGeom>
          <a:solidFill>
            <a:srgbClr val="76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513832"/>
            <a:ext cx="2103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清单提交日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5861304"/>
            <a:ext cx="3291840" cy="15875"/>
          </a:xfrm>
          <a:prstGeom prst="rect">
            <a:avLst/>
          </a:prstGeom>
          <a:solidFill>
            <a:srgbClr val="76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513832"/>
            <a:ext cx="2103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  <a:cs typeface="Microsoft YaHei"/>
              </a:rPr>
              <a:t>首场沙龙窗口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5861304"/>
            <a:ext cx="3291840" cy="15875"/>
          </a:xfrm>
          <a:prstGeom prst="rect">
            <a:avLst/>
          </a:prstGeom>
          <a:solidFill>
            <a:srgbClr val="76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6547104"/>
            <a:ext cx="969264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  <a:cs typeface="Microsoft YaHei"/>
              </a:rPr>
              <a:t>杨浦区科技企业联合会  ·  复旦大学住房政策研究中心  ·  上海新谷湾试单  ·  2026.10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547104"/>
            <a:ext cx="141732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5B3E8E"/>
                </a:solidFill>
                <a:latin typeface="Microsoft YaHei"/>
                <a:ea typeface="Microsoft YaHei"/>
                <a:cs typeface="Microsoft YaHei"/>
              </a:rPr>
              <a:t>11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上海新谷湾三个月试单合作方案</dc:title>
  <dc:subject>入会与 90 天试单，不签招商对赌</dc:subject>
  <dc:creator>上海市杨浦区科技企业联合会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合作方案</cp:category>
</cp:coreProperties>
</file>