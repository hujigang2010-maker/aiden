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7EBE6"/>
                </a:solidFill>
                <a:latin typeface="微软雅黑"/>
                <a:ea typeface="微软雅黑"/>
              </a:rPr>
              <a:t>工作会议纪要 → 可执行落地方案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上海人工智能产业展馆（常设展示与运营平台）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47B2D"/>
                </a:solidFill>
                <a:latin typeface="微软雅黑"/>
                <a:ea typeface="微软雅黑"/>
              </a:rPr>
              <a:t>核心聚焦：投资方怎么投 · 项目怎么赚 · 政策怎么落地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7EBE6"/>
                </a:solidFill>
                <a:latin typeface="微软雅黑"/>
                <a:ea typeface="微软雅黑"/>
              </a:rPr>
              <a:t>基于两场会议笔记整理（2026-08-08 / 2026-08-10）</a:t>
            </a:r>
          </a:p>
          <a:p>
            <a:pPr algn="l"/>
            <a:r>
              <a:rPr sz="1300" b="0">
                <a:solidFill>
                  <a:srgbClr val="D7EBE6"/>
                </a:solidFill>
                <a:latin typeface="微软雅黑"/>
                <a:ea typeface="微软雅黑"/>
              </a:rPr>
              <a:t>参与人：陈晟 · 胡继刚 · 陈红苗  |  V1.2 修订稿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V1.2 讨论稿  |  2026-08-10  |  供场地 / 资方 / 主管部门路演使用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先对齐共识，再谈投、赚、政策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01  双场会议纪要要点与核心关注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02  项目定位与差异化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03  投资总原则与七条出资路径（重点）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04  赞助层级与资方回报设计（重点）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05  盈利逻辑与六条收入线（重点）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06  政策性支持与扶持资金匹配（重点）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07  场地候选与空间经济模型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08  内容结构与资源对接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09  组织分工与90天推进节奏</a:t>
            </a:r>
          </a:p>
          <a:p>
            <a:pPr>
              <a:lnSpc>
                <a:spcPct val="120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10  风险清单与下一步待办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双场会议纪要要点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场次一讨论定方向 · 场次二工作会议定推进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两场沟通围绕「在上海筹建产业科技类常设展馆」展开：场次一讨论教育研学切入、赞助合作与内容运营方向；场次二由陈晟提出整体框架，与胡继刚、陈红苗就项目定位、场地、资金、盈利与分工交换意见，约定会后整理可对外材料，并分头对接场地与资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3657600" cy="411480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64008" cy="411480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39112"/>
            <a:ext cx="3401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场次一 · 08-08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77440"/>
            <a:ext cx="340156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教育研学切入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一期可控面积试点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算力 / 模型 / 行业应用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赞助与战略合作思路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内容运营需合规授权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参与：陈晟等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65960"/>
            <a:ext cx="3657600" cy="411480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965960"/>
            <a:ext cx="64008" cy="41148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039112"/>
            <a:ext cx="3401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场次二 · 08-10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377440"/>
            <a:ext cx="340156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陈晟提出整体框架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租金优惠+装修共担（可谈）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创智汇 / 复兴岛候选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科协等社团合作路径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租金+研学+展位赞助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胡继刚整理、陈红苗对接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65960"/>
            <a:ext cx="3566160" cy="411480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965960"/>
            <a:ext cx="64008" cy="4114800"/>
          </a:xfrm>
          <a:prstGeom prst="rect">
            <a:avLst/>
          </a:prstGeom>
          <a:solidFill>
            <a:srgbClr val="C4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039112"/>
            <a:ext cx="33101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7B2D"/>
                </a:solidFill>
                <a:latin typeface="微软雅黑"/>
                <a:ea typeface="微软雅黑"/>
              </a:rPr>
              <a:t>本方案核心关注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377440"/>
            <a:ext cx="331012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投资方如何出资／入场（租金与装修共担、赞助层级、引导基金与跟投）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项目如何持续盈利（空间经营、研学服务、孵化收益、可复制运营输出）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政策性支持如何落地（教育研学、科普专项、科创扶持、闲置物业盘活）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项目定位与差异化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常设展陈 × 研学服务 × 空间经营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" cy="219456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5230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一句话定位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91640"/>
            <a:ext cx="52303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产业科技常设展示与配套服务空间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内容以可签约展位与可核验应用案例为主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一期小步验证，再谈扩展与对外输出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486400" cy="219456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64008" cy="2194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353312"/>
            <a:ext cx="52303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与现有展厅差异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691640"/>
            <a:ext cx="52303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相对单一品类展厅，本项目强调可签约企业展位 + 研学服务 + 配套空间经营。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相对临展，本项目按常设场馆做租约、团队与内容更新机制。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相对纯物业招商，本项目用展陈与活动能力提升可租面积溢价与周转。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657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现有科技展厅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本项目（目标）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范围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单一品类展示居多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基础设施+软件工具+行业应用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功能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展示/交易为主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展示+研学服务+配套空间经营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临展或固定陈列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企业展位合同+定期更新机制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组织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企业或园区单方主导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运营公司+赞助+物业多方共建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投资总原则：可组合、可核算、可退出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租金共担 · 赞助分层 · 专项与启动金闭环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核心策略：建设与运营资金「可组合、可核算、可退出」——以租金优惠/装修共担、赞助与展位、专项补贴和自有启动金构成一期资金盘，避免把超长期零租金或场地方大额无偿出资写成既定条件；项目公司保留运营与品牌权益，投资结构分层，防止单一资方绑架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出资路径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出资方式（摘要）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A. 场地方租金与装修共担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市场化租金为基础；争取装修期减免或开业后1–3年租金阶梯优惠；装修/基础机电可由业主部分投入，运营方或赞助方补齐，按合同回收或分成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B. 主赞助 / 战略合作出资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现金赞助、展陈主投或运营启动金；可搭配实物（展品、设备）按评估入账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C. 企业展位与内容合作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展位建设费+年度内容更新费；或展品借用/捐赠+基础布展成本分摊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D. 政府补贴与扶持基金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租金/装修补助、科普与科创专项、文旅融合项目资助、引导基金配套（若符合）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E. 科协等社团合作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合作挂牌、科普活动联合、可申报的科普/学术活动经费（以实际批复为准）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F. 运营方启动资金与跟投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运营公司自有/股东启动金覆盖设计、团队与开业前费用；对入驻优质项目小额跟投另设池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G. 授权类内容合作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展品/影像授权费或互换资源；活动联合赞助（一事一议）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投资方怎么投：P0 四条主路径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物业共担、主赞助、政府专项、启动资金先闭环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23774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4008" cy="237744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07592"/>
            <a:ext cx="5321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A. 场地方租金与装修共担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45920"/>
            <a:ext cx="53218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怎么出：市场化租金为基础；争取装修期减免或开业后1–3年租金阶梯优惠；装修/基础机电可由…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谁来出：拥有可改造物业的区属平台、央国企物业（如科创集团、华润系物业等）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回报：稳定租金与物业增值、剩余可租面积招商分成、品牌联合与政务参观场景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动作：需求书+投资测算→双场地比选路演→框架协议（租期、优惠条件、装修分摊、退出）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5577840" cy="23774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64008" cy="237744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07592"/>
            <a:ext cx="5321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B. 主赞助 / 战略合作出资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645920"/>
            <a:ext cx="53218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怎么出：现金赞助、展陈主投或运营启动金；可搭配实物（展品、设备）按评估入账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谁来出：有科创合作与品牌曝光需求的央国企、产业集团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回报：主赞助权益、联合活动、指定展区露出、年度报告与参访安排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动作：一页纸权益包→对接人对齐对方立项KPI→赞助/合作协议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577840" cy="23774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64008" cy="237744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13632"/>
            <a:ext cx="5321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D. 政府补贴与扶持基金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251960"/>
            <a:ext cx="53218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怎么出：租金/装修补助、科普与科创专项、文旅融合项目资助、引导基金配套（若符合）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谁来出：区政府相关部门、科创/经信、文旅、教育、科协系统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回报：公共服务与科普供给、研学与科创场景、重点项目库政绩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动作：政策匹配表→材料包→申报与验收台账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40480"/>
            <a:ext cx="5577840" cy="237744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840480"/>
            <a:ext cx="64008" cy="237744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913632"/>
            <a:ext cx="5321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F. 运营方启动资金与跟投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251960"/>
            <a:ext cx="53218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怎么出：运营公司自有/股东启动金覆盖设计、团队与开业前费用；对入驻优质项目小额跟投另设池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谁来出：项目运营主体股东；可联合区引导基金子基金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回报：运营利润分配；跟投项目长期资本回报（不计入开业必达）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动作：明确一期启动金预算→公司主体与治理→跟投SOP（后期）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赞助层级与资方回报设计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权益可报价、可立项、可验收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7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出资门槛（建议，可议）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核心权益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席位数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主赞助商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按一期预算单列，建议不低于核心开办费用的显著比例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冠名协商、主视觉、开幕主位、年度联名活动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金牌赞助商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展区建设+年度更新，或等额现金赞助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主要展区露出、研学线路露出、参访接待位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若干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展位合作伙伴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展位装修+内容维护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展区品牌墙、内容联合署名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按展区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渠道合作伙伴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研学/媒体/流量资源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渠道分成、联名产品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若干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战略赞助：对齐对方科创合作KPI，准备一页纸权益包与立项叙述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企业展位：建设费+年度更新，合同约定露出与撤展及合作期限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场地方：租金阶梯优惠/装修共担，换物业去化与可租面积分成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盈利逻辑：空间经营 + 服务 + 赞助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一期以「空间经营 + 服务收入 + 赞助」覆盖运营；展陈成本靠赞助、专项与开办资金消化。不把门票、境外账号变现、外埠…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8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3444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收入线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稳态占比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启动条件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1. 配套空间租金与运营服务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35–45%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租约落地、基础装修完成、招商手册发布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开业12个月内可租面积去化达标（指标在预算中单列）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2. 研学与培训服务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20–30%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展陈开放、课程与安全预案、争取进入区研学/科普目录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完成首个完整学期的排期与回款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3. 企业展位与活动赞助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15–25%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权益包与价目表定稿、首批意向客户签约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开业时主赞助+不少于约定数量的展位合同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4. 园区/入驻服务费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5–10%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入驻协议模板、服务清单与定价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首批入驻签约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5. 运营咨询与模式输出（后期）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0–10%（后期）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本地运营满至少一个完整财年并沉淀SOP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首单外部咨询合同（可选）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政策性支持怎么落地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研学基地 × 社团合作 × 扶持基金 × 物业支持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9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政策/抓手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对项目价值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落地步骤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责任方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中小学科技教育与研学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B端团客与课程服务收入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申报区研学/科普基地→课程备案→学校/机构采购合同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陈红苗+教育渠道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教育与科普场馆规范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合规展陈与可售服务前提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梳理准入清单→必要时对接认证/备案主体→服务产品合规化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运营+政府关系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科协等社团合作挂牌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专业背书与科普活动资源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合作备忘录→挂牌与活动计划→按年度申报可获经费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陈晟线索+胡继刚材料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闲置物业盘活与租金支持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降低开办期租金与改造压力（以批复为准）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区领导/平台汇报→政策适用性确认→写入租约附件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场地谈判组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区级/市级科创与文旅专项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补贴部分内容与活动成本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政策匹配表→窗口期申报→验收审计台账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政策专员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重大展会会后延伸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内容更新与城市品牌联动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对接承办/组委会→会后合作备忘→常设更新机制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内容+政府关系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产业引导基金与央国企合作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补充开办或跟投资金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对齐对方考核与风控→立项材料→协议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资方对接人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扶持基金与资金类型匹配表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申报窗口与用途一一对应，避免「有政策无材料」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10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资金类型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可能来源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用途匹配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申报节奏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租金优惠/装修支持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区属平台、国企物业政策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开办期租金与基础改造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写入租约优先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科普/科协相关经费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科协及科普专项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科普活动、部分内容制作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年度申报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研学/教育相关支持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教育与相关主管部门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课程、师资、接待条件改善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学期前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科创产业扶持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区科创/经信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孵化空间、活动、设备（视目录）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批次申报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文旅融合项目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文旅部门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观众服务、品牌活动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项目制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产业引导基金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区级/央企基金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符合投向的跟投或主体融资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立项后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A4F48"/>
                </a:solidFill>
                <a:latin typeface="微软雅黑"/>
                <a:ea typeface="微软雅黑"/>
              </a:rPr>
              <a:t>执行口诀：先谈清租约与装修分摊 → 锁定启动金与主赞助 → 再按窗口申报专项；专项按保守到账比例入预算，未批复前不计入必达资金。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场地候选与空间经济模型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一期可控面积试点 · 租金共担 · 测算后再扩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11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候选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位置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面积/条件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产权/运营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优劣势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下一步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创智汇2号楼顶楼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上海五角场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约3300㎡，适合作为一期试点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杨浦科创集团产权；中建四局二房东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地段好、研学便利；需谈清租期、租金优惠与装修分摊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投资测算+需求书路演，比选租约条款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复兴岛相关物业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上海中环边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具备改造条件；距陆家嘴车程约25分钟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空间可塑性强；通学研学动线弱于五角场校区带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现场踏勘+改造估算+主管部门沟通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02336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科目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口径说明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参考区间（讨论稿，待测算锁定）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物业合作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租期与租金条件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市场租金可谈；争取装修期减免或1–3年阶梯优惠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装修与设备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开办资本性支出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按方案级估算后报资方，业主/赞助/自有资金共担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展示面积（一期）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可运营展示区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约1500–3300㎡（创智汇顶楼可作一期）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配套经营面积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可租/可活动面积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视最终选址物业条件确定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运营周期假设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商务计划口径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首期租约建议对标5年左右，含中期评估与续约条款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项目公司资金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开办与运营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须单列启动金与12–18个月运营储备，不可假设为零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内容结构与资源对接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可签约、可授权、可更新 —— 不堆概念演示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12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板块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内容侧重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主要来源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基础设施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算力、芯片与基础系统演进（可展实物/图示）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硬件与云相关企业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强调可说明、可授权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软件与工具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开发工具与数字化应用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在沪科技企业为主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以签约展位落地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行业应用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教育、制造、交通等已落地案例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行业解决方案商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避免概念演示充数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展品与案例以合同/授权为前提，未签约不写入开业必保清单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陈晟补充海外授权线索；国内头部企业集中在沪，适合批量谈展位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1A2B2E"/>
                </a:solidFill>
                <a:latin typeface="微软雅黑"/>
                <a:ea typeface="微软雅黑"/>
              </a:rPr>
              <a:t>•  涉外内容先做法务预审，不预设名人直播等不可控事项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组织分工与推进节奏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先框架预算，再动线施工图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13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主体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方案发起/海外线索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海外授权线索、方案补充、博物馆运营经验访谈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国内统筹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胡继刚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方案文本、政府与场地资方路演材料、整体日程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场地与资方对接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陈红苗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场地谈判配合、资方沟通、教育与渠道对接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物业与工程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场地方+建设伙伴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租约、改造工程、交付标准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主赞助/战略资本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意向央国企等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赞助或战略合作出资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运营公司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待设运营主体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日常运营、招商、研学、财务管理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188720"/>
          <a:ext cx="56692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时间窗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关键交付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退出标准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0. 材料与测算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即时–2周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极简BP、投资/盈利/政策一页纸、一期预算框架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可外发且数字自洽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1. 双线路演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2–6周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两处场地+潜在赞助/区平台路演纪要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至少1份可谈判租约/合作要点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2. 条款绑定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1–3月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租约与装修分摊、主赞助意向、关键专项申报启动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开办资金来源可覆盖预算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3. 设计与装修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租约后3–9月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施工图、展位清单签约、开业内容包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通过试运行接待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4. 开业运营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开业后0–12月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研学排期、可租面积去化、赞助履约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达到预算约定的经营指标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5. 优化扩展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开业后12月+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SOP沉淀；评估是否外拓咨询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数据驱动决策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风险清单与下一步待办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谈判与预算是当前最大阻塞点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14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等级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缓释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租金与装修谈判达不成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优惠幅度不足则开办成本过高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双场地并行；准备保底租金方案与缩期一期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开办资金闭环失败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赞助与专项不及预期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启动金底线+分期开业；砍非必要展陈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把政策当成已兑现收入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申报有窗口与不确定性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预算中专项只计保守到账比例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与现有科技展厅同质化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曹河泾/张江等已有展陈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强化研学服务与企业展位运营，而非概念堆砌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内容授权与合规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涉外与企业品牌使用限制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先签授权再制作；法务预审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研学招生不及预期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学期节奏与采购周期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机构渠道双轮；淡季靠企业活动补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251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A6E"/>
                </a:solidFill>
                <a:latin typeface="微软雅黑"/>
                <a:ea typeface="微软雅黑"/>
              </a:rPr>
              <a:t>会后待办（摘自纪要）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陈晟：向项目群发送项目极简文字材料（高 / 近期）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陈晟：补充海外侧可对接资源清单（授权可行性优先）（高 / 持续）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陈晟：会见航海博物馆相关负责人，咨询建馆运营经验（中 / 近期）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胡继刚：整理双场讨论，形成可对外项目版本（本套材料）（高 / 本周）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陈红苗：配合梳理思路，分别对接场地与资方（高 / 本周启动）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胡继刚/陈红苗：与区平台、科协等沟通合作路径与申报窗口（高 / 两周内）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参会团队：视进展邀请产业侧合作方共同推进（中 / 按需）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