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B8A6"/>
                </a:solidFill>
                <a:latin typeface="Microsoft YaHei"/>
              </a:rPr>
              <a:t>个人判断备忘录 · 2026 年 8 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发展与去留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Microsoft YaHei"/>
              </a:rPr>
              <a:t>现在的中国，适不适合继续发展？</a:t>
            </a:r>
          </a:p>
          <a:p>
            <a:pPr algn="l"/>
            <a:r>
              <a:rPr sz="1800" b="0">
                <a:solidFill>
                  <a:srgbClr val="F1F5F9"/>
                </a:solidFill>
                <a:latin typeface="Microsoft YaHei"/>
              </a:rPr>
              <a:t>人工智能的机会，是就地抓住，还是果断去海外？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B8A6"/>
                </a:solidFill>
                <a:latin typeface="Microsoft YaHei"/>
              </a:rPr>
              <a:t>结论先行：对网络型、场景型、转化型从业者，默认留在中国深耕；</a:t>
            </a:r>
          </a:p>
          <a:p>
            <a:pPr algn="l"/>
            <a:r>
              <a:rPr sz="1600" b="0">
                <a:solidFill>
                  <a:srgbClr val="14B8A6"/>
                </a:solidFill>
                <a:latin typeface="Microsoft YaHei"/>
              </a:rPr>
              <a:t>把「去美国」做成有限期期权，而不是斩根式流亡。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10235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5102352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先破二元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983480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510235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102352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再拆那段话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983480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510235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102352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后定路径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先把问题拆开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对方给的是「如何走」的诀别辞，你要回答的是「应不应该走」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09728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6187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问一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243584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YaHei"/>
              </a:rPr>
              <a:t>留在中国，还是去美国？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这是地理选择题，但真正要选的是能力结构放在哪边更值钱。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109728" cy="12801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7919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问二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60904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YaHei"/>
              </a:rPr>
              <a:t>现在的中国，还适不适合继续发展？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「发展」必须定义：是杠杆地产，还是新动能上的场景与转化。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109728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9651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</a:rPr>
              <a:t>问三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78224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YaHei"/>
              </a:rPr>
              <a:t>AI 机会能不能抓住？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9028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抓住的是应用、产业空间与商业化，还是美西少数实验室的前沿训练。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结论先行：不是「中国完了」，也不是「必须留下」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对你这种能力结构，2026 年的最优解是深耕 + 期权，不是斩根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82296" cy="5029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25296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适合留下的理由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554480"/>
            <a:ext cx="3273552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中国仍是全球最大的 AI 应用与制造业融合市场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新动能对上半年增长贡献已超四成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你的资产是本地网络、场景与转化，搬不走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上海 / 杨浦 / 高校 / 产业空间仍是可操作战场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9728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097280"/>
            <a:ext cx="82296" cy="5029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225296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不适合幻想的部分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1554480"/>
            <a:ext cx="3273552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地产开发投资仍在深度调整，旧剧本回不来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民间投资与预期偏弱，不是 2015 年的顺风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Frontier 大模型资本与人才密度仍在美西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「再熬一波房价」不是发展策略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9728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97280"/>
            <a:ext cx="82296" cy="5029200"/>
          </a:xfrm>
          <a:prstGeom prst="rect">
            <a:avLst/>
          </a:prstGeom>
          <a:solidFill>
            <a:srgbClr val="BE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225296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E1231"/>
                </a:solidFill>
                <a:latin typeface="Microsoft YaHei"/>
              </a:rPr>
              <a:t>去美国的真实约束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1554480"/>
            <a:ext cx="3273552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2026 年高技能移民通道显著收紧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H-1B 成本与不确定性上升，身份即风险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没有具体岗位 / 签证 / 薪酬溢价，就是裸奔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中年网络型从业者，美国是重置而不是升级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如何看待那段话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它很美，也很危险：美在给行动力，险在把乡愁问题当成了战略答案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19659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「不要回来，不要想念我们，不要回头……不要落叶归根，而要落地生根。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心安之处即是家。别回头，向前走。不归根，只生根。心安处，即吾乡。」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82296" cy="2880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374136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它真正解决的问题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703320"/>
            <a:ext cx="5148072" cy="231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移民史上常见的「斩断嘱咐」：怕乡愁把人撕成两半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给远行者一个操作系统：把思念从决策权里拿掉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半句内核成立——心安处即吾乡，家不必等于出生地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246120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246120"/>
            <a:ext cx="82296" cy="28803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3374136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它没有回答的问题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703320"/>
            <a:ext cx="5148072" cy="2313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走，是已经决定的事，还是正在犹豫的事？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封存「这里的一切」之后，你还剩什么可交易的能力？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心安如果要靠切断记忆来换，那还叫不叫心安？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那段话的三处误用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把「如何走」的心理技术，误当成「应不应该走」的结论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70332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1231"/>
                </a:solidFill>
                <a:latin typeface="Microsoft YaHei"/>
              </a:rPr>
              <a:t>误用一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把诀别辞当成战略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「不要回来」是走了之后的自我保护，不是走之前的可行性研究。先问值不值得走，再谈如何不回头。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703320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4173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1231"/>
                </a:solidFill>
                <a:latin typeface="Microsoft YaHei"/>
              </a:rPr>
              <a:t>误用二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288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把家简化成地理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88920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家当然可以重建。但职业资本、信任网络、语言与意义感都有路径依赖。换坐标不等于换命运。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14300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143000"/>
            <a:ext cx="3703320" cy="91440"/>
          </a:xfrm>
          <a:prstGeom prst="rect">
            <a:avLst/>
          </a:prstGeom>
          <a:solidFill>
            <a:srgbClr val="BE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14173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1231"/>
                </a:solidFill>
                <a:latin typeface="Microsoft YaHei"/>
              </a:rPr>
              <a:t>误用三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182880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把封存当成勇敢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2788920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对实验室科学家，封存故土或许轻；对靠本地关系做转化的人，「封存这里的一切」等于烧掉资产负债表。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2026 上半年中国：不是崩盘，是双速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总量仍在合理区间，结构已经换挡；旧引擎冷、新动能热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07008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Microsoft YaHei"/>
              </a:rPr>
              <a:t>+4.7%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59105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GDP 同比增长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847088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上半年 69.57 万亿；Q2 回落到 4.3%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09728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207008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Microsoft YaHei"/>
              </a:rPr>
              <a:t>5.2%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59105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城镇调查失业率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847088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均值与上年持平，就业总体稳定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09728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207008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BE1231"/>
                </a:solidFill>
                <a:latin typeface="Microsoft YaHei"/>
              </a:rPr>
              <a:t>-18.0%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59105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房地产开发投资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1847088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销售面积 -11.6%，旧引擎仍在去杠杆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09728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207008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Microsoft YaHei"/>
              </a:rPr>
              <a:t>&gt;40%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59105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新动能贡献率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1847088"/>
            <a:ext cx="2514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icrosoft YaHei"/>
              </a:rPr>
              <a:t>高技术制造 +13.3%，电子利润 +96.9%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读法：宏观「还活着」不等于人人都能用旧方法赚钱。真正的分叉在你站在哪一条速度上。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88036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880360"/>
            <a:ext cx="82296" cy="3200400"/>
          </a:xfrm>
          <a:prstGeom prst="rect">
            <a:avLst/>
          </a:prstGeom>
          <a:solidFill>
            <a:srgbClr val="BE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00837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E1231"/>
                </a:solidFill>
                <a:latin typeface="Microsoft YaHei"/>
              </a:rPr>
              <a:t>冷的一侧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3337560"/>
            <a:ext cx="5193792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固定资产投资 -5.7%，民间投资 -8.5%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房地产销售与投资继续下滑，风险仍在出清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二季度增速回落，外需与预期仍不稳定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若你的主业仍绑定增量开发，会越来越难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88036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880360"/>
            <a:ext cx="82296" cy="3200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300837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热的一侧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3337560"/>
            <a:ext cx="5193792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高技术制造、数字产品、装备制造明显快于整体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集成电路、智能车载设备等 AI 相关行业高增长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信息传输 / 软件服务业增加值 +10.7%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若你做场景、空间、转化，风口在这边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适不适合继续发展？取决于你做哪一种发展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中国仍适合发展，但不适合用 2010–2020 的地产杠杆逻辑发展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1704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典型动作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1704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2026 年判断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91440" cy="868680"/>
          </a:xfrm>
          <a:prstGeom prst="rect">
            <a:avLst/>
          </a:prstGeom>
          <a:solidFill>
            <a:srgbClr val="BE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9164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YaHei"/>
              </a:rPr>
              <a:t>旧发展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9164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Microsoft YaHei"/>
              </a:rPr>
              <a:t>拿地、加杠杆、等升值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BE1231"/>
                </a:solidFill>
                <a:latin typeface="Microsoft YaHei"/>
              </a:rPr>
              <a:t>不适合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517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9144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YaHei"/>
              </a:rPr>
              <a:t>守成发展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5176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Microsoft YaHei"/>
              </a:rPr>
              <a:t>躺平等周期、等政策、等风口回头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517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Microsoft YaHei"/>
              </a:rPr>
              <a:t>不适合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91440" cy="868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YaHei"/>
              </a:rPr>
              <a:t>转化发展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61188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Microsoft YaHei"/>
              </a:rPr>
              <a:t>把 AI 接到产业、空间、政策与资本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61188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适合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91440" cy="868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YaHei"/>
              </a:rPr>
              <a:t>网络发展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57200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Microsoft YaHei"/>
              </a:rPr>
              <a:t>在上海做高校 / 园区 / 企业的接口人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57200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适合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中国的人工智能机会：抓得住应用，抓不住幻觉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机会真实，但不是「人人去训练大模型」；对转化者，窗口正在打开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82296" cy="5029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2529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抓得住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554480"/>
            <a:ext cx="5193792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制造业 + AI：设备更新、机器人、工业软件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产业空间：算力、中试、园区、博物馆、会展生态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商业化落地：从模型到场景的最后一公里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地方政府与高校场景：可招标、可试点、可复用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电子与算力需求已在利润端兑现（电子利润近翻倍）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这正是「接口人」而不是「论文人」的战场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82296" cy="5029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22529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抓不住 / 不必硬抓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554480"/>
            <a:ext cx="5193792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Frontier 训练：资本、芯片、顶尖研究者仍高度集中美西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没有实验室履历，去美国并不自动靠近 OpenAI 级岗位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纯概念炒作、空转 PPT、无场景的「AI 平台」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把 AI 当逃逸通道：地理改变不了能力结构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等待「全国再来一波地产式风口」——不会再有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用情绪替代订单：机会只认交付，不认焦虑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美国 2026：AI 高地还在，城门在收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前沿仍在，但不等于对所有外国人开门；高地与关隘要分开看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82296" cy="3108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2529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高地是真的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554480"/>
            <a:ext cx="5193792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基础模型、算力生态、风险资本密度全球第一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OpenAI / Anthropic / Nvidia 仍在抢全球顶尖人才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英语世界的标准、论文、开源与薪酬锚仍在那里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若你已被这类机构锁定，去，是升级不是流亡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577840" cy="3108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82296" cy="3108960"/>
          </a:xfrm>
          <a:prstGeom prst="rect">
            <a:avLst/>
          </a:prstGeom>
          <a:solidFill>
            <a:srgbClr val="BE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22529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E1231"/>
                </a:solidFill>
                <a:latin typeface="Microsoft YaHei"/>
              </a:rPr>
              <a:t>关隘也是真的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554480"/>
            <a:ext cx="5193792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学生签、OPT、H-1B、绿卡全线收紧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新 H-1B 高额费用打击中小企业与创业公司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身份不确定本身会吞噬精力与议价权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E293B"/>
                </a:solidFill>
                <a:latin typeface="Microsoft YaHei"/>
              </a:rPr>
              <a:t>人才已在分流：加拿大、英国、阿联酋在抢人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389120"/>
            <a:ext cx="11338560" cy="16916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1772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因此：「果断去海外」只对已拿到具体岗位、签证路径和薪酬溢价的人成立。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对尚未拿到这三样的人，果断离开 = 用确定的本地网络，去换不确定的身份。这不是勇敢，是裸奔。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关键不是中国或美国，是你的能力放在哪边更值钱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网络、场景、转化、政策接口——这些能力有很强的地理黏性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一张粗表，用来避免用别人的履历做自己的决定。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1430000" cy="43891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能力类型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在中国的溢价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4475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在美国的溢价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44475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迁移成本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20240"/>
            <a:ext cx="11430000" cy="62179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Frontier 研究 / 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20240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中（少数实验室）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2926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极高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中（若已有论文与推荐）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78608"/>
            <a:ext cx="11430000" cy="62179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78608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大厂工程 / 算法岗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578608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高，但内卷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78608"/>
            <a:ext cx="2926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高，但签证卡脖子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578608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236976"/>
            <a:ext cx="11430000" cy="621792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36976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产业场景转化 / 落地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36976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Microsoft YaHei"/>
              </a:rPr>
              <a:t>很高（政府+制造+园区）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236976"/>
            <a:ext cx="2926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中低（要重做信用）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236976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极高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895344"/>
            <a:ext cx="11430000" cy="621792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95344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高校 / 园区 / 商会网络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95344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Microsoft YaHei"/>
              </a:rPr>
              <a:t>核心资产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895344"/>
            <a:ext cx="2926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接近归零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895344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极高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553712"/>
            <a:ext cx="11430000" cy="621792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53712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不动产 + 产业空间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553712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Microsoft YaHei"/>
              </a:rPr>
              <a:t>存量时代仍有专业位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553712"/>
            <a:ext cx="2926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需牌照与本地信用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553712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极高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212079"/>
            <a:ext cx="11430000" cy="621792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212079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英语内容 / 跨境合作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212079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稀缺加分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212079"/>
            <a:ext cx="2926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入场券，不是护城河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212079"/>
            <a:ext cx="2834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</a:rPr>
              <a:t>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一张去留矩阵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横轴：在本地是否还有可放大的主航道；纵轴：海外是否已有不可替代的具体机会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143000"/>
            <a:ext cx="4572000" cy="2468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143000"/>
            <a:ext cx="4572000" cy="246888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3749039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3749039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2801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Microsoft YaHei"/>
              </a:rPr>
              <a:t>深耕中国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4206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本地有主航道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海外无具体机会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→ 2026 年大多数转化者在这里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2801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Microsoft YaHei"/>
              </a:rPr>
              <a:t>有限期出海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737360"/>
            <a:ext cx="4206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本地仍有航道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海外也有具体机会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→ 去 2–3 年，不斩根，预定返回条款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862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Microsoft YaHei"/>
              </a:rPr>
              <a:t>先造航道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34340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本地航道模糊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海外也无机会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→ 先不要走，先把一条业务做实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8862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E1231"/>
                </a:solidFill>
                <a:latin typeface="Microsoft YaHei"/>
              </a:rPr>
              <a:t>才考虑迁徙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34340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本地已无航道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海外有不可替代机会</a:t>
            </a:r>
          </a:p>
          <a:p>
            <a:pPr algn="l"/>
            <a:r>
              <a:rPr sz="1400" b="0">
                <a:solidFill>
                  <a:srgbClr val="475569"/>
                </a:solidFill>
                <a:latin typeface="Microsoft YaHei"/>
              </a:rPr>
              <a:t>→ 这时「果断」才有意义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011680"/>
            <a:ext cx="1737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海外</a:t>
            </a:r>
          </a:p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已有</a:t>
            </a:r>
          </a:p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97680"/>
            <a:ext cx="1737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海外</a:t>
            </a:r>
          </a:p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尚无</a:t>
            </a:r>
          </a:p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机会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三条可执行路径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推荐默认 A；B 是升级项；C 是纪律，不是浪漫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82296" cy="5029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225296"/>
            <a:ext cx="3383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A  深耕上海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54480"/>
            <a:ext cx="3364991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把 AI × 产业空间 × 高校 / 园区做成一条主航道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停止用情绪判断宏观，改用订单、试点、复购判断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地产能力转向存量、资产管理、场景载体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90 天内形成可对外讲的一条产品线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82296" cy="5029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225296"/>
            <a:ext cx="3383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Microsoft YaHei"/>
              </a:rPr>
              <a:t>B  双根结构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554480"/>
            <a:ext cx="3364991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不去「移民」，去做 12–36 个月项目驻留或合作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保留中国主体与网络，海外只做增量能力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英语材料、跨境项目、对口机构，先于签证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走之前写好返回条款：何时回、带回什么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09728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82296" cy="5029200"/>
          </a:xfrm>
          <a:prstGeom prst="rect">
            <a:avLst/>
          </a:prstGeom>
          <a:solidFill>
            <a:srgbClr val="BE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225296"/>
            <a:ext cx="3383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E1231"/>
                </a:solidFill>
                <a:latin typeface="Microsoft YaHei"/>
              </a:rPr>
              <a:t>C  有条件迁徙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1554480"/>
            <a:ext cx="3364991" cy="446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同时满足：具体岗位、签证路径、薪酬 / 意义溢价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家庭与财务能承受 3 年身份不确定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本地主业已无法放大，而非只是心烦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即便走，也不接受「不要回来」作为人生协议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什么情况下才该走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用清单代替口号。下列未同时点亮，就还不到「果断」的时候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3703320" cy="3383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82296" cy="3383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25296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硬条件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554480"/>
            <a:ext cx="3319272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已有雇主或机构的书面机会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签证路径清楚，不靠赌抽签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3 年财务缓冲，不押上全部流动性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703320" cy="3383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82296" cy="3383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225296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icrosoft YaHei"/>
              </a:rPr>
              <a:t>事业条件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554480"/>
            <a:ext cx="3319272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去了能做这里做不了的事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不是逃避失败，而是升级能力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7706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走之前本地资产有交接，而非蒸发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097280"/>
            <a:ext cx="3703320" cy="3383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097280"/>
            <a:ext cx="82296" cy="3383280"/>
          </a:xfrm>
          <a:prstGeom prst="rect">
            <a:avLst/>
          </a:prstGeom>
          <a:solidFill>
            <a:srgbClr val="BE1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3" y="1225296"/>
            <a:ext cx="3337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E1231"/>
                </a:solidFill>
                <a:latin typeface="Microsoft YaHei"/>
              </a:rPr>
              <a:t>心理条件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3" y="1554480"/>
            <a:ext cx="3319272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能忍受身份不确定与社会降级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不需要靠「封存故乡」才能行动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E1231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家人知情同意，不是一个人的诗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66344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现在更可能的状态：本地仍有航道，海外尚无具体机会。→ 落在矩阵左上的「深耕中国」。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那段话可以收藏，但不要让它代替这张清单。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90 天行动：把判断做成行为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前 30 天收束主航道，中 30 天验证订单，后 30 天只开一条海外期权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1508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09728" cy="15087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D1–30  收束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261872"/>
            <a:ext cx="7406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只留一条主航道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写清：你卖的是什么，卖给谁，凭什么是你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停掉所有「既要出国又要本地爆」的并行幻想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把地产旧能力映射到产业空间 / 存量资产管理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11247120" cy="1508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109728" cy="15087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D31–60  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07792"/>
            <a:ext cx="7406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用交付代替辩论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918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至少推进 1 个可报价、可试点的 AI 场景项目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用周复盘看：线索、会议、订单，哪一项在动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宏观新闻降权，客户反馈升权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1508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09728" cy="15087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Microsoft YaHei"/>
              </a:rPr>
              <a:t>D61–90  期权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553712"/>
            <a:ext cx="7406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</a:rPr>
              <a:t>出海只做增量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准备一套英文一页纸 + 项目案例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锁定 1–2 个跨境合作接口（机构 / 校友 / 展会）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766E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1E293B"/>
                </a:solidFill>
                <a:latin typeface="Microsoft YaHei"/>
              </a:rPr>
              <a:t>明确：没有书面机会，就不谈移民时间表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把那段话改写成可用的版本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保留心安，拿掉斩根。落地生根，不必切断旧根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Microsoft YaHei"/>
              </a:rPr>
              <a:t>原句（诀别）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不要回来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不要想念我们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不要回头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不要写信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不要向乡愁屈服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不要落叶归根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而要落地生根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心安之处即是家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</a:rPr>
              <a:t>改写（战略）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可以走，但要带着根走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可以想家，但不让想家做决定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可以回头看，但每周只看一次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可以写信，把思念变成连接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乡愁不是软肋，失控的乡愁才是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不必归根，也不必斩根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先在能创造价值的地方生根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Microsoft YaHei"/>
              </a:rPr>
              <a:t>心安处即吾乡——心安要自己养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9875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发展与去留 · 2026 中美判断备忘录 · 默认深耕，出海做成期权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105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B8A6"/>
                </a:solidFill>
                <a:latin typeface="Microsoft YaHei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别回头，向前走。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不归根，也可以不斩根。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心安处，即吾乡。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2026 年的中国，仍适合一种发展：把人工智能接到真实的产业、空间与组织里。</a:t>
            </a:r>
          </a:p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这段机会对转化者比对逃亡者更友好。美国仍是前沿高地，但城门在收；</a:t>
            </a:r>
          </a:p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没有具体机会就「果断离开」，是把乡愁问题做成了错误的战略。</a:t>
            </a:r>
          </a:p>
          <a:p>
            <a:pPr algn="l"/>
            <a:r>
              <a:rPr sz="1600" b="0">
                <a:solidFill>
                  <a:srgbClr val="F1F5F9"/>
                </a:solidFill>
                <a:latin typeface="Microsoft YaHei"/>
              </a:rPr>
              <a:t>先在能创造价值的地方把心安养出来。家，是养出来的，不是逃出来的。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B8A6"/>
                </a:solidFill>
                <a:latin typeface="Microsoft YaHei"/>
              </a:rPr>
              <a:t>数据截至 2026 年 8 月 · 详见 Word 附录与 Excel 决策表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