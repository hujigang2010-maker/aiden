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Shape 1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4A35A"/>
                </a:solidFill>
                <a:latin typeface="Microsoft YaHei"/>
              </a:rPr>
              <a:t>行长专题汇报 · 内部材料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icrosoft YaHei"/>
              </a:rPr>
              <a:t>泰隆银行上海分行与腾讯 WorkBuddy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icrosoft YaHei"/>
              </a:rPr>
              <a:t>合作推进情况汇报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154680"/>
            <a:ext cx="2011680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42900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3F6FA"/>
                </a:solidFill>
                <a:latin typeface="Microsoft YaHei"/>
              </a:rPr>
              <a:t>主方向：积分商城兑换 + 开户赠送AI权益；同步补充「行员采购 + 行外采购」双轨份额，</a:t>
            </a:r>
          </a:p>
          <a:p>
            <a:pPr algn="l"/>
            <a:r>
              <a:rPr sz="1500" b="0">
                <a:solidFill>
                  <a:srgbClr val="F3F6FA"/>
                </a:solidFill>
                <a:latin typeface="Microsoft YaHei"/>
              </a:rPr>
              <a:t>并研究联名信用卡。建议原则同意推进，1,500万元仅为方案框架，先合规审查与小范围试点。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4A35A"/>
                </a:solidFill>
                <a:latin typeface="Microsoft YaHei"/>
              </a:rPr>
              <a:t>汇报对象：泰隆银行上海分行行长　　汇报日期：2026年8月3日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C6B7A"/>
                </a:solidFill>
                <a:latin typeface="Microsoft YaHei"/>
              </a:rPr>
              <a:t>三条主线：行外客户｜行内员工｜联名信用卡　　状态：已达成共识｜初步方案｜尚待确认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Shape 1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"/>
            <a:ext cx="11155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一、合作方向与拟议模式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30352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</a:rPr>
              <a:t>行外客户权益 + 行内员工份额 + 联名信用卡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97280"/>
            <a:ext cx="3703320" cy="1051560"/>
          </a:xfrm>
          <a:prstGeom prst="roundRect">
            <a:avLst>
              <a:gd name="adj" fmla="val 8000"/>
            </a:avLst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C4A35A"/>
                </a:solidFill>
                <a:latin typeface="Microsoft YaHei"/>
              </a:rPr>
              <a:t>行外客户（已达成共识）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Microsoft YaHei"/>
              </a:rPr>
              <a:t>积分商城兑换 · 开户/拜访赠礼 · 联合推广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097280"/>
            <a:ext cx="3703320" cy="105156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23444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2F5B"/>
                </a:solidFill>
                <a:latin typeface="Microsoft YaHei"/>
              </a:rPr>
              <a:t>行内员工（初步方案）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64592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A37"/>
                </a:solidFill>
                <a:latin typeface="Microsoft YaHei"/>
              </a:rPr>
              <a:t>办公提效系统/小程序 · 员工AI福利发放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097280"/>
            <a:ext cx="3703320" cy="105156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23444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2F5B"/>
                </a:solidFill>
                <a:latin typeface="Microsoft YaHei"/>
              </a:rPr>
              <a:t>联名信用卡（尚待确认）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64592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A37"/>
                </a:solidFill>
                <a:latin typeface="Microsoft YaHei"/>
              </a:rPr>
              <a:t>泰隆银行 × WorkBuddy 联名卡获客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377440"/>
            <a:ext cx="2788920" cy="3657600"/>
          </a:xfrm>
          <a:prstGeom prst="roundRect">
            <a:avLst>
              <a:gd name="adj" fmla="val 8000"/>
            </a:avLst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260604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C4A35A"/>
                </a:solidFill>
                <a:latin typeface="Microsoft YaHei"/>
              </a:rPr>
              <a:t>行外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01752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icrosoft YaHei"/>
              </a:rPr>
              <a:t>积分商城 / 开户赠礼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4023360"/>
            <a:ext cx="24688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3F6FA"/>
                </a:solidFill>
                <a:latin typeface="Microsoft YaHei"/>
              </a:rPr>
              <a:t>集中采购上架兑换；开户拜访以AI权益替代部分实物礼品；兑换码自助激活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2377440"/>
            <a:ext cx="2788920" cy="36576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260604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B2F5B"/>
                </a:solidFill>
                <a:latin typeface="Microsoft YaHei"/>
              </a:rPr>
              <a:t>行内①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301752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</a:rPr>
              <a:t>办公提效系统/小程序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023360"/>
            <a:ext cx="24688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与WorkBuddy联手打造内部办公提效工具，覆盖起草、纪要、知识检索等场景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377440"/>
            <a:ext cx="2788920" cy="36576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82512" y="260604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B2F5B"/>
                </a:solidFill>
                <a:latin typeface="Microsoft YaHei"/>
              </a:rPr>
              <a:t>行内②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2512" y="301752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</a:rPr>
              <a:t>员工AI福利发放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2512" y="4023360"/>
            <a:ext cx="24688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以福利形式向行员发放账号/额度，提升个人AI使用能力；单独预留员工份额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2377440"/>
            <a:ext cx="2788920" cy="36576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8592" y="260604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B2F5B"/>
                </a:solidFill>
                <a:latin typeface="Microsoft YaHei"/>
              </a:rPr>
              <a:t>对外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2" y="301752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</a:rPr>
              <a:t>联名信用卡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08592" y="4023360"/>
            <a:ext cx="24688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F2A37"/>
                </a:solidFill>
                <a:latin typeface="Microsoft YaHei"/>
              </a:rPr>
              <a:t>原则同意研究联名卡方案，AI权益绑定办卡激活与消费，扩大零售获客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</a:rPr>
              <a:t>泰隆银行上海分行 × 腾讯 WorkBuddy · 合作推进情况汇报 · 2026-08-03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51052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</a:rPr>
              <a:t>2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Shape 1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"/>
            <a:ext cx="11155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二、采购方案设想与预期价值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30352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</a:rPr>
              <a:t>行员采购 + 行外采购双轨；1,500万为测算框架，非采购承诺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143000"/>
            <a:ext cx="5760720" cy="502920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</a:rPr>
              <a:t>采购框架（初步方案）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28800"/>
            <a:ext cx="521208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1828800"/>
            <a:ext cx="109728" cy="804672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2024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B2F5B"/>
                </a:solidFill>
                <a:latin typeface="Microsoft YaHei"/>
              </a:rPr>
              <a:t>最高约1,500万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6771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6B7A"/>
                </a:solidFill>
                <a:latin typeface="Microsoft YaHei"/>
              </a:rPr>
              <a:t>总体方案设计上限；三阶段×约500万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743200"/>
            <a:ext cx="521208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2743200"/>
            <a:ext cx="109728" cy="804672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83464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B2F5B"/>
                </a:solidFill>
                <a:latin typeface="Microsoft YaHei"/>
              </a:rPr>
              <a:t>首期300–500万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18211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6B7A"/>
                </a:solidFill>
                <a:latin typeface="Microsoft YaHei"/>
              </a:rPr>
              <a:t>明确行外/行员份额比例后再审批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657600"/>
            <a:ext cx="521208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657600"/>
            <a:ext cx="109728" cy="804672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74904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B2F5B"/>
                </a:solidFill>
                <a:latin typeface="Microsoft YaHei"/>
              </a:rPr>
              <a:t>双轨拆分核算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09651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6B7A"/>
                </a:solidFill>
                <a:latin typeface="Microsoft YaHei"/>
              </a:rPr>
              <a:t>行外：客户权益；行员：提效+福利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754880"/>
            <a:ext cx="52120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</a:rPr>
              <a:t>尚待腾讯提供：行外/行员可分配数量、有效期、阶梯折扣、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</a:rPr>
              <a:t>未激活处理、付款验收；另需内部系统开发范围及联名卡权益包。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1143000"/>
            <a:ext cx="5349240" cy="5029200"/>
          </a:xfrm>
          <a:prstGeom prst="roundRect">
            <a:avLst>
              <a:gd name="adj" fmla="val 8000"/>
            </a:avLst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13258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C4A35A"/>
                </a:solidFill>
                <a:latin typeface="Microsoft YaHei"/>
              </a:rPr>
              <a:t>预期价值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1874519"/>
            <a:ext cx="48463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C4A35A"/>
                </a:solidFill>
                <a:latin typeface="Microsoft YaHei"/>
              </a:rPr>
              <a:t>●  </a:t>
            </a:r>
            <a:r>
              <a:rPr sz="1300" b="0">
                <a:solidFill>
                  <a:srgbClr val="FFFFFF"/>
                </a:solidFill>
                <a:latin typeface="Microsoft YaHei"/>
              </a:rPr>
              <a:t>带动新增对公客户：差异化开户/拜访权益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C4A35A"/>
                </a:solidFill>
                <a:latin typeface="Microsoft YaHei"/>
              </a:rPr>
              <a:t>●  </a:t>
            </a:r>
            <a:r>
              <a:rPr sz="1300" b="0">
                <a:solidFill>
                  <a:srgbClr val="FFFFFF"/>
                </a:solidFill>
                <a:latin typeface="Microsoft YaHei"/>
              </a:rPr>
              <a:t>提升存量客户黏性与积分活跃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C4A35A"/>
                </a:solidFill>
                <a:latin typeface="Microsoft YaHei"/>
              </a:rPr>
              <a:t>●  </a:t>
            </a:r>
            <a:r>
              <a:rPr sz="1300" b="0">
                <a:solidFill>
                  <a:srgbClr val="FFFFFF"/>
                </a:solidFill>
                <a:latin typeface="Microsoft YaHei"/>
              </a:rPr>
              <a:t>带动结算与资金沉淀：商城/续费走我行账户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C4A35A"/>
                </a:solidFill>
                <a:latin typeface="Microsoft YaHei"/>
              </a:rPr>
              <a:t>●  </a:t>
            </a:r>
            <a:r>
              <a:rPr sz="1300" b="0">
                <a:solidFill>
                  <a:srgbClr val="FFFFFF"/>
                </a:solidFill>
                <a:latin typeface="Microsoft YaHei"/>
              </a:rPr>
              <a:t>提升行内办公效率与员工AI能力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C4A35A"/>
                </a:solidFill>
                <a:latin typeface="Microsoft YaHei"/>
              </a:rPr>
              <a:t>●  </a:t>
            </a:r>
            <a:r>
              <a:rPr sz="1300" b="0">
                <a:solidFill>
                  <a:srgbClr val="FFFFFF"/>
                </a:solidFill>
                <a:latin typeface="Microsoft YaHei"/>
              </a:rPr>
              <a:t>联名信用卡获客与品牌曝光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C4A35A"/>
                </a:solidFill>
                <a:latin typeface="Microsoft YaHei"/>
              </a:rPr>
              <a:t>●  </a:t>
            </a:r>
            <a:r>
              <a:rPr sz="1300" b="0">
                <a:solidFill>
                  <a:srgbClr val="FFFFFF"/>
                </a:solidFill>
                <a:latin typeface="Microsoft YaHei"/>
              </a:rPr>
              <a:t>塑造“金融+经营赋能”科技服务品牌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</a:rPr>
              <a:t>泰隆银行上海分行 × 腾讯 WorkBuddy · 合作推进情况汇报 · 2026-08-03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51052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</a:rPr>
              <a:t>3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Shape 1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"/>
            <a:ext cx="11155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三、风险事项与共识分层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30352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</a:rPr>
              <a:t>外部客户优先；行内提效与联名卡须专项论证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A63D2F"/>
                </a:solidFill>
                <a:latin typeface="Microsoft YaHei"/>
              </a:rPr>
              <a:t>尚待确认 · 主要风险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417320"/>
            <a:ext cx="5760720" cy="804672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50876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</a:rPr>
              <a:t>安全合规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783080"/>
            <a:ext cx="5394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A37"/>
                </a:solidFill>
                <a:latin typeface="Microsoft YaHei"/>
              </a:rPr>
              <a:t>行外SaaS需审查数据隔离与权限；行内系统/小程序合规要求更高，须专项评估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286000"/>
            <a:ext cx="5760720" cy="804672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37744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</a:rPr>
              <a:t>采购成本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51760"/>
            <a:ext cx="5394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A37"/>
                </a:solidFill>
                <a:latin typeface="Microsoft YaHei"/>
              </a:rPr>
              <a:t>缺兑换/激活/使用数据，忌一次性大额采购；行外与行员份额分账核算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154680"/>
            <a:ext cx="5760720" cy="804672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24612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</a:rPr>
              <a:t>技术交付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520440"/>
            <a:ext cx="5394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A37"/>
                </a:solidFill>
                <a:latin typeface="Microsoft YaHei"/>
              </a:rPr>
              <a:t>兑换码自助激活、内部系统对接、员工发放流程均需完整测试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4023359"/>
            <a:ext cx="5760720" cy="804672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114799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</a:rPr>
              <a:t>联名信用卡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389119"/>
            <a:ext cx="5394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A37"/>
                </a:solidFill>
                <a:latin typeface="Microsoft YaHei"/>
              </a:rPr>
              <a:t>卡种准入、权益兑付、分润与品牌授权尚待信用卡中心论证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4892040"/>
            <a:ext cx="5760720" cy="804672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98348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</a:rPr>
              <a:t>宣传口径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257800"/>
            <a:ext cx="5394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F2A37"/>
                </a:solidFill>
                <a:latin typeface="Microsoft YaHei"/>
              </a:rPr>
              <a:t>联合品牌/联名卡表述须授权并经宣传与卡中心审核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0972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B2F5B"/>
                </a:solidFill>
                <a:latin typeface="Microsoft YaHei"/>
              </a:rPr>
              <a:t>共识 / 补充方案分层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1417320"/>
            <a:ext cx="5349240" cy="475488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15544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C4A35A"/>
                </a:solidFill>
                <a:latin typeface="Microsoft YaHei"/>
              </a:rPr>
              <a:t>已达成共识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1874519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C4A35A"/>
                </a:solidFill>
                <a:latin typeface="Microsoft YaHei"/>
              </a:rPr>
              <a:t>●  </a:t>
            </a:r>
            <a:r>
              <a:rPr sz="1200" b="0">
                <a:solidFill>
                  <a:srgbClr val="1F2A37"/>
                </a:solidFill>
                <a:latin typeface="Microsoft YaHei"/>
              </a:rPr>
              <a:t>优先：积分商城兑换 + 开户赠礼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C4A35A"/>
                </a:solidFill>
                <a:latin typeface="Microsoft YaHei"/>
              </a:rPr>
              <a:t>●  </a:t>
            </a:r>
            <a:r>
              <a:rPr sz="1200" b="0">
                <a:solidFill>
                  <a:srgbClr val="1F2A37"/>
                </a:solidFill>
                <a:latin typeface="Microsoft YaHei"/>
              </a:rPr>
              <a:t>兑换码/License 客户自助激活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C4A35A"/>
                </a:solidFill>
                <a:latin typeface="Microsoft YaHei"/>
              </a:rPr>
              <a:t>●  </a:t>
            </a:r>
            <a:r>
              <a:rPr sz="1200" b="0">
                <a:solidFill>
                  <a:srgbClr val="1F2A37"/>
                </a:solidFill>
                <a:latin typeface="Microsoft YaHei"/>
              </a:rPr>
              <a:t>套餐与阶梯价；腾讯交完整方案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C4A35A"/>
                </a:solidFill>
                <a:latin typeface="Microsoft YaHei"/>
              </a:rPr>
              <a:t>●  </a:t>
            </a:r>
            <a:r>
              <a:rPr sz="1200" b="0">
                <a:solidFill>
                  <a:srgbClr val="1F2A37"/>
                </a:solidFill>
                <a:latin typeface="Microsoft YaHei"/>
              </a:rPr>
              <a:t>8/5与分行领导沟通；上海试点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7947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</a:rPr>
              <a:t>初步方案（本次补充）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114800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C4A35A"/>
                </a:solidFill>
                <a:latin typeface="Microsoft YaHei"/>
              </a:rPr>
              <a:t>●  </a:t>
            </a:r>
            <a:r>
              <a:rPr sz="1200" b="0">
                <a:solidFill>
                  <a:srgbClr val="1F2A37"/>
                </a:solidFill>
                <a:latin typeface="Microsoft YaHei"/>
              </a:rPr>
              <a:t>单列员工份额：行员采购+行外采购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C4A35A"/>
                </a:solidFill>
                <a:latin typeface="Microsoft YaHei"/>
              </a:rPr>
              <a:t>●  </a:t>
            </a:r>
            <a:r>
              <a:rPr sz="1200" b="0">
                <a:solidFill>
                  <a:srgbClr val="1F2A37"/>
                </a:solidFill>
                <a:latin typeface="Microsoft YaHei"/>
              </a:rPr>
              <a:t>行内：办公提效系统/小程序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C4A35A"/>
                </a:solidFill>
                <a:latin typeface="Microsoft YaHei"/>
              </a:rPr>
              <a:t>●  </a:t>
            </a:r>
            <a:r>
              <a:rPr sz="1200" b="0">
                <a:solidFill>
                  <a:srgbClr val="1F2A37"/>
                </a:solidFill>
                <a:latin typeface="Microsoft YaHei"/>
              </a:rPr>
              <a:t>行内：员工AI福利发放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C4A35A"/>
                </a:solidFill>
                <a:latin typeface="Microsoft YaHei"/>
              </a:rPr>
              <a:t>●  </a:t>
            </a:r>
            <a:r>
              <a:rPr sz="1200" b="0">
                <a:solidFill>
                  <a:srgbClr val="1F2A37"/>
                </a:solidFill>
                <a:latin typeface="Microsoft YaHei"/>
              </a:rPr>
              <a:t>对外：研究联名信用卡方案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</a:rPr>
              <a:t>泰隆银行上海分行 × 腾讯 WorkBuddy · 合作推进情况汇报 · 2026-08-03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51052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</a:rPr>
              <a:t>4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Shape 1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"/>
            <a:ext cx="11155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四、建议请示事项与下一步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30352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</a:rPr>
              <a:t>原则同意推进 · 补充员工份额 · 研究联名卡 · 先试点后扩量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97280"/>
            <a:ext cx="5669280" cy="109728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640080" cy="685800"/>
          </a:xfrm>
          <a:prstGeom prst="roundRect">
            <a:avLst>
              <a:gd name="adj" fmla="val 8000"/>
            </a:avLst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6400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C4A35A"/>
                </a:solidFill>
                <a:latin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29844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B2F5B"/>
                </a:solidFill>
                <a:latin typeface="Microsoft YaHei"/>
              </a:rPr>
              <a:t>原则同意继续推进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6916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</a:rPr>
              <a:t>客户增值服务 + 行内数字化提效继续论证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097280"/>
            <a:ext cx="5669280" cy="109728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0" y="1280160"/>
            <a:ext cx="640080" cy="685800"/>
          </a:xfrm>
          <a:prstGeom prst="roundRect">
            <a:avLst>
              <a:gd name="adj" fmla="val 8000"/>
            </a:avLst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280160"/>
            <a:ext cx="6400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C4A35A"/>
                </a:solidFill>
                <a:latin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129844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B2F5B"/>
                </a:solidFill>
                <a:latin typeface="Microsoft YaHei"/>
              </a:rPr>
              <a:t>同意上海地区试点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16916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</a:rPr>
              <a:t>选定网点/客群，设定兑换激活获客指标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331720"/>
            <a:ext cx="5669280" cy="109728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2514600"/>
            <a:ext cx="640080" cy="685800"/>
          </a:xfrm>
          <a:prstGeom prst="roundRect">
            <a:avLst>
              <a:gd name="adj" fmla="val 8000"/>
            </a:avLst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514600"/>
            <a:ext cx="6400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C4A35A"/>
                </a:solidFill>
                <a:latin typeface="Microsoft Ya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53288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B2F5B"/>
                </a:solidFill>
                <a:latin typeface="Microsoft YaHei"/>
              </a:rPr>
              <a:t>补充员工采购份额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292608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</a:rPr>
              <a:t>行员采购+行外采购；福利可先行，系统须评估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2331720"/>
            <a:ext cx="5669280" cy="109728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0" y="2514600"/>
            <a:ext cx="640080" cy="685800"/>
          </a:xfrm>
          <a:prstGeom prst="roundRect">
            <a:avLst>
              <a:gd name="adj" fmla="val 8000"/>
            </a:avLst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514600"/>
            <a:ext cx="6400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C4A35A"/>
                </a:solidFill>
                <a:latin typeface="Microsoft Ya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253288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B2F5B"/>
                </a:solidFill>
                <a:latin typeface="Microsoft YaHei"/>
              </a:rPr>
              <a:t>研究联名信用卡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292608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</a:rPr>
              <a:t>授权卡中心论证，不作为立即发卡承诺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3611880"/>
            <a:ext cx="11430000" cy="868680"/>
          </a:xfrm>
          <a:prstGeom prst="roundRect">
            <a:avLst>
              <a:gd name="adj" fmla="val 8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3703320"/>
            <a:ext cx="640080" cy="685800"/>
          </a:xfrm>
          <a:prstGeom prst="roundRect">
            <a:avLst>
              <a:gd name="adj" fmla="val 8000"/>
            </a:avLst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3703320"/>
            <a:ext cx="6400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C4A35A"/>
                </a:solidFill>
                <a:latin typeface="Microsoft YaHe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3749039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B2F5B"/>
                </a:solidFill>
                <a:latin typeface="Microsoft YaHei"/>
              </a:rPr>
              <a:t>跨部门评估+继续谈判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4114800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</a:rPr>
              <a:t>1,500万为测算框架；首期金额另行审批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466344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800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C4A35A"/>
                </a:solidFill>
                <a:latin typeface="Microsoft YaHei"/>
              </a:rPr>
              <a:t>汇报结论 / 下一步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12064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Microsoft YaHei"/>
              </a:rPr>
              <a:t>建议原则同意立项论证并授权继续谈判，同步论证员工份额与联名信用卡；先试点、后扩量。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icrosoft YaHei"/>
              </a:rPr>
              <a:t>下一步：① 8/5前腾讯交完整方案（含行外/行员份额）　② 300万/500万两档　③ 兑换激活演示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Microsoft YaHei"/>
              </a:rPr>
              <a:t>　　　　④ 内部系统合规边界　⑤ 联名卡预研　⑥ 跨部门预审与试点指标　⑦ 达标后再扩量采购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</a:rPr>
              <a:t>泰隆银行上海分行 × 腾讯 WorkBuddy · 合作推进情况汇报 · 2026-08-03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51052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</a:rPr>
              <a:t>5 /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