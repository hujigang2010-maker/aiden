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4A35A"/>
                </a:solidFill>
                <a:latin typeface="Microsoft YaHei"/>
              </a:rPr>
              <a:t>行长专题汇报 · 内部材料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Microsoft YaHei"/>
              </a:rPr>
              <a:t>泰隆银行上海分行与腾讯 WorkBuddy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icrosoft YaHei"/>
              </a:rPr>
              <a:t>合作推进情况汇报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154680"/>
            <a:ext cx="2011680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42900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F3F6FA"/>
                </a:solidFill>
                <a:latin typeface="Microsoft YaHei"/>
              </a:rPr>
              <a:t>两轮洽谈后，双方已明确以「积分商城兑换 + 开户赠送AI权益」为主要合作方向；</a:t>
            </a:r>
          </a:p>
          <a:p>
            <a:pPr algn="l"/>
            <a:r>
              <a:rPr sz="1600" b="0">
                <a:solidFill>
                  <a:srgbClr val="F3F6FA"/>
                </a:solidFill>
                <a:latin typeface="Microsoft YaHei"/>
              </a:rPr>
              <a:t>建议原则同意推进，1,500万元仅为方案框架，先合规审查与小范围试点，再分阶段采购。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0292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4A35A"/>
                </a:solidFill>
                <a:latin typeface="Microsoft YaHei"/>
              </a:rPr>
              <a:t>汇报对象：泰隆银行上海分行行长　　汇报日期：2026年8月3日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66928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C6B7A"/>
                </a:solidFill>
                <a:latin typeface="Microsoft YaHei"/>
              </a:rPr>
              <a:t>状态分层：已达成共识｜初步方案｜尚待确认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82880"/>
            <a:ext cx="11155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</a:rPr>
              <a:t>一、合作方向与拟议模式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30352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</a:rPr>
              <a:t>服务中小微企业 · 纳入客户权益体系 · 助力新增对公客户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097280"/>
            <a:ext cx="11338560" cy="77724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</a:rPr>
              <a:t>背景：上海经营约16年、近100万客户，传统产品同质化明显；需引入贴近企业经营的非金融增值服务，提高开户吸引力与存量黏性。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</a:rPr>
              <a:t>对方：WorkBuddy 为企业级AI应用及技能平台（约2.8万家企业客户，企业版日活超10万），适合中小微低成本体验入口。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103120"/>
            <a:ext cx="2743200" cy="3840480"/>
          </a:xfrm>
          <a:prstGeom prst="roundRect">
            <a:avLst>
              <a:gd name="adj" fmla="val 8000"/>
            </a:avLst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33172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C4A35A"/>
                </a:solidFill>
                <a:latin typeface="Microsoft YaHei"/>
              </a:rPr>
              <a:t>已达成共识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74320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icrosoft YaHei"/>
              </a:rPr>
              <a:t>积分商城兑换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566160"/>
            <a:ext cx="23774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3F6FA"/>
                </a:solidFill>
                <a:latin typeface="Microsoft YaHei"/>
              </a:rPr>
              <a:t>集中采购账号/额度/权益</a:t>
            </a:r>
          </a:p>
          <a:p>
            <a:pPr algn="l"/>
            <a:r>
              <a:rPr sz="1300" b="0">
                <a:solidFill>
                  <a:srgbClr val="F3F6FA"/>
                </a:solidFill>
                <a:latin typeface="Microsoft YaHei"/>
              </a:rPr>
              <a:t>上架积分商城兑换或购买</a:t>
            </a:r>
          </a:p>
          <a:p>
            <a:pPr algn="l"/>
            <a:r>
              <a:rPr sz="1300" b="0">
                <a:solidFill>
                  <a:srgbClr val="F3F6FA"/>
                </a:solidFill>
                <a:latin typeface="Microsoft YaHei"/>
              </a:rPr>
              <a:t>丰富积分消耗场景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7560" y="2103120"/>
            <a:ext cx="2743200" cy="3840480"/>
          </a:xfrm>
          <a:prstGeom prst="roundRect">
            <a:avLst>
              <a:gd name="adj" fmla="val 8000"/>
            </a:avLst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233172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C4A35A"/>
                </a:solidFill>
                <a:latin typeface="Microsoft YaHei"/>
              </a:rPr>
              <a:t>已达成共识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74320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icrosoft YaHei"/>
              </a:rPr>
              <a:t>开户/拜访赠礼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3566160"/>
            <a:ext cx="23774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3F6FA"/>
                </a:solidFill>
                <a:latin typeface="Microsoft YaHei"/>
              </a:rPr>
              <a:t>以AI账号或额度替代部分</a:t>
            </a:r>
          </a:p>
          <a:p>
            <a:pPr algn="l"/>
            <a:r>
              <a:rPr sz="1300" b="0">
                <a:solidFill>
                  <a:srgbClr val="F3F6FA"/>
                </a:solidFill>
                <a:latin typeface="Microsoft YaHei"/>
              </a:rPr>
              <a:t>实物礼品；兑换码自助激活</a:t>
            </a:r>
          </a:p>
          <a:p>
            <a:pPr algn="l"/>
            <a:r>
              <a:rPr sz="1300" b="0">
                <a:solidFill>
                  <a:srgbClr val="F3F6FA"/>
                </a:solidFill>
                <a:latin typeface="Microsoft YaHei"/>
              </a:rPr>
              <a:t>提升拜访体验与开户转化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103120"/>
            <a:ext cx="2743200" cy="384048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233172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B2F5B"/>
                </a:solidFill>
                <a:latin typeface="Microsoft YaHei"/>
              </a:rPr>
              <a:t>初步方案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74320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B2F5B"/>
                </a:solidFill>
                <a:latin typeface="Microsoft YaHei"/>
              </a:rPr>
              <a:t>联合推广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566160"/>
            <a:ext cx="23774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37"/>
                </a:solidFill>
                <a:latin typeface="Microsoft YaHei"/>
              </a:rPr>
              <a:t>依托130余网点与客户经理</a:t>
            </a:r>
          </a:p>
          <a:p>
            <a:pPr algn="l"/>
            <a:r>
              <a:rPr sz="1300" b="0">
                <a:solidFill>
                  <a:srgbClr val="1F2A37"/>
                </a:solidFill>
                <a:latin typeface="Microsoft YaHei"/>
              </a:rPr>
              <a:t>面向制造业、商贸等客群试点</a:t>
            </a:r>
          </a:p>
          <a:p>
            <a:pPr algn="l"/>
            <a:r>
              <a:rPr sz="1300" b="0">
                <a:solidFill>
                  <a:srgbClr val="1F2A37"/>
                </a:solidFill>
                <a:latin typeface="Microsoft YaHei"/>
              </a:rPr>
              <a:t>腾讯负责产品与技术支持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9720" y="2103120"/>
            <a:ext cx="2743200" cy="384048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2600" y="233172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C6B7A"/>
                </a:solidFill>
                <a:latin typeface="Microsoft YaHei"/>
              </a:rPr>
              <a:t>后续延伸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274320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B2F5B"/>
                </a:solidFill>
                <a:latin typeface="Microsoft YaHei"/>
              </a:rPr>
              <a:t>平台专区等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3566160"/>
            <a:ext cx="23774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37"/>
                </a:solidFill>
                <a:latin typeface="Microsoft YaHei"/>
              </a:rPr>
              <a:t>开设泰隆银行专区</a:t>
            </a:r>
          </a:p>
          <a:p>
            <a:pPr algn="l"/>
            <a:r>
              <a:rPr sz="1300" b="0">
                <a:solidFill>
                  <a:srgbClr val="1F2A37"/>
                </a:solidFill>
                <a:latin typeface="Microsoft YaHei"/>
              </a:rPr>
              <a:t>联合开发行业AI技能</a:t>
            </a:r>
          </a:p>
          <a:p>
            <a:pPr algn="l"/>
            <a:r>
              <a:rPr sz="1300" b="0">
                <a:solidFill>
                  <a:srgbClr val="1F2A37"/>
                </a:solidFill>
                <a:latin typeface="Microsoft YaHei"/>
              </a:rPr>
              <a:t>与开户/结算/代发结合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510528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</a:rPr>
              <a:t>泰隆银行上海分行 × 腾讯 WorkBuddy · 合作推进情况汇报 · 2026-08-03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510528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</a:rPr>
              <a:t>2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82880"/>
            <a:ext cx="11155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</a:rPr>
              <a:t>二、采购方案设想与预期价值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30352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</a:rPr>
              <a:t>1,500万元为测算框架，非采购承诺；首期建议300万/500万两档论证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143000"/>
            <a:ext cx="5760720" cy="50292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</a:rPr>
              <a:t>采购框架（初步方案）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74519"/>
            <a:ext cx="521208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1874519"/>
            <a:ext cx="109728" cy="82296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84247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</a:rPr>
              <a:t>最高约1,500万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31719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6B7A"/>
                </a:solidFill>
                <a:latin typeface="Microsoft YaHei"/>
              </a:rPr>
              <a:t>总体方案设计上限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834639"/>
            <a:ext cx="521208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2834639"/>
            <a:ext cx="109728" cy="82296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2944367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</a:rPr>
              <a:t>三阶段 × 约500万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291839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6B7A"/>
                </a:solidFill>
                <a:latin typeface="Microsoft YaHei"/>
              </a:rPr>
              <a:t>按阶段推进与验收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794760"/>
            <a:ext cx="521208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3794760"/>
            <a:ext cx="109728" cy="82296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904488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</a:rPr>
              <a:t>首期300–500万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25196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6B7A"/>
                </a:solidFill>
                <a:latin typeface="Microsoft YaHei"/>
              </a:rPr>
              <a:t>待报价与试点测算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892040"/>
            <a:ext cx="52120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</a:rPr>
              <a:t>尚待腾讯提供：账号/License/Token数量、有效期、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</a:rPr>
              <a:t>阶梯折扣、未激活处理、扩容续费退款、付款与验收。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0" y="1143000"/>
            <a:ext cx="5349240" cy="5029200"/>
          </a:xfrm>
          <a:prstGeom prst="roundRect">
            <a:avLst>
              <a:gd name="adj" fmla="val 8000"/>
            </a:avLst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20" y="13258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C4A35A"/>
                </a:solidFill>
                <a:latin typeface="Microsoft YaHei"/>
              </a:rPr>
              <a:t>预期价值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1920240"/>
            <a:ext cx="484632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C4A35A"/>
                </a:solidFill>
                <a:latin typeface="Microsoft YaHei"/>
              </a:rPr>
              <a:t>●  </a:t>
            </a:r>
            <a:r>
              <a:rPr sz="1400" b="0">
                <a:solidFill>
                  <a:srgbClr val="FFFFFF"/>
                </a:solidFill>
                <a:latin typeface="Microsoft YaHei"/>
              </a:rPr>
              <a:t>带动新增对公客户：差异化开户/拜访权益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C4A35A"/>
                </a:solidFill>
                <a:latin typeface="Microsoft YaHei"/>
              </a:rPr>
              <a:t>●  </a:t>
            </a:r>
            <a:r>
              <a:rPr sz="1400" b="0">
                <a:solidFill>
                  <a:srgbClr val="FFFFFF"/>
                </a:solidFill>
                <a:latin typeface="Microsoft YaHei"/>
              </a:rPr>
              <a:t>提升存量客户黏性：触达老板/财务关键人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C4A35A"/>
                </a:solidFill>
                <a:latin typeface="Microsoft YaHei"/>
              </a:rPr>
              <a:t>●  </a:t>
            </a:r>
            <a:r>
              <a:rPr sz="1400" b="0">
                <a:solidFill>
                  <a:srgbClr val="FFFFFF"/>
                </a:solidFill>
                <a:latin typeface="Microsoft YaHei"/>
              </a:rPr>
              <a:t>促进积分活跃：补充企业服务类权益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C4A35A"/>
                </a:solidFill>
                <a:latin typeface="Microsoft YaHei"/>
              </a:rPr>
              <a:t>●  </a:t>
            </a:r>
            <a:r>
              <a:rPr sz="1400" b="0">
                <a:solidFill>
                  <a:srgbClr val="FFFFFF"/>
                </a:solidFill>
                <a:latin typeface="Microsoft YaHei"/>
              </a:rPr>
              <a:t>带动结算与资金沉淀：商城/续费走我行账户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C4A35A"/>
                </a:solidFill>
                <a:latin typeface="Microsoft YaHei"/>
              </a:rPr>
              <a:t>●  </a:t>
            </a:r>
            <a:r>
              <a:rPr sz="1400" b="0">
                <a:solidFill>
                  <a:srgbClr val="FFFFFF"/>
                </a:solidFill>
                <a:latin typeface="Microsoft YaHei"/>
              </a:rPr>
              <a:t>塑造科技服务品牌：金融+经营赋能形象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510528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</a:rPr>
              <a:t>泰隆银行上海分行 × 腾讯 WorkBuddy · 合作推进情况汇报 · 2026-08-03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510528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</a:rPr>
              <a:t>3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82880"/>
            <a:ext cx="11155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</a:rPr>
              <a:t>三、风险事项与初步共识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30352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</a:rPr>
              <a:t>合规、采购、技术、结算仍待确认；优先推进两类场景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A63D2F"/>
                </a:solidFill>
                <a:latin typeface="Microsoft YaHei"/>
              </a:rPr>
              <a:t>尚待确认 · 主要风险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463040"/>
            <a:ext cx="5760720" cy="77724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55448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2F5B"/>
                </a:solidFill>
                <a:latin typeface="Microsoft YaHei"/>
              </a:rPr>
              <a:t>安全合规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82880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2A37"/>
                </a:solidFill>
                <a:latin typeface="Microsoft YaHei"/>
              </a:rPr>
              <a:t>公有云SaaS不接行内网，但仍需审查数据隔离、访问权限、日志与责任机制；首期仅用于外部客户权益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2331720"/>
            <a:ext cx="5760720" cy="77724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42316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2F5B"/>
                </a:solidFill>
                <a:latin typeface="Microsoft YaHei"/>
              </a:rPr>
              <a:t>采购成本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69748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2A37"/>
                </a:solidFill>
                <a:latin typeface="Microsoft YaHei"/>
              </a:rPr>
              <a:t>缺兑换/激活/使用/转化数据，忌一次性大额采购；建议分期交付与效果验收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200400"/>
            <a:ext cx="5760720" cy="77724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29184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2F5B"/>
                </a:solidFill>
                <a:latin typeface="Microsoft YaHei"/>
              </a:rPr>
              <a:t>技术交付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56616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2A37"/>
                </a:solidFill>
                <a:latin typeface="Microsoft YaHei"/>
              </a:rPr>
              <a:t>批量兑换码、自助注册激活、分组与续费等需完整流程测试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4069079"/>
            <a:ext cx="5760720" cy="77724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4160519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2F5B"/>
                </a:solidFill>
                <a:latin typeface="Microsoft YaHei"/>
              </a:rPr>
              <a:t>结算税务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434839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2A37"/>
                </a:solidFill>
                <a:latin typeface="Microsoft YaHei"/>
              </a:rPr>
              <a:t>商城主体、发票与资金链路需财务/法务确认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4937760"/>
            <a:ext cx="5760720" cy="77724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502920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2F5B"/>
                </a:solidFill>
                <a:latin typeface="Microsoft YaHei"/>
              </a:rPr>
              <a:t>宣传口径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530352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2A37"/>
                </a:solidFill>
                <a:latin typeface="Microsoft YaHei"/>
              </a:rPr>
              <a:t>联合品牌与效果表述须授权并经宣传审核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109728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B2F5B"/>
                </a:solidFill>
                <a:latin typeface="Microsoft YaHei"/>
              </a:rPr>
              <a:t>已达成共识（两轮谈判）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1463040"/>
            <a:ext cx="5349240" cy="470916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0" y="1737360"/>
            <a:ext cx="493776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C4A35A"/>
                </a:solidFill>
                <a:latin typeface="Microsoft YaHei"/>
              </a:rPr>
              <a:t>●  </a:t>
            </a:r>
            <a:r>
              <a:rPr sz="1400" b="0">
                <a:solidFill>
                  <a:srgbClr val="1F2A37"/>
                </a:solidFill>
                <a:latin typeface="Microsoft YaHei"/>
              </a:rPr>
              <a:t>优先推进：积分商城兑换 + 开户赠礼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C4A35A"/>
                </a:solidFill>
                <a:latin typeface="Microsoft YaHei"/>
              </a:rPr>
              <a:t>●  </a:t>
            </a:r>
            <a:r>
              <a:rPr sz="1400" b="0">
                <a:solidFill>
                  <a:srgbClr val="1F2A37"/>
                </a:solidFill>
                <a:latin typeface="Microsoft YaHei"/>
              </a:rPr>
              <a:t>采用兑换码/License，客户自助激活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C4A35A"/>
                </a:solidFill>
                <a:latin typeface="Microsoft YaHei"/>
              </a:rPr>
              <a:t>●  </a:t>
            </a:r>
            <a:r>
              <a:rPr sz="1400" b="0">
                <a:solidFill>
                  <a:srgbClr val="1F2A37"/>
                </a:solidFill>
                <a:latin typeface="Microsoft YaHei"/>
              </a:rPr>
              <a:t>暂不印实体卡，后续再定电子/纸质形式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C4A35A"/>
                </a:solidFill>
                <a:latin typeface="Microsoft YaHei"/>
              </a:rPr>
              <a:t>●  </a:t>
            </a:r>
            <a:r>
              <a:rPr sz="1400" b="0">
                <a:solidFill>
                  <a:srgbClr val="1F2A37"/>
                </a:solidFill>
                <a:latin typeface="Microsoft YaHei"/>
              </a:rPr>
              <a:t>按季度或半年度套餐及阶梯价设计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C4A35A"/>
                </a:solidFill>
                <a:latin typeface="Microsoft YaHei"/>
              </a:rPr>
              <a:t>●  </a:t>
            </a:r>
            <a:r>
              <a:rPr sz="1400" b="0">
                <a:solidFill>
                  <a:srgbClr val="1F2A37"/>
                </a:solidFill>
                <a:latin typeface="Microsoft YaHei"/>
              </a:rPr>
              <a:t>腾讯提交完整产品及商务方案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C4A35A"/>
                </a:solidFill>
                <a:latin typeface="Microsoft YaHei"/>
              </a:rPr>
              <a:t>●  </a:t>
            </a:r>
            <a:r>
              <a:rPr sz="1400" b="0">
                <a:solidFill>
                  <a:srgbClr val="1F2A37"/>
                </a:solidFill>
                <a:latin typeface="Microsoft YaHei"/>
              </a:rPr>
              <a:t>8月5日下午与分行领导进一步沟通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C4A35A"/>
                </a:solidFill>
                <a:latin typeface="Microsoft YaHei"/>
              </a:rPr>
              <a:t>●  </a:t>
            </a:r>
            <a:r>
              <a:rPr sz="1400" b="0">
                <a:solidFill>
                  <a:srgbClr val="1F2A37"/>
                </a:solidFill>
                <a:latin typeface="Microsoft YaHei"/>
              </a:rPr>
              <a:t>上海先行试点，效果好再扩围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510528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</a:rPr>
              <a:t>泰隆银行上海分行 × 腾讯 WorkBuddy · 合作推进情况汇报 · 2026-08-03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510528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</a:rPr>
              <a:t>4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82880"/>
            <a:ext cx="11155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</a:rPr>
              <a:t>四、建议请示事项与下一步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30352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</a:rPr>
              <a:t>原则同意立项论证 · 授权继续谈判 · 先试点后扩量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143000"/>
            <a:ext cx="5623560" cy="128016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731520" cy="731520"/>
          </a:xfrm>
          <a:prstGeom prst="roundRect">
            <a:avLst>
              <a:gd name="adj" fmla="val 8000"/>
            </a:avLst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41732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C4A35A"/>
                </a:solidFill>
                <a:latin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141732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B2F5B"/>
                </a:solidFill>
                <a:latin typeface="Microsoft YaHei"/>
              </a:rPr>
              <a:t>原则同意继续推进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182880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</a:rPr>
              <a:t>作为中小微增值服务创新方向继续论证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143000"/>
            <a:ext cx="5623560" cy="128016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46520" y="1417320"/>
            <a:ext cx="731520" cy="731520"/>
          </a:xfrm>
          <a:prstGeom prst="roundRect">
            <a:avLst>
              <a:gd name="adj" fmla="val 8000"/>
            </a:avLst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41732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C4A35A"/>
                </a:solidFill>
                <a:latin typeface="Microsoft YaHe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141732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B2F5B"/>
                </a:solidFill>
                <a:latin typeface="Microsoft YaHei"/>
              </a:rPr>
              <a:t>同意上海地区试点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182880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</a:rPr>
              <a:t>选定网点/客群，设定兑换激活获客指标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2560320"/>
            <a:ext cx="5623560" cy="128016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2834640"/>
            <a:ext cx="731520" cy="731520"/>
          </a:xfrm>
          <a:prstGeom prst="roundRect">
            <a:avLst>
              <a:gd name="adj" fmla="val 8000"/>
            </a:avLst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83464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C4A35A"/>
                </a:solidFill>
                <a:latin typeface="Microsoft YaHe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283464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B2F5B"/>
                </a:solidFill>
                <a:latin typeface="Microsoft YaHei"/>
              </a:rPr>
              <a:t>启动跨部门评估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324612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</a:rPr>
              <a:t>公司金融、权益、科技、合规、法务、财务、采购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2560320"/>
            <a:ext cx="5623560" cy="128016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46520" y="2834640"/>
            <a:ext cx="731520" cy="731520"/>
          </a:xfrm>
          <a:prstGeom prst="roundRect">
            <a:avLst>
              <a:gd name="adj" fmla="val 8000"/>
            </a:avLst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283464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C4A35A"/>
                </a:solidFill>
                <a:latin typeface="Microsoft YaHe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283464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B2F5B"/>
                </a:solidFill>
                <a:latin typeface="Microsoft YaHei"/>
              </a:rPr>
              <a:t>授权继续商务谈判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324612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</a:rPr>
              <a:t>1,500万为测算框架；首期金额另行审批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4114800"/>
            <a:ext cx="11338560" cy="2011680"/>
          </a:xfrm>
          <a:prstGeom prst="roundRect">
            <a:avLst>
              <a:gd name="adj" fmla="val 8000"/>
            </a:avLst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29768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C4A35A"/>
                </a:solidFill>
                <a:latin typeface="Microsoft YaHei"/>
              </a:rPr>
              <a:t>汇报结论 / 下一步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709160"/>
            <a:ext cx="10789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icrosoft YaHei"/>
              </a:rPr>
              <a:t>建议行长原则同意立项论证并授权继续谈判，先试点、后扩量，以实际客户转化和使用效果作为后续采购依据。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Microsoft YaHei"/>
              </a:rPr>
              <a:t>下一步：① 8/5前腾讯提交完整方案　② 明确300万/500万两档权益　③ 完成兑换激活全流程演示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Microsoft YaHei"/>
              </a:rPr>
              <a:t>　　　　④ 启动法务合规科技财务采购预审　⑤ 设计试点方案与量化指标　⑥ 达标后再启动二三阶段采购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510528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</a:rPr>
              <a:t>泰隆银行上海分行 × 腾讯 WorkBuddy · 合作推进情况汇报 · 2026-08-03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510528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</a:rPr>
              <a:t>5 /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