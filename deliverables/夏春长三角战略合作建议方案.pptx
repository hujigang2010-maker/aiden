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985455" y="0"/>
            <a:ext cx="4206240" cy="685800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985455" y="0"/>
            <a:ext cx="54864" cy="6858000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1234440"/>
            <a:ext cx="73152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0" i="0">
                <a:solidFill>
                  <a:srgbClr val="E7D38E"/>
                </a:solidFill>
                <a:latin typeface="Microsoft YaHei"/>
                <a:ea typeface="Microsoft YaHei"/>
              </a:rPr>
              <a:t>战略合作建议方案  |  STRATEGIC PARTNERSHIP PROPOSAL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1828800"/>
            <a:ext cx="7498079" cy="2011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4600" b="1" i="0">
                <a:solidFill>
                  <a:srgbClr val="FFFFFF"/>
                </a:solidFill>
                <a:latin typeface="Microsoft YaHei"/>
                <a:ea typeface="Microsoft YaHei"/>
              </a:rPr>
              <a:t>与夏春先生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3300" b="1" i="0">
                <a:solidFill>
                  <a:srgbClr val="FFFFFF"/>
                </a:solidFill>
                <a:latin typeface="Microsoft YaHei"/>
                <a:ea typeface="Microsoft YaHei"/>
              </a:rPr>
              <a:t>长三角区域战略合作建议方案</a:t>
            </a:r>
          </a:p>
        </p:txBody>
      </p:sp>
      <p:sp>
        <p:nvSpPr>
          <p:cNvPr id="9" name="Rectangle 8"/>
          <p:cNvSpPr/>
          <p:nvPr/>
        </p:nvSpPr>
        <p:spPr>
          <a:xfrm>
            <a:off x="868680" y="3794760"/>
            <a:ext cx="2377440" cy="45720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2960" y="4023360"/>
            <a:ext cx="73152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600"/>
              </a:spcAft>
            </a:pPr>
            <a:r>
              <a:rPr sz="1500" b="1" i="0">
                <a:solidFill>
                  <a:srgbClr val="E7D38E"/>
                </a:solidFill>
                <a:latin typeface="Microsoft YaHei"/>
                <a:ea typeface="Microsoft YaHei"/>
              </a:rPr>
              <a:t>核心定位：</a:t>
            </a:r>
            <a:r>
              <a:rPr sz="1500" b="1" i="0">
                <a:solidFill>
                  <a:srgbClr val="FFFFFF"/>
                </a:solidFill>
                <a:latin typeface="Microsoft YaHei"/>
                <a:ea typeface="Microsoft YaHei"/>
              </a:rPr>
              <a:t>“夏春财经智识”长三角区域独家总代理</a:t>
            </a:r>
          </a:p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0" i="0">
                <a:solidFill>
                  <a:srgbClr val="C7D2E0"/>
                </a:solidFill>
                <a:latin typeface="Microsoft YaHei"/>
                <a:ea typeface="Microsoft YaHei"/>
              </a:rPr>
              <a:t>交付载体：本方案（PPT）+ 配套测算与清单（Excel）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5806440"/>
            <a:ext cx="77724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0" i="0">
                <a:solidFill>
                  <a:srgbClr val="FFFFFF"/>
                </a:solidFill>
                <a:latin typeface="Microsoft YaHei"/>
                <a:ea typeface="Microsoft YaHei"/>
              </a:rPr>
              <a:t>提报机构：复旦大学住房政策研究中心   ×   杨浦区科技企业联合会</a:t>
            </a:r>
          </a:p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600"/>
              </a:spcAft>
            </a:pPr>
            <a:r>
              <a:rPr sz="1150" b="0" i="0">
                <a:solidFill>
                  <a:srgbClr val="E7D38E"/>
                </a:solidFill>
                <a:latin typeface="Microsoft YaHei"/>
                <a:ea typeface="Microsoft YaHei"/>
              </a:rPr>
              <a:t>2026 年 7 月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59775" y="1280160"/>
            <a:ext cx="3291840" cy="43891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1600" b="1" i="0">
                <a:solidFill>
                  <a:srgbClr val="C9A227"/>
                </a:solidFill>
                <a:latin typeface="Microsoft YaHei"/>
                <a:ea typeface="Microsoft YaHei"/>
              </a:rPr>
              <a:t>合作要点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600" b="0" i="0">
                <a:solidFill>
                  <a:srgbClr val="FFFFFF"/>
                </a:solidFill>
                <a:latin typeface="Microsoft YaHei"/>
                <a:ea typeface="Microsoft YaHei"/>
              </a:rPr>
              <a:t/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0" i="0">
                <a:solidFill>
                  <a:srgbClr val="FFFFFF"/>
                </a:solidFill>
                <a:latin typeface="Microsoft YaHei"/>
                <a:ea typeface="Microsoft YaHei"/>
              </a:rPr>
              <a:t>① 长期战略协作 + 3 个月敏感性过渡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400" b="0" i="0">
                <a:solidFill>
                  <a:srgbClr val="FFFFFF"/>
                </a:solidFill>
                <a:latin typeface="Microsoft YaHei"/>
                <a:ea typeface="Microsoft YaHei"/>
              </a:rPr>
              <a:t/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0" i="0">
                <a:solidFill>
                  <a:srgbClr val="FFFFFF"/>
                </a:solidFill>
                <a:latin typeface="Microsoft YaHei"/>
                <a:ea typeface="Microsoft YaHei"/>
              </a:rPr>
              <a:t>② 长三角区域服务总代理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400" b="0" i="0">
                <a:solidFill>
                  <a:srgbClr val="FFFFFF"/>
                </a:solidFill>
                <a:latin typeface="Microsoft YaHei"/>
                <a:ea typeface="Microsoft YaHei"/>
              </a:rPr>
              <a:t/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0" i="0">
                <a:solidFill>
                  <a:srgbClr val="FFFFFF"/>
                </a:solidFill>
                <a:latin typeface="Microsoft YaHei"/>
                <a:ea typeface="Microsoft YaHei"/>
              </a:rPr>
              <a:t>③ 依托复旦 + 杨浦科委双背书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400" b="0" i="0">
                <a:solidFill>
                  <a:srgbClr val="FFFFFF"/>
                </a:solidFill>
                <a:latin typeface="Microsoft YaHei"/>
                <a:ea typeface="Microsoft YaHei"/>
              </a:rPr>
              <a:t/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0" i="0">
                <a:solidFill>
                  <a:srgbClr val="FFFFFF"/>
                </a:solidFill>
                <a:latin typeface="Microsoft YaHei"/>
                <a:ea typeface="Microsoft YaHei"/>
              </a:rPr>
              <a:t>④ 只做新区域增量，区隔新老团队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400" b="0" i="0">
                <a:solidFill>
                  <a:srgbClr val="FFFFFF"/>
                </a:solidFill>
                <a:latin typeface="Microsoft YaHei"/>
                <a:ea typeface="Microsoft YaHei"/>
              </a:rPr>
              <a:t/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0" i="0">
                <a:solidFill>
                  <a:srgbClr val="FFFFFF"/>
                </a:solidFill>
                <a:latin typeface="Microsoft YaHei"/>
                <a:ea typeface="Microsoft YaHei"/>
              </a:rPr>
              <a:t>⑤ 以夏春观点/语录为内容内核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14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57200" y="274320"/>
            <a:ext cx="109728" cy="566928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13232" y="237744"/>
            <a:ext cx="10515600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0" i="0">
                <a:solidFill>
                  <a:srgbClr val="E7D38E"/>
                </a:solidFill>
                <a:latin typeface="Microsoft YaHei"/>
                <a:ea typeface="Microsoft YaHei"/>
              </a:rPr>
              <a:t>CONTENTS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13232" y="530352"/>
            <a:ext cx="10698480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2500" b="1" i="0">
                <a:solidFill>
                  <a:srgbClr val="FFFFFF"/>
                </a:solidFill>
                <a:latin typeface="Microsoft YaHei"/>
                <a:ea typeface="Microsoft YaHei"/>
              </a:rPr>
              <a:t>方案框架 · 目录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1463040"/>
            <a:ext cx="5394960" cy="749808"/>
          </a:xfrm>
          <a:prstGeom prst="roundRect">
            <a:avLst/>
          </a:prstGeom>
          <a:solidFill>
            <a:srgbClr val="F6F8FB"/>
          </a:solidFill>
          <a:ln>
            <a:noFill/>
          </a:ln>
          <a:effectLst/>
          <a:effectLst>
            <a:outerShdw blurRad="60000" dist="25000" dir="5400000" rotWithShape="0">
              <a:srgbClr val="9AA6B2">
                <a:alpha val="5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640080" y="1463040"/>
            <a:ext cx="822960" cy="749808"/>
          </a:xfrm>
          <a:prstGeom prst="roundRect">
            <a:avLst/>
          </a:prstGeom>
          <a:solidFill>
            <a:srgbClr val="14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" y="1463040"/>
            <a:ext cx="822960" cy="7498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2200" b="1" i="0">
                <a:solidFill>
                  <a:srgbClr val="C9A227"/>
                </a:solidFill>
                <a:latin typeface="Microsoft YaHei"/>
                <a:ea typeface="Microsoft YaHei"/>
              </a:rPr>
              <a:t>01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645920" y="1463040"/>
            <a:ext cx="4297680" cy="7498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500" b="1" i="0">
                <a:solidFill>
                  <a:srgbClr val="142A4A"/>
                </a:solidFill>
                <a:latin typeface="Microsoft YaHei"/>
                <a:ea typeface="Microsoft YaHei"/>
              </a:rPr>
              <a:t>合作背景与机遇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72200" y="1463040"/>
            <a:ext cx="5394960" cy="749808"/>
          </a:xfrm>
          <a:prstGeom prst="roundRect">
            <a:avLst/>
          </a:prstGeom>
          <a:solidFill>
            <a:srgbClr val="F6F8FB"/>
          </a:solidFill>
          <a:ln>
            <a:noFill/>
          </a:ln>
          <a:effectLst/>
          <a:effectLst>
            <a:outerShdw blurRad="60000" dist="25000" dir="5400000" rotWithShape="0">
              <a:srgbClr val="9AA6B2">
                <a:alpha val="5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6172200" y="1463040"/>
            <a:ext cx="822960" cy="749808"/>
          </a:xfrm>
          <a:prstGeom prst="roundRect">
            <a:avLst/>
          </a:prstGeom>
          <a:solidFill>
            <a:srgbClr val="14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172200" y="1463040"/>
            <a:ext cx="822960" cy="7498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2200" b="1" i="0">
                <a:solidFill>
                  <a:srgbClr val="C9A227"/>
                </a:solidFill>
                <a:latin typeface="Microsoft YaHei"/>
                <a:ea typeface="Microsoft YaHei"/>
              </a:rPr>
              <a:t>02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178040" y="1463040"/>
            <a:ext cx="4297680" cy="7498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500" b="1" i="0">
                <a:solidFill>
                  <a:srgbClr val="142A4A"/>
                </a:solidFill>
                <a:latin typeface="Microsoft YaHei"/>
                <a:ea typeface="Microsoft YaHei"/>
              </a:rPr>
              <a:t>夏春先生 IP 与核心观点（语录）解析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" y="2395728"/>
            <a:ext cx="5394960" cy="749808"/>
          </a:xfrm>
          <a:prstGeom prst="roundRect">
            <a:avLst/>
          </a:prstGeom>
          <a:solidFill>
            <a:srgbClr val="F6F8FB"/>
          </a:solidFill>
          <a:ln>
            <a:noFill/>
          </a:ln>
          <a:effectLst/>
          <a:effectLst>
            <a:outerShdw blurRad="60000" dist="25000" dir="5400000" rotWithShape="0">
              <a:srgbClr val="9AA6B2">
                <a:alpha val="5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640080" y="2395728"/>
            <a:ext cx="822960" cy="749808"/>
          </a:xfrm>
          <a:prstGeom prst="roundRect">
            <a:avLst/>
          </a:prstGeom>
          <a:solidFill>
            <a:srgbClr val="14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0080" y="2395728"/>
            <a:ext cx="822960" cy="7498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2200" b="1" i="0">
                <a:solidFill>
                  <a:srgbClr val="C9A227"/>
                </a:solidFill>
                <a:latin typeface="Microsoft YaHei"/>
                <a:ea typeface="Microsoft YaHei"/>
              </a:rPr>
              <a:t>03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645920" y="2395728"/>
            <a:ext cx="4297680" cy="7498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500" b="1" i="0">
                <a:solidFill>
                  <a:srgbClr val="142A4A"/>
                </a:solidFill>
                <a:latin typeface="Microsoft YaHei"/>
                <a:ea typeface="Microsoft YaHei"/>
              </a:rPr>
              <a:t>我方机构与资源禀赋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172200" y="2395728"/>
            <a:ext cx="5394960" cy="749808"/>
          </a:xfrm>
          <a:prstGeom prst="roundRect">
            <a:avLst/>
          </a:prstGeom>
          <a:solidFill>
            <a:srgbClr val="F6F8FB"/>
          </a:solidFill>
          <a:ln>
            <a:noFill/>
          </a:ln>
          <a:effectLst/>
          <a:effectLst>
            <a:outerShdw blurRad="60000" dist="25000" dir="5400000" rotWithShape="0">
              <a:srgbClr val="9AA6B2">
                <a:alpha val="5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6172200" y="2395728"/>
            <a:ext cx="822960" cy="749808"/>
          </a:xfrm>
          <a:prstGeom prst="roundRect">
            <a:avLst/>
          </a:prstGeom>
          <a:solidFill>
            <a:srgbClr val="14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172200" y="2395728"/>
            <a:ext cx="822960" cy="7498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2200" b="1" i="0">
                <a:solidFill>
                  <a:srgbClr val="C9A227"/>
                </a:solidFill>
                <a:latin typeface="Microsoft YaHei"/>
                <a:ea typeface="Microsoft YaHei"/>
              </a:rPr>
              <a:t>04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178040" y="2395728"/>
            <a:ext cx="4297680" cy="7498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500" b="1" i="0">
                <a:solidFill>
                  <a:srgbClr val="142A4A"/>
                </a:solidFill>
                <a:latin typeface="Microsoft YaHei"/>
                <a:ea typeface="Microsoft YaHei"/>
              </a:rPr>
              <a:t>合作定位：长三角区域总代理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40080" y="3328416"/>
            <a:ext cx="5394960" cy="749808"/>
          </a:xfrm>
          <a:prstGeom prst="roundRect">
            <a:avLst/>
          </a:prstGeom>
          <a:solidFill>
            <a:srgbClr val="F6F8FB"/>
          </a:solidFill>
          <a:ln>
            <a:noFill/>
          </a:ln>
          <a:effectLst/>
          <a:effectLst>
            <a:outerShdw blurRad="60000" dist="25000" dir="5400000" rotWithShape="0">
              <a:srgbClr val="9AA6B2">
                <a:alpha val="5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640080" y="3328416"/>
            <a:ext cx="822960" cy="749808"/>
          </a:xfrm>
          <a:prstGeom prst="roundRect">
            <a:avLst/>
          </a:prstGeom>
          <a:solidFill>
            <a:srgbClr val="14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40080" y="3328416"/>
            <a:ext cx="822960" cy="7498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2200" b="1" i="0">
                <a:solidFill>
                  <a:srgbClr val="C9A227"/>
                </a:solidFill>
                <a:latin typeface="Microsoft YaHei"/>
                <a:ea typeface="Microsoft YaHei"/>
              </a:rPr>
              <a:t>05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645920" y="3328416"/>
            <a:ext cx="4297680" cy="7498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500" b="1" i="0">
                <a:solidFill>
                  <a:srgbClr val="142A4A"/>
                </a:solidFill>
                <a:latin typeface="Microsoft YaHei"/>
                <a:ea typeface="Microsoft YaHei"/>
              </a:rPr>
              <a:t>差异化：区别于夏春新老团队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172200" y="3328416"/>
            <a:ext cx="5394960" cy="749808"/>
          </a:xfrm>
          <a:prstGeom prst="roundRect">
            <a:avLst/>
          </a:prstGeom>
          <a:solidFill>
            <a:srgbClr val="F6F8FB"/>
          </a:solidFill>
          <a:ln>
            <a:noFill/>
          </a:ln>
          <a:effectLst/>
          <a:effectLst>
            <a:outerShdw blurRad="60000" dist="25000" dir="5400000" rotWithShape="0">
              <a:srgbClr val="9AA6B2">
                <a:alpha val="5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ounded Rectangle 28"/>
          <p:cNvSpPr/>
          <p:nvPr/>
        </p:nvSpPr>
        <p:spPr>
          <a:xfrm>
            <a:off x="6172200" y="3328416"/>
            <a:ext cx="822960" cy="749808"/>
          </a:xfrm>
          <a:prstGeom prst="roundRect">
            <a:avLst/>
          </a:prstGeom>
          <a:solidFill>
            <a:srgbClr val="14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172200" y="3328416"/>
            <a:ext cx="822960" cy="7498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2200" b="1" i="0">
                <a:solidFill>
                  <a:srgbClr val="C9A227"/>
                </a:solidFill>
                <a:latin typeface="Microsoft YaHei"/>
                <a:ea typeface="Microsoft YaHei"/>
              </a:rPr>
              <a:t>06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178040" y="3328416"/>
            <a:ext cx="4297680" cy="7498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500" b="1" i="0">
                <a:solidFill>
                  <a:srgbClr val="142A4A"/>
                </a:solidFill>
                <a:latin typeface="Microsoft YaHei"/>
                <a:ea typeface="Microsoft YaHei"/>
              </a:rPr>
              <a:t>合作阶段：3 个月过渡 + 长期战略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640080" y="4261104"/>
            <a:ext cx="5394960" cy="749808"/>
          </a:xfrm>
          <a:prstGeom prst="roundRect">
            <a:avLst/>
          </a:prstGeom>
          <a:solidFill>
            <a:srgbClr val="F6F8FB"/>
          </a:solidFill>
          <a:ln>
            <a:noFill/>
          </a:ln>
          <a:effectLst/>
          <a:effectLst>
            <a:outerShdw blurRad="60000" dist="25000" dir="5400000" rotWithShape="0">
              <a:srgbClr val="9AA6B2">
                <a:alpha val="5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ounded Rectangle 32"/>
          <p:cNvSpPr/>
          <p:nvPr/>
        </p:nvSpPr>
        <p:spPr>
          <a:xfrm>
            <a:off x="640080" y="4261104"/>
            <a:ext cx="822960" cy="749808"/>
          </a:xfrm>
          <a:prstGeom prst="roundRect">
            <a:avLst/>
          </a:prstGeom>
          <a:solidFill>
            <a:srgbClr val="14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40080" y="4261104"/>
            <a:ext cx="822960" cy="7498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2200" b="1" i="0">
                <a:solidFill>
                  <a:srgbClr val="C9A227"/>
                </a:solidFill>
                <a:latin typeface="Microsoft YaHei"/>
                <a:ea typeface="Microsoft YaHei"/>
              </a:rPr>
              <a:t>07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645920" y="4261104"/>
            <a:ext cx="4297680" cy="7498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500" b="1" i="0">
                <a:solidFill>
                  <a:srgbClr val="142A4A"/>
                </a:solidFill>
                <a:latin typeface="Microsoft YaHei"/>
                <a:ea typeface="Microsoft YaHei"/>
              </a:rPr>
              <a:t>长三角落地场景与内容矩阵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6172200" y="4261104"/>
            <a:ext cx="5394960" cy="749808"/>
          </a:xfrm>
          <a:prstGeom prst="roundRect">
            <a:avLst/>
          </a:prstGeom>
          <a:solidFill>
            <a:srgbClr val="F6F8FB"/>
          </a:solidFill>
          <a:ln>
            <a:noFill/>
          </a:ln>
          <a:effectLst/>
          <a:effectLst>
            <a:outerShdw blurRad="60000" dist="25000" dir="5400000" rotWithShape="0">
              <a:srgbClr val="9AA6B2">
                <a:alpha val="5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ounded Rectangle 36"/>
          <p:cNvSpPr/>
          <p:nvPr/>
        </p:nvSpPr>
        <p:spPr>
          <a:xfrm>
            <a:off x="6172200" y="4261104"/>
            <a:ext cx="822960" cy="749808"/>
          </a:xfrm>
          <a:prstGeom prst="roundRect">
            <a:avLst/>
          </a:prstGeom>
          <a:solidFill>
            <a:srgbClr val="14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6172200" y="4261104"/>
            <a:ext cx="822960" cy="7498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2200" b="1" i="0">
                <a:solidFill>
                  <a:srgbClr val="C9A227"/>
                </a:solidFill>
                <a:latin typeface="Microsoft YaHei"/>
                <a:ea typeface="Microsoft YaHei"/>
              </a:rPr>
              <a:t>08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7178040" y="4261104"/>
            <a:ext cx="4297680" cy="7498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500" b="1" i="0">
                <a:solidFill>
                  <a:srgbClr val="142A4A"/>
                </a:solidFill>
                <a:latin typeface="Microsoft YaHei"/>
                <a:ea typeface="Microsoft YaHei"/>
              </a:rPr>
              <a:t>分工、协作与商业模式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640080" y="5193792"/>
            <a:ext cx="5394960" cy="749808"/>
          </a:xfrm>
          <a:prstGeom prst="roundRect">
            <a:avLst/>
          </a:prstGeom>
          <a:solidFill>
            <a:srgbClr val="F6F8FB"/>
          </a:solidFill>
          <a:ln>
            <a:noFill/>
          </a:ln>
          <a:effectLst/>
          <a:effectLst>
            <a:outerShdw blurRad="60000" dist="25000" dir="5400000" rotWithShape="0">
              <a:srgbClr val="9AA6B2">
                <a:alpha val="5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ounded Rectangle 40"/>
          <p:cNvSpPr/>
          <p:nvPr/>
        </p:nvSpPr>
        <p:spPr>
          <a:xfrm>
            <a:off x="640080" y="5193792"/>
            <a:ext cx="822960" cy="749808"/>
          </a:xfrm>
          <a:prstGeom prst="roundRect">
            <a:avLst/>
          </a:prstGeom>
          <a:solidFill>
            <a:srgbClr val="14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640080" y="5193792"/>
            <a:ext cx="822960" cy="7498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2200" b="1" i="0">
                <a:solidFill>
                  <a:srgbClr val="C9A227"/>
                </a:solidFill>
                <a:latin typeface="Microsoft YaHei"/>
                <a:ea typeface="Microsoft YaHei"/>
              </a:rPr>
              <a:t>09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645920" y="5193792"/>
            <a:ext cx="4297680" cy="7498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500" b="1" i="0">
                <a:solidFill>
                  <a:srgbClr val="142A4A"/>
                </a:solidFill>
                <a:latin typeface="Microsoft YaHei"/>
                <a:ea typeface="Microsoft YaHei"/>
              </a:rPr>
              <a:t>关键问题与风险管控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6172200" y="5193792"/>
            <a:ext cx="5394960" cy="749808"/>
          </a:xfrm>
          <a:prstGeom prst="roundRect">
            <a:avLst/>
          </a:prstGeom>
          <a:solidFill>
            <a:srgbClr val="F6F8FB"/>
          </a:solidFill>
          <a:ln>
            <a:noFill/>
          </a:ln>
          <a:effectLst/>
          <a:effectLst>
            <a:outerShdw blurRad="60000" dist="25000" dir="5400000" rotWithShape="0">
              <a:srgbClr val="9AA6B2">
                <a:alpha val="5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ounded Rectangle 44"/>
          <p:cNvSpPr/>
          <p:nvPr/>
        </p:nvSpPr>
        <p:spPr>
          <a:xfrm>
            <a:off x="6172200" y="5193792"/>
            <a:ext cx="822960" cy="749808"/>
          </a:xfrm>
          <a:prstGeom prst="roundRect">
            <a:avLst/>
          </a:prstGeom>
          <a:solidFill>
            <a:srgbClr val="14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6172200" y="5193792"/>
            <a:ext cx="822960" cy="7498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2200" b="1" i="0">
                <a:solidFill>
                  <a:srgbClr val="C9A227"/>
                </a:solidFill>
                <a:latin typeface="Microsoft YaHei"/>
                <a:ea typeface="Microsoft YaHei"/>
              </a:rPr>
              <a:t>10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7178040" y="5193792"/>
            <a:ext cx="4297680" cy="7498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500" b="1" i="0">
                <a:solidFill>
                  <a:srgbClr val="142A4A"/>
                </a:solidFill>
                <a:latin typeface="Microsoft YaHei"/>
                <a:ea typeface="Microsoft YaHei"/>
              </a:rPr>
              <a:t>三个月过渡期行动计划与下一步</a:t>
            </a:r>
          </a:p>
        </p:txBody>
      </p:sp>
      <p:sp>
        <p:nvSpPr>
          <p:cNvPr id="48" name="Rectangle 47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14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457200" y="6501384"/>
            <a:ext cx="8229600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900" b="0" i="0">
                <a:solidFill>
                  <a:srgbClr val="E7D38E"/>
                </a:solidFill>
                <a:latin typeface="Microsoft YaHei"/>
                <a:ea typeface="Microsoft YaHei"/>
              </a:rPr>
              <a:t>复旦大学住房政策研究中心  ×  杨浦区科技企业联合会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8076895" y="6501384"/>
            <a:ext cx="3657600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900" b="0" i="0">
                <a:solidFill>
                  <a:srgbClr val="FFFFFF"/>
                </a:solidFill>
                <a:latin typeface="Microsoft YaHei"/>
                <a:ea typeface="Microsoft YaHei"/>
              </a:rPr>
              <a:t>目录    |    01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14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57200" y="274320"/>
            <a:ext cx="109728" cy="566928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13232" y="237744"/>
            <a:ext cx="10515600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0" i="0">
                <a:solidFill>
                  <a:srgbClr val="E7D38E"/>
                </a:solidFill>
                <a:latin typeface="Microsoft YaHei"/>
                <a:ea typeface="Microsoft YaHei"/>
              </a:rPr>
              <a:t>01  BACKGROUND &amp; OPPORTUNITY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13232" y="530352"/>
            <a:ext cx="10698480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2500" b="1" i="0">
                <a:solidFill>
                  <a:srgbClr val="FFFFFF"/>
                </a:solidFill>
                <a:latin typeface="Microsoft YaHei"/>
                <a:ea typeface="Microsoft YaHei"/>
              </a:rPr>
              <a:t>合作背景与机遇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1508760"/>
            <a:ext cx="5486400" cy="2240280"/>
          </a:xfrm>
          <a:prstGeom prst="roundRect">
            <a:avLst/>
          </a:prstGeom>
          <a:solidFill>
            <a:srgbClr val="F6F8FB"/>
          </a:solidFill>
          <a:ln>
            <a:noFill/>
          </a:ln>
          <a:effectLst/>
          <a:effectLst>
            <a:outerShdw blurRad="60000" dist="25000" dir="5400000" rotWithShape="0">
              <a:srgbClr val="9AA6B2">
                <a:alpha val="5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548640" y="1508760"/>
            <a:ext cx="100584" cy="2240280"/>
          </a:xfrm>
          <a:prstGeom prst="round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04672" y="1655064"/>
            <a:ext cx="5029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400" b="1" i="0">
                <a:solidFill>
                  <a:srgbClr val="C9A227"/>
                </a:solidFill>
                <a:latin typeface="Microsoft YaHei"/>
                <a:ea typeface="Microsoft YaHei"/>
              </a:rPr>
              <a:t>◆  </a:t>
            </a:r>
            <a:r>
              <a:rPr sz="1450" b="1" i="0">
                <a:solidFill>
                  <a:srgbClr val="142A4A"/>
                </a:solidFill>
                <a:latin typeface="Microsoft YaHei"/>
                <a:ea typeface="Microsoft YaHei"/>
              </a:rPr>
              <a:t>夏春先生 · 稀缺财经 IP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04672" y="2075688"/>
            <a:ext cx="5029200" cy="1600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600"/>
              </a:spcAft>
            </a:pPr>
            <a:r>
              <a:rPr sz="1150" b="0" i="0">
                <a:solidFill>
                  <a:srgbClr val="5B6470"/>
                </a:solidFill>
                <a:latin typeface="Microsoft YaHei"/>
                <a:ea typeface="Microsoft YaHei"/>
              </a:rPr>
              <a:t>知名宏观经济学家，上善资本首席经济学家、中国首席经济学家论坛理事；北大本硕、明尼苏达经济学博士，曾任港大金融系教授。个人 IP“夏春财经智识”覆盖公众号 / 视频号 / B 站，内容含金量高、受众精准。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17920" y="1508760"/>
            <a:ext cx="5486400" cy="2240280"/>
          </a:xfrm>
          <a:prstGeom prst="roundRect">
            <a:avLst/>
          </a:prstGeom>
          <a:solidFill>
            <a:srgbClr val="F6F8FB"/>
          </a:solidFill>
          <a:ln>
            <a:noFill/>
          </a:ln>
          <a:effectLst/>
          <a:effectLst>
            <a:outerShdw blurRad="60000" dist="25000" dir="5400000" rotWithShape="0">
              <a:srgbClr val="9AA6B2">
                <a:alpha val="5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6217920" y="1508760"/>
            <a:ext cx="100584" cy="2240280"/>
          </a:xfrm>
          <a:prstGeom prst="roundRect">
            <a:avLst/>
          </a:prstGeom>
          <a:solidFill>
            <a:srgbClr val="2E7D8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73952" y="1655064"/>
            <a:ext cx="5029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400" b="1" i="0">
                <a:solidFill>
                  <a:srgbClr val="2E7D83"/>
                </a:solidFill>
                <a:latin typeface="Microsoft YaHei"/>
                <a:ea typeface="Microsoft YaHei"/>
              </a:rPr>
              <a:t>◆  </a:t>
            </a:r>
            <a:r>
              <a:rPr sz="1450" b="1" i="0">
                <a:solidFill>
                  <a:srgbClr val="142A4A"/>
                </a:solidFill>
                <a:latin typeface="Microsoft YaHei"/>
                <a:ea typeface="Microsoft YaHei"/>
              </a:rPr>
              <a:t>内容矩阵高度契合高净值需求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73952" y="2075688"/>
            <a:ext cx="5029200" cy="1600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600"/>
              </a:spcAft>
            </a:pPr>
            <a:r>
              <a:rPr sz="1150" b="0" i="0">
                <a:solidFill>
                  <a:srgbClr val="5B6470"/>
                </a:solidFill>
                <a:latin typeface="Microsoft YaHei"/>
                <a:ea typeface="Microsoft YaHei"/>
              </a:rPr>
              <a:t>聚焦全球宏观、资产配置、投资策略与行为金融：美联储与美债美股、黄金、香港虚拟资产 / RWA、中国经济“韧性”与 K 型分化，正是长三角高净值与科创人群最关注的议题。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48640" y="3931920"/>
            <a:ext cx="5486400" cy="2240280"/>
          </a:xfrm>
          <a:prstGeom prst="roundRect">
            <a:avLst/>
          </a:prstGeom>
          <a:solidFill>
            <a:srgbClr val="F6F8FB"/>
          </a:solidFill>
          <a:ln>
            <a:noFill/>
          </a:ln>
          <a:effectLst/>
          <a:effectLst>
            <a:outerShdw blurRad="60000" dist="25000" dir="5400000" rotWithShape="0">
              <a:srgbClr val="9AA6B2">
                <a:alpha val="5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548640" y="3931920"/>
            <a:ext cx="100584" cy="2240280"/>
          </a:xfrm>
          <a:prstGeom prst="round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04672" y="4078224"/>
            <a:ext cx="5029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400" b="1" i="0">
                <a:solidFill>
                  <a:srgbClr val="1F3A5F"/>
                </a:solidFill>
                <a:latin typeface="Microsoft YaHei"/>
                <a:ea typeface="Microsoft YaHei"/>
              </a:rPr>
              <a:t>◆  </a:t>
            </a:r>
            <a:r>
              <a:rPr sz="1450" b="1" i="0">
                <a:solidFill>
                  <a:srgbClr val="142A4A"/>
                </a:solidFill>
                <a:latin typeface="Microsoft YaHei"/>
                <a:ea typeface="Microsoft YaHei"/>
              </a:rPr>
              <a:t>长三角：增量最大的落地市场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04672" y="4498848"/>
            <a:ext cx="5029200" cy="1600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600"/>
              </a:spcAft>
            </a:pPr>
            <a:r>
              <a:rPr sz="1150" b="0" i="0">
                <a:solidFill>
                  <a:srgbClr val="5B6470"/>
                </a:solidFill>
                <a:latin typeface="Microsoft YaHei"/>
                <a:ea typeface="Microsoft YaHei"/>
              </a:rPr>
              <a:t>长三角高净值人群与产业资本高度密集，科创企业集群成熟。夏春线上影响力强、但区域线下承接与机构化运营长期缺位——这正是本次合作的价值缺口。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217920" y="3931920"/>
            <a:ext cx="5486400" cy="2240280"/>
          </a:xfrm>
          <a:prstGeom prst="roundRect">
            <a:avLst/>
          </a:prstGeom>
          <a:solidFill>
            <a:srgbClr val="F6F8FB"/>
          </a:solidFill>
          <a:ln>
            <a:noFill/>
          </a:ln>
          <a:effectLst/>
          <a:effectLst>
            <a:outerShdw blurRad="60000" dist="25000" dir="5400000" rotWithShape="0">
              <a:srgbClr val="9AA6B2">
                <a:alpha val="5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6217920" y="3931920"/>
            <a:ext cx="100584" cy="2240280"/>
          </a:xfrm>
          <a:prstGeom prst="round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73952" y="4078224"/>
            <a:ext cx="5029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400" b="1" i="0">
                <a:solidFill>
                  <a:srgbClr val="C9A227"/>
                </a:solidFill>
                <a:latin typeface="Microsoft YaHei"/>
                <a:ea typeface="Microsoft YaHei"/>
              </a:rPr>
              <a:t>◆  </a:t>
            </a:r>
            <a:r>
              <a:rPr sz="1450" b="1" i="0">
                <a:solidFill>
                  <a:srgbClr val="142A4A"/>
                </a:solidFill>
                <a:latin typeface="Microsoft YaHei"/>
                <a:ea typeface="Microsoft YaHei"/>
              </a:rPr>
              <a:t>窗口已现（源自双方沟通纪要）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73952" y="4498848"/>
            <a:ext cx="5029200" cy="1600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600"/>
              </a:spcAft>
            </a:pPr>
            <a:r>
              <a:rPr sz="1150" b="0" i="0">
                <a:solidFill>
                  <a:srgbClr val="5B6470"/>
                </a:solidFill>
                <a:latin typeface="Microsoft YaHei"/>
                <a:ea typeface="Microsoft YaHei"/>
              </a:rPr>
              <a:t>会议纪要已明确香港游学窗口期（中东资金、RWA 虚拟货币）、科技企业参访（AI / 科技前沿）等方向，且看重复旦 / 科委背书突破企业与高校资源——与我方禀赋精准匹配。</a:t>
            </a:r>
          </a:p>
        </p:txBody>
      </p:sp>
      <p:sp>
        <p:nvSpPr>
          <p:cNvPr id="24" name="Rectangle 23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14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57200" y="6501384"/>
            <a:ext cx="8229600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900" b="0" i="0">
                <a:solidFill>
                  <a:srgbClr val="E7D38E"/>
                </a:solidFill>
                <a:latin typeface="Microsoft YaHei"/>
                <a:ea typeface="Microsoft YaHei"/>
              </a:rPr>
              <a:t>复旦大学住房政策研究中心  ×  杨浦区科技企业联合会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076895" y="6501384"/>
            <a:ext cx="3657600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900" b="0" i="0">
                <a:solidFill>
                  <a:srgbClr val="FFFFFF"/>
                </a:solidFill>
                <a:latin typeface="Microsoft YaHei"/>
                <a:ea typeface="Microsoft YaHei"/>
              </a:rPr>
              <a:t>合作背景    |    02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14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57200" y="274320"/>
            <a:ext cx="109728" cy="566928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13232" y="237744"/>
            <a:ext cx="10515600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0" i="0">
                <a:solidFill>
                  <a:srgbClr val="E7D38E"/>
                </a:solidFill>
                <a:latin typeface="Microsoft YaHei"/>
                <a:ea typeface="Microsoft YaHei"/>
              </a:rPr>
              <a:t>02  KEY QUOTES &amp; INSIGHTS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13232" y="530352"/>
            <a:ext cx="10698480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2500" b="1" i="0">
                <a:solidFill>
                  <a:srgbClr val="FFFFFF"/>
                </a:solidFill>
                <a:latin typeface="Microsoft YaHei"/>
                <a:ea typeface="Microsoft YaHei"/>
              </a:rPr>
              <a:t>夏春先生核心观点（语录）解析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1298448"/>
            <a:ext cx="109728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100" b="0" i="1">
                <a:solidFill>
                  <a:srgbClr val="5B6470"/>
                </a:solidFill>
                <a:latin typeface="Microsoft YaHei"/>
                <a:ea typeface="Microsoft YaHei"/>
              </a:rPr>
              <a:t>说明：以下语录摘自夏春先生公开访谈 / 公众号 · 视频号内容，并结合双方沟通纪要，提炼为长三角合作切入点。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2920" y="1691640"/>
            <a:ext cx="3685032" cy="2286000"/>
          </a:xfrm>
          <a:prstGeom prst="roundRect">
            <a:avLst/>
          </a:prstGeom>
          <a:solidFill>
            <a:srgbClr val="F6F8FB"/>
          </a:solidFill>
          <a:ln>
            <a:noFill/>
          </a:ln>
          <a:effectLst/>
          <a:effectLst>
            <a:outerShdw blurRad="60000" dist="25000" dir="5400000" rotWithShape="0">
              <a:srgbClr val="9AA6B2">
                <a:alpha val="5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502920" y="1691640"/>
            <a:ext cx="3685032" cy="91440"/>
          </a:xfrm>
          <a:prstGeom prst="round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85800" y="1856232"/>
            <a:ext cx="3319272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600"/>
              </a:spcAft>
            </a:pPr>
            <a:r>
              <a:rPr sz="1030" b="1" i="0">
                <a:solidFill>
                  <a:srgbClr val="142A4A"/>
                </a:solidFill>
                <a:latin typeface="Microsoft YaHei"/>
                <a:ea typeface="Microsoft YaHei"/>
              </a:rPr>
              <a:t>“2025 年……我个人更倾向于悲观派……需要更加警惕股债市场可能出现的危险。”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5800" y="2770632"/>
            <a:ext cx="3319272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950" b="1" i="0">
                <a:solidFill>
                  <a:srgbClr val="2E7D83"/>
                </a:solidFill>
                <a:latin typeface="Microsoft YaHei"/>
                <a:ea typeface="Microsoft YaHei"/>
              </a:rPr>
              <a:t>解读：</a:t>
            </a:r>
            <a:r>
              <a:rPr sz="950" b="0" i="0">
                <a:solidFill>
                  <a:srgbClr val="5B6470"/>
                </a:solidFill>
                <a:latin typeface="Microsoft YaHei"/>
                <a:ea typeface="Microsoft YaHei"/>
              </a:rPr>
              <a:t>稳健、风控优先的判断，天然契合长三角地产 / 高净值客群的避险配置焦虑。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85800" y="3392424"/>
            <a:ext cx="3319272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969" b="1" i="0">
                <a:solidFill>
                  <a:srgbClr val="1F3A5F"/>
                </a:solidFill>
                <a:latin typeface="Microsoft YaHei"/>
                <a:ea typeface="Microsoft YaHei"/>
              </a:rPr>
              <a:t>→ 打造“不确定市场下的资产防御”主题闭门沙龙，作为区域首发爆款。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306824" y="1691640"/>
            <a:ext cx="3685032" cy="2286000"/>
          </a:xfrm>
          <a:prstGeom prst="roundRect">
            <a:avLst/>
          </a:prstGeom>
          <a:solidFill>
            <a:srgbClr val="F6F8FB"/>
          </a:solidFill>
          <a:ln>
            <a:noFill/>
          </a:ln>
          <a:effectLst/>
          <a:effectLst>
            <a:outerShdw blurRad="60000" dist="25000" dir="5400000" rotWithShape="0">
              <a:srgbClr val="9AA6B2">
                <a:alpha val="5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4306824" y="1691640"/>
            <a:ext cx="3685032" cy="91440"/>
          </a:xfrm>
          <a:prstGeom prst="round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489704" y="1856232"/>
            <a:ext cx="3319272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600"/>
              </a:spcAft>
            </a:pPr>
            <a:r>
              <a:rPr sz="1030" b="1" i="0">
                <a:solidFill>
                  <a:srgbClr val="142A4A"/>
                </a:solidFill>
                <a:latin typeface="Microsoft YaHei"/>
                <a:ea typeface="Microsoft YaHei"/>
              </a:rPr>
              <a:t>“每年年底做一张全年资产表现表：前一年涨幅大的减配、跌幅大的增配……做再平衡。”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489704" y="2770632"/>
            <a:ext cx="3319272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950" b="1" i="0">
                <a:solidFill>
                  <a:srgbClr val="2E7D83"/>
                </a:solidFill>
                <a:latin typeface="Microsoft YaHei"/>
                <a:ea typeface="Microsoft YaHei"/>
              </a:rPr>
              <a:t>解读：</a:t>
            </a:r>
            <a:r>
              <a:rPr sz="950" b="0" i="0">
                <a:solidFill>
                  <a:srgbClr val="5B6470"/>
                </a:solidFill>
                <a:latin typeface="Microsoft YaHei"/>
                <a:ea typeface="Microsoft YaHei"/>
              </a:rPr>
              <a:t>标志性、可复制的再平衡方法论，是可 IP 化的年度旗舰内容。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489704" y="3392424"/>
            <a:ext cx="3319272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969" b="1" i="0">
                <a:solidFill>
                  <a:srgbClr val="1F3A5F"/>
                </a:solidFill>
                <a:latin typeface="Microsoft YaHei"/>
                <a:ea typeface="Microsoft YaHei"/>
              </a:rPr>
              <a:t>→ 落地为长三角“年度资产配置盘点”旗舰活动 + 会员专栏，形成长期年度 IP。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110728" y="1691640"/>
            <a:ext cx="3685032" cy="2286000"/>
          </a:xfrm>
          <a:prstGeom prst="roundRect">
            <a:avLst/>
          </a:prstGeom>
          <a:solidFill>
            <a:srgbClr val="F6F8FB"/>
          </a:solidFill>
          <a:ln>
            <a:noFill/>
          </a:ln>
          <a:effectLst/>
          <a:effectLst>
            <a:outerShdw blurRad="60000" dist="25000" dir="5400000" rotWithShape="0">
              <a:srgbClr val="9AA6B2">
                <a:alpha val="5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8110728" y="1691640"/>
            <a:ext cx="3685032" cy="91440"/>
          </a:xfrm>
          <a:prstGeom prst="round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293608" y="1856232"/>
            <a:ext cx="3319272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600"/>
              </a:spcAft>
            </a:pPr>
            <a:r>
              <a:rPr sz="1030" b="1" i="0">
                <a:solidFill>
                  <a:srgbClr val="142A4A"/>
                </a:solidFill>
                <a:latin typeface="Microsoft YaHei"/>
                <a:ea typeface="Microsoft YaHei"/>
              </a:rPr>
              <a:t>“香港对虚拟资产的接受度……速度甚至比美国更快；现货 ETF 允许实物兑换，全球首创。”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293608" y="2770632"/>
            <a:ext cx="3319272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950" b="1" i="0">
                <a:solidFill>
                  <a:srgbClr val="2E7D83"/>
                </a:solidFill>
                <a:latin typeface="Microsoft YaHei"/>
                <a:ea typeface="Microsoft YaHei"/>
              </a:rPr>
              <a:t>解读：</a:t>
            </a:r>
            <a:r>
              <a:rPr sz="950" b="0" i="0">
                <a:solidFill>
                  <a:srgbClr val="5B6470"/>
                </a:solidFill>
                <a:latin typeface="Microsoft YaHei"/>
                <a:ea typeface="Microsoft YaHei"/>
              </a:rPr>
              <a:t>直接呼应纪要中的香港游学 RWA / 中东资金窗口期。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293608" y="3392424"/>
            <a:ext cx="3319272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969" b="1" i="0">
                <a:solidFill>
                  <a:srgbClr val="1F3A5F"/>
                </a:solidFill>
                <a:latin typeface="Microsoft YaHei"/>
                <a:ea typeface="Microsoft YaHei"/>
              </a:rPr>
              <a:t>→ 我方作为长三角组团总入口，承接“半天讲座 + 半天参访”香港游学。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02920" y="4114800"/>
            <a:ext cx="3685032" cy="2286000"/>
          </a:xfrm>
          <a:prstGeom prst="roundRect">
            <a:avLst/>
          </a:prstGeom>
          <a:solidFill>
            <a:srgbClr val="F6F8FB"/>
          </a:solidFill>
          <a:ln>
            <a:noFill/>
          </a:ln>
          <a:effectLst/>
          <a:effectLst>
            <a:outerShdw blurRad="60000" dist="25000" dir="5400000" rotWithShape="0">
              <a:srgbClr val="9AA6B2">
                <a:alpha val="5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502920" y="4114800"/>
            <a:ext cx="3685032" cy="91440"/>
          </a:xfrm>
          <a:prstGeom prst="round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85800" y="4279392"/>
            <a:ext cx="3319272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600"/>
              </a:spcAft>
            </a:pPr>
            <a:r>
              <a:rPr sz="1030" b="1" i="0">
                <a:solidFill>
                  <a:srgbClr val="142A4A"/>
                </a:solidFill>
                <a:latin typeface="Microsoft YaHei"/>
                <a:ea typeface="Microsoft YaHei"/>
              </a:rPr>
              <a:t>“可将加密资产视为美股七巨头之外的‘第八个巨头’，与美股相关性最高约 0.5。”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85800" y="5193792"/>
            <a:ext cx="3319272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950" b="1" i="0">
                <a:solidFill>
                  <a:srgbClr val="2E7D83"/>
                </a:solidFill>
                <a:latin typeface="Microsoft YaHei"/>
                <a:ea typeface="Microsoft YaHei"/>
              </a:rPr>
              <a:t>解读：</a:t>
            </a:r>
            <a:r>
              <a:rPr sz="950" b="0" i="0">
                <a:solidFill>
                  <a:srgbClr val="5B6470"/>
                </a:solidFill>
                <a:latin typeface="Microsoft YaHei"/>
                <a:ea typeface="Microsoft YaHei"/>
              </a:rPr>
              <a:t>行为金融 + 另类资产的独到洞见，精准命中科创 / 家办人群。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85800" y="5815584"/>
            <a:ext cx="3319272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969" b="1" i="0">
                <a:solidFill>
                  <a:srgbClr val="1F3A5F"/>
                </a:solidFill>
                <a:latin typeface="Microsoft YaHei"/>
                <a:ea typeface="Microsoft YaHei"/>
              </a:rPr>
              <a:t>→ 面向杨浦科创企业家、家族办公室的另类配置主题专场。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4306824" y="4114800"/>
            <a:ext cx="3685032" cy="2286000"/>
          </a:xfrm>
          <a:prstGeom prst="roundRect">
            <a:avLst/>
          </a:prstGeom>
          <a:solidFill>
            <a:srgbClr val="F6F8FB"/>
          </a:solidFill>
          <a:ln>
            <a:noFill/>
          </a:ln>
          <a:effectLst/>
          <a:effectLst>
            <a:outerShdw blurRad="60000" dist="25000" dir="5400000" rotWithShape="0">
              <a:srgbClr val="9AA6B2">
                <a:alpha val="5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ounded Rectangle 29"/>
          <p:cNvSpPr/>
          <p:nvPr/>
        </p:nvSpPr>
        <p:spPr>
          <a:xfrm>
            <a:off x="4306824" y="4114800"/>
            <a:ext cx="3685032" cy="91440"/>
          </a:xfrm>
          <a:prstGeom prst="round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4489704" y="4279392"/>
            <a:ext cx="3319272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600"/>
              </a:spcAft>
            </a:pPr>
            <a:r>
              <a:rPr sz="1030" b="1" i="0">
                <a:solidFill>
                  <a:srgbClr val="142A4A"/>
                </a:solidFill>
                <a:latin typeface="Microsoft YaHei"/>
                <a:ea typeface="Microsoft YaHei"/>
              </a:rPr>
              <a:t>“我们更注重多元化分散、风险控制，寻找相对估值偏低但属同一投资逻辑的资产。”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489704" y="5193792"/>
            <a:ext cx="3319272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950" b="1" i="0">
                <a:solidFill>
                  <a:srgbClr val="2E7D83"/>
                </a:solidFill>
                <a:latin typeface="Microsoft YaHei"/>
                <a:ea typeface="Microsoft YaHei"/>
              </a:rPr>
              <a:t>解读：</a:t>
            </a:r>
            <a:r>
              <a:rPr sz="950" b="0" i="0">
                <a:solidFill>
                  <a:srgbClr val="5B6470"/>
                </a:solidFill>
                <a:latin typeface="Microsoft YaHei"/>
                <a:ea typeface="Microsoft YaHei"/>
              </a:rPr>
              <a:t>可迁移至不动产再配置，与复旦住房政策研究中心研究方向互补。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489704" y="5815584"/>
            <a:ext cx="3319272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969" b="1" i="0">
                <a:solidFill>
                  <a:srgbClr val="1F3A5F"/>
                </a:solidFill>
                <a:latin typeface="Microsoft YaHei"/>
                <a:ea typeface="Microsoft YaHei"/>
              </a:rPr>
              <a:t>→ 联合复旦推出“住房 / 不动产 + 大类资产”跨界研讨与课题。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8110728" y="4114800"/>
            <a:ext cx="3685032" cy="2286000"/>
          </a:xfrm>
          <a:prstGeom prst="roundRect">
            <a:avLst/>
          </a:prstGeom>
          <a:solidFill>
            <a:srgbClr val="F6F8FB"/>
          </a:solidFill>
          <a:ln>
            <a:noFill/>
          </a:ln>
          <a:effectLst/>
          <a:effectLst>
            <a:outerShdw blurRad="60000" dist="25000" dir="5400000" rotWithShape="0">
              <a:srgbClr val="9AA6B2">
                <a:alpha val="5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ounded Rectangle 34"/>
          <p:cNvSpPr/>
          <p:nvPr/>
        </p:nvSpPr>
        <p:spPr>
          <a:xfrm>
            <a:off x="8110728" y="4114800"/>
            <a:ext cx="3685032" cy="91440"/>
          </a:xfrm>
          <a:prstGeom prst="round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8293608" y="4279392"/>
            <a:ext cx="3319272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600"/>
              </a:spcAft>
            </a:pPr>
            <a:r>
              <a:rPr sz="1030" b="1" i="0">
                <a:solidFill>
                  <a:srgbClr val="142A4A"/>
                </a:solidFill>
                <a:latin typeface="Microsoft YaHei"/>
                <a:ea typeface="Microsoft YaHei"/>
              </a:rPr>
              <a:t>（纪要）“香港游学需夏春博士全程参与；方案由夏春主导决策。”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293608" y="5193792"/>
            <a:ext cx="3319272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950" b="1" i="0">
                <a:solidFill>
                  <a:srgbClr val="2E7D83"/>
                </a:solidFill>
                <a:latin typeface="Microsoft YaHei"/>
                <a:ea typeface="Microsoft YaHei"/>
              </a:rPr>
              <a:t>解读：</a:t>
            </a:r>
            <a:r>
              <a:rPr sz="950" b="0" i="0">
                <a:solidFill>
                  <a:srgbClr val="5B6470"/>
                </a:solidFill>
                <a:latin typeface="Microsoft YaHei"/>
                <a:ea typeface="Microsoft YaHei"/>
              </a:rPr>
              <a:t>夏春个人时间是核心稀缺资源，须为其减负。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293608" y="5815584"/>
            <a:ext cx="3319272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969" b="1" i="0">
                <a:solidFill>
                  <a:srgbClr val="1F3A5F"/>
                </a:solidFill>
                <a:latin typeface="Microsoft YaHei"/>
                <a:ea typeface="Microsoft YaHei"/>
              </a:rPr>
              <a:t>→ 我方承接全部执行、排期与履约，并以录播 / 图文复用降低其时间投入。</a:t>
            </a:r>
          </a:p>
        </p:txBody>
      </p:sp>
      <p:sp>
        <p:nvSpPr>
          <p:cNvPr id="39" name="Rectangle 38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14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457200" y="6501384"/>
            <a:ext cx="8229600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900" b="0" i="0">
                <a:solidFill>
                  <a:srgbClr val="E7D38E"/>
                </a:solidFill>
                <a:latin typeface="Microsoft YaHei"/>
                <a:ea typeface="Microsoft YaHei"/>
              </a:rPr>
              <a:t>复旦大学住房政策研究中心  ×  杨浦区科技企业联合会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8076895" y="6501384"/>
            <a:ext cx="3657600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900" b="0" i="0">
                <a:solidFill>
                  <a:srgbClr val="FFFFFF"/>
                </a:solidFill>
                <a:latin typeface="Microsoft YaHei"/>
                <a:ea typeface="Microsoft YaHei"/>
              </a:rPr>
              <a:t>语录解析    |    03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14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57200" y="274320"/>
            <a:ext cx="109728" cy="566928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13232" y="237744"/>
            <a:ext cx="10515600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0" i="0">
                <a:solidFill>
                  <a:srgbClr val="E7D38E"/>
                </a:solidFill>
                <a:latin typeface="Microsoft YaHei"/>
                <a:ea typeface="Microsoft YaHei"/>
              </a:rPr>
              <a:t>03  OUR INSTITUTIONS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13232" y="530352"/>
            <a:ext cx="10698480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2500" b="1" i="0">
                <a:solidFill>
                  <a:srgbClr val="FFFFFF"/>
                </a:solidFill>
                <a:latin typeface="Microsoft YaHei"/>
                <a:ea typeface="Microsoft YaHei"/>
              </a:rPr>
              <a:t>我方机构与资源禀赋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1554480"/>
            <a:ext cx="5394960" cy="3108960"/>
          </a:xfrm>
          <a:prstGeom prst="roundRect">
            <a:avLst/>
          </a:prstGeom>
          <a:solidFill>
            <a:srgbClr val="F6F8FB"/>
          </a:solidFill>
          <a:ln>
            <a:noFill/>
          </a:ln>
          <a:effectLst/>
          <a:effectLst>
            <a:outerShdw blurRad="60000" dist="25000" dir="5400000" rotWithShape="0">
              <a:srgbClr val="9AA6B2">
                <a:alpha val="5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548640" y="1554480"/>
            <a:ext cx="5394960" cy="658368"/>
          </a:xfrm>
          <a:prstGeom prst="roundRect">
            <a:avLst/>
          </a:prstGeom>
          <a:solidFill>
            <a:srgbClr val="14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77240" y="1554480"/>
            <a:ext cx="5029200" cy="6583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700" b="1" i="0">
                <a:solidFill>
                  <a:srgbClr val="FFFFFF"/>
                </a:solidFill>
                <a:latin typeface="Microsoft YaHei"/>
                <a:ea typeface="Microsoft YaHei"/>
              </a:rPr>
              <a:t>复旦大学住房政策研究中心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2377440"/>
            <a:ext cx="4846320" cy="2194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0" i="0">
                <a:solidFill>
                  <a:srgbClr val="5B6470"/>
                </a:solidFill>
                <a:latin typeface="Microsoft YaHei"/>
                <a:ea typeface="Microsoft YaHei"/>
              </a:rPr>
              <a:t>• 顶尖高校学术背书与公信力，提升活动 / 内容权威性</a:t>
            </a:r>
          </a:p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0" i="0">
                <a:solidFill>
                  <a:srgbClr val="5B6470"/>
                </a:solidFill>
                <a:latin typeface="Microsoft YaHei"/>
                <a:ea typeface="Microsoft YaHei"/>
              </a:rPr>
              <a:t>• 住房与不动产政策研究专长，与夏春大类资产配置互补</a:t>
            </a:r>
          </a:p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0" i="0">
                <a:solidFill>
                  <a:srgbClr val="5B6470"/>
                </a:solidFill>
                <a:latin typeface="Microsoft YaHei"/>
                <a:ea typeface="Microsoft YaHei"/>
              </a:rPr>
              <a:t>• 政、企、学高端资源网络与课题合作能力</a:t>
            </a:r>
          </a:p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0" i="0">
                <a:solidFill>
                  <a:srgbClr val="5B6470"/>
                </a:solidFill>
                <a:latin typeface="Microsoft YaHei"/>
                <a:ea typeface="Microsoft YaHei"/>
              </a:rPr>
              <a:t>• 承接高规格闭门研讨、政企对话与学术型内容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17920" y="1554480"/>
            <a:ext cx="5394960" cy="3108960"/>
          </a:xfrm>
          <a:prstGeom prst="roundRect">
            <a:avLst/>
          </a:prstGeom>
          <a:solidFill>
            <a:srgbClr val="F6F8FB"/>
          </a:solidFill>
          <a:ln>
            <a:noFill/>
          </a:ln>
          <a:effectLst/>
          <a:effectLst>
            <a:outerShdw blurRad="60000" dist="25000" dir="5400000" rotWithShape="0">
              <a:srgbClr val="9AA6B2">
                <a:alpha val="5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6217920" y="1554480"/>
            <a:ext cx="5394960" cy="658368"/>
          </a:xfrm>
          <a:prstGeom prst="roundRect">
            <a:avLst/>
          </a:prstGeom>
          <a:solidFill>
            <a:srgbClr val="2E7D8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46520" y="1554480"/>
            <a:ext cx="5029200" cy="6583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700" b="1" i="0">
                <a:solidFill>
                  <a:srgbClr val="FFFFFF"/>
                </a:solidFill>
                <a:latin typeface="Microsoft YaHei"/>
                <a:ea typeface="Microsoft YaHei"/>
              </a:rPr>
              <a:t>杨浦区科技企业联合会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92240" y="2377440"/>
            <a:ext cx="4846320" cy="2194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0" i="0">
                <a:solidFill>
                  <a:srgbClr val="5B6470"/>
                </a:solidFill>
                <a:latin typeface="Microsoft YaHei"/>
                <a:ea typeface="Microsoft YaHei"/>
              </a:rPr>
              <a:t>• 杨浦（大创智 / 在线新经济）科创企业集群与会员企业</a:t>
            </a:r>
          </a:p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0" i="0">
                <a:solidFill>
                  <a:srgbClr val="5B6470"/>
                </a:solidFill>
                <a:latin typeface="Microsoft YaHei"/>
                <a:ea typeface="Microsoft YaHei"/>
              </a:rPr>
              <a:t>• 科技企业参访的本地落地与组织能力（呼应纪要重点）</a:t>
            </a:r>
          </a:p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0" i="0">
                <a:solidFill>
                  <a:srgbClr val="5B6470"/>
                </a:solidFill>
                <a:latin typeface="Microsoft YaHei"/>
                <a:ea typeface="Microsoft YaHei"/>
              </a:rPr>
              <a:t>• 政府侧资源与产业对接，服务科创企业家客群</a:t>
            </a:r>
          </a:p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0" i="0">
                <a:solidFill>
                  <a:srgbClr val="5B6470"/>
                </a:solidFill>
                <a:latin typeface="Microsoft YaHei"/>
                <a:ea typeface="Microsoft YaHei"/>
              </a:rPr>
              <a:t>• 承接 AI / 科技前沿主题参访、企业内训与产业沙龙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48640" y="4892040"/>
            <a:ext cx="11064240" cy="1280160"/>
          </a:xfrm>
          <a:prstGeom prst="round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548640" y="4892040"/>
            <a:ext cx="118872" cy="1280160"/>
          </a:xfrm>
          <a:prstGeom prst="round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68680" y="5029200"/>
            <a:ext cx="10607040" cy="1051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</a:pPr>
            <a:r>
              <a:rPr sz="1500" b="1" i="0">
                <a:solidFill>
                  <a:srgbClr val="E7D38E"/>
                </a:solidFill>
                <a:latin typeface="Microsoft YaHei"/>
                <a:ea typeface="Microsoft YaHei"/>
              </a:rPr>
              <a:t>组合优势 = 承接夏春 IP 的最佳区域平台</a:t>
            </a: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0" i="0">
                <a:solidFill>
                  <a:srgbClr val="FFFFFF"/>
                </a:solidFill>
                <a:latin typeface="Microsoft YaHei"/>
                <a:ea typeface="Microsoft YaHei"/>
              </a:rPr>
              <a:t>学术公信力（复旦） + 科创产业落地（杨浦科委） + 长三角本地网络，一站式解决夏春线下承接与机构化运营缺口，</a:t>
            </a: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0" i="0">
                <a:solidFill>
                  <a:srgbClr val="FFFFFF"/>
                </a:solidFill>
                <a:latin typeface="Microsoft YaHei"/>
                <a:ea typeface="Microsoft YaHei"/>
              </a:rPr>
              <a:t>既能做高端内容与政企研讨，又能规模化落地企业参访、财富沙龙与出海游学。</a:t>
            </a:r>
          </a:p>
        </p:txBody>
      </p:sp>
      <p:sp>
        <p:nvSpPr>
          <p:cNvPr id="19" name="Rectangle 18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14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57200" y="6501384"/>
            <a:ext cx="8229600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900" b="0" i="0">
                <a:solidFill>
                  <a:srgbClr val="E7D38E"/>
                </a:solidFill>
                <a:latin typeface="Microsoft YaHei"/>
                <a:ea typeface="Microsoft YaHei"/>
              </a:rPr>
              <a:t>复旦大学住房政策研究中心  ×  杨浦区科技企业联合会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076895" y="6501384"/>
            <a:ext cx="3657600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900" b="0" i="0">
                <a:solidFill>
                  <a:srgbClr val="FFFFFF"/>
                </a:solidFill>
                <a:latin typeface="Microsoft YaHei"/>
                <a:ea typeface="Microsoft YaHei"/>
              </a:rPr>
              <a:t>机构资源    |    04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14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57200" y="274320"/>
            <a:ext cx="109728" cy="566928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13232" y="237744"/>
            <a:ext cx="10515600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0" i="0">
                <a:solidFill>
                  <a:srgbClr val="E7D38E"/>
                </a:solidFill>
                <a:latin typeface="Microsoft YaHei"/>
                <a:ea typeface="Microsoft YaHei"/>
              </a:rPr>
              <a:t>04  POSITIONING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13232" y="530352"/>
            <a:ext cx="10698480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2500" b="1" i="0">
                <a:solidFill>
                  <a:srgbClr val="FFFFFF"/>
                </a:solidFill>
                <a:latin typeface="Microsoft YaHei"/>
                <a:ea typeface="Microsoft YaHei"/>
              </a:rPr>
              <a:t>合作定位：长三角区域总代理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1463040"/>
            <a:ext cx="11064240" cy="1051560"/>
          </a:xfrm>
          <a:prstGeom prst="roundRect">
            <a:avLst/>
          </a:prstGeom>
          <a:solidFill>
            <a:srgbClr val="142A4A"/>
          </a:solidFill>
          <a:ln>
            <a:noFill/>
          </a:ln>
          <a:effectLst/>
          <a:effectLst>
            <a:outerShdw blurRad="60000" dist="25000" dir="5400000" rotWithShape="0">
              <a:srgbClr val="9AA6B2">
                <a:alpha val="5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68680" y="1463040"/>
            <a:ext cx="10424160" cy="10515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700" b="1" i="0">
                <a:solidFill>
                  <a:srgbClr val="FFFFFF"/>
                </a:solidFill>
                <a:latin typeface="Microsoft YaHei"/>
                <a:ea typeface="Microsoft YaHei"/>
              </a:rPr>
              <a:t>核心目标：成为“夏春财经智识”在长三角区域相关服务的独家 / 优先总代理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48640" y="2697480"/>
            <a:ext cx="11064240" cy="1051560"/>
          </a:xfrm>
          <a:prstGeom prst="roundRect">
            <a:avLst/>
          </a:prstGeom>
          <a:solidFill>
            <a:srgbClr val="F6F8FB"/>
          </a:solidFill>
          <a:ln>
            <a:noFill/>
          </a:ln>
          <a:effectLst/>
          <a:effectLst>
            <a:outerShdw blurRad="60000" dist="25000" dir="5400000" rotWithShape="0">
              <a:srgbClr val="9AA6B2">
                <a:alpha val="5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548640" y="2697480"/>
            <a:ext cx="2103120" cy="1051560"/>
          </a:xfrm>
          <a:prstGeom prst="round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48640" y="2697480"/>
            <a:ext cx="2103120" cy="10515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500" b="1" i="0">
                <a:solidFill>
                  <a:srgbClr val="FFFFFF"/>
                </a:solidFill>
                <a:latin typeface="Microsoft YaHei"/>
                <a:ea typeface="Microsoft YaHei"/>
              </a:rPr>
              <a:t>服务范围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880360" y="2697480"/>
            <a:ext cx="8503920" cy="10515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0" i="0">
                <a:solidFill>
                  <a:srgbClr val="5B6470"/>
                </a:solidFill>
                <a:latin typeface="Microsoft YaHei"/>
                <a:ea typeface="Microsoft YaHei"/>
              </a:rPr>
              <a:t>区域线下活动、闭门会 / 研讨、科技企业参访、财富与资产配置沙龙、企业内训、内容本地化与私域运营，以及香港 / 出海游学的长三角组团总入口。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48640" y="3913632"/>
            <a:ext cx="11064240" cy="1051560"/>
          </a:xfrm>
          <a:prstGeom prst="roundRect">
            <a:avLst/>
          </a:prstGeom>
          <a:solidFill>
            <a:srgbClr val="F6F8FB"/>
          </a:solidFill>
          <a:ln>
            <a:noFill/>
          </a:ln>
          <a:effectLst/>
          <a:effectLst>
            <a:outerShdw blurRad="60000" dist="25000" dir="5400000" rotWithShape="0">
              <a:srgbClr val="9AA6B2">
                <a:alpha val="5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548640" y="3913632"/>
            <a:ext cx="2103120" cy="1051560"/>
          </a:xfrm>
          <a:prstGeom prst="roundRect">
            <a:avLst/>
          </a:prstGeom>
          <a:solidFill>
            <a:srgbClr val="2E7D8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48640" y="3913632"/>
            <a:ext cx="2103120" cy="10515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500" b="1" i="0">
                <a:solidFill>
                  <a:srgbClr val="FFFFFF"/>
                </a:solidFill>
                <a:latin typeface="Microsoft YaHei"/>
                <a:ea typeface="Microsoft YaHei"/>
              </a:rPr>
              <a:t>授权模式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880360" y="3913632"/>
            <a:ext cx="8503920" cy="10515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0" i="0">
                <a:solidFill>
                  <a:srgbClr val="5B6470"/>
                </a:solidFill>
                <a:latin typeface="Microsoft YaHei"/>
                <a:ea typeface="Microsoft YaHei"/>
              </a:rPr>
              <a:t>区域独家授权 + 品牌联合（“夏春财经智识 · 长三角”）+ 收益分成；夏春侧保留 IP 与内容所有权，我方获区域运营与获客授权。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48640" y="5129784"/>
            <a:ext cx="11064240" cy="1051560"/>
          </a:xfrm>
          <a:prstGeom prst="roundRect">
            <a:avLst/>
          </a:prstGeom>
          <a:solidFill>
            <a:srgbClr val="F6F8FB"/>
          </a:solidFill>
          <a:ln>
            <a:noFill/>
          </a:ln>
          <a:effectLst/>
          <a:effectLst>
            <a:outerShdw blurRad="60000" dist="25000" dir="5400000" rotWithShape="0">
              <a:srgbClr val="9AA6B2">
                <a:alpha val="5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548640" y="5129784"/>
            <a:ext cx="2103120" cy="1051560"/>
          </a:xfrm>
          <a:prstGeom prst="round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48640" y="5129784"/>
            <a:ext cx="2103120" cy="10515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500" b="1" i="0">
                <a:solidFill>
                  <a:srgbClr val="FFFFFF"/>
                </a:solidFill>
                <a:latin typeface="Microsoft YaHei"/>
                <a:ea typeface="Microsoft YaHei"/>
              </a:rPr>
              <a:t>代理价值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880360" y="5129784"/>
            <a:ext cx="8503920" cy="10515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0" i="0">
                <a:solidFill>
                  <a:srgbClr val="5B6470"/>
                </a:solidFill>
                <a:latin typeface="Microsoft YaHei"/>
                <a:ea typeface="Microsoft YaHei"/>
              </a:rPr>
              <a:t>夏春一个区域出口、一套结算、一个履约团队；把稀缺的个人时间从繁杂区域事务中解放，专注内容与关键出席。</a:t>
            </a:r>
          </a:p>
        </p:txBody>
      </p:sp>
      <p:sp>
        <p:nvSpPr>
          <p:cNvPr id="22" name="Rectangle 21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14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57200" y="6501384"/>
            <a:ext cx="8229600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900" b="0" i="0">
                <a:solidFill>
                  <a:srgbClr val="E7D38E"/>
                </a:solidFill>
                <a:latin typeface="Microsoft YaHei"/>
                <a:ea typeface="Microsoft YaHei"/>
              </a:rPr>
              <a:t>复旦大学住房政策研究中心  ×  杨浦区科技企业联合会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076895" y="6501384"/>
            <a:ext cx="3657600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900" b="0" i="0">
                <a:solidFill>
                  <a:srgbClr val="FFFFFF"/>
                </a:solidFill>
                <a:latin typeface="Microsoft YaHei"/>
                <a:ea typeface="Microsoft YaHei"/>
              </a:rPr>
              <a:t>合作定位    |    05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14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57200" y="274320"/>
            <a:ext cx="109728" cy="566928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13232" y="237744"/>
            <a:ext cx="10515600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0" i="0">
                <a:solidFill>
                  <a:srgbClr val="E7D38E"/>
                </a:solidFill>
                <a:latin typeface="Microsoft YaHei"/>
                <a:ea typeface="Microsoft YaHei"/>
              </a:rPr>
              <a:t>05  DIFFERENTIATION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13232" y="530352"/>
            <a:ext cx="10698480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2500" b="1" i="0">
                <a:solidFill>
                  <a:srgbClr val="FFFFFF"/>
                </a:solidFill>
                <a:latin typeface="Microsoft YaHei"/>
                <a:ea typeface="Microsoft YaHei"/>
              </a:rPr>
              <a:t>差异化定位：区别于夏春新老团队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1600200"/>
            <a:ext cx="1856231" cy="713232"/>
          </a:xfrm>
          <a:prstGeom prst="rect">
            <a:avLst/>
          </a:prstGeom>
          <a:solidFill>
            <a:srgbClr val="142A4A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58368" y="1600200"/>
            <a:ext cx="1636775" cy="7132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150" b="1" i="0">
                <a:solidFill>
                  <a:srgbClr val="FFFFFF"/>
                </a:solidFill>
                <a:latin typeface="Microsoft YaHei"/>
                <a:ea typeface="Microsoft YaHei"/>
              </a:rPr>
              <a:t>对比维度</a:t>
            </a:r>
          </a:p>
        </p:txBody>
      </p:sp>
      <p:sp>
        <p:nvSpPr>
          <p:cNvPr id="10" name="Rectangle 9"/>
          <p:cNvSpPr/>
          <p:nvPr/>
        </p:nvSpPr>
        <p:spPr>
          <a:xfrm>
            <a:off x="548640" y="2313432"/>
            <a:ext cx="1856231" cy="713232"/>
          </a:xfrm>
          <a:prstGeom prst="rect">
            <a:avLst/>
          </a:prstGeom>
          <a:solidFill>
            <a:srgbClr val="F6F8FB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58368" y="2313432"/>
            <a:ext cx="1636775" cy="7132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100" b="1" i="0">
                <a:solidFill>
                  <a:srgbClr val="142A4A"/>
                </a:solidFill>
                <a:latin typeface="Microsoft YaHei"/>
                <a:ea typeface="Microsoft YaHei"/>
              </a:rPr>
              <a:t>核心侧重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48640" y="3026664"/>
            <a:ext cx="1856231" cy="713232"/>
          </a:xfrm>
          <a:prstGeom prst="rect">
            <a:avLst/>
          </a:prstGeom>
          <a:solidFill>
            <a:srgbClr val="EEF1F5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58368" y="3026664"/>
            <a:ext cx="1636775" cy="7132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100" b="1" i="0">
                <a:solidFill>
                  <a:srgbClr val="142A4A"/>
                </a:solidFill>
                <a:latin typeface="Microsoft YaHei"/>
                <a:ea typeface="Microsoft YaHei"/>
              </a:rPr>
              <a:t>目标客群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48640" y="3739896"/>
            <a:ext cx="1856231" cy="713232"/>
          </a:xfrm>
          <a:prstGeom prst="rect">
            <a:avLst/>
          </a:prstGeom>
          <a:solidFill>
            <a:srgbClr val="F6F8FB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58368" y="3739896"/>
            <a:ext cx="1636775" cy="7132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100" b="1" i="0">
                <a:solidFill>
                  <a:srgbClr val="142A4A"/>
                </a:solidFill>
                <a:latin typeface="Microsoft YaHei"/>
                <a:ea typeface="Microsoft YaHei"/>
              </a:rPr>
              <a:t>主要场景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48640" y="4453128"/>
            <a:ext cx="1856231" cy="713232"/>
          </a:xfrm>
          <a:prstGeom prst="rect">
            <a:avLst/>
          </a:prstGeom>
          <a:solidFill>
            <a:srgbClr val="EEF1F5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58368" y="4453128"/>
            <a:ext cx="1636775" cy="7132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100" b="1" i="0">
                <a:solidFill>
                  <a:srgbClr val="142A4A"/>
                </a:solidFill>
                <a:latin typeface="Microsoft YaHei"/>
                <a:ea typeface="Microsoft YaHei"/>
              </a:rPr>
              <a:t>背书资源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48640" y="5166360"/>
            <a:ext cx="1856231" cy="713232"/>
          </a:xfrm>
          <a:prstGeom prst="rect">
            <a:avLst/>
          </a:prstGeom>
          <a:solidFill>
            <a:srgbClr val="F6F8FB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58368" y="5166360"/>
            <a:ext cx="1636775" cy="7132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100" b="1" i="0">
                <a:solidFill>
                  <a:srgbClr val="142A4A"/>
                </a:solidFill>
                <a:latin typeface="Microsoft YaHei"/>
                <a:ea typeface="Microsoft YaHei"/>
              </a:rPr>
              <a:t>客户归属</a:t>
            </a:r>
          </a:p>
        </p:txBody>
      </p:sp>
      <p:sp>
        <p:nvSpPr>
          <p:cNvPr id="20" name="Rectangle 19"/>
          <p:cNvSpPr/>
          <p:nvPr/>
        </p:nvSpPr>
        <p:spPr>
          <a:xfrm>
            <a:off x="2404871" y="1600200"/>
            <a:ext cx="2743200" cy="713232"/>
          </a:xfrm>
          <a:prstGeom prst="rect">
            <a:avLst/>
          </a:prstGeom>
          <a:solidFill>
            <a:srgbClr val="142A4A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2514599" y="1600200"/>
            <a:ext cx="2523744" cy="7132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150" b="1" i="0">
                <a:solidFill>
                  <a:srgbClr val="FFFFFF"/>
                </a:solidFill>
                <a:latin typeface="Microsoft YaHei"/>
                <a:ea typeface="Microsoft YaHei"/>
              </a:rPr>
              <a:t>夏春 · 老团队</a:t>
            </a:r>
          </a:p>
        </p:txBody>
      </p:sp>
      <p:sp>
        <p:nvSpPr>
          <p:cNvPr id="22" name="Rectangle 21"/>
          <p:cNvSpPr/>
          <p:nvPr/>
        </p:nvSpPr>
        <p:spPr>
          <a:xfrm>
            <a:off x="2404871" y="2313432"/>
            <a:ext cx="2743200" cy="713232"/>
          </a:xfrm>
          <a:prstGeom prst="rect">
            <a:avLst/>
          </a:prstGeom>
          <a:solidFill>
            <a:srgbClr val="F6F8FB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2514599" y="2313432"/>
            <a:ext cx="2523744" cy="7132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100" b="0" i="0">
                <a:solidFill>
                  <a:srgbClr val="5B6470"/>
                </a:solidFill>
                <a:latin typeface="Microsoft YaHei"/>
                <a:ea typeface="Microsoft YaHei"/>
              </a:rPr>
              <a:t>内容生产、全国泛在影响</a:t>
            </a:r>
          </a:p>
        </p:txBody>
      </p:sp>
      <p:sp>
        <p:nvSpPr>
          <p:cNvPr id="24" name="Rectangle 23"/>
          <p:cNvSpPr/>
          <p:nvPr/>
        </p:nvSpPr>
        <p:spPr>
          <a:xfrm>
            <a:off x="2404871" y="3026664"/>
            <a:ext cx="2743200" cy="713232"/>
          </a:xfrm>
          <a:prstGeom prst="rect">
            <a:avLst/>
          </a:prstGeom>
          <a:solidFill>
            <a:srgbClr val="EEF1F5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2514599" y="3026664"/>
            <a:ext cx="2523744" cy="7132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100" b="0" i="0">
                <a:solidFill>
                  <a:srgbClr val="5B6470"/>
                </a:solidFill>
                <a:latin typeface="Microsoft YaHei"/>
                <a:ea typeface="Microsoft YaHei"/>
              </a:rPr>
              <a:t>全国粉丝 / 线上受众</a:t>
            </a:r>
          </a:p>
        </p:txBody>
      </p:sp>
      <p:sp>
        <p:nvSpPr>
          <p:cNvPr id="26" name="Rectangle 25"/>
          <p:cNvSpPr/>
          <p:nvPr/>
        </p:nvSpPr>
        <p:spPr>
          <a:xfrm>
            <a:off x="2404871" y="3739896"/>
            <a:ext cx="2743200" cy="713232"/>
          </a:xfrm>
          <a:prstGeom prst="rect">
            <a:avLst/>
          </a:prstGeom>
          <a:solidFill>
            <a:srgbClr val="F6F8FB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2514599" y="3739896"/>
            <a:ext cx="2523744" cy="7132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100" b="0" i="0">
                <a:solidFill>
                  <a:srgbClr val="5B6470"/>
                </a:solidFill>
                <a:latin typeface="Microsoft YaHei"/>
                <a:ea typeface="Microsoft YaHei"/>
              </a:rPr>
              <a:t>视频号 / 公众号内容</a:t>
            </a:r>
          </a:p>
        </p:txBody>
      </p:sp>
      <p:sp>
        <p:nvSpPr>
          <p:cNvPr id="28" name="Rectangle 27"/>
          <p:cNvSpPr/>
          <p:nvPr/>
        </p:nvSpPr>
        <p:spPr>
          <a:xfrm>
            <a:off x="2404871" y="4453128"/>
            <a:ext cx="2743200" cy="713232"/>
          </a:xfrm>
          <a:prstGeom prst="rect">
            <a:avLst/>
          </a:prstGeom>
          <a:solidFill>
            <a:srgbClr val="EEF1F5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2514599" y="4453128"/>
            <a:ext cx="2523744" cy="7132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100" b="0" i="0">
                <a:solidFill>
                  <a:srgbClr val="5B6470"/>
                </a:solidFill>
                <a:latin typeface="Microsoft YaHei"/>
                <a:ea typeface="Microsoft YaHei"/>
              </a:rPr>
              <a:t>夏春个人 IP</a:t>
            </a:r>
          </a:p>
        </p:txBody>
      </p:sp>
      <p:sp>
        <p:nvSpPr>
          <p:cNvPr id="30" name="Rectangle 29"/>
          <p:cNvSpPr/>
          <p:nvPr/>
        </p:nvSpPr>
        <p:spPr>
          <a:xfrm>
            <a:off x="2404871" y="5166360"/>
            <a:ext cx="2743200" cy="713232"/>
          </a:xfrm>
          <a:prstGeom prst="rect">
            <a:avLst/>
          </a:prstGeom>
          <a:solidFill>
            <a:srgbClr val="F6F8FB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2514599" y="5166360"/>
            <a:ext cx="2523744" cy="7132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100" b="0" i="0">
                <a:solidFill>
                  <a:srgbClr val="5B6470"/>
                </a:solidFill>
                <a:latin typeface="Microsoft YaHei"/>
                <a:ea typeface="Microsoft YaHei"/>
              </a:rPr>
              <a:t>既有存量</a:t>
            </a:r>
          </a:p>
        </p:txBody>
      </p:sp>
      <p:sp>
        <p:nvSpPr>
          <p:cNvPr id="32" name="Rectangle 31"/>
          <p:cNvSpPr/>
          <p:nvPr/>
        </p:nvSpPr>
        <p:spPr>
          <a:xfrm>
            <a:off x="5148071" y="1600200"/>
            <a:ext cx="2743200" cy="713232"/>
          </a:xfrm>
          <a:prstGeom prst="rect">
            <a:avLst/>
          </a:prstGeom>
          <a:solidFill>
            <a:srgbClr val="142A4A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5257799" y="1600200"/>
            <a:ext cx="2523744" cy="7132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150" b="1" i="0">
                <a:solidFill>
                  <a:srgbClr val="FFFFFF"/>
                </a:solidFill>
                <a:latin typeface="Microsoft YaHei"/>
                <a:ea typeface="Microsoft YaHei"/>
              </a:rPr>
              <a:t>夏春 · 新团队</a:t>
            </a:r>
          </a:p>
        </p:txBody>
      </p:sp>
      <p:sp>
        <p:nvSpPr>
          <p:cNvPr id="34" name="Rectangle 33"/>
          <p:cNvSpPr/>
          <p:nvPr/>
        </p:nvSpPr>
        <p:spPr>
          <a:xfrm>
            <a:off x="5148071" y="2313432"/>
            <a:ext cx="2743200" cy="713232"/>
          </a:xfrm>
          <a:prstGeom prst="rect">
            <a:avLst/>
          </a:prstGeom>
          <a:solidFill>
            <a:srgbClr val="F6F8FB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5257799" y="2313432"/>
            <a:ext cx="2523744" cy="7132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100" b="0" i="0">
                <a:solidFill>
                  <a:srgbClr val="5B6470"/>
                </a:solidFill>
                <a:latin typeface="Microsoft YaHei"/>
                <a:ea typeface="Microsoft YaHei"/>
              </a:rPr>
              <a:t>金融产品与新业务孵化</a:t>
            </a:r>
          </a:p>
        </p:txBody>
      </p:sp>
      <p:sp>
        <p:nvSpPr>
          <p:cNvPr id="36" name="Rectangle 35"/>
          <p:cNvSpPr/>
          <p:nvPr/>
        </p:nvSpPr>
        <p:spPr>
          <a:xfrm>
            <a:off x="5148071" y="3026664"/>
            <a:ext cx="2743200" cy="713232"/>
          </a:xfrm>
          <a:prstGeom prst="rect">
            <a:avLst/>
          </a:prstGeom>
          <a:solidFill>
            <a:srgbClr val="EEF1F5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5257799" y="3026664"/>
            <a:ext cx="2523744" cy="7132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100" b="0" i="0">
                <a:solidFill>
                  <a:srgbClr val="5B6470"/>
                </a:solidFill>
                <a:latin typeface="Microsoft YaHei"/>
                <a:ea typeface="Microsoft YaHei"/>
              </a:rPr>
              <a:t>金融端存量客户</a:t>
            </a:r>
          </a:p>
        </p:txBody>
      </p:sp>
      <p:sp>
        <p:nvSpPr>
          <p:cNvPr id="38" name="Rectangle 37"/>
          <p:cNvSpPr/>
          <p:nvPr/>
        </p:nvSpPr>
        <p:spPr>
          <a:xfrm>
            <a:off x="5148071" y="3739896"/>
            <a:ext cx="2743200" cy="713232"/>
          </a:xfrm>
          <a:prstGeom prst="rect">
            <a:avLst/>
          </a:prstGeom>
          <a:solidFill>
            <a:srgbClr val="F6F8FB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5257799" y="3739896"/>
            <a:ext cx="2523744" cy="7132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100" b="0" i="0">
                <a:solidFill>
                  <a:srgbClr val="5B6470"/>
                </a:solidFill>
                <a:latin typeface="Microsoft YaHei"/>
                <a:ea typeface="Microsoft YaHei"/>
              </a:rPr>
              <a:t>金融配置与产品</a:t>
            </a:r>
          </a:p>
        </p:txBody>
      </p:sp>
      <p:sp>
        <p:nvSpPr>
          <p:cNvPr id="40" name="Rectangle 39"/>
          <p:cNvSpPr/>
          <p:nvPr/>
        </p:nvSpPr>
        <p:spPr>
          <a:xfrm>
            <a:off x="5148071" y="4453128"/>
            <a:ext cx="2743200" cy="713232"/>
          </a:xfrm>
          <a:prstGeom prst="rect">
            <a:avLst/>
          </a:prstGeom>
          <a:solidFill>
            <a:srgbClr val="EEF1F5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5257799" y="4453128"/>
            <a:ext cx="2523744" cy="7132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100" b="0" i="0">
                <a:solidFill>
                  <a:srgbClr val="5B6470"/>
                </a:solidFill>
                <a:latin typeface="Microsoft YaHei"/>
                <a:ea typeface="Microsoft YaHei"/>
              </a:rPr>
              <a:t>资本 / 金融资源</a:t>
            </a:r>
          </a:p>
        </p:txBody>
      </p:sp>
      <p:sp>
        <p:nvSpPr>
          <p:cNvPr id="42" name="Rectangle 41"/>
          <p:cNvSpPr/>
          <p:nvPr/>
        </p:nvSpPr>
        <p:spPr>
          <a:xfrm>
            <a:off x="5148071" y="5166360"/>
            <a:ext cx="2743200" cy="713232"/>
          </a:xfrm>
          <a:prstGeom prst="rect">
            <a:avLst/>
          </a:prstGeom>
          <a:solidFill>
            <a:srgbClr val="F6F8FB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5257799" y="5166360"/>
            <a:ext cx="2523744" cy="7132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100" b="0" i="0">
                <a:solidFill>
                  <a:srgbClr val="5B6470"/>
                </a:solidFill>
                <a:latin typeface="Microsoft YaHei"/>
                <a:ea typeface="Microsoft YaHei"/>
              </a:rPr>
              <a:t>金融客户</a:t>
            </a:r>
          </a:p>
        </p:txBody>
      </p:sp>
      <p:sp>
        <p:nvSpPr>
          <p:cNvPr id="44" name="Rectangle 43"/>
          <p:cNvSpPr/>
          <p:nvPr/>
        </p:nvSpPr>
        <p:spPr>
          <a:xfrm>
            <a:off x="7891271" y="1600200"/>
            <a:ext cx="3749039" cy="713232"/>
          </a:xfrm>
          <a:prstGeom prst="rect">
            <a:avLst/>
          </a:prstGeom>
          <a:solidFill>
            <a:srgbClr val="142A4A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8000999" y="1600200"/>
            <a:ext cx="3529583" cy="7132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150" b="1" i="0">
                <a:solidFill>
                  <a:srgbClr val="FFFFFF"/>
                </a:solidFill>
                <a:latin typeface="Microsoft YaHei"/>
                <a:ea typeface="Microsoft YaHei"/>
              </a:rPr>
              <a:t>我方（长三角总代理）</a:t>
            </a:r>
          </a:p>
        </p:txBody>
      </p:sp>
      <p:sp>
        <p:nvSpPr>
          <p:cNvPr id="46" name="Rectangle 45"/>
          <p:cNvSpPr/>
          <p:nvPr/>
        </p:nvSpPr>
        <p:spPr>
          <a:xfrm>
            <a:off x="7891271" y="2313432"/>
            <a:ext cx="3749039" cy="713232"/>
          </a:xfrm>
          <a:prstGeom prst="rect">
            <a:avLst/>
          </a:prstGeom>
          <a:solidFill>
            <a:srgbClr val="EBE2C4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8000999" y="2313432"/>
            <a:ext cx="3529583" cy="7132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100" b="1" i="0">
                <a:solidFill>
                  <a:srgbClr val="142A4A"/>
                </a:solidFill>
                <a:latin typeface="Microsoft YaHei"/>
                <a:ea typeface="Microsoft YaHei"/>
              </a:rPr>
              <a:t>长三角区域落地与机构化承接</a:t>
            </a:r>
          </a:p>
        </p:txBody>
      </p:sp>
      <p:sp>
        <p:nvSpPr>
          <p:cNvPr id="48" name="Rectangle 47"/>
          <p:cNvSpPr/>
          <p:nvPr/>
        </p:nvSpPr>
        <p:spPr>
          <a:xfrm>
            <a:off x="7891271" y="3026664"/>
            <a:ext cx="3749039" cy="713232"/>
          </a:xfrm>
          <a:prstGeom prst="rect">
            <a:avLst/>
          </a:prstGeom>
          <a:solidFill>
            <a:srgbClr val="EBE2C4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8000999" y="3026664"/>
            <a:ext cx="3529583" cy="7132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100" b="1" i="0">
                <a:solidFill>
                  <a:srgbClr val="142A4A"/>
                </a:solidFill>
                <a:latin typeface="Microsoft YaHei"/>
                <a:ea typeface="Microsoft YaHei"/>
              </a:rPr>
              <a:t>长三角高净值 + 科创企业 + 高校 / 政府</a:t>
            </a:r>
          </a:p>
        </p:txBody>
      </p:sp>
      <p:sp>
        <p:nvSpPr>
          <p:cNvPr id="50" name="Rectangle 49"/>
          <p:cNvSpPr/>
          <p:nvPr/>
        </p:nvSpPr>
        <p:spPr>
          <a:xfrm>
            <a:off x="7891271" y="3739896"/>
            <a:ext cx="3749039" cy="713232"/>
          </a:xfrm>
          <a:prstGeom prst="rect">
            <a:avLst/>
          </a:prstGeom>
          <a:solidFill>
            <a:srgbClr val="EBE2C4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8000999" y="3739896"/>
            <a:ext cx="3529583" cy="7132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100" b="1" i="0">
                <a:solidFill>
                  <a:srgbClr val="142A4A"/>
                </a:solidFill>
                <a:latin typeface="Microsoft YaHei"/>
                <a:ea typeface="Microsoft YaHei"/>
              </a:rPr>
              <a:t>区域活动 / 参访 / 游学组团 / 内训</a:t>
            </a:r>
          </a:p>
        </p:txBody>
      </p:sp>
      <p:sp>
        <p:nvSpPr>
          <p:cNvPr id="52" name="Rectangle 51"/>
          <p:cNvSpPr/>
          <p:nvPr/>
        </p:nvSpPr>
        <p:spPr>
          <a:xfrm>
            <a:off x="7891271" y="4453128"/>
            <a:ext cx="3749039" cy="713232"/>
          </a:xfrm>
          <a:prstGeom prst="rect">
            <a:avLst/>
          </a:prstGeom>
          <a:solidFill>
            <a:srgbClr val="EBE2C4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8000999" y="4453128"/>
            <a:ext cx="3529583" cy="7132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100" b="1" i="0">
                <a:solidFill>
                  <a:srgbClr val="142A4A"/>
                </a:solidFill>
                <a:latin typeface="Microsoft YaHei"/>
                <a:ea typeface="Microsoft YaHei"/>
              </a:rPr>
              <a:t>复旦 + 杨浦科委 双背书 + 本地网络</a:t>
            </a:r>
          </a:p>
        </p:txBody>
      </p:sp>
      <p:sp>
        <p:nvSpPr>
          <p:cNvPr id="54" name="Rectangle 53"/>
          <p:cNvSpPr/>
          <p:nvPr/>
        </p:nvSpPr>
        <p:spPr>
          <a:xfrm>
            <a:off x="7891271" y="5166360"/>
            <a:ext cx="3749039" cy="713232"/>
          </a:xfrm>
          <a:prstGeom prst="rect">
            <a:avLst/>
          </a:prstGeom>
          <a:solidFill>
            <a:srgbClr val="EBE2C4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8000999" y="5166360"/>
            <a:ext cx="3529583" cy="7132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100" b="1" i="0">
                <a:solidFill>
                  <a:srgbClr val="142A4A"/>
                </a:solidFill>
                <a:latin typeface="Microsoft YaHei"/>
                <a:ea typeface="Microsoft YaHei"/>
              </a:rPr>
              <a:t>只做长三角新增增量，签不重叠条款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548640" y="6126480"/>
            <a:ext cx="109728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150" b="1" i="0">
                <a:solidFill>
                  <a:srgbClr val="1F3A5F"/>
                </a:solidFill>
                <a:latin typeface="Microsoft YaHei"/>
                <a:ea typeface="Microsoft YaHei"/>
              </a:rPr>
              <a:t>原则：不争夺存量、聚焦区域增量；边界清晰，与新老团队互补而非重叠（呼应纪要中“主导权 / 客户归属需界定”）。</a:t>
            </a:r>
          </a:p>
        </p:txBody>
      </p:sp>
      <p:sp>
        <p:nvSpPr>
          <p:cNvPr id="57" name="Rectangle 56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14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457200" y="6501384"/>
            <a:ext cx="8229600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900" b="0" i="0">
                <a:solidFill>
                  <a:srgbClr val="E7D38E"/>
                </a:solidFill>
                <a:latin typeface="Microsoft YaHei"/>
                <a:ea typeface="Microsoft YaHei"/>
              </a:rPr>
              <a:t>复旦大学住房政策研究中心  ×  杨浦区科技企业联合会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8076895" y="6501384"/>
            <a:ext cx="3657600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900" b="0" i="0">
                <a:solidFill>
                  <a:srgbClr val="FFFFFF"/>
                </a:solidFill>
                <a:latin typeface="Microsoft YaHei"/>
                <a:ea typeface="Microsoft YaHei"/>
              </a:rPr>
              <a:t>差异化    |    06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14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57200" y="274320"/>
            <a:ext cx="109728" cy="566928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13232" y="237744"/>
            <a:ext cx="10515600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0" i="0">
                <a:solidFill>
                  <a:srgbClr val="E7D38E"/>
                </a:solidFill>
                <a:latin typeface="Microsoft YaHei"/>
                <a:ea typeface="Microsoft YaHei"/>
              </a:rPr>
              <a:t>06  PHASING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13232" y="530352"/>
            <a:ext cx="10698480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2500" b="1" i="0">
                <a:solidFill>
                  <a:srgbClr val="FFFFFF"/>
                </a:solidFill>
                <a:latin typeface="Microsoft YaHei"/>
                <a:ea typeface="Microsoft YaHei"/>
              </a:rPr>
              <a:t>合作阶段：3 个月过渡 + 长期战略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1554480"/>
            <a:ext cx="5394960" cy="3566160"/>
          </a:xfrm>
          <a:prstGeom prst="roundRect">
            <a:avLst/>
          </a:prstGeom>
          <a:solidFill>
            <a:srgbClr val="F6F8FB"/>
          </a:solidFill>
          <a:ln>
            <a:noFill/>
          </a:ln>
          <a:effectLst/>
          <a:effectLst>
            <a:outerShdw blurRad="60000" dist="25000" dir="5400000" rotWithShape="0">
              <a:srgbClr val="9AA6B2">
                <a:alpha val="5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548640" y="1554480"/>
            <a:ext cx="5394960" cy="731520"/>
          </a:xfrm>
          <a:prstGeom prst="roundRect">
            <a:avLst/>
          </a:prstGeom>
          <a:solidFill>
            <a:srgbClr val="2E7D8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77240" y="1554480"/>
            <a:ext cx="5029200" cy="7315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500" b="1" i="0">
                <a:solidFill>
                  <a:srgbClr val="FFFFFF"/>
                </a:solidFill>
                <a:latin typeface="Microsoft YaHei"/>
                <a:ea typeface="Microsoft YaHei"/>
              </a:rPr>
              <a:t>短期过渡 · 约 3 个月（敏感性适配期）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2468880"/>
            <a:ext cx="4937760" cy="2560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0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0" i="0">
                <a:solidFill>
                  <a:srgbClr val="5B6470"/>
                </a:solidFill>
                <a:latin typeface="Microsoft YaHei"/>
                <a:ea typeface="Microsoft YaHei"/>
              </a:rPr>
              <a:t>• 小步验证：单场跑通盈利模型，控风险</a:t>
            </a:r>
          </a:p>
          <a:p>
            <a:pPr algn="l">
              <a:lnSpc>
                <a:spcPct val="150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0" i="0">
                <a:solidFill>
                  <a:srgbClr val="5B6470"/>
                </a:solidFill>
                <a:latin typeface="Microsoft YaHei"/>
                <a:ea typeface="Microsoft YaHei"/>
              </a:rPr>
              <a:t>• 建立信任与协作机制、明确对接人</a:t>
            </a:r>
          </a:p>
          <a:p>
            <a:pPr algn="l">
              <a:lnSpc>
                <a:spcPct val="150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0" i="0">
                <a:solidFill>
                  <a:srgbClr val="5B6470"/>
                </a:solidFill>
                <a:latin typeface="Microsoft YaHei"/>
                <a:ea typeface="Microsoft YaHei"/>
              </a:rPr>
              <a:t>• 界定客户归属与分润规则</a:t>
            </a:r>
          </a:p>
          <a:p>
            <a:pPr algn="l">
              <a:lnSpc>
                <a:spcPct val="150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0" i="0">
                <a:solidFill>
                  <a:srgbClr val="5B6470"/>
                </a:solidFill>
                <a:latin typeface="Microsoft YaHei"/>
                <a:ea typeface="Microsoft YaHei"/>
              </a:rPr>
              <a:t>• 签署合作备忘录（MOU）与区域授权草案</a:t>
            </a:r>
          </a:p>
          <a:p>
            <a:pPr algn="l">
              <a:lnSpc>
                <a:spcPct val="150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0" i="0">
                <a:solidFill>
                  <a:srgbClr val="5B6470"/>
                </a:solidFill>
                <a:latin typeface="Microsoft YaHei"/>
                <a:ea typeface="Microsoft YaHei"/>
              </a:rPr>
              <a:t>• 敏感事项分步试探，随时可回调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17920" y="1554480"/>
            <a:ext cx="5394960" cy="3566160"/>
          </a:xfrm>
          <a:prstGeom prst="roundRect">
            <a:avLst/>
          </a:prstGeom>
          <a:solidFill>
            <a:srgbClr val="F6F8FB"/>
          </a:solidFill>
          <a:ln>
            <a:noFill/>
          </a:ln>
          <a:effectLst/>
          <a:effectLst>
            <a:outerShdw blurRad="60000" dist="25000" dir="5400000" rotWithShape="0">
              <a:srgbClr val="9AA6B2">
                <a:alpha val="5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6217920" y="1554480"/>
            <a:ext cx="5394960" cy="731520"/>
          </a:xfrm>
          <a:prstGeom prst="roundRect">
            <a:avLst/>
          </a:prstGeom>
          <a:solidFill>
            <a:srgbClr val="14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46520" y="1554480"/>
            <a:ext cx="5029200" cy="7315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500" b="1" i="0">
                <a:solidFill>
                  <a:srgbClr val="FFFFFF"/>
                </a:solidFill>
                <a:latin typeface="Microsoft YaHei"/>
                <a:ea typeface="Microsoft YaHei"/>
              </a:rPr>
              <a:t>长期合作 · 深度战略协作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92240" y="2468880"/>
            <a:ext cx="4937760" cy="2560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0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0" i="0">
                <a:solidFill>
                  <a:srgbClr val="5B6470"/>
                </a:solidFill>
                <a:latin typeface="Microsoft YaHei"/>
                <a:ea typeface="Microsoft YaHei"/>
              </a:rPr>
              <a:t>• 区域独家总代理授权（多年期）</a:t>
            </a:r>
          </a:p>
          <a:p>
            <a:pPr algn="l">
              <a:lnSpc>
                <a:spcPct val="150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0" i="0">
                <a:solidFill>
                  <a:srgbClr val="5B6470"/>
                </a:solidFill>
                <a:latin typeface="Microsoft YaHei"/>
                <a:ea typeface="Microsoft YaHei"/>
              </a:rPr>
              <a:t>• 共建长三角会员生态与 CRM 系统</a:t>
            </a:r>
          </a:p>
          <a:p>
            <a:pPr algn="l">
              <a:lnSpc>
                <a:spcPct val="150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0" i="0">
                <a:solidFill>
                  <a:srgbClr val="5B6470"/>
                </a:solidFill>
                <a:latin typeface="Microsoft YaHei"/>
                <a:ea typeface="Microsoft YaHei"/>
              </a:rPr>
              <a:t>• 年度活动 / 内容 / 游学 IP 化与品牌联合</a:t>
            </a:r>
          </a:p>
          <a:p>
            <a:pPr algn="l">
              <a:lnSpc>
                <a:spcPct val="150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0" i="0">
                <a:solidFill>
                  <a:srgbClr val="5B6470"/>
                </a:solidFill>
                <a:latin typeface="Microsoft YaHei"/>
                <a:ea typeface="Microsoft YaHei"/>
              </a:rPr>
              <a:t>• 收益与数据共享、共同扩张</a:t>
            </a:r>
          </a:p>
          <a:p>
            <a:pPr algn="l">
              <a:lnSpc>
                <a:spcPct val="150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0" i="0">
                <a:solidFill>
                  <a:srgbClr val="5B6470"/>
                </a:solidFill>
                <a:latin typeface="Microsoft YaHei"/>
                <a:ea typeface="Microsoft YaHei"/>
              </a:rPr>
              <a:t>• 由点及面复制至长三角多城市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48640" y="5349240"/>
            <a:ext cx="11064240" cy="822960"/>
          </a:xfrm>
          <a:prstGeom prst="round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22960" y="5349240"/>
            <a:ext cx="10515600" cy="8229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1" i="0">
                <a:solidFill>
                  <a:srgbClr val="142A4A"/>
                </a:solidFill>
                <a:latin typeface="Microsoft YaHei"/>
                <a:ea typeface="Microsoft YaHei"/>
              </a:rPr>
              <a:t>转正门槛（KPI Gate）：</a:t>
            </a:r>
            <a:r>
              <a:rPr sz="1300" b="0" i="0">
                <a:solidFill>
                  <a:srgbClr val="142A4A"/>
                </a:solidFill>
                <a:latin typeface="Microsoft YaHei"/>
                <a:ea typeface="Microsoft YaHei"/>
              </a:rPr>
              <a:t>3 个月内完成 ≥3 场活动、达成营收 / 毛利 / 满意度阈值，即由过渡期自动转为长期区域独家。</a:t>
            </a:r>
          </a:p>
        </p:txBody>
      </p:sp>
      <p:sp>
        <p:nvSpPr>
          <p:cNvPr id="18" name="Rectangle 17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14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57200" y="6501384"/>
            <a:ext cx="8229600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900" b="0" i="0">
                <a:solidFill>
                  <a:srgbClr val="E7D38E"/>
                </a:solidFill>
                <a:latin typeface="Microsoft YaHei"/>
                <a:ea typeface="Microsoft YaHei"/>
              </a:rPr>
              <a:t>复旦大学住房政策研究中心  ×  杨浦区科技企业联合会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076895" y="6501384"/>
            <a:ext cx="3657600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900" b="0" i="0">
                <a:solidFill>
                  <a:srgbClr val="FFFFFF"/>
                </a:solidFill>
                <a:latin typeface="Microsoft YaHei"/>
                <a:ea typeface="Microsoft YaHei"/>
              </a:rPr>
              <a:t>合作阶段    |    07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14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57200" y="274320"/>
            <a:ext cx="109728" cy="566928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13232" y="237744"/>
            <a:ext cx="10515600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0" i="0">
                <a:solidFill>
                  <a:srgbClr val="E7D38E"/>
                </a:solidFill>
                <a:latin typeface="Microsoft YaHei"/>
                <a:ea typeface="Microsoft YaHei"/>
              </a:rPr>
              <a:t>07  SCENARIOS &amp; CONTENT MATRIX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13232" y="530352"/>
            <a:ext cx="10698480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2500" b="1" i="0">
                <a:solidFill>
                  <a:srgbClr val="FFFFFF"/>
                </a:solidFill>
                <a:latin typeface="Microsoft YaHei"/>
                <a:ea typeface="Microsoft YaHei"/>
              </a:rPr>
              <a:t>长三角落地场景与内容矩阵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1508760"/>
            <a:ext cx="3657600" cy="2194560"/>
          </a:xfrm>
          <a:prstGeom prst="roundRect">
            <a:avLst/>
          </a:prstGeom>
          <a:solidFill>
            <a:srgbClr val="F6F8FB"/>
          </a:solidFill>
          <a:ln>
            <a:noFill/>
          </a:ln>
          <a:effectLst/>
          <a:effectLst>
            <a:outerShdw blurRad="60000" dist="25000" dir="5400000" rotWithShape="0">
              <a:srgbClr val="9AA6B2">
                <a:alpha val="5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548640" y="1508760"/>
            <a:ext cx="100584" cy="2194560"/>
          </a:xfrm>
          <a:prstGeom prst="round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04672" y="1655064"/>
            <a:ext cx="3200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400" b="1" i="0">
                <a:solidFill>
                  <a:srgbClr val="C9A227"/>
                </a:solidFill>
                <a:latin typeface="Microsoft YaHei"/>
                <a:ea typeface="Microsoft YaHei"/>
              </a:rPr>
              <a:t>🏢  </a:t>
            </a:r>
            <a:r>
              <a:rPr sz="1450" b="1" i="0">
                <a:solidFill>
                  <a:srgbClr val="142A4A"/>
                </a:solidFill>
                <a:latin typeface="Microsoft YaHei"/>
                <a:ea typeface="Microsoft YaHei"/>
              </a:rPr>
              <a:t>科技企业参访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04672" y="2075688"/>
            <a:ext cx="3200400" cy="1554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600"/>
              </a:spcAft>
            </a:pPr>
            <a:r>
              <a:rPr sz="1150" b="0" i="0">
                <a:solidFill>
                  <a:srgbClr val="5B6470"/>
                </a:solidFill>
                <a:latin typeface="Microsoft YaHei"/>
                <a:ea typeface="Microsoft YaHei"/>
              </a:rPr>
              <a:t>AI / 科技前沿主题，依托杨浦科创集群 + 复旦，月度 1–2 场；结合夏春“七巨头 / 第八巨头”科技视角。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343400" y="1508760"/>
            <a:ext cx="3657600" cy="2194560"/>
          </a:xfrm>
          <a:prstGeom prst="roundRect">
            <a:avLst/>
          </a:prstGeom>
          <a:solidFill>
            <a:srgbClr val="F6F8FB"/>
          </a:solidFill>
          <a:ln>
            <a:noFill/>
          </a:ln>
          <a:effectLst/>
          <a:effectLst>
            <a:outerShdw blurRad="60000" dist="25000" dir="5400000" rotWithShape="0">
              <a:srgbClr val="9AA6B2">
                <a:alpha val="5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4343400" y="1508760"/>
            <a:ext cx="100584" cy="2194560"/>
          </a:xfrm>
          <a:prstGeom prst="roundRect">
            <a:avLst/>
          </a:prstGeom>
          <a:solidFill>
            <a:srgbClr val="2E7D8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99432" y="1655064"/>
            <a:ext cx="3200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400" b="1" i="0">
                <a:solidFill>
                  <a:srgbClr val="2E7D83"/>
                </a:solidFill>
                <a:latin typeface="Microsoft YaHei"/>
                <a:ea typeface="Microsoft YaHei"/>
              </a:rPr>
              <a:t>📈  </a:t>
            </a:r>
            <a:r>
              <a:rPr sz="1450" b="1" i="0">
                <a:solidFill>
                  <a:srgbClr val="142A4A"/>
                </a:solidFill>
                <a:latin typeface="Microsoft YaHei"/>
                <a:ea typeface="Microsoft YaHei"/>
              </a:rPr>
              <a:t>财富与资产配置沙龙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99432" y="2075688"/>
            <a:ext cx="3200400" cy="1554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600"/>
              </a:spcAft>
            </a:pPr>
            <a:r>
              <a:rPr sz="1150" b="0" i="0">
                <a:solidFill>
                  <a:srgbClr val="5B6470"/>
                </a:solidFill>
                <a:latin typeface="Microsoft YaHei"/>
                <a:ea typeface="Microsoft YaHei"/>
              </a:rPr>
              <a:t>夏春年度资产表 / 再平衡框架、黄金、美债美股；面向高净值客群的闭门研讨。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138160" y="1508760"/>
            <a:ext cx="3657600" cy="2194560"/>
          </a:xfrm>
          <a:prstGeom prst="roundRect">
            <a:avLst/>
          </a:prstGeom>
          <a:solidFill>
            <a:srgbClr val="F6F8FB"/>
          </a:solidFill>
          <a:ln>
            <a:noFill/>
          </a:ln>
          <a:effectLst/>
          <a:effectLst>
            <a:outerShdw blurRad="60000" dist="25000" dir="5400000" rotWithShape="0">
              <a:srgbClr val="9AA6B2">
                <a:alpha val="5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8138160" y="1508760"/>
            <a:ext cx="100584" cy="2194560"/>
          </a:xfrm>
          <a:prstGeom prst="round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394192" y="1655064"/>
            <a:ext cx="3200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400" b="1" i="0">
                <a:solidFill>
                  <a:srgbClr val="1F3A5F"/>
                </a:solidFill>
                <a:latin typeface="Microsoft YaHei"/>
                <a:ea typeface="Microsoft YaHei"/>
              </a:rPr>
              <a:t>✈  </a:t>
            </a:r>
            <a:r>
              <a:rPr sz="1450" b="1" i="0">
                <a:solidFill>
                  <a:srgbClr val="142A4A"/>
                </a:solidFill>
                <a:latin typeface="Microsoft YaHei"/>
                <a:ea typeface="Microsoft YaHei"/>
              </a:rPr>
              <a:t>香港 / 出海游学组团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394192" y="2075688"/>
            <a:ext cx="3200400" cy="1554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600"/>
              </a:spcAft>
            </a:pPr>
            <a:r>
              <a:rPr sz="1150" b="0" i="0">
                <a:solidFill>
                  <a:srgbClr val="5B6470"/>
                </a:solidFill>
                <a:latin typeface="Microsoft YaHei"/>
                <a:ea typeface="Microsoft YaHei"/>
              </a:rPr>
              <a:t>RWA、虚拟资产、中东资金窗口；半天讲座 + 半天参访，我方作长三角组团总入口。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48640" y="3840480"/>
            <a:ext cx="3657600" cy="2194560"/>
          </a:xfrm>
          <a:prstGeom prst="roundRect">
            <a:avLst/>
          </a:prstGeom>
          <a:solidFill>
            <a:srgbClr val="F6F8FB"/>
          </a:solidFill>
          <a:ln>
            <a:noFill/>
          </a:ln>
          <a:effectLst/>
          <a:effectLst>
            <a:outerShdw blurRad="60000" dist="25000" dir="5400000" rotWithShape="0">
              <a:srgbClr val="9AA6B2">
                <a:alpha val="5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548640" y="3840480"/>
            <a:ext cx="100584" cy="2194560"/>
          </a:xfrm>
          <a:prstGeom prst="round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04672" y="3986784"/>
            <a:ext cx="3200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400" b="1" i="0">
                <a:solidFill>
                  <a:srgbClr val="C9A227"/>
                </a:solidFill>
                <a:latin typeface="Microsoft YaHei"/>
                <a:ea typeface="Microsoft YaHei"/>
              </a:rPr>
              <a:t>📱  </a:t>
            </a:r>
            <a:r>
              <a:rPr sz="1450" b="1" i="0">
                <a:solidFill>
                  <a:srgbClr val="142A4A"/>
                </a:solidFill>
                <a:latin typeface="Microsoft YaHei"/>
                <a:ea typeface="Microsoft YaHei"/>
              </a:rPr>
              <a:t>内容本地化与私域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04672" y="4407408"/>
            <a:ext cx="3200400" cy="1554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600"/>
              </a:spcAft>
            </a:pPr>
            <a:r>
              <a:rPr sz="1150" b="0" i="0">
                <a:solidFill>
                  <a:srgbClr val="5B6470"/>
                </a:solidFill>
                <a:latin typeface="Microsoft YaHei"/>
                <a:ea typeface="Microsoft YaHei"/>
              </a:rPr>
              <a:t>公众号 / 视频号“长三角专栏”、会员分层与社群运营，沉淀区域私域资产。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4343400" y="3840480"/>
            <a:ext cx="3657600" cy="2194560"/>
          </a:xfrm>
          <a:prstGeom prst="roundRect">
            <a:avLst/>
          </a:prstGeom>
          <a:solidFill>
            <a:srgbClr val="F6F8FB"/>
          </a:solidFill>
          <a:ln>
            <a:noFill/>
          </a:ln>
          <a:effectLst/>
          <a:effectLst>
            <a:outerShdw blurRad="60000" dist="25000" dir="5400000" rotWithShape="0">
              <a:srgbClr val="9AA6B2">
                <a:alpha val="5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4343400" y="3840480"/>
            <a:ext cx="100584" cy="2194560"/>
          </a:xfrm>
          <a:prstGeom prst="roundRect">
            <a:avLst/>
          </a:prstGeom>
          <a:solidFill>
            <a:srgbClr val="2E7D8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599432" y="3986784"/>
            <a:ext cx="3200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400" b="1" i="0">
                <a:solidFill>
                  <a:srgbClr val="2E7D83"/>
                </a:solidFill>
                <a:latin typeface="Microsoft YaHei"/>
                <a:ea typeface="Microsoft YaHei"/>
              </a:rPr>
              <a:t>🎓  </a:t>
            </a:r>
            <a:r>
              <a:rPr sz="1450" b="1" i="0">
                <a:solidFill>
                  <a:srgbClr val="142A4A"/>
                </a:solidFill>
                <a:latin typeface="Microsoft YaHei"/>
                <a:ea typeface="Microsoft YaHei"/>
              </a:rPr>
              <a:t>企业内训与政企研讨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599432" y="4407408"/>
            <a:ext cx="3200400" cy="1554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600"/>
              </a:spcAft>
            </a:pPr>
            <a:r>
              <a:rPr sz="1150" b="0" i="0">
                <a:solidFill>
                  <a:srgbClr val="5B6470"/>
                </a:solidFill>
                <a:latin typeface="Microsoft YaHei"/>
                <a:ea typeface="Microsoft YaHei"/>
              </a:rPr>
              <a:t>复旦住房政策中心 + 杨浦科委，承接企业内训与高规格政企对话。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8138160" y="3840480"/>
            <a:ext cx="3657600" cy="2194560"/>
          </a:xfrm>
          <a:prstGeom prst="roundRect">
            <a:avLst/>
          </a:prstGeom>
          <a:solidFill>
            <a:srgbClr val="F6F8FB"/>
          </a:solidFill>
          <a:ln>
            <a:noFill/>
          </a:ln>
          <a:effectLst/>
          <a:effectLst>
            <a:outerShdw blurRad="60000" dist="25000" dir="5400000" rotWithShape="0">
              <a:srgbClr val="9AA6B2">
                <a:alpha val="5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ounded Rectangle 28"/>
          <p:cNvSpPr/>
          <p:nvPr/>
        </p:nvSpPr>
        <p:spPr>
          <a:xfrm>
            <a:off x="8138160" y="3840480"/>
            <a:ext cx="100584" cy="2194560"/>
          </a:xfrm>
          <a:prstGeom prst="round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394192" y="3986784"/>
            <a:ext cx="3200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400" b="1" i="0">
                <a:solidFill>
                  <a:srgbClr val="1F3A5F"/>
                </a:solidFill>
                <a:latin typeface="Microsoft YaHei"/>
                <a:ea typeface="Microsoft YaHei"/>
              </a:rPr>
              <a:t>🧭  </a:t>
            </a:r>
            <a:r>
              <a:rPr sz="1450" b="1" i="0">
                <a:solidFill>
                  <a:srgbClr val="142A4A"/>
                </a:solidFill>
                <a:latin typeface="Microsoft YaHei"/>
                <a:ea typeface="Microsoft YaHei"/>
              </a:rPr>
              <a:t>家办 / 另类配置专场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394192" y="4407408"/>
            <a:ext cx="3200400" cy="1554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600"/>
              </a:spcAft>
            </a:pPr>
            <a:r>
              <a:rPr sz="1150" b="0" i="0">
                <a:solidFill>
                  <a:srgbClr val="5B6470"/>
                </a:solidFill>
                <a:latin typeface="Microsoft YaHei"/>
                <a:ea typeface="Microsoft YaHei"/>
              </a:rPr>
              <a:t>面向科创企业家、家族办公室的另类资产与行为金融专题。</a:t>
            </a:r>
          </a:p>
        </p:txBody>
      </p:sp>
      <p:sp>
        <p:nvSpPr>
          <p:cNvPr id="32" name="Rectangle 31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14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457200" y="6501384"/>
            <a:ext cx="8229600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900" b="0" i="0">
                <a:solidFill>
                  <a:srgbClr val="E7D38E"/>
                </a:solidFill>
                <a:latin typeface="Microsoft YaHei"/>
                <a:ea typeface="Microsoft YaHei"/>
              </a:rPr>
              <a:t>复旦大学住房政策研究中心  ×  杨浦区科技企业联合会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076895" y="6501384"/>
            <a:ext cx="3657600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900" b="0" i="0">
                <a:solidFill>
                  <a:srgbClr val="FFFFFF"/>
                </a:solidFill>
                <a:latin typeface="Microsoft YaHei"/>
                <a:ea typeface="Microsoft YaHei"/>
              </a:rPr>
              <a:t>落地矩阵    |    08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14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57200" y="274320"/>
            <a:ext cx="109728" cy="566928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13232" y="237744"/>
            <a:ext cx="10515600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0" i="0">
                <a:solidFill>
                  <a:srgbClr val="E7D38E"/>
                </a:solidFill>
                <a:latin typeface="Microsoft YaHei"/>
                <a:ea typeface="Microsoft YaHei"/>
              </a:rPr>
              <a:t>08  ROLES &amp; BUSINESS MODEL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13232" y="530352"/>
            <a:ext cx="10698480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2500" b="1" i="0">
                <a:solidFill>
                  <a:srgbClr val="FFFFFF"/>
                </a:solidFill>
                <a:latin typeface="Microsoft YaHei"/>
                <a:ea typeface="Microsoft YaHei"/>
              </a:rPr>
              <a:t>分工、协作与商业模式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1508760"/>
            <a:ext cx="5486400" cy="2331720"/>
          </a:xfrm>
          <a:prstGeom prst="roundRect">
            <a:avLst/>
          </a:prstGeom>
          <a:solidFill>
            <a:srgbClr val="F6F8FB"/>
          </a:solidFill>
          <a:ln>
            <a:noFill/>
          </a:ln>
          <a:effectLst/>
          <a:effectLst>
            <a:outerShdw blurRad="60000" dist="25000" dir="5400000" rotWithShape="0">
              <a:srgbClr val="9AA6B2">
                <a:alpha val="5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" y="1645920"/>
            <a:ext cx="51206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500" b="1" i="0">
                <a:solidFill>
                  <a:srgbClr val="C9A227"/>
                </a:solidFill>
                <a:latin typeface="Microsoft YaHei"/>
                <a:ea typeface="Microsoft YaHei"/>
              </a:rPr>
              <a:t>夏春侧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2148840"/>
            <a:ext cx="5029200" cy="1645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600"/>
              </a:spcAft>
            </a:pPr>
            <a:r>
              <a:rPr sz="1150" b="0" i="0">
                <a:solidFill>
                  <a:srgbClr val="5B6470"/>
                </a:solidFill>
                <a:latin typeface="Microsoft YaHei"/>
                <a:ea typeface="Microsoft YaHei"/>
              </a:rPr>
              <a:t>• IP、核心观点与讲座 / 关键出席</a:t>
            </a:r>
          </a:p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600"/>
              </a:spcAft>
            </a:pPr>
            <a:r>
              <a:rPr sz="1150" b="0" i="0">
                <a:solidFill>
                  <a:srgbClr val="5B6470"/>
                </a:solidFill>
                <a:latin typeface="Microsoft YaHei"/>
                <a:ea typeface="Microsoft YaHei"/>
              </a:rPr>
              <a:t>• 品牌授权与背书</a:t>
            </a:r>
          </a:p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600"/>
              </a:spcAft>
            </a:pPr>
            <a:r>
              <a:rPr sz="1150" b="0" i="0">
                <a:solidFill>
                  <a:srgbClr val="5B6470"/>
                </a:solidFill>
                <a:latin typeface="Microsoft YaHei"/>
                <a:ea typeface="Microsoft YaHei"/>
              </a:rPr>
              <a:t>• 关键嘉宾 / 高端资源引荐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172200" y="1508760"/>
            <a:ext cx="5486400" cy="2331720"/>
          </a:xfrm>
          <a:prstGeom prst="roundRect">
            <a:avLst/>
          </a:prstGeom>
          <a:solidFill>
            <a:srgbClr val="F6F8FB"/>
          </a:solidFill>
          <a:ln>
            <a:noFill/>
          </a:ln>
          <a:effectLst/>
          <a:effectLst>
            <a:outerShdw blurRad="60000" dist="25000" dir="5400000" rotWithShape="0">
              <a:srgbClr val="9AA6B2">
                <a:alpha val="5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00800" y="1645920"/>
            <a:ext cx="51206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500" b="1" i="0">
                <a:solidFill>
                  <a:srgbClr val="2E7D83"/>
                </a:solidFill>
                <a:latin typeface="Microsoft YaHei"/>
                <a:ea typeface="Microsoft YaHei"/>
              </a:rPr>
              <a:t>我方（总代理）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46520" y="2148840"/>
            <a:ext cx="5029200" cy="1645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600"/>
              </a:spcAft>
            </a:pPr>
            <a:r>
              <a:rPr sz="1150" b="0" i="0">
                <a:solidFill>
                  <a:srgbClr val="5B6470"/>
                </a:solidFill>
                <a:latin typeface="Microsoft YaHei"/>
                <a:ea typeface="Microsoft YaHei"/>
              </a:rPr>
              <a:t>• 区域获客、场地与全流程执行</a:t>
            </a:r>
          </a:p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600"/>
              </a:spcAft>
            </a:pPr>
            <a:r>
              <a:rPr sz="1150" b="0" i="0">
                <a:solidFill>
                  <a:srgbClr val="5B6470"/>
                </a:solidFill>
                <a:latin typeface="Microsoft YaHei"/>
                <a:ea typeface="Microsoft YaHei"/>
              </a:rPr>
              <a:t>• 企业 / 高校 / 政府对接与背书</a:t>
            </a:r>
          </a:p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600"/>
              </a:spcAft>
            </a:pPr>
            <a:r>
              <a:rPr sz="1150" b="0" i="0">
                <a:solidFill>
                  <a:srgbClr val="5B6470"/>
                </a:solidFill>
                <a:latin typeface="Microsoft YaHei"/>
                <a:ea typeface="Microsoft YaHei"/>
              </a:rPr>
              <a:t>• 私域、CRM、组团与履约结算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48640" y="4023360"/>
            <a:ext cx="11109960" cy="2011680"/>
          </a:xfrm>
          <a:prstGeom prst="roundRect">
            <a:avLst/>
          </a:prstGeom>
          <a:solidFill>
            <a:srgbClr val="1F3A5F"/>
          </a:solidFill>
          <a:ln>
            <a:noFill/>
          </a:ln>
          <a:effectLst/>
          <a:effectLst>
            <a:outerShdw blurRad="60000" dist="25000" dir="5400000" rotWithShape="0">
              <a:srgbClr val="9AA6B2">
                <a:alpha val="5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548640" y="4023360"/>
            <a:ext cx="118872" cy="2011680"/>
          </a:xfrm>
          <a:prstGeom prst="round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68680" y="4160520"/>
            <a:ext cx="10607040" cy="1828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600"/>
              </a:spcAft>
            </a:pPr>
            <a:r>
              <a:rPr sz="1500" b="1" i="0">
                <a:solidFill>
                  <a:srgbClr val="E7D38E"/>
                </a:solidFill>
                <a:latin typeface="Microsoft YaHei"/>
                <a:ea typeface="Microsoft YaHei"/>
              </a:rPr>
              <a:t>商业模式与结算</a:t>
            </a:r>
          </a:p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0" i="0">
                <a:solidFill>
                  <a:srgbClr val="FFFFFF"/>
                </a:solidFill>
                <a:latin typeface="Microsoft YaHei"/>
                <a:ea typeface="Microsoft YaHei"/>
              </a:rPr>
              <a:t>收入来源：活动票务 / 会员费 / 企业赞助与内训 / 游学组团佣金 / 内容订阅。</a:t>
            </a:r>
          </a:p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0" i="0">
                <a:solidFill>
                  <a:srgbClr val="FFFFFF"/>
                </a:solidFill>
                <a:latin typeface="Microsoft YaHei"/>
                <a:ea typeface="Microsoft YaHei"/>
              </a:rPr>
              <a:t>分润逻辑：按角色与投入分层结算；成本相对固定，毛利率高，核心取决于客单价与销量（详见附 Excel 测算）。</a:t>
            </a:r>
          </a:p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0" i="0">
                <a:solidFill>
                  <a:srgbClr val="FFFFFF"/>
                </a:solidFill>
                <a:latin typeface="Microsoft YaHei"/>
                <a:ea typeface="Microsoft YaHei"/>
              </a:rPr>
              <a:t>结算方式：长三角区域收入统一归集 → 按约定向夏春侧结算授权费 / 分成，账目透明、按月对账。</a:t>
            </a:r>
          </a:p>
        </p:txBody>
      </p:sp>
      <p:sp>
        <p:nvSpPr>
          <p:cNvPr id="17" name="Rectangle 16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14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57200" y="6501384"/>
            <a:ext cx="8229600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900" b="0" i="0">
                <a:solidFill>
                  <a:srgbClr val="E7D38E"/>
                </a:solidFill>
                <a:latin typeface="Microsoft YaHei"/>
                <a:ea typeface="Microsoft YaHei"/>
              </a:rPr>
              <a:t>复旦大学住房政策研究中心  ×  杨浦区科技企业联合会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076895" y="6501384"/>
            <a:ext cx="3657600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900" b="0" i="0">
                <a:solidFill>
                  <a:srgbClr val="FFFFFF"/>
                </a:solidFill>
                <a:latin typeface="Microsoft YaHei"/>
                <a:ea typeface="Microsoft YaHei"/>
              </a:rPr>
              <a:t>分工与商业模式    |    09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14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57200" y="274320"/>
            <a:ext cx="109728" cy="566928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13232" y="237744"/>
            <a:ext cx="10515600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0" i="0">
                <a:solidFill>
                  <a:srgbClr val="E7D38E"/>
                </a:solidFill>
                <a:latin typeface="Microsoft YaHei"/>
                <a:ea typeface="Microsoft YaHei"/>
              </a:rPr>
              <a:t>09  RISK &amp; GOVERNANCE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13232" y="530352"/>
            <a:ext cx="10698480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2500" b="1" i="0">
                <a:solidFill>
                  <a:srgbClr val="FFFFFF"/>
                </a:solidFill>
                <a:latin typeface="Microsoft YaHei"/>
                <a:ea typeface="Microsoft YaHei"/>
              </a:rPr>
              <a:t>关键问题与风险管控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1554480"/>
            <a:ext cx="5486400" cy="2240280"/>
          </a:xfrm>
          <a:prstGeom prst="roundRect">
            <a:avLst/>
          </a:prstGeom>
          <a:solidFill>
            <a:srgbClr val="F6F8FB"/>
          </a:solidFill>
          <a:ln>
            <a:noFill/>
          </a:ln>
          <a:effectLst/>
          <a:effectLst>
            <a:outerShdw blurRad="60000" dist="25000" dir="5400000" rotWithShape="0">
              <a:srgbClr val="9AA6B2">
                <a:alpha val="5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548640" y="1554480"/>
            <a:ext cx="100584" cy="2240280"/>
          </a:xfrm>
          <a:prstGeom prst="round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04672" y="1700784"/>
            <a:ext cx="5029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400" b="1" i="0">
                <a:solidFill>
                  <a:srgbClr val="C9A227"/>
                </a:solidFill>
                <a:latin typeface="Microsoft YaHei"/>
                <a:ea typeface="Microsoft YaHei"/>
              </a:rPr>
              <a:t>▲  </a:t>
            </a:r>
            <a:r>
              <a:rPr sz="1450" b="1" i="0">
                <a:solidFill>
                  <a:srgbClr val="142A4A"/>
                </a:solidFill>
                <a:latin typeface="Microsoft YaHei"/>
                <a:ea typeface="Microsoft YaHei"/>
              </a:rPr>
              <a:t>主导权与客户归属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04672" y="2121408"/>
            <a:ext cx="5029200" cy="1600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600"/>
              </a:spcAft>
            </a:pPr>
            <a:r>
              <a:rPr sz="1150" b="0" i="0">
                <a:solidFill>
                  <a:srgbClr val="5B6470"/>
                </a:solidFill>
                <a:latin typeface="Microsoft YaHei"/>
                <a:ea typeface="Microsoft YaHei"/>
              </a:rPr>
              <a:t>明确长三角新增客户归属规则与交叉销售（房产 / 保险 / 基金）权益划分，写入 MOU。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17920" y="1554480"/>
            <a:ext cx="5486400" cy="2240280"/>
          </a:xfrm>
          <a:prstGeom prst="roundRect">
            <a:avLst/>
          </a:prstGeom>
          <a:solidFill>
            <a:srgbClr val="F6F8FB"/>
          </a:solidFill>
          <a:ln>
            <a:noFill/>
          </a:ln>
          <a:effectLst/>
          <a:effectLst>
            <a:outerShdw blurRad="60000" dist="25000" dir="5400000" rotWithShape="0">
              <a:srgbClr val="9AA6B2">
                <a:alpha val="5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6217920" y="1554480"/>
            <a:ext cx="100584" cy="2240280"/>
          </a:xfrm>
          <a:prstGeom prst="roundRect">
            <a:avLst/>
          </a:prstGeom>
          <a:solidFill>
            <a:srgbClr val="2E7D8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73952" y="1700784"/>
            <a:ext cx="5029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400" b="1" i="0">
                <a:solidFill>
                  <a:srgbClr val="2E7D83"/>
                </a:solidFill>
                <a:latin typeface="Microsoft YaHei"/>
                <a:ea typeface="Microsoft YaHei"/>
              </a:rPr>
              <a:t>▲  </a:t>
            </a:r>
            <a:r>
              <a:rPr sz="1450" b="1" i="0">
                <a:solidFill>
                  <a:srgbClr val="142A4A"/>
                </a:solidFill>
                <a:latin typeface="Microsoft YaHei"/>
                <a:ea typeface="Microsoft YaHei"/>
              </a:rPr>
              <a:t>IP 档期与精力稀缺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73952" y="2121408"/>
            <a:ext cx="5029200" cy="1600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600"/>
              </a:spcAft>
            </a:pPr>
            <a:r>
              <a:rPr sz="1150" b="0" i="0">
                <a:solidFill>
                  <a:srgbClr val="5B6470"/>
                </a:solidFill>
                <a:latin typeface="Microsoft YaHei"/>
                <a:ea typeface="Microsoft YaHei"/>
              </a:rPr>
              <a:t>我方承接全部执行、批量化排期；以录播 / 图文复用降低夏春时间投入，关键场次才需本人出席。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48640" y="3977640"/>
            <a:ext cx="5486400" cy="2240280"/>
          </a:xfrm>
          <a:prstGeom prst="roundRect">
            <a:avLst/>
          </a:prstGeom>
          <a:solidFill>
            <a:srgbClr val="F6F8FB"/>
          </a:solidFill>
          <a:ln>
            <a:noFill/>
          </a:ln>
          <a:effectLst/>
          <a:effectLst>
            <a:outerShdw blurRad="60000" dist="25000" dir="5400000" rotWithShape="0">
              <a:srgbClr val="9AA6B2">
                <a:alpha val="5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548640" y="3977640"/>
            <a:ext cx="100584" cy="2240280"/>
          </a:xfrm>
          <a:prstGeom prst="round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04672" y="4123944"/>
            <a:ext cx="5029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400" b="1" i="0">
                <a:solidFill>
                  <a:srgbClr val="1F3A5F"/>
                </a:solidFill>
                <a:latin typeface="Microsoft YaHei"/>
                <a:ea typeface="Microsoft YaHei"/>
              </a:rPr>
              <a:t>▲  </a:t>
            </a:r>
            <a:r>
              <a:rPr sz="1450" b="1" i="0">
                <a:solidFill>
                  <a:srgbClr val="142A4A"/>
                </a:solidFill>
                <a:latin typeface="Microsoft YaHei"/>
                <a:ea typeface="Microsoft YaHei"/>
              </a:rPr>
              <a:t>与新老团队边界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04672" y="4544568"/>
            <a:ext cx="5029200" cy="1600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600"/>
              </a:spcAft>
            </a:pPr>
            <a:r>
              <a:rPr sz="1150" b="0" i="0">
                <a:solidFill>
                  <a:srgbClr val="5B6470"/>
                </a:solidFill>
                <a:latin typeface="Microsoft YaHei"/>
                <a:ea typeface="Microsoft YaHei"/>
              </a:rPr>
              <a:t>只做长三角区域增量，签署互不重叠 / 不竞争条款，定期同步避免撞单。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217920" y="3977640"/>
            <a:ext cx="5486400" cy="2240280"/>
          </a:xfrm>
          <a:prstGeom prst="roundRect">
            <a:avLst/>
          </a:prstGeom>
          <a:solidFill>
            <a:srgbClr val="F6F8FB"/>
          </a:solidFill>
          <a:ln>
            <a:noFill/>
          </a:ln>
          <a:effectLst/>
          <a:effectLst>
            <a:outerShdw blurRad="60000" dist="25000" dir="5400000" rotWithShape="0">
              <a:srgbClr val="9AA6B2">
                <a:alpha val="5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6217920" y="3977640"/>
            <a:ext cx="100584" cy="2240280"/>
          </a:xfrm>
          <a:prstGeom prst="round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73952" y="4123944"/>
            <a:ext cx="5029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400" b="1" i="0">
                <a:solidFill>
                  <a:srgbClr val="C9A227"/>
                </a:solidFill>
                <a:latin typeface="Microsoft YaHei"/>
                <a:ea typeface="Microsoft YaHei"/>
              </a:rPr>
              <a:t>▲  </a:t>
            </a:r>
            <a:r>
              <a:rPr sz="1450" b="1" i="0">
                <a:solidFill>
                  <a:srgbClr val="142A4A"/>
                </a:solidFill>
                <a:latin typeface="Microsoft YaHei"/>
                <a:ea typeface="Microsoft YaHei"/>
              </a:rPr>
              <a:t>合规与免责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73952" y="4544568"/>
            <a:ext cx="5029200" cy="1600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600"/>
              </a:spcAft>
            </a:pPr>
            <a:r>
              <a:rPr sz="1150" b="0" i="0">
                <a:solidFill>
                  <a:srgbClr val="5B6470"/>
                </a:solidFill>
                <a:latin typeface="Microsoft YaHei"/>
                <a:ea typeface="Microsoft YaHei"/>
              </a:rPr>
              <a:t>金融观点仅供参考、不构成投资建议；活动内容与产品销售分离，沿用夏春一贯免责声明。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48640" y="6126480"/>
            <a:ext cx="109728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150" b="1" i="0">
                <a:solidFill>
                  <a:srgbClr val="1F3A5F"/>
                </a:solidFill>
                <a:latin typeface="Microsoft YaHei"/>
                <a:ea typeface="Microsoft YaHei"/>
              </a:rPr>
              <a:t>以上关键问题均源自双方沟通纪要“待解决问题”，将在 3 个月过渡期内逐项落定并写入合作备忘录。</a:t>
            </a:r>
          </a:p>
        </p:txBody>
      </p:sp>
      <p:sp>
        <p:nvSpPr>
          <p:cNvPr id="25" name="Rectangle 24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14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57200" y="6501384"/>
            <a:ext cx="8229600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900" b="0" i="0">
                <a:solidFill>
                  <a:srgbClr val="E7D38E"/>
                </a:solidFill>
                <a:latin typeface="Microsoft YaHei"/>
                <a:ea typeface="Microsoft YaHei"/>
              </a:rPr>
              <a:t>复旦大学住房政策研究中心  ×  杨浦区科技企业联合会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076895" y="6501384"/>
            <a:ext cx="3657600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900" b="0" i="0">
                <a:solidFill>
                  <a:srgbClr val="FFFFFF"/>
                </a:solidFill>
                <a:latin typeface="Microsoft YaHei"/>
                <a:ea typeface="Microsoft YaHei"/>
              </a:rPr>
              <a:t>风险管控    |    10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14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57200" y="274320"/>
            <a:ext cx="109728" cy="566928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13232" y="237744"/>
            <a:ext cx="10515600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0" i="0">
                <a:solidFill>
                  <a:srgbClr val="E7D38E"/>
                </a:solidFill>
                <a:latin typeface="Microsoft YaHei"/>
                <a:ea typeface="Microsoft YaHei"/>
              </a:rPr>
              <a:t>10  90-DAY PLAN &amp; NEXT STEPS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13232" y="530352"/>
            <a:ext cx="10698480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2500" b="1" i="0">
                <a:solidFill>
                  <a:srgbClr val="FFFFFF"/>
                </a:solidFill>
                <a:latin typeface="Microsoft YaHei"/>
                <a:ea typeface="Microsoft YaHei"/>
              </a:rPr>
              <a:t>三个月过渡期行动计划与下一步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1554480"/>
            <a:ext cx="3566160" cy="3200400"/>
          </a:xfrm>
          <a:prstGeom prst="roundRect">
            <a:avLst/>
          </a:prstGeom>
          <a:solidFill>
            <a:srgbClr val="F6F8FB"/>
          </a:solidFill>
          <a:ln>
            <a:noFill/>
          </a:ln>
          <a:effectLst/>
          <a:effectLst>
            <a:outerShdw blurRad="60000" dist="25000" dir="5400000" rotWithShape="0">
              <a:srgbClr val="9AA6B2">
                <a:alpha val="5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548640" y="1554480"/>
            <a:ext cx="3566160" cy="868680"/>
          </a:xfrm>
          <a:prstGeom prst="roundRect">
            <a:avLst/>
          </a:prstGeom>
          <a:solidFill>
            <a:srgbClr val="2E7D8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48640" y="1645920"/>
            <a:ext cx="35661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800" b="1" i="0">
                <a:solidFill>
                  <a:srgbClr val="FFFFFF"/>
                </a:solidFill>
                <a:latin typeface="Microsoft YaHei"/>
                <a:ea typeface="Microsoft YaHei"/>
              </a:rPr>
              <a:t>第 1 月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2029968"/>
            <a:ext cx="35661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1" i="0">
                <a:solidFill>
                  <a:srgbClr val="E7D38E"/>
                </a:solidFill>
                <a:latin typeface="Microsoft YaHei"/>
                <a:ea typeface="Microsoft YaHei"/>
              </a:rPr>
              <a:t>启动与共识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60" y="2651760"/>
            <a:ext cx="3063240" cy="2011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  <a:spcBef>
                <a:spcPts val="0"/>
              </a:spcBef>
              <a:spcAft>
                <a:spcPts val="800"/>
              </a:spcAft>
            </a:pPr>
            <a:r>
              <a:rPr sz="1200" b="0" i="0">
                <a:solidFill>
                  <a:srgbClr val="5B6470"/>
                </a:solidFill>
                <a:latin typeface="Microsoft YaHei"/>
                <a:ea typeface="Microsoft YaHei"/>
              </a:rPr>
              <a:t>• 签署 MOU + 区域授权草案</a:t>
            </a:r>
          </a:p>
          <a:p>
            <a:pPr algn="l">
              <a:lnSpc>
                <a:spcPct val="140000"/>
              </a:lnSpc>
              <a:spcBef>
                <a:spcPts val="0"/>
              </a:spcBef>
              <a:spcAft>
                <a:spcPts val="800"/>
              </a:spcAft>
            </a:pPr>
            <a:r>
              <a:rPr sz="1200" b="0" i="0">
                <a:solidFill>
                  <a:srgbClr val="5B6470"/>
                </a:solidFill>
                <a:latin typeface="Microsoft YaHei"/>
                <a:ea typeface="Microsoft YaHei"/>
              </a:rPr>
              <a:t>• 盘客 / 会员画像梳理</a:t>
            </a:r>
          </a:p>
          <a:p>
            <a:pPr algn="l">
              <a:lnSpc>
                <a:spcPct val="140000"/>
              </a:lnSpc>
              <a:spcBef>
                <a:spcPts val="0"/>
              </a:spcBef>
              <a:spcAft>
                <a:spcPts val="800"/>
              </a:spcAft>
            </a:pPr>
            <a:r>
              <a:rPr sz="1200" b="0" i="0">
                <a:solidFill>
                  <a:srgbClr val="5B6470"/>
                </a:solidFill>
                <a:latin typeface="Microsoft YaHei"/>
                <a:ea typeface="Microsoft YaHei"/>
              </a:rPr>
              <a:t>• 首场活动策划立项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315968" y="1554480"/>
            <a:ext cx="3566160" cy="3200400"/>
          </a:xfrm>
          <a:prstGeom prst="roundRect">
            <a:avLst/>
          </a:prstGeom>
          <a:solidFill>
            <a:srgbClr val="F6F8FB"/>
          </a:solidFill>
          <a:ln>
            <a:noFill/>
          </a:ln>
          <a:effectLst/>
          <a:effectLst>
            <a:outerShdw blurRad="60000" dist="25000" dir="5400000" rotWithShape="0">
              <a:srgbClr val="9AA6B2">
                <a:alpha val="5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4315968" y="1554480"/>
            <a:ext cx="3566160" cy="868680"/>
          </a:xfrm>
          <a:prstGeom prst="round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315968" y="1645920"/>
            <a:ext cx="35661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800" b="1" i="0">
                <a:solidFill>
                  <a:srgbClr val="FFFFFF"/>
                </a:solidFill>
                <a:latin typeface="Microsoft YaHei"/>
                <a:ea typeface="Microsoft YaHei"/>
              </a:rPr>
              <a:t>第 2 月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315968" y="2029968"/>
            <a:ext cx="35661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1" i="0">
                <a:solidFill>
                  <a:srgbClr val="FFFFFF"/>
                </a:solidFill>
                <a:latin typeface="Microsoft YaHei"/>
                <a:ea typeface="Microsoft YaHei"/>
              </a:rPr>
              <a:t>首战落地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90288" y="2651760"/>
            <a:ext cx="3063240" cy="2011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  <a:spcBef>
                <a:spcPts val="0"/>
              </a:spcBef>
              <a:spcAft>
                <a:spcPts val="800"/>
              </a:spcAft>
            </a:pPr>
            <a:r>
              <a:rPr sz="1200" b="0" i="0">
                <a:solidFill>
                  <a:srgbClr val="5B6470"/>
                </a:solidFill>
                <a:latin typeface="Microsoft YaHei"/>
                <a:ea typeface="Microsoft YaHei"/>
              </a:rPr>
              <a:t>• 首场科技参访 / 资产沙龙落地</a:t>
            </a:r>
          </a:p>
          <a:p>
            <a:pPr algn="l">
              <a:lnSpc>
                <a:spcPct val="140000"/>
              </a:lnSpc>
              <a:spcBef>
                <a:spcPts val="0"/>
              </a:spcBef>
              <a:spcAft>
                <a:spcPts val="800"/>
              </a:spcAft>
            </a:pPr>
            <a:r>
              <a:rPr sz="1200" b="0" i="0">
                <a:solidFill>
                  <a:srgbClr val="5B6470"/>
                </a:solidFill>
                <a:latin typeface="Microsoft YaHei"/>
                <a:ea typeface="Microsoft YaHei"/>
              </a:rPr>
              <a:t>• 香港游学预售启动</a:t>
            </a:r>
          </a:p>
          <a:p>
            <a:pPr algn="l">
              <a:lnSpc>
                <a:spcPct val="140000"/>
              </a:lnSpc>
              <a:spcBef>
                <a:spcPts val="0"/>
              </a:spcBef>
              <a:spcAft>
                <a:spcPts val="800"/>
              </a:spcAft>
            </a:pPr>
            <a:r>
              <a:rPr sz="1200" b="0" i="0">
                <a:solidFill>
                  <a:srgbClr val="5B6470"/>
                </a:solidFill>
                <a:latin typeface="Microsoft YaHei"/>
                <a:ea typeface="Microsoft YaHei"/>
              </a:rPr>
              <a:t>• 私域 &amp; CRM 搭建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083296" y="1554480"/>
            <a:ext cx="3566160" cy="3200400"/>
          </a:xfrm>
          <a:prstGeom prst="roundRect">
            <a:avLst/>
          </a:prstGeom>
          <a:solidFill>
            <a:srgbClr val="F6F8FB"/>
          </a:solidFill>
          <a:ln>
            <a:noFill/>
          </a:ln>
          <a:effectLst/>
          <a:effectLst>
            <a:outerShdw blurRad="60000" dist="25000" dir="5400000" rotWithShape="0">
              <a:srgbClr val="9AA6B2">
                <a:alpha val="5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8083296" y="1554480"/>
            <a:ext cx="3566160" cy="868680"/>
          </a:xfrm>
          <a:prstGeom prst="roundRect">
            <a:avLst/>
          </a:prstGeom>
          <a:solidFill>
            <a:srgbClr val="14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083296" y="1645920"/>
            <a:ext cx="35661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800" b="1" i="0">
                <a:solidFill>
                  <a:srgbClr val="FFFFFF"/>
                </a:solidFill>
                <a:latin typeface="Microsoft YaHei"/>
                <a:ea typeface="Microsoft YaHei"/>
              </a:rPr>
              <a:t>第 3 月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083296" y="2029968"/>
            <a:ext cx="35661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1" i="0">
                <a:solidFill>
                  <a:srgbClr val="E7D38E"/>
                </a:solidFill>
                <a:latin typeface="Microsoft YaHei"/>
                <a:ea typeface="Microsoft YaHei"/>
              </a:rPr>
              <a:t>复盘与转正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357616" y="2651760"/>
            <a:ext cx="3063240" cy="2011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  <a:spcBef>
                <a:spcPts val="0"/>
              </a:spcBef>
              <a:spcAft>
                <a:spcPts val="800"/>
              </a:spcAft>
            </a:pPr>
            <a:r>
              <a:rPr sz="1200" b="0" i="0">
                <a:solidFill>
                  <a:srgbClr val="5B6470"/>
                </a:solidFill>
                <a:latin typeface="Microsoft YaHei"/>
                <a:ea typeface="Microsoft YaHei"/>
              </a:rPr>
              <a:t>• 第 2–3 场活动落地</a:t>
            </a:r>
          </a:p>
          <a:p>
            <a:pPr algn="l">
              <a:lnSpc>
                <a:spcPct val="140000"/>
              </a:lnSpc>
              <a:spcBef>
                <a:spcPts val="0"/>
              </a:spcBef>
              <a:spcAft>
                <a:spcPts val="800"/>
              </a:spcAft>
            </a:pPr>
            <a:r>
              <a:rPr sz="1200" b="0" i="0">
                <a:solidFill>
                  <a:srgbClr val="5B6470"/>
                </a:solidFill>
                <a:latin typeface="Microsoft YaHei"/>
                <a:ea typeface="Microsoft YaHei"/>
              </a:rPr>
              <a:t>• 财务复盘与满意度评估</a:t>
            </a:r>
          </a:p>
          <a:p>
            <a:pPr algn="l">
              <a:lnSpc>
                <a:spcPct val="140000"/>
              </a:lnSpc>
              <a:spcBef>
                <a:spcPts val="0"/>
              </a:spcBef>
              <a:spcAft>
                <a:spcPts val="800"/>
              </a:spcAft>
            </a:pPr>
            <a:r>
              <a:rPr sz="1200" b="0" i="0">
                <a:solidFill>
                  <a:srgbClr val="5B6470"/>
                </a:solidFill>
                <a:latin typeface="Microsoft YaHei"/>
                <a:ea typeface="Microsoft YaHei"/>
              </a:rPr>
              <a:t>• 达标转长期独家评估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48640" y="5029200"/>
            <a:ext cx="11109960" cy="1097280"/>
          </a:xfrm>
          <a:prstGeom prst="round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548640" y="5029200"/>
            <a:ext cx="118872" cy="1097280"/>
          </a:xfrm>
          <a:prstGeom prst="round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68680" y="5138928"/>
            <a:ext cx="1060704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600"/>
              </a:spcAft>
            </a:pPr>
            <a:r>
              <a:rPr sz="1400" b="1" i="0">
                <a:solidFill>
                  <a:srgbClr val="E7D38E"/>
                </a:solidFill>
                <a:latin typeface="Microsoft YaHei"/>
                <a:ea typeface="Microsoft YaHei"/>
              </a:rPr>
              <a:t>下一步</a:t>
            </a:r>
            <a:r>
              <a:rPr sz="1300" b="0" i="0">
                <a:solidFill>
                  <a:srgbClr val="FFFFFF"/>
                </a:solidFill>
                <a:latin typeface="Microsoft YaHei"/>
                <a:ea typeface="Microsoft YaHei"/>
              </a:rPr>
              <a:t>：确认过渡期授权范围与首场活动档期 → 组建联合微信群同步进度（呼应纪要待办）→ 会签合作备忘录。</a:t>
            </a:r>
          </a:p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0" i="0">
                <a:solidFill>
                  <a:srgbClr val="C7D2E0"/>
                </a:solidFill>
                <a:latin typeface="Microsoft YaHei"/>
                <a:ea typeface="Microsoft YaHei"/>
              </a:rPr>
              <a:t>交付：本 PPT 方案 + 配套 Excel（语录解析表、3 个月计划、活动矩阵、财务测算、风险待办、KPI）。</a:t>
            </a:r>
          </a:p>
        </p:txBody>
      </p:sp>
      <p:sp>
        <p:nvSpPr>
          <p:cNvPr id="26" name="Rectangle 25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14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57200" y="6501384"/>
            <a:ext cx="8229600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900" b="0" i="0">
                <a:solidFill>
                  <a:srgbClr val="E7D38E"/>
                </a:solidFill>
                <a:latin typeface="Microsoft YaHei"/>
                <a:ea typeface="Microsoft YaHei"/>
              </a:rPr>
              <a:t>复旦大学住房政策研究中心  ×  杨浦区科技企业联合会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076895" y="6501384"/>
            <a:ext cx="3657600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900" b="0" i="0">
                <a:solidFill>
                  <a:srgbClr val="FFFFFF"/>
                </a:solidFill>
                <a:latin typeface="Microsoft YaHei"/>
                <a:ea typeface="Microsoft YaHei"/>
              </a:rPr>
              <a:t>行动计划    |    11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237744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0" y="2651760"/>
            <a:ext cx="12191695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3000" b="1" i="0">
                <a:solidFill>
                  <a:srgbClr val="FFFFFF"/>
                </a:solidFill>
                <a:latin typeface="Microsoft YaHei"/>
                <a:ea typeface="Microsoft YaHei"/>
              </a:rPr>
              <a:t>期待与夏春先生携手，</a:t>
            </a:r>
          </a:p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3000" b="1" i="0">
                <a:solidFill>
                  <a:srgbClr val="E7D38E"/>
                </a:solidFill>
                <a:latin typeface="Microsoft YaHei"/>
                <a:ea typeface="Microsoft YaHei"/>
              </a:rPr>
              <a:t>共建长三角财经内容与活动新生态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0" y="4754880"/>
            <a:ext cx="12191695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40000"/>
              </a:lnSpc>
              <a:spcBef>
                <a:spcPts val="0"/>
              </a:spcBef>
              <a:spcAft>
                <a:spcPts val="600"/>
              </a:spcAft>
            </a:pPr>
            <a:r>
              <a:rPr sz="1500" b="0" i="0">
                <a:solidFill>
                  <a:srgbClr val="FFFFFF"/>
                </a:solidFill>
                <a:latin typeface="Microsoft YaHei"/>
                <a:ea typeface="Microsoft YaHei"/>
              </a:rPr>
              <a:t>复旦大学住房政策研究中心   ×   杨浦区科技企业联合会</a:t>
            </a:r>
          </a:p>
          <a:p>
            <a:pPr algn="ctr">
              <a:lnSpc>
                <a:spcPct val="140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0" i="0">
                <a:solidFill>
                  <a:srgbClr val="E7D38E"/>
                </a:solidFill>
                <a:latin typeface="Microsoft YaHei"/>
                <a:ea typeface="Microsoft YaHei"/>
              </a:rPr>
              <a:t>2026 年 7 月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