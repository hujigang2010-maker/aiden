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85455" y="0"/>
            <a:ext cx="420624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85455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7D38E"/>
                </a:solidFill>
                <a:latin typeface="Microsoft YaHei"/>
                <a:ea typeface="Microsoft YaHei"/>
              </a:rPr>
              <a:t>战略合作建议方案  |  STRATEGIC PARTNERSHIP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749807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Microsoft YaHei"/>
                <a:ea typeface="Microsoft YaHei"/>
              </a:rPr>
              <a:t>与夏春先生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Microsoft YaHei"/>
                <a:ea typeface="Microsoft YaHei"/>
              </a:rPr>
              <a:t>长三角区域战略合作建议方案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794760"/>
            <a:ext cx="23774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7D38E"/>
                </a:solidFill>
                <a:latin typeface="Microsoft YaHei"/>
                <a:ea typeface="Microsoft YaHei"/>
              </a:rPr>
              <a:t>核心定位：</a:t>
            </a: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“夏春财经智识”长三角区域独家总代理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7D2E0"/>
                </a:solidFill>
                <a:latin typeface="Microsoft YaHei"/>
                <a:ea typeface="Microsoft YaHei"/>
              </a:rPr>
              <a:t>交付载体：本方案（PPT）+ 配套测算与清单（Excel）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</a:rPr>
              <a:t>提报机构：复旦大学住房政策研究中心 × 上海市杨浦区科技企业联合会 × 上海市科技企业联合会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E7D38E"/>
                </a:solidFill>
                <a:latin typeface="Microsoft YaHei"/>
                <a:ea typeface="Microsoft YaHei"/>
              </a:rPr>
              <a:t>2026 年 7 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9775" y="128016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9A227"/>
                </a:solidFill>
                <a:latin typeface="Microsoft YaHei"/>
                <a:ea typeface="Microsoft YaHei"/>
              </a:rPr>
              <a:t>合作要点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600" b="0" i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  <a:ea typeface="Microsoft YaHei"/>
              </a:rPr>
              <a:t>① 长期深化合作 + 3 个月适度过渡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  <a:ea typeface="Microsoft YaHei"/>
              </a:rPr>
              <a:t>② 长三角区域服务总代理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  <a:ea typeface="Microsoft YaHei"/>
              </a:rPr>
              <a:t>③ 依托复旦 + 市 / 区科技企业联合会背书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  <a:ea typeface="Microsoft YaHei"/>
              </a:rPr>
              <a:t>④ 只做新区域增量，区隔新老团队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FFFFFF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  <a:ea typeface="Microsoft YaHei"/>
              </a:rPr>
              <a:t>⑤ 以夏春观点/语录为内容内核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方案框架 · 目录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463040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合作背景与机遇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463040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463040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463040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夏春先生 IP 与核心观点（语录）解析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395728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395728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395728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395728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我方机构与资源禀赋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395728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2395728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395728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395728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合作定位：长三角区域总代理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28416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328416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差异化：区别于夏春新老团队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328416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328416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328416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3328416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合作阶段：3 个月过渡 + 长期战略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261104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4261104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261104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4261104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长三角落地场景与内容矩阵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261104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72200" y="4261104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200" y="4261104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261104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分工、协作与商业模式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193792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" y="5193792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193792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5193792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关键问题与风险管控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5193792"/>
            <a:ext cx="5394960" cy="749808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72200" y="5193792"/>
            <a:ext cx="82296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5193792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C9A227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193792"/>
            <a:ext cx="42976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2A4A"/>
                </a:solidFill>
                <a:latin typeface="Microsoft YaHei"/>
                <a:ea typeface="Microsoft YaHei"/>
              </a:rPr>
              <a:t>三个月过渡期行动计划与下一步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目录    |   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01  BACKGROUND &amp;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合作背景与机遇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100584" cy="22402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550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A227"/>
                </a:solidFill>
                <a:latin typeface="Microsoft YaHei"/>
                <a:ea typeface="Microsoft YaHei"/>
              </a:rPr>
              <a:t>◆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夏春先生 · 稀缺财经 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7568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知名宏观经济学家，上善资本首席经济学家、中国首席经济学家论坛理事；北大本硕、明尼苏达经济学博士，曾任港大金融系教授。个人 IP“夏春财经智识”覆盖公众号 / 视频号 / B 站，内容含金量高、受众精准。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100584" cy="224028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65506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83"/>
                </a:solidFill>
                <a:latin typeface="Microsoft YaHei"/>
                <a:ea typeface="Microsoft YaHei"/>
              </a:rPr>
              <a:t>◆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内容矩阵高度契合高净值需求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07568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聚焦全球宏观、资产配置、投资策略与行为金融：美联储与美债美股、黄金、香港虚拟资产 / RWA、中国经济“韧性”与 K 型分化，正是长三角高净值与科创人群最关注的议题。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100584" cy="22402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0782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◆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长三角：增量最大的落地市场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9884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长三角高净值人群与产业资本高度密集，科创企业集群成熟。夏春线上影响力强、但区域线下承接与机构化运营长期缺位——这正是本次合作的价值缺口。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3192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3931920"/>
            <a:ext cx="100584" cy="22402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407822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A227"/>
                </a:solidFill>
                <a:latin typeface="Microsoft YaHei"/>
                <a:ea typeface="Microsoft YaHei"/>
              </a:rPr>
              <a:t>◆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窗口已现 · 前期已充分沟通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49884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双方前期沟通已明确香港游学窗口期（中东资金、RWA 虚拟货币）、科技企业参访（AI / 科技前沿）等方向，且看重复旦 + 市 / 区科技企业联合会背书突破企业与高校资源——与我方禀赋精准匹配。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合作背景    |    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02  KEY QUOTES &amp; INSIGHTS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夏春先生核心观点（语录）解析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B6470"/>
                </a:solidFill>
                <a:latin typeface="Microsoft YaHei"/>
                <a:ea typeface="Microsoft YaHei"/>
              </a:rPr>
              <a:t>说明：以下语录摘自夏春先生公开访谈 / 公众号 · 视频号内容，并结合双方前期沟通，提炼为长三角合作切入点。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85032" cy="22860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685032" cy="9144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56232"/>
            <a:ext cx="3319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1" i="0">
                <a:solidFill>
                  <a:srgbClr val="142A4A"/>
                </a:solidFill>
                <a:latin typeface="Microsoft YaHei"/>
                <a:ea typeface="Microsoft YaHei"/>
              </a:rPr>
              <a:t>“2025 年……我个人更倾向于悲观派……需要更加警惕股债市场可能出现的危险。”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3319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7D83"/>
                </a:solidFill>
                <a:latin typeface="Microsoft YaHei"/>
                <a:ea typeface="Microsoft YaHei"/>
              </a:rPr>
              <a:t>解读：</a:t>
            </a:r>
            <a:r>
              <a:rPr sz="950" b="0" i="0">
                <a:solidFill>
                  <a:srgbClr val="5B6470"/>
                </a:solidFill>
                <a:latin typeface="Microsoft YaHei"/>
                <a:ea typeface="Microsoft YaHei"/>
              </a:rPr>
              <a:t>稳健、风控优先的判断，天然契合长三角地产 / 高净值客群的避险配置焦虑。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92424"/>
            <a:ext cx="33192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9" b="1" i="0">
                <a:solidFill>
                  <a:srgbClr val="1F3A5F"/>
                </a:solidFill>
                <a:latin typeface="Microsoft YaHei"/>
                <a:ea typeface="Microsoft YaHei"/>
              </a:rPr>
              <a:t>→ 打造“不确定市场下的资产防御”主题闭门沙龙，作为区域首发爆款。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4" y="1691640"/>
            <a:ext cx="3685032" cy="22860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06824" y="1691640"/>
            <a:ext cx="3685032" cy="9144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856232"/>
            <a:ext cx="3319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1" i="0">
                <a:solidFill>
                  <a:srgbClr val="142A4A"/>
                </a:solidFill>
                <a:latin typeface="Microsoft YaHei"/>
                <a:ea typeface="Microsoft YaHei"/>
              </a:rPr>
              <a:t>“每年年底做一张全年资产表现表：前一年涨幅大的减配、跌幅大的增配……做再平衡。”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770632"/>
            <a:ext cx="3319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7D83"/>
                </a:solidFill>
                <a:latin typeface="Microsoft YaHei"/>
                <a:ea typeface="Microsoft YaHei"/>
              </a:rPr>
              <a:t>解读：</a:t>
            </a:r>
            <a:r>
              <a:rPr sz="950" b="0" i="0">
                <a:solidFill>
                  <a:srgbClr val="5B6470"/>
                </a:solidFill>
                <a:latin typeface="Microsoft YaHei"/>
                <a:ea typeface="Microsoft YaHei"/>
              </a:rPr>
              <a:t>标志性、可复制的再平衡方法论，是可 IP 化的年度旗舰内容。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3392424"/>
            <a:ext cx="33192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9" b="1" i="0">
                <a:solidFill>
                  <a:srgbClr val="1F3A5F"/>
                </a:solidFill>
                <a:latin typeface="Microsoft YaHei"/>
                <a:ea typeface="Microsoft YaHei"/>
              </a:rPr>
              <a:t>→ 落地为长三角“年度资产配置盘点”旗舰活动 + 会员专栏，形成长期年度 IP。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0728" y="1691640"/>
            <a:ext cx="3685032" cy="22860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0728" y="1691640"/>
            <a:ext cx="3685032" cy="9144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56232"/>
            <a:ext cx="3319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1" i="0">
                <a:solidFill>
                  <a:srgbClr val="142A4A"/>
                </a:solidFill>
                <a:latin typeface="Microsoft YaHei"/>
                <a:ea typeface="Microsoft YaHei"/>
              </a:rPr>
              <a:t>“香港对虚拟资产的接受度……速度甚至比美国更快；现货 ETF 允许实物兑换，全球首创。”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770632"/>
            <a:ext cx="3319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7D83"/>
                </a:solidFill>
                <a:latin typeface="Microsoft YaHei"/>
                <a:ea typeface="Microsoft YaHei"/>
              </a:rPr>
              <a:t>解读：</a:t>
            </a:r>
            <a:r>
              <a:rPr sz="950" b="0" i="0">
                <a:solidFill>
                  <a:srgbClr val="5B6470"/>
                </a:solidFill>
                <a:latin typeface="Microsoft YaHei"/>
                <a:ea typeface="Microsoft YaHei"/>
              </a:rPr>
              <a:t>直接呼应双方共同关注的香港游学 RWA / 中东资金窗口期。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392424"/>
            <a:ext cx="33192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9" b="1" i="0">
                <a:solidFill>
                  <a:srgbClr val="1F3A5F"/>
                </a:solidFill>
                <a:latin typeface="Microsoft YaHei"/>
                <a:ea typeface="Microsoft YaHei"/>
              </a:rPr>
              <a:t>→ 我方作为长三角组团总入口，承接“半天讲座 + 半天参访”香港游学。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14800"/>
            <a:ext cx="3685032" cy="22860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4114800"/>
            <a:ext cx="3685032" cy="9144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79392"/>
            <a:ext cx="3319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1" i="0">
                <a:solidFill>
                  <a:srgbClr val="142A4A"/>
                </a:solidFill>
                <a:latin typeface="Microsoft YaHei"/>
                <a:ea typeface="Microsoft YaHei"/>
              </a:rPr>
              <a:t>“可将加密资产视为美股七巨头之外的‘第八个巨头’，与美股相关性最高约 0.5。”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193792"/>
            <a:ext cx="3319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7D83"/>
                </a:solidFill>
                <a:latin typeface="Microsoft YaHei"/>
                <a:ea typeface="Microsoft YaHei"/>
              </a:rPr>
              <a:t>解读：</a:t>
            </a:r>
            <a:r>
              <a:rPr sz="950" b="0" i="0">
                <a:solidFill>
                  <a:srgbClr val="5B6470"/>
                </a:solidFill>
                <a:latin typeface="Microsoft YaHei"/>
                <a:ea typeface="Microsoft YaHei"/>
              </a:rPr>
              <a:t>行为金融 + 另类资产的独到洞见，精准命中科创 / 家办人群。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15584"/>
            <a:ext cx="33192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9" b="1" i="0">
                <a:solidFill>
                  <a:srgbClr val="1F3A5F"/>
                </a:solidFill>
                <a:latin typeface="Microsoft YaHei"/>
                <a:ea typeface="Microsoft YaHei"/>
              </a:rPr>
              <a:t>→ 面向杨浦科创企业家、家族办公室的另类配置主题专场。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06824" y="4114800"/>
            <a:ext cx="3685032" cy="22860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306824" y="4114800"/>
            <a:ext cx="3685032" cy="9144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9704" y="4279392"/>
            <a:ext cx="3319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1" i="0">
                <a:solidFill>
                  <a:srgbClr val="142A4A"/>
                </a:solidFill>
                <a:latin typeface="Microsoft YaHei"/>
                <a:ea typeface="Microsoft YaHei"/>
              </a:rPr>
              <a:t>“我们更注重多元化分散、风险控制，寻找相对估值偏低但属同一投资逻辑的资产。”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5193792"/>
            <a:ext cx="3319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7D83"/>
                </a:solidFill>
                <a:latin typeface="Microsoft YaHei"/>
                <a:ea typeface="Microsoft YaHei"/>
              </a:rPr>
              <a:t>解读：</a:t>
            </a:r>
            <a:r>
              <a:rPr sz="950" b="0" i="0">
                <a:solidFill>
                  <a:srgbClr val="5B6470"/>
                </a:solidFill>
                <a:latin typeface="Microsoft YaHei"/>
                <a:ea typeface="Microsoft YaHei"/>
              </a:rPr>
              <a:t>可迁移至不动产再配置，与复旦住房政策研究中心研究方向互补。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704" y="5815584"/>
            <a:ext cx="33192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9" b="1" i="0">
                <a:solidFill>
                  <a:srgbClr val="1F3A5F"/>
                </a:solidFill>
                <a:latin typeface="Microsoft YaHei"/>
                <a:ea typeface="Microsoft YaHei"/>
              </a:rPr>
              <a:t>→ 联合复旦推出“住房 / 不动产 + 大类资产”跨界研讨与课题。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0728" y="4114800"/>
            <a:ext cx="3685032" cy="22860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10728" y="4114800"/>
            <a:ext cx="3685032" cy="9144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3608" y="4279392"/>
            <a:ext cx="3319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1" i="0">
                <a:solidFill>
                  <a:srgbClr val="142A4A"/>
                </a:solidFill>
                <a:latin typeface="Microsoft YaHei"/>
                <a:ea typeface="Microsoft YaHei"/>
              </a:rPr>
              <a:t>（前期沟通）“香港游学需夏春先生全程参与；方案由夏春先生主导决策。”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5193792"/>
            <a:ext cx="3319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7D83"/>
                </a:solidFill>
                <a:latin typeface="Microsoft YaHei"/>
                <a:ea typeface="Microsoft YaHei"/>
              </a:rPr>
              <a:t>解读：</a:t>
            </a:r>
            <a:r>
              <a:rPr sz="950" b="0" i="0">
                <a:solidFill>
                  <a:srgbClr val="5B6470"/>
                </a:solidFill>
                <a:latin typeface="Microsoft YaHei"/>
                <a:ea typeface="Microsoft YaHei"/>
              </a:rPr>
              <a:t>夏春个人时间是核心稀缺资源，须为其减负。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5815584"/>
            <a:ext cx="33192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69" b="1" i="0">
                <a:solidFill>
                  <a:srgbClr val="1F3A5F"/>
                </a:solidFill>
                <a:latin typeface="Microsoft YaHei"/>
                <a:ea typeface="Microsoft YaHei"/>
              </a:rPr>
              <a:t>→ 我方承接全部执行、排期与履约，并以录播 / 图文复用降低其时间投入。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语录解析    |    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03  OUR INSTITUTIONS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我方机构与资源禀赋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5394960" cy="31089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5394960" cy="6583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5029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顶尖高校学术背书与公信力，提升活动 / 内容权威性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住房与不动产政策研究专长，与夏春大类资产配置互补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政、企、学高端资源网络与课题合作能力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承接高规格闭门研讨、政企对话与学术型内容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394960" cy="31089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394960" cy="658368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029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上海市杨浦区科技企业联合会（为主）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杨浦（大创智 / 在线新经济）科创企业集群与会员企业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科技企业参访的本地落地与组织能力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联合上海市科技企业联合会，市 / 区两级协同、资源更广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承接 AI / 科技前沿主题参访、企业内训与产业沙龙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92040"/>
            <a:ext cx="11064240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892040"/>
            <a:ext cx="118872" cy="12801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7D38E"/>
                </a:solidFill>
                <a:latin typeface="Microsoft YaHei"/>
                <a:ea typeface="Microsoft YaHei"/>
              </a:rPr>
              <a:t>组合优势 = 承接夏春 IP 的最佳区域平台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</a:rPr>
              <a:t>学术公信力（复旦） + 科创产业落地（市 / 区科技企业联合会） + 长三角本地网络，一站式解决夏春线下承接与机构化运营缺口，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</a:rPr>
              <a:t>既能做高端内容与政企研讨，又能规模化落地企业参访、财富沙龙与出海游学。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机构资源    |   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04  POSITIONING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合作定位：长三角区域总代理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105156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</a:rPr>
              <a:t>核心目标：成为“夏春财经智识”在长三角区域相关服务的独家 / 优先总代理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11064240" cy="1051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2103120" cy="10515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103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服务范围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697480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区域线下活动、闭门会 / 研讨、科技企业参访、财富与资产配置沙龙、企业内训、内容本地化与私域运营，以及香港 / 出海游学的长三角组团总入口。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13632"/>
            <a:ext cx="11064240" cy="1051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913632"/>
            <a:ext cx="2103120" cy="105156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13632"/>
            <a:ext cx="2103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授权模式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913632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区域独家授权 + 品牌联合（“夏春财经智识 · 长三角”）+ 收益分成；夏春侧保留 IP 与内容所有权，我方获区域运营与获客授权。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9784"/>
            <a:ext cx="11064240" cy="1051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5129784"/>
            <a:ext cx="2103120" cy="10515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29784"/>
            <a:ext cx="2103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代理价值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129784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夏春一个区域出口、一套结算、一个履约团队；把稀缺的个人时间从繁杂区域事务中解放，专注内容与关键出席。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合作定位    |    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05  DIFFERENTIATION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差异化定位：区别于夏春新老团队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1856231" cy="713232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600200"/>
            <a:ext cx="163677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对比维度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13432"/>
            <a:ext cx="1856231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13432"/>
            <a:ext cx="163677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核心侧重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26664"/>
            <a:ext cx="1856231" cy="713232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026664"/>
            <a:ext cx="163677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目标客群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39896"/>
            <a:ext cx="1856231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39896"/>
            <a:ext cx="163677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主要场景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53128"/>
            <a:ext cx="1856231" cy="713232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453128"/>
            <a:ext cx="163677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背书资源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66360"/>
            <a:ext cx="1856231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166360"/>
            <a:ext cx="163677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客户归属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04871" y="1600200"/>
            <a:ext cx="2743200" cy="713232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599" y="1600200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夏春 · 老团队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04871" y="2313432"/>
            <a:ext cx="2743200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599" y="2313432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内容生产、全国泛在影响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4871" y="3026664"/>
            <a:ext cx="2743200" cy="713232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599" y="3026664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全国粉丝 / 线上受众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04871" y="3739896"/>
            <a:ext cx="2743200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14599" y="3739896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视频号 / 公众号内容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04871" y="4453128"/>
            <a:ext cx="2743200" cy="713232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14599" y="4453128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夏春个人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04871" y="5166360"/>
            <a:ext cx="2743200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14599" y="5166360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既有存量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48071" y="1600200"/>
            <a:ext cx="2743200" cy="713232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57799" y="1600200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夏春 · 新团队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48071" y="2313432"/>
            <a:ext cx="2743200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799" y="2313432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金融产品与新业务孵化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48071" y="3026664"/>
            <a:ext cx="2743200" cy="713232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57799" y="3026664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金融端存量客户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48071" y="3739896"/>
            <a:ext cx="2743200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57799" y="3739896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金融配置与产品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48071" y="4453128"/>
            <a:ext cx="2743200" cy="713232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57799" y="4453128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资本 / 金融资源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48071" y="5166360"/>
            <a:ext cx="2743200" cy="713232"/>
          </a:xfrm>
          <a:prstGeom prst="rect">
            <a:avLst/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57799" y="5166360"/>
            <a:ext cx="25237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0"/>
                </a:solidFill>
                <a:latin typeface="Microsoft YaHei"/>
                <a:ea typeface="Microsoft YaHei"/>
              </a:rPr>
              <a:t>金融客户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91271" y="1600200"/>
            <a:ext cx="3749039" cy="713232"/>
          </a:xfrm>
          <a:prstGeom prst="rect">
            <a:avLst/>
          </a:prstGeom>
          <a:solidFill>
            <a:srgbClr val="142A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0999" y="1600200"/>
            <a:ext cx="352958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我方（长三角总代理）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91271" y="2313432"/>
            <a:ext cx="3749039" cy="713232"/>
          </a:xfrm>
          <a:prstGeom prst="rect">
            <a:avLst/>
          </a:prstGeom>
          <a:solidFill>
            <a:srgbClr val="EBE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00999" y="2313432"/>
            <a:ext cx="352958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长三角区域落地与机构化承接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91271" y="3026664"/>
            <a:ext cx="3749039" cy="713232"/>
          </a:xfrm>
          <a:prstGeom prst="rect">
            <a:avLst/>
          </a:prstGeom>
          <a:solidFill>
            <a:srgbClr val="EBE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00999" y="3026664"/>
            <a:ext cx="352958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长三角高净值 + 科创企业 + 高校 / 政府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91271" y="3739896"/>
            <a:ext cx="3749039" cy="713232"/>
          </a:xfrm>
          <a:prstGeom prst="rect">
            <a:avLst/>
          </a:prstGeom>
          <a:solidFill>
            <a:srgbClr val="EBE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0999" y="3739896"/>
            <a:ext cx="352958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区域活动 / 参访 / 游学组团 / 内训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91271" y="4453128"/>
            <a:ext cx="3749039" cy="713232"/>
          </a:xfrm>
          <a:prstGeom prst="rect">
            <a:avLst/>
          </a:prstGeom>
          <a:solidFill>
            <a:srgbClr val="EBE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00999" y="4453128"/>
            <a:ext cx="352958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复旦 + 市 / 区科技企业联合会 背书 + 本地网络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91271" y="5166360"/>
            <a:ext cx="3749039" cy="713232"/>
          </a:xfrm>
          <a:prstGeom prst="rect">
            <a:avLst/>
          </a:prstGeom>
          <a:solidFill>
            <a:srgbClr val="EBE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00999" y="5166360"/>
            <a:ext cx="352958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42A4A"/>
                </a:solidFill>
                <a:latin typeface="Microsoft YaHei"/>
                <a:ea typeface="Microsoft YaHei"/>
              </a:rPr>
              <a:t>只做长三角新增增量，签不重叠条款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3A5F"/>
                </a:solidFill>
                <a:latin typeface="Microsoft YaHei"/>
                <a:ea typeface="Microsoft YaHei"/>
              </a:rPr>
              <a:t>原则：不争夺存量、聚焦区域增量；边界清晰，与新老团队互补而非重叠（明确主导权 / 客户归属）。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差异化    |    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06  PHASING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合作阶段：3 个月过渡 + 长期战略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5394960" cy="35661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5394960" cy="73152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5029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适度过渡 · 约 3 个月（双方适应与适配）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49377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双方适应与适配，建立信任与协作机制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小步落地：单场跑通盈利模型，控风险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界定客户归属与收益分配规则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签署合作备忘录（MOU）与区域独家授权草案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敏感事项分步磨合，节奏可控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394960" cy="35661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394960" cy="7315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029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长期合作 · 深度战略协作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49377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区域独家总代理授权（多年期）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收益分配清晰、数据共享，持续深化合作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共建长三角会员生态与 CRM 系统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年度活动 / 内容 / 游学 IP 化与品牌联合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由点及面复制至长三角多城市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064240" cy="8229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42A4A"/>
                </a:solidFill>
                <a:latin typeface="Microsoft YaHei"/>
                <a:ea typeface="Microsoft YaHei"/>
              </a:rPr>
              <a:t>过渡与转长期安排：</a:t>
            </a:r>
            <a:r>
              <a:rPr sz="1250" b="0" i="0">
                <a:solidFill>
                  <a:srgbClr val="142A4A"/>
                </a:solidFill>
                <a:latin typeface="Microsoft YaHei"/>
                <a:ea typeface="Microsoft YaHei"/>
              </a:rPr>
              <a:t>三个月为双方适应与适配的适度过渡期；期间运作顺畅、无重大问题，即自动转为长期区域独家总代理，无需另设考核门槛。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合作阶段    |    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07  SCENARIOS &amp; CONTENT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长三角落地场景与内容矩阵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3657600" cy="2194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100584" cy="21945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550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A227"/>
                </a:solidFill>
                <a:latin typeface="Microsoft YaHei"/>
                <a:ea typeface="Microsoft YaHei"/>
              </a:rPr>
              <a:t>🏢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科技企业参访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7568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AI / 科技前沿主题，依托杨浦科创集群 + 复旦，月度 1–2 场；结合夏春“七巨头 / 第八巨头”科技视角。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508760"/>
            <a:ext cx="3657600" cy="2194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508760"/>
            <a:ext cx="100584" cy="219456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16550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83"/>
                </a:solidFill>
                <a:latin typeface="Microsoft YaHei"/>
                <a:ea typeface="Microsoft YaHei"/>
              </a:rPr>
              <a:t>📈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财富与资产配置沙龙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07568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夏春年度资产表 / 再平衡框架、黄金、美债美股；面向高净值客群的闭门研讨。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508760"/>
            <a:ext cx="3657600" cy="2194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100584" cy="21945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65506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✈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香港 / 出海游学组团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7568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RWA、虚拟资产、中东资金窗口；半天讲座 + 半天参访，我方作长三角组团总入口。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40480"/>
            <a:ext cx="3657600" cy="2194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100584" cy="21945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8678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A227"/>
                </a:solidFill>
                <a:latin typeface="Microsoft YaHei"/>
                <a:ea typeface="Microsoft YaHei"/>
              </a:rPr>
              <a:t>📱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内容本地化与私域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4074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公众号 / 视频号“长三角专栏”、会员分层与社群运营，沉淀区域私域资产。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840480"/>
            <a:ext cx="3657600" cy="2194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3840480"/>
            <a:ext cx="100584" cy="219456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398678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83"/>
                </a:solidFill>
                <a:latin typeface="Microsoft YaHei"/>
                <a:ea typeface="Microsoft YaHei"/>
              </a:rPr>
              <a:t>🎓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企业内训与政企研讨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44074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复旦住房政策中心 + 市 / 区科技企业联合会，承接企业内训与高规格政企对话。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840480"/>
            <a:ext cx="3657600" cy="219456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60" y="3840480"/>
            <a:ext cx="100584" cy="21945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3986784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🧭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家办 / 另类配置专场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4074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面向科创企业家、家族办公室的另类资产与行为金融专题。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落地矩阵    |   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08  ROLES &amp; BUSINESS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分工、协作与商业模式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5486400" cy="233172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9A227"/>
                </a:solidFill>
                <a:latin typeface="Microsoft YaHei"/>
                <a:ea typeface="Microsoft YaHei"/>
              </a:rPr>
              <a:t>夏春侧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• IP、核心观点与讲座 / 关键出席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• 品牌授权与背书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• 关键嘉宾 / 高端资源引荐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486400" cy="233172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83"/>
                </a:solidFill>
                <a:latin typeface="Microsoft YaHei"/>
                <a:ea typeface="Microsoft YaHei"/>
              </a:rPr>
              <a:t>我方（总代理）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48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• 区域获客、场地与全流程执行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• 企业 / 高校 / 政府对接与背书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• 私域、CRM、组团与履约结算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11109960" cy="2011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18872" cy="20116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7D38E"/>
                </a:solidFill>
                <a:latin typeface="Microsoft YaHei"/>
                <a:ea typeface="Microsoft YaHei"/>
              </a:rPr>
              <a:t>商业模式与结算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</a:rPr>
              <a:t>收入来源：活动票务 / 会员费 / 企业赞助与内训 / 游学组团佣金 / 内容订阅。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</a:rPr>
              <a:t>分润逻辑：按角色与投入分层结算；成本相对固定，毛利率高，核心取决于客单价与销量（详见附 Excel 测算）。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</a:rPr>
              <a:t>结算方式：长三角区域收入统一归集 → 按约定向夏春侧结算授权费 / 分成，账目透明、按月对账。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分工与商业模式    |    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09  RISK 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关键问题与风险管控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100584" cy="22402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07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A227"/>
                </a:solidFill>
                <a:latin typeface="Microsoft YaHei"/>
                <a:ea typeface="Microsoft YaHei"/>
              </a:rPr>
              <a:t>▲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主导权与客户归属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2140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明确长三角新增客户归属规则与交叉销售（房产 / 保险 / 基金）权益划分，写入 MOU。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100584" cy="224028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17007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83"/>
                </a:solidFill>
                <a:latin typeface="Microsoft YaHei"/>
                <a:ea typeface="Microsoft YaHei"/>
              </a:rPr>
              <a:t>▲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IP 档期与精力稀缺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12140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我方承接全部执行、批量化排期；以录播 / 图文复用降低夏春时间投入，关键场次才需本人出席。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4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977640"/>
            <a:ext cx="100584" cy="22402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2394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Microsoft YaHei"/>
                <a:ea typeface="Microsoft YaHei"/>
              </a:rPr>
              <a:t>▲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与新老团队边界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54456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只做长三角区域增量，签署互不重叠 / 不竞争条款，定期同步避免撞单。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77640"/>
            <a:ext cx="5486400" cy="224028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3977640"/>
            <a:ext cx="100584" cy="22402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412394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9A227"/>
                </a:solidFill>
                <a:latin typeface="Microsoft YaHei"/>
                <a:ea typeface="Microsoft YaHei"/>
              </a:rPr>
              <a:t>▲  </a:t>
            </a:r>
            <a:r>
              <a:rPr sz="1450" b="1" i="0">
                <a:solidFill>
                  <a:srgbClr val="142A4A"/>
                </a:solidFill>
                <a:latin typeface="Microsoft YaHei"/>
                <a:ea typeface="Microsoft YaHei"/>
              </a:rPr>
              <a:t>合规与免责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544568"/>
            <a:ext cx="50292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0"/>
                </a:solidFill>
                <a:latin typeface="Microsoft YaHei"/>
                <a:ea typeface="Microsoft YaHei"/>
              </a:rPr>
              <a:t>金融观点仅供参考、不构成投资建议；活动内容与产品销售分离，沿用夏春一贯免责声明。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3A5F"/>
                </a:solidFill>
                <a:latin typeface="Microsoft YaHei"/>
                <a:ea typeface="Microsoft YaHei"/>
              </a:rPr>
              <a:t>以上关键问题为双方前期沟通中的待解决事项，将在三个月适度过渡期内逐项落定并写入合作备忘录。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风险管控    |  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"/>
            <a:ext cx="109728" cy="5669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37744"/>
            <a:ext cx="10515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10  90-DAY PLAN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30352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Microsoft YaHei"/>
                <a:ea typeface="Microsoft YaHei"/>
              </a:rPr>
              <a:t>三个月适度过渡期行动计划与下一步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66160" cy="32004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66160" cy="868680"/>
          </a:xfrm>
          <a:prstGeom prst="roundRect">
            <a:avLst/>
          </a:prstGeom>
          <a:solidFill>
            <a:srgbClr val="2E7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第 1 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2996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7D38E"/>
                </a:solidFill>
                <a:latin typeface="Microsoft YaHei"/>
                <a:ea typeface="Microsoft YaHei"/>
              </a:rPr>
              <a:t>启动与共识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签署 MOU + 区域独家授权草案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盘客 / 会员画像梳理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首场活动策划立项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554480"/>
            <a:ext cx="3566160" cy="32004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1554480"/>
            <a:ext cx="3566160" cy="8686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16459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第 2 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02996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首战落地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651760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首场科技参访 / 资产沙龙落地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香港游学预售启动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私域 &amp; CRM 搭建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554480"/>
            <a:ext cx="3566160" cy="320040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  <a:effectLst>
            <a:outerShdw blurRad="60000" dist="25000" dir="5400000" rotWithShape="0">
              <a:srgbClr val="9AA6B2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83296" y="1554480"/>
            <a:ext cx="3566160" cy="8686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3296" y="16459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第 3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3296" y="202996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7D38E"/>
                </a:solidFill>
                <a:latin typeface="Microsoft YaHei"/>
                <a:ea typeface="Microsoft YaHei"/>
              </a:rPr>
              <a:t>复盘与转长期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6" y="2651760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第 2–3 场活动落地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运作复盘与双方磨合评估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B6470"/>
                </a:solidFill>
                <a:latin typeface="Microsoft YaHei"/>
                <a:ea typeface="Microsoft YaHei"/>
              </a:rPr>
              <a:t>• 过渡顺畅 → 自动转长期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11109960" cy="10972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8872" cy="109728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7D38E"/>
                </a:solidFill>
                <a:latin typeface="Microsoft YaHei"/>
                <a:ea typeface="Microsoft YaHei"/>
              </a:rPr>
              <a:t>下一步</a:t>
            </a:r>
            <a:r>
              <a:rPr sz="1300" b="0" i="0">
                <a:solidFill>
                  <a:srgbClr val="FFFFFF"/>
                </a:solidFill>
                <a:latin typeface="Microsoft YaHei"/>
                <a:ea typeface="Microsoft YaHei"/>
              </a:rPr>
              <a:t>：确认过渡期独家授权范围与首场活动档期 → 组建联合微信群同步进度 → 会签合作备忘录。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7D2E0"/>
                </a:solidFill>
                <a:latin typeface="Microsoft YaHei"/>
                <a:ea typeface="Microsoft YaHei"/>
              </a:rPr>
              <a:t>交付：本 PPT 方案 + 配套 Excel（语录解析表、3 个月计划、活动矩阵、财务测算、风险待办、KPI）。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01384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E7D38E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6895" y="6501384"/>
            <a:ext cx="3657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行动计划    |  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期待与夏春先生携手，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7D38E"/>
                </a:solidFill>
                <a:latin typeface="Microsoft YaHei"/>
                <a:ea typeface="Microsoft YaHei"/>
              </a:rPr>
              <a:t>共建长三角财经内容与活动新生态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icrosoft YaHei"/>
                <a:ea typeface="Microsoft YaHei"/>
              </a:rPr>
              <a:t>复旦大学住房政策研究中心 × 上海市杨浦区科技企业联合会 × 上海市科技企业联合会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E7D38E"/>
                </a:solidFill>
                <a:latin typeface="Microsoft YaHei"/>
                <a:ea typeface="Microsoft YaHei"/>
              </a:rPr>
              <a:t>2026 年 7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